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6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2"/>
  </p:notesMasterIdLst>
  <p:sldIdLst>
    <p:sldId id="256" r:id="rId3"/>
    <p:sldId id="257" r:id="rId4"/>
    <p:sldId id="258" r:id="rId5"/>
    <p:sldId id="260" r:id="rId6"/>
    <p:sldId id="262" r:id="rId7"/>
    <p:sldId id="263" r:id="rId8"/>
    <p:sldId id="264" r:id="rId9"/>
    <p:sldId id="265" r:id="rId10"/>
    <p:sldId id="266" r:id="rId11"/>
    <p:sldId id="277" r:id="rId12"/>
    <p:sldId id="267" r:id="rId13"/>
    <p:sldId id="268" r:id="rId14"/>
    <p:sldId id="278" r:id="rId15"/>
    <p:sldId id="279" r:id="rId16"/>
    <p:sldId id="280" r:id="rId17"/>
    <p:sldId id="269" r:id="rId18"/>
    <p:sldId id="270" r:id="rId19"/>
    <p:sldId id="271" r:id="rId20"/>
    <p:sldId id="272" r:id="rId21"/>
    <p:sldId id="273" r:id="rId22"/>
    <p:sldId id="274" r:id="rId23"/>
    <p:sldId id="276" r:id="rId24"/>
    <p:sldId id="281" r:id="rId25"/>
    <p:sldId id="282" r:id="rId26"/>
    <p:sldId id="294" r:id="rId27"/>
    <p:sldId id="376" r:id="rId28"/>
    <p:sldId id="377" r:id="rId29"/>
    <p:sldId id="378" r:id="rId30"/>
    <p:sldId id="379" r:id="rId31"/>
    <p:sldId id="380" r:id="rId32"/>
    <p:sldId id="381" r:id="rId33"/>
    <p:sldId id="382" r:id="rId34"/>
    <p:sldId id="383" r:id="rId35"/>
    <p:sldId id="384" r:id="rId36"/>
    <p:sldId id="385" r:id="rId37"/>
    <p:sldId id="386" r:id="rId38"/>
    <p:sldId id="411" r:id="rId39"/>
    <p:sldId id="390" r:id="rId40"/>
    <p:sldId id="424" r:id="rId41"/>
    <p:sldId id="420" r:id="rId42"/>
    <p:sldId id="409" r:id="rId43"/>
    <p:sldId id="423" r:id="rId44"/>
    <p:sldId id="425" r:id="rId45"/>
    <p:sldId id="414" r:id="rId46"/>
    <p:sldId id="416" r:id="rId47"/>
    <p:sldId id="391" r:id="rId48"/>
    <p:sldId id="408" r:id="rId49"/>
    <p:sldId id="394" r:id="rId50"/>
    <p:sldId id="395" r:id="rId51"/>
    <p:sldId id="396" r:id="rId52"/>
    <p:sldId id="397" r:id="rId53"/>
    <p:sldId id="398" r:id="rId54"/>
    <p:sldId id="399" r:id="rId55"/>
    <p:sldId id="400" r:id="rId56"/>
    <p:sldId id="401" r:id="rId57"/>
    <p:sldId id="403" r:id="rId58"/>
    <p:sldId id="404" r:id="rId59"/>
    <p:sldId id="405" r:id="rId60"/>
    <p:sldId id="410" r:id="rId61"/>
    <p:sldId id="407" r:id="rId62"/>
    <p:sldId id="312" r:id="rId63"/>
    <p:sldId id="1852" r:id="rId64"/>
    <p:sldId id="1853" r:id="rId65"/>
    <p:sldId id="1855" r:id="rId66"/>
    <p:sldId id="314" r:id="rId67"/>
    <p:sldId id="417" r:id="rId68"/>
    <p:sldId id="418" r:id="rId69"/>
    <p:sldId id="318" r:id="rId70"/>
    <p:sldId id="320" r:id="rId71"/>
    <p:sldId id="321" r:id="rId72"/>
    <p:sldId id="322" r:id="rId73"/>
    <p:sldId id="324" r:id="rId74"/>
    <p:sldId id="325" r:id="rId75"/>
    <p:sldId id="326" r:id="rId76"/>
    <p:sldId id="328" r:id="rId77"/>
    <p:sldId id="329" r:id="rId78"/>
    <p:sldId id="1854" r:id="rId79"/>
    <p:sldId id="429" r:id="rId80"/>
    <p:sldId id="363" r:id="rId81"/>
    <p:sldId id="364" r:id="rId82"/>
    <p:sldId id="365" r:id="rId83"/>
    <p:sldId id="366" r:id="rId84"/>
    <p:sldId id="367" r:id="rId85"/>
    <p:sldId id="368" r:id="rId86"/>
    <p:sldId id="369" r:id="rId87"/>
    <p:sldId id="370" r:id="rId88"/>
    <p:sldId id="371" r:id="rId89"/>
    <p:sldId id="373" r:id="rId90"/>
    <p:sldId id="372" r:id="rId91"/>
    <p:sldId id="374" r:id="rId92"/>
    <p:sldId id="375" r:id="rId93"/>
    <p:sldId id="1891" r:id="rId94"/>
    <p:sldId id="1898" r:id="rId95"/>
    <p:sldId id="1892" r:id="rId96"/>
    <p:sldId id="1893" r:id="rId97"/>
    <p:sldId id="1894" r:id="rId98"/>
    <p:sldId id="1895" r:id="rId99"/>
    <p:sldId id="1896" r:id="rId100"/>
    <p:sldId id="1897" r:id="rId101"/>
    <p:sldId id="1899" r:id="rId102"/>
    <p:sldId id="1903" r:id="rId103"/>
    <p:sldId id="1902" r:id="rId104"/>
    <p:sldId id="1900" r:id="rId105"/>
    <p:sldId id="1901" r:id="rId106"/>
    <p:sldId id="350" r:id="rId107"/>
    <p:sldId id="359" r:id="rId108"/>
    <p:sldId id="427" r:id="rId109"/>
    <p:sldId id="360" r:id="rId110"/>
    <p:sldId id="428" r:id="rId111"/>
    <p:sldId id="353" r:id="rId112"/>
    <p:sldId id="432" r:id="rId113"/>
    <p:sldId id="1856" r:id="rId114"/>
    <p:sldId id="1857" r:id="rId115"/>
    <p:sldId id="351" r:id="rId116"/>
    <p:sldId id="352" r:id="rId117"/>
    <p:sldId id="1858" r:id="rId118"/>
    <p:sldId id="354" r:id="rId119"/>
    <p:sldId id="355" r:id="rId120"/>
    <p:sldId id="1859" r:id="rId121"/>
    <p:sldId id="357" r:id="rId122"/>
    <p:sldId id="358" r:id="rId123"/>
    <p:sldId id="1860" r:id="rId124"/>
    <p:sldId id="1861" r:id="rId125"/>
    <p:sldId id="393" r:id="rId126"/>
    <p:sldId id="1862" r:id="rId127"/>
    <p:sldId id="402" r:id="rId128"/>
    <p:sldId id="1863" r:id="rId129"/>
    <p:sldId id="1864" r:id="rId130"/>
    <p:sldId id="415" r:id="rId131"/>
    <p:sldId id="340" r:id="rId132"/>
    <p:sldId id="1865" r:id="rId133"/>
    <p:sldId id="1866" r:id="rId134"/>
    <p:sldId id="1867" r:id="rId135"/>
    <p:sldId id="412" r:id="rId136"/>
    <p:sldId id="1868" r:id="rId137"/>
    <p:sldId id="1869" r:id="rId138"/>
    <p:sldId id="413" r:id="rId139"/>
    <p:sldId id="1870" r:id="rId140"/>
    <p:sldId id="1871" r:id="rId141"/>
    <p:sldId id="1872" r:id="rId142"/>
    <p:sldId id="419" r:id="rId143"/>
    <p:sldId id="1873" r:id="rId144"/>
    <p:sldId id="421" r:id="rId145"/>
    <p:sldId id="1878" r:id="rId146"/>
    <p:sldId id="1879" r:id="rId147"/>
    <p:sldId id="1874" r:id="rId148"/>
    <p:sldId id="1875" r:id="rId149"/>
    <p:sldId id="1876" r:id="rId150"/>
    <p:sldId id="1877" r:id="rId151"/>
    <p:sldId id="1880" r:id="rId152"/>
    <p:sldId id="1881" r:id="rId153"/>
    <p:sldId id="1882" r:id="rId154"/>
    <p:sldId id="1883" r:id="rId155"/>
    <p:sldId id="1884" r:id="rId156"/>
    <p:sldId id="1885" r:id="rId157"/>
    <p:sldId id="1887" r:id="rId158"/>
    <p:sldId id="1886" r:id="rId159"/>
    <p:sldId id="1888" r:id="rId160"/>
    <p:sldId id="1890" r:id="rId1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01"/>
    <p:restoredTop sz="91073"/>
  </p:normalViewPr>
  <p:slideViewPr>
    <p:cSldViewPr snapToGrid="0">
      <p:cViewPr varScale="1">
        <p:scale>
          <a:sx n="141" d="100"/>
          <a:sy n="141" d="100"/>
        </p:scale>
        <p:origin x="11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theme" Target="theme/theme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C193F0-260F-4751-A737-E1FF503D57AB}" type="doc">
      <dgm:prSet loTypeId="urn:microsoft.com/office/officeart/2005/8/layout/list1" loCatId="icon" qsTypeId="urn:microsoft.com/office/officeart/2005/8/quickstyle/simple4" qsCatId="simple" csTypeId="urn:microsoft.com/office/officeart/2005/8/colors/colorful1" csCatId="colorful" phldr="1"/>
      <dgm:spPr/>
      <dgm:t>
        <a:bodyPr/>
        <a:lstStyle/>
        <a:p>
          <a:endParaRPr lang="en-US"/>
        </a:p>
      </dgm:t>
    </dgm:pt>
    <dgm:pt modelId="{BE56D008-5F82-4D13-AD48-BDFC48C7BBA4}">
      <dgm:prSet custT="1"/>
      <dgm:spPr/>
      <dgm:t>
        <a:bodyPr/>
        <a:lstStyle/>
        <a:p>
          <a:r>
            <a:rPr lang="en-US" sz="2400" dirty="0"/>
            <a:t>An order submission service which effectively handles bursty traffic while maintaining fairness of competition among the participants</a:t>
          </a:r>
        </a:p>
      </dgm:t>
    </dgm:pt>
    <dgm:pt modelId="{BF393C9E-8F0D-4752-BE3F-88032991DDA5}" type="parTrans" cxnId="{775D4170-49DB-4CF3-AEE9-D6E69D62B6FB}">
      <dgm:prSet/>
      <dgm:spPr/>
      <dgm:t>
        <a:bodyPr/>
        <a:lstStyle/>
        <a:p>
          <a:endParaRPr lang="en-US"/>
        </a:p>
      </dgm:t>
    </dgm:pt>
    <dgm:pt modelId="{45BA05AD-D4F1-45E3-A9BC-199371EC6E7D}" type="sibTrans" cxnId="{775D4170-49DB-4CF3-AEE9-D6E69D62B6FB}">
      <dgm:prSet/>
      <dgm:spPr/>
      <dgm:t>
        <a:bodyPr/>
        <a:lstStyle/>
        <a:p>
          <a:endParaRPr lang="en-US"/>
        </a:p>
      </dgm:t>
    </dgm:pt>
    <dgm:pt modelId="{C8510ED0-B9A9-4CAF-BE13-85B66A901392}">
      <dgm:prSet/>
      <dgm:spPr/>
      <dgm:t>
        <a:bodyPr/>
        <a:lstStyle/>
        <a:p>
          <a:r>
            <a:rPr lang="en-US" dirty="0"/>
            <a:t>Prototyped on AWS and GCP</a:t>
          </a:r>
        </a:p>
      </dgm:t>
    </dgm:pt>
    <dgm:pt modelId="{3029BDC9-A449-42F0-9B60-71F962DFCC7E}" type="parTrans" cxnId="{A85AFC6B-F495-4B14-B140-758F7D2F2CFC}">
      <dgm:prSet/>
      <dgm:spPr/>
      <dgm:t>
        <a:bodyPr/>
        <a:lstStyle/>
        <a:p>
          <a:endParaRPr lang="en-US"/>
        </a:p>
      </dgm:t>
    </dgm:pt>
    <dgm:pt modelId="{72DB009F-C5F0-4D9C-AAE0-EEC4822A3623}" type="sibTrans" cxnId="{A85AFC6B-F495-4B14-B140-758F7D2F2CFC}">
      <dgm:prSet/>
      <dgm:spPr/>
      <dgm:t>
        <a:bodyPr/>
        <a:lstStyle/>
        <a:p>
          <a:endParaRPr lang="en-US"/>
        </a:p>
      </dgm:t>
    </dgm:pt>
    <dgm:pt modelId="{2D353E8A-2426-4D87-A117-A232975F7A4F}">
      <dgm:prSet custT="1"/>
      <dgm:spPr/>
      <dgm:t>
        <a:bodyPr/>
        <a:lstStyle/>
        <a:p>
          <a:r>
            <a:rPr lang="en-US" sz="2400" dirty="0"/>
            <a:t>Multicast service that disseminates market data to 1000 participants, each receiving a message within 1-microsecond of each other</a:t>
          </a:r>
        </a:p>
      </dgm:t>
    </dgm:pt>
    <dgm:pt modelId="{6E72DBE8-C572-4A0A-AFF6-99D979B7C60A}" type="sibTrans" cxnId="{9D7275ED-CFC4-4A11-9CE2-F4192110F3B4}">
      <dgm:prSet/>
      <dgm:spPr/>
      <dgm:t>
        <a:bodyPr/>
        <a:lstStyle/>
        <a:p>
          <a:endParaRPr lang="en-US"/>
        </a:p>
      </dgm:t>
    </dgm:pt>
    <dgm:pt modelId="{64107B4A-258F-4DC2-8A81-2F08E2BA5E35}" type="parTrans" cxnId="{9D7275ED-CFC4-4A11-9CE2-F4192110F3B4}">
      <dgm:prSet/>
      <dgm:spPr/>
      <dgm:t>
        <a:bodyPr/>
        <a:lstStyle/>
        <a:p>
          <a:endParaRPr lang="en-US"/>
        </a:p>
      </dgm:t>
    </dgm:pt>
    <dgm:pt modelId="{6A0511E4-EF99-E14F-AE2C-A81BD688921C}" type="pres">
      <dgm:prSet presAssocID="{85C193F0-260F-4751-A737-E1FF503D57AB}" presName="linear" presStyleCnt="0">
        <dgm:presLayoutVars>
          <dgm:dir/>
          <dgm:animLvl val="lvl"/>
          <dgm:resizeHandles val="exact"/>
        </dgm:presLayoutVars>
      </dgm:prSet>
      <dgm:spPr/>
    </dgm:pt>
    <dgm:pt modelId="{B9885A88-7130-124C-838F-BC2B6343F506}" type="pres">
      <dgm:prSet presAssocID="{2D353E8A-2426-4D87-A117-A232975F7A4F}" presName="parentLin" presStyleCnt="0"/>
      <dgm:spPr/>
    </dgm:pt>
    <dgm:pt modelId="{45E4A3AF-0F8D-494A-A0E6-D9C938EF77AE}" type="pres">
      <dgm:prSet presAssocID="{2D353E8A-2426-4D87-A117-A232975F7A4F}" presName="parentLeftMargin" presStyleLbl="node1" presStyleIdx="0" presStyleCnt="3"/>
      <dgm:spPr/>
    </dgm:pt>
    <dgm:pt modelId="{382E76DE-0916-BF4F-940E-5CCE6068F0CC}" type="pres">
      <dgm:prSet presAssocID="{2D353E8A-2426-4D87-A117-A232975F7A4F}" presName="parentText" presStyleLbl="node1" presStyleIdx="0" presStyleCnt="3" custScaleX="101512" custScaleY="215690" custLinFactNeighborX="-12431" custLinFactNeighborY="-60902">
        <dgm:presLayoutVars>
          <dgm:chMax val="0"/>
          <dgm:bulletEnabled val="1"/>
        </dgm:presLayoutVars>
      </dgm:prSet>
      <dgm:spPr/>
    </dgm:pt>
    <dgm:pt modelId="{E540DFA1-6CD7-8F44-B52B-3BA262999A8F}" type="pres">
      <dgm:prSet presAssocID="{2D353E8A-2426-4D87-A117-A232975F7A4F}" presName="negativeSpace" presStyleCnt="0"/>
      <dgm:spPr/>
    </dgm:pt>
    <dgm:pt modelId="{1B8A2073-DDFC-A945-965F-34F057A13413}" type="pres">
      <dgm:prSet presAssocID="{2D353E8A-2426-4D87-A117-A232975F7A4F}" presName="childText" presStyleLbl="conFgAcc1" presStyleIdx="0" presStyleCnt="3" custLinFactY="-57067" custLinFactNeighborY="-100000">
        <dgm:presLayoutVars>
          <dgm:bulletEnabled val="1"/>
        </dgm:presLayoutVars>
      </dgm:prSet>
      <dgm:spPr/>
    </dgm:pt>
    <dgm:pt modelId="{65711CED-26E8-7B4E-9B17-1C90497EBA03}" type="pres">
      <dgm:prSet presAssocID="{6E72DBE8-C572-4A0A-AFF6-99D979B7C60A}" presName="spaceBetweenRectangles" presStyleCnt="0"/>
      <dgm:spPr/>
    </dgm:pt>
    <dgm:pt modelId="{8569FE4D-76C4-8144-8A7B-A1F6FDC9EAC9}" type="pres">
      <dgm:prSet presAssocID="{BE56D008-5F82-4D13-AD48-BDFC48C7BBA4}" presName="parentLin" presStyleCnt="0"/>
      <dgm:spPr/>
    </dgm:pt>
    <dgm:pt modelId="{3F4AC45D-EB8C-724C-A2FC-07E66F5EB5B4}" type="pres">
      <dgm:prSet presAssocID="{BE56D008-5F82-4D13-AD48-BDFC48C7BBA4}" presName="parentLeftMargin" presStyleLbl="node1" presStyleIdx="0" presStyleCnt="3"/>
      <dgm:spPr/>
    </dgm:pt>
    <dgm:pt modelId="{EC6F2A64-226F-F043-A736-0E712AA93A63}" type="pres">
      <dgm:prSet presAssocID="{BE56D008-5F82-4D13-AD48-BDFC48C7BBA4}" presName="parentText" presStyleLbl="node1" presStyleIdx="1" presStyleCnt="3" custScaleX="105401" custScaleY="242224" custLinFactX="19556" custLinFactNeighborX="100000" custLinFactNeighborY="-53440">
        <dgm:presLayoutVars>
          <dgm:chMax val="0"/>
          <dgm:bulletEnabled val="1"/>
        </dgm:presLayoutVars>
      </dgm:prSet>
      <dgm:spPr/>
    </dgm:pt>
    <dgm:pt modelId="{88F01646-B055-7649-B360-0B87ED227990}" type="pres">
      <dgm:prSet presAssocID="{BE56D008-5F82-4D13-AD48-BDFC48C7BBA4}" presName="negativeSpace" presStyleCnt="0"/>
      <dgm:spPr/>
    </dgm:pt>
    <dgm:pt modelId="{E1F2A502-4B18-4E44-9443-18DEF06AC982}" type="pres">
      <dgm:prSet presAssocID="{BE56D008-5F82-4D13-AD48-BDFC48C7BBA4}" presName="childText" presStyleLbl="conFgAcc1" presStyleIdx="1" presStyleCnt="3" custLinFactY="-40598" custLinFactNeighborY="-100000">
        <dgm:presLayoutVars>
          <dgm:bulletEnabled val="1"/>
        </dgm:presLayoutVars>
      </dgm:prSet>
      <dgm:spPr/>
    </dgm:pt>
    <dgm:pt modelId="{FE75E647-941B-4E4E-BDE4-62DAFC55B8DB}" type="pres">
      <dgm:prSet presAssocID="{45BA05AD-D4F1-45E3-A9BC-199371EC6E7D}" presName="spaceBetweenRectangles" presStyleCnt="0"/>
      <dgm:spPr/>
    </dgm:pt>
    <dgm:pt modelId="{1F40D43A-044E-9548-B5DB-A01EECCFC114}" type="pres">
      <dgm:prSet presAssocID="{C8510ED0-B9A9-4CAF-BE13-85B66A901392}" presName="parentLin" presStyleCnt="0"/>
      <dgm:spPr/>
    </dgm:pt>
    <dgm:pt modelId="{B94783D4-254C-024E-9562-481FE0200C40}" type="pres">
      <dgm:prSet presAssocID="{C8510ED0-B9A9-4CAF-BE13-85B66A901392}" presName="parentLeftMargin" presStyleLbl="node1" presStyleIdx="1" presStyleCnt="3"/>
      <dgm:spPr/>
    </dgm:pt>
    <dgm:pt modelId="{F71D5DF7-3038-2041-8621-DF8C046A658D}" type="pres">
      <dgm:prSet presAssocID="{C8510ED0-B9A9-4CAF-BE13-85B66A901392}" presName="parentText" presStyleLbl="node1" presStyleIdx="2" presStyleCnt="3" custLinFactNeighborX="-49723" custLinFactNeighborY="-31770">
        <dgm:presLayoutVars>
          <dgm:chMax val="0"/>
          <dgm:bulletEnabled val="1"/>
        </dgm:presLayoutVars>
      </dgm:prSet>
      <dgm:spPr/>
    </dgm:pt>
    <dgm:pt modelId="{BA184240-21C1-6048-AC76-A6622EE238EA}" type="pres">
      <dgm:prSet presAssocID="{C8510ED0-B9A9-4CAF-BE13-85B66A901392}" presName="negativeSpace" presStyleCnt="0"/>
      <dgm:spPr/>
    </dgm:pt>
    <dgm:pt modelId="{6853193F-8754-5547-B915-A85C1FD214C5}" type="pres">
      <dgm:prSet presAssocID="{C8510ED0-B9A9-4CAF-BE13-85B66A901392}" presName="childText" presStyleLbl="conFgAcc1" presStyleIdx="2" presStyleCnt="3" custLinFactNeighborX="-414" custLinFactNeighborY="-28240">
        <dgm:presLayoutVars>
          <dgm:bulletEnabled val="1"/>
        </dgm:presLayoutVars>
      </dgm:prSet>
      <dgm:spPr/>
    </dgm:pt>
  </dgm:ptLst>
  <dgm:cxnLst>
    <dgm:cxn modelId="{4A7AE70A-D133-F844-A8EF-B84A3EA07776}" type="presOf" srcId="{C8510ED0-B9A9-4CAF-BE13-85B66A901392}" destId="{B94783D4-254C-024E-9562-481FE0200C40}" srcOrd="0" destOrd="0" presId="urn:microsoft.com/office/officeart/2005/8/layout/list1"/>
    <dgm:cxn modelId="{CB4F2A1D-F965-B24B-8FD9-C54B87309FB8}" type="presOf" srcId="{BE56D008-5F82-4D13-AD48-BDFC48C7BBA4}" destId="{EC6F2A64-226F-F043-A736-0E712AA93A63}" srcOrd="1" destOrd="0" presId="urn:microsoft.com/office/officeart/2005/8/layout/list1"/>
    <dgm:cxn modelId="{C4125A25-191C-5D43-9B30-6D7D1DC6593C}" type="presOf" srcId="{2D353E8A-2426-4D87-A117-A232975F7A4F}" destId="{45E4A3AF-0F8D-494A-A0E6-D9C938EF77AE}" srcOrd="0" destOrd="0" presId="urn:microsoft.com/office/officeart/2005/8/layout/list1"/>
    <dgm:cxn modelId="{3294CD6A-3844-DE4D-A030-FCDDE70CE8CC}" type="presOf" srcId="{2D353E8A-2426-4D87-A117-A232975F7A4F}" destId="{382E76DE-0916-BF4F-940E-5CCE6068F0CC}" srcOrd="1" destOrd="0" presId="urn:microsoft.com/office/officeart/2005/8/layout/list1"/>
    <dgm:cxn modelId="{A85AFC6B-F495-4B14-B140-758F7D2F2CFC}" srcId="{85C193F0-260F-4751-A737-E1FF503D57AB}" destId="{C8510ED0-B9A9-4CAF-BE13-85B66A901392}" srcOrd="2" destOrd="0" parTransId="{3029BDC9-A449-42F0-9B60-71F962DFCC7E}" sibTransId="{72DB009F-C5F0-4D9C-AAE0-EEC4822A3623}"/>
    <dgm:cxn modelId="{775D4170-49DB-4CF3-AEE9-D6E69D62B6FB}" srcId="{85C193F0-260F-4751-A737-E1FF503D57AB}" destId="{BE56D008-5F82-4D13-AD48-BDFC48C7BBA4}" srcOrd="1" destOrd="0" parTransId="{BF393C9E-8F0D-4752-BE3F-88032991DDA5}" sibTransId="{45BA05AD-D4F1-45E3-A9BC-199371EC6E7D}"/>
    <dgm:cxn modelId="{2A661A89-6EE3-AE49-83E8-CF2FBEF37ECE}" type="presOf" srcId="{85C193F0-260F-4751-A737-E1FF503D57AB}" destId="{6A0511E4-EF99-E14F-AE2C-A81BD688921C}" srcOrd="0" destOrd="0" presId="urn:microsoft.com/office/officeart/2005/8/layout/list1"/>
    <dgm:cxn modelId="{33FC08A3-A38A-0F43-BFC6-4B58272013C3}" type="presOf" srcId="{BE56D008-5F82-4D13-AD48-BDFC48C7BBA4}" destId="{3F4AC45D-EB8C-724C-A2FC-07E66F5EB5B4}" srcOrd="0" destOrd="0" presId="urn:microsoft.com/office/officeart/2005/8/layout/list1"/>
    <dgm:cxn modelId="{E64A4FB5-99A4-634F-902D-7C5825D37174}" type="presOf" srcId="{C8510ED0-B9A9-4CAF-BE13-85B66A901392}" destId="{F71D5DF7-3038-2041-8621-DF8C046A658D}" srcOrd="1" destOrd="0" presId="urn:microsoft.com/office/officeart/2005/8/layout/list1"/>
    <dgm:cxn modelId="{9D7275ED-CFC4-4A11-9CE2-F4192110F3B4}" srcId="{85C193F0-260F-4751-A737-E1FF503D57AB}" destId="{2D353E8A-2426-4D87-A117-A232975F7A4F}" srcOrd="0" destOrd="0" parTransId="{64107B4A-258F-4DC2-8A81-2F08E2BA5E35}" sibTransId="{6E72DBE8-C572-4A0A-AFF6-99D979B7C60A}"/>
    <dgm:cxn modelId="{8C376CF9-ED40-4047-9D2C-287D0FF580F7}" type="presParOf" srcId="{6A0511E4-EF99-E14F-AE2C-A81BD688921C}" destId="{B9885A88-7130-124C-838F-BC2B6343F506}" srcOrd="0" destOrd="0" presId="urn:microsoft.com/office/officeart/2005/8/layout/list1"/>
    <dgm:cxn modelId="{B6552006-28DC-BF41-BE70-2ABA9F596B6E}" type="presParOf" srcId="{B9885A88-7130-124C-838F-BC2B6343F506}" destId="{45E4A3AF-0F8D-494A-A0E6-D9C938EF77AE}" srcOrd="0" destOrd="0" presId="urn:microsoft.com/office/officeart/2005/8/layout/list1"/>
    <dgm:cxn modelId="{17AE23AC-2C3E-B24A-847C-E9CDEFC1D50B}" type="presParOf" srcId="{B9885A88-7130-124C-838F-BC2B6343F506}" destId="{382E76DE-0916-BF4F-940E-5CCE6068F0CC}" srcOrd="1" destOrd="0" presId="urn:microsoft.com/office/officeart/2005/8/layout/list1"/>
    <dgm:cxn modelId="{0D9683BB-7F3A-F848-9CCA-8517D525B085}" type="presParOf" srcId="{6A0511E4-EF99-E14F-AE2C-A81BD688921C}" destId="{E540DFA1-6CD7-8F44-B52B-3BA262999A8F}" srcOrd="1" destOrd="0" presId="urn:microsoft.com/office/officeart/2005/8/layout/list1"/>
    <dgm:cxn modelId="{86CD785A-C3A3-574B-858D-0945FF19C83E}" type="presParOf" srcId="{6A0511E4-EF99-E14F-AE2C-A81BD688921C}" destId="{1B8A2073-DDFC-A945-965F-34F057A13413}" srcOrd="2" destOrd="0" presId="urn:microsoft.com/office/officeart/2005/8/layout/list1"/>
    <dgm:cxn modelId="{7573C76F-7CBB-CE45-B564-5767A160EEB9}" type="presParOf" srcId="{6A0511E4-EF99-E14F-AE2C-A81BD688921C}" destId="{65711CED-26E8-7B4E-9B17-1C90497EBA03}" srcOrd="3" destOrd="0" presId="urn:microsoft.com/office/officeart/2005/8/layout/list1"/>
    <dgm:cxn modelId="{4E38AB4A-1FA4-0749-A072-78097136997D}" type="presParOf" srcId="{6A0511E4-EF99-E14F-AE2C-A81BD688921C}" destId="{8569FE4D-76C4-8144-8A7B-A1F6FDC9EAC9}" srcOrd="4" destOrd="0" presId="urn:microsoft.com/office/officeart/2005/8/layout/list1"/>
    <dgm:cxn modelId="{A6935315-B74B-FB45-B68D-35C50A8FD087}" type="presParOf" srcId="{8569FE4D-76C4-8144-8A7B-A1F6FDC9EAC9}" destId="{3F4AC45D-EB8C-724C-A2FC-07E66F5EB5B4}" srcOrd="0" destOrd="0" presId="urn:microsoft.com/office/officeart/2005/8/layout/list1"/>
    <dgm:cxn modelId="{460BDF6F-E8C3-4842-812E-A04B6D658787}" type="presParOf" srcId="{8569FE4D-76C4-8144-8A7B-A1F6FDC9EAC9}" destId="{EC6F2A64-226F-F043-A736-0E712AA93A63}" srcOrd="1" destOrd="0" presId="urn:microsoft.com/office/officeart/2005/8/layout/list1"/>
    <dgm:cxn modelId="{97A93D8D-EB6D-C94D-BB94-09035ACE096C}" type="presParOf" srcId="{6A0511E4-EF99-E14F-AE2C-A81BD688921C}" destId="{88F01646-B055-7649-B360-0B87ED227990}" srcOrd="5" destOrd="0" presId="urn:microsoft.com/office/officeart/2005/8/layout/list1"/>
    <dgm:cxn modelId="{5F186514-4B03-8B4B-AC04-AD1E556B25FB}" type="presParOf" srcId="{6A0511E4-EF99-E14F-AE2C-A81BD688921C}" destId="{E1F2A502-4B18-4E44-9443-18DEF06AC982}" srcOrd="6" destOrd="0" presId="urn:microsoft.com/office/officeart/2005/8/layout/list1"/>
    <dgm:cxn modelId="{2846FD41-885C-4B42-8F42-B8279C167E33}" type="presParOf" srcId="{6A0511E4-EF99-E14F-AE2C-A81BD688921C}" destId="{FE75E647-941B-4E4E-BDE4-62DAFC55B8DB}" srcOrd="7" destOrd="0" presId="urn:microsoft.com/office/officeart/2005/8/layout/list1"/>
    <dgm:cxn modelId="{E9790DB0-7CB0-9647-BBBF-1863BBB682C4}" type="presParOf" srcId="{6A0511E4-EF99-E14F-AE2C-A81BD688921C}" destId="{1F40D43A-044E-9548-B5DB-A01EECCFC114}" srcOrd="8" destOrd="0" presId="urn:microsoft.com/office/officeart/2005/8/layout/list1"/>
    <dgm:cxn modelId="{A98A54F4-4673-E542-B5FF-977905020AEA}" type="presParOf" srcId="{1F40D43A-044E-9548-B5DB-A01EECCFC114}" destId="{B94783D4-254C-024E-9562-481FE0200C40}" srcOrd="0" destOrd="0" presId="urn:microsoft.com/office/officeart/2005/8/layout/list1"/>
    <dgm:cxn modelId="{3AF91C03-DDC8-D641-A4AD-F4AE723314C9}" type="presParOf" srcId="{1F40D43A-044E-9548-B5DB-A01EECCFC114}" destId="{F71D5DF7-3038-2041-8621-DF8C046A658D}" srcOrd="1" destOrd="0" presId="urn:microsoft.com/office/officeart/2005/8/layout/list1"/>
    <dgm:cxn modelId="{32FFCB4D-E358-4D46-AAAE-7784082C1C56}" type="presParOf" srcId="{6A0511E4-EF99-E14F-AE2C-A81BD688921C}" destId="{BA184240-21C1-6048-AC76-A6622EE238EA}" srcOrd="9" destOrd="0" presId="urn:microsoft.com/office/officeart/2005/8/layout/list1"/>
    <dgm:cxn modelId="{E974F214-E6BF-2F42-B6E0-EC1EE3BE0A65}" type="presParOf" srcId="{6A0511E4-EF99-E14F-AE2C-A81BD688921C}" destId="{6853193F-8754-5547-B915-A85C1FD214C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591EB5DA-D456-4719-81F1-C9231B02DA00}">
      <dgm:prSet/>
      <dgm:spPr/>
      <dgm:t>
        <a:bodyPr/>
        <a:lstStyle/>
        <a:p>
          <a:r>
            <a:rPr lang="en-US" dirty="0"/>
            <a:t>Scheduling Policy</a:t>
          </a:r>
        </a:p>
      </dgm:t>
    </dgm:pt>
    <dgm:pt modelId="{14B7D9CF-7179-4D94-8FB1-1DB0C5FB1C1C}" type="parTrans" cxnId="{CADF82A8-156F-47FA-985E-F78E405FCE4E}">
      <dgm:prSet/>
      <dgm:spPr/>
      <dgm:t>
        <a:bodyPr/>
        <a:lstStyle/>
        <a:p>
          <a:endParaRPr lang="en-US"/>
        </a:p>
      </dgm:t>
    </dgm:pt>
    <dgm:pt modelId="{8625C99A-FC32-46B2-B1C6-A58489CFDD88}" type="sibTrans" cxnId="{CADF82A8-156F-47FA-985E-F78E405FCE4E}">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2"/>
      <dgm:spPr/>
    </dgm:pt>
    <dgm:pt modelId="{0F137DB1-E140-1244-B54D-691FDAD50DEA}" type="pres">
      <dgm:prSet presAssocID="{620C197B-8959-4715-B44A-475E0E427332}" presName="text" presStyleLbl="fgAcc0" presStyleIdx="0" presStyleCnt="2" custScaleX="65157" custScaleY="47747">
        <dgm:presLayoutVars>
          <dgm:chPref val="3"/>
        </dgm:presLayoutVars>
      </dgm:prSet>
      <dgm:spPr/>
    </dgm:pt>
    <dgm:pt modelId="{EF6C8EBF-03DF-9441-B57E-225A94CC1F90}" type="pres">
      <dgm:prSet presAssocID="{620C197B-8959-4715-B44A-475E0E427332}" presName="hierChild2" presStyleCnt="0"/>
      <dgm:spPr/>
    </dgm:pt>
    <dgm:pt modelId="{261EBC69-D250-184B-B07F-4A04A924D2FD}" type="pres">
      <dgm:prSet presAssocID="{591EB5DA-D456-4719-81F1-C9231B02DA00}" presName="hierRoot1" presStyleCnt="0"/>
      <dgm:spPr/>
    </dgm:pt>
    <dgm:pt modelId="{5BE3205E-7013-7541-B0F7-3934FBC36E68}" type="pres">
      <dgm:prSet presAssocID="{591EB5DA-D456-4719-81F1-C9231B02DA00}" presName="composite" presStyleCnt="0"/>
      <dgm:spPr/>
    </dgm:pt>
    <dgm:pt modelId="{5787790F-D557-A44E-8EB2-AB272599E82D}" type="pres">
      <dgm:prSet presAssocID="{591EB5DA-D456-4719-81F1-C9231B02DA00}" presName="background" presStyleLbl="node0" presStyleIdx="1" presStyleCnt="2"/>
      <dgm:spPr/>
    </dgm:pt>
    <dgm:pt modelId="{C384D89C-DE2A-D74A-B4F0-9B134018EC1D}" type="pres">
      <dgm:prSet presAssocID="{591EB5DA-D456-4719-81F1-C9231B02DA00}" presName="text" presStyleLbl="fgAcc0" presStyleIdx="1" presStyleCnt="2" custScaleX="63261" custScaleY="47565">
        <dgm:presLayoutVars>
          <dgm:chPref val="3"/>
        </dgm:presLayoutVars>
      </dgm:prSet>
      <dgm:spPr/>
    </dgm:pt>
    <dgm:pt modelId="{66A372F0-CFD0-2F4E-BEED-456CD7A9471A}" type="pres">
      <dgm:prSet presAssocID="{591EB5DA-D456-4719-81F1-C9231B02DA00}"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DF82A8-156F-47FA-985E-F78E405FCE4E}" srcId="{D5898AC0-2D08-439C-A183-85DC385DF673}" destId="{591EB5DA-D456-4719-81F1-C9231B02DA00}" srcOrd="1" destOrd="0" parTransId="{14B7D9CF-7179-4D94-8FB1-1DB0C5FB1C1C}" sibTransId="{8625C99A-FC32-46B2-B1C6-A58489CFDD88}"/>
    <dgm:cxn modelId="{CA7573CF-01C9-814B-8E00-D0276852FABF}" type="presOf" srcId="{D5898AC0-2D08-439C-A183-85DC385DF673}" destId="{806EB9D5-5515-B246-B245-AAC8A1EAA5BC}" srcOrd="0" destOrd="0" presId="urn:microsoft.com/office/officeart/2005/8/layout/hierarchy1"/>
    <dgm:cxn modelId="{C1B1CCE5-A5A1-4640-B620-1F0859F0F7F4}" type="presOf" srcId="{591EB5DA-D456-4719-81F1-C9231B02DA00}" destId="{C384D89C-DE2A-D74A-B4F0-9B134018EC1D}"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 modelId="{FFCC0A55-D795-3340-97AD-67134B0CFB4E}" type="presParOf" srcId="{806EB9D5-5515-B246-B245-AAC8A1EAA5BC}" destId="{261EBC69-D250-184B-B07F-4A04A924D2FD}" srcOrd="1" destOrd="0" presId="urn:microsoft.com/office/officeart/2005/8/layout/hierarchy1"/>
    <dgm:cxn modelId="{565BF7E4-AEF5-AE4C-8B83-45DEDD18BCA4}" type="presParOf" srcId="{261EBC69-D250-184B-B07F-4A04A924D2FD}" destId="{5BE3205E-7013-7541-B0F7-3934FBC36E68}" srcOrd="0" destOrd="0" presId="urn:microsoft.com/office/officeart/2005/8/layout/hierarchy1"/>
    <dgm:cxn modelId="{B2EE9FAD-C5EB-2042-A506-46B74DF56309}" type="presParOf" srcId="{5BE3205E-7013-7541-B0F7-3934FBC36E68}" destId="{5787790F-D557-A44E-8EB2-AB272599E82D}" srcOrd="0" destOrd="0" presId="urn:microsoft.com/office/officeart/2005/8/layout/hierarchy1"/>
    <dgm:cxn modelId="{1C205091-D87D-6B46-AE2B-34CD1BE691CA}" type="presParOf" srcId="{5BE3205E-7013-7541-B0F7-3934FBC36E68}" destId="{C384D89C-DE2A-D74A-B4F0-9B134018EC1D}" srcOrd="1" destOrd="0" presId="urn:microsoft.com/office/officeart/2005/8/layout/hierarchy1"/>
    <dgm:cxn modelId="{6F087824-345E-384C-A4D6-F104979D84F6}" type="presParOf" srcId="{261EBC69-D250-184B-B07F-4A04A924D2FD}" destId="{66A372F0-CFD0-2F4E-BEED-456CD7A9471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591EB5DA-D456-4719-81F1-C9231B02DA00}">
      <dgm:prSet/>
      <dgm:spPr/>
      <dgm:t>
        <a:bodyPr/>
        <a:lstStyle/>
        <a:p>
          <a:r>
            <a:rPr lang="en-US" dirty="0"/>
            <a:t>Scheduling Policy</a:t>
          </a:r>
        </a:p>
      </dgm:t>
    </dgm:pt>
    <dgm:pt modelId="{14B7D9CF-7179-4D94-8FB1-1DB0C5FB1C1C}" type="parTrans" cxnId="{CADF82A8-156F-47FA-985E-F78E405FCE4E}">
      <dgm:prSet/>
      <dgm:spPr/>
      <dgm:t>
        <a:bodyPr/>
        <a:lstStyle/>
        <a:p>
          <a:endParaRPr lang="en-US"/>
        </a:p>
      </dgm:t>
    </dgm:pt>
    <dgm:pt modelId="{8625C99A-FC32-46B2-B1C6-A58489CFDD88}" type="sibTrans" cxnId="{CADF82A8-156F-47FA-985E-F78E405FCE4E}">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2"/>
      <dgm:spPr/>
    </dgm:pt>
    <dgm:pt modelId="{0F137DB1-E140-1244-B54D-691FDAD50DEA}" type="pres">
      <dgm:prSet presAssocID="{620C197B-8959-4715-B44A-475E0E427332}" presName="text" presStyleLbl="fgAcc0" presStyleIdx="0" presStyleCnt="2" custScaleX="65157" custScaleY="47747">
        <dgm:presLayoutVars>
          <dgm:chPref val="3"/>
        </dgm:presLayoutVars>
      </dgm:prSet>
      <dgm:spPr/>
    </dgm:pt>
    <dgm:pt modelId="{EF6C8EBF-03DF-9441-B57E-225A94CC1F90}" type="pres">
      <dgm:prSet presAssocID="{620C197B-8959-4715-B44A-475E0E427332}" presName="hierChild2" presStyleCnt="0"/>
      <dgm:spPr/>
    </dgm:pt>
    <dgm:pt modelId="{261EBC69-D250-184B-B07F-4A04A924D2FD}" type="pres">
      <dgm:prSet presAssocID="{591EB5DA-D456-4719-81F1-C9231B02DA00}" presName="hierRoot1" presStyleCnt="0"/>
      <dgm:spPr/>
    </dgm:pt>
    <dgm:pt modelId="{5BE3205E-7013-7541-B0F7-3934FBC36E68}" type="pres">
      <dgm:prSet presAssocID="{591EB5DA-D456-4719-81F1-C9231B02DA00}" presName="composite" presStyleCnt="0"/>
      <dgm:spPr/>
    </dgm:pt>
    <dgm:pt modelId="{5787790F-D557-A44E-8EB2-AB272599E82D}" type="pres">
      <dgm:prSet presAssocID="{591EB5DA-D456-4719-81F1-C9231B02DA00}" presName="background" presStyleLbl="node0" presStyleIdx="1" presStyleCnt="2"/>
      <dgm:spPr/>
    </dgm:pt>
    <dgm:pt modelId="{C384D89C-DE2A-D74A-B4F0-9B134018EC1D}" type="pres">
      <dgm:prSet presAssocID="{591EB5DA-D456-4719-81F1-C9231B02DA00}" presName="text" presStyleLbl="fgAcc0" presStyleIdx="1" presStyleCnt="2" custScaleX="63261" custScaleY="47565">
        <dgm:presLayoutVars>
          <dgm:chPref val="3"/>
        </dgm:presLayoutVars>
      </dgm:prSet>
      <dgm:spPr/>
    </dgm:pt>
    <dgm:pt modelId="{66A372F0-CFD0-2F4E-BEED-456CD7A9471A}" type="pres">
      <dgm:prSet presAssocID="{591EB5DA-D456-4719-81F1-C9231B02DA00}"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DF82A8-156F-47FA-985E-F78E405FCE4E}" srcId="{D5898AC0-2D08-439C-A183-85DC385DF673}" destId="{591EB5DA-D456-4719-81F1-C9231B02DA00}" srcOrd="1" destOrd="0" parTransId="{14B7D9CF-7179-4D94-8FB1-1DB0C5FB1C1C}" sibTransId="{8625C99A-FC32-46B2-B1C6-A58489CFDD88}"/>
    <dgm:cxn modelId="{CA7573CF-01C9-814B-8E00-D0276852FABF}" type="presOf" srcId="{D5898AC0-2D08-439C-A183-85DC385DF673}" destId="{806EB9D5-5515-B246-B245-AAC8A1EAA5BC}" srcOrd="0" destOrd="0" presId="urn:microsoft.com/office/officeart/2005/8/layout/hierarchy1"/>
    <dgm:cxn modelId="{C1B1CCE5-A5A1-4640-B620-1F0859F0F7F4}" type="presOf" srcId="{591EB5DA-D456-4719-81F1-C9231B02DA00}" destId="{C384D89C-DE2A-D74A-B4F0-9B134018EC1D}"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 modelId="{FFCC0A55-D795-3340-97AD-67134B0CFB4E}" type="presParOf" srcId="{806EB9D5-5515-B246-B245-AAC8A1EAA5BC}" destId="{261EBC69-D250-184B-B07F-4A04A924D2FD}" srcOrd="1" destOrd="0" presId="urn:microsoft.com/office/officeart/2005/8/layout/hierarchy1"/>
    <dgm:cxn modelId="{565BF7E4-AEF5-AE4C-8B83-45DEDD18BCA4}" type="presParOf" srcId="{261EBC69-D250-184B-B07F-4A04A924D2FD}" destId="{5BE3205E-7013-7541-B0F7-3934FBC36E68}" srcOrd="0" destOrd="0" presId="urn:microsoft.com/office/officeart/2005/8/layout/hierarchy1"/>
    <dgm:cxn modelId="{B2EE9FAD-C5EB-2042-A506-46B74DF56309}" type="presParOf" srcId="{5BE3205E-7013-7541-B0F7-3934FBC36E68}" destId="{5787790F-D557-A44E-8EB2-AB272599E82D}" srcOrd="0" destOrd="0" presId="urn:microsoft.com/office/officeart/2005/8/layout/hierarchy1"/>
    <dgm:cxn modelId="{1C205091-D87D-6B46-AE2B-34CD1BE691CA}" type="presParOf" srcId="{5BE3205E-7013-7541-B0F7-3934FBC36E68}" destId="{C384D89C-DE2A-D74A-B4F0-9B134018EC1D}" srcOrd="1" destOrd="0" presId="urn:microsoft.com/office/officeart/2005/8/layout/hierarchy1"/>
    <dgm:cxn modelId="{6F087824-345E-384C-A4D6-F104979D84F6}" type="presParOf" srcId="{261EBC69-D250-184B-B07F-4A04A924D2FD}" destId="{66A372F0-CFD0-2F4E-BEED-456CD7A9471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591EB5DA-D456-4719-81F1-C9231B02DA00}">
      <dgm:prSet/>
      <dgm:spPr/>
      <dgm:t>
        <a:bodyPr/>
        <a:lstStyle/>
        <a:p>
          <a:r>
            <a:rPr lang="en-US" dirty="0"/>
            <a:t>Scheduling Policy</a:t>
          </a:r>
        </a:p>
      </dgm:t>
    </dgm:pt>
    <dgm:pt modelId="{14B7D9CF-7179-4D94-8FB1-1DB0C5FB1C1C}" type="parTrans" cxnId="{CADF82A8-156F-47FA-985E-F78E405FCE4E}">
      <dgm:prSet/>
      <dgm:spPr/>
      <dgm:t>
        <a:bodyPr/>
        <a:lstStyle/>
        <a:p>
          <a:endParaRPr lang="en-US"/>
        </a:p>
      </dgm:t>
    </dgm:pt>
    <dgm:pt modelId="{8625C99A-FC32-46B2-B1C6-A58489CFDD88}" type="sibTrans" cxnId="{CADF82A8-156F-47FA-985E-F78E405FCE4E}">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2"/>
      <dgm:spPr/>
    </dgm:pt>
    <dgm:pt modelId="{0F137DB1-E140-1244-B54D-691FDAD50DEA}" type="pres">
      <dgm:prSet presAssocID="{620C197B-8959-4715-B44A-475E0E427332}" presName="text" presStyleLbl="fgAcc0" presStyleIdx="0" presStyleCnt="2" custScaleX="65157" custScaleY="47747">
        <dgm:presLayoutVars>
          <dgm:chPref val="3"/>
        </dgm:presLayoutVars>
      </dgm:prSet>
      <dgm:spPr/>
    </dgm:pt>
    <dgm:pt modelId="{EF6C8EBF-03DF-9441-B57E-225A94CC1F90}" type="pres">
      <dgm:prSet presAssocID="{620C197B-8959-4715-B44A-475E0E427332}" presName="hierChild2" presStyleCnt="0"/>
      <dgm:spPr/>
    </dgm:pt>
    <dgm:pt modelId="{261EBC69-D250-184B-B07F-4A04A924D2FD}" type="pres">
      <dgm:prSet presAssocID="{591EB5DA-D456-4719-81F1-C9231B02DA00}" presName="hierRoot1" presStyleCnt="0"/>
      <dgm:spPr/>
    </dgm:pt>
    <dgm:pt modelId="{5BE3205E-7013-7541-B0F7-3934FBC36E68}" type="pres">
      <dgm:prSet presAssocID="{591EB5DA-D456-4719-81F1-C9231B02DA00}" presName="composite" presStyleCnt="0"/>
      <dgm:spPr/>
    </dgm:pt>
    <dgm:pt modelId="{5787790F-D557-A44E-8EB2-AB272599E82D}" type="pres">
      <dgm:prSet presAssocID="{591EB5DA-D456-4719-81F1-C9231B02DA00}" presName="background" presStyleLbl="node0" presStyleIdx="1" presStyleCnt="2"/>
      <dgm:spPr/>
    </dgm:pt>
    <dgm:pt modelId="{C384D89C-DE2A-D74A-B4F0-9B134018EC1D}" type="pres">
      <dgm:prSet presAssocID="{591EB5DA-D456-4719-81F1-C9231B02DA00}" presName="text" presStyleLbl="fgAcc0" presStyleIdx="1" presStyleCnt="2" custScaleX="63261" custScaleY="47565">
        <dgm:presLayoutVars>
          <dgm:chPref val="3"/>
        </dgm:presLayoutVars>
      </dgm:prSet>
      <dgm:spPr/>
    </dgm:pt>
    <dgm:pt modelId="{66A372F0-CFD0-2F4E-BEED-456CD7A9471A}" type="pres">
      <dgm:prSet presAssocID="{591EB5DA-D456-4719-81F1-C9231B02DA00}"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DF82A8-156F-47FA-985E-F78E405FCE4E}" srcId="{D5898AC0-2D08-439C-A183-85DC385DF673}" destId="{591EB5DA-D456-4719-81F1-C9231B02DA00}" srcOrd="1" destOrd="0" parTransId="{14B7D9CF-7179-4D94-8FB1-1DB0C5FB1C1C}" sibTransId="{8625C99A-FC32-46B2-B1C6-A58489CFDD88}"/>
    <dgm:cxn modelId="{CA7573CF-01C9-814B-8E00-D0276852FABF}" type="presOf" srcId="{D5898AC0-2D08-439C-A183-85DC385DF673}" destId="{806EB9D5-5515-B246-B245-AAC8A1EAA5BC}" srcOrd="0" destOrd="0" presId="urn:microsoft.com/office/officeart/2005/8/layout/hierarchy1"/>
    <dgm:cxn modelId="{C1B1CCE5-A5A1-4640-B620-1F0859F0F7F4}" type="presOf" srcId="{591EB5DA-D456-4719-81F1-C9231B02DA00}" destId="{C384D89C-DE2A-D74A-B4F0-9B134018EC1D}"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 modelId="{FFCC0A55-D795-3340-97AD-67134B0CFB4E}" type="presParOf" srcId="{806EB9D5-5515-B246-B245-AAC8A1EAA5BC}" destId="{261EBC69-D250-184B-B07F-4A04A924D2FD}" srcOrd="1" destOrd="0" presId="urn:microsoft.com/office/officeart/2005/8/layout/hierarchy1"/>
    <dgm:cxn modelId="{565BF7E4-AEF5-AE4C-8B83-45DEDD18BCA4}" type="presParOf" srcId="{261EBC69-D250-184B-B07F-4A04A924D2FD}" destId="{5BE3205E-7013-7541-B0F7-3934FBC36E68}" srcOrd="0" destOrd="0" presId="urn:microsoft.com/office/officeart/2005/8/layout/hierarchy1"/>
    <dgm:cxn modelId="{B2EE9FAD-C5EB-2042-A506-46B74DF56309}" type="presParOf" srcId="{5BE3205E-7013-7541-B0F7-3934FBC36E68}" destId="{5787790F-D557-A44E-8EB2-AB272599E82D}" srcOrd="0" destOrd="0" presId="urn:microsoft.com/office/officeart/2005/8/layout/hierarchy1"/>
    <dgm:cxn modelId="{1C205091-D87D-6B46-AE2B-34CD1BE691CA}" type="presParOf" srcId="{5BE3205E-7013-7541-B0F7-3934FBC36E68}" destId="{C384D89C-DE2A-D74A-B4F0-9B134018EC1D}" srcOrd="1" destOrd="0" presId="urn:microsoft.com/office/officeart/2005/8/layout/hierarchy1"/>
    <dgm:cxn modelId="{6F087824-345E-384C-A4D6-F104979D84F6}" type="presParOf" srcId="{261EBC69-D250-184B-B07F-4A04A924D2FD}" destId="{66A372F0-CFD0-2F4E-BEED-456CD7A9471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5898AC0-2D08-439C-A183-85DC385DF67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620C197B-8959-4715-B44A-475E0E427332}">
      <dgm:prSet/>
      <dgm:spPr/>
      <dgm:t>
        <a:bodyPr/>
        <a:lstStyle/>
        <a:p>
          <a:r>
            <a:rPr lang="en-US" dirty="0"/>
            <a:t>A sequencer</a:t>
          </a:r>
        </a:p>
      </dgm:t>
    </dgm:pt>
    <dgm:pt modelId="{8CEFA0F6-4CA0-46FD-B072-D696CC30482F}" type="parTrans" cxnId="{59BEACEA-E8C1-4D64-8259-FDB189F50767}">
      <dgm:prSet/>
      <dgm:spPr/>
      <dgm:t>
        <a:bodyPr/>
        <a:lstStyle/>
        <a:p>
          <a:endParaRPr lang="en-US"/>
        </a:p>
      </dgm:t>
    </dgm:pt>
    <dgm:pt modelId="{EC4C8EB8-4020-482D-A43D-745F569D3892}" type="sibTrans" cxnId="{59BEACEA-E8C1-4D64-8259-FDB189F50767}">
      <dgm:prSet/>
      <dgm:spPr/>
      <dgm:t>
        <a:bodyPr/>
        <a:lstStyle/>
        <a:p>
          <a:endParaRPr lang="en-US"/>
        </a:p>
      </dgm:t>
    </dgm:pt>
    <dgm:pt modelId="{806EB9D5-5515-B246-B245-AAC8A1EAA5BC}" type="pres">
      <dgm:prSet presAssocID="{D5898AC0-2D08-439C-A183-85DC385DF673}" presName="hierChild1" presStyleCnt="0">
        <dgm:presLayoutVars>
          <dgm:chPref val="1"/>
          <dgm:dir/>
          <dgm:animOne val="branch"/>
          <dgm:animLvl val="lvl"/>
          <dgm:resizeHandles/>
        </dgm:presLayoutVars>
      </dgm:prSet>
      <dgm:spPr/>
    </dgm:pt>
    <dgm:pt modelId="{D97B835E-8232-694B-8CA3-EDAAA7976AA5}" type="pres">
      <dgm:prSet presAssocID="{620C197B-8959-4715-B44A-475E0E427332}" presName="hierRoot1" presStyleCnt="0"/>
      <dgm:spPr/>
    </dgm:pt>
    <dgm:pt modelId="{90F6FF3A-AF44-D143-94E6-FF7B4A6B3486}" type="pres">
      <dgm:prSet presAssocID="{620C197B-8959-4715-B44A-475E0E427332}" presName="composite" presStyleCnt="0"/>
      <dgm:spPr/>
    </dgm:pt>
    <dgm:pt modelId="{FA5A891E-1476-D94F-A1AF-CCB7E72C1AF5}" type="pres">
      <dgm:prSet presAssocID="{620C197B-8959-4715-B44A-475E0E427332}" presName="background" presStyleLbl="node0" presStyleIdx="0" presStyleCnt="1"/>
      <dgm:spPr/>
    </dgm:pt>
    <dgm:pt modelId="{0F137DB1-E140-1244-B54D-691FDAD50DEA}" type="pres">
      <dgm:prSet presAssocID="{620C197B-8959-4715-B44A-475E0E427332}" presName="text" presStyleLbl="fgAcc0" presStyleIdx="0" presStyleCnt="1" custScaleX="100403" custScaleY="13270" custLinFactNeighborX="1383" custLinFactNeighborY="3234">
        <dgm:presLayoutVars>
          <dgm:chPref val="3"/>
        </dgm:presLayoutVars>
      </dgm:prSet>
      <dgm:spPr/>
    </dgm:pt>
    <dgm:pt modelId="{EF6C8EBF-03DF-9441-B57E-225A94CC1F90}" type="pres">
      <dgm:prSet presAssocID="{620C197B-8959-4715-B44A-475E0E427332}" presName="hierChild2" presStyleCnt="0"/>
      <dgm:spPr/>
    </dgm:pt>
  </dgm:ptLst>
  <dgm:cxnLst>
    <dgm:cxn modelId="{F50FE152-B40A-A24D-B358-9D4827D6F1D3}" type="presOf" srcId="{620C197B-8959-4715-B44A-475E0E427332}" destId="{0F137DB1-E140-1244-B54D-691FDAD50DEA}" srcOrd="0" destOrd="0" presId="urn:microsoft.com/office/officeart/2005/8/layout/hierarchy1"/>
    <dgm:cxn modelId="{CA7573CF-01C9-814B-8E00-D0276852FABF}" type="presOf" srcId="{D5898AC0-2D08-439C-A183-85DC385DF673}" destId="{806EB9D5-5515-B246-B245-AAC8A1EAA5BC}" srcOrd="0" destOrd="0" presId="urn:microsoft.com/office/officeart/2005/8/layout/hierarchy1"/>
    <dgm:cxn modelId="{59BEACEA-E8C1-4D64-8259-FDB189F50767}" srcId="{D5898AC0-2D08-439C-A183-85DC385DF673}" destId="{620C197B-8959-4715-B44A-475E0E427332}" srcOrd="0" destOrd="0" parTransId="{8CEFA0F6-4CA0-46FD-B072-D696CC30482F}" sibTransId="{EC4C8EB8-4020-482D-A43D-745F569D3892}"/>
    <dgm:cxn modelId="{17EDCF41-D354-F746-9B7D-3F8AF995963D}" type="presParOf" srcId="{806EB9D5-5515-B246-B245-AAC8A1EAA5BC}" destId="{D97B835E-8232-694B-8CA3-EDAAA7976AA5}" srcOrd="0" destOrd="0" presId="urn:microsoft.com/office/officeart/2005/8/layout/hierarchy1"/>
    <dgm:cxn modelId="{A4BF74C8-3849-C24E-BB45-08E6919B97A1}" type="presParOf" srcId="{D97B835E-8232-694B-8CA3-EDAAA7976AA5}" destId="{90F6FF3A-AF44-D143-94E6-FF7B4A6B3486}" srcOrd="0" destOrd="0" presId="urn:microsoft.com/office/officeart/2005/8/layout/hierarchy1"/>
    <dgm:cxn modelId="{60A0D589-4464-3F45-9D9C-0088A3B79E52}" type="presParOf" srcId="{90F6FF3A-AF44-D143-94E6-FF7B4A6B3486}" destId="{FA5A891E-1476-D94F-A1AF-CCB7E72C1AF5}" srcOrd="0" destOrd="0" presId="urn:microsoft.com/office/officeart/2005/8/layout/hierarchy1"/>
    <dgm:cxn modelId="{2D6601DB-FC6E-B548-9C95-CDDDFA1F039B}" type="presParOf" srcId="{90F6FF3A-AF44-D143-94E6-FF7B4A6B3486}" destId="{0F137DB1-E140-1244-B54D-691FDAD50DEA}" srcOrd="1" destOrd="0" presId="urn:microsoft.com/office/officeart/2005/8/layout/hierarchy1"/>
    <dgm:cxn modelId="{D7CE6763-C107-834C-813E-A5CE22A4FE8C}" type="presParOf" srcId="{D97B835E-8232-694B-8CA3-EDAAA7976AA5}" destId="{EF6C8EBF-03DF-9441-B57E-225A94CC1F9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8A2073-DDFC-A945-965F-34F057A13413}">
      <dsp:nvSpPr>
        <dsp:cNvPr id="0" name=""/>
        <dsp:cNvSpPr/>
      </dsp:nvSpPr>
      <dsp:spPr>
        <a:xfrm>
          <a:off x="0" y="1144956"/>
          <a:ext cx="6790149" cy="680399"/>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82E76DE-0916-BF4F-940E-5CCE6068F0CC}">
      <dsp:nvSpPr>
        <dsp:cNvPr id="0" name=""/>
        <dsp:cNvSpPr/>
      </dsp:nvSpPr>
      <dsp:spPr>
        <a:xfrm>
          <a:off x="297303" y="0"/>
          <a:ext cx="4824971" cy="171913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9656" tIns="0" rIns="179656" bIns="0" numCol="1" spcCol="1270" anchor="ctr" anchorCtr="0">
          <a:noAutofit/>
        </a:bodyPr>
        <a:lstStyle/>
        <a:p>
          <a:pPr marL="0" lvl="0" indent="0" algn="l" defTabSz="1066800">
            <a:lnSpc>
              <a:spcPct val="90000"/>
            </a:lnSpc>
            <a:spcBef>
              <a:spcPct val="0"/>
            </a:spcBef>
            <a:spcAft>
              <a:spcPct val="35000"/>
            </a:spcAft>
            <a:buNone/>
          </a:pPr>
          <a:r>
            <a:rPr lang="en-US" sz="2400" kern="1200" dirty="0"/>
            <a:t>Multicast service that disseminates market data to 1000 participants, each receiving a message within 1-microsecond of each other</a:t>
          </a:r>
        </a:p>
      </dsp:txBody>
      <dsp:txXfrm>
        <a:off x="381224" y="83921"/>
        <a:ext cx="4657129" cy="1551293"/>
      </dsp:txXfrm>
    </dsp:sp>
    <dsp:sp modelId="{E1F2A502-4B18-4E44-9443-18DEF06AC982}">
      <dsp:nvSpPr>
        <dsp:cNvPr id="0" name=""/>
        <dsp:cNvSpPr/>
      </dsp:nvSpPr>
      <dsp:spPr>
        <a:xfrm>
          <a:off x="0" y="3615314"/>
          <a:ext cx="6790149" cy="680399"/>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C6F2A64-226F-F043-A736-0E712AA93A63}">
      <dsp:nvSpPr>
        <dsp:cNvPr id="0" name=""/>
        <dsp:cNvSpPr/>
      </dsp:nvSpPr>
      <dsp:spPr>
        <a:xfrm>
          <a:off x="1608531" y="2079302"/>
          <a:ext cx="5009819" cy="1930622"/>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9656" tIns="0" rIns="179656" bIns="0" numCol="1" spcCol="1270" anchor="ctr" anchorCtr="0">
          <a:noAutofit/>
        </a:bodyPr>
        <a:lstStyle/>
        <a:p>
          <a:pPr marL="0" lvl="0" indent="0" algn="l" defTabSz="1066800">
            <a:lnSpc>
              <a:spcPct val="90000"/>
            </a:lnSpc>
            <a:spcBef>
              <a:spcPct val="0"/>
            </a:spcBef>
            <a:spcAft>
              <a:spcPct val="35000"/>
            </a:spcAft>
            <a:buNone/>
          </a:pPr>
          <a:r>
            <a:rPr lang="en-US" sz="2400" kern="1200" dirty="0"/>
            <a:t>An order submission service which effectively handles bursty traffic while maintaining fairness of competition among the participants</a:t>
          </a:r>
        </a:p>
      </dsp:txBody>
      <dsp:txXfrm>
        <a:off x="1702776" y="2173547"/>
        <a:ext cx="4821329" cy="1742132"/>
      </dsp:txXfrm>
    </dsp:sp>
    <dsp:sp modelId="{6853193F-8754-5547-B915-A85C1FD214C5}">
      <dsp:nvSpPr>
        <dsp:cNvPr id="0" name=""/>
        <dsp:cNvSpPr/>
      </dsp:nvSpPr>
      <dsp:spPr>
        <a:xfrm>
          <a:off x="0" y="5149520"/>
          <a:ext cx="6790149" cy="680399"/>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71D5DF7-3038-2041-8621-DF8C046A658D}">
      <dsp:nvSpPr>
        <dsp:cNvPr id="0" name=""/>
        <dsp:cNvSpPr/>
      </dsp:nvSpPr>
      <dsp:spPr>
        <a:xfrm>
          <a:off x="170694" y="4610323"/>
          <a:ext cx="4753104" cy="797039"/>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9656" tIns="0" rIns="179656" bIns="0" numCol="1" spcCol="1270" anchor="ctr" anchorCtr="0">
          <a:noAutofit/>
        </a:bodyPr>
        <a:lstStyle/>
        <a:p>
          <a:pPr marL="0" lvl="0" indent="0" algn="l" defTabSz="1200150">
            <a:lnSpc>
              <a:spcPct val="90000"/>
            </a:lnSpc>
            <a:spcBef>
              <a:spcPct val="0"/>
            </a:spcBef>
            <a:spcAft>
              <a:spcPct val="35000"/>
            </a:spcAft>
            <a:buNone/>
          </a:pPr>
          <a:r>
            <a:rPr lang="en-US" sz="2700" kern="1200" dirty="0"/>
            <a:t>Prototyped on AWS and GCP</a:t>
          </a:r>
        </a:p>
      </dsp:txBody>
      <dsp:txXfrm>
        <a:off x="209602" y="4649231"/>
        <a:ext cx="4675288" cy="719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24" y="741663"/>
          <a:ext cx="4573702" cy="212826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783270" y="1482611"/>
          <a:ext cx="4573702" cy="21282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Sequencer</a:t>
          </a:r>
        </a:p>
      </dsp:txBody>
      <dsp:txXfrm>
        <a:off x="845605" y="1544946"/>
        <a:ext cx="4449032" cy="2003599"/>
      </dsp:txXfrm>
    </dsp:sp>
    <dsp:sp modelId="{5787790F-D557-A44E-8EB2-AB272599E82D}">
      <dsp:nvSpPr>
        <dsp:cNvPr id="0" name=""/>
        <dsp:cNvSpPr/>
      </dsp:nvSpPr>
      <dsp:spPr>
        <a:xfrm>
          <a:off x="6136917" y="741663"/>
          <a:ext cx="4440612" cy="212015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C384D89C-DE2A-D74A-B4F0-9B134018EC1D}">
      <dsp:nvSpPr>
        <dsp:cNvPr id="0" name=""/>
        <dsp:cNvSpPr/>
      </dsp:nvSpPr>
      <dsp:spPr>
        <a:xfrm>
          <a:off x="6916863" y="1482611"/>
          <a:ext cx="4440612" cy="212015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Scheduling Policy</a:t>
          </a:r>
        </a:p>
      </dsp:txBody>
      <dsp:txXfrm>
        <a:off x="6978960" y="1544708"/>
        <a:ext cx="4316418" cy="19959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24" y="741663"/>
          <a:ext cx="4573702" cy="212826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783270" y="1482611"/>
          <a:ext cx="4573702" cy="21282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Sequencer</a:t>
          </a:r>
        </a:p>
      </dsp:txBody>
      <dsp:txXfrm>
        <a:off x="845605" y="1544946"/>
        <a:ext cx="4449032" cy="2003599"/>
      </dsp:txXfrm>
    </dsp:sp>
    <dsp:sp modelId="{5787790F-D557-A44E-8EB2-AB272599E82D}">
      <dsp:nvSpPr>
        <dsp:cNvPr id="0" name=""/>
        <dsp:cNvSpPr/>
      </dsp:nvSpPr>
      <dsp:spPr>
        <a:xfrm>
          <a:off x="6136917" y="741663"/>
          <a:ext cx="4440612" cy="212015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C384D89C-DE2A-D74A-B4F0-9B134018EC1D}">
      <dsp:nvSpPr>
        <dsp:cNvPr id="0" name=""/>
        <dsp:cNvSpPr/>
      </dsp:nvSpPr>
      <dsp:spPr>
        <a:xfrm>
          <a:off x="6916863" y="1482611"/>
          <a:ext cx="4440612" cy="212015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Scheduling Policy</a:t>
          </a:r>
        </a:p>
      </dsp:txBody>
      <dsp:txXfrm>
        <a:off x="6978960" y="1544708"/>
        <a:ext cx="4316418" cy="19959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24" y="741663"/>
          <a:ext cx="4573702" cy="212826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783270" y="1482611"/>
          <a:ext cx="4573702" cy="21282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Sequencer</a:t>
          </a:r>
        </a:p>
      </dsp:txBody>
      <dsp:txXfrm>
        <a:off x="845605" y="1544946"/>
        <a:ext cx="4449032" cy="2003599"/>
      </dsp:txXfrm>
    </dsp:sp>
    <dsp:sp modelId="{5787790F-D557-A44E-8EB2-AB272599E82D}">
      <dsp:nvSpPr>
        <dsp:cNvPr id="0" name=""/>
        <dsp:cNvSpPr/>
      </dsp:nvSpPr>
      <dsp:spPr>
        <a:xfrm>
          <a:off x="6136917" y="741663"/>
          <a:ext cx="4440612" cy="212015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C384D89C-DE2A-D74A-B4F0-9B134018EC1D}">
      <dsp:nvSpPr>
        <dsp:cNvPr id="0" name=""/>
        <dsp:cNvSpPr/>
      </dsp:nvSpPr>
      <dsp:spPr>
        <a:xfrm>
          <a:off x="6916863" y="1482611"/>
          <a:ext cx="4440612" cy="212015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n-US" sz="5600" kern="1200" dirty="0"/>
            <a:t>Scheduling Policy</a:t>
          </a:r>
        </a:p>
      </dsp:txBody>
      <dsp:txXfrm>
        <a:off x="6978960" y="1544708"/>
        <a:ext cx="4316418" cy="19959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891E-1476-D94F-A1AF-CCB7E72C1AF5}">
      <dsp:nvSpPr>
        <dsp:cNvPr id="0" name=""/>
        <dsp:cNvSpPr/>
      </dsp:nvSpPr>
      <dsp:spPr>
        <a:xfrm>
          <a:off x="3333" y="1418787"/>
          <a:ext cx="10225824" cy="858215"/>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F137DB1-E140-1244-B54D-691FDAD50DEA}">
      <dsp:nvSpPr>
        <dsp:cNvPr id="0" name=""/>
        <dsp:cNvSpPr/>
      </dsp:nvSpPr>
      <dsp:spPr>
        <a:xfrm>
          <a:off x="1134975" y="2493847"/>
          <a:ext cx="10225824" cy="85821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A sequencer</a:t>
          </a:r>
        </a:p>
      </dsp:txBody>
      <dsp:txXfrm>
        <a:off x="1160111" y="2518983"/>
        <a:ext cx="10175552" cy="80794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89E14C-4B77-9345-AC7C-9D930EA32606}" type="datetimeFigureOut">
              <a:rPr lang="en-US" smtClean="0"/>
              <a:t>4/5/26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2936D-68DF-C34D-84E6-1FDAB4C19BCF}" type="slidenum">
              <a:rPr lang="en-US" smtClean="0"/>
              <a:t>‹#›</a:t>
            </a:fld>
            <a:endParaRPr lang="en-US"/>
          </a:p>
        </p:txBody>
      </p:sp>
    </p:spTree>
    <p:extLst>
      <p:ext uri="{BB962C8B-B14F-4D97-AF65-F5344CB8AC3E}">
        <p14:creationId xmlns:p14="http://schemas.microsoft.com/office/powerpoint/2010/main" val="1367195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having latency fairness can lead to unwanted unfair competition, users may not come</a:t>
            </a:r>
          </a:p>
        </p:txBody>
      </p:sp>
      <p:sp>
        <p:nvSpPr>
          <p:cNvPr id="4" name="Slide Number Placeholder 3"/>
          <p:cNvSpPr>
            <a:spLocks noGrp="1"/>
          </p:cNvSpPr>
          <p:nvPr>
            <p:ph type="sldNum" sz="quarter" idx="5"/>
          </p:nvPr>
        </p:nvSpPr>
        <p:spPr/>
        <p:txBody>
          <a:bodyPr/>
          <a:lstStyle/>
          <a:p>
            <a:fld id="{5AD2936D-68DF-C34D-84E6-1FDAB4C19BCF}" type="slidenum">
              <a:rPr lang="en-US" smtClean="0"/>
              <a:t>7</a:t>
            </a:fld>
            <a:endParaRPr lang="en-US"/>
          </a:p>
        </p:txBody>
      </p:sp>
    </p:spTree>
    <p:extLst>
      <p:ext uri="{BB962C8B-B14F-4D97-AF65-F5344CB8AC3E}">
        <p14:creationId xmlns:p14="http://schemas.microsoft.com/office/powerpoint/2010/main" val="572064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022B6-65E5-2318-A990-AB7A74085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04C8E-9FAA-628F-EEE8-3287CB0C21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09A3B-0482-FAD7-8EE6-6B9B53012E0A}"/>
              </a:ext>
            </a:extLst>
          </p:cNvPr>
          <p:cNvSpPr>
            <a:spLocks noGrp="1"/>
          </p:cNvSpPr>
          <p:nvPr>
            <p:ph type="body" idx="1"/>
          </p:nvPr>
        </p:nvSpPr>
        <p:spPr/>
        <p:txBody>
          <a:bodyPr/>
          <a:lstStyle/>
          <a:p>
            <a:r>
              <a:rPr lang="en-US" dirty="0"/>
              <a:t>Not having latency fairness can lead to unwanted unfair competition, users may not come</a:t>
            </a:r>
          </a:p>
        </p:txBody>
      </p:sp>
      <p:sp>
        <p:nvSpPr>
          <p:cNvPr id="4" name="Slide Number Placeholder 3">
            <a:extLst>
              <a:ext uri="{FF2B5EF4-FFF2-40B4-BE49-F238E27FC236}">
                <a16:creationId xmlns:a16="http://schemas.microsoft.com/office/drawing/2014/main" id="{0D521CFE-92B1-DEE7-1D5B-857FC63DB485}"/>
              </a:ext>
            </a:extLst>
          </p:cNvPr>
          <p:cNvSpPr>
            <a:spLocks noGrp="1"/>
          </p:cNvSpPr>
          <p:nvPr>
            <p:ph type="sldNum" sz="quarter" idx="5"/>
          </p:nvPr>
        </p:nvSpPr>
        <p:spPr/>
        <p:txBody>
          <a:bodyPr/>
          <a:lstStyle/>
          <a:p>
            <a:fld id="{5AD2936D-68DF-C34D-84E6-1FDAB4C19BCF}" type="slidenum">
              <a:rPr lang="en-US" smtClean="0"/>
              <a:t>8</a:t>
            </a:fld>
            <a:endParaRPr lang="en-US"/>
          </a:p>
        </p:txBody>
      </p:sp>
    </p:spTree>
    <p:extLst>
      <p:ext uri="{BB962C8B-B14F-4D97-AF65-F5344CB8AC3E}">
        <p14:creationId xmlns:p14="http://schemas.microsoft.com/office/powerpoint/2010/main" val="3648190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20C4-A110-B0A6-0D9A-CE3A63087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DBF13-DD74-7F87-98C0-ABF5A2C38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3F68D-BD19-D82B-D8E0-30DD9CB527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BDFB2A-B417-97F6-CCA7-A8732C82F464}"/>
              </a:ext>
            </a:extLst>
          </p:cNvPr>
          <p:cNvSpPr>
            <a:spLocks noGrp="1"/>
          </p:cNvSpPr>
          <p:nvPr>
            <p:ph type="sldNum" sz="quarter" idx="5"/>
          </p:nvPr>
        </p:nvSpPr>
        <p:spPr/>
        <p:txBody>
          <a:bodyPr/>
          <a:lstStyle/>
          <a:p>
            <a:fld id="{5AD2936D-68DF-C34D-84E6-1FDAB4C19BCF}" type="slidenum">
              <a:rPr lang="en-US" smtClean="0"/>
              <a:t>9</a:t>
            </a:fld>
            <a:endParaRPr lang="en-US"/>
          </a:p>
        </p:txBody>
      </p:sp>
    </p:spTree>
    <p:extLst>
      <p:ext uri="{BB962C8B-B14F-4D97-AF65-F5344CB8AC3E}">
        <p14:creationId xmlns:p14="http://schemas.microsoft.com/office/powerpoint/2010/main" val="2395246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89F7-A5F1-AF50-0FA1-105CD333E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1DA64-C8D1-D27D-D5AD-A3D98887D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48389-62D1-C105-6B56-F55383D3EE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6BCC38-694B-6B20-BD21-9386BBD0D7E2}"/>
              </a:ext>
            </a:extLst>
          </p:cNvPr>
          <p:cNvSpPr>
            <a:spLocks noGrp="1"/>
          </p:cNvSpPr>
          <p:nvPr>
            <p:ph type="sldNum" sz="quarter" idx="5"/>
          </p:nvPr>
        </p:nvSpPr>
        <p:spPr/>
        <p:txBody>
          <a:bodyPr/>
          <a:lstStyle/>
          <a:p>
            <a:fld id="{5AD2936D-68DF-C34D-84E6-1FDAB4C19BCF}" type="slidenum">
              <a:rPr lang="en-US" smtClean="0"/>
              <a:t>10</a:t>
            </a:fld>
            <a:endParaRPr lang="en-US"/>
          </a:p>
        </p:txBody>
      </p:sp>
    </p:spTree>
    <p:extLst>
      <p:ext uri="{BB962C8B-B14F-4D97-AF65-F5344CB8AC3E}">
        <p14:creationId xmlns:p14="http://schemas.microsoft.com/office/powerpoint/2010/main" val="908645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600EC-9AA9-ED24-DA66-4B56DBFC5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89F1B-9E14-F5A4-1DD3-8DC017DCC3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DAE91-2671-8816-9265-487C57D65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689BE7-D39F-23CF-8119-82EEBFF9D083}"/>
              </a:ext>
            </a:extLst>
          </p:cNvPr>
          <p:cNvSpPr>
            <a:spLocks noGrp="1"/>
          </p:cNvSpPr>
          <p:nvPr>
            <p:ph type="sldNum" sz="quarter" idx="5"/>
          </p:nvPr>
        </p:nvSpPr>
        <p:spPr/>
        <p:txBody>
          <a:bodyPr/>
          <a:lstStyle/>
          <a:p>
            <a:fld id="{5AD2936D-68DF-C34D-84E6-1FDAB4C19BCF}" type="slidenum">
              <a:rPr lang="en-US" smtClean="0"/>
              <a:t>11</a:t>
            </a:fld>
            <a:endParaRPr lang="en-US"/>
          </a:p>
        </p:txBody>
      </p:sp>
    </p:spTree>
    <p:extLst>
      <p:ext uri="{BB962C8B-B14F-4D97-AF65-F5344CB8AC3E}">
        <p14:creationId xmlns:p14="http://schemas.microsoft.com/office/powerpoint/2010/main" val="3029730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E749F-93F4-125D-E541-5C8E5D71F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E8ED6-5EF4-400A-E2C0-A86C94EA1C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42344-12F8-A6E3-2055-816BE7BE0C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D698C9-EE8C-96FE-DB9A-291287ECEEDC}"/>
              </a:ext>
            </a:extLst>
          </p:cNvPr>
          <p:cNvSpPr>
            <a:spLocks noGrp="1"/>
          </p:cNvSpPr>
          <p:nvPr>
            <p:ph type="sldNum" sz="quarter" idx="5"/>
          </p:nvPr>
        </p:nvSpPr>
        <p:spPr/>
        <p:txBody>
          <a:bodyPr/>
          <a:lstStyle/>
          <a:p>
            <a:fld id="{5AD2936D-68DF-C34D-84E6-1FDAB4C19BCF}" type="slidenum">
              <a:rPr lang="en-US" smtClean="0"/>
              <a:t>12</a:t>
            </a:fld>
            <a:endParaRPr lang="en-US"/>
          </a:p>
        </p:txBody>
      </p:sp>
    </p:spTree>
    <p:extLst>
      <p:ext uri="{BB962C8B-B14F-4D97-AF65-F5344CB8AC3E}">
        <p14:creationId xmlns:p14="http://schemas.microsoft.com/office/powerpoint/2010/main" val="153028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BC2CA-C3D1-4544-C530-3E0E4B167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B5B33-CA3F-127D-6DFB-1EB8594F41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87660-E55D-2941-AC3A-CFFCC09F0A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941A67-3764-B3AC-C3B6-CF07C3AA1502}"/>
              </a:ext>
            </a:extLst>
          </p:cNvPr>
          <p:cNvSpPr>
            <a:spLocks noGrp="1"/>
          </p:cNvSpPr>
          <p:nvPr>
            <p:ph type="sldNum" sz="quarter" idx="5"/>
          </p:nvPr>
        </p:nvSpPr>
        <p:spPr/>
        <p:txBody>
          <a:bodyPr/>
          <a:lstStyle/>
          <a:p>
            <a:fld id="{5AD2936D-68DF-C34D-84E6-1FDAB4C19BCF}" type="slidenum">
              <a:rPr lang="en-US" smtClean="0"/>
              <a:t>13</a:t>
            </a:fld>
            <a:endParaRPr lang="en-US"/>
          </a:p>
        </p:txBody>
      </p:sp>
    </p:spTree>
    <p:extLst>
      <p:ext uri="{BB962C8B-B14F-4D97-AF65-F5344CB8AC3E}">
        <p14:creationId xmlns:p14="http://schemas.microsoft.com/office/powerpoint/2010/main" val="3008036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8736C-0546-B22A-0E51-1D915737B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078BB-E7DD-46A3-D395-D7BDB922F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C43F81-E12F-2D3E-CEA3-AF077DE436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4289EC-035D-A8E2-D0A8-2F238B5E404F}"/>
              </a:ext>
            </a:extLst>
          </p:cNvPr>
          <p:cNvSpPr>
            <a:spLocks noGrp="1"/>
          </p:cNvSpPr>
          <p:nvPr>
            <p:ph type="sldNum" sz="quarter" idx="5"/>
          </p:nvPr>
        </p:nvSpPr>
        <p:spPr/>
        <p:txBody>
          <a:bodyPr/>
          <a:lstStyle/>
          <a:p>
            <a:fld id="{5AD2936D-68DF-C34D-84E6-1FDAB4C19BCF}" type="slidenum">
              <a:rPr lang="en-US" smtClean="0"/>
              <a:t>14</a:t>
            </a:fld>
            <a:endParaRPr lang="en-US"/>
          </a:p>
        </p:txBody>
      </p:sp>
    </p:spTree>
    <p:extLst>
      <p:ext uri="{BB962C8B-B14F-4D97-AF65-F5344CB8AC3E}">
        <p14:creationId xmlns:p14="http://schemas.microsoft.com/office/powerpoint/2010/main" val="2137941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3C320-3B7C-09A2-200E-DDE80E604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1510F-3905-EBE7-9101-24FE30B00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4B288-7A7F-1742-9508-E1818D7C23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7A9963-7D3E-BFD2-CBBF-4C55CB1C021C}"/>
              </a:ext>
            </a:extLst>
          </p:cNvPr>
          <p:cNvSpPr>
            <a:spLocks noGrp="1"/>
          </p:cNvSpPr>
          <p:nvPr>
            <p:ph type="sldNum" sz="quarter" idx="5"/>
          </p:nvPr>
        </p:nvSpPr>
        <p:spPr/>
        <p:txBody>
          <a:bodyPr/>
          <a:lstStyle/>
          <a:p>
            <a:fld id="{5AD2936D-68DF-C34D-84E6-1FDAB4C19BCF}" type="slidenum">
              <a:rPr lang="en-US" smtClean="0"/>
              <a:t>15</a:t>
            </a:fld>
            <a:endParaRPr lang="en-US"/>
          </a:p>
        </p:txBody>
      </p:sp>
    </p:spTree>
    <p:extLst>
      <p:ext uri="{BB962C8B-B14F-4D97-AF65-F5344CB8AC3E}">
        <p14:creationId xmlns:p14="http://schemas.microsoft.com/office/powerpoint/2010/main" val="1342639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DD48C-35CA-7315-A026-635A7512D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97AD3-4CFE-1DF7-96D2-E8556A50B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037D92-5B95-DFA8-FD38-FE9B904A92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A06B6A-45E8-6852-5DE7-618D9747D8E7}"/>
              </a:ext>
            </a:extLst>
          </p:cNvPr>
          <p:cNvSpPr>
            <a:spLocks noGrp="1"/>
          </p:cNvSpPr>
          <p:nvPr>
            <p:ph type="sldNum" sz="quarter" idx="5"/>
          </p:nvPr>
        </p:nvSpPr>
        <p:spPr/>
        <p:txBody>
          <a:bodyPr/>
          <a:lstStyle/>
          <a:p>
            <a:fld id="{5AD2936D-68DF-C34D-84E6-1FDAB4C19BCF}" type="slidenum">
              <a:rPr lang="en-US" smtClean="0"/>
              <a:t>16</a:t>
            </a:fld>
            <a:endParaRPr lang="en-US"/>
          </a:p>
        </p:txBody>
      </p:sp>
    </p:spTree>
    <p:extLst>
      <p:ext uri="{BB962C8B-B14F-4D97-AF65-F5344CB8AC3E}">
        <p14:creationId xmlns:p14="http://schemas.microsoft.com/office/powerpoint/2010/main" val="1013648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86912-8D16-E435-5C22-A90E748FF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D73EF-5AEE-8EC9-A6E8-0C4466DBF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519F4-B304-570C-296F-C835E1C203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7CC44C-E247-7DEB-CCC9-15D1BC0DBB41}"/>
              </a:ext>
            </a:extLst>
          </p:cNvPr>
          <p:cNvSpPr>
            <a:spLocks noGrp="1"/>
          </p:cNvSpPr>
          <p:nvPr>
            <p:ph type="sldNum" sz="quarter" idx="5"/>
          </p:nvPr>
        </p:nvSpPr>
        <p:spPr/>
        <p:txBody>
          <a:bodyPr/>
          <a:lstStyle/>
          <a:p>
            <a:fld id="{5AD2936D-68DF-C34D-84E6-1FDAB4C19BCF}" type="slidenum">
              <a:rPr lang="en-US" smtClean="0"/>
              <a:t>17</a:t>
            </a:fld>
            <a:endParaRPr lang="en-US"/>
          </a:p>
        </p:txBody>
      </p:sp>
    </p:spTree>
    <p:extLst>
      <p:ext uri="{BB962C8B-B14F-4D97-AF65-F5344CB8AC3E}">
        <p14:creationId xmlns:p14="http://schemas.microsoft.com/office/powerpoint/2010/main" val="903150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EB3D0-1E06-2B88-0153-4E2E25297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9168E-EC7C-4EFA-A948-1BD168CCB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47B9B-C5F9-E2C8-787A-B00209079B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068103-71FA-E1EA-1C35-91C986073B35}"/>
              </a:ext>
            </a:extLst>
          </p:cNvPr>
          <p:cNvSpPr>
            <a:spLocks noGrp="1"/>
          </p:cNvSpPr>
          <p:nvPr>
            <p:ph type="sldNum" sz="quarter" idx="5"/>
          </p:nvPr>
        </p:nvSpPr>
        <p:spPr/>
        <p:txBody>
          <a:bodyPr/>
          <a:lstStyle/>
          <a:p>
            <a:fld id="{5AD2936D-68DF-C34D-84E6-1FDAB4C19BCF}" type="slidenum">
              <a:rPr lang="en-US" smtClean="0"/>
              <a:t>18</a:t>
            </a:fld>
            <a:endParaRPr lang="en-US"/>
          </a:p>
        </p:txBody>
      </p:sp>
    </p:spTree>
    <p:extLst>
      <p:ext uri="{BB962C8B-B14F-4D97-AF65-F5344CB8AC3E}">
        <p14:creationId xmlns:p14="http://schemas.microsoft.com/office/powerpoint/2010/main" val="2458115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05D0F-F53A-8FBF-64D9-A67F2836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39AA8-66B5-E374-EBF1-749B2DECA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70EBD-83E0-7813-FE78-35AED5F195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85C3C6-ACAD-032E-F56A-3AE71677C988}"/>
              </a:ext>
            </a:extLst>
          </p:cNvPr>
          <p:cNvSpPr>
            <a:spLocks noGrp="1"/>
          </p:cNvSpPr>
          <p:nvPr>
            <p:ph type="sldNum" sz="quarter" idx="5"/>
          </p:nvPr>
        </p:nvSpPr>
        <p:spPr/>
        <p:txBody>
          <a:bodyPr/>
          <a:lstStyle/>
          <a:p>
            <a:fld id="{5AD2936D-68DF-C34D-84E6-1FDAB4C19BCF}" type="slidenum">
              <a:rPr lang="en-US" smtClean="0"/>
              <a:t>19</a:t>
            </a:fld>
            <a:endParaRPr lang="en-US"/>
          </a:p>
        </p:txBody>
      </p:sp>
    </p:spTree>
    <p:extLst>
      <p:ext uri="{BB962C8B-B14F-4D97-AF65-F5344CB8AC3E}">
        <p14:creationId xmlns:p14="http://schemas.microsoft.com/office/powerpoint/2010/main" val="171951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0D004-F083-99D8-B51B-26F7BB562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93473-C5E7-E48E-6384-B5787AE66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3F9A3-8AFA-6B23-FB16-C842D87726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953653-B344-DA14-85BC-D91CE5F14669}"/>
              </a:ext>
            </a:extLst>
          </p:cNvPr>
          <p:cNvSpPr>
            <a:spLocks noGrp="1"/>
          </p:cNvSpPr>
          <p:nvPr>
            <p:ph type="sldNum" sz="quarter" idx="5"/>
          </p:nvPr>
        </p:nvSpPr>
        <p:spPr/>
        <p:txBody>
          <a:bodyPr/>
          <a:lstStyle/>
          <a:p>
            <a:fld id="{5AD2936D-68DF-C34D-84E6-1FDAB4C19BCF}" type="slidenum">
              <a:rPr lang="en-US" smtClean="0"/>
              <a:t>20</a:t>
            </a:fld>
            <a:endParaRPr lang="en-US"/>
          </a:p>
        </p:txBody>
      </p:sp>
    </p:spTree>
    <p:extLst>
      <p:ext uri="{BB962C8B-B14F-4D97-AF65-F5344CB8AC3E}">
        <p14:creationId xmlns:p14="http://schemas.microsoft.com/office/powerpoint/2010/main" val="2607917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636F-99F3-0DC5-A507-7E83BFEDB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43FC3-1AEE-D5F6-EFC1-1FB63E1E75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85305-B62C-CFF8-0023-F74A0F6B59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DE75D-A6E9-4B4A-CDC0-25B19525E311}"/>
              </a:ext>
            </a:extLst>
          </p:cNvPr>
          <p:cNvSpPr>
            <a:spLocks noGrp="1"/>
          </p:cNvSpPr>
          <p:nvPr>
            <p:ph type="sldNum" sz="quarter" idx="5"/>
          </p:nvPr>
        </p:nvSpPr>
        <p:spPr/>
        <p:txBody>
          <a:bodyPr/>
          <a:lstStyle/>
          <a:p>
            <a:fld id="{5AD2936D-68DF-C34D-84E6-1FDAB4C19BCF}" type="slidenum">
              <a:rPr lang="en-US" smtClean="0"/>
              <a:t>21</a:t>
            </a:fld>
            <a:endParaRPr lang="en-US"/>
          </a:p>
        </p:txBody>
      </p:sp>
    </p:spTree>
    <p:extLst>
      <p:ext uri="{BB962C8B-B14F-4D97-AF65-F5344CB8AC3E}">
        <p14:creationId xmlns:p14="http://schemas.microsoft.com/office/powerpoint/2010/main" val="1071674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C0A0-A527-AB60-C375-2279D78A1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07C0F-F044-9CA5-A27E-65D99F2FB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7997C-22A7-1852-BBC8-13B00A027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374653-F9AE-2D0D-E56F-42C68A086C27}"/>
              </a:ext>
            </a:extLst>
          </p:cNvPr>
          <p:cNvSpPr>
            <a:spLocks noGrp="1"/>
          </p:cNvSpPr>
          <p:nvPr>
            <p:ph type="sldNum" sz="quarter" idx="5"/>
          </p:nvPr>
        </p:nvSpPr>
        <p:spPr/>
        <p:txBody>
          <a:bodyPr/>
          <a:lstStyle/>
          <a:p>
            <a:fld id="{5AD2936D-68DF-C34D-84E6-1FDAB4C19BCF}" type="slidenum">
              <a:rPr lang="en-US" smtClean="0"/>
              <a:t>22</a:t>
            </a:fld>
            <a:endParaRPr lang="en-US"/>
          </a:p>
        </p:txBody>
      </p:sp>
    </p:spTree>
    <p:extLst>
      <p:ext uri="{BB962C8B-B14F-4D97-AF65-F5344CB8AC3E}">
        <p14:creationId xmlns:p14="http://schemas.microsoft.com/office/powerpoint/2010/main" val="3780556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0CADE-31CB-CFD5-187D-FB90C4A8D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CD94A-62E9-D64F-AC91-A9FD3919F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4ADE3-3668-9E50-6FFE-F7B456C15C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5C9549-C470-86BC-1EE8-67C3AB749131}"/>
              </a:ext>
            </a:extLst>
          </p:cNvPr>
          <p:cNvSpPr>
            <a:spLocks noGrp="1"/>
          </p:cNvSpPr>
          <p:nvPr>
            <p:ph type="sldNum" sz="quarter" idx="5"/>
          </p:nvPr>
        </p:nvSpPr>
        <p:spPr/>
        <p:txBody>
          <a:bodyPr/>
          <a:lstStyle/>
          <a:p>
            <a:fld id="{5AD2936D-68DF-C34D-84E6-1FDAB4C19BCF}" type="slidenum">
              <a:rPr lang="en-US" smtClean="0"/>
              <a:t>23</a:t>
            </a:fld>
            <a:endParaRPr lang="en-US"/>
          </a:p>
        </p:txBody>
      </p:sp>
    </p:spTree>
    <p:extLst>
      <p:ext uri="{BB962C8B-B14F-4D97-AF65-F5344CB8AC3E}">
        <p14:creationId xmlns:p14="http://schemas.microsoft.com/office/powerpoint/2010/main" val="3546566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E3F121B-B2EC-A8DC-FF10-A1FEFAD48C6C}"/>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B5ADD324-26F1-2DA8-0C9D-9EF3B4026A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2B078746-65C1-A222-FCAE-A0224FA5E9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8737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D09C80A5-A9A0-5592-D782-AA72A57E3CB0}"/>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4CB70A6E-38AF-6012-6B66-3D2A33722C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332D20F5-71C8-DC49-919B-2F202EAAFF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290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88CDFDF8-0685-498A-8AEB-5F4EFEF15853}"/>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9827B912-96F1-C80F-0415-CB1D35FDB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5166CC31-3D8C-434D-2456-06772ECCD3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0090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406F462-5F96-0B6F-DA67-BDA4E177BD8F}"/>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F855BC8A-1995-B0C9-66EA-A58BF06E1C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E0B025B2-3B1E-9A50-F184-7FFD7080BC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9303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DBCFC4AF-8CFE-723C-734F-22CB624C3963}"/>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A73504D7-663C-9908-640D-A70E12A2F8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03F42BEE-563D-FB62-B79A-13674B1361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5812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77389B7F-69A9-79A4-0469-C8DDF739EDA9}"/>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A17CBF0D-CADA-EB8E-7853-71C449FAD1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C862463D-3669-B860-D0D5-E576B25E19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5028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F7739029-D541-14C3-A3D3-DC6F6AF3E99B}"/>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9272EFBB-E4A9-E4BF-C783-0DB3C0A355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F2CD8091-CF0F-4B7F-2D04-201D7B8044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5133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85D976B2-80F9-DCFC-E145-A84D232F4D75}"/>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A9108BC8-5BAE-C236-FC63-0BC79F59F2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F1437CA7-2900-21EC-64A1-211908BA82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6994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E4C337B-D9F6-81ED-B34E-7289417E0B86}"/>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63B63FF8-2458-0939-80A5-71BB7049B8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F1E46847-886A-5A01-F7EE-4136B5F805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6422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966BB8D6-F2EE-0BC8-07A1-24BF2F54F148}"/>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2245C3B6-8C9F-F8A0-8C8B-0AD73B7DFB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2B667CA1-2EE3-B466-F8FA-D3EA1470F2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84405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2A3E145-60A0-906B-F309-968DB39344C1}"/>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3CD801E4-2A6B-1ED8-25B8-B1DA3B825D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3BBFAFAA-30BE-11F5-4DAE-5B78D18688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42025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F46528C7-7184-8D22-54F2-0C2FC7AE7499}"/>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642588CC-C717-2F4E-6B1F-B90BFE45E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A049AED3-38BA-A4CF-9731-DBBBAC3485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Price time priority algorithm</a:t>
            </a:r>
            <a:endParaRPr dirty="0"/>
          </a:p>
        </p:txBody>
      </p:sp>
    </p:spTree>
    <p:extLst>
      <p:ext uri="{BB962C8B-B14F-4D97-AF65-F5344CB8AC3E}">
        <p14:creationId xmlns:p14="http://schemas.microsoft.com/office/powerpoint/2010/main" val="22651672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6DA0EDF3-595E-6D98-05C3-24AC4CA53CCA}"/>
            </a:ext>
          </a:extLst>
        </p:cNvPr>
        <p:cNvGrpSpPr/>
        <p:nvPr/>
      </p:nvGrpSpPr>
      <p:grpSpPr>
        <a:xfrm>
          <a:off x="0" y="0"/>
          <a:ext cx="0" cy="0"/>
          <a:chOff x="0" y="0"/>
          <a:chExt cx="0" cy="0"/>
        </a:xfrm>
      </p:grpSpPr>
      <p:sp>
        <p:nvSpPr>
          <p:cNvPr id="64" name="Google Shape;64;g3092d2458f9_0_62:notes">
            <a:extLst>
              <a:ext uri="{FF2B5EF4-FFF2-40B4-BE49-F238E27FC236}">
                <a16:creationId xmlns:a16="http://schemas.microsoft.com/office/drawing/2014/main" id="{B80C2E72-5336-A1A7-956B-B651E49B3D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092d2458f9_0_62:notes">
            <a:extLst>
              <a:ext uri="{FF2B5EF4-FFF2-40B4-BE49-F238E27FC236}">
                <a16:creationId xmlns:a16="http://schemas.microsoft.com/office/drawing/2014/main" id="{E60A6744-F705-8205-223B-F794D5111A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3279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F9320B8-BE5D-CD3B-639E-2B00B15F090B}"/>
            </a:ext>
          </a:extLst>
        </p:cNvPr>
        <p:cNvGrpSpPr/>
        <p:nvPr/>
      </p:nvGrpSpPr>
      <p:grpSpPr>
        <a:xfrm>
          <a:off x="0" y="0"/>
          <a:ext cx="0" cy="0"/>
          <a:chOff x="0" y="0"/>
          <a:chExt cx="0" cy="0"/>
        </a:xfrm>
      </p:grpSpPr>
      <p:sp>
        <p:nvSpPr>
          <p:cNvPr id="56" name="Google Shape;56;g3092d2458f9_0_0:notes">
            <a:extLst>
              <a:ext uri="{FF2B5EF4-FFF2-40B4-BE49-F238E27FC236}">
                <a16:creationId xmlns:a16="http://schemas.microsoft.com/office/drawing/2014/main" id="{A3189C31-0E68-24E5-3A07-4544204670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092d2458f9_0_0:notes">
            <a:extLst>
              <a:ext uri="{FF2B5EF4-FFF2-40B4-BE49-F238E27FC236}">
                <a16:creationId xmlns:a16="http://schemas.microsoft.com/office/drawing/2014/main" id="{DC93FAA8-0F10-3563-C5C4-AAF2216C6E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861176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replace </a:t>
            </a:r>
            <a:r>
              <a:rPr lang="en-US" dirty="0" err="1"/>
              <a:t>png</a:t>
            </a:r>
            <a:r>
              <a:rPr lang="en-US" dirty="0"/>
              <a:t> with pdf, somehow adding pdf is making it too heavy for </a:t>
            </a:r>
            <a:r>
              <a:rPr lang="en-US" dirty="0" err="1"/>
              <a:t>powerpoint</a:t>
            </a:r>
            <a:r>
              <a:rPr lang="en-US" dirty="0"/>
              <a:t> to handle.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A9493B-55D8-874A-9DCB-2503F8885D5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5105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16DCC82-8A87-B6E0-D37F-18A25DD86F78}"/>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1B73974-CB96-D06B-24D6-FCE230062A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D03C7707-3C00-8240-10FF-004B8382C8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3671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AB2FE54-A703-16E7-1399-389C88A2BAF9}"/>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76B11D6-2BD2-4B01-F530-05742AD59E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BF8BD569-71A2-99DF-E28F-8FD007E25A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06686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5693181-C99A-C505-C78E-1BB018A2034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0EA0158-6E15-5BAD-AACF-0FB123395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9E31BF72-0A71-98AE-C954-BACDF87B16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63798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590B108-7C49-09A3-F1C3-21B022799C96}"/>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8DCD5B32-E7ED-2CF2-E508-7055BA9F91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FCDC0B48-46C9-1DEB-2B5A-5E29A26296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86962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9B63EEA-188C-3FBD-A6AB-AD231212B204}"/>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147FE3A1-08C6-CBC6-A113-84D0D66F31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9445D650-A345-C963-00EF-95575214F1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9535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F32DC1A-5BA2-BFF9-251B-1FCBD4D5124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BBD1CBB-FB28-4A98-5319-E682657AE1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EE4A1228-A0C5-7EFB-A0A8-A136573E5D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25281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1B40030-FF82-D44D-8AB0-1471A76427C3}"/>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F1AD595-01E9-677E-9BBF-FE463F3548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A9265B3D-9447-C8B0-A329-260C4DF164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94108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7D263C0-B2AE-D4DC-3339-0307A3D6DF32}"/>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5711F022-5464-CA69-309B-AF6B320B25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BB453350-433D-9CE3-EC0E-59D16EFF0B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88832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F52AE5C-4370-CDE3-2C2D-7C9C267C4532}"/>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B917B074-2FFA-8CAD-85A7-3DF6D48036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4B802C45-B481-8C36-4EA1-F06305CAAB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22760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E2702E0-93CF-C67D-63B5-10828F393B41}"/>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5F67FE3-528E-F7B4-1B8D-F107F31AB3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076BF2AD-B214-EB27-6121-96C5D175E7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802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737D177-B4D9-4121-79EE-1605B8ED94F9}"/>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0C9DA06C-69C7-F3AE-701A-3BBC9A5EC6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8B0FE4B7-554E-9811-4EDA-5798C51CD5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178441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C34E2C1-3216-5C4A-AE8C-C19AB11320EC}"/>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CC90433C-B072-4459-829E-BA18D4D31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4ECA09C9-E966-99F4-9D69-8CA3AB1AD2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749936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3524569-6A97-910C-16AA-4C1D554AB14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92ED0B0-00F7-5660-27DA-C9BC9997BC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DEFB5040-A5E2-59AE-5A1B-4E507717F6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34631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5D3B0A3-A85D-5543-62CC-87B8F5967BA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A6D27378-8447-52C5-891B-D8F264D79A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39B32425-EB16-3F81-AA83-5C7DCA71E4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98593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0695A024-1E95-3BE5-4C67-14060950478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4CCE9F5-2DB0-4159-4840-A48A97909C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77E834D1-E1F3-7E45-C1B9-D48F725E9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781548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AFCB15DB-E194-7A39-9EDF-B996F7057AFB}"/>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20EA0530-69D4-8F9C-A0C5-53F2846FF1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F3790B7F-E138-B516-8EE8-D6E8137D4A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630016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We</a:t>
            </a:r>
            <a:r>
              <a:rPr lang="zh-CN" altLang="en-US" dirty="0"/>
              <a:t> </a:t>
            </a:r>
            <a:r>
              <a:rPr lang="en-US" altLang="zh-CN" dirty="0"/>
              <a:t>cannot</a:t>
            </a:r>
            <a:r>
              <a:rPr lang="zh-CN" altLang="en-US" dirty="0"/>
              <a:t> </a:t>
            </a:r>
            <a:r>
              <a:rPr lang="en-US" altLang="zh-CN" dirty="0"/>
              <a:t>control</a:t>
            </a:r>
            <a:r>
              <a:rPr lang="zh-CN" altLang="en-US" dirty="0"/>
              <a:t> </a:t>
            </a:r>
            <a:r>
              <a:rPr lang="en-US" altLang="zh-CN" dirty="0"/>
              <a:t>the</a:t>
            </a:r>
            <a:r>
              <a:rPr lang="zh-CN" altLang="en-US" dirty="0"/>
              <a:t> </a:t>
            </a:r>
            <a:r>
              <a:rPr lang="en-US" altLang="zh-CN" dirty="0"/>
              <a:t>arrival</a:t>
            </a:r>
            <a:r>
              <a:rPr lang="zh-CN" altLang="en-US" dirty="0"/>
              <a:t> </a:t>
            </a:r>
            <a:r>
              <a:rPr lang="en-US" altLang="zh-CN" dirty="0"/>
              <a:t>time</a:t>
            </a:r>
            <a:r>
              <a:rPr lang="zh-CN" altLang="en-US" dirty="0"/>
              <a:t> </a:t>
            </a:r>
            <a:r>
              <a:rPr lang="en-US" altLang="zh-CN" dirty="0"/>
              <a:t>of</a:t>
            </a:r>
            <a:r>
              <a:rPr lang="zh-CN" altLang="en-US" dirty="0"/>
              <a:t> </a:t>
            </a:r>
            <a:r>
              <a:rPr lang="en-US" altLang="zh-CN" dirty="0"/>
              <a:t>the</a:t>
            </a:r>
            <a:r>
              <a:rPr lang="zh-CN" altLang="en-US" dirty="0"/>
              <a:t> </a:t>
            </a:r>
            <a:r>
              <a:rPr lang="en-US" altLang="zh-CN" dirty="0"/>
              <a:t>messages</a:t>
            </a:r>
            <a:r>
              <a:rPr lang="zh-CN" altLang="en-US" dirty="0"/>
              <a:t> </a:t>
            </a:r>
            <a:r>
              <a:rPr lang="en-US" altLang="zh-CN" dirty="0"/>
              <a:t>at</a:t>
            </a:r>
            <a:r>
              <a:rPr lang="zh-CN" altLang="en-US" dirty="0"/>
              <a:t> </a:t>
            </a:r>
            <a:r>
              <a:rPr lang="en-US" altLang="zh-CN" dirty="0"/>
              <a:t>each</a:t>
            </a:r>
            <a:r>
              <a:rPr lang="zh-CN" altLang="en-US" dirty="0"/>
              <a:t> </a:t>
            </a:r>
            <a:r>
              <a:rPr lang="en-US" altLang="zh-CN" dirty="0"/>
              <a:t>receiver.</a:t>
            </a:r>
            <a:r>
              <a:rPr lang="zh-CN" altLang="en-US" dirty="0"/>
              <a:t> </a:t>
            </a:r>
            <a:r>
              <a:rPr lang="en-US" altLang="zh-CN" dirty="0"/>
              <a:t>The</a:t>
            </a:r>
            <a:r>
              <a:rPr lang="zh-CN" altLang="en-US" dirty="0"/>
              <a:t> </a:t>
            </a:r>
            <a:r>
              <a:rPr lang="en-US" altLang="zh-CN" dirty="0"/>
              <a:t>messages</a:t>
            </a:r>
            <a:r>
              <a:rPr lang="zh-CN" altLang="en-US" dirty="0"/>
              <a:t> </a:t>
            </a:r>
            <a:r>
              <a:rPr lang="en-US" altLang="zh-CN" dirty="0"/>
              <a:t>can</a:t>
            </a:r>
            <a:r>
              <a:rPr lang="zh-CN" altLang="en-US" dirty="0"/>
              <a:t> </a:t>
            </a:r>
            <a:r>
              <a:rPr lang="en-US" altLang="zh-CN" dirty="0"/>
              <a:t>arrive</a:t>
            </a:r>
            <a:r>
              <a:rPr lang="zh-CN" altLang="en-US" dirty="0"/>
              <a:t> </a:t>
            </a:r>
            <a:r>
              <a:rPr lang="en-US" altLang="zh-CN" dirty="0"/>
              <a:t>at</a:t>
            </a:r>
            <a:r>
              <a:rPr lang="zh-CN" altLang="en-US" dirty="0"/>
              <a:t> </a:t>
            </a:r>
            <a:r>
              <a:rPr lang="en-US" altLang="zh-CN" dirty="0"/>
              <a:t>the</a:t>
            </a:r>
            <a:r>
              <a:rPr lang="zh-CN" altLang="en-US" dirty="0"/>
              <a:t> </a:t>
            </a:r>
            <a:r>
              <a:rPr lang="en-US" altLang="zh-CN" dirty="0"/>
              <a:t>receivers</a:t>
            </a:r>
            <a:r>
              <a:rPr lang="zh-CN" altLang="en-US" dirty="0"/>
              <a:t> </a:t>
            </a:r>
            <a:r>
              <a:rPr lang="en-US" altLang="zh-CN" dirty="0"/>
              <a:t>at</a:t>
            </a:r>
            <a:r>
              <a:rPr lang="zh-CN" altLang="en-US" dirty="0"/>
              <a:t> </a:t>
            </a:r>
            <a:r>
              <a:rPr lang="en-US" altLang="zh-CN" dirty="0"/>
              <a:t>unpredictable</a:t>
            </a:r>
            <a:r>
              <a:rPr lang="zh-CN" altLang="en-US" dirty="0"/>
              <a:t> </a:t>
            </a:r>
            <a:r>
              <a:rPr lang="en-US" altLang="zh-CN" dirty="0"/>
              <a:t>times.</a:t>
            </a:r>
            <a:r>
              <a:rPr lang="zh-CN" altLang="en-US" dirty="0"/>
              <a:t> </a:t>
            </a:r>
            <a:endParaRPr lang="en-US" altLang="zh-CN" dirty="0"/>
          </a:p>
          <a:p>
            <a:endParaRPr lang="en-US" altLang="zh-CN" dirty="0"/>
          </a:p>
          <a:p>
            <a:r>
              <a:rPr lang="en-US" altLang="zh-CN" dirty="0"/>
              <a:t>But</a:t>
            </a:r>
            <a:r>
              <a:rPr lang="zh-CN" altLang="en-US" dirty="0"/>
              <a:t> </a:t>
            </a:r>
            <a:r>
              <a:rPr lang="en-US" altLang="zh-CN" dirty="0"/>
              <a:t>since</a:t>
            </a:r>
            <a:r>
              <a:rPr lang="zh-CN" altLang="en-US" dirty="0"/>
              <a:t> </a:t>
            </a:r>
            <a:r>
              <a:rPr lang="en-US" altLang="zh-CN" dirty="0"/>
              <a:t>the</a:t>
            </a:r>
            <a:r>
              <a:rPr lang="zh-CN" altLang="en-US" dirty="0"/>
              <a:t> </a:t>
            </a:r>
            <a:r>
              <a:rPr lang="en-US" altLang="zh-CN" dirty="0"/>
              <a:t>receivers</a:t>
            </a:r>
            <a:r>
              <a:rPr lang="zh-CN" altLang="en-US" dirty="0"/>
              <a:t> </a:t>
            </a:r>
            <a:r>
              <a:rPr lang="en-US" altLang="zh-CN" dirty="0"/>
              <a:t>are</a:t>
            </a:r>
            <a:r>
              <a:rPr lang="zh-CN" altLang="en-US" dirty="0"/>
              <a:t> </a:t>
            </a:r>
            <a:r>
              <a:rPr lang="en-US" altLang="zh-CN" dirty="0"/>
              <a:t>sharing</a:t>
            </a:r>
            <a:r>
              <a:rPr lang="zh-CN" altLang="en-US" dirty="0"/>
              <a:t> </a:t>
            </a:r>
            <a:r>
              <a:rPr lang="en-US" altLang="zh-CN" dirty="0"/>
              <a:t>the</a:t>
            </a:r>
            <a:r>
              <a:rPr lang="zh-CN" altLang="en-US" dirty="0"/>
              <a:t> </a:t>
            </a:r>
            <a:r>
              <a:rPr lang="en-US" altLang="zh-CN" dirty="0"/>
              <a:t>same</a:t>
            </a:r>
            <a:r>
              <a:rPr lang="zh-CN" altLang="en-US" dirty="0"/>
              <a:t> </a:t>
            </a:r>
            <a:r>
              <a:rPr lang="en-US" altLang="zh-CN" dirty="0"/>
              <a:t>timeline,</a:t>
            </a:r>
            <a:r>
              <a:rPr lang="zh-CN" altLang="en-US" dirty="0"/>
              <a:t> </a:t>
            </a:r>
            <a:endParaRPr lang="en-US" altLang="zh-CN" dirty="0"/>
          </a:p>
          <a:p>
            <a:r>
              <a:rPr lang="en-US" altLang="zh-CN" dirty="0"/>
              <a:t>we</a:t>
            </a:r>
            <a:r>
              <a:rPr lang="zh-CN" altLang="en-US" dirty="0"/>
              <a:t> </a:t>
            </a:r>
            <a:r>
              <a:rPr lang="en-US" altLang="zh-CN" dirty="0"/>
              <a:t>can</a:t>
            </a:r>
            <a:r>
              <a:rPr lang="zh-CN" altLang="en-US" dirty="0"/>
              <a:t> </a:t>
            </a:r>
            <a:r>
              <a:rPr lang="en-US" altLang="zh-CN" dirty="0"/>
              <a:t>make</a:t>
            </a:r>
            <a:r>
              <a:rPr lang="zh-CN" altLang="en-US" dirty="0"/>
              <a:t> </a:t>
            </a:r>
            <a:r>
              <a:rPr lang="en-US" altLang="zh-CN" dirty="0"/>
              <a:t>each</a:t>
            </a:r>
            <a:r>
              <a:rPr lang="zh-CN" altLang="en-US" dirty="0"/>
              <a:t> </a:t>
            </a:r>
            <a:r>
              <a:rPr lang="en-US" altLang="zh-CN" dirty="0"/>
              <a:t>receiver</a:t>
            </a:r>
            <a:r>
              <a:rPr lang="zh-CN" altLang="en-US" dirty="0"/>
              <a:t> </a:t>
            </a:r>
            <a:r>
              <a:rPr lang="en-US" altLang="zh-CN" dirty="0"/>
              <a:t>to</a:t>
            </a:r>
            <a:r>
              <a:rPr lang="zh-CN" altLang="en-US" dirty="0"/>
              <a:t> </a:t>
            </a:r>
            <a:r>
              <a:rPr lang="en-US" altLang="zh-CN" dirty="0"/>
              <a:t>hold</a:t>
            </a:r>
            <a:r>
              <a:rPr lang="zh-CN" altLang="en-US" dirty="0"/>
              <a:t> </a:t>
            </a:r>
            <a:r>
              <a:rPr lang="en-US" altLang="zh-CN" dirty="0"/>
              <a:t>the</a:t>
            </a:r>
            <a:r>
              <a:rPr lang="zh-CN" altLang="en-US" dirty="0"/>
              <a:t> </a:t>
            </a:r>
            <a:r>
              <a:rPr lang="en-US" altLang="zh-CN" dirty="0"/>
              <a:t>messages</a:t>
            </a:r>
            <a:r>
              <a:rPr lang="zh-CN" altLang="en-US" dirty="0"/>
              <a:t> </a:t>
            </a:r>
            <a:r>
              <a:rPr lang="en-US" altLang="zh-CN" dirty="0"/>
              <a:t>and</a:t>
            </a:r>
            <a:r>
              <a:rPr lang="zh-CN" altLang="en-US" dirty="0"/>
              <a:t> </a:t>
            </a:r>
            <a:r>
              <a:rPr lang="en-US" altLang="zh-CN" dirty="0"/>
              <a:t>process</a:t>
            </a:r>
            <a:r>
              <a:rPr lang="zh-CN" altLang="en-US" dirty="0"/>
              <a:t> </a:t>
            </a:r>
            <a:r>
              <a:rPr lang="en-US" altLang="zh-CN" dirty="0"/>
              <a:t>the</a:t>
            </a:r>
            <a:r>
              <a:rPr lang="zh-CN" altLang="en-US" dirty="0"/>
              <a:t> </a:t>
            </a:r>
            <a:r>
              <a:rPr lang="en-US" altLang="zh-CN" dirty="0"/>
              <a:t>message</a:t>
            </a:r>
            <a:r>
              <a:rPr lang="zh-CN" altLang="en-US" dirty="0"/>
              <a:t> </a:t>
            </a:r>
            <a:r>
              <a:rPr lang="en-US" altLang="zh-CN" dirty="0"/>
              <a:t>at</a:t>
            </a:r>
            <a:r>
              <a:rPr lang="zh-CN" altLang="en-US" dirty="0"/>
              <a:t> </a:t>
            </a:r>
            <a:r>
              <a:rPr lang="en-US" altLang="zh-CN" dirty="0"/>
              <a:t>the</a:t>
            </a:r>
            <a:r>
              <a:rPr lang="zh-CN" altLang="en-US" dirty="0"/>
              <a:t> </a:t>
            </a:r>
            <a:r>
              <a:rPr lang="en-US" altLang="zh-CN" dirty="0"/>
              <a:t>same</a:t>
            </a:r>
            <a:r>
              <a:rPr lang="zh-CN" altLang="en-US" dirty="0"/>
              <a:t> </a:t>
            </a:r>
            <a:r>
              <a:rPr lang="en-US" altLang="zh-CN" dirty="0"/>
              <a:t>time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EF7A7-27AB-6E4C-AB55-71A628D244D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18335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45E815E-9F83-4208-CBFD-FAB1AD231EF2}"/>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2482B5E2-D71B-75B1-A260-B41FBC1A39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B545BED2-ECDE-F1FB-A952-6FE45A3A04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10734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1B0082B-5777-9E02-6770-CB517AE227C0}"/>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25783604-DF19-1AA6-9EEE-5A2A3466FC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EA5AE2FA-78CD-37DD-4020-2E695395D1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5343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DB20845-AA84-8D22-7748-7B8A0CD9EE6D}"/>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EFF847C-31ED-237F-2F46-9296983594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81D16309-9F22-D5B6-4597-E2267424F9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7980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7C69D56-CC56-301F-1B18-91750643529B}"/>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46A1CDD-1BA6-54FE-1BCD-351460B8A3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3F1A3A01-8787-AF83-FE47-B157C299BD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616099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862FAC1-06B6-6A16-35EF-40812FA11CDB}"/>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2C108320-4E67-8FC7-AAF6-04628EBA34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6C6A1508-CE20-ABDD-4DDD-A259FBC390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12835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F46C178-FAF7-8390-48E3-E97685410B53}"/>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3024B01F-77C7-E70E-C412-A64F10D248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11004435-AD49-13B0-37E5-513FA542A3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90635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73BDC74-D698-CD0A-B18E-E96A87DC3DE3}"/>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529553DA-735C-C51E-B75C-93F8B320E7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7316889A-118B-20E6-20D1-666A43520F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298048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958E952-A444-6BC1-10E3-5C59C743D1E1}"/>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61DA9D3A-129F-1125-C680-6A644545D3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2C03AE36-8BAE-71EC-C5C1-B2614494FB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033512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E61EA46-4348-31E5-4C5F-95F9661DF79F}"/>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6BB1376E-9E05-A19B-188F-195D749BDB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DA524E29-F30F-DFE9-E98E-15CF43765C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98052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551EE8F-E95B-7F79-CC89-45D8AD719367}"/>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E7036F56-8685-C8E9-6C7B-22A125891F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A8D53E4C-FD09-352E-3F22-FF5F3AC53F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Results all for GCP, except AWS TGW</a:t>
            </a:r>
            <a:br>
              <a:rPr lang="en-US" dirty="0"/>
            </a:br>
            <a:br>
              <a:rPr lang="en-US" dirty="0"/>
            </a:br>
            <a:r>
              <a:rPr lang="en" dirty="0"/>
              <a:t>&gt;50 % lower latency than the latency provided by AWS TGW</a:t>
            </a:r>
            <a:endParaRPr dirty="0"/>
          </a:p>
        </p:txBody>
      </p:sp>
    </p:spTree>
    <p:extLst>
      <p:ext uri="{BB962C8B-B14F-4D97-AF65-F5344CB8AC3E}">
        <p14:creationId xmlns:p14="http://schemas.microsoft.com/office/powerpoint/2010/main" val="8209485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401630F-EF53-F3B2-BA07-5B5672442FC8}"/>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7853A060-0555-8589-BA7E-71504ABD99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32DA8930-C5E5-7B45-65E4-99FC9A3B1E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7508423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4AA083B-E2E2-66D1-72B7-92C15A3FF9EA}"/>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EA4771E-AA55-E464-1676-A61BEB162E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13EDEF8A-738D-907F-DE01-767B3ADC0A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47594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86F7E96-0B97-3874-28A1-C3319D1E7ED0}"/>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FEAC5363-8224-DD84-8AF3-960F2013FB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05667ACB-3D96-9F08-B2DF-032F2C4589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77741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000D10F-848D-690B-FDD9-49D382AAE3E1}"/>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90F343D0-60F5-FB16-2D09-4D6A66F49B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808AD56A-5170-7D67-9F68-DABBAB6863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866634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1A7CDDD-4D4B-C139-DED2-A9E95D685E32}"/>
            </a:ext>
          </a:extLst>
        </p:cNvPr>
        <p:cNvGrpSpPr/>
        <p:nvPr/>
      </p:nvGrpSpPr>
      <p:grpSpPr>
        <a:xfrm>
          <a:off x="0" y="0"/>
          <a:ext cx="0" cy="0"/>
          <a:chOff x="0" y="0"/>
          <a:chExt cx="0" cy="0"/>
        </a:xfrm>
      </p:grpSpPr>
      <p:sp>
        <p:nvSpPr>
          <p:cNvPr id="109" name="Google Shape;109;g3092d2458f9_0_41:notes">
            <a:extLst>
              <a:ext uri="{FF2B5EF4-FFF2-40B4-BE49-F238E27FC236}">
                <a16:creationId xmlns:a16="http://schemas.microsoft.com/office/drawing/2014/main" id="{33CAE20D-542E-5965-9D17-775D6DE9EA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92d2458f9_0_41:notes">
            <a:extLst>
              <a:ext uri="{FF2B5EF4-FFF2-40B4-BE49-F238E27FC236}">
                <a16:creationId xmlns:a16="http://schemas.microsoft.com/office/drawing/2014/main" id="{BB5F8555-6CA4-0C6B-7118-EFF7993CA0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493975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A8466929-A9BD-B906-9740-28EDEA9CC447}"/>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A797E122-BAD1-332F-1053-6E4B5C1B0F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F35DB71D-33A4-CA58-A9B2-79C67B7878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If queues are filled with older and newer orders and we simply prioritize the orders with price closer to the mid-price, it may violate fairness. Perhaps another order in some other queue would have moved mid-price in favor of the order being de-prioritized if everything was FIFO.</a:t>
            </a:r>
            <a:endParaRPr dirty="0"/>
          </a:p>
        </p:txBody>
      </p:sp>
    </p:spTree>
    <p:extLst>
      <p:ext uri="{BB962C8B-B14F-4D97-AF65-F5344CB8AC3E}">
        <p14:creationId xmlns:p14="http://schemas.microsoft.com/office/powerpoint/2010/main" val="19130250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FC51F348-08DF-6F64-A176-0B9B3BE825AB}"/>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246CAFF1-AD31-B28A-3CAC-DB81820480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54085358-8DF5-5BB8-A55E-5052CFFEA4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306337748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C5A25532-197A-CEE0-3B34-C51B9E7AE10D}"/>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36CBE5C4-18CE-4CEB-7C31-4545CCE852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630F70E5-3169-DE5A-8901-E48A777546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104572905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2999D88A-FBA4-327F-3368-5DB70BF89818}"/>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17200082-E141-14E2-AF7D-288D1042E1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000BBC74-C772-008B-0D31-0A0D3FB143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Input sequence</a:t>
            </a:r>
            <a:endParaRPr dirty="0"/>
          </a:p>
        </p:txBody>
      </p:sp>
    </p:spTree>
    <p:extLst>
      <p:ext uri="{BB962C8B-B14F-4D97-AF65-F5344CB8AC3E}">
        <p14:creationId xmlns:p14="http://schemas.microsoft.com/office/powerpoint/2010/main" val="5321819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78EC421F-4948-92B5-A060-7ED2960E6DAA}"/>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427BB44B-5C27-C1ED-4E1A-18FBC517A0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268CD405-DA4D-D4BA-C2BA-3989E43DA5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16043024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8C630629-CE26-3575-36A2-A4AAA114D6E8}"/>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D779308D-3A09-93ED-DFE8-0C56455CD3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B84A7A0D-9E15-537B-F7BB-8035141D55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19116548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6A72F045-CCFF-F4B2-1D62-F5E85946C26A}"/>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A50F8FB3-CD8B-D23C-BFC8-20EBEBB634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9628D851-126A-2B82-A369-3214177AC4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319454096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1E5D8F42-FDE5-776F-CDED-0C643B4F7971}"/>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C0B85183-6010-FE8C-EADE-A1375C8826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3C4A11A0-7460-ACC9-D915-82F1C18DD0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209032956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8D9418AB-69A3-91CE-E21B-BCA88ADED657}"/>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7AD21553-55D9-AD23-633C-5E0B47ACA9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A6C68183-25C1-EFC4-5503-4C43344FC3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288470370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2DFAE7FA-B1E0-A91A-9ABD-13D38BF03778}"/>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9BF6E192-3ECB-4723-BA79-716AE319B5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DE5A3205-3D92-3ED5-85CB-93286AC0F6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425267311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96F9D58B-28CA-489E-68F8-B7F208B789F9}"/>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D83B2256-A3E3-C2EE-3CB8-E6776FEA03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C08823B9-997A-6F9B-49A2-A42322F3DE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5762098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B210FAD7-574B-786F-32D3-DD27ED8D349F}"/>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A363C776-0DA6-E579-AEEC-A4D6A637EF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D712B6D9-39BA-9E4F-44E0-0221E18FAC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43078684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CCA00969-27D2-6858-9B58-A3F6A3A44206}"/>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5EB0BD48-610E-8CE6-694D-54EF9824D4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E3D63F7C-B162-B262-F466-BE59AEF2AB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86010038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7A7536A2-A4EC-5DF7-811C-E086FB5914C4}"/>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A132A876-C477-3684-7735-4BA29504F5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55E36694-6B18-6C50-C9F0-A389785FFD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290407451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C3EEB5F2-A827-3242-016F-53B8D3DC91EC}"/>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78DD7445-23D8-9EFF-1C04-808E8B629B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5FF1411B-6AEB-E8DC-1420-4F478BFF9C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22511233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D4142CCE-FDED-8829-17BC-EA2E366E2352}"/>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CC0A7415-7B2B-84FC-C3D3-81B4531E30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CBADF6E2-57EC-A6C4-1A83-61742F2691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414371394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F67A93EB-E402-EA9A-3270-5FD4423807E9}"/>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2ECF00BE-BB0E-135E-E196-BD38589E0D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5DAF4177-BCAC-5CD6-2AD8-CA18A841D4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378328602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8517DDBE-A0E0-0261-42AE-E6687E33157E}"/>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DB907186-2C24-4720-9907-4E8C278ECC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FBC69C50-4D0C-9BF2-2B0A-1FCBF429BA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103145483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2826790B-6DBD-9665-C9F7-B049D7B48336}"/>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1EBD04DD-100A-1B1C-325E-20EC06CE08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F5193BA0-EC00-245B-6591-3259E4F570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86682140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556DCA66-FDC1-E272-DCD8-C71BD4BA4122}"/>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E70F3F0D-AC95-ABFB-E6D3-DD13771D33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843FE810-1053-94F9-A207-7AA5099B23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53311679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78ECB115-8D44-0B03-01BE-C7C6FE4BA9BC}"/>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F66FD4B8-264F-971D-2342-6387F50674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452C6E3F-97B3-67F8-8531-0EAD0B1737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91368382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B1D99260-9EB4-CC58-7AEC-9F4BE4DA0099}"/>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C1826725-2798-0C69-BC85-5DE4F5234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79145843-FA61-6989-3925-470EDEDEAF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28819227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9C60D008-4085-EDB0-B756-03BCC5C0387D}"/>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4ADAD8DF-48C1-82BE-F498-5C2C6F380D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B5B04215-6D51-DD7D-7BB4-470B904DE4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31440440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C7188C2F-1B34-F726-0637-809BDE904927}"/>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2ECB47EF-6A2B-ED0D-D733-05AD9B1555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2936190F-ECE4-2631-EDB6-11058CC92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364008701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45A313A6-4C08-F4A3-78AA-850E07F44A67}"/>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329156B0-4AD5-5C24-134A-B5F085A89A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B68176A9-DBED-4E47-6585-1DAF5D911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106969177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B7C422EA-03EA-DF8F-7C02-ADBA82DFD156}"/>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04DA2876-7827-C104-81A2-0121A8241A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7D455690-BDB4-54F2-63FA-33CBA613E6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227111874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3C95DB8C-C66D-6C2E-E61B-6C028C347DB9}"/>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296F2605-A000-F8E0-991E-24DB80B334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F3BB1F5F-43CF-831B-C58E-669B11F1FF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Details in the paper how the function is designed to preserve the fairness while increasing performance</a:t>
            </a:r>
            <a:endParaRPr dirty="0"/>
          </a:p>
        </p:txBody>
      </p:sp>
    </p:spTree>
    <p:extLst>
      <p:ext uri="{BB962C8B-B14F-4D97-AF65-F5344CB8AC3E}">
        <p14:creationId xmlns:p14="http://schemas.microsoft.com/office/powerpoint/2010/main" val="96300433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a:extLst>
            <a:ext uri="{FF2B5EF4-FFF2-40B4-BE49-F238E27FC236}">
              <a16:creationId xmlns:a16="http://schemas.microsoft.com/office/drawing/2014/main" id="{58D49325-DBE0-09DB-7D96-6A5E0DC369C5}"/>
            </a:ext>
          </a:extLst>
        </p:cNvPr>
        <p:cNvGrpSpPr/>
        <p:nvPr/>
      </p:nvGrpSpPr>
      <p:grpSpPr>
        <a:xfrm>
          <a:off x="0" y="0"/>
          <a:ext cx="0" cy="0"/>
          <a:chOff x="0" y="0"/>
          <a:chExt cx="0" cy="0"/>
        </a:xfrm>
      </p:grpSpPr>
      <p:sp>
        <p:nvSpPr>
          <p:cNvPr id="411" name="Google Shape;411;g3096dc1af9c_0_161:notes">
            <a:extLst>
              <a:ext uri="{FF2B5EF4-FFF2-40B4-BE49-F238E27FC236}">
                <a16:creationId xmlns:a16="http://schemas.microsoft.com/office/drawing/2014/main" id="{F2BD9B0C-99BB-E6F9-BE02-979BCB4BAB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096dc1af9c_0_161:notes">
            <a:extLst>
              <a:ext uri="{FF2B5EF4-FFF2-40B4-BE49-F238E27FC236}">
                <a16:creationId xmlns:a16="http://schemas.microsoft.com/office/drawing/2014/main" id="{3B9A1A02-F38F-0BAA-C1D0-E4BAB28A02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223626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2EC99D79-0533-202F-5D8F-961DAC0801DD}"/>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9AD48E00-FD9E-79C9-4DE4-6FB6AD4254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2A0FAD95-D5FF-81D1-BA1B-B64CE0BEE6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Order matched per second</a:t>
            </a:r>
            <a:endParaRPr dirty="0"/>
          </a:p>
        </p:txBody>
      </p:sp>
    </p:spTree>
    <p:extLst>
      <p:ext uri="{BB962C8B-B14F-4D97-AF65-F5344CB8AC3E}">
        <p14:creationId xmlns:p14="http://schemas.microsoft.com/office/powerpoint/2010/main" val="166113158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a:extLst>
            <a:ext uri="{FF2B5EF4-FFF2-40B4-BE49-F238E27FC236}">
              <a16:creationId xmlns:a16="http://schemas.microsoft.com/office/drawing/2014/main" id="{CBD42CBD-B143-94B9-B5DC-DC78D333441C}"/>
            </a:ext>
          </a:extLst>
        </p:cNvPr>
        <p:cNvGrpSpPr/>
        <p:nvPr/>
      </p:nvGrpSpPr>
      <p:grpSpPr>
        <a:xfrm>
          <a:off x="0" y="0"/>
          <a:ext cx="0" cy="0"/>
          <a:chOff x="0" y="0"/>
          <a:chExt cx="0" cy="0"/>
        </a:xfrm>
      </p:grpSpPr>
      <p:sp>
        <p:nvSpPr>
          <p:cNvPr id="403" name="Google Shape;403;g3096dc1af9c_0_143:notes">
            <a:extLst>
              <a:ext uri="{FF2B5EF4-FFF2-40B4-BE49-F238E27FC236}">
                <a16:creationId xmlns:a16="http://schemas.microsoft.com/office/drawing/2014/main" id="{F7C14042-1FB9-0B14-5834-BD7AD8A150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096dc1af9c_0_143:notes">
            <a:extLst>
              <a:ext uri="{FF2B5EF4-FFF2-40B4-BE49-F238E27FC236}">
                <a16:creationId xmlns:a16="http://schemas.microsoft.com/office/drawing/2014/main" id="{568391AA-0D33-6CDA-8C52-F4F7359D68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orders match </a:t>
            </a:r>
            <a:r>
              <a:rPr lang="en-US" dirty="0" err="1"/>
              <a:t>immidiately</a:t>
            </a:r>
            <a:endParaRPr dirty="0"/>
          </a:p>
        </p:txBody>
      </p:sp>
    </p:spTree>
    <p:extLst>
      <p:ext uri="{BB962C8B-B14F-4D97-AF65-F5344CB8AC3E}">
        <p14:creationId xmlns:p14="http://schemas.microsoft.com/office/powerpoint/2010/main" val="12140320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
            </a:r>
          </a:p>
        </p:txBody>
      </p:sp>
      <p:sp>
        <p:nvSpPr>
          <p:cNvPr id="4" name="Slide Number Placeholder 3"/>
          <p:cNvSpPr>
            <a:spLocks noGrp="1"/>
          </p:cNvSpPr>
          <p:nvPr>
            <p:ph type="sldNum" sz="quarter" idx="5"/>
          </p:nvPr>
        </p:nvSpPr>
        <p:spPr/>
        <p:txBody>
          <a:bodyPr/>
          <a:lstStyle/>
          <a:p>
            <a:fld id="{B3E8125A-D8BB-E74B-8C6E-AB7BD2C997CF}" type="slidenum">
              <a:rPr lang="en-US" smtClean="0"/>
              <a:t>113</a:t>
            </a:fld>
            <a:endParaRPr lang="en-US"/>
          </a:p>
        </p:txBody>
      </p:sp>
    </p:spTree>
    <p:extLst>
      <p:ext uri="{BB962C8B-B14F-4D97-AF65-F5344CB8AC3E}">
        <p14:creationId xmlns:p14="http://schemas.microsoft.com/office/powerpoint/2010/main" val="7464717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imagine a financial market, where we have a stock</a:t>
            </a:r>
          </a:p>
        </p:txBody>
      </p:sp>
      <p:sp>
        <p:nvSpPr>
          <p:cNvPr id="4" name="Slide Number Placeholder 3"/>
          <p:cNvSpPr>
            <a:spLocks noGrp="1"/>
          </p:cNvSpPr>
          <p:nvPr>
            <p:ph type="sldNum" sz="quarter" idx="5"/>
          </p:nvPr>
        </p:nvSpPr>
        <p:spPr/>
        <p:txBody>
          <a:bodyPr/>
          <a:lstStyle/>
          <a:p>
            <a:fld id="{B3E8125A-D8BB-E74B-8C6E-AB7BD2C997CF}" type="slidenum">
              <a:rPr lang="en-US" smtClean="0"/>
              <a:t>114</a:t>
            </a:fld>
            <a:endParaRPr lang="en-US"/>
          </a:p>
        </p:txBody>
      </p:sp>
    </p:spTree>
    <p:extLst>
      <p:ext uri="{BB962C8B-B14F-4D97-AF65-F5344CB8AC3E}">
        <p14:creationId xmlns:p14="http://schemas.microsoft.com/office/powerpoint/2010/main" val="387080290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several buyers are interested in buying</a:t>
            </a:r>
          </a:p>
        </p:txBody>
      </p:sp>
      <p:sp>
        <p:nvSpPr>
          <p:cNvPr id="4" name="Slide Number Placeholder 3"/>
          <p:cNvSpPr>
            <a:spLocks noGrp="1"/>
          </p:cNvSpPr>
          <p:nvPr>
            <p:ph type="sldNum" sz="quarter" idx="5"/>
          </p:nvPr>
        </p:nvSpPr>
        <p:spPr/>
        <p:txBody>
          <a:bodyPr/>
          <a:lstStyle/>
          <a:p>
            <a:fld id="{B3E8125A-D8BB-E74B-8C6E-AB7BD2C997CF}" type="slidenum">
              <a:rPr lang="en-US" smtClean="0"/>
              <a:t>115</a:t>
            </a:fld>
            <a:endParaRPr lang="en-US"/>
          </a:p>
        </p:txBody>
      </p:sp>
    </p:spTree>
    <p:extLst>
      <p:ext uri="{BB962C8B-B14F-4D97-AF65-F5344CB8AC3E}">
        <p14:creationId xmlns:p14="http://schemas.microsoft.com/office/powerpoint/2010/main" val="13027702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we run into this problem: </a:t>
            </a:r>
            <a:r>
              <a:rPr lang="en-US" dirty="0" err="1"/>
              <a:t>ther</a:t>
            </a:r>
            <a:r>
              <a:rPr lang="en-US" dirty="0"/>
              <a:t> is only 1 share of the stock to sell, but four interested buyers. </a:t>
            </a:r>
          </a:p>
          <a:p>
            <a:r>
              <a:rPr lang="en-US" dirty="0"/>
              <a:t>A question arises: who gets to buy it. Well a simple </a:t>
            </a:r>
            <a:r>
              <a:rPr lang="en-US" dirty="0" err="1"/>
              <a:t>anwer</a:t>
            </a:r>
            <a:r>
              <a:rPr lang="en-US" dirty="0"/>
              <a:t> is: whoever asked first. And this answer is actually used by many financial market today.</a:t>
            </a:r>
          </a:p>
        </p:txBody>
      </p:sp>
      <p:sp>
        <p:nvSpPr>
          <p:cNvPr id="4" name="Slide Number Placeholder 3"/>
          <p:cNvSpPr>
            <a:spLocks noGrp="1"/>
          </p:cNvSpPr>
          <p:nvPr>
            <p:ph type="sldNum" sz="quarter" idx="5"/>
          </p:nvPr>
        </p:nvSpPr>
        <p:spPr/>
        <p:txBody>
          <a:bodyPr/>
          <a:lstStyle/>
          <a:p>
            <a:fld id="{B3E8125A-D8BB-E74B-8C6E-AB7BD2C997CF}" type="slidenum">
              <a:rPr lang="en-US" smtClean="0"/>
              <a:t>117</a:t>
            </a:fld>
            <a:endParaRPr lang="en-US"/>
          </a:p>
        </p:txBody>
      </p:sp>
    </p:spTree>
    <p:extLst>
      <p:ext uri="{BB962C8B-B14F-4D97-AF65-F5344CB8AC3E}">
        <p14:creationId xmlns:p14="http://schemas.microsoft.com/office/powerpoint/2010/main" val="295451739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how do we know who asked first, after all networks are asynchronous and the server may receive information about events in an arbitrary order, not necessarily in the order of events </a:t>
            </a:r>
            <a:r>
              <a:rPr lang="en-US" dirty="0" err="1"/>
              <a:t>occurence</a:t>
            </a:r>
            <a:r>
              <a:rPr lang="en-US" dirty="0"/>
              <a:t>. </a:t>
            </a:r>
          </a:p>
          <a:p>
            <a:r>
              <a:rPr lang="en-US" dirty="0"/>
              <a:t>That’s why we need a mechanism to fairly order the events.</a:t>
            </a:r>
          </a:p>
        </p:txBody>
      </p:sp>
      <p:sp>
        <p:nvSpPr>
          <p:cNvPr id="4" name="Slide Number Placeholder 3"/>
          <p:cNvSpPr>
            <a:spLocks noGrp="1"/>
          </p:cNvSpPr>
          <p:nvPr>
            <p:ph type="sldNum" sz="quarter" idx="5"/>
          </p:nvPr>
        </p:nvSpPr>
        <p:spPr/>
        <p:txBody>
          <a:bodyPr/>
          <a:lstStyle/>
          <a:p>
            <a:fld id="{B3E8125A-D8BB-E74B-8C6E-AB7BD2C997CF}" type="slidenum">
              <a:rPr lang="en-US" smtClean="0"/>
              <a:t>118</a:t>
            </a:fld>
            <a:endParaRPr lang="en-US"/>
          </a:p>
        </p:txBody>
      </p:sp>
    </p:spTree>
    <p:extLst>
      <p:ext uri="{BB962C8B-B14F-4D97-AF65-F5344CB8AC3E}">
        <p14:creationId xmlns:p14="http://schemas.microsoft.com/office/powerpoint/2010/main" val="188893921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 fair ordering as : events generated by clients, they should be observed by a server in the same order as their true occurrence order. True occurrence order is hard to determine.</a:t>
            </a:r>
          </a:p>
          <a:p>
            <a:endParaRPr lang="en-US" dirty="0"/>
          </a:p>
          <a:p>
            <a:r>
              <a:rPr lang="en-US" dirty="0"/>
              <a:t>Aa-</a:t>
            </a:r>
            <a:r>
              <a:rPr lang="en-US" dirty="0" err="1"/>
              <a:t>kUr</a:t>
            </a:r>
            <a:r>
              <a:rPr lang="en-US" dirty="0"/>
              <a:t>-</a:t>
            </a:r>
            <a:r>
              <a:rPr lang="en-US" dirty="0" err="1"/>
              <a:t>Unce</a:t>
            </a:r>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119</a:t>
            </a:fld>
            <a:endParaRPr lang="en-US"/>
          </a:p>
        </p:txBody>
      </p:sp>
    </p:spTree>
    <p:extLst>
      <p:ext uri="{BB962C8B-B14F-4D97-AF65-F5344CB8AC3E}">
        <p14:creationId xmlns:p14="http://schemas.microsoft.com/office/powerpoint/2010/main" val="334664521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lets say that we have clients with perfectly synchronized clocks. They could timestamp the events they generate. And a server </a:t>
            </a:r>
            <a:r>
              <a:rPr lang="en-US" dirty="0" err="1"/>
              <a:t>coild</a:t>
            </a:r>
            <a:r>
              <a:rPr lang="en-US" dirty="0"/>
              <a:t> process events in the order of their timestamps. It would achieve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121</a:t>
            </a:fld>
            <a:endParaRPr lang="en-US"/>
          </a:p>
        </p:txBody>
      </p:sp>
    </p:spTree>
    <p:extLst>
      <p:ext uri="{BB962C8B-B14F-4D97-AF65-F5344CB8AC3E}">
        <p14:creationId xmlns:p14="http://schemas.microsoft.com/office/powerpoint/2010/main" val="97335212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here is the problem: perfect clock synchronization is impossible to achieve.</a:t>
            </a:r>
          </a:p>
        </p:txBody>
      </p:sp>
      <p:sp>
        <p:nvSpPr>
          <p:cNvPr id="4" name="Slide Number Placeholder 3"/>
          <p:cNvSpPr>
            <a:spLocks noGrp="1"/>
          </p:cNvSpPr>
          <p:nvPr>
            <p:ph type="sldNum" sz="quarter" idx="5"/>
          </p:nvPr>
        </p:nvSpPr>
        <p:spPr/>
        <p:txBody>
          <a:bodyPr/>
          <a:lstStyle/>
          <a:p>
            <a:fld id="{B3E8125A-D8BB-E74B-8C6E-AB7BD2C997CF}" type="slidenum">
              <a:rPr lang="en-US" smtClean="0"/>
              <a:t>122</a:t>
            </a:fld>
            <a:endParaRPr lang="en-US"/>
          </a:p>
        </p:txBody>
      </p:sp>
    </p:spTree>
    <p:extLst>
      <p:ext uri="{BB962C8B-B14F-4D97-AF65-F5344CB8AC3E}">
        <p14:creationId xmlns:p14="http://schemas.microsoft.com/office/powerpoint/2010/main" val="224306858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why this mechanism is not practical. </a:t>
            </a:r>
          </a:p>
        </p:txBody>
      </p:sp>
      <p:sp>
        <p:nvSpPr>
          <p:cNvPr id="4" name="Slide Number Placeholder 3"/>
          <p:cNvSpPr>
            <a:spLocks noGrp="1"/>
          </p:cNvSpPr>
          <p:nvPr>
            <p:ph type="sldNum" sz="quarter" idx="5"/>
          </p:nvPr>
        </p:nvSpPr>
        <p:spPr/>
        <p:txBody>
          <a:bodyPr/>
          <a:lstStyle/>
          <a:p>
            <a:fld id="{B3E8125A-D8BB-E74B-8C6E-AB7BD2C997CF}" type="slidenum">
              <a:rPr lang="en-US" smtClean="0"/>
              <a:t>123</a:t>
            </a:fld>
            <a:endParaRPr lang="en-US"/>
          </a:p>
        </p:txBody>
      </p:sp>
    </p:spTree>
    <p:extLst>
      <p:ext uri="{BB962C8B-B14F-4D97-AF65-F5344CB8AC3E}">
        <p14:creationId xmlns:p14="http://schemas.microsoft.com/office/powerpoint/2010/main" val="374354341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That;s</a:t>
            </a:r>
            <a:r>
              <a:rPr lang="en-US" dirty="0"/>
              <a:t> where our proposal comes into the picture. </a:t>
            </a:r>
          </a:p>
          <a:p>
            <a:r>
              <a:rPr lang="en-US" dirty="0"/>
              <a:t>We </a:t>
            </a:r>
            <a:r>
              <a:rPr lang="en-US" dirty="0" err="1"/>
              <a:t>embrach</a:t>
            </a:r>
            <a:r>
              <a:rPr lang="en-US" dirty="0"/>
              <a:t> the fact that its impossible to obtain precise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124</a:t>
            </a:fld>
            <a:endParaRPr lang="en-US"/>
          </a:p>
        </p:txBody>
      </p:sp>
    </p:spTree>
    <p:extLst>
      <p:ext uri="{BB962C8B-B14F-4D97-AF65-F5344CB8AC3E}">
        <p14:creationId xmlns:p14="http://schemas.microsoft.com/office/powerpoint/2010/main" val="220269142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We can probabilistically compare two imprecise timestamps and that’s the foundation of our system, Tommy that achieves probabilistic fair ordering. </a:t>
            </a:r>
          </a:p>
        </p:txBody>
      </p:sp>
      <p:sp>
        <p:nvSpPr>
          <p:cNvPr id="4" name="Slide Number Placeholder 3"/>
          <p:cNvSpPr>
            <a:spLocks noGrp="1"/>
          </p:cNvSpPr>
          <p:nvPr>
            <p:ph type="sldNum" sz="quarter" idx="5"/>
          </p:nvPr>
        </p:nvSpPr>
        <p:spPr/>
        <p:txBody>
          <a:bodyPr/>
          <a:lstStyle/>
          <a:p>
            <a:fld id="{B3E8125A-D8BB-E74B-8C6E-AB7BD2C997CF}" type="slidenum">
              <a:rPr lang="en-US" smtClean="0"/>
              <a:t>125</a:t>
            </a:fld>
            <a:endParaRPr lang="en-US"/>
          </a:p>
        </p:txBody>
      </p:sp>
    </p:spTree>
    <p:extLst>
      <p:ext uri="{BB962C8B-B14F-4D97-AF65-F5344CB8AC3E}">
        <p14:creationId xmlns:p14="http://schemas.microsoft.com/office/powerpoint/2010/main" val="376770272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128</a:t>
            </a:fld>
            <a:endParaRPr lang="en-US"/>
          </a:p>
        </p:txBody>
      </p:sp>
    </p:spTree>
    <p:extLst>
      <p:ext uri="{BB962C8B-B14F-4D97-AF65-F5344CB8AC3E}">
        <p14:creationId xmlns:p14="http://schemas.microsoft.com/office/powerpoint/2010/main" val="374924293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slide Ideal time left: 4 minutes</a:t>
            </a:r>
          </a:p>
        </p:txBody>
      </p:sp>
      <p:sp>
        <p:nvSpPr>
          <p:cNvPr id="4" name="Slide Number Placeholder 3"/>
          <p:cNvSpPr>
            <a:spLocks noGrp="1"/>
          </p:cNvSpPr>
          <p:nvPr>
            <p:ph type="sldNum" sz="quarter" idx="5"/>
          </p:nvPr>
        </p:nvSpPr>
        <p:spPr/>
        <p:txBody>
          <a:bodyPr/>
          <a:lstStyle/>
          <a:p>
            <a:fld id="{B3E8125A-D8BB-E74B-8C6E-AB7BD2C997CF}" type="slidenum">
              <a:rPr lang="en-US" smtClean="0"/>
              <a:t>130</a:t>
            </a:fld>
            <a:endParaRPr lang="en-US"/>
          </a:p>
        </p:txBody>
      </p:sp>
    </p:spTree>
    <p:extLst>
      <p:ext uri="{BB962C8B-B14F-4D97-AF65-F5344CB8AC3E}">
        <p14:creationId xmlns:p14="http://schemas.microsoft.com/office/powerpoint/2010/main" val="416651492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have two events I and j</a:t>
            </a:r>
            <a:br>
              <a:rPr lang="en-US" dirty="0"/>
            </a:br>
            <a:r>
              <a:rPr lang="en-US" dirty="0"/>
              <a:t>they occur at timestamp Ti and </a:t>
            </a:r>
            <a:r>
              <a:rPr lang="en-US" dirty="0" err="1"/>
              <a:t>Tj</a:t>
            </a:r>
            <a:r>
              <a:rPr lang="en-US" dirty="0"/>
              <a:t> which we cannot know. These are true values. </a:t>
            </a:r>
          </a:p>
          <a:p>
            <a:r>
              <a:rPr lang="en-US" dirty="0"/>
              <a:t>But what we can observe is: Ti’ and </a:t>
            </a:r>
            <a:r>
              <a:rPr lang="en-US" dirty="0" err="1"/>
              <a:t>Tj</a:t>
            </a:r>
            <a:r>
              <a:rPr lang="en-US" dirty="0"/>
              <a:t>’, which are the clients local clocks’ timestamps. </a:t>
            </a:r>
          </a:p>
        </p:txBody>
      </p:sp>
      <p:sp>
        <p:nvSpPr>
          <p:cNvPr id="4" name="Slide Number Placeholder 3"/>
          <p:cNvSpPr>
            <a:spLocks noGrp="1"/>
          </p:cNvSpPr>
          <p:nvPr>
            <p:ph type="sldNum" sz="quarter" idx="5"/>
          </p:nvPr>
        </p:nvSpPr>
        <p:spPr/>
        <p:txBody>
          <a:bodyPr/>
          <a:lstStyle/>
          <a:p>
            <a:fld id="{B3E8125A-D8BB-E74B-8C6E-AB7BD2C997CF}" type="slidenum">
              <a:rPr lang="en-US" smtClean="0"/>
              <a:t>131</a:t>
            </a:fld>
            <a:endParaRPr lang="en-US"/>
          </a:p>
        </p:txBody>
      </p:sp>
    </p:spTree>
    <p:extLst>
      <p:ext uri="{BB962C8B-B14F-4D97-AF65-F5344CB8AC3E}">
        <p14:creationId xmlns:p14="http://schemas.microsoft.com/office/powerpoint/2010/main" val="401825263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Theta I and theta j are local clock offsets that we also don’t know. We will try to formulate this probability in a way that on the R.H.S we have no red term.</a:t>
            </a:r>
          </a:p>
        </p:txBody>
      </p:sp>
      <p:sp>
        <p:nvSpPr>
          <p:cNvPr id="4" name="Slide Number Placeholder 3"/>
          <p:cNvSpPr>
            <a:spLocks noGrp="1"/>
          </p:cNvSpPr>
          <p:nvPr>
            <p:ph type="sldNum" sz="quarter" idx="5"/>
          </p:nvPr>
        </p:nvSpPr>
        <p:spPr/>
        <p:txBody>
          <a:bodyPr/>
          <a:lstStyle/>
          <a:p>
            <a:fld id="{B3E8125A-D8BB-E74B-8C6E-AB7BD2C997CF}" type="slidenum">
              <a:rPr lang="en-US" smtClean="0"/>
              <a:t>132</a:t>
            </a:fld>
            <a:endParaRPr lang="en-US"/>
          </a:p>
        </p:txBody>
      </p:sp>
    </p:spTree>
    <p:extLst>
      <p:ext uri="{BB962C8B-B14F-4D97-AF65-F5344CB8AC3E}">
        <p14:creationId xmlns:p14="http://schemas.microsoft.com/office/powerpoint/2010/main" val="270291327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Cycles may occur, preventing us from getting a linear order of events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Open Question: Dealing with cycles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B3E8125A-D8BB-E74B-8C6E-AB7BD2C997CF}" type="slidenum">
              <a:rPr lang="en-US" smtClean="0"/>
              <a:t>136</a:t>
            </a:fld>
            <a:endParaRPr lang="en-US"/>
          </a:p>
        </p:txBody>
      </p:sp>
    </p:spTree>
    <p:extLst>
      <p:ext uri="{BB962C8B-B14F-4D97-AF65-F5344CB8AC3E}">
        <p14:creationId xmlns:p14="http://schemas.microsoft.com/office/powerpoint/2010/main" val="92611722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8125A-D8BB-E74B-8C6E-AB7BD2C997CF}" type="slidenum">
              <a:rPr lang="en-US" smtClean="0"/>
              <a:t>138</a:t>
            </a:fld>
            <a:endParaRPr lang="en-US"/>
          </a:p>
        </p:txBody>
      </p:sp>
    </p:spTree>
    <p:extLst>
      <p:ext uri="{BB962C8B-B14F-4D97-AF65-F5344CB8AC3E}">
        <p14:creationId xmlns:p14="http://schemas.microsoft.com/office/powerpoint/2010/main" val="349051810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D9702-D84B-6702-2E90-2FAFEF92B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08C8B-172E-7EFE-B443-3C992B83E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86C14-0E3C-42F0-C7AD-E9DB5DC369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2BDE3D-A6ED-083D-57AB-1D4C617EDD1A}"/>
              </a:ext>
            </a:extLst>
          </p:cNvPr>
          <p:cNvSpPr>
            <a:spLocks noGrp="1"/>
          </p:cNvSpPr>
          <p:nvPr>
            <p:ph type="sldNum" sz="quarter" idx="5"/>
          </p:nvPr>
        </p:nvSpPr>
        <p:spPr/>
        <p:txBody>
          <a:bodyPr/>
          <a:lstStyle/>
          <a:p>
            <a:fld id="{B3E8125A-D8BB-E74B-8C6E-AB7BD2C997CF}" type="slidenum">
              <a:rPr lang="en-US" smtClean="0"/>
              <a:t>139</a:t>
            </a:fld>
            <a:endParaRPr lang="en-US"/>
          </a:p>
        </p:txBody>
      </p:sp>
    </p:spTree>
    <p:extLst>
      <p:ext uri="{BB962C8B-B14F-4D97-AF65-F5344CB8AC3E}">
        <p14:creationId xmlns:p14="http://schemas.microsoft.com/office/powerpoint/2010/main" val="280294842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BBD63-417C-5B0A-8E9D-F886C2778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39D28-78BF-AF69-8469-568665DF42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8931B-8F81-096C-3547-FEDBF11B95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87973F-8DBB-129A-91E6-037E2B3095BD}"/>
              </a:ext>
            </a:extLst>
          </p:cNvPr>
          <p:cNvSpPr>
            <a:spLocks noGrp="1"/>
          </p:cNvSpPr>
          <p:nvPr>
            <p:ph type="sldNum" sz="quarter" idx="5"/>
          </p:nvPr>
        </p:nvSpPr>
        <p:spPr/>
        <p:txBody>
          <a:bodyPr/>
          <a:lstStyle/>
          <a:p>
            <a:fld id="{B3E8125A-D8BB-E74B-8C6E-AB7BD2C997CF}" type="slidenum">
              <a:rPr lang="en-US" smtClean="0"/>
              <a:t>140</a:t>
            </a:fld>
            <a:endParaRPr lang="en-US"/>
          </a:p>
        </p:txBody>
      </p:sp>
    </p:spTree>
    <p:extLst>
      <p:ext uri="{BB962C8B-B14F-4D97-AF65-F5344CB8AC3E}">
        <p14:creationId xmlns:p14="http://schemas.microsoft.com/office/powerpoint/2010/main" val="265865198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BA6A2-4AF7-FEFB-FA84-4B65779E4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EF2A1-EFDD-35F2-E6CA-323C9ACF4F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60864-F75E-9167-E6C4-525769F5C1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5DBEC3-9A5D-081A-D8FE-A969D45132FD}"/>
              </a:ext>
            </a:extLst>
          </p:cNvPr>
          <p:cNvSpPr>
            <a:spLocks noGrp="1"/>
          </p:cNvSpPr>
          <p:nvPr>
            <p:ph type="sldNum" sz="quarter" idx="5"/>
          </p:nvPr>
        </p:nvSpPr>
        <p:spPr/>
        <p:txBody>
          <a:bodyPr/>
          <a:lstStyle/>
          <a:p>
            <a:fld id="{B3E8125A-D8BB-E74B-8C6E-AB7BD2C997CF}" type="slidenum">
              <a:rPr lang="en-US" smtClean="0"/>
              <a:t>141</a:t>
            </a:fld>
            <a:endParaRPr lang="en-US"/>
          </a:p>
        </p:txBody>
      </p:sp>
    </p:spTree>
    <p:extLst>
      <p:ext uri="{BB962C8B-B14F-4D97-AF65-F5344CB8AC3E}">
        <p14:creationId xmlns:p14="http://schemas.microsoft.com/office/powerpoint/2010/main" val="43566292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8937-D2A9-444A-5306-7ECDB442B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CEA78-F616-B783-B4C8-19FE878AC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E021C-3F7D-99D7-470B-0BB6ACBF76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F4FA48-EDC3-2D26-C2D4-585F98AF6724}"/>
              </a:ext>
            </a:extLst>
          </p:cNvPr>
          <p:cNvSpPr>
            <a:spLocks noGrp="1"/>
          </p:cNvSpPr>
          <p:nvPr>
            <p:ph type="sldNum" sz="quarter" idx="5"/>
          </p:nvPr>
        </p:nvSpPr>
        <p:spPr/>
        <p:txBody>
          <a:bodyPr/>
          <a:lstStyle/>
          <a:p>
            <a:fld id="{B3E8125A-D8BB-E74B-8C6E-AB7BD2C997CF}" type="slidenum">
              <a:rPr lang="en-US" smtClean="0"/>
              <a:t>142</a:t>
            </a:fld>
            <a:endParaRPr lang="en-US"/>
          </a:p>
        </p:txBody>
      </p:sp>
    </p:spTree>
    <p:extLst>
      <p:ext uri="{BB962C8B-B14F-4D97-AF65-F5344CB8AC3E}">
        <p14:creationId xmlns:p14="http://schemas.microsoft.com/office/powerpoint/2010/main" val="385393478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C713C-2AE7-B9B7-67F1-E8BBAB2D1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7D281-92E9-6280-C096-AF5716587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1798C-BEA8-1EA5-0C8F-3635F0DC94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49A147-44E9-995A-D5CF-F435C655C00C}"/>
              </a:ext>
            </a:extLst>
          </p:cNvPr>
          <p:cNvSpPr>
            <a:spLocks noGrp="1"/>
          </p:cNvSpPr>
          <p:nvPr>
            <p:ph type="sldNum" sz="quarter" idx="5"/>
          </p:nvPr>
        </p:nvSpPr>
        <p:spPr/>
        <p:txBody>
          <a:bodyPr/>
          <a:lstStyle/>
          <a:p>
            <a:fld id="{B3E8125A-D8BB-E74B-8C6E-AB7BD2C997CF}" type="slidenum">
              <a:rPr lang="en-US" smtClean="0"/>
              <a:t>143</a:t>
            </a:fld>
            <a:endParaRPr lang="en-US"/>
          </a:p>
        </p:txBody>
      </p:sp>
    </p:spTree>
    <p:extLst>
      <p:ext uri="{BB962C8B-B14F-4D97-AF65-F5344CB8AC3E}">
        <p14:creationId xmlns:p14="http://schemas.microsoft.com/office/powerpoint/2010/main" val="91373477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50D9C-9991-B067-E2D7-9F0B3FA5F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7739F-1B24-E224-30D1-0CB2B062F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5CEA4-9BFA-9272-3F1A-EAFE512BE1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582AE0-50CB-06A4-855A-D8391C62FD8C}"/>
              </a:ext>
            </a:extLst>
          </p:cNvPr>
          <p:cNvSpPr>
            <a:spLocks noGrp="1"/>
          </p:cNvSpPr>
          <p:nvPr>
            <p:ph type="sldNum" sz="quarter" idx="5"/>
          </p:nvPr>
        </p:nvSpPr>
        <p:spPr/>
        <p:txBody>
          <a:bodyPr/>
          <a:lstStyle/>
          <a:p>
            <a:fld id="{B3E8125A-D8BB-E74B-8C6E-AB7BD2C997CF}" type="slidenum">
              <a:rPr lang="en-US" smtClean="0"/>
              <a:t>144</a:t>
            </a:fld>
            <a:endParaRPr lang="en-US"/>
          </a:p>
        </p:txBody>
      </p:sp>
    </p:spTree>
    <p:extLst>
      <p:ext uri="{BB962C8B-B14F-4D97-AF65-F5344CB8AC3E}">
        <p14:creationId xmlns:p14="http://schemas.microsoft.com/office/powerpoint/2010/main" val="219223171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B9598-54D4-F720-AD22-86584EDE4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6409F-CD12-5C96-7F3F-4C9358C38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64E63-C785-D525-11BB-82A06465FB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B3D434-A39F-9422-7A3F-F0D430BAAB60}"/>
              </a:ext>
            </a:extLst>
          </p:cNvPr>
          <p:cNvSpPr>
            <a:spLocks noGrp="1"/>
          </p:cNvSpPr>
          <p:nvPr>
            <p:ph type="sldNum" sz="quarter" idx="5"/>
          </p:nvPr>
        </p:nvSpPr>
        <p:spPr/>
        <p:txBody>
          <a:bodyPr/>
          <a:lstStyle/>
          <a:p>
            <a:fld id="{B3E8125A-D8BB-E74B-8C6E-AB7BD2C997CF}" type="slidenum">
              <a:rPr lang="en-US" smtClean="0"/>
              <a:t>145</a:t>
            </a:fld>
            <a:endParaRPr lang="en-US"/>
          </a:p>
        </p:txBody>
      </p:sp>
    </p:spTree>
    <p:extLst>
      <p:ext uri="{BB962C8B-B14F-4D97-AF65-F5344CB8AC3E}">
        <p14:creationId xmlns:p14="http://schemas.microsoft.com/office/powerpoint/2010/main" val="375848181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a:extLst>
            <a:ext uri="{FF2B5EF4-FFF2-40B4-BE49-F238E27FC236}">
              <a16:creationId xmlns:a16="http://schemas.microsoft.com/office/drawing/2014/main" id="{83A4F750-2D21-9A2D-1BF4-A13B49D52F72}"/>
            </a:ext>
          </a:extLst>
        </p:cNvPr>
        <p:cNvGrpSpPr/>
        <p:nvPr/>
      </p:nvGrpSpPr>
      <p:grpSpPr>
        <a:xfrm>
          <a:off x="0" y="0"/>
          <a:ext cx="0" cy="0"/>
          <a:chOff x="0" y="0"/>
          <a:chExt cx="0" cy="0"/>
        </a:xfrm>
      </p:grpSpPr>
      <p:sp>
        <p:nvSpPr>
          <p:cNvPr id="411" name="Google Shape;411;g3096dc1af9c_0_161:notes">
            <a:extLst>
              <a:ext uri="{FF2B5EF4-FFF2-40B4-BE49-F238E27FC236}">
                <a16:creationId xmlns:a16="http://schemas.microsoft.com/office/drawing/2014/main" id="{4870F183-CBD6-43CA-E256-8DC485F9B6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096dc1af9c_0_161:notes">
            <a:extLst>
              <a:ext uri="{FF2B5EF4-FFF2-40B4-BE49-F238E27FC236}">
                <a16:creationId xmlns:a16="http://schemas.microsoft.com/office/drawing/2014/main" id="{1DEF29DD-0657-2069-0817-6A63806FB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3299889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B9A59-998D-0127-2CA1-74051CBD4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EF5D2-7D0D-2D37-685C-454E4E67F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F6276-BC17-50A2-54C7-F7ECFCA230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F2CAC-3B21-CB46-3806-6846B43162C7}"/>
              </a:ext>
            </a:extLst>
          </p:cNvPr>
          <p:cNvSpPr>
            <a:spLocks noGrp="1"/>
          </p:cNvSpPr>
          <p:nvPr>
            <p:ph type="sldNum" sz="quarter" idx="5"/>
          </p:nvPr>
        </p:nvSpPr>
        <p:spPr/>
        <p:txBody>
          <a:bodyPr/>
          <a:lstStyle/>
          <a:p>
            <a:fld id="{5AD2936D-68DF-C34D-84E6-1FDAB4C19BCF}" type="slidenum">
              <a:rPr lang="en-US" smtClean="0"/>
              <a:t>157</a:t>
            </a:fld>
            <a:endParaRPr lang="en-US"/>
          </a:p>
        </p:txBody>
      </p:sp>
    </p:spTree>
    <p:extLst>
      <p:ext uri="{BB962C8B-B14F-4D97-AF65-F5344CB8AC3E}">
        <p14:creationId xmlns:p14="http://schemas.microsoft.com/office/powerpoint/2010/main" val="115167192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17188-6147-F413-6F4D-B0E338098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ECF0-0D02-0C75-D804-97931D66F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88F7C-37AC-6343-6CBC-07CFC1BB4A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36B534-E455-5721-DED3-1ACADDB73C3E}"/>
              </a:ext>
            </a:extLst>
          </p:cNvPr>
          <p:cNvSpPr>
            <a:spLocks noGrp="1"/>
          </p:cNvSpPr>
          <p:nvPr>
            <p:ph type="sldNum" sz="quarter" idx="5"/>
          </p:nvPr>
        </p:nvSpPr>
        <p:spPr/>
        <p:txBody>
          <a:bodyPr/>
          <a:lstStyle/>
          <a:p>
            <a:fld id="{5AD2936D-68DF-C34D-84E6-1FDAB4C19BCF}" type="slidenum">
              <a:rPr lang="en-US" smtClean="0"/>
              <a:t>158</a:t>
            </a:fld>
            <a:endParaRPr lang="en-US"/>
          </a:p>
        </p:txBody>
      </p:sp>
    </p:spTree>
    <p:extLst>
      <p:ext uri="{BB962C8B-B14F-4D97-AF65-F5344CB8AC3E}">
        <p14:creationId xmlns:p14="http://schemas.microsoft.com/office/powerpoint/2010/main" val="186740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232F-6866-C467-C19F-34F75D8058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77CA47-BDC6-4647-49B0-5358FF0E4F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C4AEA8-F1C0-00F2-7C22-F11BEEF30584}"/>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5" name="Footer Placeholder 4">
            <a:extLst>
              <a:ext uri="{FF2B5EF4-FFF2-40B4-BE49-F238E27FC236}">
                <a16:creationId xmlns:a16="http://schemas.microsoft.com/office/drawing/2014/main" id="{5C3A1231-2F02-CE3F-906C-1659FF45D7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5591-E1F4-D134-3ED2-3F462C8D6A5F}"/>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2083264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5294B-B8B9-A871-3A00-C77EB3E24607}"/>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D68EB7C-1549-DE03-65EC-2EE36860401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46E7176-85A7-0D24-8184-F699E6339E61}"/>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5" name="Footer Placeholder 4">
            <a:extLst>
              <a:ext uri="{FF2B5EF4-FFF2-40B4-BE49-F238E27FC236}">
                <a16:creationId xmlns:a16="http://schemas.microsoft.com/office/drawing/2014/main" id="{E9B4BF1D-67D8-2281-686D-AF0061F5C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32D01-6C0E-43FD-E04C-46901E03EFD3}"/>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1098256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DB81-50A0-51D4-BC74-9607C7A9F7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DCA24D-7451-A31E-C574-E87CFA434F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02BB10-28AD-4C19-CB26-142CB8869A0C}"/>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5" name="Footer Placeholder 4">
            <a:extLst>
              <a:ext uri="{FF2B5EF4-FFF2-40B4-BE49-F238E27FC236}">
                <a16:creationId xmlns:a16="http://schemas.microsoft.com/office/drawing/2014/main" id="{C0D870A0-3F7A-B96C-A995-88CE4B3E7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4B23E8-12C6-706C-6C92-0725BB343F92}"/>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1836893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7E459-D084-52AC-6116-2CBBC36223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2B8156-4298-8078-2EF4-064DB846E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085B4E-DEBF-8CD9-AB7E-BE088C86B2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485E6E-C076-55BC-ACC7-D885909AEC64}"/>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6" name="Footer Placeholder 5">
            <a:extLst>
              <a:ext uri="{FF2B5EF4-FFF2-40B4-BE49-F238E27FC236}">
                <a16:creationId xmlns:a16="http://schemas.microsoft.com/office/drawing/2014/main" id="{4BF014C5-C9DA-C2E5-47CD-B44EA3243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C1A98-3AA2-6107-98A1-45E45FD13F04}"/>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3058785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851E6-0460-738A-8A28-6EC056BF60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C6E4E7-2BB7-99AA-9127-E92045DF1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806493-52E4-CE01-BE54-ECD611CBD9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DD6F15-9C8C-DB7F-B913-BF57AEED76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6265FB-C60F-EB4E-1989-9039A934E4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5197B4-79EB-69E0-C5C8-AE3C66B30E0C}"/>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8" name="Footer Placeholder 7">
            <a:extLst>
              <a:ext uri="{FF2B5EF4-FFF2-40B4-BE49-F238E27FC236}">
                <a16:creationId xmlns:a16="http://schemas.microsoft.com/office/drawing/2014/main" id="{5383F0A4-9169-0219-CD20-74BEC57A8D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11ECF-C8E6-BC81-FC36-B0789EECC6BB}"/>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32504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747F2-D554-3D97-153C-319E5D0733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13918F-676A-C15F-9BBE-073F6ADA7D60}"/>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4" name="Footer Placeholder 3">
            <a:extLst>
              <a:ext uri="{FF2B5EF4-FFF2-40B4-BE49-F238E27FC236}">
                <a16:creationId xmlns:a16="http://schemas.microsoft.com/office/drawing/2014/main" id="{806CA4C0-116B-3B8D-63F0-02AB46700A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E5503C-D9BA-0C50-DA18-282280DBAADD}"/>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3250753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BC6982-2604-8CDB-98BD-544112049B60}"/>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3" name="Footer Placeholder 2">
            <a:extLst>
              <a:ext uri="{FF2B5EF4-FFF2-40B4-BE49-F238E27FC236}">
                <a16:creationId xmlns:a16="http://schemas.microsoft.com/office/drawing/2014/main" id="{30036E79-B1DB-E888-A5BC-81FC63C457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F2AD5A-F837-C7C2-1329-1080C00AC6A7}"/>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2297188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DC1B-3684-40AC-714B-FC8889F17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85B665-A056-561D-E982-0193F267EC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1DA867-1F67-4E0A-C8A1-B3F447AC1C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4A3151-5DE0-BDB6-96E3-E443CA55DFFD}"/>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6" name="Footer Placeholder 5">
            <a:extLst>
              <a:ext uri="{FF2B5EF4-FFF2-40B4-BE49-F238E27FC236}">
                <a16:creationId xmlns:a16="http://schemas.microsoft.com/office/drawing/2014/main" id="{087AB6DF-34D8-CC58-BE71-6596F41FC7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E2ADC-8D68-C9CB-436E-375F997EDFB1}"/>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119540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22E6-210B-E06D-2AED-8C2B3106DE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91B08B-1FC6-BB18-3FA0-5EB5978380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3D7BD5-F088-0216-7878-A8040FF924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F195F-059F-3F93-A048-2C2FF214D7B1}"/>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6" name="Footer Placeholder 5">
            <a:extLst>
              <a:ext uri="{FF2B5EF4-FFF2-40B4-BE49-F238E27FC236}">
                <a16:creationId xmlns:a16="http://schemas.microsoft.com/office/drawing/2014/main" id="{60B888F6-BE37-F6A5-6779-F0FA8CABA2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0FB356-3F52-0F76-C5A0-CFAC5BA211E1}"/>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229124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D2557-DB1E-2548-FCAE-33143F7D00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47E6AA-E563-9655-3665-36C7A1000D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B32E69-889D-FD49-A4BB-3E7DAEECBEC1}"/>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5" name="Footer Placeholder 4">
            <a:extLst>
              <a:ext uri="{FF2B5EF4-FFF2-40B4-BE49-F238E27FC236}">
                <a16:creationId xmlns:a16="http://schemas.microsoft.com/office/drawing/2014/main" id="{8EEAFA8E-751D-207F-4CE5-85FB48D3E4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291E4-7DA5-131F-1694-22C8960831B2}"/>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51717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B8BCC1-7A54-2E32-7BAF-EF5C3405C3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D7F8EF-A45E-8D91-8979-64445B67D2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360C1E-5545-9EF7-40CC-9291F86DA06B}"/>
              </a:ext>
            </a:extLst>
          </p:cNvPr>
          <p:cNvSpPr>
            <a:spLocks noGrp="1"/>
          </p:cNvSpPr>
          <p:nvPr>
            <p:ph type="dt" sz="half" idx="10"/>
          </p:nvPr>
        </p:nvSpPr>
        <p:spPr/>
        <p:txBody>
          <a:bodyPr/>
          <a:lstStyle/>
          <a:p>
            <a:fld id="{D76E4002-9283-1F4C-A40A-752C4DF2EDD0}" type="datetimeFigureOut">
              <a:rPr lang="en-US" smtClean="0"/>
              <a:t>4/5/26</a:t>
            </a:fld>
            <a:endParaRPr lang="en-US"/>
          </a:p>
        </p:txBody>
      </p:sp>
      <p:sp>
        <p:nvSpPr>
          <p:cNvPr id="5" name="Footer Placeholder 4">
            <a:extLst>
              <a:ext uri="{FF2B5EF4-FFF2-40B4-BE49-F238E27FC236}">
                <a16:creationId xmlns:a16="http://schemas.microsoft.com/office/drawing/2014/main" id="{E4D12ED2-6501-97C8-9F8C-011A87FA8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7E1AC-A1D2-EB0B-201F-28BD2093AEE2}"/>
              </a:ext>
            </a:extLst>
          </p:cNvPr>
          <p:cNvSpPr>
            <a:spLocks noGrp="1"/>
          </p:cNvSpPr>
          <p:nvPr>
            <p:ph type="sldNum" sz="quarter" idx="12"/>
          </p:nvPr>
        </p:nvSpPr>
        <p:spPr/>
        <p:txBody>
          <a:bodyPr/>
          <a:lstStyle/>
          <a:p>
            <a:fld id="{EC77079B-D8A8-4C4F-BE5B-5250A28F918D}" type="slidenum">
              <a:rPr lang="en-US" smtClean="0"/>
              <a:t>‹#›</a:t>
            </a:fld>
            <a:endParaRPr lang="en-US"/>
          </a:p>
        </p:txBody>
      </p:sp>
    </p:spTree>
    <p:extLst>
      <p:ext uri="{BB962C8B-B14F-4D97-AF65-F5344CB8AC3E}">
        <p14:creationId xmlns:p14="http://schemas.microsoft.com/office/powerpoint/2010/main" val="198669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0E38F-804B-355A-6B24-9808EA4B7A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8D870F-3C54-2F21-BA4A-0E2674FEB6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B95634-60D7-5F36-E36F-4F47C875E9D7}"/>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5" name="Footer Placeholder 4">
            <a:extLst>
              <a:ext uri="{FF2B5EF4-FFF2-40B4-BE49-F238E27FC236}">
                <a16:creationId xmlns:a16="http://schemas.microsoft.com/office/drawing/2014/main" id="{28A49AF9-2BC5-1E7B-9FE9-AD4CA04AD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0DFC67-7A45-0D2C-ECE6-F17FFE362092}"/>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278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A5B8B-C691-3548-0D27-FB4D83BADE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4DED34-5A15-2839-DD64-C395195BFB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A917E1-1300-5F65-C3BB-DFB72E8A2D23}"/>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5" name="Footer Placeholder 4">
            <a:extLst>
              <a:ext uri="{FF2B5EF4-FFF2-40B4-BE49-F238E27FC236}">
                <a16:creationId xmlns:a16="http://schemas.microsoft.com/office/drawing/2014/main" id="{EBBEE00B-45FB-54E9-2634-208A682877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6D971C-3102-5983-1AB1-4ED26EA5C251}"/>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4634002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3A449-D0C7-5791-340E-58E359E96D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4C9534-D3CC-3EA9-86B3-87F10E9FDF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6E370E-D9D3-A78E-4851-ABA422416F2A}"/>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5" name="Footer Placeholder 4">
            <a:extLst>
              <a:ext uri="{FF2B5EF4-FFF2-40B4-BE49-F238E27FC236}">
                <a16:creationId xmlns:a16="http://schemas.microsoft.com/office/drawing/2014/main" id="{B7CFC65C-869F-CB3D-DE4C-FBE3042F1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56BA1E-C67F-6F5D-1196-9C93E56F414B}"/>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3966631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60486-41BD-D29F-3448-9578AE07A8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7F5BD9-2BD8-97C3-2577-1C544D42A7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91449D-3B5F-F89D-05FF-2DE193E7BE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FCBAE4-D338-8E01-BDA6-EB37C5A9AA87}"/>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6" name="Footer Placeholder 5">
            <a:extLst>
              <a:ext uri="{FF2B5EF4-FFF2-40B4-BE49-F238E27FC236}">
                <a16:creationId xmlns:a16="http://schemas.microsoft.com/office/drawing/2014/main" id="{FDBD388E-D193-944A-5520-4E9DDFEC33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21CB16-02AD-0B0D-0804-51B53E694848}"/>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3881783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BD92-5E2F-6E93-B4A2-0E0A569073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44640B-3C85-BAF5-17C5-C96EB03CCB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6120B3-E53B-E6C8-1061-C1C518F19B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FCD208-E460-0DEC-DD33-ED16831DAB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CE2FB9-0569-0ABA-FA77-6C955C2D7E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FD9EDD-DA62-FA09-5CDF-8005D5213FE7}"/>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8" name="Footer Placeholder 7">
            <a:extLst>
              <a:ext uri="{FF2B5EF4-FFF2-40B4-BE49-F238E27FC236}">
                <a16:creationId xmlns:a16="http://schemas.microsoft.com/office/drawing/2014/main" id="{F521F064-9F1E-8919-D941-0F1059ABED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DF124D-657F-DCD5-81A3-5AA337C518FB}"/>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2522416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6C26-059F-7F83-662A-C775EEDB5C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9A508A-D3AF-3E43-E951-76161492EA1F}"/>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4" name="Footer Placeholder 3">
            <a:extLst>
              <a:ext uri="{FF2B5EF4-FFF2-40B4-BE49-F238E27FC236}">
                <a16:creationId xmlns:a16="http://schemas.microsoft.com/office/drawing/2014/main" id="{CDB50C86-1F79-5D62-ED53-2BC184BE8A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35B9DF-B0BB-73C5-A2DE-1F1234FE6965}"/>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1421433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338F67-5AEA-F14A-D386-EA7599BF3F05}"/>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3" name="Footer Placeholder 2">
            <a:extLst>
              <a:ext uri="{FF2B5EF4-FFF2-40B4-BE49-F238E27FC236}">
                <a16:creationId xmlns:a16="http://schemas.microsoft.com/office/drawing/2014/main" id="{C9E7CA59-BE6B-C7D4-B8C5-91B22CAF3D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CA4E58-9229-25CD-8651-1FB863E22DFC}"/>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38510855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5A976-B03F-F03D-22D7-27BB890C3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4FE671-F707-869A-8332-AAC8F4CA8B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011610-E1C8-0136-D891-C3C0A8AEC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95989-5D26-662E-6A94-468C11370F2D}"/>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6" name="Footer Placeholder 5">
            <a:extLst>
              <a:ext uri="{FF2B5EF4-FFF2-40B4-BE49-F238E27FC236}">
                <a16:creationId xmlns:a16="http://schemas.microsoft.com/office/drawing/2014/main" id="{B35D0CE9-468A-0AD4-684D-2376F2D07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C85989-3375-7934-7D8A-4F6AF917D64F}"/>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27189865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86D14-FE76-AC70-30D8-4DBF8F5F97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3B7B5F-EA18-9868-DFFD-EAAA6BA818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97EDFF-4E43-5F5B-B675-1F652AC4D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28E092-71F9-78F6-616C-DC70A072630B}"/>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6" name="Footer Placeholder 5">
            <a:extLst>
              <a:ext uri="{FF2B5EF4-FFF2-40B4-BE49-F238E27FC236}">
                <a16:creationId xmlns:a16="http://schemas.microsoft.com/office/drawing/2014/main" id="{C60DBEF1-8B89-3126-0D28-A01202C2CA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C3E7C3-0D47-B303-8159-B0DEB7C6B724}"/>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35295947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81008-1A33-061F-FD1F-6DC6C9734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4C5739-D576-528C-C6E9-AD012ADF04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9E3E4A-8229-FF55-BE4B-177829658C21}"/>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5" name="Footer Placeholder 4">
            <a:extLst>
              <a:ext uri="{FF2B5EF4-FFF2-40B4-BE49-F238E27FC236}">
                <a16:creationId xmlns:a16="http://schemas.microsoft.com/office/drawing/2014/main" id="{5DBB395E-1C15-E39E-F001-E3ECF407A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3CC53-EAFF-696B-2A0D-86F501B57FE0}"/>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2880116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53BA54-1BE2-D2AD-25D2-A1A2202A57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2B7175-F2AE-6107-5BB0-788502BF5B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3BB788-FEB6-2615-B6B9-BC1EECAE6668}"/>
              </a:ext>
            </a:extLst>
          </p:cNvPr>
          <p:cNvSpPr>
            <a:spLocks noGrp="1"/>
          </p:cNvSpPr>
          <p:nvPr>
            <p:ph type="dt" sz="half" idx="10"/>
          </p:nvPr>
        </p:nvSpPr>
        <p:spPr/>
        <p:txBody>
          <a:bodyPr/>
          <a:lstStyle/>
          <a:p>
            <a:fld id="{673638E0-472D-D649-AD00-050E9BA3484C}" type="datetimeFigureOut">
              <a:rPr lang="en-US" smtClean="0"/>
              <a:t>4/5/26</a:t>
            </a:fld>
            <a:endParaRPr lang="en-US"/>
          </a:p>
        </p:txBody>
      </p:sp>
      <p:sp>
        <p:nvSpPr>
          <p:cNvPr id="5" name="Footer Placeholder 4">
            <a:extLst>
              <a:ext uri="{FF2B5EF4-FFF2-40B4-BE49-F238E27FC236}">
                <a16:creationId xmlns:a16="http://schemas.microsoft.com/office/drawing/2014/main" id="{33F3FE62-3F9E-BAF6-7933-8DDA491839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2D5B18-7F83-597D-27C3-4A40F8D18667}"/>
              </a:ext>
            </a:extLst>
          </p:cNvPr>
          <p:cNvSpPr>
            <a:spLocks noGrp="1"/>
          </p:cNvSpPr>
          <p:nvPr>
            <p:ph type="sldNum" sz="quarter" idx="12"/>
          </p:nvPr>
        </p:nvSpPr>
        <p:spPr/>
        <p:txBody>
          <a:bodyPr/>
          <a:lstStyle/>
          <a:p>
            <a:fld id="{4A60FA99-C6D4-C943-8FA9-F1521C0FF306}" type="slidenum">
              <a:rPr lang="en-US" smtClean="0"/>
              <a:t>‹#›</a:t>
            </a:fld>
            <a:endParaRPr lang="en-US"/>
          </a:p>
        </p:txBody>
      </p:sp>
    </p:spTree>
    <p:extLst>
      <p:ext uri="{BB962C8B-B14F-4D97-AF65-F5344CB8AC3E}">
        <p14:creationId xmlns:p14="http://schemas.microsoft.com/office/powerpoint/2010/main" val="4110372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285855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36068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5EEC2F-5AE0-D0BB-92B8-06A5DFCE99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A1772F-F4FC-79FA-79D4-15AE7F900A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AB578BE-F40A-25B8-5064-6E9D64D44A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Times New Roman" panose="02020603050405020304" pitchFamily="18" charset="0"/>
                <a:cs typeface="Times New Roman" panose="02020603050405020304" pitchFamily="18" charset="0"/>
              </a:defRPr>
            </a:lvl1pPr>
          </a:lstStyle>
          <a:p>
            <a:fld id="{D76E4002-9283-1F4C-A40A-752C4DF2EDD0}" type="datetimeFigureOut">
              <a:rPr lang="en-US" smtClean="0"/>
              <a:pPr/>
              <a:t>4/5/26</a:t>
            </a:fld>
            <a:endParaRPr lang="en-US"/>
          </a:p>
        </p:txBody>
      </p:sp>
      <p:sp>
        <p:nvSpPr>
          <p:cNvPr id="5" name="Footer Placeholder 4">
            <a:extLst>
              <a:ext uri="{FF2B5EF4-FFF2-40B4-BE49-F238E27FC236}">
                <a16:creationId xmlns:a16="http://schemas.microsoft.com/office/drawing/2014/main" id="{30241DE4-57AA-A96E-21B4-BDCCE208BD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a:extLst>
              <a:ext uri="{FF2B5EF4-FFF2-40B4-BE49-F238E27FC236}">
                <a16:creationId xmlns:a16="http://schemas.microsoft.com/office/drawing/2014/main" id="{FEBB0332-BBB2-30E2-C6F2-026DDB3026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Times New Roman" panose="02020603050405020304" pitchFamily="18" charset="0"/>
                <a:cs typeface="Times New Roman" panose="02020603050405020304" pitchFamily="18" charset="0"/>
              </a:defRPr>
            </a:lvl1pPr>
          </a:lstStyle>
          <a:p>
            <a:fld id="{EC77079B-D8A8-4C4F-BE5B-5250A28F918D}" type="slidenum">
              <a:rPr lang="en-US" smtClean="0"/>
              <a:pPr/>
              <a:t>‹#›</a:t>
            </a:fld>
            <a:endParaRPr lang="en-US"/>
          </a:p>
        </p:txBody>
      </p:sp>
    </p:spTree>
    <p:extLst>
      <p:ext uri="{BB962C8B-B14F-4D97-AF65-F5344CB8AC3E}">
        <p14:creationId xmlns:p14="http://schemas.microsoft.com/office/powerpoint/2010/main" val="3073690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E6BB8E-79F5-9293-44C1-733E5E313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8D753C-C910-0266-96A0-51DD1BD5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FA11B-AAB3-1B0B-BA50-A1B36CE8A1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3638E0-472D-D649-AD00-050E9BA3484C}" type="datetimeFigureOut">
              <a:rPr lang="en-US" smtClean="0"/>
              <a:t>4/5/26</a:t>
            </a:fld>
            <a:endParaRPr lang="en-US"/>
          </a:p>
        </p:txBody>
      </p:sp>
      <p:sp>
        <p:nvSpPr>
          <p:cNvPr id="5" name="Footer Placeholder 4">
            <a:extLst>
              <a:ext uri="{FF2B5EF4-FFF2-40B4-BE49-F238E27FC236}">
                <a16:creationId xmlns:a16="http://schemas.microsoft.com/office/drawing/2014/main" id="{4FCF6049-4EF7-B8D5-409A-96390F1E92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844DA2-0CBF-6678-E7BC-EFEAB9388D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60FA99-C6D4-C943-8FA9-F1521C0FF306}" type="slidenum">
              <a:rPr lang="en-US" smtClean="0"/>
              <a:t>‹#›</a:t>
            </a:fld>
            <a:endParaRPr lang="en-US"/>
          </a:p>
        </p:txBody>
      </p:sp>
    </p:spTree>
    <p:extLst>
      <p:ext uri="{BB962C8B-B14F-4D97-AF65-F5344CB8AC3E}">
        <p14:creationId xmlns:p14="http://schemas.microsoft.com/office/powerpoint/2010/main" val="17925805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3.xml"/></Relationships>
</file>

<file path=ppt/slides/_rels/slide62.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image" Target="../media/image8.emf"/><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5" Type="http://schemas.openxmlformats.org/officeDocument/2006/relationships/tags" Target="../tags/tag5.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77" Type="http://schemas.openxmlformats.org/officeDocument/2006/relationships/tags" Target="../tags/tag77.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image" Target="../media/image9.svg"/><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oleObject" Target="../embeddings/oleObject1.bin"/><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slideLayout" Target="../slideLayouts/slideLayout13.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7" Type="http://schemas.openxmlformats.org/officeDocument/2006/relationships/tags" Target="../tags/tag7.xml"/><Relationship Id="rId71" Type="http://schemas.openxmlformats.org/officeDocument/2006/relationships/tags" Target="../tags/tag71.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61" Type="http://schemas.openxmlformats.org/officeDocument/2006/relationships/tags" Target="../tags/tag61.xml"/><Relationship Id="rId82" Type="http://schemas.openxmlformats.org/officeDocument/2006/relationships/notesSlide" Target="../notesSlides/notesSlide50.xml"/></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23.xml"/><Relationship Id="rId4" Type="http://schemas.openxmlformats.org/officeDocument/2006/relationships/image" Target="../media/image11.emf"/></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23.xml"/><Relationship Id="rId4" Type="http://schemas.openxmlformats.org/officeDocument/2006/relationships/image" Target="../media/image11.emf"/></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3.xml"/><Relationship Id="rId1" Type="http://schemas.openxmlformats.org/officeDocument/2006/relationships/slideLayout" Target="../slideLayouts/slideLayout2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4.xml"/><Relationship Id="rId1" Type="http://schemas.openxmlformats.org/officeDocument/2006/relationships/slideLayout" Target="../slideLayouts/slideLayout2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5.xml"/><Relationship Id="rId1" Type="http://schemas.openxmlformats.org/officeDocument/2006/relationships/slideLayout" Target="../slideLayouts/slideLayout2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6.xml"/><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10" Type="http://schemas.openxmlformats.org/officeDocument/2006/relationships/image" Target="../media/image10.png"/><Relationship Id="rId4" Type="http://schemas.openxmlformats.org/officeDocument/2006/relationships/diagramLayout" Target="../diagrams/layout5.xml"/><Relationship Id="rId9" Type="http://schemas.openxmlformats.org/officeDocument/2006/relationships/image" Target="../media/image13.svg"/></Relationships>
</file>

<file path=ppt/slides/_rels/slide69.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diagramData" Target="../diagrams/data6.xml"/><Relationship Id="rId7" Type="http://schemas.microsoft.com/office/2007/relationships/diagramDrawing" Target="../diagrams/drawing6.xml"/><Relationship Id="rId12" Type="http://schemas.openxmlformats.org/officeDocument/2006/relationships/image" Target="../media/image16.svg"/><Relationship Id="rId2" Type="http://schemas.openxmlformats.org/officeDocument/2006/relationships/notesSlide" Target="../notesSlides/notesSlide57.xml"/><Relationship Id="rId1" Type="http://schemas.openxmlformats.org/officeDocument/2006/relationships/slideLayout" Target="../slideLayouts/slideLayout24.xml"/><Relationship Id="rId6" Type="http://schemas.openxmlformats.org/officeDocument/2006/relationships/diagramColors" Target="../diagrams/colors6.xml"/><Relationship Id="rId11" Type="http://schemas.openxmlformats.org/officeDocument/2006/relationships/image" Target="../media/image15.svg"/><Relationship Id="rId5" Type="http://schemas.openxmlformats.org/officeDocument/2006/relationships/diagramQuickStyle" Target="../diagrams/quickStyle6.xml"/><Relationship Id="rId10" Type="http://schemas.openxmlformats.org/officeDocument/2006/relationships/image" Target="../media/image13.svg"/><Relationship Id="rId4" Type="http://schemas.openxmlformats.org/officeDocument/2006/relationships/diagramLayout" Target="../diagrams/layout6.xml"/><Relationship Id="rId9" Type="http://schemas.openxmlformats.org/officeDocument/2006/relationships/image" Target="../media/image14.svg"/><Relationship Id="rId14" Type="http://schemas.openxmlformats.org/officeDocument/2006/relationships/image" Target="../media/image18.svg"/></Relationships>
</file>

<file path=ppt/slides/_rels/slide70.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diagramData" Target="../diagrams/data7.xml"/><Relationship Id="rId7" Type="http://schemas.microsoft.com/office/2007/relationships/diagramDrawing" Target="../diagrams/drawing7.xml"/><Relationship Id="rId12" Type="http://schemas.openxmlformats.org/officeDocument/2006/relationships/image" Target="../media/image16.svg"/><Relationship Id="rId2" Type="http://schemas.openxmlformats.org/officeDocument/2006/relationships/notesSlide" Target="../notesSlides/notesSlide58.xml"/><Relationship Id="rId1" Type="http://schemas.openxmlformats.org/officeDocument/2006/relationships/slideLayout" Target="../slideLayouts/slideLayout24.xml"/><Relationship Id="rId6" Type="http://schemas.openxmlformats.org/officeDocument/2006/relationships/diagramColors" Target="../diagrams/colors7.xml"/><Relationship Id="rId11" Type="http://schemas.openxmlformats.org/officeDocument/2006/relationships/image" Target="../media/image15.svg"/><Relationship Id="rId5" Type="http://schemas.openxmlformats.org/officeDocument/2006/relationships/diagramQuickStyle" Target="../diagrams/quickStyle7.xml"/><Relationship Id="rId10" Type="http://schemas.openxmlformats.org/officeDocument/2006/relationships/image" Target="../media/image13.svg"/><Relationship Id="rId4" Type="http://schemas.openxmlformats.org/officeDocument/2006/relationships/diagramLayout" Target="../diagrams/layout7.xml"/><Relationship Id="rId9" Type="http://schemas.openxmlformats.org/officeDocument/2006/relationships/image" Target="../media/image14.svg"/><Relationship Id="rId14" Type="http://schemas.openxmlformats.org/officeDocument/2006/relationships/image" Target="../media/image18.svg"/></Relationships>
</file>

<file path=ppt/slides/_rels/slide71.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diagramData" Target="../diagrams/data8.xml"/><Relationship Id="rId7" Type="http://schemas.microsoft.com/office/2007/relationships/diagramDrawing" Target="../diagrams/drawing8.xml"/><Relationship Id="rId12" Type="http://schemas.openxmlformats.org/officeDocument/2006/relationships/image" Target="../media/image16.svg"/><Relationship Id="rId2" Type="http://schemas.openxmlformats.org/officeDocument/2006/relationships/notesSlide" Target="../notesSlides/notesSlide59.xml"/><Relationship Id="rId1" Type="http://schemas.openxmlformats.org/officeDocument/2006/relationships/slideLayout" Target="../slideLayouts/slideLayout24.xml"/><Relationship Id="rId6" Type="http://schemas.openxmlformats.org/officeDocument/2006/relationships/diagramColors" Target="../diagrams/colors8.xml"/><Relationship Id="rId11" Type="http://schemas.openxmlformats.org/officeDocument/2006/relationships/image" Target="../media/image15.svg"/><Relationship Id="rId5" Type="http://schemas.openxmlformats.org/officeDocument/2006/relationships/diagramQuickStyle" Target="../diagrams/quickStyle8.xml"/><Relationship Id="rId10" Type="http://schemas.openxmlformats.org/officeDocument/2006/relationships/image" Target="../media/image13.svg"/><Relationship Id="rId4" Type="http://schemas.openxmlformats.org/officeDocument/2006/relationships/diagramLayout" Target="../diagrams/layout8.xml"/><Relationship Id="rId9" Type="http://schemas.openxmlformats.org/officeDocument/2006/relationships/image" Target="../media/image14.svg"/><Relationship Id="rId14" Type="http://schemas.openxmlformats.org/officeDocument/2006/relationships/image" Target="../media/image18.svg"/></Relationships>
</file>

<file path=ppt/slides/_rels/slide7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diagramData" Target="../diagrams/data9.xml"/><Relationship Id="rId7" Type="http://schemas.microsoft.com/office/2007/relationships/diagramDrawing" Target="../diagrams/drawing9.xml"/><Relationship Id="rId12" Type="http://schemas.openxmlformats.org/officeDocument/2006/relationships/image" Target="../media/image16.svg"/><Relationship Id="rId2" Type="http://schemas.openxmlformats.org/officeDocument/2006/relationships/notesSlide" Target="../notesSlides/notesSlide60.xml"/><Relationship Id="rId1" Type="http://schemas.openxmlformats.org/officeDocument/2006/relationships/slideLayout" Target="../slideLayouts/slideLayout24.xml"/><Relationship Id="rId6" Type="http://schemas.openxmlformats.org/officeDocument/2006/relationships/diagramColors" Target="../diagrams/colors9.xml"/><Relationship Id="rId11" Type="http://schemas.openxmlformats.org/officeDocument/2006/relationships/image" Target="../media/image15.svg"/><Relationship Id="rId5" Type="http://schemas.openxmlformats.org/officeDocument/2006/relationships/diagramQuickStyle" Target="../diagrams/quickStyle9.xml"/><Relationship Id="rId10" Type="http://schemas.openxmlformats.org/officeDocument/2006/relationships/image" Target="../media/image13.svg"/><Relationship Id="rId4" Type="http://schemas.openxmlformats.org/officeDocument/2006/relationships/diagramLayout" Target="../diagrams/layout9.xml"/><Relationship Id="rId9" Type="http://schemas.openxmlformats.org/officeDocument/2006/relationships/image" Target="../media/image14.svg"/><Relationship Id="rId14" Type="http://schemas.openxmlformats.org/officeDocument/2006/relationships/image" Target="../media/image18.svg"/></Relationships>
</file>

<file path=ppt/slides/_rels/slide7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diagramData" Target="../diagrams/data10.xml"/><Relationship Id="rId7" Type="http://schemas.microsoft.com/office/2007/relationships/diagramDrawing" Target="../diagrams/drawing10.xml"/><Relationship Id="rId12" Type="http://schemas.openxmlformats.org/officeDocument/2006/relationships/image" Target="../media/image16.svg"/><Relationship Id="rId2" Type="http://schemas.openxmlformats.org/officeDocument/2006/relationships/notesSlide" Target="../notesSlides/notesSlide61.xml"/><Relationship Id="rId1" Type="http://schemas.openxmlformats.org/officeDocument/2006/relationships/slideLayout" Target="../slideLayouts/slideLayout24.xml"/><Relationship Id="rId6" Type="http://schemas.openxmlformats.org/officeDocument/2006/relationships/diagramColors" Target="../diagrams/colors10.xml"/><Relationship Id="rId11" Type="http://schemas.openxmlformats.org/officeDocument/2006/relationships/image" Target="../media/image15.svg"/><Relationship Id="rId5" Type="http://schemas.openxmlformats.org/officeDocument/2006/relationships/diagramQuickStyle" Target="../diagrams/quickStyle10.xml"/><Relationship Id="rId10" Type="http://schemas.openxmlformats.org/officeDocument/2006/relationships/image" Target="../media/image13.svg"/><Relationship Id="rId4" Type="http://schemas.openxmlformats.org/officeDocument/2006/relationships/diagramLayout" Target="../diagrams/layout10.xml"/><Relationship Id="rId9" Type="http://schemas.openxmlformats.org/officeDocument/2006/relationships/image" Target="../media/image14.svg"/><Relationship Id="rId14" Type="http://schemas.openxmlformats.org/officeDocument/2006/relationships/image" Target="../media/image18.svg"/></Relationships>
</file>

<file path=ppt/slides/_rels/slide74.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diagramData" Target="../diagrams/data11.xml"/><Relationship Id="rId7" Type="http://schemas.microsoft.com/office/2007/relationships/diagramDrawing" Target="../diagrams/drawing11.xml"/><Relationship Id="rId12" Type="http://schemas.openxmlformats.org/officeDocument/2006/relationships/image" Target="../media/image16.svg"/><Relationship Id="rId2" Type="http://schemas.openxmlformats.org/officeDocument/2006/relationships/notesSlide" Target="../notesSlides/notesSlide62.xml"/><Relationship Id="rId1" Type="http://schemas.openxmlformats.org/officeDocument/2006/relationships/slideLayout" Target="../slideLayouts/slideLayout24.xml"/><Relationship Id="rId6" Type="http://schemas.openxmlformats.org/officeDocument/2006/relationships/diagramColors" Target="../diagrams/colors11.xml"/><Relationship Id="rId11" Type="http://schemas.openxmlformats.org/officeDocument/2006/relationships/image" Target="../media/image15.svg"/><Relationship Id="rId5" Type="http://schemas.openxmlformats.org/officeDocument/2006/relationships/diagramQuickStyle" Target="../diagrams/quickStyle11.xml"/><Relationship Id="rId10" Type="http://schemas.openxmlformats.org/officeDocument/2006/relationships/image" Target="../media/image13.svg"/><Relationship Id="rId4" Type="http://schemas.openxmlformats.org/officeDocument/2006/relationships/diagramLayout" Target="../diagrams/layout11.xml"/><Relationship Id="rId9" Type="http://schemas.openxmlformats.org/officeDocument/2006/relationships/image" Target="../media/image14.svg"/><Relationship Id="rId14" Type="http://schemas.openxmlformats.org/officeDocument/2006/relationships/image" Target="../media/image18.svg"/></Relationships>
</file>

<file path=ppt/slides/_rels/slide75.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diagramData" Target="../diagrams/data12.xml"/><Relationship Id="rId7" Type="http://schemas.microsoft.com/office/2007/relationships/diagramDrawing" Target="../diagrams/drawing12.xml"/><Relationship Id="rId12" Type="http://schemas.openxmlformats.org/officeDocument/2006/relationships/image" Target="../media/image16.svg"/><Relationship Id="rId2" Type="http://schemas.openxmlformats.org/officeDocument/2006/relationships/notesSlide" Target="../notesSlides/notesSlide63.xml"/><Relationship Id="rId1" Type="http://schemas.openxmlformats.org/officeDocument/2006/relationships/slideLayout" Target="../slideLayouts/slideLayout24.xml"/><Relationship Id="rId6" Type="http://schemas.openxmlformats.org/officeDocument/2006/relationships/diagramColors" Target="../diagrams/colors12.xml"/><Relationship Id="rId11" Type="http://schemas.openxmlformats.org/officeDocument/2006/relationships/image" Target="../media/image15.svg"/><Relationship Id="rId5" Type="http://schemas.openxmlformats.org/officeDocument/2006/relationships/diagramQuickStyle" Target="../diagrams/quickStyle12.xml"/><Relationship Id="rId10" Type="http://schemas.openxmlformats.org/officeDocument/2006/relationships/image" Target="../media/image13.svg"/><Relationship Id="rId4" Type="http://schemas.openxmlformats.org/officeDocument/2006/relationships/diagramLayout" Target="../diagrams/layout12.xml"/><Relationship Id="rId9" Type="http://schemas.openxmlformats.org/officeDocument/2006/relationships/image" Target="../media/image14.svg"/><Relationship Id="rId14" Type="http://schemas.openxmlformats.org/officeDocument/2006/relationships/image" Target="../media/image18.svg"/></Relationships>
</file>

<file path=ppt/slides/_rels/slide7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64.xml"/><Relationship Id="rId1" Type="http://schemas.openxmlformats.org/officeDocument/2006/relationships/slideLayout" Target="../slideLayouts/slideLayout24.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3.xml"/></Relationships>
</file>

<file path=ppt/slides/_rels/slide7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6.xml"/><Relationship Id="rId1" Type="http://schemas.openxmlformats.org/officeDocument/2006/relationships/slideLayout" Target="../slideLayouts/slideLayout2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4.xml"/></Relationships>
</file>

<file path=ppt/slides/_rels/slide10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4.xml"/></Relationships>
</file>

<file path=ppt/slides/_rels/slide11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94.xml"/><Relationship Id="rId1" Type="http://schemas.openxmlformats.org/officeDocument/2006/relationships/slideLayout" Target="../slideLayouts/slideLayout23.xml"/></Relationships>
</file>

<file path=ppt/slides/_rels/slide1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5.xml"/><Relationship Id="rId1" Type="http://schemas.openxmlformats.org/officeDocument/2006/relationships/slideLayout" Target="../slideLayouts/slideLayout2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96.xml"/><Relationship Id="rId1"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1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notesSlide" Target="../notesSlides/notesSlide98.xml"/><Relationship Id="rId1" Type="http://schemas.openxmlformats.org/officeDocument/2006/relationships/slideLayout" Target="../slideLayouts/slideLayout13.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16.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1.svg"/><Relationship Id="rId2" Type="http://schemas.openxmlformats.org/officeDocument/2006/relationships/image" Target="../media/image27.svg"/><Relationship Id="rId1" Type="http://schemas.openxmlformats.org/officeDocument/2006/relationships/slideLayout" Target="../slideLayouts/slideLayout13.xml"/><Relationship Id="rId6" Type="http://schemas.openxmlformats.org/officeDocument/2006/relationships/image" Target="../media/image32.svg"/><Relationship Id="rId5" Type="http://schemas.openxmlformats.org/officeDocument/2006/relationships/image" Target="../media/image30.svg"/><Relationship Id="rId4" Type="http://schemas.openxmlformats.org/officeDocument/2006/relationships/image" Target="../media/image29.svg"/></Relationships>
</file>

<file path=ppt/slides/_rels/slide11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notesSlide" Target="../notesSlides/notesSlide99.xml"/><Relationship Id="rId1" Type="http://schemas.openxmlformats.org/officeDocument/2006/relationships/slideLayout" Target="../slideLayouts/slideLayout13.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18.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7.svg"/><Relationship Id="rId7" Type="http://schemas.openxmlformats.org/officeDocument/2006/relationships/image" Target="../media/image32.svg"/><Relationship Id="rId2" Type="http://schemas.openxmlformats.org/officeDocument/2006/relationships/notesSlide" Target="../notesSlides/notesSlide100.xml"/><Relationship Id="rId1" Type="http://schemas.openxmlformats.org/officeDocument/2006/relationships/slideLayout" Target="../slideLayouts/slideLayout13.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3" Type="http://schemas.openxmlformats.org/officeDocument/2006/relationships/image" Target="../media/image35.svg"/><Relationship Id="rId7" Type="http://schemas.openxmlformats.org/officeDocument/2006/relationships/image" Target="../media/image39.png"/><Relationship Id="rId2" Type="http://schemas.openxmlformats.org/officeDocument/2006/relationships/notesSlide" Target="../notesSlides/notesSlide107.xml"/><Relationship Id="rId1" Type="http://schemas.openxmlformats.org/officeDocument/2006/relationships/slideLayout" Target="../slideLayouts/slideLayout13.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12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svg"/></Relationships>
</file>

<file path=ppt/slides/_rels/slide130.xml.rels><?xml version="1.0" encoding="UTF-8" standalone="yes"?>
<Relationships xmlns="http://schemas.openxmlformats.org/package/2006/relationships"><Relationship Id="rId3" Type="http://schemas.openxmlformats.org/officeDocument/2006/relationships/image" Target="../media/image35.svg"/><Relationship Id="rId7" Type="http://schemas.openxmlformats.org/officeDocument/2006/relationships/image" Target="../media/image39.png"/><Relationship Id="rId2" Type="http://schemas.openxmlformats.org/officeDocument/2006/relationships/notesSlide" Target="../notesSlides/notesSlide108.xml"/><Relationship Id="rId1" Type="http://schemas.openxmlformats.org/officeDocument/2006/relationships/slideLayout" Target="../slideLayouts/slideLayout13.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13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9.png"/><Relationship Id="rId7" Type="http://schemas.openxmlformats.org/officeDocument/2006/relationships/image" Target="../media/image35.png"/><Relationship Id="rId2" Type="http://schemas.openxmlformats.org/officeDocument/2006/relationships/notesSlide" Target="../notesSlides/notesSlide109.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0.png"/><Relationship Id="rId4" Type="http://schemas.openxmlformats.org/officeDocument/2006/relationships/image" Target="../media/image32.png"/></Relationships>
</file>

<file path=ppt/slides/_rels/slide13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9.png"/><Relationship Id="rId7" Type="http://schemas.openxmlformats.org/officeDocument/2006/relationships/image" Target="../media/image34.png"/><Relationship Id="rId2" Type="http://schemas.openxmlformats.org/officeDocument/2006/relationships/notesSlide" Target="../notesSlides/notesSlide110.xml"/><Relationship Id="rId1" Type="http://schemas.openxmlformats.org/officeDocument/2006/relationships/slideLayout" Target="../slideLayouts/slideLayout13.xml"/><Relationship Id="rId6" Type="http://schemas.openxmlformats.org/officeDocument/2006/relationships/image" Target="../media/image330.png"/><Relationship Id="rId5" Type="http://schemas.openxmlformats.org/officeDocument/2006/relationships/image" Target="../media/image32.png"/><Relationship Id="rId4" Type="http://schemas.openxmlformats.org/officeDocument/2006/relationships/image" Target="../media/image37.png"/></Relationships>
</file>

<file path=ppt/slides/_rels/slide13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13.xml"/><Relationship Id="rId6" Type="http://schemas.openxmlformats.org/officeDocument/2006/relationships/image" Target="../media/image40.png"/><Relationship Id="rId11" Type="http://schemas.openxmlformats.org/officeDocument/2006/relationships/image" Target="../media/image35.png"/><Relationship Id="rId5" Type="http://schemas.openxmlformats.org/officeDocument/2006/relationships/image" Target="../media/image390.png"/><Relationship Id="rId10" Type="http://schemas.openxmlformats.org/officeDocument/2006/relationships/image" Target="../media/image34.png"/><Relationship Id="rId4" Type="http://schemas.openxmlformats.org/officeDocument/2006/relationships/image" Target="../media/image38.png"/><Relationship Id="rId9" Type="http://schemas.openxmlformats.org/officeDocument/2006/relationships/image" Target="../media/image330.png"/></Relationships>
</file>

<file path=ppt/slides/_rels/slide134.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5.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34.png"/><Relationship Id="rId2" Type="http://schemas.openxmlformats.org/officeDocument/2006/relationships/image" Target="../media/image39.png"/><Relationship Id="rId1" Type="http://schemas.openxmlformats.org/officeDocument/2006/relationships/slideLayout" Target="../slideLayouts/slideLayout13.xml"/><Relationship Id="rId6" Type="http://schemas.openxmlformats.org/officeDocument/2006/relationships/image" Target="../media/image45.png"/><Relationship Id="rId11" Type="http://schemas.openxmlformats.org/officeDocument/2006/relationships/image" Target="../media/image330.png"/><Relationship Id="rId5" Type="http://schemas.openxmlformats.org/officeDocument/2006/relationships/image" Target="../media/image44.png"/><Relationship Id="rId10" Type="http://schemas.openxmlformats.org/officeDocument/2006/relationships/image" Target="../media/image32.png"/><Relationship Id="rId4" Type="http://schemas.openxmlformats.org/officeDocument/2006/relationships/image" Target="../media/image43.png"/><Relationship Id="rId9" Type="http://schemas.openxmlformats.org/officeDocument/2006/relationships/image" Target="../media/image48.png"/></Relationships>
</file>

<file path=ppt/slides/_rels/slide1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2.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1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3.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4.xml"/></Relationships>
</file>

<file path=ppt/slides/_rels/slide1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0F84E-F0FF-85E6-6A8C-57FD40BF4DF1}"/>
              </a:ext>
            </a:extLst>
          </p:cNvPr>
          <p:cNvSpPr>
            <a:spLocks noGrp="1"/>
          </p:cNvSpPr>
          <p:nvPr>
            <p:ph type="ctrTitle"/>
          </p:nvPr>
        </p:nvSpPr>
        <p:spPr>
          <a:xfrm>
            <a:off x="772160" y="766763"/>
            <a:ext cx="5811520" cy="2387600"/>
          </a:xfrm>
        </p:spPr>
        <p:txBody>
          <a:bodyPr>
            <a:normAutofit/>
          </a:bodyPr>
          <a:lstStyle/>
          <a:p>
            <a:pPr algn="l"/>
            <a:r>
              <a:rPr lang="en-US" sz="4000" dirty="0">
                <a:solidFill>
                  <a:srgbClr val="7030A0"/>
                </a:solidFill>
                <a:latin typeface="Times New Roman" panose="02020603050405020304" pitchFamily="18" charset="0"/>
                <a:cs typeface="Times New Roman" panose="02020603050405020304" pitchFamily="18" charset="0"/>
              </a:rPr>
              <a:t>Latency Fairness On </a:t>
            </a:r>
            <a:br>
              <a:rPr lang="en-US" sz="4000" dirty="0">
                <a:solidFill>
                  <a:srgbClr val="7030A0"/>
                </a:solidFill>
                <a:latin typeface="Times New Roman" panose="02020603050405020304" pitchFamily="18" charset="0"/>
                <a:cs typeface="Times New Roman" panose="02020603050405020304" pitchFamily="18" charset="0"/>
              </a:rPr>
            </a:br>
            <a:r>
              <a:rPr lang="en-US" sz="4000" dirty="0">
                <a:solidFill>
                  <a:srgbClr val="7030A0"/>
                </a:solidFill>
                <a:latin typeface="Times New Roman" panose="02020603050405020304" pitchFamily="18" charset="0"/>
                <a:cs typeface="Times New Roman" panose="02020603050405020304" pitchFamily="18" charset="0"/>
              </a:rPr>
              <a:t>Commodity Networking </a:t>
            </a:r>
            <a:br>
              <a:rPr lang="en-US" sz="4000" dirty="0">
                <a:solidFill>
                  <a:srgbClr val="7030A0"/>
                </a:solidFill>
                <a:latin typeface="Times New Roman" panose="02020603050405020304" pitchFamily="18" charset="0"/>
                <a:cs typeface="Times New Roman" panose="02020603050405020304" pitchFamily="18" charset="0"/>
              </a:rPr>
            </a:br>
            <a:r>
              <a:rPr lang="en-US" sz="4000" dirty="0">
                <a:solidFill>
                  <a:srgbClr val="7030A0"/>
                </a:solidFill>
                <a:latin typeface="Times New Roman" panose="02020603050405020304" pitchFamily="18" charset="0"/>
                <a:cs typeface="Times New Roman" panose="02020603050405020304" pitchFamily="18" charset="0"/>
              </a:rPr>
              <a:t>Infrastructure</a:t>
            </a:r>
          </a:p>
        </p:txBody>
      </p:sp>
      <p:sp>
        <p:nvSpPr>
          <p:cNvPr id="5" name="TextBox 4">
            <a:extLst>
              <a:ext uri="{FF2B5EF4-FFF2-40B4-BE49-F238E27FC236}">
                <a16:creationId xmlns:a16="http://schemas.microsoft.com/office/drawing/2014/main" id="{890D88BF-0073-1951-4F02-254298021936}"/>
              </a:ext>
            </a:extLst>
          </p:cNvPr>
          <p:cNvSpPr txBox="1"/>
          <p:nvPr/>
        </p:nvSpPr>
        <p:spPr>
          <a:xfrm>
            <a:off x="7691120" y="1830924"/>
            <a:ext cx="4500880" cy="1323439"/>
          </a:xfrm>
          <a:prstGeom prst="rect">
            <a:avLst/>
          </a:prstGeom>
          <a:noFill/>
        </p:spPr>
        <p:txBody>
          <a:bodyPr wrap="square" rtlCol="0">
            <a:spAutoFit/>
          </a:bodyPr>
          <a:lstStyle/>
          <a:p>
            <a:r>
              <a:rPr lang="en-US" sz="2800" dirty="0">
                <a:solidFill>
                  <a:srgbClr val="7030A0"/>
                </a:solidFill>
                <a:latin typeface="Times New Roman" panose="02020603050405020304" pitchFamily="18" charset="0"/>
                <a:cs typeface="Times New Roman" panose="02020603050405020304" pitchFamily="18" charset="0"/>
              </a:rPr>
              <a:t>PhD Thesis Defense</a:t>
            </a:r>
            <a:br>
              <a:rPr lang="en-US" sz="2800" dirty="0">
                <a:solidFill>
                  <a:srgbClr val="7030A0"/>
                </a:solidFill>
                <a:latin typeface="Times New Roman" panose="02020603050405020304" pitchFamily="18" charset="0"/>
                <a:cs typeface="Times New Roman" panose="02020603050405020304" pitchFamily="18" charset="0"/>
              </a:rPr>
            </a:br>
            <a:r>
              <a:rPr lang="en-US" sz="2800" dirty="0">
                <a:solidFill>
                  <a:srgbClr val="7030A0"/>
                </a:solidFill>
                <a:latin typeface="Times New Roman" panose="02020603050405020304" pitchFamily="18" charset="0"/>
                <a:cs typeface="Times New Roman" panose="02020603050405020304" pitchFamily="18" charset="0"/>
              </a:rPr>
              <a:t>Muhammad Haseeb</a:t>
            </a:r>
            <a:br>
              <a:rPr lang="en-US" sz="2800" dirty="0">
                <a:solidFill>
                  <a:srgbClr val="7030A0"/>
                </a:solidFill>
                <a:latin typeface="Times New Roman" panose="02020603050405020304" pitchFamily="18" charset="0"/>
                <a:cs typeface="Times New Roman" panose="02020603050405020304" pitchFamily="18" charset="0"/>
              </a:rPr>
            </a:br>
            <a:r>
              <a:rPr lang="en-US" sz="2400" dirty="0">
                <a:solidFill>
                  <a:srgbClr val="7030A0"/>
                </a:solidFill>
                <a:latin typeface="Times New Roman" panose="02020603050405020304" pitchFamily="18" charset="0"/>
                <a:cs typeface="Times New Roman" panose="02020603050405020304" pitchFamily="18" charset="0"/>
              </a:rPr>
              <a:t>(alias: Haseeb Ashfaq)</a:t>
            </a:r>
            <a:endParaRPr lang="en-US" sz="2800" dirty="0">
              <a:solidFill>
                <a:srgbClr val="7030A0"/>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E5DCD39-C27B-8984-DE5E-CF75C6C593EB}"/>
              </a:ext>
            </a:extLst>
          </p:cNvPr>
          <p:cNvSpPr/>
          <p:nvPr/>
        </p:nvSpPr>
        <p:spPr>
          <a:xfrm>
            <a:off x="7493000" y="1756957"/>
            <a:ext cx="116840" cy="1579185"/>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CB36658-B17B-D180-7A14-E4A8398E8458}"/>
              </a:ext>
            </a:extLst>
          </p:cNvPr>
          <p:cNvSpPr txBox="1"/>
          <p:nvPr/>
        </p:nvSpPr>
        <p:spPr>
          <a:xfrm>
            <a:off x="772160" y="3911600"/>
            <a:ext cx="454152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Advisor: Anirudh Sivaraman</a:t>
            </a:r>
          </a:p>
        </p:txBody>
      </p:sp>
      <p:sp>
        <p:nvSpPr>
          <p:cNvPr id="8" name="TextBox 7">
            <a:extLst>
              <a:ext uri="{FF2B5EF4-FFF2-40B4-BE49-F238E27FC236}">
                <a16:creationId xmlns:a16="http://schemas.microsoft.com/office/drawing/2014/main" id="{84D13F56-690F-6EA0-C787-345441CB11CA}"/>
              </a:ext>
            </a:extLst>
          </p:cNvPr>
          <p:cNvSpPr txBox="1"/>
          <p:nvPr/>
        </p:nvSpPr>
        <p:spPr>
          <a:xfrm>
            <a:off x="772160" y="4500880"/>
            <a:ext cx="9804400"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Committee: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Anirudh Sivaraman, Aurojit Panda, Radhika Mittal</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Lakshminarayanan Subramanian, </a:t>
            </a:r>
            <a:r>
              <a:rPr lang="en-US" sz="2400" dirty="0" err="1">
                <a:latin typeface="Times New Roman" panose="02020603050405020304" pitchFamily="18" charset="0"/>
                <a:cs typeface="Times New Roman" panose="02020603050405020304" pitchFamily="18" charset="0"/>
              </a:rPr>
              <a:t>Jinyang</a:t>
            </a:r>
            <a:r>
              <a:rPr lang="en-US" sz="2400" dirty="0">
                <a:latin typeface="Times New Roman" panose="02020603050405020304" pitchFamily="18" charset="0"/>
                <a:cs typeface="Times New Roman" panose="02020603050405020304" pitchFamily="18" charset="0"/>
              </a:rPr>
              <a:t> Li</a:t>
            </a:r>
          </a:p>
        </p:txBody>
      </p:sp>
      <p:sp>
        <p:nvSpPr>
          <p:cNvPr id="9" name="TextBox 8">
            <a:extLst>
              <a:ext uri="{FF2B5EF4-FFF2-40B4-BE49-F238E27FC236}">
                <a16:creationId xmlns:a16="http://schemas.microsoft.com/office/drawing/2014/main" id="{F7686E8A-4E57-7D85-C33A-84E8BAF7982A}"/>
              </a:ext>
            </a:extLst>
          </p:cNvPr>
          <p:cNvSpPr txBox="1"/>
          <p:nvPr/>
        </p:nvSpPr>
        <p:spPr>
          <a:xfrm>
            <a:off x="7691120" y="3884054"/>
            <a:ext cx="4135120" cy="830997"/>
          </a:xfrm>
          <a:prstGeom prst="rect">
            <a:avLst/>
          </a:prstGeom>
          <a:noFill/>
        </p:spPr>
        <p:txBody>
          <a:bodyPr wrap="square" rtlCol="0">
            <a:spAutoFit/>
          </a:bodyPr>
          <a:lstStyle/>
          <a:p>
            <a:r>
              <a:rPr lang="en-US" sz="2400" dirty="0">
                <a:solidFill>
                  <a:srgbClr val="7030A0"/>
                </a:solidFill>
                <a:latin typeface="Times New Roman" panose="02020603050405020304" pitchFamily="18" charset="0"/>
                <a:cs typeface="Times New Roman" panose="02020603050405020304" pitchFamily="18" charset="0"/>
              </a:rPr>
              <a:t>Computer Science Department</a:t>
            </a:r>
            <a:br>
              <a:rPr lang="en-US" sz="2400" dirty="0">
                <a:solidFill>
                  <a:srgbClr val="7030A0"/>
                </a:solidFill>
                <a:latin typeface="Times New Roman" panose="02020603050405020304" pitchFamily="18" charset="0"/>
                <a:cs typeface="Times New Roman" panose="02020603050405020304" pitchFamily="18" charset="0"/>
              </a:rPr>
            </a:br>
            <a:r>
              <a:rPr lang="en-US" sz="2400" dirty="0">
                <a:solidFill>
                  <a:srgbClr val="7030A0"/>
                </a:solidFill>
                <a:latin typeface="Times New Roman" panose="02020603050405020304" pitchFamily="18" charset="0"/>
                <a:cs typeface="Times New Roman" panose="02020603050405020304" pitchFamily="18" charset="0"/>
              </a:rPr>
              <a:t>New York University</a:t>
            </a:r>
          </a:p>
        </p:txBody>
      </p:sp>
      <p:sp>
        <p:nvSpPr>
          <p:cNvPr id="10" name="Rectangle 9">
            <a:extLst>
              <a:ext uri="{FF2B5EF4-FFF2-40B4-BE49-F238E27FC236}">
                <a16:creationId xmlns:a16="http://schemas.microsoft.com/office/drawing/2014/main" id="{304BB7B2-4B5D-8F7F-5F23-385114A329F5}"/>
              </a:ext>
            </a:extLst>
          </p:cNvPr>
          <p:cNvSpPr/>
          <p:nvPr/>
        </p:nvSpPr>
        <p:spPr>
          <a:xfrm>
            <a:off x="7495540" y="3521858"/>
            <a:ext cx="116840" cy="1579185"/>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016052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D18F4229-C9B6-4487-A584-667F7C25FA64}"/>
              </a:ext>
            </a:extLst>
          </p:cNvPr>
          <p:cNvSpPr txBox="1">
            <a:spLocks/>
          </p:cNvSpPr>
          <p:nvPr/>
        </p:nvSpPr>
        <p:spPr>
          <a:xfrm>
            <a:off x="3190240" y="2006283"/>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 On </a:t>
            </a:r>
            <a:br>
              <a:rPr lang="en-US" sz="4000" dirty="0">
                <a:solidFill>
                  <a:srgbClr val="7030A0"/>
                </a:solidFill>
                <a:latin typeface="Times New Roman" panose="02020603050405020304" pitchFamily="18" charset="0"/>
                <a:cs typeface="Times New Roman" panose="02020603050405020304" pitchFamily="18" charset="0"/>
              </a:rPr>
            </a:br>
            <a:r>
              <a:rPr lang="en-US" sz="4000" dirty="0">
                <a:solidFill>
                  <a:srgbClr val="7030A0"/>
                </a:solidFill>
                <a:latin typeface="Times New Roman" panose="02020603050405020304" pitchFamily="18" charset="0"/>
                <a:cs typeface="Times New Roman" panose="02020603050405020304" pitchFamily="18" charset="0"/>
              </a:rPr>
              <a:t>Commodity Networking </a:t>
            </a:r>
            <a:br>
              <a:rPr lang="en-US" sz="4000" dirty="0">
                <a:solidFill>
                  <a:srgbClr val="7030A0"/>
                </a:solidFill>
                <a:latin typeface="Times New Roman" panose="02020603050405020304" pitchFamily="18" charset="0"/>
                <a:cs typeface="Times New Roman" panose="02020603050405020304" pitchFamily="18" charset="0"/>
              </a:rPr>
            </a:br>
            <a:r>
              <a:rPr lang="en-US" sz="4000" dirty="0">
                <a:solidFill>
                  <a:srgbClr val="7030A0"/>
                </a:solidFill>
                <a:latin typeface="Times New Roman" panose="02020603050405020304" pitchFamily="18" charset="0"/>
                <a:cs typeface="Times New Roman" panose="02020603050405020304" pitchFamily="18" charset="0"/>
              </a:rPr>
              <a:t>Infrastructure</a:t>
            </a:r>
          </a:p>
        </p:txBody>
      </p:sp>
      <p:sp>
        <p:nvSpPr>
          <p:cNvPr id="17" name="Rectangle 16">
            <a:extLst>
              <a:ext uri="{FF2B5EF4-FFF2-40B4-BE49-F238E27FC236}">
                <a16:creationId xmlns:a16="http://schemas.microsoft.com/office/drawing/2014/main" id="{D3CD66FE-DC43-757E-6948-05C58364ECFF}"/>
              </a:ext>
            </a:extLst>
          </p:cNvPr>
          <p:cNvSpPr/>
          <p:nvPr/>
        </p:nvSpPr>
        <p:spPr>
          <a:xfrm>
            <a:off x="3017520" y="1570633"/>
            <a:ext cx="45719" cy="1548487"/>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EA1B4587-6474-87E6-7EF6-C8CAFD6C5C41}"/>
              </a:ext>
            </a:extLst>
          </p:cNvPr>
          <p:cNvSpPr/>
          <p:nvPr/>
        </p:nvSpPr>
        <p:spPr>
          <a:xfrm>
            <a:off x="8422640" y="2814698"/>
            <a:ext cx="53340" cy="1696342"/>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8E356B41-3E9C-A4BC-664F-CCA480C0A1C8}"/>
              </a:ext>
            </a:extLst>
          </p:cNvPr>
          <p:cNvSpPr txBox="1"/>
          <p:nvPr/>
        </p:nvSpPr>
        <p:spPr>
          <a:xfrm>
            <a:off x="3190240" y="1652340"/>
            <a:ext cx="367792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Can We Achieve</a:t>
            </a:r>
          </a:p>
        </p:txBody>
      </p:sp>
      <p:sp>
        <p:nvSpPr>
          <p:cNvPr id="20" name="TextBox 19">
            <a:extLst>
              <a:ext uri="{FF2B5EF4-FFF2-40B4-BE49-F238E27FC236}">
                <a16:creationId xmlns:a16="http://schemas.microsoft.com/office/drawing/2014/main" id="{0B305DDE-6A86-84D6-428B-A6B48FB37A03}"/>
              </a:ext>
            </a:extLst>
          </p:cNvPr>
          <p:cNvSpPr txBox="1"/>
          <p:nvPr/>
        </p:nvSpPr>
        <p:spPr>
          <a:xfrm>
            <a:off x="5994400" y="3357880"/>
            <a:ext cx="68072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41221599"/>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7EF22-9C4F-4708-95F5-AC1003B12AD3}"/>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B7B9327D-73A0-7490-618E-334A9F9DB0B7}"/>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A38D9987-F4A3-3D6C-FDED-327FC12FE715}"/>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8527C1E5-E704-6387-68B5-7635850AFD8E}"/>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874570"/>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AA5B3-712F-6E9A-8E97-5DCC437E4256}"/>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D549D387-2FAB-8B19-C677-E1367435A065}"/>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EA057AAD-A7DE-0803-D929-98D54BAD6D27}"/>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164F7254-0CD1-F421-6C43-A847C1E8C362}"/>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67755810-7970-2604-2BA0-463C072C41F0}"/>
              </a:ext>
            </a:extLst>
          </p:cNvPr>
          <p:cNvSpPr/>
          <p:nvPr/>
        </p:nvSpPr>
        <p:spPr>
          <a:xfrm>
            <a:off x="6183088"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4796716-0AE6-68E2-8E60-4E43236E5939}"/>
              </a:ext>
            </a:extLst>
          </p:cNvPr>
          <p:cNvSpPr txBox="1"/>
          <p:nvPr/>
        </p:nvSpPr>
        <p:spPr>
          <a:xfrm>
            <a:off x="5844534"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18707975-C4BE-D24A-3CC2-BA67BA13EECE}"/>
              </a:ext>
            </a:extLst>
          </p:cNvPr>
          <p:cNvSpPr/>
          <p:nvPr/>
        </p:nvSpPr>
        <p:spPr>
          <a:xfrm>
            <a:off x="4236720"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81FF857-36DC-8591-7049-277522B60D84}"/>
              </a:ext>
            </a:extLst>
          </p:cNvPr>
          <p:cNvSpPr txBox="1"/>
          <p:nvPr/>
        </p:nvSpPr>
        <p:spPr>
          <a:xfrm>
            <a:off x="4007479"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5" name="Oval 4">
            <a:extLst>
              <a:ext uri="{FF2B5EF4-FFF2-40B4-BE49-F238E27FC236}">
                <a16:creationId xmlns:a16="http://schemas.microsoft.com/office/drawing/2014/main" id="{DDC71D5C-193F-3D78-BAF2-25F30A656584}"/>
              </a:ext>
            </a:extLst>
          </p:cNvPr>
          <p:cNvSpPr/>
          <p:nvPr/>
        </p:nvSpPr>
        <p:spPr>
          <a:xfrm>
            <a:off x="5645331"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CDC26A6F-236C-06F2-6937-9D660F60EE5A}"/>
              </a:ext>
            </a:extLst>
          </p:cNvPr>
          <p:cNvSpPr/>
          <p:nvPr/>
        </p:nvSpPr>
        <p:spPr>
          <a:xfrm>
            <a:off x="7990540"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070B3DE-C544-43D5-DFE3-D8A2FA526217}"/>
              </a:ext>
            </a:extLst>
          </p:cNvPr>
          <p:cNvCxnSpPr/>
          <p:nvPr/>
        </p:nvCxnSpPr>
        <p:spPr>
          <a:xfrm>
            <a:off x="6772550"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54E6A77-61EA-8C76-C1EE-AF3D94B56FC8}"/>
              </a:ext>
            </a:extLst>
          </p:cNvPr>
          <p:cNvSpPr txBox="1"/>
          <p:nvPr/>
        </p:nvSpPr>
        <p:spPr>
          <a:xfrm>
            <a:off x="5620421"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15" name="TextBox 14">
            <a:extLst>
              <a:ext uri="{FF2B5EF4-FFF2-40B4-BE49-F238E27FC236}">
                <a16:creationId xmlns:a16="http://schemas.microsoft.com/office/drawing/2014/main" id="{6C0FA2BA-178F-04BA-4587-5FCB3BAADE52}"/>
              </a:ext>
            </a:extLst>
          </p:cNvPr>
          <p:cNvSpPr txBox="1"/>
          <p:nvPr/>
        </p:nvSpPr>
        <p:spPr>
          <a:xfrm>
            <a:off x="7674812"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cxnSp>
        <p:nvCxnSpPr>
          <p:cNvPr id="19" name="Straight Connector 18">
            <a:extLst>
              <a:ext uri="{FF2B5EF4-FFF2-40B4-BE49-F238E27FC236}">
                <a16:creationId xmlns:a16="http://schemas.microsoft.com/office/drawing/2014/main" id="{9957F088-C59F-A5E4-16C6-C407A20D19EB}"/>
              </a:ext>
            </a:extLst>
          </p:cNvPr>
          <p:cNvCxnSpPr>
            <a:cxnSpLocks/>
          </p:cNvCxnSpPr>
          <p:nvPr/>
        </p:nvCxnSpPr>
        <p:spPr>
          <a:xfrm flipH="1">
            <a:off x="4898571"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365D5B6-F420-9EE7-C38D-BCA65796EDC3}"/>
              </a:ext>
            </a:extLst>
          </p:cNvPr>
          <p:cNvSpPr txBox="1"/>
          <p:nvPr/>
        </p:nvSpPr>
        <p:spPr>
          <a:xfrm>
            <a:off x="3816350"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spTree>
    <p:extLst>
      <p:ext uri="{BB962C8B-B14F-4D97-AF65-F5344CB8AC3E}">
        <p14:creationId xmlns:p14="http://schemas.microsoft.com/office/powerpoint/2010/main" val="3495473911"/>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1755E-C173-8AC6-CCB7-88CA41F8BA47}"/>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0A204BAD-2AE3-2BEB-4251-CED19E078723}"/>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AFEAA05D-721A-B81E-D08A-B8C7A54AB48D}"/>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132DB8AC-0D90-0E62-F236-97523C8E511B}"/>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CCBA6EE3-80B4-7C7C-1A75-FDCAC047CF81}"/>
              </a:ext>
            </a:extLst>
          </p:cNvPr>
          <p:cNvSpPr/>
          <p:nvPr/>
        </p:nvSpPr>
        <p:spPr>
          <a:xfrm>
            <a:off x="6183088"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53B216C-8C98-A33D-0B07-A8F00229337B}"/>
              </a:ext>
            </a:extLst>
          </p:cNvPr>
          <p:cNvSpPr txBox="1"/>
          <p:nvPr/>
        </p:nvSpPr>
        <p:spPr>
          <a:xfrm>
            <a:off x="5844534"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84A15F72-1E09-B5EF-D994-3884138E4974}"/>
              </a:ext>
            </a:extLst>
          </p:cNvPr>
          <p:cNvSpPr/>
          <p:nvPr/>
        </p:nvSpPr>
        <p:spPr>
          <a:xfrm>
            <a:off x="4236720"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F76A8F01-4F4E-FD58-407B-486E14DB92D5}"/>
              </a:ext>
            </a:extLst>
          </p:cNvPr>
          <p:cNvSpPr/>
          <p:nvPr/>
        </p:nvSpPr>
        <p:spPr>
          <a:xfrm>
            <a:off x="5645331"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7D6B3EC0-216F-51C5-48E9-5B7D8EF9D662}"/>
              </a:ext>
            </a:extLst>
          </p:cNvPr>
          <p:cNvSpPr/>
          <p:nvPr/>
        </p:nvSpPr>
        <p:spPr>
          <a:xfrm>
            <a:off x="7990540"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AF37B989-4F63-9656-1096-6E4DC99977A6}"/>
              </a:ext>
            </a:extLst>
          </p:cNvPr>
          <p:cNvCxnSpPr/>
          <p:nvPr/>
        </p:nvCxnSpPr>
        <p:spPr>
          <a:xfrm>
            <a:off x="6772550"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F46326F-B42F-09AC-29F7-05609C09F5DC}"/>
              </a:ext>
            </a:extLst>
          </p:cNvPr>
          <p:cNvCxnSpPr>
            <a:cxnSpLocks/>
          </p:cNvCxnSpPr>
          <p:nvPr/>
        </p:nvCxnSpPr>
        <p:spPr>
          <a:xfrm flipH="1">
            <a:off x="4898571"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F0017D1-AF53-F59D-E0BF-82AD02E5705A}"/>
              </a:ext>
            </a:extLst>
          </p:cNvPr>
          <p:cNvSpPr txBox="1"/>
          <p:nvPr/>
        </p:nvSpPr>
        <p:spPr>
          <a:xfrm>
            <a:off x="3816350"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cxnSp>
        <p:nvCxnSpPr>
          <p:cNvPr id="7" name="Straight Connector 6">
            <a:extLst>
              <a:ext uri="{FF2B5EF4-FFF2-40B4-BE49-F238E27FC236}">
                <a16:creationId xmlns:a16="http://schemas.microsoft.com/office/drawing/2014/main" id="{6882A26D-9AD0-F761-DD5F-1B6F1A0FB528}"/>
              </a:ext>
            </a:extLst>
          </p:cNvPr>
          <p:cNvCxnSpPr>
            <a:cxnSpLocks/>
            <a:stCxn id="2" idx="4"/>
            <a:endCxn id="5" idx="0"/>
          </p:cNvCxnSpPr>
          <p:nvPr/>
        </p:nvCxnSpPr>
        <p:spPr>
          <a:xfrm flipH="1">
            <a:off x="6096000" y="2625829"/>
            <a:ext cx="53775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49E8D3C-F351-9100-FF50-FB750F36D49B}"/>
              </a:ext>
            </a:extLst>
          </p:cNvPr>
          <p:cNvCxnSpPr>
            <a:cxnSpLocks/>
            <a:stCxn id="2" idx="4"/>
            <a:endCxn id="10" idx="0"/>
          </p:cNvCxnSpPr>
          <p:nvPr/>
        </p:nvCxnSpPr>
        <p:spPr>
          <a:xfrm>
            <a:off x="6633757" y="2625829"/>
            <a:ext cx="1807452"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67DD44FF-CE97-2CB1-9C9D-896046234F7B}"/>
              </a:ext>
            </a:extLst>
          </p:cNvPr>
          <p:cNvSpPr txBox="1"/>
          <p:nvPr/>
        </p:nvSpPr>
        <p:spPr>
          <a:xfrm>
            <a:off x="5962244"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3" name="TextBox 22">
            <a:extLst>
              <a:ext uri="{FF2B5EF4-FFF2-40B4-BE49-F238E27FC236}">
                <a16:creationId xmlns:a16="http://schemas.microsoft.com/office/drawing/2014/main" id="{AD108A5D-E1CA-683A-2BFF-9C7FB884DFA4}"/>
              </a:ext>
            </a:extLst>
          </p:cNvPr>
          <p:cNvSpPr txBox="1"/>
          <p:nvPr/>
        </p:nvSpPr>
        <p:spPr>
          <a:xfrm>
            <a:off x="7231651"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4" name="TextBox 23">
            <a:extLst>
              <a:ext uri="{FF2B5EF4-FFF2-40B4-BE49-F238E27FC236}">
                <a16:creationId xmlns:a16="http://schemas.microsoft.com/office/drawing/2014/main" id="{2391C58C-24F7-1099-CC70-0D8346E614DA}"/>
              </a:ext>
            </a:extLst>
          </p:cNvPr>
          <p:cNvSpPr txBox="1"/>
          <p:nvPr/>
        </p:nvSpPr>
        <p:spPr>
          <a:xfrm>
            <a:off x="4007479"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25" name="TextBox 24">
            <a:extLst>
              <a:ext uri="{FF2B5EF4-FFF2-40B4-BE49-F238E27FC236}">
                <a16:creationId xmlns:a16="http://schemas.microsoft.com/office/drawing/2014/main" id="{6DE4AA79-253F-0A70-F589-4CB54928CDB3}"/>
              </a:ext>
            </a:extLst>
          </p:cNvPr>
          <p:cNvSpPr txBox="1"/>
          <p:nvPr/>
        </p:nvSpPr>
        <p:spPr>
          <a:xfrm>
            <a:off x="5620421"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26" name="TextBox 25">
            <a:extLst>
              <a:ext uri="{FF2B5EF4-FFF2-40B4-BE49-F238E27FC236}">
                <a16:creationId xmlns:a16="http://schemas.microsoft.com/office/drawing/2014/main" id="{8D9094E4-F048-C5EE-41E2-6258F9F01387}"/>
              </a:ext>
            </a:extLst>
          </p:cNvPr>
          <p:cNvSpPr txBox="1"/>
          <p:nvPr/>
        </p:nvSpPr>
        <p:spPr>
          <a:xfrm>
            <a:off x="7674812"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spTree>
    <p:extLst>
      <p:ext uri="{BB962C8B-B14F-4D97-AF65-F5344CB8AC3E}">
        <p14:creationId xmlns:p14="http://schemas.microsoft.com/office/powerpoint/2010/main" val="3086061470"/>
      </p:ext>
    </p:extLst>
  </p:cSld>
  <p:clrMapOvr>
    <a:masterClrMapping/>
  </p:clrMapOvr>
  <mc:AlternateContent xmlns:mc="http://schemas.openxmlformats.org/markup-compatibility/2006">
    <mc:Choice xmlns:p159="http://schemas.microsoft.com/office/powerpoint/2015/09/main" Requires="p159">
      <p:transition>
        <p159:morph option="byWord"/>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1B84-C3D2-0512-F238-F96AAFC68B60}"/>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89A92299-5C6B-2398-C237-A0BF53310FEE}"/>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5FB9B97A-CDEE-A98E-3709-B0D4FE4B63B4}"/>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D3A324CB-1C92-04A0-9C3E-668334A78F8F}"/>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9B2FE237-FC45-F917-9B03-7B96BE775EF7}"/>
              </a:ext>
            </a:extLst>
          </p:cNvPr>
          <p:cNvSpPr/>
          <p:nvPr/>
        </p:nvSpPr>
        <p:spPr>
          <a:xfrm>
            <a:off x="8497572"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331760F-3F11-E61A-220F-2D9D5F24420C}"/>
              </a:ext>
            </a:extLst>
          </p:cNvPr>
          <p:cNvSpPr txBox="1"/>
          <p:nvPr/>
        </p:nvSpPr>
        <p:spPr>
          <a:xfrm>
            <a:off x="8159018"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3E8A4293-5A06-EB17-6909-2373990365BD}"/>
              </a:ext>
            </a:extLst>
          </p:cNvPr>
          <p:cNvSpPr/>
          <p:nvPr/>
        </p:nvSpPr>
        <p:spPr>
          <a:xfrm>
            <a:off x="655120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A57B0007-8C67-8F7C-D173-D267BE3BFEEE}"/>
              </a:ext>
            </a:extLst>
          </p:cNvPr>
          <p:cNvSpPr/>
          <p:nvPr/>
        </p:nvSpPr>
        <p:spPr>
          <a:xfrm>
            <a:off x="7959815"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55E5BAF8-3640-C46F-75E6-136B6ADA553B}"/>
              </a:ext>
            </a:extLst>
          </p:cNvPr>
          <p:cNvSpPr/>
          <p:nvPr/>
        </p:nvSpPr>
        <p:spPr>
          <a:xfrm>
            <a:off x="1030502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35DF2E18-22EB-5F6C-8F04-D8757765A5A5}"/>
              </a:ext>
            </a:extLst>
          </p:cNvPr>
          <p:cNvCxnSpPr/>
          <p:nvPr/>
        </p:nvCxnSpPr>
        <p:spPr>
          <a:xfrm>
            <a:off x="9087034"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8213D92-E999-BBC4-4870-BE36D2EDF770}"/>
              </a:ext>
            </a:extLst>
          </p:cNvPr>
          <p:cNvCxnSpPr>
            <a:cxnSpLocks/>
          </p:cNvCxnSpPr>
          <p:nvPr/>
        </p:nvCxnSpPr>
        <p:spPr>
          <a:xfrm flipH="1">
            <a:off x="7213055"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4CFB281-93FC-0337-C42C-E88DE9BB1BA9}"/>
              </a:ext>
            </a:extLst>
          </p:cNvPr>
          <p:cNvSpPr txBox="1"/>
          <p:nvPr/>
        </p:nvSpPr>
        <p:spPr>
          <a:xfrm>
            <a:off x="6130834"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cxnSp>
        <p:nvCxnSpPr>
          <p:cNvPr id="7" name="Straight Connector 6">
            <a:extLst>
              <a:ext uri="{FF2B5EF4-FFF2-40B4-BE49-F238E27FC236}">
                <a16:creationId xmlns:a16="http://schemas.microsoft.com/office/drawing/2014/main" id="{1834301D-D908-2577-872B-C83EF70465A9}"/>
              </a:ext>
            </a:extLst>
          </p:cNvPr>
          <p:cNvCxnSpPr>
            <a:cxnSpLocks/>
            <a:stCxn id="2" idx="4"/>
            <a:endCxn id="5" idx="0"/>
          </p:cNvCxnSpPr>
          <p:nvPr/>
        </p:nvCxnSpPr>
        <p:spPr>
          <a:xfrm flipH="1">
            <a:off x="8410484" y="2625829"/>
            <a:ext cx="53775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A45D0F6-BFD4-413A-D431-C887B69E4E7A}"/>
              </a:ext>
            </a:extLst>
          </p:cNvPr>
          <p:cNvCxnSpPr>
            <a:cxnSpLocks/>
            <a:stCxn id="2" idx="4"/>
            <a:endCxn id="10" idx="0"/>
          </p:cNvCxnSpPr>
          <p:nvPr/>
        </p:nvCxnSpPr>
        <p:spPr>
          <a:xfrm>
            <a:off x="8948241" y="2625829"/>
            <a:ext cx="1807452"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D328095-C878-8ED9-2CE4-292AD231B837}"/>
              </a:ext>
            </a:extLst>
          </p:cNvPr>
          <p:cNvSpPr txBox="1"/>
          <p:nvPr/>
        </p:nvSpPr>
        <p:spPr>
          <a:xfrm>
            <a:off x="8276728"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3" name="TextBox 22">
            <a:extLst>
              <a:ext uri="{FF2B5EF4-FFF2-40B4-BE49-F238E27FC236}">
                <a16:creationId xmlns:a16="http://schemas.microsoft.com/office/drawing/2014/main" id="{16BDBEB0-F1ED-B7E0-F43B-CFF2B3EFFB99}"/>
              </a:ext>
            </a:extLst>
          </p:cNvPr>
          <p:cNvSpPr txBox="1"/>
          <p:nvPr/>
        </p:nvSpPr>
        <p:spPr>
          <a:xfrm>
            <a:off x="9546135"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4" name="TextBox 23">
            <a:extLst>
              <a:ext uri="{FF2B5EF4-FFF2-40B4-BE49-F238E27FC236}">
                <a16:creationId xmlns:a16="http://schemas.microsoft.com/office/drawing/2014/main" id="{7F28D4E7-7A82-9381-29DD-B2E25638C142}"/>
              </a:ext>
            </a:extLst>
          </p:cNvPr>
          <p:cNvSpPr txBox="1"/>
          <p:nvPr/>
        </p:nvSpPr>
        <p:spPr>
          <a:xfrm>
            <a:off x="6321963"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25" name="TextBox 24">
            <a:extLst>
              <a:ext uri="{FF2B5EF4-FFF2-40B4-BE49-F238E27FC236}">
                <a16:creationId xmlns:a16="http://schemas.microsoft.com/office/drawing/2014/main" id="{FFA5D318-D663-0502-66E3-6CB49CD6075E}"/>
              </a:ext>
            </a:extLst>
          </p:cNvPr>
          <p:cNvSpPr txBox="1"/>
          <p:nvPr/>
        </p:nvSpPr>
        <p:spPr>
          <a:xfrm>
            <a:off x="7934905"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26" name="TextBox 25">
            <a:extLst>
              <a:ext uri="{FF2B5EF4-FFF2-40B4-BE49-F238E27FC236}">
                <a16:creationId xmlns:a16="http://schemas.microsoft.com/office/drawing/2014/main" id="{40164C9E-2226-D901-5F8F-0A41F92D7613}"/>
              </a:ext>
            </a:extLst>
          </p:cNvPr>
          <p:cNvSpPr txBox="1"/>
          <p:nvPr/>
        </p:nvSpPr>
        <p:spPr>
          <a:xfrm>
            <a:off x="9989296"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spTree>
    <p:extLst>
      <p:ext uri="{BB962C8B-B14F-4D97-AF65-F5344CB8AC3E}">
        <p14:creationId xmlns:p14="http://schemas.microsoft.com/office/powerpoint/2010/main" val="433049594"/>
      </p:ext>
    </p:extLst>
  </p:cSld>
  <p:clrMapOvr>
    <a:masterClrMapping/>
  </p:clrMapOvr>
  <mc:AlternateContent xmlns:mc="http://schemas.openxmlformats.org/markup-compatibility/2006">
    <mc:Choice xmlns:p159="http://schemas.microsoft.com/office/powerpoint/2015/09/main" Requires="p159">
      <p:transition>
        <p159:morph option="byWord"/>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E90AC-5F90-3894-F518-C43A70CDD337}"/>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67727AF2-4F5C-A202-DE9B-C416D8F490C1}"/>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E5F89CE2-E7C5-4B87-54D7-7EA7735D1D63}"/>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0C3388-5524-C488-48F2-B17650679A49}"/>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3C447D92-04E5-ABD6-30AB-7B96AA9286B0}"/>
              </a:ext>
            </a:extLst>
          </p:cNvPr>
          <p:cNvSpPr/>
          <p:nvPr/>
        </p:nvSpPr>
        <p:spPr>
          <a:xfrm>
            <a:off x="8497572"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69B8993-2AA7-14EF-D794-B3F1683049A1}"/>
              </a:ext>
            </a:extLst>
          </p:cNvPr>
          <p:cNvSpPr txBox="1"/>
          <p:nvPr/>
        </p:nvSpPr>
        <p:spPr>
          <a:xfrm>
            <a:off x="8159018"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D6F38C70-114C-BBD5-C5E0-5B4B24D3A083}"/>
              </a:ext>
            </a:extLst>
          </p:cNvPr>
          <p:cNvSpPr/>
          <p:nvPr/>
        </p:nvSpPr>
        <p:spPr>
          <a:xfrm>
            <a:off x="655120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1808D0C6-204D-B5EF-53A0-6E3AF05A649E}"/>
              </a:ext>
            </a:extLst>
          </p:cNvPr>
          <p:cNvSpPr/>
          <p:nvPr/>
        </p:nvSpPr>
        <p:spPr>
          <a:xfrm>
            <a:off x="7959815"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61492C4A-8D93-3B31-0806-2032050D884A}"/>
              </a:ext>
            </a:extLst>
          </p:cNvPr>
          <p:cNvSpPr/>
          <p:nvPr/>
        </p:nvSpPr>
        <p:spPr>
          <a:xfrm>
            <a:off x="1030502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C6E826D9-4C82-0FD8-BC95-3B5269866D49}"/>
              </a:ext>
            </a:extLst>
          </p:cNvPr>
          <p:cNvCxnSpPr/>
          <p:nvPr/>
        </p:nvCxnSpPr>
        <p:spPr>
          <a:xfrm>
            <a:off x="9087034"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F712ABB-41CC-604E-41E0-3B7B839E971D}"/>
              </a:ext>
            </a:extLst>
          </p:cNvPr>
          <p:cNvCxnSpPr>
            <a:cxnSpLocks/>
          </p:cNvCxnSpPr>
          <p:nvPr/>
        </p:nvCxnSpPr>
        <p:spPr>
          <a:xfrm flipH="1">
            <a:off x="7213055"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E5C86ED-DCFD-9B90-3297-6BE9FC63E922}"/>
              </a:ext>
            </a:extLst>
          </p:cNvPr>
          <p:cNvSpPr txBox="1"/>
          <p:nvPr/>
        </p:nvSpPr>
        <p:spPr>
          <a:xfrm>
            <a:off x="6130834"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cxnSp>
        <p:nvCxnSpPr>
          <p:cNvPr id="7" name="Straight Connector 6">
            <a:extLst>
              <a:ext uri="{FF2B5EF4-FFF2-40B4-BE49-F238E27FC236}">
                <a16:creationId xmlns:a16="http://schemas.microsoft.com/office/drawing/2014/main" id="{1F9B1823-2EC1-1508-3152-71575FB19E43}"/>
              </a:ext>
            </a:extLst>
          </p:cNvPr>
          <p:cNvCxnSpPr>
            <a:cxnSpLocks/>
            <a:stCxn id="2" idx="4"/>
            <a:endCxn id="5" idx="0"/>
          </p:cNvCxnSpPr>
          <p:nvPr/>
        </p:nvCxnSpPr>
        <p:spPr>
          <a:xfrm flipH="1">
            <a:off x="8410484" y="2625829"/>
            <a:ext cx="53775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525E116-50E3-046C-317D-138A1C399C9B}"/>
              </a:ext>
            </a:extLst>
          </p:cNvPr>
          <p:cNvCxnSpPr>
            <a:cxnSpLocks/>
            <a:stCxn id="2" idx="4"/>
            <a:endCxn id="10" idx="0"/>
          </p:cNvCxnSpPr>
          <p:nvPr/>
        </p:nvCxnSpPr>
        <p:spPr>
          <a:xfrm>
            <a:off x="8948241" y="2625829"/>
            <a:ext cx="1807452"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AF14C3CB-9347-F813-B9B2-32B6A9A477B1}"/>
              </a:ext>
            </a:extLst>
          </p:cNvPr>
          <p:cNvSpPr txBox="1"/>
          <p:nvPr/>
        </p:nvSpPr>
        <p:spPr>
          <a:xfrm>
            <a:off x="8276728"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3" name="TextBox 22">
            <a:extLst>
              <a:ext uri="{FF2B5EF4-FFF2-40B4-BE49-F238E27FC236}">
                <a16:creationId xmlns:a16="http://schemas.microsoft.com/office/drawing/2014/main" id="{E0E30447-0495-35A7-1FF7-53CB7E824849}"/>
              </a:ext>
            </a:extLst>
          </p:cNvPr>
          <p:cNvSpPr txBox="1"/>
          <p:nvPr/>
        </p:nvSpPr>
        <p:spPr>
          <a:xfrm>
            <a:off x="9546135"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4" name="TextBox 23">
            <a:extLst>
              <a:ext uri="{FF2B5EF4-FFF2-40B4-BE49-F238E27FC236}">
                <a16:creationId xmlns:a16="http://schemas.microsoft.com/office/drawing/2014/main" id="{62D10E4F-278A-F361-E7B6-8B02D12E2AA2}"/>
              </a:ext>
            </a:extLst>
          </p:cNvPr>
          <p:cNvSpPr txBox="1"/>
          <p:nvPr/>
        </p:nvSpPr>
        <p:spPr>
          <a:xfrm>
            <a:off x="6321963"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25" name="TextBox 24">
            <a:extLst>
              <a:ext uri="{FF2B5EF4-FFF2-40B4-BE49-F238E27FC236}">
                <a16:creationId xmlns:a16="http://schemas.microsoft.com/office/drawing/2014/main" id="{EA8396D4-A697-F022-22A8-6F5C4DB2659A}"/>
              </a:ext>
            </a:extLst>
          </p:cNvPr>
          <p:cNvSpPr txBox="1"/>
          <p:nvPr/>
        </p:nvSpPr>
        <p:spPr>
          <a:xfrm>
            <a:off x="7934905"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26" name="TextBox 25">
            <a:extLst>
              <a:ext uri="{FF2B5EF4-FFF2-40B4-BE49-F238E27FC236}">
                <a16:creationId xmlns:a16="http://schemas.microsoft.com/office/drawing/2014/main" id="{97B3F969-99E1-DB2C-D2BF-AE9B19F2AA11}"/>
              </a:ext>
            </a:extLst>
          </p:cNvPr>
          <p:cNvSpPr txBox="1"/>
          <p:nvPr/>
        </p:nvSpPr>
        <p:spPr>
          <a:xfrm>
            <a:off x="9989296"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sp>
        <p:nvSpPr>
          <p:cNvPr id="12" name="TextBox 11">
            <a:extLst>
              <a:ext uri="{FF2B5EF4-FFF2-40B4-BE49-F238E27FC236}">
                <a16:creationId xmlns:a16="http://schemas.microsoft.com/office/drawing/2014/main" id="{61BC61E1-FB7D-3901-DA55-0912562B0D9E}"/>
              </a:ext>
            </a:extLst>
          </p:cNvPr>
          <p:cNvSpPr txBox="1"/>
          <p:nvPr/>
        </p:nvSpPr>
        <p:spPr>
          <a:xfrm>
            <a:off x="760549" y="2659042"/>
            <a:ext cx="5095723"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Critical for competitive systems</a:t>
            </a:r>
          </a:p>
          <a:p>
            <a:r>
              <a:rPr lang="en-US" sz="3000" dirty="0">
                <a:latin typeface="Times New Roman" panose="02020603050405020304" pitchFamily="18" charset="0"/>
                <a:cs typeface="Times New Roman" panose="02020603050405020304" pitchFamily="18" charset="0"/>
              </a:rPr>
              <a:t>e.g., financial exchanges, ad exchanges.</a:t>
            </a:r>
          </a:p>
        </p:txBody>
      </p:sp>
    </p:spTree>
    <p:extLst>
      <p:ext uri="{BB962C8B-B14F-4D97-AF65-F5344CB8AC3E}">
        <p14:creationId xmlns:p14="http://schemas.microsoft.com/office/powerpoint/2010/main" val="4252485894"/>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B61D3-F707-60BE-A582-D834BDC0DE54}"/>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8EBCB744-E077-AA56-DD2E-5781D3DAD1D2}"/>
              </a:ext>
            </a:extLst>
          </p:cNvPr>
          <p:cNvSpPr txBox="1">
            <a:spLocks/>
          </p:cNvSpPr>
          <p:nvPr/>
        </p:nvSpPr>
        <p:spPr>
          <a:xfrm>
            <a:off x="760549" y="-305842"/>
            <a:ext cx="581152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7030A0"/>
                </a:solidFill>
                <a:latin typeface="Times New Roman" panose="02020603050405020304" pitchFamily="18" charset="0"/>
                <a:cs typeface="Times New Roman" panose="02020603050405020304" pitchFamily="18" charset="0"/>
              </a:rPr>
              <a:t>Latency Fairness</a:t>
            </a:r>
          </a:p>
        </p:txBody>
      </p:sp>
      <p:sp>
        <p:nvSpPr>
          <p:cNvPr id="17" name="Rectangle 16">
            <a:extLst>
              <a:ext uri="{FF2B5EF4-FFF2-40B4-BE49-F238E27FC236}">
                <a16:creationId xmlns:a16="http://schemas.microsoft.com/office/drawing/2014/main" id="{63AAC567-73B0-AF7E-8CA6-E22EB49EE7E6}"/>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953927F1-53D0-B5A4-674F-2ED2D5D03FEC}"/>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84A45410-7D22-70EE-437F-98D1500F8BA0}"/>
              </a:ext>
            </a:extLst>
          </p:cNvPr>
          <p:cNvSpPr/>
          <p:nvPr/>
        </p:nvSpPr>
        <p:spPr>
          <a:xfrm>
            <a:off x="8497572" y="1737555"/>
            <a:ext cx="901337" cy="88827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1CDC1E3-9137-3E58-5286-C90629581A63}"/>
              </a:ext>
            </a:extLst>
          </p:cNvPr>
          <p:cNvSpPr txBox="1"/>
          <p:nvPr/>
        </p:nvSpPr>
        <p:spPr>
          <a:xfrm>
            <a:off x="8159018" y="1201782"/>
            <a:ext cx="1189749"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Server</a:t>
            </a:r>
          </a:p>
        </p:txBody>
      </p:sp>
      <p:sp>
        <p:nvSpPr>
          <p:cNvPr id="4" name="Oval 3">
            <a:extLst>
              <a:ext uri="{FF2B5EF4-FFF2-40B4-BE49-F238E27FC236}">
                <a16:creationId xmlns:a16="http://schemas.microsoft.com/office/drawing/2014/main" id="{2ECC147A-4F95-5F2E-93D5-691C3BE90F2A}"/>
              </a:ext>
            </a:extLst>
          </p:cNvPr>
          <p:cNvSpPr/>
          <p:nvPr/>
        </p:nvSpPr>
        <p:spPr>
          <a:xfrm>
            <a:off x="655120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8EBEA846-AE53-8609-C025-4510011CBCB2}"/>
              </a:ext>
            </a:extLst>
          </p:cNvPr>
          <p:cNvSpPr/>
          <p:nvPr/>
        </p:nvSpPr>
        <p:spPr>
          <a:xfrm>
            <a:off x="7959815"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FEF1BE27-2C18-8206-6DAB-42731654ECFD}"/>
              </a:ext>
            </a:extLst>
          </p:cNvPr>
          <p:cNvSpPr/>
          <p:nvPr/>
        </p:nvSpPr>
        <p:spPr>
          <a:xfrm>
            <a:off x="10305024" y="4332106"/>
            <a:ext cx="901337" cy="88827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67942988-0894-8864-7954-8771B374B017}"/>
              </a:ext>
            </a:extLst>
          </p:cNvPr>
          <p:cNvCxnSpPr/>
          <p:nvPr/>
        </p:nvCxnSpPr>
        <p:spPr>
          <a:xfrm>
            <a:off x="9087034" y="4820194"/>
            <a:ext cx="921473" cy="0"/>
          </a:xfrm>
          <a:prstGeom prst="line">
            <a:avLst/>
          </a:prstGeom>
          <a:ln w="73025">
            <a:solidFill>
              <a:srgbClr val="7030A0"/>
            </a:solidFill>
            <a:prstDash val="sysDot"/>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7496BBA-646B-4176-C17D-B3EFD77D7D8A}"/>
              </a:ext>
            </a:extLst>
          </p:cNvPr>
          <p:cNvCxnSpPr>
            <a:cxnSpLocks/>
          </p:cNvCxnSpPr>
          <p:nvPr/>
        </p:nvCxnSpPr>
        <p:spPr>
          <a:xfrm flipH="1">
            <a:off x="7213055" y="2625829"/>
            <a:ext cx="164809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2DEA32D-A6B5-7CC2-3BA5-9F5E719139FB}"/>
              </a:ext>
            </a:extLst>
          </p:cNvPr>
          <p:cNvSpPr txBox="1"/>
          <p:nvPr/>
        </p:nvSpPr>
        <p:spPr>
          <a:xfrm>
            <a:off x="6130834" y="2924970"/>
            <a:ext cx="2028184"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Latency = x</a:t>
            </a:r>
          </a:p>
        </p:txBody>
      </p:sp>
      <p:cxnSp>
        <p:nvCxnSpPr>
          <p:cNvPr id="7" name="Straight Connector 6">
            <a:extLst>
              <a:ext uri="{FF2B5EF4-FFF2-40B4-BE49-F238E27FC236}">
                <a16:creationId xmlns:a16="http://schemas.microsoft.com/office/drawing/2014/main" id="{23B2342E-40B7-0A82-A93E-A632BF277510}"/>
              </a:ext>
            </a:extLst>
          </p:cNvPr>
          <p:cNvCxnSpPr>
            <a:cxnSpLocks/>
            <a:stCxn id="2" idx="4"/>
            <a:endCxn id="5" idx="0"/>
          </p:cNvCxnSpPr>
          <p:nvPr/>
        </p:nvCxnSpPr>
        <p:spPr>
          <a:xfrm flipH="1">
            <a:off x="8410484" y="2625829"/>
            <a:ext cx="537757"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709A8FF-C9D4-DBCD-32DF-4DAD0A8607EE}"/>
              </a:ext>
            </a:extLst>
          </p:cNvPr>
          <p:cNvCxnSpPr>
            <a:cxnSpLocks/>
            <a:stCxn id="2" idx="4"/>
            <a:endCxn id="10" idx="0"/>
          </p:cNvCxnSpPr>
          <p:nvPr/>
        </p:nvCxnSpPr>
        <p:spPr>
          <a:xfrm>
            <a:off x="8948241" y="2625829"/>
            <a:ext cx="1807452" cy="1706277"/>
          </a:xfrm>
          <a:prstGeom prst="line">
            <a:avLst/>
          </a:prstGeom>
          <a:ln w="73025">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ECDF1BC-9E96-E20F-FE19-44E5F2F3271B}"/>
              </a:ext>
            </a:extLst>
          </p:cNvPr>
          <p:cNvSpPr txBox="1"/>
          <p:nvPr/>
        </p:nvSpPr>
        <p:spPr>
          <a:xfrm>
            <a:off x="8276728"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3" name="TextBox 22">
            <a:extLst>
              <a:ext uri="{FF2B5EF4-FFF2-40B4-BE49-F238E27FC236}">
                <a16:creationId xmlns:a16="http://schemas.microsoft.com/office/drawing/2014/main" id="{BBDD467F-AFFD-AFEE-1408-5C56457843C3}"/>
              </a:ext>
            </a:extLst>
          </p:cNvPr>
          <p:cNvSpPr txBox="1"/>
          <p:nvPr/>
        </p:nvSpPr>
        <p:spPr>
          <a:xfrm>
            <a:off x="9546135" y="3351539"/>
            <a:ext cx="377026" cy="553998"/>
          </a:xfrm>
          <a:prstGeom prst="rect">
            <a:avLst/>
          </a:prstGeom>
          <a:noFill/>
        </p:spPr>
        <p:txBody>
          <a:bodyPr wrap="none" rtlCol="0">
            <a:spAutoFit/>
          </a:bodyPr>
          <a:lstStyle/>
          <a:p>
            <a:r>
              <a:rPr lang="en-US" sz="3000" dirty="0">
                <a:latin typeface="Times New Roman" panose="02020603050405020304" pitchFamily="18" charset="0"/>
                <a:cs typeface="Times New Roman" panose="02020603050405020304" pitchFamily="18" charset="0"/>
              </a:rPr>
              <a:t>x</a:t>
            </a:r>
          </a:p>
        </p:txBody>
      </p:sp>
      <p:sp>
        <p:nvSpPr>
          <p:cNvPr id="24" name="TextBox 23">
            <a:extLst>
              <a:ext uri="{FF2B5EF4-FFF2-40B4-BE49-F238E27FC236}">
                <a16:creationId xmlns:a16="http://schemas.microsoft.com/office/drawing/2014/main" id="{61C469F5-EDC6-88C3-4CA0-33B5E8271007}"/>
              </a:ext>
            </a:extLst>
          </p:cNvPr>
          <p:cNvSpPr txBox="1"/>
          <p:nvPr/>
        </p:nvSpPr>
        <p:spPr>
          <a:xfrm>
            <a:off x="6321963"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1</a:t>
            </a:r>
          </a:p>
        </p:txBody>
      </p:sp>
      <p:sp>
        <p:nvSpPr>
          <p:cNvPr id="25" name="TextBox 24">
            <a:extLst>
              <a:ext uri="{FF2B5EF4-FFF2-40B4-BE49-F238E27FC236}">
                <a16:creationId xmlns:a16="http://schemas.microsoft.com/office/drawing/2014/main" id="{5EA42736-3A77-D627-3E20-DAD995CB3D21}"/>
              </a:ext>
            </a:extLst>
          </p:cNvPr>
          <p:cNvSpPr txBox="1"/>
          <p:nvPr/>
        </p:nvSpPr>
        <p:spPr>
          <a:xfrm>
            <a:off x="7934905" y="5274843"/>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2</a:t>
            </a:r>
          </a:p>
        </p:txBody>
      </p:sp>
      <p:sp>
        <p:nvSpPr>
          <p:cNvPr id="26" name="TextBox 25">
            <a:extLst>
              <a:ext uri="{FF2B5EF4-FFF2-40B4-BE49-F238E27FC236}">
                <a16:creationId xmlns:a16="http://schemas.microsoft.com/office/drawing/2014/main" id="{12018B42-98D2-E24F-F87D-57F4D8CB6179}"/>
              </a:ext>
            </a:extLst>
          </p:cNvPr>
          <p:cNvSpPr txBox="1"/>
          <p:nvPr/>
        </p:nvSpPr>
        <p:spPr>
          <a:xfrm>
            <a:off x="9989296" y="5238604"/>
            <a:ext cx="1532791" cy="1015663"/>
          </a:xfrm>
          <a:prstGeom prst="rect">
            <a:avLst/>
          </a:prstGeom>
          <a:noFill/>
        </p:spPr>
        <p:txBody>
          <a:bodyPr wrap="none" rtlCol="0">
            <a:spAutoFit/>
          </a:bodyPr>
          <a:lstStyle/>
          <a:p>
            <a:pPr algn="ctr"/>
            <a:r>
              <a:rPr lang="en-US" sz="3000" dirty="0">
                <a:latin typeface="Times New Roman" panose="02020603050405020304" pitchFamily="18" charset="0"/>
                <a:cs typeface="Times New Roman" panose="02020603050405020304" pitchFamily="18" charset="0"/>
              </a:rPr>
              <a:t>Machine</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n</a:t>
            </a:r>
          </a:p>
        </p:txBody>
      </p:sp>
      <p:sp>
        <p:nvSpPr>
          <p:cNvPr id="12" name="TextBox 11">
            <a:extLst>
              <a:ext uri="{FF2B5EF4-FFF2-40B4-BE49-F238E27FC236}">
                <a16:creationId xmlns:a16="http://schemas.microsoft.com/office/drawing/2014/main" id="{DB65EC44-72EE-0640-21EC-23D33EBE9683}"/>
              </a:ext>
            </a:extLst>
          </p:cNvPr>
          <p:cNvSpPr txBox="1"/>
          <p:nvPr/>
        </p:nvSpPr>
        <p:spPr>
          <a:xfrm>
            <a:off x="760549" y="2659042"/>
            <a:ext cx="5095723"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Critical for competitive systems</a:t>
            </a:r>
          </a:p>
          <a:p>
            <a:r>
              <a:rPr lang="en-US" sz="3000" dirty="0">
                <a:latin typeface="Times New Roman" panose="02020603050405020304" pitchFamily="18" charset="0"/>
                <a:cs typeface="Times New Roman" panose="02020603050405020304" pitchFamily="18" charset="0"/>
              </a:rPr>
              <a:t>e.g., financial exchanges, ad exchanges.</a:t>
            </a:r>
          </a:p>
        </p:txBody>
      </p:sp>
      <p:sp>
        <p:nvSpPr>
          <p:cNvPr id="14" name="Oval 13">
            <a:extLst>
              <a:ext uri="{FF2B5EF4-FFF2-40B4-BE49-F238E27FC236}">
                <a16:creationId xmlns:a16="http://schemas.microsoft.com/office/drawing/2014/main" id="{92BDDD35-1ADE-1229-9118-E765CEB0C347}"/>
              </a:ext>
            </a:extLst>
          </p:cNvPr>
          <p:cNvSpPr/>
          <p:nvPr/>
        </p:nvSpPr>
        <p:spPr>
          <a:xfrm>
            <a:off x="2436518" y="2599598"/>
            <a:ext cx="3624649" cy="725710"/>
          </a:xfrm>
          <a:custGeom>
            <a:avLst/>
            <a:gdLst>
              <a:gd name="csX0" fmla="*/ 0 w 3624649"/>
              <a:gd name="csY0" fmla="*/ 362855 h 725710"/>
              <a:gd name="csX1" fmla="*/ 1812325 w 3624649"/>
              <a:gd name="csY1" fmla="*/ 0 h 725710"/>
              <a:gd name="csX2" fmla="*/ 3624650 w 3624649"/>
              <a:gd name="csY2" fmla="*/ 362855 h 725710"/>
              <a:gd name="csX3" fmla="*/ 1812325 w 3624649"/>
              <a:gd name="csY3" fmla="*/ 725710 h 725710"/>
              <a:gd name="csX4" fmla="*/ 0 w 3624649"/>
              <a:gd name="csY4" fmla="*/ 362855 h 725710"/>
            </a:gdLst>
            <a:ahLst/>
            <a:cxnLst>
              <a:cxn ang="0">
                <a:pos x="csX0" y="csY0"/>
              </a:cxn>
              <a:cxn ang="0">
                <a:pos x="csX1" y="csY1"/>
              </a:cxn>
              <a:cxn ang="0">
                <a:pos x="csX2" y="csY2"/>
              </a:cxn>
              <a:cxn ang="0">
                <a:pos x="csX3" y="csY3"/>
              </a:cxn>
              <a:cxn ang="0">
                <a:pos x="csX4" y="csY4"/>
              </a:cxn>
            </a:cxnLst>
            <a:rect l="l" t="t" r="r" b="b"/>
            <a:pathLst>
              <a:path w="3624649" h="725710" extrusionOk="0">
                <a:moveTo>
                  <a:pt x="0" y="362855"/>
                </a:moveTo>
                <a:cubicBezTo>
                  <a:pt x="-115163" y="91421"/>
                  <a:pt x="660948" y="56469"/>
                  <a:pt x="1812325" y="0"/>
                </a:cubicBezTo>
                <a:cubicBezTo>
                  <a:pt x="2834112" y="4393"/>
                  <a:pt x="3594571" y="163412"/>
                  <a:pt x="3624650" y="362855"/>
                </a:cubicBezTo>
                <a:cubicBezTo>
                  <a:pt x="3570103" y="616522"/>
                  <a:pt x="2802006" y="787829"/>
                  <a:pt x="1812325" y="725710"/>
                </a:cubicBezTo>
                <a:cubicBezTo>
                  <a:pt x="806512" y="723032"/>
                  <a:pt x="17732" y="571726"/>
                  <a:pt x="0" y="362855"/>
                </a:cubicBezTo>
                <a:close/>
              </a:path>
            </a:pathLst>
          </a:custGeom>
          <a:noFill/>
          <a:ln w="69850">
            <a:solidFill>
              <a:srgbClr val="FF0000"/>
            </a:solidFill>
            <a:extLst>
              <a:ext uri="{C807C97D-BFC1-408E-A445-0C87EB9F89A2}">
                <ask:lineSketchStyleProps xmlns:ask="http://schemas.microsoft.com/office/drawing/2018/sketchyshapes" sd="1219033472">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2B3D87A-E58E-0F06-296E-E9B7F56BCC87}"/>
              </a:ext>
            </a:extLst>
          </p:cNvPr>
          <p:cNvSpPr txBox="1"/>
          <p:nvPr/>
        </p:nvSpPr>
        <p:spPr>
          <a:xfrm>
            <a:off x="3459289" y="3589382"/>
            <a:ext cx="1797287" cy="553998"/>
          </a:xfrm>
          <a:prstGeom prst="rect">
            <a:avLst/>
          </a:prstGeom>
          <a:noFill/>
        </p:spPr>
        <p:txBody>
          <a:bodyPr wrap="none" rtlCol="0">
            <a:spAutoFit/>
          </a:bodyPr>
          <a:lstStyle/>
          <a:p>
            <a:r>
              <a:rPr lang="en-US" sz="3000" dirty="0">
                <a:solidFill>
                  <a:srgbClr val="FF0000"/>
                </a:solidFill>
                <a:latin typeface="Times New Roman" panose="02020603050405020304" pitchFamily="18" charset="0"/>
                <a:cs typeface="Times New Roman" panose="02020603050405020304" pitchFamily="18" charset="0"/>
              </a:rPr>
              <a:t>Our Focus</a:t>
            </a:r>
          </a:p>
        </p:txBody>
      </p:sp>
    </p:spTree>
    <p:extLst>
      <p:ext uri="{BB962C8B-B14F-4D97-AF65-F5344CB8AC3E}">
        <p14:creationId xmlns:p14="http://schemas.microsoft.com/office/powerpoint/2010/main" val="2119589616"/>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DE6F-EC31-8FC4-5776-F5DEC79A2E0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78C640C-40FE-FCF1-64FB-1C3ECB15BCCE}"/>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2A761770-44DE-0756-A768-2BC3F2BC5A44}"/>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296CDD6-6407-1054-019E-BA411163C2AC}"/>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Tree>
    <p:extLst>
      <p:ext uri="{BB962C8B-B14F-4D97-AF65-F5344CB8AC3E}">
        <p14:creationId xmlns:p14="http://schemas.microsoft.com/office/powerpoint/2010/main" val="1003105891"/>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24308-F2B6-2128-FB02-CA0D02F1EB3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9D6ED4E-E8E5-E558-2F81-F2CA901C9F91}"/>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9C8AFE51-05C5-F984-E491-37B2F08E48D3}"/>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63FA6DE-963A-6EBB-8251-3FAA7F0FD9A0}"/>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E54E7E8C-43C3-43C9-4259-0DABD061500C}"/>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7" name="TextBox 6">
            <a:extLst>
              <a:ext uri="{FF2B5EF4-FFF2-40B4-BE49-F238E27FC236}">
                <a16:creationId xmlns:a16="http://schemas.microsoft.com/office/drawing/2014/main" id="{EEF28FB5-C657-4375-3CB5-BACCCAF99B38}"/>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9" name="TextBox 8">
            <a:extLst>
              <a:ext uri="{FF2B5EF4-FFF2-40B4-BE49-F238E27FC236}">
                <a16:creationId xmlns:a16="http://schemas.microsoft.com/office/drawing/2014/main" id="{E3F83F9C-D8FE-02EA-2E2A-DD0A1C4B6F11}"/>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Rectangle 10">
            <a:extLst>
              <a:ext uri="{FF2B5EF4-FFF2-40B4-BE49-F238E27FC236}">
                <a16:creationId xmlns:a16="http://schemas.microsoft.com/office/drawing/2014/main" id="{D16890F8-C39D-9F52-4322-BF3055B01862}"/>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270797"/>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DB5B-2EB8-99F1-5D27-B7DE542E1325}"/>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9D1E2116-853C-CD5A-F31B-40C8B7C615D4}"/>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894DFEED-391B-E6C5-4886-EBE11CA64C84}"/>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37BB2A6-BF16-9B08-08BA-DC9ABBC9C8DB}"/>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04E8E50E-70CE-0C67-BEFD-5DB460BA6A62}"/>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7" name="TextBox 6">
            <a:extLst>
              <a:ext uri="{FF2B5EF4-FFF2-40B4-BE49-F238E27FC236}">
                <a16:creationId xmlns:a16="http://schemas.microsoft.com/office/drawing/2014/main" id="{687ADB50-CBB3-E406-3A47-7D0EA903ED37}"/>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8" name="TextBox 7">
            <a:extLst>
              <a:ext uri="{FF2B5EF4-FFF2-40B4-BE49-F238E27FC236}">
                <a16:creationId xmlns:a16="http://schemas.microsoft.com/office/drawing/2014/main" id="{FC411999-1E8A-8CA9-6E02-283B092D3D33}"/>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9" name="TextBox 8">
            <a:extLst>
              <a:ext uri="{FF2B5EF4-FFF2-40B4-BE49-F238E27FC236}">
                <a16:creationId xmlns:a16="http://schemas.microsoft.com/office/drawing/2014/main" id="{96465F3E-4C19-045E-905D-35D7D9029867}"/>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FB4BED7D-4B5E-952B-86A8-299F5F8EA4E3}"/>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1" name="Rectangle 10">
            <a:extLst>
              <a:ext uri="{FF2B5EF4-FFF2-40B4-BE49-F238E27FC236}">
                <a16:creationId xmlns:a16="http://schemas.microsoft.com/office/drawing/2014/main" id="{0B99D3DB-B510-22AB-1991-A1915A4878C7}"/>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6749138"/>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B1B1B-7C7F-0D23-FC0A-0191D992B12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3D9B647-F77F-7408-1713-249CDF5F30EE}"/>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2A96CA1-550D-FF52-7A6C-87D4B134651B}"/>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7A8BC6A-D1FB-5D5E-F335-368C9AC742C1}"/>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6FEBDB26-6BE4-FDD1-0A01-880F943359F5}"/>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4" name="TextBox 3">
            <a:extLst>
              <a:ext uri="{FF2B5EF4-FFF2-40B4-BE49-F238E27FC236}">
                <a16:creationId xmlns:a16="http://schemas.microsoft.com/office/drawing/2014/main" id="{FE5AE08A-01D4-5FE3-CB15-2C26BB4F3C9B}"/>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6" name="TextBox 5">
            <a:extLst>
              <a:ext uri="{FF2B5EF4-FFF2-40B4-BE49-F238E27FC236}">
                <a16:creationId xmlns:a16="http://schemas.microsoft.com/office/drawing/2014/main" id="{6F3D0DA5-E2E5-E515-AA17-165F9624A7FA}"/>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8" name="TextBox 7">
            <a:extLst>
              <a:ext uri="{FF2B5EF4-FFF2-40B4-BE49-F238E27FC236}">
                <a16:creationId xmlns:a16="http://schemas.microsoft.com/office/drawing/2014/main" id="{07F37804-12AF-C717-C3B7-E1C04B1DBC2B}"/>
              </a:ext>
            </a:extLst>
          </p:cNvPr>
          <p:cNvSpPr txBox="1"/>
          <p:nvPr/>
        </p:nvSpPr>
        <p:spPr>
          <a:xfrm>
            <a:off x="558943" y="4755944"/>
            <a:ext cx="4247536" cy="1015663"/>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e.g., market data multicast in financial exchanges</a:t>
            </a:r>
          </a:p>
        </p:txBody>
      </p:sp>
      <p:sp>
        <p:nvSpPr>
          <p:cNvPr id="9" name="TextBox 8">
            <a:extLst>
              <a:ext uri="{FF2B5EF4-FFF2-40B4-BE49-F238E27FC236}">
                <a16:creationId xmlns:a16="http://schemas.microsoft.com/office/drawing/2014/main" id="{33BF1DE6-DDD3-1E07-36B2-A6227D23FF9E}"/>
              </a:ext>
            </a:extLst>
          </p:cNvPr>
          <p:cNvSpPr txBox="1"/>
          <p:nvPr/>
        </p:nvSpPr>
        <p:spPr>
          <a:xfrm>
            <a:off x="6567336" y="4755944"/>
            <a:ext cx="5065721" cy="1015663"/>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e.g., traders submitting orders to a financial exchange server</a:t>
            </a:r>
          </a:p>
        </p:txBody>
      </p:sp>
      <p:sp>
        <p:nvSpPr>
          <p:cNvPr id="10" name="TextBox 9">
            <a:extLst>
              <a:ext uri="{FF2B5EF4-FFF2-40B4-BE49-F238E27FC236}">
                <a16:creationId xmlns:a16="http://schemas.microsoft.com/office/drawing/2014/main" id="{CEF57110-9383-C7A7-E2DF-8D0B3E533F7F}"/>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TextBox 10">
            <a:extLst>
              <a:ext uri="{FF2B5EF4-FFF2-40B4-BE49-F238E27FC236}">
                <a16:creationId xmlns:a16="http://schemas.microsoft.com/office/drawing/2014/main" id="{02675D14-DB97-4FA8-755C-10F1F7DC3754}"/>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3" name="Rectangle 12">
            <a:extLst>
              <a:ext uri="{FF2B5EF4-FFF2-40B4-BE49-F238E27FC236}">
                <a16:creationId xmlns:a16="http://schemas.microsoft.com/office/drawing/2014/main" id="{9B93914B-4D43-3516-76BA-6B9D454F0297}"/>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9414"/>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E7AE8-23B2-E205-FD0E-4E29AE46607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026211A-E2D6-417B-F9B3-A095CBA8DC4E}"/>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1AB33D0A-C428-1366-C3AE-B208287F0BFC}"/>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44696ED-4E93-4B0B-AE4E-ED3E804815A4}"/>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973039A3-A80B-D2B1-8A5C-AF12899E6760}"/>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3" name="Rounded Rectangle 2">
            <a:extLst>
              <a:ext uri="{FF2B5EF4-FFF2-40B4-BE49-F238E27FC236}">
                <a16:creationId xmlns:a16="http://schemas.microsoft.com/office/drawing/2014/main" id="{7B05D2CD-4141-39F8-70E8-855B669DC9EF}"/>
              </a:ext>
            </a:extLst>
          </p:cNvPr>
          <p:cNvSpPr/>
          <p:nvPr/>
        </p:nvSpPr>
        <p:spPr>
          <a:xfrm>
            <a:off x="472966" y="4755944"/>
            <a:ext cx="4482094" cy="1213932"/>
          </a:xfrm>
          <a:custGeom>
            <a:avLst/>
            <a:gdLst>
              <a:gd name="csX0" fmla="*/ 0 w 4482094"/>
              <a:gd name="csY0" fmla="*/ 202326 h 1213932"/>
              <a:gd name="csX1" fmla="*/ 202326 w 4482094"/>
              <a:gd name="csY1" fmla="*/ 0 h 1213932"/>
              <a:gd name="csX2" fmla="*/ 703269 w 4482094"/>
              <a:gd name="csY2" fmla="*/ 0 h 1213932"/>
              <a:gd name="csX3" fmla="*/ 1163437 w 4482094"/>
              <a:gd name="csY3" fmla="*/ 0 h 1213932"/>
              <a:gd name="csX4" fmla="*/ 1705155 w 4482094"/>
              <a:gd name="csY4" fmla="*/ 0 h 1213932"/>
              <a:gd name="csX5" fmla="*/ 2328421 w 4482094"/>
              <a:gd name="csY5" fmla="*/ 0 h 1213932"/>
              <a:gd name="csX6" fmla="*/ 2992461 w 4482094"/>
              <a:gd name="csY6" fmla="*/ 0 h 1213932"/>
              <a:gd name="csX7" fmla="*/ 3534179 w 4482094"/>
              <a:gd name="csY7" fmla="*/ 0 h 1213932"/>
              <a:gd name="csX8" fmla="*/ 4279768 w 4482094"/>
              <a:gd name="csY8" fmla="*/ 0 h 1213932"/>
              <a:gd name="csX9" fmla="*/ 4482094 w 4482094"/>
              <a:gd name="csY9" fmla="*/ 202326 h 1213932"/>
              <a:gd name="csX10" fmla="*/ 4482094 w 4482094"/>
              <a:gd name="csY10" fmla="*/ 598873 h 1213932"/>
              <a:gd name="csX11" fmla="*/ 4482094 w 4482094"/>
              <a:gd name="csY11" fmla="*/ 1011606 h 1213932"/>
              <a:gd name="csX12" fmla="*/ 4279768 w 4482094"/>
              <a:gd name="csY12" fmla="*/ 1213932 h 1213932"/>
              <a:gd name="csX13" fmla="*/ 3615727 w 4482094"/>
              <a:gd name="csY13" fmla="*/ 1213932 h 1213932"/>
              <a:gd name="csX14" fmla="*/ 2992461 w 4482094"/>
              <a:gd name="csY14" fmla="*/ 1213932 h 1213932"/>
              <a:gd name="csX15" fmla="*/ 2369195 w 4482094"/>
              <a:gd name="csY15" fmla="*/ 1213932 h 1213932"/>
              <a:gd name="csX16" fmla="*/ 1909027 w 4482094"/>
              <a:gd name="csY16" fmla="*/ 1213932 h 1213932"/>
              <a:gd name="csX17" fmla="*/ 1448858 w 4482094"/>
              <a:gd name="csY17" fmla="*/ 1213932 h 1213932"/>
              <a:gd name="csX18" fmla="*/ 988690 w 4482094"/>
              <a:gd name="csY18" fmla="*/ 1213932 h 1213932"/>
              <a:gd name="csX19" fmla="*/ 202326 w 4482094"/>
              <a:gd name="csY19" fmla="*/ 1213932 h 1213932"/>
              <a:gd name="csX20" fmla="*/ 0 w 4482094"/>
              <a:gd name="csY20" fmla="*/ 1011606 h 1213932"/>
              <a:gd name="csX21" fmla="*/ 0 w 4482094"/>
              <a:gd name="csY21" fmla="*/ 623152 h 1213932"/>
              <a:gd name="csX22" fmla="*/ 0 w 4482094"/>
              <a:gd name="csY22"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82094" h="1213932" fill="none" extrusionOk="0">
                <a:moveTo>
                  <a:pt x="0" y="202326"/>
                </a:moveTo>
                <a:cubicBezTo>
                  <a:pt x="26695" y="78017"/>
                  <a:pt x="75354" y="6686"/>
                  <a:pt x="202326" y="0"/>
                </a:cubicBezTo>
                <a:cubicBezTo>
                  <a:pt x="310846" y="-50018"/>
                  <a:pt x="593216" y="34946"/>
                  <a:pt x="703269" y="0"/>
                </a:cubicBezTo>
                <a:cubicBezTo>
                  <a:pt x="813322" y="-34946"/>
                  <a:pt x="955403" y="25942"/>
                  <a:pt x="1163437" y="0"/>
                </a:cubicBezTo>
                <a:cubicBezTo>
                  <a:pt x="1371471" y="-25942"/>
                  <a:pt x="1593315" y="40294"/>
                  <a:pt x="1705155" y="0"/>
                </a:cubicBezTo>
                <a:cubicBezTo>
                  <a:pt x="1816995" y="-40294"/>
                  <a:pt x="2122609" y="42548"/>
                  <a:pt x="2328421" y="0"/>
                </a:cubicBezTo>
                <a:cubicBezTo>
                  <a:pt x="2534233" y="-42548"/>
                  <a:pt x="2780578" y="59133"/>
                  <a:pt x="2992461" y="0"/>
                </a:cubicBezTo>
                <a:cubicBezTo>
                  <a:pt x="3204344" y="-59133"/>
                  <a:pt x="3421836" y="36180"/>
                  <a:pt x="3534179" y="0"/>
                </a:cubicBezTo>
                <a:cubicBezTo>
                  <a:pt x="3646522" y="-36180"/>
                  <a:pt x="4090705" y="35347"/>
                  <a:pt x="4279768" y="0"/>
                </a:cubicBezTo>
                <a:cubicBezTo>
                  <a:pt x="4374039" y="17153"/>
                  <a:pt x="4478954" y="94594"/>
                  <a:pt x="4482094" y="202326"/>
                </a:cubicBezTo>
                <a:cubicBezTo>
                  <a:pt x="4499112" y="317165"/>
                  <a:pt x="4466703" y="476425"/>
                  <a:pt x="4482094" y="598873"/>
                </a:cubicBezTo>
                <a:cubicBezTo>
                  <a:pt x="4497485" y="721321"/>
                  <a:pt x="4433159" y="915363"/>
                  <a:pt x="4482094" y="1011606"/>
                </a:cubicBezTo>
                <a:cubicBezTo>
                  <a:pt x="4500655" y="1107200"/>
                  <a:pt x="4371140" y="1231747"/>
                  <a:pt x="4279768" y="1213932"/>
                </a:cubicBezTo>
                <a:cubicBezTo>
                  <a:pt x="3949763" y="1262404"/>
                  <a:pt x="3886087" y="1171221"/>
                  <a:pt x="3615727" y="1213932"/>
                </a:cubicBezTo>
                <a:cubicBezTo>
                  <a:pt x="3345367" y="1256643"/>
                  <a:pt x="3188927" y="1158815"/>
                  <a:pt x="2992461" y="1213932"/>
                </a:cubicBezTo>
                <a:cubicBezTo>
                  <a:pt x="2795995" y="1269049"/>
                  <a:pt x="2642429" y="1202278"/>
                  <a:pt x="2369195" y="1213932"/>
                </a:cubicBezTo>
                <a:cubicBezTo>
                  <a:pt x="2095961" y="1225586"/>
                  <a:pt x="2124900" y="1207898"/>
                  <a:pt x="1909027" y="1213932"/>
                </a:cubicBezTo>
                <a:cubicBezTo>
                  <a:pt x="1693154" y="1219966"/>
                  <a:pt x="1674914" y="1164025"/>
                  <a:pt x="1448858" y="1213932"/>
                </a:cubicBezTo>
                <a:cubicBezTo>
                  <a:pt x="1222802" y="1263839"/>
                  <a:pt x="1114471" y="1165257"/>
                  <a:pt x="988690" y="1213932"/>
                </a:cubicBezTo>
                <a:cubicBezTo>
                  <a:pt x="862909" y="1262607"/>
                  <a:pt x="434083" y="1185791"/>
                  <a:pt x="202326" y="1213932"/>
                </a:cubicBezTo>
                <a:cubicBezTo>
                  <a:pt x="103782" y="1218548"/>
                  <a:pt x="15230" y="1124784"/>
                  <a:pt x="0" y="1011606"/>
                </a:cubicBezTo>
                <a:cubicBezTo>
                  <a:pt x="-5740" y="817584"/>
                  <a:pt x="4281" y="721549"/>
                  <a:pt x="0" y="623152"/>
                </a:cubicBezTo>
                <a:cubicBezTo>
                  <a:pt x="-4281" y="524755"/>
                  <a:pt x="41708" y="293725"/>
                  <a:pt x="0" y="202326"/>
                </a:cubicBezTo>
                <a:close/>
              </a:path>
              <a:path w="4482094" h="1213932" stroke="0" extrusionOk="0">
                <a:moveTo>
                  <a:pt x="0" y="202326"/>
                </a:moveTo>
                <a:cubicBezTo>
                  <a:pt x="-16723" y="104191"/>
                  <a:pt x="101543" y="-28700"/>
                  <a:pt x="202326" y="0"/>
                </a:cubicBezTo>
                <a:cubicBezTo>
                  <a:pt x="436127" y="-38849"/>
                  <a:pt x="523360" y="22818"/>
                  <a:pt x="784818" y="0"/>
                </a:cubicBezTo>
                <a:cubicBezTo>
                  <a:pt x="1046276" y="-22818"/>
                  <a:pt x="1235129" y="60004"/>
                  <a:pt x="1448858" y="0"/>
                </a:cubicBezTo>
                <a:cubicBezTo>
                  <a:pt x="1662587" y="-60004"/>
                  <a:pt x="1803950" y="17905"/>
                  <a:pt x="1909027" y="0"/>
                </a:cubicBezTo>
                <a:cubicBezTo>
                  <a:pt x="2014104" y="-17905"/>
                  <a:pt x="2245709" y="15579"/>
                  <a:pt x="2369195" y="0"/>
                </a:cubicBezTo>
                <a:cubicBezTo>
                  <a:pt x="2492681" y="-15579"/>
                  <a:pt x="2662699" y="41827"/>
                  <a:pt x="2910912" y="0"/>
                </a:cubicBezTo>
                <a:cubicBezTo>
                  <a:pt x="3159125" y="-41827"/>
                  <a:pt x="3274654" y="25262"/>
                  <a:pt x="3493404" y="0"/>
                </a:cubicBezTo>
                <a:cubicBezTo>
                  <a:pt x="3712154" y="-25262"/>
                  <a:pt x="4011493" y="69021"/>
                  <a:pt x="4279768" y="0"/>
                </a:cubicBezTo>
                <a:cubicBezTo>
                  <a:pt x="4400494" y="30317"/>
                  <a:pt x="4459968" y="67561"/>
                  <a:pt x="4482094" y="202326"/>
                </a:cubicBezTo>
                <a:cubicBezTo>
                  <a:pt x="4512683" y="389701"/>
                  <a:pt x="4438350" y="470058"/>
                  <a:pt x="4482094" y="598873"/>
                </a:cubicBezTo>
                <a:cubicBezTo>
                  <a:pt x="4525838" y="727688"/>
                  <a:pt x="4439543" y="818110"/>
                  <a:pt x="4482094" y="1011606"/>
                </a:cubicBezTo>
                <a:cubicBezTo>
                  <a:pt x="4501699" y="1146361"/>
                  <a:pt x="4403210" y="1213086"/>
                  <a:pt x="4279768" y="1213932"/>
                </a:cubicBezTo>
                <a:cubicBezTo>
                  <a:pt x="4053273" y="1262350"/>
                  <a:pt x="3993693" y="1199585"/>
                  <a:pt x="3819600" y="1213932"/>
                </a:cubicBezTo>
                <a:cubicBezTo>
                  <a:pt x="3645507" y="1228279"/>
                  <a:pt x="3564206" y="1206396"/>
                  <a:pt x="3359431" y="1213932"/>
                </a:cubicBezTo>
                <a:cubicBezTo>
                  <a:pt x="3154656" y="1221468"/>
                  <a:pt x="3031699" y="1166407"/>
                  <a:pt x="2899263" y="1213932"/>
                </a:cubicBezTo>
                <a:cubicBezTo>
                  <a:pt x="2766827" y="1261457"/>
                  <a:pt x="2645038" y="1211015"/>
                  <a:pt x="2439094" y="1213932"/>
                </a:cubicBezTo>
                <a:cubicBezTo>
                  <a:pt x="2233150" y="1216849"/>
                  <a:pt x="2142178" y="1158375"/>
                  <a:pt x="1856602" y="1213932"/>
                </a:cubicBezTo>
                <a:cubicBezTo>
                  <a:pt x="1571026" y="1269489"/>
                  <a:pt x="1587404" y="1184297"/>
                  <a:pt x="1396434" y="1213932"/>
                </a:cubicBezTo>
                <a:cubicBezTo>
                  <a:pt x="1205464" y="1243567"/>
                  <a:pt x="999372" y="1142548"/>
                  <a:pt x="732393" y="1213932"/>
                </a:cubicBezTo>
                <a:cubicBezTo>
                  <a:pt x="465414" y="1285316"/>
                  <a:pt x="429827" y="1204260"/>
                  <a:pt x="202326" y="1213932"/>
                </a:cubicBezTo>
                <a:cubicBezTo>
                  <a:pt x="98367" y="1220249"/>
                  <a:pt x="15313" y="1128582"/>
                  <a:pt x="0" y="1011606"/>
                </a:cubicBezTo>
                <a:cubicBezTo>
                  <a:pt x="-22348" y="922605"/>
                  <a:pt x="18797" y="799667"/>
                  <a:pt x="0" y="615059"/>
                </a:cubicBezTo>
                <a:cubicBezTo>
                  <a:pt x="-18797" y="430451"/>
                  <a:pt x="27808" y="389567"/>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247587333">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7DF3EBA0-ECEC-CFC3-CDB1-D6D0D4982F8F}"/>
              </a:ext>
            </a:extLst>
          </p:cNvPr>
          <p:cNvSpPr/>
          <p:nvPr/>
        </p:nvSpPr>
        <p:spPr>
          <a:xfrm>
            <a:off x="6615105" y="4696264"/>
            <a:ext cx="4658815" cy="1213932"/>
          </a:xfrm>
          <a:custGeom>
            <a:avLst/>
            <a:gdLst>
              <a:gd name="csX0" fmla="*/ 0 w 4658815"/>
              <a:gd name="csY0" fmla="*/ 202326 h 1213932"/>
              <a:gd name="csX1" fmla="*/ 202326 w 4658815"/>
              <a:gd name="csY1" fmla="*/ 0 h 1213932"/>
              <a:gd name="csX2" fmla="*/ 776638 w 4658815"/>
              <a:gd name="csY2" fmla="*/ 0 h 1213932"/>
              <a:gd name="csX3" fmla="*/ 1223325 w 4658815"/>
              <a:gd name="csY3" fmla="*/ 0 h 1213932"/>
              <a:gd name="csX4" fmla="*/ 1797637 w 4658815"/>
              <a:gd name="csY4" fmla="*/ 0 h 1213932"/>
              <a:gd name="csX5" fmla="*/ 2201783 w 4658815"/>
              <a:gd name="csY5" fmla="*/ 0 h 1213932"/>
              <a:gd name="csX6" fmla="*/ 2776095 w 4658815"/>
              <a:gd name="csY6" fmla="*/ 0 h 1213932"/>
              <a:gd name="csX7" fmla="*/ 3222782 w 4658815"/>
              <a:gd name="csY7" fmla="*/ 0 h 1213932"/>
              <a:gd name="csX8" fmla="*/ 3626927 w 4658815"/>
              <a:gd name="csY8" fmla="*/ 0 h 1213932"/>
              <a:gd name="csX9" fmla="*/ 4456489 w 4658815"/>
              <a:gd name="csY9" fmla="*/ 0 h 1213932"/>
              <a:gd name="csX10" fmla="*/ 4658815 w 4658815"/>
              <a:gd name="csY10" fmla="*/ 202326 h 1213932"/>
              <a:gd name="csX11" fmla="*/ 4658815 w 4658815"/>
              <a:gd name="csY11" fmla="*/ 615059 h 1213932"/>
              <a:gd name="csX12" fmla="*/ 4658815 w 4658815"/>
              <a:gd name="csY12" fmla="*/ 1011606 h 1213932"/>
              <a:gd name="csX13" fmla="*/ 4456489 w 4658815"/>
              <a:gd name="csY13" fmla="*/ 1213932 h 1213932"/>
              <a:gd name="csX14" fmla="*/ 4052344 w 4658815"/>
              <a:gd name="csY14" fmla="*/ 1213932 h 1213932"/>
              <a:gd name="csX15" fmla="*/ 3435490 w 4658815"/>
              <a:gd name="csY15" fmla="*/ 1213932 h 1213932"/>
              <a:gd name="csX16" fmla="*/ 2903720 w 4658815"/>
              <a:gd name="csY16" fmla="*/ 1213932 h 1213932"/>
              <a:gd name="csX17" fmla="*/ 2286866 w 4658815"/>
              <a:gd name="csY17" fmla="*/ 1213932 h 1213932"/>
              <a:gd name="csX18" fmla="*/ 1712554 w 4658815"/>
              <a:gd name="csY18" fmla="*/ 1213932 h 1213932"/>
              <a:gd name="csX19" fmla="*/ 1223325 w 4658815"/>
              <a:gd name="csY19" fmla="*/ 1213932 h 1213932"/>
              <a:gd name="csX20" fmla="*/ 202326 w 4658815"/>
              <a:gd name="csY20" fmla="*/ 1213932 h 1213932"/>
              <a:gd name="csX21" fmla="*/ 0 w 4658815"/>
              <a:gd name="csY21" fmla="*/ 1011606 h 1213932"/>
              <a:gd name="csX22" fmla="*/ 0 w 4658815"/>
              <a:gd name="csY22" fmla="*/ 606966 h 1213932"/>
              <a:gd name="csX23" fmla="*/ 0 w 4658815"/>
              <a:gd name="csY23"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658815" h="1213932" fill="none" extrusionOk="0">
                <a:moveTo>
                  <a:pt x="0" y="202326"/>
                </a:moveTo>
                <a:cubicBezTo>
                  <a:pt x="-13865" y="118417"/>
                  <a:pt x="86826" y="-4987"/>
                  <a:pt x="202326" y="0"/>
                </a:cubicBezTo>
                <a:cubicBezTo>
                  <a:pt x="461530" y="-6300"/>
                  <a:pt x="508999" y="20240"/>
                  <a:pt x="776638" y="0"/>
                </a:cubicBezTo>
                <a:cubicBezTo>
                  <a:pt x="1044277" y="-20240"/>
                  <a:pt x="1043875" y="3992"/>
                  <a:pt x="1223325" y="0"/>
                </a:cubicBezTo>
                <a:cubicBezTo>
                  <a:pt x="1402775" y="-3992"/>
                  <a:pt x="1646824" y="1804"/>
                  <a:pt x="1797637" y="0"/>
                </a:cubicBezTo>
                <a:cubicBezTo>
                  <a:pt x="1948450" y="-1804"/>
                  <a:pt x="2058582" y="8185"/>
                  <a:pt x="2201783" y="0"/>
                </a:cubicBezTo>
                <a:cubicBezTo>
                  <a:pt x="2344984" y="-8185"/>
                  <a:pt x="2546989" y="67223"/>
                  <a:pt x="2776095" y="0"/>
                </a:cubicBezTo>
                <a:cubicBezTo>
                  <a:pt x="3005201" y="-67223"/>
                  <a:pt x="3036691" y="4785"/>
                  <a:pt x="3222782" y="0"/>
                </a:cubicBezTo>
                <a:cubicBezTo>
                  <a:pt x="3408873" y="-4785"/>
                  <a:pt x="3499934" y="35826"/>
                  <a:pt x="3626927" y="0"/>
                </a:cubicBezTo>
                <a:cubicBezTo>
                  <a:pt x="3753921" y="-35826"/>
                  <a:pt x="4236949" y="27302"/>
                  <a:pt x="4456489" y="0"/>
                </a:cubicBezTo>
                <a:cubicBezTo>
                  <a:pt x="4562502" y="21437"/>
                  <a:pt x="4685616" y="98271"/>
                  <a:pt x="4658815" y="202326"/>
                </a:cubicBezTo>
                <a:cubicBezTo>
                  <a:pt x="4699777" y="365515"/>
                  <a:pt x="4655207" y="490933"/>
                  <a:pt x="4658815" y="615059"/>
                </a:cubicBezTo>
                <a:cubicBezTo>
                  <a:pt x="4662423" y="739185"/>
                  <a:pt x="4635272" y="887276"/>
                  <a:pt x="4658815" y="1011606"/>
                </a:cubicBezTo>
                <a:cubicBezTo>
                  <a:pt x="4669788" y="1150168"/>
                  <a:pt x="4587821" y="1233312"/>
                  <a:pt x="4456489" y="1213932"/>
                </a:cubicBezTo>
                <a:cubicBezTo>
                  <a:pt x="4299887" y="1239580"/>
                  <a:pt x="4187456" y="1179398"/>
                  <a:pt x="4052344" y="1213932"/>
                </a:cubicBezTo>
                <a:cubicBezTo>
                  <a:pt x="3917233" y="1248466"/>
                  <a:pt x="3661664" y="1199401"/>
                  <a:pt x="3435490" y="1213932"/>
                </a:cubicBezTo>
                <a:cubicBezTo>
                  <a:pt x="3209316" y="1228463"/>
                  <a:pt x="3082040" y="1205725"/>
                  <a:pt x="2903720" y="1213932"/>
                </a:cubicBezTo>
                <a:cubicBezTo>
                  <a:pt x="2725400" y="1222139"/>
                  <a:pt x="2587397" y="1145467"/>
                  <a:pt x="2286866" y="1213932"/>
                </a:cubicBezTo>
                <a:cubicBezTo>
                  <a:pt x="1986335" y="1282397"/>
                  <a:pt x="1936315" y="1195658"/>
                  <a:pt x="1712554" y="1213932"/>
                </a:cubicBezTo>
                <a:cubicBezTo>
                  <a:pt x="1488793" y="1232206"/>
                  <a:pt x="1435692" y="1196997"/>
                  <a:pt x="1223325" y="1213932"/>
                </a:cubicBezTo>
                <a:cubicBezTo>
                  <a:pt x="1010958" y="1230867"/>
                  <a:pt x="612559" y="1189547"/>
                  <a:pt x="202326" y="1213932"/>
                </a:cubicBezTo>
                <a:cubicBezTo>
                  <a:pt x="90953" y="1230726"/>
                  <a:pt x="13269" y="1111441"/>
                  <a:pt x="0" y="1011606"/>
                </a:cubicBezTo>
                <a:cubicBezTo>
                  <a:pt x="-45144" y="925982"/>
                  <a:pt x="36711" y="708230"/>
                  <a:pt x="0" y="606966"/>
                </a:cubicBezTo>
                <a:cubicBezTo>
                  <a:pt x="-36711" y="505702"/>
                  <a:pt x="11056" y="331283"/>
                  <a:pt x="0" y="202326"/>
                </a:cubicBezTo>
                <a:close/>
              </a:path>
              <a:path w="4658815" h="1213932" stroke="0" extrusionOk="0">
                <a:moveTo>
                  <a:pt x="0" y="202326"/>
                </a:moveTo>
                <a:cubicBezTo>
                  <a:pt x="-4482" y="87820"/>
                  <a:pt x="67944" y="8497"/>
                  <a:pt x="202326" y="0"/>
                </a:cubicBezTo>
                <a:cubicBezTo>
                  <a:pt x="485467" y="-16537"/>
                  <a:pt x="622590" y="33956"/>
                  <a:pt x="819180" y="0"/>
                </a:cubicBezTo>
                <a:cubicBezTo>
                  <a:pt x="1015770" y="-33956"/>
                  <a:pt x="1101224" y="48252"/>
                  <a:pt x="1308408" y="0"/>
                </a:cubicBezTo>
                <a:cubicBezTo>
                  <a:pt x="1515592" y="-48252"/>
                  <a:pt x="1635004" y="50099"/>
                  <a:pt x="1755095" y="0"/>
                </a:cubicBezTo>
                <a:cubicBezTo>
                  <a:pt x="1875186" y="-50099"/>
                  <a:pt x="2191388" y="4252"/>
                  <a:pt x="2329408" y="0"/>
                </a:cubicBezTo>
                <a:cubicBezTo>
                  <a:pt x="2467428" y="-4252"/>
                  <a:pt x="2666761" y="55587"/>
                  <a:pt x="2818636" y="0"/>
                </a:cubicBezTo>
                <a:cubicBezTo>
                  <a:pt x="2970511" y="-55587"/>
                  <a:pt x="3287266" y="29637"/>
                  <a:pt x="3435490" y="0"/>
                </a:cubicBezTo>
                <a:cubicBezTo>
                  <a:pt x="3583714" y="-29637"/>
                  <a:pt x="3683091" y="7055"/>
                  <a:pt x="3882177" y="0"/>
                </a:cubicBezTo>
                <a:cubicBezTo>
                  <a:pt x="4081263" y="-7055"/>
                  <a:pt x="4263947" y="22576"/>
                  <a:pt x="4456489" y="0"/>
                </a:cubicBezTo>
                <a:cubicBezTo>
                  <a:pt x="4580725" y="3004"/>
                  <a:pt x="4652930" y="89632"/>
                  <a:pt x="4658815" y="202326"/>
                </a:cubicBezTo>
                <a:cubicBezTo>
                  <a:pt x="4688865" y="325324"/>
                  <a:pt x="4634746" y="457901"/>
                  <a:pt x="4658815" y="606966"/>
                </a:cubicBezTo>
                <a:cubicBezTo>
                  <a:pt x="4682884" y="756031"/>
                  <a:pt x="4622469" y="844144"/>
                  <a:pt x="4658815" y="1011606"/>
                </a:cubicBezTo>
                <a:cubicBezTo>
                  <a:pt x="4670900" y="1138151"/>
                  <a:pt x="4586142" y="1198250"/>
                  <a:pt x="4456489" y="1213932"/>
                </a:cubicBezTo>
                <a:cubicBezTo>
                  <a:pt x="4305302" y="1251813"/>
                  <a:pt x="4166599" y="1175047"/>
                  <a:pt x="3924719" y="1213932"/>
                </a:cubicBezTo>
                <a:cubicBezTo>
                  <a:pt x="3682839" y="1252817"/>
                  <a:pt x="3636809" y="1211537"/>
                  <a:pt x="3392948" y="1213932"/>
                </a:cubicBezTo>
                <a:cubicBezTo>
                  <a:pt x="3149087" y="1216327"/>
                  <a:pt x="3019653" y="1187995"/>
                  <a:pt x="2776095" y="1213932"/>
                </a:cubicBezTo>
                <a:cubicBezTo>
                  <a:pt x="2532537" y="1239869"/>
                  <a:pt x="2374460" y="1202954"/>
                  <a:pt x="2244324" y="1213932"/>
                </a:cubicBezTo>
                <a:cubicBezTo>
                  <a:pt x="2114188" y="1224910"/>
                  <a:pt x="2039497" y="1172031"/>
                  <a:pt x="1840179" y="1213932"/>
                </a:cubicBezTo>
                <a:cubicBezTo>
                  <a:pt x="1640861" y="1255833"/>
                  <a:pt x="1583331" y="1207787"/>
                  <a:pt x="1393492" y="1213932"/>
                </a:cubicBezTo>
                <a:cubicBezTo>
                  <a:pt x="1203653" y="1220077"/>
                  <a:pt x="914863" y="1201446"/>
                  <a:pt x="776638" y="1213932"/>
                </a:cubicBezTo>
                <a:cubicBezTo>
                  <a:pt x="638413" y="1226418"/>
                  <a:pt x="437328" y="1174067"/>
                  <a:pt x="202326" y="1213932"/>
                </a:cubicBezTo>
                <a:cubicBezTo>
                  <a:pt x="93009" y="1218734"/>
                  <a:pt x="-19492" y="1133627"/>
                  <a:pt x="0" y="1011606"/>
                </a:cubicBezTo>
                <a:cubicBezTo>
                  <a:pt x="-34041" y="867494"/>
                  <a:pt x="19408" y="757014"/>
                  <a:pt x="0" y="598873"/>
                </a:cubicBezTo>
                <a:cubicBezTo>
                  <a:pt x="-19408" y="440732"/>
                  <a:pt x="27962" y="330545"/>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03D777F-D3E8-D744-4DEF-24AD7856E762}"/>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6" name="TextBox 5">
            <a:extLst>
              <a:ext uri="{FF2B5EF4-FFF2-40B4-BE49-F238E27FC236}">
                <a16:creationId xmlns:a16="http://schemas.microsoft.com/office/drawing/2014/main" id="{DD58DDA8-6876-E0AE-8F89-381FAC6BAB65}"/>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8" name="TextBox 7">
            <a:extLst>
              <a:ext uri="{FF2B5EF4-FFF2-40B4-BE49-F238E27FC236}">
                <a16:creationId xmlns:a16="http://schemas.microsoft.com/office/drawing/2014/main" id="{6D8D20BF-2A80-93AB-ED2E-578DDAE30605}"/>
              </a:ext>
            </a:extLst>
          </p:cNvPr>
          <p:cNvSpPr txBox="1"/>
          <p:nvPr/>
        </p:nvSpPr>
        <p:spPr>
          <a:xfrm>
            <a:off x="558943" y="4755944"/>
            <a:ext cx="4247536" cy="1015663"/>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e.g., market data multicast in financial exchanges</a:t>
            </a:r>
          </a:p>
        </p:txBody>
      </p:sp>
      <p:sp>
        <p:nvSpPr>
          <p:cNvPr id="9" name="TextBox 8">
            <a:extLst>
              <a:ext uri="{FF2B5EF4-FFF2-40B4-BE49-F238E27FC236}">
                <a16:creationId xmlns:a16="http://schemas.microsoft.com/office/drawing/2014/main" id="{61BEF6D6-7F50-3474-3C68-6B377887AF8D}"/>
              </a:ext>
            </a:extLst>
          </p:cNvPr>
          <p:cNvSpPr txBox="1"/>
          <p:nvPr/>
        </p:nvSpPr>
        <p:spPr>
          <a:xfrm>
            <a:off x="6567336" y="4755944"/>
            <a:ext cx="5065721" cy="1015663"/>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e.g., traders submitting orders to a financial exchange server</a:t>
            </a:r>
          </a:p>
        </p:txBody>
      </p:sp>
      <p:sp>
        <p:nvSpPr>
          <p:cNvPr id="10" name="TextBox 9">
            <a:extLst>
              <a:ext uri="{FF2B5EF4-FFF2-40B4-BE49-F238E27FC236}">
                <a16:creationId xmlns:a16="http://schemas.microsoft.com/office/drawing/2014/main" id="{3A5C3FE4-F006-BB31-9D4D-DC6DCC7D9793}"/>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TextBox 10">
            <a:extLst>
              <a:ext uri="{FF2B5EF4-FFF2-40B4-BE49-F238E27FC236}">
                <a16:creationId xmlns:a16="http://schemas.microsoft.com/office/drawing/2014/main" id="{1C8BC007-EF9F-C19A-5B1A-73340A3AABD0}"/>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3" name="Rectangle 12">
            <a:extLst>
              <a:ext uri="{FF2B5EF4-FFF2-40B4-BE49-F238E27FC236}">
                <a16:creationId xmlns:a16="http://schemas.microsoft.com/office/drawing/2014/main" id="{C25B29ED-040B-60F9-E404-67AA8B15DB43}"/>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009595"/>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8491-5CC0-F458-8C52-AD9ED97CFC5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2BF42178-8D05-1E52-C3DF-AD000D2DB441}"/>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A13B306A-69EB-6385-B029-06F97A345912}"/>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171BF48-CB24-D447-3EC6-0EC13DF6ADAC}"/>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EE84CE14-AF67-E732-C1A2-0F030DD9D5AB}"/>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3" name="Rounded Rectangle 2">
            <a:extLst>
              <a:ext uri="{FF2B5EF4-FFF2-40B4-BE49-F238E27FC236}">
                <a16:creationId xmlns:a16="http://schemas.microsoft.com/office/drawing/2014/main" id="{DBF43B3E-FBFD-0D0E-E41F-CDCEAE3DE379}"/>
              </a:ext>
            </a:extLst>
          </p:cNvPr>
          <p:cNvSpPr/>
          <p:nvPr/>
        </p:nvSpPr>
        <p:spPr>
          <a:xfrm>
            <a:off x="472966" y="4755944"/>
            <a:ext cx="4482094" cy="1213932"/>
          </a:xfrm>
          <a:custGeom>
            <a:avLst/>
            <a:gdLst>
              <a:gd name="csX0" fmla="*/ 0 w 4482094"/>
              <a:gd name="csY0" fmla="*/ 202326 h 1213932"/>
              <a:gd name="csX1" fmla="*/ 202326 w 4482094"/>
              <a:gd name="csY1" fmla="*/ 0 h 1213932"/>
              <a:gd name="csX2" fmla="*/ 703269 w 4482094"/>
              <a:gd name="csY2" fmla="*/ 0 h 1213932"/>
              <a:gd name="csX3" fmla="*/ 1163437 w 4482094"/>
              <a:gd name="csY3" fmla="*/ 0 h 1213932"/>
              <a:gd name="csX4" fmla="*/ 1705155 w 4482094"/>
              <a:gd name="csY4" fmla="*/ 0 h 1213932"/>
              <a:gd name="csX5" fmla="*/ 2328421 w 4482094"/>
              <a:gd name="csY5" fmla="*/ 0 h 1213932"/>
              <a:gd name="csX6" fmla="*/ 2992461 w 4482094"/>
              <a:gd name="csY6" fmla="*/ 0 h 1213932"/>
              <a:gd name="csX7" fmla="*/ 3534179 w 4482094"/>
              <a:gd name="csY7" fmla="*/ 0 h 1213932"/>
              <a:gd name="csX8" fmla="*/ 4279768 w 4482094"/>
              <a:gd name="csY8" fmla="*/ 0 h 1213932"/>
              <a:gd name="csX9" fmla="*/ 4482094 w 4482094"/>
              <a:gd name="csY9" fmla="*/ 202326 h 1213932"/>
              <a:gd name="csX10" fmla="*/ 4482094 w 4482094"/>
              <a:gd name="csY10" fmla="*/ 598873 h 1213932"/>
              <a:gd name="csX11" fmla="*/ 4482094 w 4482094"/>
              <a:gd name="csY11" fmla="*/ 1011606 h 1213932"/>
              <a:gd name="csX12" fmla="*/ 4279768 w 4482094"/>
              <a:gd name="csY12" fmla="*/ 1213932 h 1213932"/>
              <a:gd name="csX13" fmla="*/ 3615727 w 4482094"/>
              <a:gd name="csY13" fmla="*/ 1213932 h 1213932"/>
              <a:gd name="csX14" fmla="*/ 2992461 w 4482094"/>
              <a:gd name="csY14" fmla="*/ 1213932 h 1213932"/>
              <a:gd name="csX15" fmla="*/ 2369195 w 4482094"/>
              <a:gd name="csY15" fmla="*/ 1213932 h 1213932"/>
              <a:gd name="csX16" fmla="*/ 1909027 w 4482094"/>
              <a:gd name="csY16" fmla="*/ 1213932 h 1213932"/>
              <a:gd name="csX17" fmla="*/ 1448858 w 4482094"/>
              <a:gd name="csY17" fmla="*/ 1213932 h 1213932"/>
              <a:gd name="csX18" fmla="*/ 988690 w 4482094"/>
              <a:gd name="csY18" fmla="*/ 1213932 h 1213932"/>
              <a:gd name="csX19" fmla="*/ 202326 w 4482094"/>
              <a:gd name="csY19" fmla="*/ 1213932 h 1213932"/>
              <a:gd name="csX20" fmla="*/ 0 w 4482094"/>
              <a:gd name="csY20" fmla="*/ 1011606 h 1213932"/>
              <a:gd name="csX21" fmla="*/ 0 w 4482094"/>
              <a:gd name="csY21" fmla="*/ 623152 h 1213932"/>
              <a:gd name="csX22" fmla="*/ 0 w 4482094"/>
              <a:gd name="csY22"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82094" h="1213932" fill="none" extrusionOk="0">
                <a:moveTo>
                  <a:pt x="0" y="202326"/>
                </a:moveTo>
                <a:cubicBezTo>
                  <a:pt x="26695" y="78017"/>
                  <a:pt x="75354" y="6686"/>
                  <a:pt x="202326" y="0"/>
                </a:cubicBezTo>
                <a:cubicBezTo>
                  <a:pt x="310846" y="-50018"/>
                  <a:pt x="593216" y="34946"/>
                  <a:pt x="703269" y="0"/>
                </a:cubicBezTo>
                <a:cubicBezTo>
                  <a:pt x="813322" y="-34946"/>
                  <a:pt x="955403" y="25942"/>
                  <a:pt x="1163437" y="0"/>
                </a:cubicBezTo>
                <a:cubicBezTo>
                  <a:pt x="1371471" y="-25942"/>
                  <a:pt x="1593315" y="40294"/>
                  <a:pt x="1705155" y="0"/>
                </a:cubicBezTo>
                <a:cubicBezTo>
                  <a:pt x="1816995" y="-40294"/>
                  <a:pt x="2122609" y="42548"/>
                  <a:pt x="2328421" y="0"/>
                </a:cubicBezTo>
                <a:cubicBezTo>
                  <a:pt x="2534233" y="-42548"/>
                  <a:pt x="2780578" y="59133"/>
                  <a:pt x="2992461" y="0"/>
                </a:cubicBezTo>
                <a:cubicBezTo>
                  <a:pt x="3204344" y="-59133"/>
                  <a:pt x="3421836" y="36180"/>
                  <a:pt x="3534179" y="0"/>
                </a:cubicBezTo>
                <a:cubicBezTo>
                  <a:pt x="3646522" y="-36180"/>
                  <a:pt x="4090705" y="35347"/>
                  <a:pt x="4279768" y="0"/>
                </a:cubicBezTo>
                <a:cubicBezTo>
                  <a:pt x="4374039" y="17153"/>
                  <a:pt x="4478954" y="94594"/>
                  <a:pt x="4482094" y="202326"/>
                </a:cubicBezTo>
                <a:cubicBezTo>
                  <a:pt x="4499112" y="317165"/>
                  <a:pt x="4466703" y="476425"/>
                  <a:pt x="4482094" y="598873"/>
                </a:cubicBezTo>
                <a:cubicBezTo>
                  <a:pt x="4497485" y="721321"/>
                  <a:pt x="4433159" y="915363"/>
                  <a:pt x="4482094" y="1011606"/>
                </a:cubicBezTo>
                <a:cubicBezTo>
                  <a:pt x="4500655" y="1107200"/>
                  <a:pt x="4371140" y="1231747"/>
                  <a:pt x="4279768" y="1213932"/>
                </a:cubicBezTo>
                <a:cubicBezTo>
                  <a:pt x="3949763" y="1262404"/>
                  <a:pt x="3886087" y="1171221"/>
                  <a:pt x="3615727" y="1213932"/>
                </a:cubicBezTo>
                <a:cubicBezTo>
                  <a:pt x="3345367" y="1256643"/>
                  <a:pt x="3188927" y="1158815"/>
                  <a:pt x="2992461" y="1213932"/>
                </a:cubicBezTo>
                <a:cubicBezTo>
                  <a:pt x="2795995" y="1269049"/>
                  <a:pt x="2642429" y="1202278"/>
                  <a:pt x="2369195" y="1213932"/>
                </a:cubicBezTo>
                <a:cubicBezTo>
                  <a:pt x="2095961" y="1225586"/>
                  <a:pt x="2124900" y="1207898"/>
                  <a:pt x="1909027" y="1213932"/>
                </a:cubicBezTo>
                <a:cubicBezTo>
                  <a:pt x="1693154" y="1219966"/>
                  <a:pt x="1674914" y="1164025"/>
                  <a:pt x="1448858" y="1213932"/>
                </a:cubicBezTo>
                <a:cubicBezTo>
                  <a:pt x="1222802" y="1263839"/>
                  <a:pt x="1114471" y="1165257"/>
                  <a:pt x="988690" y="1213932"/>
                </a:cubicBezTo>
                <a:cubicBezTo>
                  <a:pt x="862909" y="1262607"/>
                  <a:pt x="434083" y="1185791"/>
                  <a:pt x="202326" y="1213932"/>
                </a:cubicBezTo>
                <a:cubicBezTo>
                  <a:pt x="103782" y="1218548"/>
                  <a:pt x="15230" y="1124784"/>
                  <a:pt x="0" y="1011606"/>
                </a:cubicBezTo>
                <a:cubicBezTo>
                  <a:pt x="-5740" y="817584"/>
                  <a:pt x="4281" y="721549"/>
                  <a:pt x="0" y="623152"/>
                </a:cubicBezTo>
                <a:cubicBezTo>
                  <a:pt x="-4281" y="524755"/>
                  <a:pt x="41708" y="293725"/>
                  <a:pt x="0" y="202326"/>
                </a:cubicBezTo>
                <a:close/>
              </a:path>
              <a:path w="4482094" h="1213932" stroke="0" extrusionOk="0">
                <a:moveTo>
                  <a:pt x="0" y="202326"/>
                </a:moveTo>
                <a:cubicBezTo>
                  <a:pt x="-16723" y="104191"/>
                  <a:pt x="101543" y="-28700"/>
                  <a:pt x="202326" y="0"/>
                </a:cubicBezTo>
                <a:cubicBezTo>
                  <a:pt x="436127" y="-38849"/>
                  <a:pt x="523360" y="22818"/>
                  <a:pt x="784818" y="0"/>
                </a:cubicBezTo>
                <a:cubicBezTo>
                  <a:pt x="1046276" y="-22818"/>
                  <a:pt x="1235129" y="60004"/>
                  <a:pt x="1448858" y="0"/>
                </a:cubicBezTo>
                <a:cubicBezTo>
                  <a:pt x="1662587" y="-60004"/>
                  <a:pt x="1803950" y="17905"/>
                  <a:pt x="1909027" y="0"/>
                </a:cubicBezTo>
                <a:cubicBezTo>
                  <a:pt x="2014104" y="-17905"/>
                  <a:pt x="2245709" y="15579"/>
                  <a:pt x="2369195" y="0"/>
                </a:cubicBezTo>
                <a:cubicBezTo>
                  <a:pt x="2492681" y="-15579"/>
                  <a:pt x="2662699" y="41827"/>
                  <a:pt x="2910912" y="0"/>
                </a:cubicBezTo>
                <a:cubicBezTo>
                  <a:pt x="3159125" y="-41827"/>
                  <a:pt x="3274654" y="25262"/>
                  <a:pt x="3493404" y="0"/>
                </a:cubicBezTo>
                <a:cubicBezTo>
                  <a:pt x="3712154" y="-25262"/>
                  <a:pt x="4011493" y="69021"/>
                  <a:pt x="4279768" y="0"/>
                </a:cubicBezTo>
                <a:cubicBezTo>
                  <a:pt x="4400494" y="30317"/>
                  <a:pt x="4459968" y="67561"/>
                  <a:pt x="4482094" y="202326"/>
                </a:cubicBezTo>
                <a:cubicBezTo>
                  <a:pt x="4512683" y="389701"/>
                  <a:pt x="4438350" y="470058"/>
                  <a:pt x="4482094" y="598873"/>
                </a:cubicBezTo>
                <a:cubicBezTo>
                  <a:pt x="4525838" y="727688"/>
                  <a:pt x="4439543" y="818110"/>
                  <a:pt x="4482094" y="1011606"/>
                </a:cubicBezTo>
                <a:cubicBezTo>
                  <a:pt x="4501699" y="1146361"/>
                  <a:pt x="4403210" y="1213086"/>
                  <a:pt x="4279768" y="1213932"/>
                </a:cubicBezTo>
                <a:cubicBezTo>
                  <a:pt x="4053273" y="1262350"/>
                  <a:pt x="3993693" y="1199585"/>
                  <a:pt x="3819600" y="1213932"/>
                </a:cubicBezTo>
                <a:cubicBezTo>
                  <a:pt x="3645507" y="1228279"/>
                  <a:pt x="3564206" y="1206396"/>
                  <a:pt x="3359431" y="1213932"/>
                </a:cubicBezTo>
                <a:cubicBezTo>
                  <a:pt x="3154656" y="1221468"/>
                  <a:pt x="3031699" y="1166407"/>
                  <a:pt x="2899263" y="1213932"/>
                </a:cubicBezTo>
                <a:cubicBezTo>
                  <a:pt x="2766827" y="1261457"/>
                  <a:pt x="2645038" y="1211015"/>
                  <a:pt x="2439094" y="1213932"/>
                </a:cubicBezTo>
                <a:cubicBezTo>
                  <a:pt x="2233150" y="1216849"/>
                  <a:pt x="2142178" y="1158375"/>
                  <a:pt x="1856602" y="1213932"/>
                </a:cubicBezTo>
                <a:cubicBezTo>
                  <a:pt x="1571026" y="1269489"/>
                  <a:pt x="1587404" y="1184297"/>
                  <a:pt x="1396434" y="1213932"/>
                </a:cubicBezTo>
                <a:cubicBezTo>
                  <a:pt x="1205464" y="1243567"/>
                  <a:pt x="999372" y="1142548"/>
                  <a:pt x="732393" y="1213932"/>
                </a:cubicBezTo>
                <a:cubicBezTo>
                  <a:pt x="465414" y="1285316"/>
                  <a:pt x="429827" y="1204260"/>
                  <a:pt x="202326" y="1213932"/>
                </a:cubicBezTo>
                <a:cubicBezTo>
                  <a:pt x="98367" y="1220249"/>
                  <a:pt x="15313" y="1128582"/>
                  <a:pt x="0" y="1011606"/>
                </a:cubicBezTo>
                <a:cubicBezTo>
                  <a:pt x="-22348" y="922605"/>
                  <a:pt x="18797" y="799667"/>
                  <a:pt x="0" y="615059"/>
                </a:cubicBezTo>
                <a:cubicBezTo>
                  <a:pt x="-18797" y="430451"/>
                  <a:pt x="27808" y="389567"/>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247587333">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9F8CA6B4-FA51-63DB-FAA8-25BD9B9E763E}"/>
              </a:ext>
            </a:extLst>
          </p:cNvPr>
          <p:cNvSpPr/>
          <p:nvPr/>
        </p:nvSpPr>
        <p:spPr>
          <a:xfrm>
            <a:off x="6615105" y="4696264"/>
            <a:ext cx="4658815" cy="1213932"/>
          </a:xfrm>
          <a:custGeom>
            <a:avLst/>
            <a:gdLst>
              <a:gd name="csX0" fmla="*/ 0 w 4658815"/>
              <a:gd name="csY0" fmla="*/ 202326 h 1213932"/>
              <a:gd name="csX1" fmla="*/ 202326 w 4658815"/>
              <a:gd name="csY1" fmla="*/ 0 h 1213932"/>
              <a:gd name="csX2" fmla="*/ 776638 w 4658815"/>
              <a:gd name="csY2" fmla="*/ 0 h 1213932"/>
              <a:gd name="csX3" fmla="*/ 1223325 w 4658815"/>
              <a:gd name="csY3" fmla="*/ 0 h 1213932"/>
              <a:gd name="csX4" fmla="*/ 1797637 w 4658815"/>
              <a:gd name="csY4" fmla="*/ 0 h 1213932"/>
              <a:gd name="csX5" fmla="*/ 2201783 w 4658815"/>
              <a:gd name="csY5" fmla="*/ 0 h 1213932"/>
              <a:gd name="csX6" fmla="*/ 2776095 w 4658815"/>
              <a:gd name="csY6" fmla="*/ 0 h 1213932"/>
              <a:gd name="csX7" fmla="*/ 3222782 w 4658815"/>
              <a:gd name="csY7" fmla="*/ 0 h 1213932"/>
              <a:gd name="csX8" fmla="*/ 3626927 w 4658815"/>
              <a:gd name="csY8" fmla="*/ 0 h 1213932"/>
              <a:gd name="csX9" fmla="*/ 4456489 w 4658815"/>
              <a:gd name="csY9" fmla="*/ 0 h 1213932"/>
              <a:gd name="csX10" fmla="*/ 4658815 w 4658815"/>
              <a:gd name="csY10" fmla="*/ 202326 h 1213932"/>
              <a:gd name="csX11" fmla="*/ 4658815 w 4658815"/>
              <a:gd name="csY11" fmla="*/ 615059 h 1213932"/>
              <a:gd name="csX12" fmla="*/ 4658815 w 4658815"/>
              <a:gd name="csY12" fmla="*/ 1011606 h 1213932"/>
              <a:gd name="csX13" fmla="*/ 4456489 w 4658815"/>
              <a:gd name="csY13" fmla="*/ 1213932 h 1213932"/>
              <a:gd name="csX14" fmla="*/ 4052344 w 4658815"/>
              <a:gd name="csY14" fmla="*/ 1213932 h 1213932"/>
              <a:gd name="csX15" fmla="*/ 3435490 w 4658815"/>
              <a:gd name="csY15" fmla="*/ 1213932 h 1213932"/>
              <a:gd name="csX16" fmla="*/ 2903720 w 4658815"/>
              <a:gd name="csY16" fmla="*/ 1213932 h 1213932"/>
              <a:gd name="csX17" fmla="*/ 2286866 w 4658815"/>
              <a:gd name="csY17" fmla="*/ 1213932 h 1213932"/>
              <a:gd name="csX18" fmla="*/ 1712554 w 4658815"/>
              <a:gd name="csY18" fmla="*/ 1213932 h 1213932"/>
              <a:gd name="csX19" fmla="*/ 1223325 w 4658815"/>
              <a:gd name="csY19" fmla="*/ 1213932 h 1213932"/>
              <a:gd name="csX20" fmla="*/ 202326 w 4658815"/>
              <a:gd name="csY20" fmla="*/ 1213932 h 1213932"/>
              <a:gd name="csX21" fmla="*/ 0 w 4658815"/>
              <a:gd name="csY21" fmla="*/ 1011606 h 1213932"/>
              <a:gd name="csX22" fmla="*/ 0 w 4658815"/>
              <a:gd name="csY22" fmla="*/ 606966 h 1213932"/>
              <a:gd name="csX23" fmla="*/ 0 w 4658815"/>
              <a:gd name="csY23"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658815" h="1213932" fill="none" extrusionOk="0">
                <a:moveTo>
                  <a:pt x="0" y="202326"/>
                </a:moveTo>
                <a:cubicBezTo>
                  <a:pt x="-13865" y="118417"/>
                  <a:pt x="86826" y="-4987"/>
                  <a:pt x="202326" y="0"/>
                </a:cubicBezTo>
                <a:cubicBezTo>
                  <a:pt x="461530" y="-6300"/>
                  <a:pt x="508999" y="20240"/>
                  <a:pt x="776638" y="0"/>
                </a:cubicBezTo>
                <a:cubicBezTo>
                  <a:pt x="1044277" y="-20240"/>
                  <a:pt x="1043875" y="3992"/>
                  <a:pt x="1223325" y="0"/>
                </a:cubicBezTo>
                <a:cubicBezTo>
                  <a:pt x="1402775" y="-3992"/>
                  <a:pt x="1646824" y="1804"/>
                  <a:pt x="1797637" y="0"/>
                </a:cubicBezTo>
                <a:cubicBezTo>
                  <a:pt x="1948450" y="-1804"/>
                  <a:pt x="2058582" y="8185"/>
                  <a:pt x="2201783" y="0"/>
                </a:cubicBezTo>
                <a:cubicBezTo>
                  <a:pt x="2344984" y="-8185"/>
                  <a:pt x="2546989" y="67223"/>
                  <a:pt x="2776095" y="0"/>
                </a:cubicBezTo>
                <a:cubicBezTo>
                  <a:pt x="3005201" y="-67223"/>
                  <a:pt x="3036691" y="4785"/>
                  <a:pt x="3222782" y="0"/>
                </a:cubicBezTo>
                <a:cubicBezTo>
                  <a:pt x="3408873" y="-4785"/>
                  <a:pt x="3499934" y="35826"/>
                  <a:pt x="3626927" y="0"/>
                </a:cubicBezTo>
                <a:cubicBezTo>
                  <a:pt x="3753921" y="-35826"/>
                  <a:pt x="4236949" y="27302"/>
                  <a:pt x="4456489" y="0"/>
                </a:cubicBezTo>
                <a:cubicBezTo>
                  <a:pt x="4562502" y="21437"/>
                  <a:pt x="4685616" y="98271"/>
                  <a:pt x="4658815" y="202326"/>
                </a:cubicBezTo>
                <a:cubicBezTo>
                  <a:pt x="4699777" y="365515"/>
                  <a:pt x="4655207" y="490933"/>
                  <a:pt x="4658815" y="615059"/>
                </a:cubicBezTo>
                <a:cubicBezTo>
                  <a:pt x="4662423" y="739185"/>
                  <a:pt x="4635272" y="887276"/>
                  <a:pt x="4658815" y="1011606"/>
                </a:cubicBezTo>
                <a:cubicBezTo>
                  <a:pt x="4669788" y="1150168"/>
                  <a:pt x="4587821" y="1233312"/>
                  <a:pt x="4456489" y="1213932"/>
                </a:cubicBezTo>
                <a:cubicBezTo>
                  <a:pt x="4299887" y="1239580"/>
                  <a:pt x="4187456" y="1179398"/>
                  <a:pt x="4052344" y="1213932"/>
                </a:cubicBezTo>
                <a:cubicBezTo>
                  <a:pt x="3917233" y="1248466"/>
                  <a:pt x="3661664" y="1199401"/>
                  <a:pt x="3435490" y="1213932"/>
                </a:cubicBezTo>
                <a:cubicBezTo>
                  <a:pt x="3209316" y="1228463"/>
                  <a:pt x="3082040" y="1205725"/>
                  <a:pt x="2903720" y="1213932"/>
                </a:cubicBezTo>
                <a:cubicBezTo>
                  <a:pt x="2725400" y="1222139"/>
                  <a:pt x="2587397" y="1145467"/>
                  <a:pt x="2286866" y="1213932"/>
                </a:cubicBezTo>
                <a:cubicBezTo>
                  <a:pt x="1986335" y="1282397"/>
                  <a:pt x="1936315" y="1195658"/>
                  <a:pt x="1712554" y="1213932"/>
                </a:cubicBezTo>
                <a:cubicBezTo>
                  <a:pt x="1488793" y="1232206"/>
                  <a:pt x="1435692" y="1196997"/>
                  <a:pt x="1223325" y="1213932"/>
                </a:cubicBezTo>
                <a:cubicBezTo>
                  <a:pt x="1010958" y="1230867"/>
                  <a:pt x="612559" y="1189547"/>
                  <a:pt x="202326" y="1213932"/>
                </a:cubicBezTo>
                <a:cubicBezTo>
                  <a:pt x="90953" y="1230726"/>
                  <a:pt x="13269" y="1111441"/>
                  <a:pt x="0" y="1011606"/>
                </a:cubicBezTo>
                <a:cubicBezTo>
                  <a:pt x="-45144" y="925982"/>
                  <a:pt x="36711" y="708230"/>
                  <a:pt x="0" y="606966"/>
                </a:cubicBezTo>
                <a:cubicBezTo>
                  <a:pt x="-36711" y="505702"/>
                  <a:pt x="11056" y="331283"/>
                  <a:pt x="0" y="202326"/>
                </a:cubicBezTo>
                <a:close/>
              </a:path>
              <a:path w="4658815" h="1213932" stroke="0" extrusionOk="0">
                <a:moveTo>
                  <a:pt x="0" y="202326"/>
                </a:moveTo>
                <a:cubicBezTo>
                  <a:pt x="-4482" y="87820"/>
                  <a:pt x="67944" y="8497"/>
                  <a:pt x="202326" y="0"/>
                </a:cubicBezTo>
                <a:cubicBezTo>
                  <a:pt x="485467" y="-16537"/>
                  <a:pt x="622590" y="33956"/>
                  <a:pt x="819180" y="0"/>
                </a:cubicBezTo>
                <a:cubicBezTo>
                  <a:pt x="1015770" y="-33956"/>
                  <a:pt x="1101224" y="48252"/>
                  <a:pt x="1308408" y="0"/>
                </a:cubicBezTo>
                <a:cubicBezTo>
                  <a:pt x="1515592" y="-48252"/>
                  <a:pt x="1635004" y="50099"/>
                  <a:pt x="1755095" y="0"/>
                </a:cubicBezTo>
                <a:cubicBezTo>
                  <a:pt x="1875186" y="-50099"/>
                  <a:pt x="2191388" y="4252"/>
                  <a:pt x="2329408" y="0"/>
                </a:cubicBezTo>
                <a:cubicBezTo>
                  <a:pt x="2467428" y="-4252"/>
                  <a:pt x="2666761" y="55587"/>
                  <a:pt x="2818636" y="0"/>
                </a:cubicBezTo>
                <a:cubicBezTo>
                  <a:pt x="2970511" y="-55587"/>
                  <a:pt x="3287266" y="29637"/>
                  <a:pt x="3435490" y="0"/>
                </a:cubicBezTo>
                <a:cubicBezTo>
                  <a:pt x="3583714" y="-29637"/>
                  <a:pt x="3683091" y="7055"/>
                  <a:pt x="3882177" y="0"/>
                </a:cubicBezTo>
                <a:cubicBezTo>
                  <a:pt x="4081263" y="-7055"/>
                  <a:pt x="4263947" y="22576"/>
                  <a:pt x="4456489" y="0"/>
                </a:cubicBezTo>
                <a:cubicBezTo>
                  <a:pt x="4580725" y="3004"/>
                  <a:pt x="4652930" y="89632"/>
                  <a:pt x="4658815" y="202326"/>
                </a:cubicBezTo>
                <a:cubicBezTo>
                  <a:pt x="4688865" y="325324"/>
                  <a:pt x="4634746" y="457901"/>
                  <a:pt x="4658815" y="606966"/>
                </a:cubicBezTo>
                <a:cubicBezTo>
                  <a:pt x="4682884" y="756031"/>
                  <a:pt x="4622469" y="844144"/>
                  <a:pt x="4658815" y="1011606"/>
                </a:cubicBezTo>
                <a:cubicBezTo>
                  <a:pt x="4670900" y="1138151"/>
                  <a:pt x="4586142" y="1198250"/>
                  <a:pt x="4456489" y="1213932"/>
                </a:cubicBezTo>
                <a:cubicBezTo>
                  <a:pt x="4305302" y="1251813"/>
                  <a:pt x="4166599" y="1175047"/>
                  <a:pt x="3924719" y="1213932"/>
                </a:cubicBezTo>
                <a:cubicBezTo>
                  <a:pt x="3682839" y="1252817"/>
                  <a:pt x="3636809" y="1211537"/>
                  <a:pt x="3392948" y="1213932"/>
                </a:cubicBezTo>
                <a:cubicBezTo>
                  <a:pt x="3149087" y="1216327"/>
                  <a:pt x="3019653" y="1187995"/>
                  <a:pt x="2776095" y="1213932"/>
                </a:cubicBezTo>
                <a:cubicBezTo>
                  <a:pt x="2532537" y="1239869"/>
                  <a:pt x="2374460" y="1202954"/>
                  <a:pt x="2244324" y="1213932"/>
                </a:cubicBezTo>
                <a:cubicBezTo>
                  <a:pt x="2114188" y="1224910"/>
                  <a:pt x="2039497" y="1172031"/>
                  <a:pt x="1840179" y="1213932"/>
                </a:cubicBezTo>
                <a:cubicBezTo>
                  <a:pt x="1640861" y="1255833"/>
                  <a:pt x="1583331" y="1207787"/>
                  <a:pt x="1393492" y="1213932"/>
                </a:cubicBezTo>
                <a:cubicBezTo>
                  <a:pt x="1203653" y="1220077"/>
                  <a:pt x="914863" y="1201446"/>
                  <a:pt x="776638" y="1213932"/>
                </a:cubicBezTo>
                <a:cubicBezTo>
                  <a:pt x="638413" y="1226418"/>
                  <a:pt x="437328" y="1174067"/>
                  <a:pt x="202326" y="1213932"/>
                </a:cubicBezTo>
                <a:cubicBezTo>
                  <a:pt x="93009" y="1218734"/>
                  <a:pt x="-19492" y="1133627"/>
                  <a:pt x="0" y="1011606"/>
                </a:cubicBezTo>
                <a:cubicBezTo>
                  <a:pt x="-34041" y="867494"/>
                  <a:pt x="19408" y="757014"/>
                  <a:pt x="0" y="598873"/>
                </a:cubicBezTo>
                <a:cubicBezTo>
                  <a:pt x="-19408" y="440732"/>
                  <a:pt x="27962" y="330545"/>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DF6AFA8-94E7-8FA3-5C74-5E447284DF69}"/>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6" name="TextBox 5">
            <a:extLst>
              <a:ext uri="{FF2B5EF4-FFF2-40B4-BE49-F238E27FC236}">
                <a16:creationId xmlns:a16="http://schemas.microsoft.com/office/drawing/2014/main" id="{F5BD2CE3-70F8-11B9-7D58-29E170870203}"/>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8" name="TextBox 7">
            <a:extLst>
              <a:ext uri="{FF2B5EF4-FFF2-40B4-BE49-F238E27FC236}">
                <a16:creationId xmlns:a16="http://schemas.microsoft.com/office/drawing/2014/main" id="{4780C420-0517-09E3-3306-16FEF5D3971E}"/>
              </a:ext>
            </a:extLst>
          </p:cNvPr>
          <p:cNvSpPr txBox="1"/>
          <p:nvPr/>
        </p:nvSpPr>
        <p:spPr>
          <a:xfrm>
            <a:off x="558943" y="4755944"/>
            <a:ext cx="4247536" cy="1015663"/>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e.g., market data multicast in financial exchanges</a:t>
            </a:r>
          </a:p>
        </p:txBody>
      </p:sp>
      <p:sp>
        <p:nvSpPr>
          <p:cNvPr id="9" name="TextBox 8">
            <a:extLst>
              <a:ext uri="{FF2B5EF4-FFF2-40B4-BE49-F238E27FC236}">
                <a16:creationId xmlns:a16="http://schemas.microsoft.com/office/drawing/2014/main" id="{A17BFBDF-5704-7FE3-B059-1EFA7AEB28BE}"/>
              </a:ext>
            </a:extLst>
          </p:cNvPr>
          <p:cNvSpPr txBox="1"/>
          <p:nvPr/>
        </p:nvSpPr>
        <p:spPr>
          <a:xfrm>
            <a:off x="6567336" y="4755944"/>
            <a:ext cx="5065721" cy="1015663"/>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e.g., traders submitting orders to a financial exchange server</a:t>
            </a:r>
          </a:p>
        </p:txBody>
      </p:sp>
      <p:sp>
        <p:nvSpPr>
          <p:cNvPr id="10" name="TextBox 9">
            <a:extLst>
              <a:ext uri="{FF2B5EF4-FFF2-40B4-BE49-F238E27FC236}">
                <a16:creationId xmlns:a16="http://schemas.microsoft.com/office/drawing/2014/main" id="{BB3688C0-2564-B347-6E66-6E8EFA2EEB20}"/>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TextBox 10">
            <a:extLst>
              <a:ext uri="{FF2B5EF4-FFF2-40B4-BE49-F238E27FC236}">
                <a16:creationId xmlns:a16="http://schemas.microsoft.com/office/drawing/2014/main" id="{27FDCFBB-6F77-3E38-840A-25FE417742F7}"/>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3" name="Rectangle 12">
            <a:extLst>
              <a:ext uri="{FF2B5EF4-FFF2-40B4-BE49-F238E27FC236}">
                <a16:creationId xmlns:a16="http://schemas.microsoft.com/office/drawing/2014/main" id="{B6929B5A-ACCF-B441-ACD5-3B26045D5CDE}"/>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C171F2CF-42BA-AEE3-8EB7-076D1BD7BE7D}"/>
              </a:ext>
            </a:extLst>
          </p:cNvPr>
          <p:cNvSpPr/>
          <p:nvPr/>
        </p:nvSpPr>
        <p:spPr>
          <a:xfrm>
            <a:off x="3155766" y="5757425"/>
            <a:ext cx="5425726" cy="695454"/>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Specialized Infrastructure used by on-premises financial exchanges</a:t>
            </a:r>
          </a:p>
        </p:txBody>
      </p:sp>
    </p:spTree>
    <p:extLst>
      <p:ext uri="{BB962C8B-B14F-4D97-AF65-F5344CB8AC3E}">
        <p14:creationId xmlns:p14="http://schemas.microsoft.com/office/powerpoint/2010/main" val="3266459799"/>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83306-CD41-340E-E289-BE2BD6A0F6F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BEDC353-4BC1-F2DD-5794-8436701EE72B}"/>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42037120-FE8A-DBCE-FD1B-3D1532654AF7}"/>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0B0479C-494E-1D72-B4B2-C7C78BF777AD}"/>
              </a:ext>
            </a:extLst>
          </p:cNvPr>
          <p:cNvSpPr txBox="1"/>
          <p:nvPr/>
        </p:nvSpPr>
        <p:spPr>
          <a:xfrm>
            <a:off x="772906" y="405121"/>
            <a:ext cx="509572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c</a:t>
            </a:r>
            <a:r>
              <a:rPr lang="en-US" sz="3000" dirty="0">
                <a:latin typeface="Times New Roman" panose="02020603050405020304" pitchFamily="18" charset="0"/>
                <a:cs typeface="Times New Roman" panose="02020603050405020304" pitchFamily="18" charset="0"/>
              </a:rPr>
              <a:t>ompetitive </a:t>
            </a:r>
            <a:r>
              <a:rPr lang="en-US" sz="4800" dirty="0">
                <a:latin typeface="Times New Roman" panose="02020603050405020304" pitchFamily="18" charset="0"/>
                <a:cs typeface="Times New Roman" panose="02020603050405020304" pitchFamily="18" charset="0"/>
              </a:rPr>
              <a:t>s</a:t>
            </a:r>
            <a:r>
              <a:rPr lang="en-US" sz="3000" dirty="0">
                <a:latin typeface="Times New Roman" panose="02020603050405020304" pitchFamily="18" charset="0"/>
                <a:cs typeface="Times New Roman" panose="02020603050405020304" pitchFamily="18" charset="0"/>
              </a:rPr>
              <a:t>ystems</a:t>
            </a:r>
          </a:p>
        </p:txBody>
      </p:sp>
      <p:sp>
        <p:nvSpPr>
          <p:cNvPr id="2" name="TextBox 1">
            <a:extLst>
              <a:ext uri="{FF2B5EF4-FFF2-40B4-BE49-F238E27FC236}">
                <a16:creationId xmlns:a16="http://schemas.microsoft.com/office/drawing/2014/main" id="{D197B7C2-A3A4-7CC4-20A8-DD6E28D2F59D}"/>
              </a:ext>
            </a:extLst>
          </p:cNvPr>
          <p:cNvSpPr txBox="1"/>
          <p:nvPr/>
        </p:nvSpPr>
        <p:spPr>
          <a:xfrm>
            <a:off x="4806479" y="716456"/>
            <a:ext cx="6410817" cy="553998"/>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Two Common Communication Patterns</a:t>
            </a:r>
          </a:p>
        </p:txBody>
      </p:sp>
      <p:sp>
        <p:nvSpPr>
          <p:cNvPr id="3" name="Rounded Rectangle 2">
            <a:extLst>
              <a:ext uri="{FF2B5EF4-FFF2-40B4-BE49-F238E27FC236}">
                <a16:creationId xmlns:a16="http://schemas.microsoft.com/office/drawing/2014/main" id="{7088CEF2-0FFF-83BF-E570-0728B6DD3A80}"/>
              </a:ext>
            </a:extLst>
          </p:cNvPr>
          <p:cNvSpPr/>
          <p:nvPr/>
        </p:nvSpPr>
        <p:spPr>
          <a:xfrm>
            <a:off x="472966" y="4755944"/>
            <a:ext cx="4482094" cy="1213932"/>
          </a:xfrm>
          <a:custGeom>
            <a:avLst/>
            <a:gdLst>
              <a:gd name="csX0" fmla="*/ 0 w 4482094"/>
              <a:gd name="csY0" fmla="*/ 202326 h 1213932"/>
              <a:gd name="csX1" fmla="*/ 202326 w 4482094"/>
              <a:gd name="csY1" fmla="*/ 0 h 1213932"/>
              <a:gd name="csX2" fmla="*/ 703269 w 4482094"/>
              <a:gd name="csY2" fmla="*/ 0 h 1213932"/>
              <a:gd name="csX3" fmla="*/ 1163437 w 4482094"/>
              <a:gd name="csY3" fmla="*/ 0 h 1213932"/>
              <a:gd name="csX4" fmla="*/ 1705155 w 4482094"/>
              <a:gd name="csY4" fmla="*/ 0 h 1213932"/>
              <a:gd name="csX5" fmla="*/ 2328421 w 4482094"/>
              <a:gd name="csY5" fmla="*/ 0 h 1213932"/>
              <a:gd name="csX6" fmla="*/ 2992461 w 4482094"/>
              <a:gd name="csY6" fmla="*/ 0 h 1213932"/>
              <a:gd name="csX7" fmla="*/ 3534179 w 4482094"/>
              <a:gd name="csY7" fmla="*/ 0 h 1213932"/>
              <a:gd name="csX8" fmla="*/ 4279768 w 4482094"/>
              <a:gd name="csY8" fmla="*/ 0 h 1213932"/>
              <a:gd name="csX9" fmla="*/ 4482094 w 4482094"/>
              <a:gd name="csY9" fmla="*/ 202326 h 1213932"/>
              <a:gd name="csX10" fmla="*/ 4482094 w 4482094"/>
              <a:gd name="csY10" fmla="*/ 598873 h 1213932"/>
              <a:gd name="csX11" fmla="*/ 4482094 w 4482094"/>
              <a:gd name="csY11" fmla="*/ 1011606 h 1213932"/>
              <a:gd name="csX12" fmla="*/ 4279768 w 4482094"/>
              <a:gd name="csY12" fmla="*/ 1213932 h 1213932"/>
              <a:gd name="csX13" fmla="*/ 3615727 w 4482094"/>
              <a:gd name="csY13" fmla="*/ 1213932 h 1213932"/>
              <a:gd name="csX14" fmla="*/ 2992461 w 4482094"/>
              <a:gd name="csY14" fmla="*/ 1213932 h 1213932"/>
              <a:gd name="csX15" fmla="*/ 2369195 w 4482094"/>
              <a:gd name="csY15" fmla="*/ 1213932 h 1213932"/>
              <a:gd name="csX16" fmla="*/ 1909027 w 4482094"/>
              <a:gd name="csY16" fmla="*/ 1213932 h 1213932"/>
              <a:gd name="csX17" fmla="*/ 1448858 w 4482094"/>
              <a:gd name="csY17" fmla="*/ 1213932 h 1213932"/>
              <a:gd name="csX18" fmla="*/ 988690 w 4482094"/>
              <a:gd name="csY18" fmla="*/ 1213932 h 1213932"/>
              <a:gd name="csX19" fmla="*/ 202326 w 4482094"/>
              <a:gd name="csY19" fmla="*/ 1213932 h 1213932"/>
              <a:gd name="csX20" fmla="*/ 0 w 4482094"/>
              <a:gd name="csY20" fmla="*/ 1011606 h 1213932"/>
              <a:gd name="csX21" fmla="*/ 0 w 4482094"/>
              <a:gd name="csY21" fmla="*/ 623152 h 1213932"/>
              <a:gd name="csX22" fmla="*/ 0 w 4482094"/>
              <a:gd name="csY22"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482094" h="1213932" fill="none" extrusionOk="0">
                <a:moveTo>
                  <a:pt x="0" y="202326"/>
                </a:moveTo>
                <a:cubicBezTo>
                  <a:pt x="26695" y="78017"/>
                  <a:pt x="75354" y="6686"/>
                  <a:pt x="202326" y="0"/>
                </a:cubicBezTo>
                <a:cubicBezTo>
                  <a:pt x="310846" y="-50018"/>
                  <a:pt x="593216" y="34946"/>
                  <a:pt x="703269" y="0"/>
                </a:cubicBezTo>
                <a:cubicBezTo>
                  <a:pt x="813322" y="-34946"/>
                  <a:pt x="955403" y="25942"/>
                  <a:pt x="1163437" y="0"/>
                </a:cubicBezTo>
                <a:cubicBezTo>
                  <a:pt x="1371471" y="-25942"/>
                  <a:pt x="1593315" y="40294"/>
                  <a:pt x="1705155" y="0"/>
                </a:cubicBezTo>
                <a:cubicBezTo>
                  <a:pt x="1816995" y="-40294"/>
                  <a:pt x="2122609" y="42548"/>
                  <a:pt x="2328421" y="0"/>
                </a:cubicBezTo>
                <a:cubicBezTo>
                  <a:pt x="2534233" y="-42548"/>
                  <a:pt x="2780578" y="59133"/>
                  <a:pt x="2992461" y="0"/>
                </a:cubicBezTo>
                <a:cubicBezTo>
                  <a:pt x="3204344" y="-59133"/>
                  <a:pt x="3421836" y="36180"/>
                  <a:pt x="3534179" y="0"/>
                </a:cubicBezTo>
                <a:cubicBezTo>
                  <a:pt x="3646522" y="-36180"/>
                  <a:pt x="4090705" y="35347"/>
                  <a:pt x="4279768" y="0"/>
                </a:cubicBezTo>
                <a:cubicBezTo>
                  <a:pt x="4374039" y="17153"/>
                  <a:pt x="4478954" y="94594"/>
                  <a:pt x="4482094" y="202326"/>
                </a:cubicBezTo>
                <a:cubicBezTo>
                  <a:pt x="4499112" y="317165"/>
                  <a:pt x="4466703" y="476425"/>
                  <a:pt x="4482094" y="598873"/>
                </a:cubicBezTo>
                <a:cubicBezTo>
                  <a:pt x="4497485" y="721321"/>
                  <a:pt x="4433159" y="915363"/>
                  <a:pt x="4482094" y="1011606"/>
                </a:cubicBezTo>
                <a:cubicBezTo>
                  <a:pt x="4500655" y="1107200"/>
                  <a:pt x="4371140" y="1231747"/>
                  <a:pt x="4279768" y="1213932"/>
                </a:cubicBezTo>
                <a:cubicBezTo>
                  <a:pt x="3949763" y="1262404"/>
                  <a:pt x="3886087" y="1171221"/>
                  <a:pt x="3615727" y="1213932"/>
                </a:cubicBezTo>
                <a:cubicBezTo>
                  <a:pt x="3345367" y="1256643"/>
                  <a:pt x="3188927" y="1158815"/>
                  <a:pt x="2992461" y="1213932"/>
                </a:cubicBezTo>
                <a:cubicBezTo>
                  <a:pt x="2795995" y="1269049"/>
                  <a:pt x="2642429" y="1202278"/>
                  <a:pt x="2369195" y="1213932"/>
                </a:cubicBezTo>
                <a:cubicBezTo>
                  <a:pt x="2095961" y="1225586"/>
                  <a:pt x="2124900" y="1207898"/>
                  <a:pt x="1909027" y="1213932"/>
                </a:cubicBezTo>
                <a:cubicBezTo>
                  <a:pt x="1693154" y="1219966"/>
                  <a:pt x="1674914" y="1164025"/>
                  <a:pt x="1448858" y="1213932"/>
                </a:cubicBezTo>
                <a:cubicBezTo>
                  <a:pt x="1222802" y="1263839"/>
                  <a:pt x="1114471" y="1165257"/>
                  <a:pt x="988690" y="1213932"/>
                </a:cubicBezTo>
                <a:cubicBezTo>
                  <a:pt x="862909" y="1262607"/>
                  <a:pt x="434083" y="1185791"/>
                  <a:pt x="202326" y="1213932"/>
                </a:cubicBezTo>
                <a:cubicBezTo>
                  <a:pt x="103782" y="1218548"/>
                  <a:pt x="15230" y="1124784"/>
                  <a:pt x="0" y="1011606"/>
                </a:cubicBezTo>
                <a:cubicBezTo>
                  <a:pt x="-5740" y="817584"/>
                  <a:pt x="4281" y="721549"/>
                  <a:pt x="0" y="623152"/>
                </a:cubicBezTo>
                <a:cubicBezTo>
                  <a:pt x="-4281" y="524755"/>
                  <a:pt x="41708" y="293725"/>
                  <a:pt x="0" y="202326"/>
                </a:cubicBezTo>
                <a:close/>
              </a:path>
              <a:path w="4482094" h="1213932" stroke="0" extrusionOk="0">
                <a:moveTo>
                  <a:pt x="0" y="202326"/>
                </a:moveTo>
                <a:cubicBezTo>
                  <a:pt x="-16723" y="104191"/>
                  <a:pt x="101543" y="-28700"/>
                  <a:pt x="202326" y="0"/>
                </a:cubicBezTo>
                <a:cubicBezTo>
                  <a:pt x="436127" y="-38849"/>
                  <a:pt x="523360" y="22818"/>
                  <a:pt x="784818" y="0"/>
                </a:cubicBezTo>
                <a:cubicBezTo>
                  <a:pt x="1046276" y="-22818"/>
                  <a:pt x="1235129" y="60004"/>
                  <a:pt x="1448858" y="0"/>
                </a:cubicBezTo>
                <a:cubicBezTo>
                  <a:pt x="1662587" y="-60004"/>
                  <a:pt x="1803950" y="17905"/>
                  <a:pt x="1909027" y="0"/>
                </a:cubicBezTo>
                <a:cubicBezTo>
                  <a:pt x="2014104" y="-17905"/>
                  <a:pt x="2245709" y="15579"/>
                  <a:pt x="2369195" y="0"/>
                </a:cubicBezTo>
                <a:cubicBezTo>
                  <a:pt x="2492681" y="-15579"/>
                  <a:pt x="2662699" y="41827"/>
                  <a:pt x="2910912" y="0"/>
                </a:cubicBezTo>
                <a:cubicBezTo>
                  <a:pt x="3159125" y="-41827"/>
                  <a:pt x="3274654" y="25262"/>
                  <a:pt x="3493404" y="0"/>
                </a:cubicBezTo>
                <a:cubicBezTo>
                  <a:pt x="3712154" y="-25262"/>
                  <a:pt x="4011493" y="69021"/>
                  <a:pt x="4279768" y="0"/>
                </a:cubicBezTo>
                <a:cubicBezTo>
                  <a:pt x="4400494" y="30317"/>
                  <a:pt x="4459968" y="67561"/>
                  <a:pt x="4482094" y="202326"/>
                </a:cubicBezTo>
                <a:cubicBezTo>
                  <a:pt x="4512683" y="389701"/>
                  <a:pt x="4438350" y="470058"/>
                  <a:pt x="4482094" y="598873"/>
                </a:cubicBezTo>
                <a:cubicBezTo>
                  <a:pt x="4525838" y="727688"/>
                  <a:pt x="4439543" y="818110"/>
                  <a:pt x="4482094" y="1011606"/>
                </a:cubicBezTo>
                <a:cubicBezTo>
                  <a:pt x="4501699" y="1146361"/>
                  <a:pt x="4403210" y="1213086"/>
                  <a:pt x="4279768" y="1213932"/>
                </a:cubicBezTo>
                <a:cubicBezTo>
                  <a:pt x="4053273" y="1262350"/>
                  <a:pt x="3993693" y="1199585"/>
                  <a:pt x="3819600" y="1213932"/>
                </a:cubicBezTo>
                <a:cubicBezTo>
                  <a:pt x="3645507" y="1228279"/>
                  <a:pt x="3564206" y="1206396"/>
                  <a:pt x="3359431" y="1213932"/>
                </a:cubicBezTo>
                <a:cubicBezTo>
                  <a:pt x="3154656" y="1221468"/>
                  <a:pt x="3031699" y="1166407"/>
                  <a:pt x="2899263" y="1213932"/>
                </a:cubicBezTo>
                <a:cubicBezTo>
                  <a:pt x="2766827" y="1261457"/>
                  <a:pt x="2645038" y="1211015"/>
                  <a:pt x="2439094" y="1213932"/>
                </a:cubicBezTo>
                <a:cubicBezTo>
                  <a:pt x="2233150" y="1216849"/>
                  <a:pt x="2142178" y="1158375"/>
                  <a:pt x="1856602" y="1213932"/>
                </a:cubicBezTo>
                <a:cubicBezTo>
                  <a:pt x="1571026" y="1269489"/>
                  <a:pt x="1587404" y="1184297"/>
                  <a:pt x="1396434" y="1213932"/>
                </a:cubicBezTo>
                <a:cubicBezTo>
                  <a:pt x="1205464" y="1243567"/>
                  <a:pt x="999372" y="1142548"/>
                  <a:pt x="732393" y="1213932"/>
                </a:cubicBezTo>
                <a:cubicBezTo>
                  <a:pt x="465414" y="1285316"/>
                  <a:pt x="429827" y="1204260"/>
                  <a:pt x="202326" y="1213932"/>
                </a:cubicBezTo>
                <a:cubicBezTo>
                  <a:pt x="98367" y="1220249"/>
                  <a:pt x="15313" y="1128582"/>
                  <a:pt x="0" y="1011606"/>
                </a:cubicBezTo>
                <a:cubicBezTo>
                  <a:pt x="-22348" y="922605"/>
                  <a:pt x="18797" y="799667"/>
                  <a:pt x="0" y="615059"/>
                </a:cubicBezTo>
                <a:cubicBezTo>
                  <a:pt x="-18797" y="430451"/>
                  <a:pt x="27808" y="389567"/>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247587333">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A0B9AEF3-49AA-2E61-60B5-E8B25CF0FB6D}"/>
              </a:ext>
            </a:extLst>
          </p:cNvPr>
          <p:cNvSpPr/>
          <p:nvPr/>
        </p:nvSpPr>
        <p:spPr>
          <a:xfrm>
            <a:off x="6615105" y="4696264"/>
            <a:ext cx="4658815" cy="1213932"/>
          </a:xfrm>
          <a:custGeom>
            <a:avLst/>
            <a:gdLst>
              <a:gd name="csX0" fmla="*/ 0 w 4658815"/>
              <a:gd name="csY0" fmla="*/ 202326 h 1213932"/>
              <a:gd name="csX1" fmla="*/ 202326 w 4658815"/>
              <a:gd name="csY1" fmla="*/ 0 h 1213932"/>
              <a:gd name="csX2" fmla="*/ 776638 w 4658815"/>
              <a:gd name="csY2" fmla="*/ 0 h 1213932"/>
              <a:gd name="csX3" fmla="*/ 1223325 w 4658815"/>
              <a:gd name="csY3" fmla="*/ 0 h 1213932"/>
              <a:gd name="csX4" fmla="*/ 1797637 w 4658815"/>
              <a:gd name="csY4" fmla="*/ 0 h 1213932"/>
              <a:gd name="csX5" fmla="*/ 2201783 w 4658815"/>
              <a:gd name="csY5" fmla="*/ 0 h 1213932"/>
              <a:gd name="csX6" fmla="*/ 2776095 w 4658815"/>
              <a:gd name="csY6" fmla="*/ 0 h 1213932"/>
              <a:gd name="csX7" fmla="*/ 3222782 w 4658815"/>
              <a:gd name="csY7" fmla="*/ 0 h 1213932"/>
              <a:gd name="csX8" fmla="*/ 3626927 w 4658815"/>
              <a:gd name="csY8" fmla="*/ 0 h 1213932"/>
              <a:gd name="csX9" fmla="*/ 4456489 w 4658815"/>
              <a:gd name="csY9" fmla="*/ 0 h 1213932"/>
              <a:gd name="csX10" fmla="*/ 4658815 w 4658815"/>
              <a:gd name="csY10" fmla="*/ 202326 h 1213932"/>
              <a:gd name="csX11" fmla="*/ 4658815 w 4658815"/>
              <a:gd name="csY11" fmla="*/ 615059 h 1213932"/>
              <a:gd name="csX12" fmla="*/ 4658815 w 4658815"/>
              <a:gd name="csY12" fmla="*/ 1011606 h 1213932"/>
              <a:gd name="csX13" fmla="*/ 4456489 w 4658815"/>
              <a:gd name="csY13" fmla="*/ 1213932 h 1213932"/>
              <a:gd name="csX14" fmla="*/ 4052344 w 4658815"/>
              <a:gd name="csY14" fmla="*/ 1213932 h 1213932"/>
              <a:gd name="csX15" fmla="*/ 3435490 w 4658815"/>
              <a:gd name="csY15" fmla="*/ 1213932 h 1213932"/>
              <a:gd name="csX16" fmla="*/ 2903720 w 4658815"/>
              <a:gd name="csY16" fmla="*/ 1213932 h 1213932"/>
              <a:gd name="csX17" fmla="*/ 2286866 w 4658815"/>
              <a:gd name="csY17" fmla="*/ 1213932 h 1213932"/>
              <a:gd name="csX18" fmla="*/ 1712554 w 4658815"/>
              <a:gd name="csY18" fmla="*/ 1213932 h 1213932"/>
              <a:gd name="csX19" fmla="*/ 1223325 w 4658815"/>
              <a:gd name="csY19" fmla="*/ 1213932 h 1213932"/>
              <a:gd name="csX20" fmla="*/ 202326 w 4658815"/>
              <a:gd name="csY20" fmla="*/ 1213932 h 1213932"/>
              <a:gd name="csX21" fmla="*/ 0 w 4658815"/>
              <a:gd name="csY21" fmla="*/ 1011606 h 1213932"/>
              <a:gd name="csX22" fmla="*/ 0 w 4658815"/>
              <a:gd name="csY22" fmla="*/ 606966 h 1213932"/>
              <a:gd name="csX23" fmla="*/ 0 w 4658815"/>
              <a:gd name="csY23" fmla="*/ 202326 h 1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658815" h="1213932" fill="none" extrusionOk="0">
                <a:moveTo>
                  <a:pt x="0" y="202326"/>
                </a:moveTo>
                <a:cubicBezTo>
                  <a:pt x="-13865" y="118417"/>
                  <a:pt x="86826" y="-4987"/>
                  <a:pt x="202326" y="0"/>
                </a:cubicBezTo>
                <a:cubicBezTo>
                  <a:pt x="461530" y="-6300"/>
                  <a:pt x="508999" y="20240"/>
                  <a:pt x="776638" y="0"/>
                </a:cubicBezTo>
                <a:cubicBezTo>
                  <a:pt x="1044277" y="-20240"/>
                  <a:pt x="1043875" y="3992"/>
                  <a:pt x="1223325" y="0"/>
                </a:cubicBezTo>
                <a:cubicBezTo>
                  <a:pt x="1402775" y="-3992"/>
                  <a:pt x="1646824" y="1804"/>
                  <a:pt x="1797637" y="0"/>
                </a:cubicBezTo>
                <a:cubicBezTo>
                  <a:pt x="1948450" y="-1804"/>
                  <a:pt x="2058582" y="8185"/>
                  <a:pt x="2201783" y="0"/>
                </a:cubicBezTo>
                <a:cubicBezTo>
                  <a:pt x="2344984" y="-8185"/>
                  <a:pt x="2546989" y="67223"/>
                  <a:pt x="2776095" y="0"/>
                </a:cubicBezTo>
                <a:cubicBezTo>
                  <a:pt x="3005201" y="-67223"/>
                  <a:pt x="3036691" y="4785"/>
                  <a:pt x="3222782" y="0"/>
                </a:cubicBezTo>
                <a:cubicBezTo>
                  <a:pt x="3408873" y="-4785"/>
                  <a:pt x="3499934" y="35826"/>
                  <a:pt x="3626927" y="0"/>
                </a:cubicBezTo>
                <a:cubicBezTo>
                  <a:pt x="3753921" y="-35826"/>
                  <a:pt x="4236949" y="27302"/>
                  <a:pt x="4456489" y="0"/>
                </a:cubicBezTo>
                <a:cubicBezTo>
                  <a:pt x="4562502" y="21437"/>
                  <a:pt x="4685616" y="98271"/>
                  <a:pt x="4658815" y="202326"/>
                </a:cubicBezTo>
                <a:cubicBezTo>
                  <a:pt x="4699777" y="365515"/>
                  <a:pt x="4655207" y="490933"/>
                  <a:pt x="4658815" y="615059"/>
                </a:cubicBezTo>
                <a:cubicBezTo>
                  <a:pt x="4662423" y="739185"/>
                  <a:pt x="4635272" y="887276"/>
                  <a:pt x="4658815" y="1011606"/>
                </a:cubicBezTo>
                <a:cubicBezTo>
                  <a:pt x="4669788" y="1150168"/>
                  <a:pt x="4587821" y="1233312"/>
                  <a:pt x="4456489" y="1213932"/>
                </a:cubicBezTo>
                <a:cubicBezTo>
                  <a:pt x="4299887" y="1239580"/>
                  <a:pt x="4187456" y="1179398"/>
                  <a:pt x="4052344" y="1213932"/>
                </a:cubicBezTo>
                <a:cubicBezTo>
                  <a:pt x="3917233" y="1248466"/>
                  <a:pt x="3661664" y="1199401"/>
                  <a:pt x="3435490" y="1213932"/>
                </a:cubicBezTo>
                <a:cubicBezTo>
                  <a:pt x="3209316" y="1228463"/>
                  <a:pt x="3082040" y="1205725"/>
                  <a:pt x="2903720" y="1213932"/>
                </a:cubicBezTo>
                <a:cubicBezTo>
                  <a:pt x="2725400" y="1222139"/>
                  <a:pt x="2587397" y="1145467"/>
                  <a:pt x="2286866" y="1213932"/>
                </a:cubicBezTo>
                <a:cubicBezTo>
                  <a:pt x="1986335" y="1282397"/>
                  <a:pt x="1936315" y="1195658"/>
                  <a:pt x="1712554" y="1213932"/>
                </a:cubicBezTo>
                <a:cubicBezTo>
                  <a:pt x="1488793" y="1232206"/>
                  <a:pt x="1435692" y="1196997"/>
                  <a:pt x="1223325" y="1213932"/>
                </a:cubicBezTo>
                <a:cubicBezTo>
                  <a:pt x="1010958" y="1230867"/>
                  <a:pt x="612559" y="1189547"/>
                  <a:pt x="202326" y="1213932"/>
                </a:cubicBezTo>
                <a:cubicBezTo>
                  <a:pt x="90953" y="1230726"/>
                  <a:pt x="13269" y="1111441"/>
                  <a:pt x="0" y="1011606"/>
                </a:cubicBezTo>
                <a:cubicBezTo>
                  <a:pt x="-45144" y="925982"/>
                  <a:pt x="36711" y="708230"/>
                  <a:pt x="0" y="606966"/>
                </a:cubicBezTo>
                <a:cubicBezTo>
                  <a:pt x="-36711" y="505702"/>
                  <a:pt x="11056" y="331283"/>
                  <a:pt x="0" y="202326"/>
                </a:cubicBezTo>
                <a:close/>
              </a:path>
              <a:path w="4658815" h="1213932" stroke="0" extrusionOk="0">
                <a:moveTo>
                  <a:pt x="0" y="202326"/>
                </a:moveTo>
                <a:cubicBezTo>
                  <a:pt x="-4482" y="87820"/>
                  <a:pt x="67944" y="8497"/>
                  <a:pt x="202326" y="0"/>
                </a:cubicBezTo>
                <a:cubicBezTo>
                  <a:pt x="485467" y="-16537"/>
                  <a:pt x="622590" y="33956"/>
                  <a:pt x="819180" y="0"/>
                </a:cubicBezTo>
                <a:cubicBezTo>
                  <a:pt x="1015770" y="-33956"/>
                  <a:pt x="1101224" y="48252"/>
                  <a:pt x="1308408" y="0"/>
                </a:cubicBezTo>
                <a:cubicBezTo>
                  <a:pt x="1515592" y="-48252"/>
                  <a:pt x="1635004" y="50099"/>
                  <a:pt x="1755095" y="0"/>
                </a:cubicBezTo>
                <a:cubicBezTo>
                  <a:pt x="1875186" y="-50099"/>
                  <a:pt x="2191388" y="4252"/>
                  <a:pt x="2329408" y="0"/>
                </a:cubicBezTo>
                <a:cubicBezTo>
                  <a:pt x="2467428" y="-4252"/>
                  <a:pt x="2666761" y="55587"/>
                  <a:pt x="2818636" y="0"/>
                </a:cubicBezTo>
                <a:cubicBezTo>
                  <a:pt x="2970511" y="-55587"/>
                  <a:pt x="3287266" y="29637"/>
                  <a:pt x="3435490" y="0"/>
                </a:cubicBezTo>
                <a:cubicBezTo>
                  <a:pt x="3583714" y="-29637"/>
                  <a:pt x="3683091" y="7055"/>
                  <a:pt x="3882177" y="0"/>
                </a:cubicBezTo>
                <a:cubicBezTo>
                  <a:pt x="4081263" y="-7055"/>
                  <a:pt x="4263947" y="22576"/>
                  <a:pt x="4456489" y="0"/>
                </a:cubicBezTo>
                <a:cubicBezTo>
                  <a:pt x="4580725" y="3004"/>
                  <a:pt x="4652930" y="89632"/>
                  <a:pt x="4658815" y="202326"/>
                </a:cubicBezTo>
                <a:cubicBezTo>
                  <a:pt x="4688865" y="325324"/>
                  <a:pt x="4634746" y="457901"/>
                  <a:pt x="4658815" y="606966"/>
                </a:cubicBezTo>
                <a:cubicBezTo>
                  <a:pt x="4682884" y="756031"/>
                  <a:pt x="4622469" y="844144"/>
                  <a:pt x="4658815" y="1011606"/>
                </a:cubicBezTo>
                <a:cubicBezTo>
                  <a:pt x="4670900" y="1138151"/>
                  <a:pt x="4586142" y="1198250"/>
                  <a:pt x="4456489" y="1213932"/>
                </a:cubicBezTo>
                <a:cubicBezTo>
                  <a:pt x="4305302" y="1251813"/>
                  <a:pt x="4166599" y="1175047"/>
                  <a:pt x="3924719" y="1213932"/>
                </a:cubicBezTo>
                <a:cubicBezTo>
                  <a:pt x="3682839" y="1252817"/>
                  <a:pt x="3636809" y="1211537"/>
                  <a:pt x="3392948" y="1213932"/>
                </a:cubicBezTo>
                <a:cubicBezTo>
                  <a:pt x="3149087" y="1216327"/>
                  <a:pt x="3019653" y="1187995"/>
                  <a:pt x="2776095" y="1213932"/>
                </a:cubicBezTo>
                <a:cubicBezTo>
                  <a:pt x="2532537" y="1239869"/>
                  <a:pt x="2374460" y="1202954"/>
                  <a:pt x="2244324" y="1213932"/>
                </a:cubicBezTo>
                <a:cubicBezTo>
                  <a:pt x="2114188" y="1224910"/>
                  <a:pt x="2039497" y="1172031"/>
                  <a:pt x="1840179" y="1213932"/>
                </a:cubicBezTo>
                <a:cubicBezTo>
                  <a:pt x="1640861" y="1255833"/>
                  <a:pt x="1583331" y="1207787"/>
                  <a:pt x="1393492" y="1213932"/>
                </a:cubicBezTo>
                <a:cubicBezTo>
                  <a:pt x="1203653" y="1220077"/>
                  <a:pt x="914863" y="1201446"/>
                  <a:pt x="776638" y="1213932"/>
                </a:cubicBezTo>
                <a:cubicBezTo>
                  <a:pt x="638413" y="1226418"/>
                  <a:pt x="437328" y="1174067"/>
                  <a:pt x="202326" y="1213932"/>
                </a:cubicBezTo>
                <a:cubicBezTo>
                  <a:pt x="93009" y="1218734"/>
                  <a:pt x="-19492" y="1133627"/>
                  <a:pt x="0" y="1011606"/>
                </a:cubicBezTo>
                <a:cubicBezTo>
                  <a:pt x="-34041" y="867494"/>
                  <a:pt x="19408" y="757014"/>
                  <a:pt x="0" y="598873"/>
                </a:cubicBezTo>
                <a:cubicBezTo>
                  <a:pt x="-19408" y="440732"/>
                  <a:pt x="27962" y="330545"/>
                  <a:pt x="0" y="202326"/>
                </a:cubicBezTo>
                <a:close/>
              </a:path>
            </a:pathLst>
          </a:custGeom>
          <a:solidFill>
            <a:schemeClr val="accent6">
              <a:lumMod val="40000"/>
              <a:lumOff val="60000"/>
            </a:schemeClr>
          </a:solidFill>
          <a:ln w="25400">
            <a:beve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5868C3-9E4D-4E95-B31C-7C057D383E7E}"/>
              </a:ext>
            </a:extLst>
          </p:cNvPr>
          <p:cNvSpPr txBox="1"/>
          <p:nvPr/>
        </p:nvSpPr>
        <p:spPr>
          <a:xfrm>
            <a:off x="6615108" y="2220094"/>
            <a:ext cx="2830628" cy="1015663"/>
          </a:xfrm>
          <a:prstGeom prst="rect">
            <a:avLst/>
          </a:prstGeom>
          <a:noFill/>
        </p:spPr>
        <p:txBody>
          <a:bodyPr wrap="square" rtlCol="0">
            <a:spAutoFit/>
          </a:bodyPr>
          <a:lstStyle/>
          <a:p>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6" name="TextBox 5">
            <a:extLst>
              <a:ext uri="{FF2B5EF4-FFF2-40B4-BE49-F238E27FC236}">
                <a16:creationId xmlns:a16="http://schemas.microsoft.com/office/drawing/2014/main" id="{9DC10634-893E-0AE8-543B-239A3FDD3AC4}"/>
              </a:ext>
            </a:extLst>
          </p:cNvPr>
          <p:cNvSpPr txBox="1"/>
          <p:nvPr/>
        </p:nvSpPr>
        <p:spPr>
          <a:xfrm>
            <a:off x="6615107" y="3218936"/>
            <a:ext cx="2587489" cy="1477328"/>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Unicasts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from machines to server</a:t>
            </a:r>
          </a:p>
        </p:txBody>
      </p:sp>
      <p:sp>
        <p:nvSpPr>
          <p:cNvPr id="8" name="TextBox 7">
            <a:extLst>
              <a:ext uri="{FF2B5EF4-FFF2-40B4-BE49-F238E27FC236}">
                <a16:creationId xmlns:a16="http://schemas.microsoft.com/office/drawing/2014/main" id="{F2D0FD17-F6A8-BAD0-05C6-9D749A7C6CF3}"/>
              </a:ext>
            </a:extLst>
          </p:cNvPr>
          <p:cNvSpPr txBox="1"/>
          <p:nvPr/>
        </p:nvSpPr>
        <p:spPr>
          <a:xfrm>
            <a:off x="558943" y="4755944"/>
            <a:ext cx="4247536" cy="1015663"/>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e.g., market data multicast in financial exchanges</a:t>
            </a:r>
          </a:p>
        </p:txBody>
      </p:sp>
      <p:sp>
        <p:nvSpPr>
          <p:cNvPr id="9" name="TextBox 8">
            <a:extLst>
              <a:ext uri="{FF2B5EF4-FFF2-40B4-BE49-F238E27FC236}">
                <a16:creationId xmlns:a16="http://schemas.microsoft.com/office/drawing/2014/main" id="{08132746-6200-E816-8E25-DA0B9F3DE748}"/>
              </a:ext>
            </a:extLst>
          </p:cNvPr>
          <p:cNvSpPr txBox="1"/>
          <p:nvPr/>
        </p:nvSpPr>
        <p:spPr>
          <a:xfrm>
            <a:off x="6567336" y="4755944"/>
            <a:ext cx="5065721" cy="1015663"/>
          </a:xfrm>
          <a:prstGeom prst="rect">
            <a:avLst/>
          </a:prstGeom>
          <a:noFill/>
        </p:spPr>
        <p:txBody>
          <a:bodyPr wrap="square" rtlCol="0">
            <a:spAutoFit/>
          </a:bodyPr>
          <a:lstStyle/>
          <a:p>
            <a:r>
              <a:rPr lang="en-US" sz="3000" dirty="0">
                <a:latin typeface="Times New Roman" panose="02020603050405020304" pitchFamily="18" charset="0"/>
                <a:cs typeface="Times New Roman" panose="02020603050405020304" pitchFamily="18" charset="0"/>
              </a:rPr>
              <a:t>e.g., traders submitting orders to a financial exchange server</a:t>
            </a:r>
          </a:p>
        </p:txBody>
      </p:sp>
      <p:sp>
        <p:nvSpPr>
          <p:cNvPr id="10" name="TextBox 9">
            <a:extLst>
              <a:ext uri="{FF2B5EF4-FFF2-40B4-BE49-F238E27FC236}">
                <a16:creationId xmlns:a16="http://schemas.microsoft.com/office/drawing/2014/main" id="{99E1D45C-C17F-4356-52E4-D7CF03618260}"/>
              </a:ext>
            </a:extLst>
          </p:cNvPr>
          <p:cNvSpPr txBox="1"/>
          <p:nvPr/>
        </p:nvSpPr>
        <p:spPr>
          <a:xfrm>
            <a:off x="2124432" y="2220094"/>
            <a:ext cx="2830628" cy="1015663"/>
          </a:xfrm>
          <a:prstGeom prst="rect">
            <a:avLst/>
          </a:prstGeom>
          <a:noFill/>
        </p:spPr>
        <p:txBody>
          <a:bodyPr wrap="square" rtlCol="0">
            <a:spAutoFit/>
          </a:bodyPr>
          <a:lstStyle/>
          <a:p>
            <a:pPr algn="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1" name="TextBox 10">
            <a:extLst>
              <a:ext uri="{FF2B5EF4-FFF2-40B4-BE49-F238E27FC236}">
                <a16:creationId xmlns:a16="http://schemas.microsoft.com/office/drawing/2014/main" id="{23F4BA12-DC7D-61A3-6A34-9391D46B4402}"/>
              </a:ext>
            </a:extLst>
          </p:cNvPr>
          <p:cNvSpPr txBox="1"/>
          <p:nvPr/>
        </p:nvSpPr>
        <p:spPr>
          <a:xfrm>
            <a:off x="2622846" y="3235757"/>
            <a:ext cx="2249561" cy="1477328"/>
          </a:xfrm>
          <a:prstGeom prst="rect">
            <a:avLst/>
          </a:prstGeom>
          <a:noFill/>
        </p:spPr>
        <p:txBody>
          <a:bodyPr wrap="square" rtlCol="0">
            <a:spAutoFit/>
          </a:bodyPr>
          <a:lstStyle/>
          <a:p>
            <a:pPr algn="r"/>
            <a:r>
              <a:rPr lang="en-US" sz="3000" dirty="0">
                <a:latin typeface="Times New Roman" panose="02020603050405020304" pitchFamily="18" charset="0"/>
                <a:cs typeface="Times New Roman" panose="02020603050405020304" pitchFamily="18" charset="0"/>
              </a:rPr>
              <a:t>Multicast from server to machines</a:t>
            </a:r>
          </a:p>
        </p:txBody>
      </p:sp>
      <p:sp>
        <p:nvSpPr>
          <p:cNvPr id="13" name="Rectangle 12">
            <a:extLst>
              <a:ext uri="{FF2B5EF4-FFF2-40B4-BE49-F238E27FC236}">
                <a16:creationId xmlns:a16="http://schemas.microsoft.com/office/drawing/2014/main" id="{B92399B0-7DAC-F651-F7E0-C2093D94BF3A}"/>
              </a:ext>
            </a:extLst>
          </p:cNvPr>
          <p:cNvSpPr/>
          <p:nvPr/>
        </p:nvSpPr>
        <p:spPr>
          <a:xfrm>
            <a:off x="5733022" y="2774092"/>
            <a:ext cx="45719" cy="2492991"/>
          </a:xfrm>
          <a:custGeom>
            <a:avLst/>
            <a:gdLst>
              <a:gd name="csX0" fmla="*/ 0 w 45719"/>
              <a:gd name="csY0" fmla="*/ 0 h 2492991"/>
              <a:gd name="csX1" fmla="*/ 45719 w 45719"/>
              <a:gd name="csY1" fmla="*/ 0 h 2492991"/>
              <a:gd name="csX2" fmla="*/ 45719 w 45719"/>
              <a:gd name="csY2" fmla="*/ 498598 h 2492991"/>
              <a:gd name="csX3" fmla="*/ 45719 w 45719"/>
              <a:gd name="csY3" fmla="*/ 1047056 h 2492991"/>
              <a:gd name="csX4" fmla="*/ 45719 w 45719"/>
              <a:gd name="csY4" fmla="*/ 1545654 h 2492991"/>
              <a:gd name="csX5" fmla="*/ 45719 w 45719"/>
              <a:gd name="csY5" fmla="*/ 1969463 h 2492991"/>
              <a:gd name="csX6" fmla="*/ 45719 w 45719"/>
              <a:gd name="csY6" fmla="*/ 2492991 h 2492991"/>
              <a:gd name="csX7" fmla="*/ 0 w 45719"/>
              <a:gd name="csY7" fmla="*/ 2492991 h 2492991"/>
              <a:gd name="csX8" fmla="*/ 0 w 45719"/>
              <a:gd name="csY8" fmla="*/ 1944533 h 2492991"/>
              <a:gd name="csX9" fmla="*/ 0 w 45719"/>
              <a:gd name="csY9" fmla="*/ 1421005 h 2492991"/>
              <a:gd name="csX10" fmla="*/ 0 w 45719"/>
              <a:gd name="csY10" fmla="*/ 922407 h 2492991"/>
              <a:gd name="csX11" fmla="*/ 0 w 45719"/>
              <a:gd name="csY11" fmla="*/ 0 h 2492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719" h="2492991" fill="none" extrusionOk="0">
                <a:moveTo>
                  <a:pt x="0" y="0"/>
                </a:moveTo>
                <a:cubicBezTo>
                  <a:pt x="15466" y="-3108"/>
                  <a:pt x="29505" y="2787"/>
                  <a:pt x="45719" y="0"/>
                </a:cubicBezTo>
                <a:cubicBezTo>
                  <a:pt x="96714" y="244462"/>
                  <a:pt x="38492" y="292531"/>
                  <a:pt x="45719" y="498598"/>
                </a:cubicBezTo>
                <a:cubicBezTo>
                  <a:pt x="52946" y="704665"/>
                  <a:pt x="41215" y="773940"/>
                  <a:pt x="45719" y="1047056"/>
                </a:cubicBezTo>
                <a:cubicBezTo>
                  <a:pt x="50223" y="1320172"/>
                  <a:pt x="20442" y="1409127"/>
                  <a:pt x="45719" y="1545654"/>
                </a:cubicBezTo>
                <a:cubicBezTo>
                  <a:pt x="70996" y="1682181"/>
                  <a:pt x="37286" y="1837495"/>
                  <a:pt x="45719" y="1969463"/>
                </a:cubicBezTo>
                <a:cubicBezTo>
                  <a:pt x="54152" y="2101431"/>
                  <a:pt x="20701" y="2253374"/>
                  <a:pt x="45719" y="2492991"/>
                </a:cubicBezTo>
                <a:cubicBezTo>
                  <a:pt x="34208" y="2496004"/>
                  <a:pt x="9588" y="2489496"/>
                  <a:pt x="0" y="2492991"/>
                </a:cubicBezTo>
                <a:cubicBezTo>
                  <a:pt x="-9781" y="2257546"/>
                  <a:pt x="17963" y="2141047"/>
                  <a:pt x="0" y="1944533"/>
                </a:cubicBezTo>
                <a:cubicBezTo>
                  <a:pt x="-17963" y="1748019"/>
                  <a:pt x="28336" y="1642462"/>
                  <a:pt x="0" y="1421005"/>
                </a:cubicBezTo>
                <a:cubicBezTo>
                  <a:pt x="-28336" y="1199548"/>
                  <a:pt x="13584" y="1089980"/>
                  <a:pt x="0" y="922407"/>
                </a:cubicBezTo>
                <a:cubicBezTo>
                  <a:pt x="-13584" y="754834"/>
                  <a:pt x="77438" y="239728"/>
                  <a:pt x="0" y="0"/>
                </a:cubicBezTo>
                <a:close/>
              </a:path>
              <a:path w="45719" h="2492991" stroke="0" extrusionOk="0">
                <a:moveTo>
                  <a:pt x="0" y="0"/>
                </a:moveTo>
                <a:cubicBezTo>
                  <a:pt x="18173" y="-1477"/>
                  <a:pt x="31455" y="3772"/>
                  <a:pt x="45719" y="0"/>
                </a:cubicBezTo>
                <a:cubicBezTo>
                  <a:pt x="49078" y="113210"/>
                  <a:pt x="23101" y="288473"/>
                  <a:pt x="45719" y="423808"/>
                </a:cubicBezTo>
                <a:cubicBezTo>
                  <a:pt x="68337" y="559143"/>
                  <a:pt x="-15560" y="770450"/>
                  <a:pt x="45719" y="972266"/>
                </a:cubicBezTo>
                <a:cubicBezTo>
                  <a:pt x="106998" y="1174082"/>
                  <a:pt x="-1609" y="1235521"/>
                  <a:pt x="45719" y="1470865"/>
                </a:cubicBezTo>
                <a:cubicBezTo>
                  <a:pt x="93047" y="1706209"/>
                  <a:pt x="30494" y="1816253"/>
                  <a:pt x="45719" y="1919603"/>
                </a:cubicBezTo>
                <a:cubicBezTo>
                  <a:pt x="60944" y="2022953"/>
                  <a:pt x="28474" y="2341608"/>
                  <a:pt x="45719" y="2492991"/>
                </a:cubicBezTo>
                <a:cubicBezTo>
                  <a:pt x="22941" y="2494258"/>
                  <a:pt x="12902" y="2490132"/>
                  <a:pt x="0" y="2492991"/>
                </a:cubicBezTo>
                <a:cubicBezTo>
                  <a:pt x="-59460" y="2250702"/>
                  <a:pt x="24665" y="2128448"/>
                  <a:pt x="0" y="1944533"/>
                </a:cubicBezTo>
                <a:cubicBezTo>
                  <a:pt x="-24665" y="1760618"/>
                  <a:pt x="21622" y="1582387"/>
                  <a:pt x="0" y="1396075"/>
                </a:cubicBezTo>
                <a:cubicBezTo>
                  <a:pt x="-21622" y="1209763"/>
                  <a:pt x="53927" y="1082433"/>
                  <a:pt x="0" y="922407"/>
                </a:cubicBezTo>
                <a:cubicBezTo>
                  <a:pt x="-53927" y="762381"/>
                  <a:pt x="37230" y="594554"/>
                  <a:pt x="0" y="448738"/>
                </a:cubicBezTo>
                <a:cubicBezTo>
                  <a:pt x="-37230" y="302922"/>
                  <a:pt x="25725" y="182915"/>
                  <a:pt x="0" y="0"/>
                </a:cubicBezTo>
                <a:close/>
              </a:path>
            </a:pathLst>
          </a:custGeom>
          <a:solidFill>
            <a:srgbClr val="7030A0"/>
          </a:solidFill>
          <a:ln>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124AF337-F26F-C290-A807-EF1EC23C569F}"/>
              </a:ext>
            </a:extLst>
          </p:cNvPr>
          <p:cNvSpPr/>
          <p:nvPr/>
        </p:nvSpPr>
        <p:spPr>
          <a:xfrm>
            <a:off x="3155766" y="5757425"/>
            <a:ext cx="5425726" cy="695454"/>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Specialized Infrastructure used by on-premises financial exchanges</a:t>
            </a:r>
          </a:p>
        </p:txBody>
      </p:sp>
      <p:sp>
        <p:nvSpPr>
          <p:cNvPr id="14" name="Rounded Rectangle 13">
            <a:extLst>
              <a:ext uri="{FF2B5EF4-FFF2-40B4-BE49-F238E27FC236}">
                <a16:creationId xmlns:a16="http://schemas.microsoft.com/office/drawing/2014/main" id="{C3AC7196-B58F-8FE9-5358-E4FCB44ECA06}"/>
              </a:ext>
            </a:extLst>
          </p:cNvPr>
          <p:cNvSpPr/>
          <p:nvPr/>
        </p:nvSpPr>
        <p:spPr>
          <a:xfrm>
            <a:off x="4741097" y="405121"/>
            <a:ext cx="6677997" cy="147732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New Roman" panose="02020603050405020304" pitchFamily="18" charset="0"/>
                <a:cs typeface="Times New Roman" panose="02020603050405020304" pitchFamily="18" charset="0"/>
              </a:rPr>
              <a:t>Commodity Networking Infrastructure</a:t>
            </a:r>
          </a:p>
        </p:txBody>
      </p:sp>
      <p:sp>
        <p:nvSpPr>
          <p:cNvPr id="19" name="Up Arrow 18">
            <a:extLst>
              <a:ext uri="{FF2B5EF4-FFF2-40B4-BE49-F238E27FC236}">
                <a16:creationId xmlns:a16="http://schemas.microsoft.com/office/drawing/2014/main" id="{376DD3FE-B035-98E4-7546-7AF67D36A2FA}"/>
              </a:ext>
            </a:extLst>
          </p:cNvPr>
          <p:cNvSpPr/>
          <p:nvPr/>
        </p:nvSpPr>
        <p:spPr>
          <a:xfrm rot="1624721">
            <a:off x="5546592" y="1978943"/>
            <a:ext cx="644072" cy="3681988"/>
          </a:xfrm>
          <a:custGeom>
            <a:avLst/>
            <a:gdLst>
              <a:gd name="csX0" fmla="*/ 0 w 644072"/>
              <a:gd name="csY0" fmla="*/ 608700 h 3681988"/>
              <a:gd name="csX1" fmla="*/ 157798 w 644072"/>
              <a:gd name="csY1" fmla="*/ 310437 h 3681988"/>
              <a:gd name="csX2" fmla="*/ 322036 w 644072"/>
              <a:gd name="csY2" fmla="*/ 0 h 3681988"/>
              <a:gd name="csX3" fmla="*/ 486274 w 644072"/>
              <a:gd name="csY3" fmla="*/ 310437 h 3681988"/>
              <a:gd name="csX4" fmla="*/ 644072 w 644072"/>
              <a:gd name="csY4" fmla="*/ 608700 h 3681988"/>
              <a:gd name="csX5" fmla="*/ 483054 w 644072"/>
              <a:gd name="csY5" fmla="*/ 608700 h 3681988"/>
              <a:gd name="csX6" fmla="*/ 483054 w 644072"/>
              <a:gd name="csY6" fmla="*/ 1059449 h 3681988"/>
              <a:gd name="csX7" fmla="*/ 483054 w 644072"/>
              <a:gd name="csY7" fmla="*/ 1540931 h 3681988"/>
              <a:gd name="csX8" fmla="*/ 483054 w 644072"/>
              <a:gd name="csY8" fmla="*/ 2114611 h 3681988"/>
              <a:gd name="csX9" fmla="*/ 483054 w 644072"/>
              <a:gd name="csY9" fmla="*/ 2626826 h 3681988"/>
              <a:gd name="csX10" fmla="*/ 483054 w 644072"/>
              <a:gd name="csY10" fmla="*/ 3169773 h 3681988"/>
              <a:gd name="csX11" fmla="*/ 483054 w 644072"/>
              <a:gd name="csY11" fmla="*/ 3681988 h 3681988"/>
              <a:gd name="csX12" fmla="*/ 161018 w 644072"/>
              <a:gd name="csY12" fmla="*/ 3681988 h 3681988"/>
              <a:gd name="csX13" fmla="*/ 161018 w 644072"/>
              <a:gd name="csY13" fmla="*/ 3139040 h 3681988"/>
              <a:gd name="csX14" fmla="*/ 161018 w 644072"/>
              <a:gd name="csY14" fmla="*/ 2688292 h 3681988"/>
              <a:gd name="csX15" fmla="*/ 161018 w 644072"/>
              <a:gd name="csY15" fmla="*/ 2268276 h 3681988"/>
              <a:gd name="csX16" fmla="*/ 161018 w 644072"/>
              <a:gd name="csY16" fmla="*/ 1848259 h 3681988"/>
              <a:gd name="csX17" fmla="*/ 161018 w 644072"/>
              <a:gd name="csY17" fmla="*/ 1305312 h 3681988"/>
              <a:gd name="csX18" fmla="*/ 161018 w 644072"/>
              <a:gd name="csY18" fmla="*/ 608700 h 3681988"/>
              <a:gd name="csX19" fmla="*/ 0 w 644072"/>
              <a:gd name="csY19" fmla="*/ 608700 h 36819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44072" h="3681988" fill="none" extrusionOk="0">
                <a:moveTo>
                  <a:pt x="0" y="608700"/>
                </a:moveTo>
                <a:cubicBezTo>
                  <a:pt x="39281" y="527294"/>
                  <a:pt x="116321" y="436673"/>
                  <a:pt x="157798" y="310437"/>
                </a:cubicBezTo>
                <a:cubicBezTo>
                  <a:pt x="199275" y="184201"/>
                  <a:pt x="288738" y="88404"/>
                  <a:pt x="322036" y="0"/>
                </a:cubicBezTo>
                <a:cubicBezTo>
                  <a:pt x="413927" y="144486"/>
                  <a:pt x="412813" y="245340"/>
                  <a:pt x="486274" y="310437"/>
                </a:cubicBezTo>
                <a:cubicBezTo>
                  <a:pt x="559735" y="375534"/>
                  <a:pt x="590978" y="529753"/>
                  <a:pt x="644072" y="608700"/>
                </a:cubicBezTo>
                <a:cubicBezTo>
                  <a:pt x="606168" y="627873"/>
                  <a:pt x="541071" y="606610"/>
                  <a:pt x="483054" y="608700"/>
                </a:cubicBezTo>
                <a:cubicBezTo>
                  <a:pt x="533927" y="747854"/>
                  <a:pt x="436638" y="950735"/>
                  <a:pt x="483054" y="1059449"/>
                </a:cubicBezTo>
                <a:cubicBezTo>
                  <a:pt x="529470" y="1168163"/>
                  <a:pt x="454704" y="1350265"/>
                  <a:pt x="483054" y="1540931"/>
                </a:cubicBezTo>
                <a:cubicBezTo>
                  <a:pt x="511404" y="1731597"/>
                  <a:pt x="456230" y="1958127"/>
                  <a:pt x="483054" y="2114611"/>
                </a:cubicBezTo>
                <a:cubicBezTo>
                  <a:pt x="509878" y="2271095"/>
                  <a:pt x="433209" y="2447887"/>
                  <a:pt x="483054" y="2626826"/>
                </a:cubicBezTo>
                <a:cubicBezTo>
                  <a:pt x="532899" y="2805766"/>
                  <a:pt x="470900" y="2988063"/>
                  <a:pt x="483054" y="3169773"/>
                </a:cubicBezTo>
                <a:cubicBezTo>
                  <a:pt x="495208" y="3351483"/>
                  <a:pt x="469942" y="3556428"/>
                  <a:pt x="483054" y="3681988"/>
                </a:cubicBezTo>
                <a:cubicBezTo>
                  <a:pt x="375647" y="3684812"/>
                  <a:pt x="234776" y="3663767"/>
                  <a:pt x="161018" y="3681988"/>
                </a:cubicBezTo>
                <a:cubicBezTo>
                  <a:pt x="145560" y="3549593"/>
                  <a:pt x="210738" y="3393822"/>
                  <a:pt x="161018" y="3139040"/>
                </a:cubicBezTo>
                <a:cubicBezTo>
                  <a:pt x="111298" y="2884258"/>
                  <a:pt x="182870" y="2798159"/>
                  <a:pt x="161018" y="2688292"/>
                </a:cubicBezTo>
                <a:cubicBezTo>
                  <a:pt x="139166" y="2578425"/>
                  <a:pt x="167559" y="2470814"/>
                  <a:pt x="161018" y="2268276"/>
                </a:cubicBezTo>
                <a:cubicBezTo>
                  <a:pt x="154477" y="2065738"/>
                  <a:pt x="208539" y="1974379"/>
                  <a:pt x="161018" y="1848259"/>
                </a:cubicBezTo>
                <a:cubicBezTo>
                  <a:pt x="113497" y="1722139"/>
                  <a:pt x="212588" y="1442667"/>
                  <a:pt x="161018" y="1305312"/>
                </a:cubicBezTo>
                <a:cubicBezTo>
                  <a:pt x="109448" y="1167957"/>
                  <a:pt x="239086" y="820263"/>
                  <a:pt x="161018" y="608700"/>
                </a:cubicBezTo>
                <a:cubicBezTo>
                  <a:pt x="90389" y="620596"/>
                  <a:pt x="80176" y="599850"/>
                  <a:pt x="0" y="608700"/>
                </a:cubicBezTo>
                <a:close/>
              </a:path>
              <a:path w="644072" h="3681988" stroke="0" extrusionOk="0">
                <a:moveTo>
                  <a:pt x="0" y="608700"/>
                </a:moveTo>
                <a:cubicBezTo>
                  <a:pt x="51471" y="471540"/>
                  <a:pt x="139895" y="413925"/>
                  <a:pt x="157798" y="310437"/>
                </a:cubicBezTo>
                <a:cubicBezTo>
                  <a:pt x="175701" y="206949"/>
                  <a:pt x="284488" y="119666"/>
                  <a:pt x="322036" y="0"/>
                </a:cubicBezTo>
                <a:cubicBezTo>
                  <a:pt x="398686" y="122195"/>
                  <a:pt x="415136" y="218985"/>
                  <a:pt x="489495" y="316524"/>
                </a:cubicBezTo>
                <a:cubicBezTo>
                  <a:pt x="563853" y="414063"/>
                  <a:pt x="578272" y="546520"/>
                  <a:pt x="644072" y="608700"/>
                </a:cubicBezTo>
                <a:cubicBezTo>
                  <a:pt x="594988" y="620728"/>
                  <a:pt x="521131" y="605554"/>
                  <a:pt x="483054" y="608700"/>
                </a:cubicBezTo>
                <a:cubicBezTo>
                  <a:pt x="515748" y="828608"/>
                  <a:pt x="448129" y="1045969"/>
                  <a:pt x="483054" y="1182380"/>
                </a:cubicBezTo>
                <a:cubicBezTo>
                  <a:pt x="517979" y="1318791"/>
                  <a:pt x="442970" y="1613958"/>
                  <a:pt x="483054" y="1756061"/>
                </a:cubicBezTo>
                <a:cubicBezTo>
                  <a:pt x="523138" y="1898164"/>
                  <a:pt x="470766" y="2088833"/>
                  <a:pt x="483054" y="2268276"/>
                </a:cubicBezTo>
                <a:cubicBezTo>
                  <a:pt x="495342" y="2447720"/>
                  <a:pt x="447206" y="2600004"/>
                  <a:pt x="483054" y="2841956"/>
                </a:cubicBezTo>
                <a:cubicBezTo>
                  <a:pt x="518902" y="3083908"/>
                  <a:pt x="396369" y="3462765"/>
                  <a:pt x="483054" y="3681988"/>
                </a:cubicBezTo>
                <a:cubicBezTo>
                  <a:pt x="409494" y="3718826"/>
                  <a:pt x="250908" y="3663367"/>
                  <a:pt x="161018" y="3681988"/>
                </a:cubicBezTo>
                <a:cubicBezTo>
                  <a:pt x="156329" y="3545531"/>
                  <a:pt x="199713" y="3324976"/>
                  <a:pt x="161018" y="3169773"/>
                </a:cubicBezTo>
                <a:cubicBezTo>
                  <a:pt x="122323" y="3014570"/>
                  <a:pt x="206286" y="2885510"/>
                  <a:pt x="161018" y="2719024"/>
                </a:cubicBezTo>
                <a:cubicBezTo>
                  <a:pt x="115750" y="2552538"/>
                  <a:pt x="197145" y="2330729"/>
                  <a:pt x="161018" y="2206810"/>
                </a:cubicBezTo>
                <a:cubicBezTo>
                  <a:pt x="124891" y="2082891"/>
                  <a:pt x="225623" y="1869557"/>
                  <a:pt x="161018" y="1633129"/>
                </a:cubicBezTo>
                <a:cubicBezTo>
                  <a:pt x="96413" y="1396701"/>
                  <a:pt x="184646" y="1237331"/>
                  <a:pt x="161018" y="1120915"/>
                </a:cubicBezTo>
                <a:cubicBezTo>
                  <a:pt x="137390" y="1004499"/>
                  <a:pt x="161914" y="854141"/>
                  <a:pt x="161018" y="608700"/>
                </a:cubicBezTo>
                <a:cubicBezTo>
                  <a:pt x="123617" y="627052"/>
                  <a:pt x="66666" y="591792"/>
                  <a:pt x="0" y="608700"/>
                </a:cubicBezTo>
                <a:close/>
              </a:path>
            </a:pathLst>
          </a:custGeom>
          <a:solidFill>
            <a:srgbClr val="FF0000"/>
          </a:solidFill>
          <a:ln>
            <a:extLst>
              <a:ext uri="{C807C97D-BFC1-408E-A445-0C87EB9F89A2}">
                <ask:lineSketchStyleProps xmlns:ask="http://schemas.microsoft.com/office/drawing/2018/sketchyshapes" sd="1219033472">
                  <a:prstGeom prst="upArrow">
                    <a:avLst>
                      <a:gd name="adj1" fmla="val 50000"/>
                      <a:gd name="adj2" fmla="val 9450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9018216"/>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DAEBF-8BAF-F3E0-B3D6-E4931F66CAA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8D871015-EDE6-E81D-7BC0-086BC48FAE5C}"/>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7CA8CF64-7878-8473-459D-E8C099F6658D}"/>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741FE454-70F9-322F-C660-D8A2A5E49172}"/>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512C3D2-1CC7-A28A-2894-186A3513B4E0}"/>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8769B4D-8DE9-1F9A-62CE-60D365BC0A13}"/>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821B6EFD-0B57-09ED-798A-1B738DB4ADE8}"/>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Tree>
    <p:extLst>
      <p:ext uri="{BB962C8B-B14F-4D97-AF65-F5344CB8AC3E}">
        <p14:creationId xmlns:p14="http://schemas.microsoft.com/office/powerpoint/2010/main" val="1322128794"/>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B6789-B3A8-D2BE-1DFD-24C65814625C}"/>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DFC14CF6-D2DE-6E62-3827-CB5EFFA939A2}"/>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EA2A3EC-77DB-5725-483C-D2C1A58BC2A8}"/>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AB2275E-ED05-B4EF-DA5A-1CF7BB2D0049}"/>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798050B-D649-4451-42D7-AC068326F9AA}"/>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5DC5370-96DA-FC09-FD1C-A9952418DFDD}"/>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2301127B-D00E-8895-F547-B125F7D1D8CD}"/>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050D947B-F757-3816-C5A0-DC60C90A1E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94F594E8-BA68-BA69-578C-6F82EAFDF0C1}"/>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Tree>
    <p:extLst>
      <p:ext uri="{BB962C8B-B14F-4D97-AF65-F5344CB8AC3E}">
        <p14:creationId xmlns:p14="http://schemas.microsoft.com/office/powerpoint/2010/main" val="1834231864"/>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75F0E-83D9-B2EF-DA0F-2432CE4054E4}"/>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B9B202EB-22D3-D5DC-1662-54FD99455845}"/>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2799CBC-BEE6-91F7-F338-E913CA3EE074}"/>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213FAB46-FF81-4306-B26A-5DD0346FE1C8}"/>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5685F09-890E-EEB0-8E6E-58F658C38486}"/>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B7557A0-5EE6-3A7C-044E-CFE1CC73DAFC}"/>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DB7AE55C-0AA9-6C81-156E-C79BAACE2B08}"/>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430540FE-3929-1ECF-94B3-369F58C210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7E101FEE-6EFF-7EE3-0AE7-66FE7CA17C4D}"/>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B45E7900-A42C-E8D5-A587-62015E92E7F1}"/>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A5E1B3E-60E2-AAB7-DED5-B166F29F5ADA}"/>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Tree>
    <p:extLst>
      <p:ext uri="{BB962C8B-B14F-4D97-AF65-F5344CB8AC3E}">
        <p14:creationId xmlns:p14="http://schemas.microsoft.com/office/powerpoint/2010/main" val="3660530749"/>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EBD4-ED13-6CBD-00AF-7A62EC1F89F6}"/>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BB8E0F07-4FFE-BB58-6C05-8669AA98C5E7}"/>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23A66F5-0D92-D77D-C653-D58EA35005B7}"/>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9CFE63B5-932E-3DFD-308B-FC0860DA087E}"/>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E44CFF1-F54A-2325-4B2F-2D5989C5A006}"/>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F367196-774A-F674-BF2F-2C92C1D81EA7}"/>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A33975DC-1D8E-7593-0160-027F7BE9AB3E}"/>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7A5AA61F-047E-A4CE-40AE-5AA6CA0B6B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396476CC-78FD-B16D-9FC4-480773B78E51}"/>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2E2982C1-8924-EFFA-36D8-1B95244D228A}"/>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54DB84D-496B-A60D-454E-ECF5BA788CE3}"/>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11" name="Graphic 10" descr="Normal Distribution with solid fill">
            <a:extLst>
              <a:ext uri="{FF2B5EF4-FFF2-40B4-BE49-F238E27FC236}">
                <a16:creationId xmlns:a16="http://schemas.microsoft.com/office/drawing/2014/main" id="{5B73A4EF-48C6-379E-A387-DA4E76F2D8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5" y="2206810"/>
            <a:ext cx="914400" cy="914400"/>
          </a:xfrm>
          <a:prstGeom prst="rect">
            <a:avLst/>
          </a:prstGeom>
        </p:spPr>
      </p:pic>
      <p:sp>
        <p:nvSpPr>
          <p:cNvPr id="13" name="TextBox 12">
            <a:extLst>
              <a:ext uri="{FF2B5EF4-FFF2-40B4-BE49-F238E27FC236}">
                <a16:creationId xmlns:a16="http://schemas.microsoft.com/office/drawing/2014/main" id="{9C608732-D4D6-BFFD-B6C7-55791B611A86}"/>
              </a:ext>
            </a:extLst>
          </p:cNvPr>
          <p:cNvSpPr txBox="1"/>
          <p:nvPr/>
        </p:nvSpPr>
        <p:spPr>
          <a:xfrm>
            <a:off x="9059956" y="2152485"/>
            <a:ext cx="2846807" cy="1015663"/>
          </a:xfrm>
          <a:prstGeom prst="rect">
            <a:avLst/>
          </a:prstGeom>
          <a:noFill/>
        </p:spPr>
        <p:txBody>
          <a:bodyPr wrap="square" rtlCol="0">
            <a:spAutoFit/>
          </a:bodyPr>
          <a:lstStyle/>
          <a:p>
            <a:r>
              <a:rPr lang="en-US" sz="3000" dirty="0"/>
              <a:t>Time as a random variable</a:t>
            </a:r>
          </a:p>
        </p:txBody>
      </p:sp>
    </p:spTree>
    <p:extLst>
      <p:ext uri="{BB962C8B-B14F-4D97-AF65-F5344CB8AC3E}">
        <p14:creationId xmlns:p14="http://schemas.microsoft.com/office/powerpoint/2010/main" val="2465174136"/>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A7BE4-2F6D-50E8-B5EA-E9BBB4763B05}"/>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805CE231-BAC5-9ED6-3C4F-062502954516}"/>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5FDFB00-D95F-435A-CB89-E87916646793}"/>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A4E7F626-103D-3BA1-42F9-211847917C12}"/>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350AFCA-CE89-1A02-B58E-1B2B22A28034}"/>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35CA6EB-E3C2-ED3F-1264-A7A554866077}"/>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1A401610-C405-FE5D-753E-B5D7DFC24D10}"/>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C1E514BE-4A3E-6FCE-E902-24C3370D67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307F30E8-D4F8-B3FC-FDA8-BE0D7CB9AE5B}"/>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53274D20-301F-A4CB-EB38-3DD11CFC7147}"/>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8D180D5-504B-B0A2-4348-AAE53CBD0D84}"/>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11" name="Graphic 10" descr="Normal Distribution with solid fill">
            <a:extLst>
              <a:ext uri="{FF2B5EF4-FFF2-40B4-BE49-F238E27FC236}">
                <a16:creationId xmlns:a16="http://schemas.microsoft.com/office/drawing/2014/main" id="{B6B7790C-443C-3E07-213A-980A49AC4E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5" y="2206810"/>
            <a:ext cx="914400" cy="914400"/>
          </a:xfrm>
          <a:prstGeom prst="rect">
            <a:avLst/>
          </a:prstGeom>
        </p:spPr>
      </p:pic>
      <p:sp>
        <p:nvSpPr>
          <p:cNvPr id="13" name="TextBox 12">
            <a:extLst>
              <a:ext uri="{FF2B5EF4-FFF2-40B4-BE49-F238E27FC236}">
                <a16:creationId xmlns:a16="http://schemas.microsoft.com/office/drawing/2014/main" id="{06CAAFA5-F0F7-B64B-945B-F008BBFF8FEB}"/>
              </a:ext>
            </a:extLst>
          </p:cNvPr>
          <p:cNvSpPr txBox="1"/>
          <p:nvPr/>
        </p:nvSpPr>
        <p:spPr>
          <a:xfrm>
            <a:off x="9059956" y="2152485"/>
            <a:ext cx="2846807" cy="1015663"/>
          </a:xfrm>
          <a:prstGeom prst="rect">
            <a:avLst/>
          </a:prstGeom>
          <a:noFill/>
        </p:spPr>
        <p:txBody>
          <a:bodyPr wrap="square" rtlCol="0">
            <a:spAutoFit/>
          </a:bodyPr>
          <a:lstStyle/>
          <a:p>
            <a:r>
              <a:rPr lang="en-US" sz="3000" dirty="0"/>
              <a:t>Time as a random variable</a:t>
            </a:r>
          </a:p>
        </p:txBody>
      </p:sp>
      <p:sp>
        <p:nvSpPr>
          <p:cNvPr id="9" name="TextBox 8">
            <a:extLst>
              <a:ext uri="{FF2B5EF4-FFF2-40B4-BE49-F238E27FC236}">
                <a16:creationId xmlns:a16="http://schemas.microsoft.com/office/drawing/2014/main" id="{E3F2E211-91A5-DD9B-70BF-573CB855077D}"/>
              </a:ext>
            </a:extLst>
          </p:cNvPr>
          <p:cNvSpPr txBox="1"/>
          <p:nvPr/>
        </p:nvSpPr>
        <p:spPr>
          <a:xfrm>
            <a:off x="2121325" y="4564534"/>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SIGCOMM’25</a:t>
            </a:r>
          </a:p>
        </p:txBody>
      </p:sp>
      <p:sp>
        <p:nvSpPr>
          <p:cNvPr id="14" name="TextBox 13">
            <a:extLst>
              <a:ext uri="{FF2B5EF4-FFF2-40B4-BE49-F238E27FC236}">
                <a16:creationId xmlns:a16="http://schemas.microsoft.com/office/drawing/2014/main" id="{AAC98C97-4F56-BA56-E984-2DBDF1E4D90E}"/>
              </a:ext>
            </a:extLst>
          </p:cNvPr>
          <p:cNvSpPr txBox="1"/>
          <p:nvPr/>
        </p:nvSpPr>
        <p:spPr>
          <a:xfrm>
            <a:off x="7643442" y="4111538"/>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HotNets’25</a:t>
            </a:r>
          </a:p>
        </p:txBody>
      </p:sp>
      <p:sp>
        <p:nvSpPr>
          <p:cNvPr id="15" name="TextBox 14">
            <a:extLst>
              <a:ext uri="{FF2B5EF4-FFF2-40B4-BE49-F238E27FC236}">
                <a16:creationId xmlns:a16="http://schemas.microsoft.com/office/drawing/2014/main" id="{887EE278-208A-4B93-637F-68B276C2F983}"/>
              </a:ext>
            </a:extLst>
          </p:cNvPr>
          <p:cNvSpPr txBox="1"/>
          <p:nvPr/>
        </p:nvSpPr>
        <p:spPr>
          <a:xfrm>
            <a:off x="7643442" y="4507299"/>
            <a:ext cx="3872835" cy="461665"/>
          </a:xfrm>
          <a:prstGeom prst="rect">
            <a:avLst/>
          </a:prstGeom>
          <a:noFill/>
        </p:spPr>
        <p:txBody>
          <a:bodyPr wrap="square" rtlCol="0">
            <a:spAutoFit/>
          </a:bodyPr>
          <a:lstStyle/>
          <a:p>
            <a:pPr algn="ctr"/>
            <a:r>
              <a:rPr lang="en-US" sz="2400" dirty="0">
                <a:solidFill>
                  <a:schemeClr val="bg1">
                    <a:lumMod val="50000"/>
                  </a:schemeClr>
                </a:solidFill>
                <a:latin typeface="Times New Roman" panose="02020603050405020304" pitchFamily="18" charset="0"/>
                <a:cs typeface="Times New Roman" panose="02020603050405020304" pitchFamily="18" charset="0"/>
              </a:rPr>
              <a:t>Submitted to SIGCOMM’26</a:t>
            </a:r>
          </a:p>
        </p:txBody>
      </p:sp>
    </p:spTree>
    <p:extLst>
      <p:ext uri="{BB962C8B-B14F-4D97-AF65-F5344CB8AC3E}">
        <p14:creationId xmlns:p14="http://schemas.microsoft.com/office/powerpoint/2010/main" val="229929111"/>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06775-70DA-824D-D1F1-09F7A2F728C7}"/>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13BD36E6-2175-4E01-F989-AEA7048D6FAC}"/>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70DBAB9-255F-B6BA-09B3-0D37E539B14B}"/>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B45D36CC-7460-172A-78DB-598FD5E6BD8D}"/>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71EB8E2-1A72-E97D-AC61-E621B8D6AF8A}"/>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C38A125-EA7E-6448-A161-8D099BD47A96}"/>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7683AD16-892E-88AD-8ACB-FA66F2EE1492}"/>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DC3F74E6-B828-7447-2596-D3D9C5694E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0B99F71D-207C-3FD0-D2C0-67FC0B3B6B20}"/>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C4CE2F7F-1B4D-2F81-B0A2-47AB184F13C3}"/>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80C9FA6-F036-9573-1309-3BD06FDC2D18}"/>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11" name="Graphic 10" descr="Normal Distribution with solid fill">
            <a:extLst>
              <a:ext uri="{FF2B5EF4-FFF2-40B4-BE49-F238E27FC236}">
                <a16:creationId xmlns:a16="http://schemas.microsoft.com/office/drawing/2014/main" id="{5C94C79F-D31B-1110-C711-C59BC2DA23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5" y="2206810"/>
            <a:ext cx="914400" cy="914400"/>
          </a:xfrm>
          <a:prstGeom prst="rect">
            <a:avLst/>
          </a:prstGeom>
        </p:spPr>
      </p:pic>
      <p:sp>
        <p:nvSpPr>
          <p:cNvPr id="13" name="TextBox 12">
            <a:extLst>
              <a:ext uri="{FF2B5EF4-FFF2-40B4-BE49-F238E27FC236}">
                <a16:creationId xmlns:a16="http://schemas.microsoft.com/office/drawing/2014/main" id="{DB85E896-B51E-B9AE-4126-D45A2DB10B7F}"/>
              </a:ext>
            </a:extLst>
          </p:cNvPr>
          <p:cNvSpPr txBox="1"/>
          <p:nvPr/>
        </p:nvSpPr>
        <p:spPr>
          <a:xfrm>
            <a:off x="9059956" y="2152485"/>
            <a:ext cx="2846807" cy="1015663"/>
          </a:xfrm>
          <a:prstGeom prst="rect">
            <a:avLst/>
          </a:prstGeom>
          <a:noFill/>
        </p:spPr>
        <p:txBody>
          <a:bodyPr wrap="square" rtlCol="0">
            <a:spAutoFit/>
          </a:bodyPr>
          <a:lstStyle/>
          <a:p>
            <a:r>
              <a:rPr lang="en-US" sz="3000" dirty="0"/>
              <a:t>Time as a random variable</a:t>
            </a:r>
          </a:p>
        </p:txBody>
      </p:sp>
      <p:sp>
        <p:nvSpPr>
          <p:cNvPr id="9" name="TextBox 8">
            <a:extLst>
              <a:ext uri="{FF2B5EF4-FFF2-40B4-BE49-F238E27FC236}">
                <a16:creationId xmlns:a16="http://schemas.microsoft.com/office/drawing/2014/main" id="{FF79DCAB-6D3F-F0E5-03A5-FECA8F3C4FA2}"/>
              </a:ext>
            </a:extLst>
          </p:cNvPr>
          <p:cNvSpPr txBox="1"/>
          <p:nvPr/>
        </p:nvSpPr>
        <p:spPr>
          <a:xfrm>
            <a:off x="2121325" y="4564534"/>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SIGCOMM’25</a:t>
            </a:r>
          </a:p>
        </p:txBody>
      </p:sp>
      <p:sp>
        <p:nvSpPr>
          <p:cNvPr id="14" name="TextBox 13">
            <a:extLst>
              <a:ext uri="{FF2B5EF4-FFF2-40B4-BE49-F238E27FC236}">
                <a16:creationId xmlns:a16="http://schemas.microsoft.com/office/drawing/2014/main" id="{16758BBE-60CC-5A6D-75BA-B7DACEFFD024}"/>
              </a:ext>
            </a:extLst>
          </p:cNvPr>
          <p:cNvSpPr txBox="1"/>
          <p:nvPr/>
        </p:nvSpPr>
        <p:spPr>
          <a:xfrm>
            <a:off x="7643442" y="4111538"/>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HotNets’25</a:t>
            </a:r>
          </a:p>
        </p:txBody>
      </p:sp>
      <p:sp>
        <p:nvSpPr>
          <p:cNvPr id="15" name="TextBox 14">
            <a:extLst>
              <a:ext uri="{FF2B5EF4-FFF2-40B4-BE49-F238E27FC236}">
                <a16:creationId xmlns:a16="http://schemas.microsoft.com/office/drawing/2014/main" id="{AE0B7F2B-89A8-DA63-8B23-76673AB870C0}"/>
              </a:ext>
            </a:extLst>
          </p:cNvPr>
          <p:cNvSpPr txBox="1"/>
          <p:nvPr/>
        </p:nvSpPr>
        <p:spPr>
          <a:xfrm>
            <a:off x="7643442" y="4507299"/>
            <a:ext cx="3872835" cy="461665"/>
          </a:xfrm>
          <a:prstGeom prst="rect">
            <a:avLst/>
          </a:prstGeom>
          <a:noFill/>
        </p:spPr>
        <p:txBody>
          <a:bodyPr wrap="square" rtlCol="0">
            <a:spAutoFit/>
          </a:bodyPr>
          <a:lstStyle/>
          <a:p>
            <a:pPr algn="ctr"/>
            <a:r>
              <a:rPr lang="en-US" sz="2400" dirty="0">
                <a:solidFill>
                  <a:schemeClr val="bg1">
                    <a:lumMod val="50000"/>
                  </a:schemeClr>
                </a:solidFill>
                <a:latin typeface="Times New Roman" panose="02020603050405020304" pitchFamily="18" charset="0"/>
                <a:cs typeface="Times New Roman" panose="02020603050405020304" pitchFamily="18" charset="0"/>
              </a:rPr>
              <a:t>Submitted to SIGCOMM’26</a:t>
            </a:r>
          </a:p>
        </p:txBody>
      </p:sp>
      <p:sp>
        <p:nvSpPr>
          <p:cNvPr id="3" name="TextBox 2">
            <a:extLst>
              <a:ext uri="{FF2B5EF4-FFF2-40B4-BE49-F238E27FC236}">
                <a16:creationId xmlns:a16="http://schemas.microsoft.com/office/drawing/2014/main" id="{3A453774-1F0A-4F75-7384-F591D706DB5E}"/>
              </a:ext>
            </a:extLst>
          </p:cNvPr>
          <p:cNvSpPr txBox="1"/>
          <p:nvPr/>
        </p:nvSpPr>
        <p:spPr>
          <a:xfrm>
            <a:off x="2121324" y="5050912"/>
            <a:ext cx="3872835"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Cited by researchers from Jane Street, Google, Microsoft Research</a:t>
            </a:r>
          </a:p>
        </p:txBody>
      </p:sp>
      <p:sp>
        <p:nvSpPr>
          <p:cNvPr id="16" name="TextBox 15">
            <a:extLst>
              <a:ext uri="{FF2B5EF4-FFF2-40B4-BE49-F238E27FC236}">
                <a16:creationId xmlns:a16="http://schemas.microsoft.com/office/drawing/2014/main" id="{7F7A22B8-3912-A39A-4AD8-9F6867449B9D}"/>
              </a:ext>
            </a:extLst>
          </p:cNvPr>
          <p:cNvSpPr txBox="1"/>
          <p:nvPr/>
        </p:nvSpPr>
        <p:spPr>
          <a:xfrm>
            <a:off x="7643442" y="5095180"/>
            <a:ext cx="4103674"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Considerable interest from Jane Street, working with them to build several systems atop</a:t>
            </a:r>
          </a:p>
        </p:txBody>
      </p:sp>
    </p:spTree>
    <p:extLst>
      <p:ext uri="{BB962C8B-B14F-4D97-AF65-F5344CB8AC3E}">
        <p14:creationId xmlns:p14="http://schemas.microsoft.com/office/powerpoint/2010/main" val="3568427761"/>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B5CA3-9610-7961-1B95-96F35195D1C8}"/>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8CDB2F0E-92F1-2447-4AFB-9C2AE402C6BF}"/>
              </a:ext>
            </a:extLst>
          </p:cNvPr>
          <p:cNvSpPr/>
          <p:nvPr/>
        </p:nvSpPr>
        <p:spPr>
          <a:xfrm>
            <a:off x="702884" y="2761827"/>
            <a:ext cx="6709719"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0DFBDE7-5E2E-5800-F1C0-A20B261A1755}"/>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27B1ED2F-A8D1-2AF2-FE8B-3E6187AA2C8E}"/>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4C2A527-A0EA-8B4C-9EC6-6DDFB7C965FD}"/>
              </a:ext>
            </a:extLst>
          </p:cNvPr>
          <p:cNvSpPr txBox="1"/>
          <p:nvPr/>
        </p:nvSpPr>
        <p:spPr>
          <a:xfrm>
            <a:off x="772906" y="405121"/>
            <a:ext cx="6591721"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Thesis: Latency Fairness</a:t>
            </a:r>
            <a:endParaRPr lang="en-US" sz="3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EA2168A-D26C-B5B6-2A8D-229247BE723E}"/>
              </a:ext>
            </a:extLst>
          </p:cNvPr>
          <p:cNvSpPr txBox="1"/>
          <p:nvPr/>
        </p:nvSpPr>
        <p:spPr>
          <a:xfrm>
            <a:off x="4229584"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sp>
        <p:nvSpPr>
          <p:cNvPr id="10" name="TextBox 9">
            <a:extLst>
              <a:ext uri="{FF2B5EF4-FFF2-40B4-BE49-F238E27FC236}">
                <a16:creationId xmlns:a16="http://schemas.microsoft.com/office/drawing/2014/main" id="{57EDC1AC-909B-4FDD-19F3-6083605CF67A}"/>
              </a:ext>
            </a:extLst>
          </p:cNvPr>
          <p:cNvSpPr txBox="1"/>
          <p:nvPr/>
        </p:nvSpPr>
        <p:spPr>
          <a:xfrm>
            <a:off x="933723" y="3095367"/>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Outbound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5" name="Graphic 4" descr="Clock with solid fill">
            <a:extLst>
              <a:ext uri="{FF2B5EF4-FFF2-40B4-BE49-F238E27FC236}">
                <a16:creationId xmlns:a16="http://schemas.microsoft.com/office/drawing/2014/main" id="{7CA41EBB-C6FA-DB22-3E79-DEA8E56EF4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5368" y="2338965"/>
            <a:ext cx="914400" cy="914400"/>
          </a:xfrm>
          <a:prstGeom prst="rect">
            <a:avLst/>
          </a:prstGeom>
        </p:spPr>
      </p:pic>
      <p:sp>
        <p:nvSpPr>
          <p:cNvPr id="7" name="TextBox 6">
            <a:extLst>
              <a:ext uri="{FF2B5EF4-FFF2-40B4-BE49-F238E27FC236}">
                <a16:creationId xmlns:a16="http://schemas.microsoft.com/office/drawing/2014/main" id="{E1739C3C-A360-3329-AC33-3EC88A1DDBF6}"/>
              </a:ext>
            </a:extLst>
          </p:cNvPr>
          <p:cNvSpPr txBox="1"/>
          <p:nvPr/>
        </p:nvSpPr>
        <p:spPr>
          <a:xfrm>
            <a:off x="3445340" y="2288333"/>
            <a:ext cx="3614872" cy="1015663"/>
          </a:xfrm>
          <a:prstGeom prst="rect">
            <a:avLst/>
          </a:prstGeom>
          <a:noFill/>
        </p:spPr>
        <p:txBody>
          <a:bodyPr wrap="square" rtlCol="0">
            <a:spAutoFit/>
          </a:bodyPr>
          <a:lstStyle/>
          <a:p>
            <a:r>
              <a:rPr lang="en-US" sz="3000" dirty="0"/>
              <a:t>Tightly Synchronized Clocks</a:t>
            </a:r>
          </a:p>
        </p:txBody>
      </p:sp>
      <p:sp>
        <p:nvSpPr>
          <p:cNvPr id="2" name="Rounded Rectangle 1">
            <a:extLst>
              <a:ext uri="{FF2B5EF4-FFF2-40B4-BE49-F238E27FC236}">
                <a16:creationId xmlns:a16="http://schemas.microsoft.com/office/drawing/2014/main" id="{9A0DB9F4-97FE-53E9-6644-C22A4EAA8EE4}"/>
              </a:ext>
            </a:extLst>
          </p:cNvPr>
          <p:cNvSpPr/>
          <p:nvPr/>
        </p:nvSpPr>
        <p:spPr>
          <a:xfrm>
            <a:off x="7643442" y="2761827"/>
            <a:ext cx="4032482" cy="2279729"/>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8BA897-9EEB-ECE3-39C3-1CD97B0783CC}"/>
              </a:ext>
            </a:extLst>
          </p:cNvPr>
          <p:cNvSpPr txBox="1"/>
          <p:nvPr/>
        </p:nvSpPr>
        <p:spPr>
          <a:xfrm>
            <a:off x="8232575" y="3089189"/>
            <a:ext cx="2830628" cy="1015663"/>
          </a:xfrm>
          <a:prstGeom prst="rect">
            <a:avLst/>
          </a:prstGeom>
          <a:noFill/>
        </p:spPr>
        <p:txBody>
          <a:bodyPr wrap="square" rtlCol="0">
            <a:spAutoFit/>
          </a:bodyPr>
          <a:lstStyle/>
          <a:p>
            <a:pPr algn="ctr"/>
            <a:r>
              <a:rPr lang="en-US" sz="3000" dirty="0">
                <a:solidFill>
                  <a:srgbClr val="7030A0"/>
                </a:solidFill>
                <a:latin typeface="Times New Roman" panose="02020603050405020304" pitchFamily="18" charset="0"/>
                <a:cs typeface="Times New Roman" panose="02020603050405020304" pitchFamily="18" charset="0"/>
              </a:rPr>
              <a:t>Inbound</a:t>
            </a:r>
            <a:br>
              <a:rPr lang="en-US" sz="3000" dirty="0">
                <a:solidFill>
                  <a:srgbClr val="7030A0"/>
                </a:solidFill>
                <a:latin typeface="Times New Roman" panose="02020603050405020304" pitchFamily="18" charset="0"/>
                <a:cs typeface="Times New Roman" panose="02020603050405020304" pitchFamily="18" charset="0"/>
              </a:rPr>
            </a:br>
            <a:r>
              <a:rPr lang="en-US" sz="3000" dirty="0">
                <a:solidFill>
                  <a:srgbClr val="7030A0"/>
                </a:solidFill>
                <a:latin typeface="Times New Roman" panose="02020603050405020304" pitchFamily="18" charset="0"/>
                <a:cs typeface="Times New Roman" panose="02020603050405020304" pitchFamily="18" charset="0"/>
              </a:rPr>
              <a:t>Communication</a:t>
            </a:r>
          </a:p>
        </p:txBody>
      </p:sp>
      <p:pic>
        <p:nvPicPr>
          <p:cNvPr id="11" name="Graphic 10" descr="Normal Distribution with solid fill">
            <a:extLst>
              <a:ext uri="{FF2B5EF4-FFF2-40B4-BE49-F238E27FC236}">
                <a16:creationId xmlns:a16="http://schemas.microsoft.com/office/drawing/2014/main" id="{3011D6E4-E375-4389-751A-8CBB6AD1DF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32575" y="2206810"/>
            <a:ext cx="914400" cy="914400"/>
          </a:xfrm>
          <a:prstGeom prst="rect">
            <a:avLst/>
          </a:prstGeom>
        </p:spPr>
      </p:pic>
      <p:sp>
        <p:nvSpPr>
          <p:cNvPr id="13" name="TextBox 12">
            <a:extLst>
              <a:ext uri="{FF2B5EF4-FFF2-40B4-BE49-F238E27FC236}">
                <a16:creationId xmlns:a16="http://schemas.microsoft.com/office/drawing/2014/main" id="{C1E3FA76-CA6A-C389-4AE7-2B33B1C3E432}"/>
              </a:ext>
            </a:extLst>
          </p:cNvPr>
          <p:cNvSpPr txBox="1"/>
          <p:nvPr/>
        </p:nvSpPr>
        <p:spPr>
          <a:xfrm>
            <a:off x="9059956" y="2152485"/>
            <a:ext cx="2846807" cy="1015663"/>
          </a:xfrm>
          <a:prstGeom prst="rect">
            <a:avLst/>
          </a:prstGeom>
          <a:noFill/>
        </p:spPr>
        <p:txBody>
          <a:bodyPr wrap="square" rtlCol="0">
            <a:spAutoFit/>
          </a:bodyPr>
          <a:lstStyle/>
          <a:p>
            <a:r>
              <a:rPr lang="en-US" sz="3000" dirty="0"/>
              <a:t>Time as a random variable</a:t>
            </a:r>
          </a:p>
        </p:txBody>
      </p:sp>
      <p:sp>
        <p:nvSpPr>
          <p:cNvPr id="9" name="TextBox 8">
            <a:extLst>
              <a:ext uri="{FF2B5EF4-FFF2-40B4-BE49-F238E27FC236}">
                <a16:creationId xmlns:a16="http://schemas.microsoft.com/office/drawing/2014/main" id="{5D5568BD-6B32-8B0A-63B4-D590ED562165}"/>
              </a:ext>
            </a:extLst>
          </p:cNvPr>
          <p:cNvSpPr txBox="1"/>
          <p:nvPr/>
        </p:nvSpPr>
        <p:spPr>
          <a:xfrm>
            <a:off x="2121325" y="4564534"/>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SIGCOMM’25</a:t>
            </a:r>
          </a:p>
        </p:txBody>
      </p:sp>
      <p:sp>
        <p:nvSpPr>
          <p:cNvPr id="14" name="TextBox 13">
            <a:extLst>
              <a:ext uri="{FF2B5EF4-FFF2-40B4-BE49-F238E27FC236}">
                <a16:creationId xmlns:a16="http://schemas.microsoft.com/office/drawing/2014/main" id="{483786E7-FAD5-1A6D-984D-A0C6475A77C9}"/>
              </a:ext>
            </a:extLst>
          </p:cNvPr>
          <p:cNvSpPr txBox="1"/>
          <p:nvPr/>
        </p:nvSpPr>
        <p:spPr>
          <a:xfrm>
            <a:off x="7643442" y="4111538"/>
            <a:ext cx="3872835"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ACM HotNets’25</a:t>
            </a:r>
          </a:p>
        </p:txBody>
      </p:sp>
      <p:sp>
        <p:nvSpPr>
          <p:cNvPr id="15" name="TextBox 14">
            <a:extLst>
              <a:ext uri="{FF2B5EF4-FFF2-40B4-BE49-F238E27FC236}">
                <a16:creationId xmlns:a16="http://schemas.microsoft.com/office/drawing/2014/main" id="{5ADA7C2F-E097-A499-6683-94AB6092CCE0}"/>
              </a:ext>
            </a:extLst>
          </p:cNvPr>
          <p:cNvSpPr txBox="1"/>
          <p:nvPr/>
        </p:nvSpPr>
        <p:spPr>
          <a:xfrm>
            <a:off x="7643442" y="4507299"/>
            <a:ext cx="3872835" cy="461665"/>
          </a:xfrm>
          <a:prstGeom prst="rect">
            <a:avLst/>
          </a:prstGeom>
          <a:noFill/>
        </p:spPr>
        <p:txBody>
          <a:bodyPr wrap="square" rtlCol="0">
            <a:spAutoFit/>
          </a:bodyPr>
          <a:lstStyle/>
          <a:p>
            <a:pPr algn="ctr"/>
            <a:r>
              <a:rPr lang="en-US" sz="2400" dirty="0">
                <a:solidFill>
                  <a:schemeClr val="bg1">
                    <a:lumMod val="50000"/>
                  </a:schemeClr>
                </a:solidFill>
                <a:latin typeface="Times New Roman" panose="02020603050405020304" pitchFamily="18" charset="0"/>
                <a:cs typeface="Times New Roman" panose="02020603050405020304" pitchFamily="18" charset="0"/>
              </a:rPr>
              <a:t>Submitted to SIGCOMM’26</a:t>
            </a:r>
          </a:p>
        </p:txBody>
      </p:sp>
      <p:sp>
        <p:nvSpPr>
          <p:cNvPr id="3" name="TextBox 2">
            <a:extLst>
              <a:ext uri="{FF2B5EF4-FFF2-40B4-BE49-F238E27FC236}">
                <a16:creationId xmlns:a16="http://schemas.microsoft.com/office/drawing/2014/main" id="{F1DD9C98-50C6-813B-3239-9C993D428882}"/>
              </a:ext>
            </a:extLst>
          </p:cNvPr>
          <p:cNvSpPr txBox="1"/>
          <p:nvPr/>
        </p:nvSpPr>
        <p:spPr>
          <a:xfrm>
            <a:off x="2121324" y="5050912"/>
            <a:ext cx="3872835"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Cited by researchers from Jane Street, Google, Microsoft Research</a:t>
            </a:r>
          </a:p>
        </p:txBody>
      </p:sp>
      <p:sp>
        <p:nvSpPr>
          <p:cNvPr id="16" name="TextBox 15">
            <a:extLst>
              <a:ext uri="{FF2B5EF4-FFF2-40B4-BE49-F238E27FC236}">
                <a16:creationId xmlns:a16="http://schemas.microsoft.com/office/drawing/2014/main" id="{3C1004E0-49B5-5D32-B9D0-E6CE1AC7916D}"/>
              </a:ext>
            </a:extLst>
          </p:cNvPr>
          <p:cNvSpPr txBox="1"/>
          <p:nvPr/>
        </p:nvSpPr>
        <p:spPr>
          <a:xfrm>
            <a:off x="7643442" y="5095180"/>
            <a:ext cx="4103674"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Considerable interest from Jane Street, working with them to build several systems atop</a:t>
            </a:r>
          </a:p>
        </p:txBody>
      </p:sp>
      <p:sp>
        <p:nvSpPr>
          <p:cNvPr id="19" name="TextBox 18">
            <a:extLst>
              <a:ext uri="{FF2B5EF4-FFF2-40B4-BE49-F238E27FC236}">
                <a16:creationId xmlns:a16="http://schemas.microsoft.com/office/drawing/2014/main" id="{241566FE-8602-2728-E06A-15A91CC6D3C9}"/>
              </a:ext>
            </a:extLst>
          </p:cNvPr>
          <p:cNvSpPr txBox="1"/>
          <p:nvPr/>
        </p:nvSpPr>
        <p:spPr>
          <a:xfrm>
            <a:off x="1907791" y="1318065"/>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Onyx</a:t>
            </a:r>
          </a:p>
        </p:txBody>
      </p:sp>
      <p:sp>
        <p:nvSpPr>
          <p:cNvPr id="20" name="TextBox 19">
            <a:extLst>
              <a:ext uri="{FF2B5EF4-FFF2-40B4-BE49-F238E27FC236}">
                <a16:creationId xmlns:a16="http://schemas.microsoft.com/office/drawing/2014/main" id="{19CAE7B6-A427-7062-A40F-37C2326B4796}"/>
              </a:ext>
            </a:extLst>
          </p:cNvPr>
          <p:cNvSpPr txBox="1"/>
          <p:nvPr/>
        </p:nvSpPr>
        <p:spPr>
          <a:xfrm>
            <a:off x="7643442" y="1318065"/>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Tommy</a:t>
            </a:r>
          </a:p>
        </p:txBody>
      </p:sp>
    </p:spTree>
    <p:extLst>
      <p:ext uri="{BB962C8B-B14F-4D97-AF65-F5344CB8AC3E}">
        <p14:creationId xmlns:p14="http://schemas.microsoft.com/office/powerpoint/2010/main" val="3396139960"/>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95072-D311-F68C-B2A5-279E63571EB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F082ADE-2353-BB96-6239-C215B9C48190}"/>
              </a:ext>
            </a:extLst>
          </p:cNvPr>
          <p:cNvSpPr/>
          <p:nvPr/>
        </p:nvSpPr>
        <p:spPr>
          <a:xfrm rot="16200000">
            <a:off x="8170505" y="1124325"/>
            <a:ext cx="45719" cy="47481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29CAEC30-4E16-3A5C-9CDD-6F84FC205990}"/>
              </a:ext>
            </a:extLst>
          </p:cNvPr>
          <p:cNvPicPr>
            <a:picLocks noChangeAspect="1"/>
          </p:cNvPicPr>
          <p:nvPr/>
        </p:nvPicPr>
        <p:blipFill>
          <a:blip r:embed="rId3"/>
          <a:stretch>
            <a:fillRect/>
          </a:stretch>
        </p:blipFill>
        <p:spPr>
          <a:xfrm>
            <a:off x="1041006" y="1283720"/>
            <a:ext cx="9948215" cy="2145280"/>
          </a:xfrm>
          <a:prstGeom prst="rect">
            <a:avLst/>
          </a:prstGeom>
        </p:spPr>
      </p:pic>
      <p:sp>
        <p:nvSpPr>
          <p:cNvPr id="18" name="Rectangle 17">
            <a:extLst>
              <a:ext uri="{FF2B5EF4-FFF2-40B4-BE49-F238E27FC236}">
                <a16:creationId xmlns:a16="http://schemas.microsoft.com/office/drawing/2014/main" id="{EC386F67-4617-C1E9-24BC-0E8729AABF75}"/>
              </a:ext>
            </a:extLst>
          </p:cNvPr>
          <p:cNvSpPr/>
          <p:nvPr/>
        </p:nvSpPr>
        <p:spPr>
          <a:xfrm rot="16200000">
            <a:off x="3421012" y="1214037"/>
            <a:ext cx="45719" cy="456874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FEE93460-00C4-9471-E71C-67988F56158E}"/>
              </a:ext>
            </a:extLst>
          </p:cNvPr>
          <p:cNvSpPr txBox="1"/>
          <p:nvPr/>
        </p:nvSpPr>
        <p:spPr>
          <a:xfrm>
            <a:off x="-210844" y="694172"/>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Onyx</a:t>
            </a:r>
          </a:p>
        </p:txBody>
      </p:sp>
      <p:sp>
        <p:nvSpPr>
          <p:cNvPr id="20" name="TextBox 19">
            <a:extLst>
              <a:ext uri="{FF2B5EF4-FFF2-40B4-BE49-F238E27FC236}">
                <a16:creationId xmlns:a16="http://schemas.microsoft.com/office/drawing/2014/main" id="{85477FD3-0A11-FC88-E33A-30AC03A3243B}"/>
              </a:ext>
            </a:extLst>
          </p:cNvPr>
          <p:cNvSpPr txBox="1"/>
          <p:nvPr/>
        </p:nvSpPr>
        <p:spPr>
          <a:xfrm>
            <a:off x="7433045" y="5569553"/>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Tommy</a:t>
            </a:r>
          </a:p>
        </p:txBody>
      </p:sp>
      <p:pic>
        <p:nvPicPr>
          <p:cNvPr id="25" name="Picture 24">
            <a:extLst>
              <a:ext uri="{FF2B5EF4-FFF2-40B4-BE49-F238E27FC236}">
                <a16:creationId xmlns:a16="http://schemas.microsoft.com/office/drawing/2014/main" id="{DF448D99-0312-5AF1-763A-B28EC7528449}"/>
              </a:ext>
            </a:extLst>
          </p:cNvPr>
          <p:cNvPicPr>
            <a:picLocks noChangeAspect="1"/>
          </p:cNvPicPr>
          <p:nvPr/>
        </p:nvPicPr>
        <p:blipFill>
          <a:blip r:embed="rId4"/>
          <a:stretch>
            <a:fillRect/>
          </a:stretch>
        </p:blipFill>
        <p:spPr>
          <a:xfrm>
            <a:off x="681675" y="3850326"/>
            <a:ext cx="10417835" cy="1719227"/>
          </a:xfrm>
          <a:prstGeom prst="rect">
            <a:avLst/>
          </a:prstGeom>
        </p:spPr>
      </p:pic>
    </p:spTree>
    <p:extLst>
      <p:ext uri="{BB962C8B-B14F-4D97-AF65-F5344CB8AC3E}">
        <p14:creationId xmlns:p14="http://schemas.microsoft.com/office/powerpoint/2010/main" val="497941951"/>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CD869-F24A-06AE-7C01-B6FD6CAFA1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4A599D-E91B-9B15-20BC-DF403757B7E5}"/>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E54E147F-C9DD-9C1A-B96F-C10E9D36CB0D}"/>
              </a:ext>
            </a:extLst>
          </p:cNvPr>
          <p:cNvSpPr/>
          <p:nvPr/>
        </p:nvSpPr>
        <p:spPr>
          <a:xfrm>
            <a:off x="-210532" y="-296945"/>
            <a:ext cx="12613064" cy="7282206"/>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051242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Right Triangle 6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3" name="Rectangle 6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4" name="Google Shape;54;p13"/>
          <p:cNvSpPr txBox="1">
            <a:spLocks noGrp="1"/>
          </p:cNvSpPr>
          <p:nvPr>
            <p:ph type="ctrTitle"/>
          </p:nvPr>
        </p:nvSpPr>
        <p:spPr>
          <a:xfrm>
            <a:off x="1079147" y="1045871"/>
            <a:ext cx="8074815" cy="1618489"/>
          </a:xfrm>
          <a:prstGeom prst="rect">
            <a:avLst/>
          </a:prstGeom>
        </p:spPr>
        <p:txBody>
          <a:bodyPr spcFirstLastPara="1" vert="horz" lIns="91440" tIns="45720" rIns="91440" bIns="45720" rtlCol="0" anchor="ctr" anchorCtr="0">
            <a:normAutofit/>
          </a:bodyPr>
          <a:lstStyle/>
          <a:p>
            <a:pPr algn="l">
              <a:buSzPct val="36787"/>
            </a:pPr>
            <a:r>
              <a:rPr lang="en-US" sz="4000" kern="1200" dirty="0">
                <a:solidFill>
                  <a:schemeClr val="tx1"/>
                </a:solidFill>
                <a:latin typeface="+mj-lt"/>
                <a:ea typeface="+mj-ea"/>
                <a:cs typeface="+mj-cs"/>
              </a:rPr>
              <a:t>Network Support For Scalable And High-Performance Cloud Exchanges</a:t>
            </a:r>
          </a:p>
        </p:txBody>
      </p:sp>
      <p:sp>
        <p:nvSpPr>
          <p:cNvPr id="4" name="TextBox 3">
            <a:extLst>
              <a:ext uri="{FF2B5EF4-FFF2-40B4-BE49-F238E27FC236}">
                <a16:creationId xmlns:a16="http://schemas.microsoft.com/office/drawing/2014/main" id="{AA3352D4-9C60-CC7E-EA72-6E7DB767AF10}"/>
              </a:ext>
            </a:extLst>
          </p:cNvPr>
          <p:cNvSpPr txBox="1"/>
          <p:nvPr/>
        </p:nvSpPr>
        <p:spPr>
          <a:xfrm>
            <a:off x="1079147" y="2969470"/>
            <a:ext cx="8074815" cy="1219448"/>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ts val="0"/>
              </a:spcBef>
              <a:spcAft>
                <a:spcPts val="600"/>
              </a:spcAft>
              <a:buClr>
                <a:srgbClr val="000000"/>
              </a:buClr>
              <a:buSzTx/>
              <a:buFontTx/>
              <a:buNone/>
              <a:tabLst/>
              <a:defRPr/>
            </a:pP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Muhammad Haseeb</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Jinkun Geng, </a:t>
            </a:r>
            <a:r>
              <a:rPr kumimoji="0" lang="en-US" sz="2400" b="0" i="0" u="none" strike="noStrike" kern="1200" cap="none" spc="0" normalizeH="0" baseline="0" noProof="0" dirty="0">
                <a:ln>
                  <a:noFill/>
                </a:ln>
                <a:solidFill>
                  <a:srgbClr val="4EA72E">
                    <a:lumMod val="60000"/>
                    <a:lumOff val="40000"/>
                  </a:srgbClr>
                </a:solidFill>
                <a:effectLst/>
                <a:uLnTx/>
                <a:uFillTx/>
                <a:latin typeface="Aptos" panose="02110004020202020204"/>
                <a:ea typeface="+mn-ea"/>
                <a:cs typeface="+mn-cs"/>
                <a:sym typeface="Arial"/>
              </a:rPr>
              <a:t>Daniel Duclos-Cavalcanti</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Xiyu Hao</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Ulysses Butler</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sym typeface="Arial"/>
              </a:rPr>
              <a:t>Radhika Mittal</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srgbClr val="0070C0"/>
                </a:solidFill>
                <a:effectLst/>
                <a:uLnTx/>
                <a:uFillTx/>
                <a:latin typeface="Aptos" panose="02110004020202020204"/>
                <a:ea typeface="+mn-ea"/>
                <a:cs typeface="+mn-cs"/>
                <a:sym typeface="Arial"/>
              </a:rPr>
              <a:t>Srinivas Narayana</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 </a:t>
            </a: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Anirudh Sivaraman</a:t>
            </a:r>
          </a:p>
        </p:txBody>
      </p:sp>
      <p:sp>
        <p:nvSpPr>
          <p:cNvPr id="2" name="TextBox 1">
            <a:extLst>
              <a:ext uri="{FF2B5EF4-FFF2-40B4-BE49-F238E27FC236}">
                <a16:creationId xmlns:a16="http://schemas.microsoft.com/office/drawing/2014/main" id="{47936DC3-CB73-BBD2-B537-135F2D543B50}"/>
              </a:ext>
            </a:extLst>
          </p:cNvPr>
          <p:cNvSpPr txBox="1"/>
          <p:nvPr/>
        </p:nvSpPr>
        <p:spPr>
          <a:xfrm>
            <a:off x="1079147" y="4489304"/>
            <a:ext cx="9054515" cy="1219448"/>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90000"/>
              </a:lnSpc>
              <a:spcBef>
                <a:spcPts val="0"/>
              </a:spcBef>
              <a:spcAft>
                <a:spcPts val="600"/>
              </a:spcAft>
              <a:buClr>
                <a:srgbClr val="000000"/>
              </a:buClr>
              <a:buSzTx/>
              <a:buFontTx/>
              <a:buNone/>
              <a:tabLst/>
              <a:defRPr/>
            </a:pPr>
            <a:r>
              <a:rPr kumimoji="0" lang="en-US" sz="2400" b="0" i="0" u="none" strike="noStrike" kern="1200" cap="none" spc="0" normalizeH="0" baseline="0" noProof="0" dirty="0">
                <a:ln>
                  <a:noFill/>
                </a:ln>
                <a:solidFill>
                  <a:srgbClr val="A02B93"/>
                </a:solidFill>
                <a:effectLst/>
                <a:uLnTx/>
                <a:uFillTx/>
                <a:latin typeface="Aptos" panose="02110004020202020204"/>
                <a:ea typeface="+mn-ea"/>
                <a:cs typeface="+mn-cs"/>
                <a:sym typeface="Arial"/>
              </a:rPr>
              <a:t>New York University, </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sym typeface="Arial"/>
              </a:rPr>
              <a:t>Clockwork Inc., </a:t>
            </a:r>
            <a:r>
              <a:rPr kumimoji="0" lang="en-US" sz="2400" b="0" i="0" u="none" strike="noStrike" kern="1200" cap="none" spc="0" normalizeH="0" baseline="0" noProof="0" dirty="0">
                <a:ln>
                  <a:noFill/>
                </a:ln>
                <a:solidFill>
                  <a:srgbClr val="4EA72E">
                    <a:lumMod val="60000"/>
                    <a:lumOff val="40000"/>
                  </a:srgbClr>
                </a:solidFill>
                <a:effectLst/>
                <a:uLnTx/>
                <a:uFillTx/>
                <a:latin typeface="Aptos" panose="02110004020202020204"/>
                <a:ea typeface="+mn-ea"/>
                <a:cs typeface="+mn-cs"/>
                <a:sym typeface="Arial"/>
              </a:rPr>
              <a:t>Technical University of Munich, </a:t>
            </a:r>
            <a:r>
              <a:rPr kumimoji="0" lang="en-US" sz="2400" b="0" i="0" u="none" strike="noStrike" kern="1200" cap="none" spc="0" normalizeH="0" baseline="0" noProof="0" dirty="0">
                <a:ln>
                  <a:noFill/>
                </a:ln>
                <a:solidFill>
                  <a:srgbClr val="0070C0"/>
                </a:solidFill>
                <a:effectLst/>
                <a:uLnTx/>
                <a:uFillTx/>
                <a:latin typeface="Aptos" panose="02110004020202020204"/>
                <a:ea typeface="+mn-ea"/>
                <a:cs typeface="+mn-cs"/>
                <a:sym typeface="Arial"/>
              </a:rPr>
              <a:t>Rutgers University, </a:t>
            </a:r>
            <a:r>
              <a:rPr kumimoji="0" lang="en-US" sz="24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sym typeface="Arial"/>
              </a:rPr>
              <a:t>University of Illinois Urbana-Champaign </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A236B874-3F78-12B3-903B-E233EAB379D3}"/>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113B8FBD-8B4B-7940-80CD-999D39F2B6DD}"/>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Primer On Financial Exchanges</a:t>
            </a:r>
            <a:endParaRPr dirty="0"/>
          </a:p>
        </p:txBody>
      </p:sp>
      <p:sp>
        <p:nvSpPr>
          <p:cNvPr id="2" name="Oval 1">
            <a:extLst>
              <a:ext uri="{FF2B5EF4-FFF2-40B4-BE49-F238E27FC236}">
                <a16:creationId xmlns:a16="http://schemas.microsoft.com/office/drawing/2014/main" id="{57EEC8E6-E104-ABEE-4A8D-62211B66B3BF}"/>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D3CEAA7F-2CEB-637E-1124-5135FDD213F1}"/>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E5F305B6-098F-D947-6CF0-0CFC2561D86C}"/>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2EE237BC-3008-72A8-3AAD-1451FE073E51}"/>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Tree>
    <p:extLst>
      <p:ext uri="{BB962C8B-B14F-4D97-AF65-F5344CB8AC3E}">
        <p14:creationId xmlns:p14="http://schemas.microsoft.com/office/powerpoint/2010/main" val="313935661"/>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49340A91-478B-47BA-43C9-FBDF8E31BDAD}"/>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0AFFADCB-CB02-8A1E-6F13-0878E2BAD47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446C7F2B-6DC2-C75D-A115-367E7C777546}"/>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CBB997D0-B57D-8CF2-0F95-13BAE2BC4C5A}"/>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12C2EAA1-06F6-A7C0-1EEB-6BA6351D5F38}"/>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359C3B95-592C-1F5B-8C3B-9611EEAF9AEA}"/>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60DA7E42-A564-F245-7A75-2F95DC7E93A5}"/>
              </a:ext>
            </a:extLst>
          </p:cNvPr>
          <p:cNvSpPr/>
          <p:nvPr/>
        </p:nvSpPr>
        <p:spPr>
          <a:xfrm>
            <a:off x="5387926" y="2861231"/>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14122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4EBC9255-5E7D-10AD-ED87-A426223F2713}"/>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3929F4F3-8E9C-B30C-CA58-01DF4E4727D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F3B0A72F-4DBE-7024-1B98-F87EA3F55EA5}"/>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42BF9DC9-B9A6-BFD8-6454-47175320B4DB}"/>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1738A0E6-14A0-676E-A281-E0AC1ED047C4}"/>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77AD7DDE-A614-644B-4316-596989791FBA}"/>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D686641B-D937-C226-741A-6F2D54AF46C4}"/>
              </a:ext>
            </a:extLst>
          </p:cNvPr>
          <p:cNvSpPr/>
          <p:nvPr/>
        </p:nvSpPr>
        <p:spPr>
          <a:xfrm>
            <a:off x="5387926" y="2861231"/>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0812A6A9-B7DC-C02B-D18F-6BE2A9DAAB33}"/>
              </a:ext>
            </a:extLst>
          </p:cNvPr>
          <p:cNvSpPr/>
          <p:nvPr/>
        </p:nvSpPr>
        <p:spPr>
          <a:xfrm>
            <a:off x="5540326" y="3013631"/>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530DFA98-3FDB-0281-D533-A75D9A147573}"/>
              </a:ext>
            </a:extLst>
          </p:cNvPr>
          <p:cNvSpPr/>
          <p:nvPr/>
        </p:nvSpPr>
        <p:spPr>
          <a:xfrm>
            <a:off x="5692726" y="3166031"/>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30768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11576BAD-C08C-6286-9D41-F5F300905F22}"/>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AFF34040-6EC2-AA31-C234-3651FCC3B6D6}"/>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F45171D6-F44B-08E2-015F-10CDDF045642}"/>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64567F68-30DB-B602-7C4A-8AA705913959}"/>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4156B486-7F3B-C648-4B4C-565A770A6774}"/>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1E81366A-815E-F884-EA32-AE2A04C2B203}"/>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91094115-88E4-A875-CF28-62AC6DD29273}"/>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B4EFA45-8AA6-15C6-D09D-08BED2303AFA}"/>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9F68288B-1215-14E1-6F4A-4A8A716B40D9}"/>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59278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D4F78221-C096-0AE0-0729-349A9B90DCF9}"/>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87BFA9AA-E8B1-74C7-4C75-5F98220F61A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526D674A-58B6-D845-8256-3F6E0A14AFEF}"/>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69BC7D09-F50B-E8CC-9FA9-FE7F8BD3EA93}"/>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40BD4F17-C1E8-039E-C737-9D4D4B0DD524}"/>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93B63F46-EAAC-B2D3-3AD9-9E6F2B873660}"/>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EF98D9F8-B687-1C12-2E6D-68E49EBB6464}"/>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FAD03277-5936-8553-74BC-FC79D8AB4824}"/>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849E7BB0-2A76-F314-4689-5542D9A59798}"/>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3452C56B-E434-9073-F126-F26B8C2E4379}"/>
              </a:ext>
            </a:extLst>
          </p:cNvPr>
          <p:cNvSpPr/>
          <p:nvPr/>
        </p:nvSpPr>
        <p:spPr>
          <a:xfrm>
            <a:off x="5387926" y="2861231"/>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47195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699D41C2-3661-8E23-C8DF-4C7284BC6DA6}"/>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ADEC067C-AC5A-1E53-E172-5F1D763CEFF4}"/>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2F69883F-68F6-A1C2-E72F-CA40D2EC6142}"/>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D22EBFF4-2CE8-EA30-5C36-0460F3F93B37}"/>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DD67A8C8-B770-D72B-F370-1FC58BC30C1C}"/>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004919CB-15FA-E8CE-07A5-2E38EC0C01A8}"/>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A48EFF34-E1E9-C789-2A2F-CC79B62E41EF}"/>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880D8C69-862C-C991-A857-CEB56E6A8682}"/>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CC7A6247-F8F1-660A-91F2-634D24971A18}"/>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EBCD925B-A9E0-1847-B4A3-22BA8AB47BA3}"/>
              </a:ext>
            </a:extLst>
          </p:cNvPr>
          <p:cNvSpPr/>
          <p:nvPr/>
        </p:nvSpPr>
        <p:spPr>
          <a:xfrm>
            <a:off x="5387926" y="2861231"/>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442EAE7-E5F8-713A-B753-F786C623BCEF}"/>
              </a:ext>
            </a:extLst>
          </p:cNvPr>
          <p:cNvSpPr/>
          <p:nvPr/>
        </p:nvSpPr>
        <p:spPr>
          <a:xfrm>
            <a:off x="5540326" y="3013631"/>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AE3160C-F1D9-099B-8D63-F158748C1522}"/>
              </a:ext>
            </a:extLst>
          </p:cNvPr>
          <p:cNvSpPr/>
          <p:nvPr/>
        </p:nvSpPr>
        <p:spPr>
          <a:xfrm>
            <a:off x="5692726" y="3166031"/>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38977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91A20FFE-EE6D-866E-C5D4-25349E3301B9}"/>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0FE2C22B-AA67-3D0D-5697-A99FE6606B3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F5875F1B-9B95-CCC9-9EAF-2C62F7F9802F}"/>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13F2E2B7-77B4-3203-11DB-63E9991F16E2}"/>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8742B5B2-7712-9A63-2D8B-FBD5F4564319}"/>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B97AF8D2-72B3-BFD6-A8F5-B845C6F87298}"/>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DDF62A32-181C-0CEB-CACD-626ADACF29CF}"/>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7CF86C9C-E665-2379-5083-B87EBE4F6986}"/>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8113F2F5-2C34-A100-F3ED-AF22DB3918F7}"/>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04490AF2-DAAB-BDD4-5534-954A210F3311}"/>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14326CA-3218-6D0B-EBE4-DA1BF5C51310}"/>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FAAE4D09-9D39-42C7-F94C-5A3205A1107A}"/>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95381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8563807A-040B-B31A-2B67-BB6F3C57BECC}"/>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59348CF9-C69F-91EF-5FAF-0557BF87FB4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24753F46-6990-5AD6-08F4-5D16E33CA749}"/>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49BFF761-743E-4E27-91B8-A687B69D794F}"/>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68AD5523-AE77-E6F7-C8D5-2311C82B724E}"/>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164DFE9E-4045-3656-2815-80AF64C1CB18}"/>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44FF4289-774A-2AC6-9F97-3E83EC201EFF}"/>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3123661-AC66-51D6-7369-A7C7193DB8AC}"/>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643B1A6A-39B0-A6D1-9FD4-6DD61EE9E6E2}"/>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DCB7CC0E-9BE8-F79E-4A63-7496E63C6345}"/>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F39EC45-FAE9-4FDE-F0AA-1D168085B813}"/>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ED1A7E8-ED6B-89B1-830A-94EB12C6F6FF}"/>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07BBF1F3-7473-3968-F1F5-CB0E343E0622}"/>
              </a:ext>
            </a:extLst>
          </p:cNvPr>
          <p:cNvSpPr/>
          <p:nvPr/>
        </p:nvSpPr>
        <p:spPr>
          <a:xfrm>
            <a:off x="2943665" y="461898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65A73D30-1CB3-5FEE-337B-E20390DBD640}"/>
              </a:ext>
            </a:extLst>
          </p:cNvPr>
          <p:cNvSpPr/>
          <p:nvPr/>
        </p:nvSpPr>
        <p:spPr>
          <a:xfrm>
            <a:off x="5927188" y="461898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609D63A1-2608-6658-A6C5-C93D04CE3B96}"/>
              </a:ext>
            </a:extLst>
          </p:cNvPr>
          <p:cNvSpPr/>
          <p:nvPr/>
        </p:nvSpPr>
        <p:spPr>
          <a:xfrm>
            <a:off x="8785275" y="46291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7400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BA9259FF-6B51-6D78-3084-F6B5765746D8}"/>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675FCEC7-1E7A-F863-538A-F1497C2E741A}"/>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187AC7EB-605D-04B0-E303-E26CAC5595B3}"/>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1EEE4B9D-1A8F-B185-59AF-F7E45D251025}"/>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BBDBD939-B981-EF75-91B4-0D40F6B08203}"/>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00F562D5-6767-B846-2C99-27993B2FAB1C}"/>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1A251E4F-A531-DD82-571D-ACA311504FCB}"/>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3BF34D7-F359-F89E-4C16-5068BF4ABEC5}"/>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D12A7644-AAEC-35BD-FB04-695F4E191532}"/>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0D16BCE7-436B-FD6F-4C18-A019AAF274EF}"/>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A1B318D-E549-F84E-6751-5594E941632B}"/>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58720E4-76AA-00A0-BA8F-93F0A6649D16}"/>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0D4DD409-3766-41E6-4D28-994283A29833}"/>
              </a:ext>
            </a:extLst>
          </p:cNvPr>
          <p:cNvSpPr/>
          <p:nvPr/>
        </p:nvSpPr>
        <p:spPr>
          <a:xfrm>
            <a:off x="4722641"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C89064E1-9BC5-F825-E586-1E4346CAE8DA}"/>
              </a:ext>
            </a:extLst>
          </p:cNvPr>
          <p:cNvSpPr/>
          <p:nvPr/>
        </p:nvSpPr>
        <p:spPr>
          <a:xfrm>
            <a:off x="5274803"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DA9D48B9-DE90-944D-D92A-6A6EE859D5B9}"/>
              </a:ext>
            </a:extLst>
          </p:cNvPr>
          <p:cNvSpPr/>
          <p:nvPr/>
        </p:nvSpPr>
        <p:spPr>
          <a:xfrm>
            <a:off x="5841318" y="254594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57863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7165FC8A-92F2-927B-603A-958562CDA48D}"/>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7785A193-5696-2737-CFCF-1A96C580379F}"/>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2E067B3B-7122-37C0-4747-D774114FE358}"/>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B18C4E6F-E494-BBC7-095C-5639F3F47554}"/>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E8D6AED7-E8F5-E367-226D-65CA3D896119}"/>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7B0664D8-344D-7FCD-CC10-8C6CB002F24F}"/>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47BE4531-88A0-3DD7-1A3B-94EDAD64FFA9}"/>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29005A9E-CDA8-CB8F-0C89-9E7DFBE76B5B}"/>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96B192A5-F9B4-3FBC-A62A-0001EAB19FD1}"/>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5E2EA57F-037E-E0E3-4385-44EDCBE9A3C8}"/>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9FC63A62-BB90-7513-1513-F57F33FD6EC4}"/>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0B1D68A-2275-9A54-0911-63CF91F486B3}"/>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355264BC-8263-A644-0409-D85F587A964B}"/>
              </a:ext>
            </a:extLst>
          </p:cNvPr>
          <p:cNvSpPr/>
          <p:nvPr/>
        </p:nvSpPr>
        <p:spPr>
          <a:xfrm>
            <a:off x="2943665" y="4618982"/>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FED9FEE2-2DCA-8F82-46F6-0C47BFF00873}"/>
              </a:ext>
            </a:extLst>
          </p:cNvPr>
          <p:cNvSpPr/>
          <p:nvPr/>
        </p:nvSpPr>
        <p:spPr>
          <a:xfrm>
            <a:off x="5927188" y="4618982"/>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A9D94DEE-B79A-F8B0-944F-F0BD531DB3FB}"/>
              </a:ext>
            </a:extLst>
          </p:cNvPr>
          <p:cNvSpPr/>
          <p:nvPr/>
        </p:nvSpPr>
        <p:spPr>
          <a:xfrm>
            <a:off x="8785275" y="4629107"/>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Oval 17">
            <a:extLst>
              <a:ext uri="{FF2B5EF4-FFF2-40B4-BE49-F238E27FC236}">
                <a16:creationId xmlns:a16="http://schemas.microsoft.com/office/drawing/2014/main" id="{86A6B37C-752F-5EED-C3A8-957259A4E69D}"/>
              </a:ext>
            </a:extLst>
          </p:cNvPr>
          <p:cNvSpPr/>
          <p:nvPr/>
        </p:nvSpPr>
        <p:spPr>
          <a:xfrm>
            <a:off x="4722641"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Oval 18">
            <a:extLst>
              <a:ext uri="{FF2B5EF4-FFF2-40B4-BE49-F238E27FC236}">
                <a16:creationId xmlns:a16="http://schemas.microsoft.com/office/drawing/2014/main" id="{A8B0D656-7151-837F-2ACE-24A3EA9C6E61}"/>
              </a:ext>
            </a:extLst>
          </p:cNvPr>
          <p:cNvSpPr/>
          <p:nvPr/>
        </p:nvSpPr>
        <p:spPr>
          <a:xfrm>
            <a:off x="5274803"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FC68383B-93D3-6A59-2BB2-30020AC59C33}"/>
              </a:ext>
            </a:extLst>
          </p:cNvPr>
          <p:cNvSpPr/>
          <p:nvPr/>
        </p:nvSpPr>
        <p:spPr>
          <a:xfrm>
            <a:off x="5841318" y="254594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93973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96769B5C-2A14-66CF-5952-F00668DC419E}"/>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66B4E20D-D83A-952C-1135-1D9426108939}"/>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79422F61-5969-4421-10AF-7DE858595715}"/>
              </a:ext>
            </a:extLst>
          </p:cNvPr>
          <p:cNvSpPr/>
          <p:nvPr/>
        </p:nvSpPr>
        <p:spPr>
          <a:xfrm>
            <a:off x="3742006" y="1617785"/>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4" name="Oval 3">
            <a:extLst>
              <a:ext uri="{FF2B5EF4-FFF2-40B4-BE49-F238E27FC236}">
                <a16:creationId xmlns:a16="http://schemas.microsoft.com/office/drawing/2014/main" id="{A998F38D-408C-49E3-6E83-3F8995BA6A99}"/>
              </a:ext>
            </a:extLst>
          </p:cNvPr>
          <p:cNvSpPr/>
          <p:nvPr/>
        </p:nvSpPr>
        <p:spPr>
          <a:xfrm>
            <a:off x="2121878"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1</a:t>
            </a:r>
          </a:p>
        </p:txBody>
      </p:sp>
      <p:sp>
        <p:nvSpPr>
          <p:cNvPr id="5" name="Oval 4">
            <a:extLst>
              <a:ext uri="{FF2B5EF4-FFF2-40B4-BE49-F238E27FC236}">
                <a16:creationId xmlns:a16="http://schemas.microsoft.com/office/drawing/2014/main" id="{1EAB0C75-95EE-0B79-0522-70AE0987E147}"/>
              </a:ext>
            </a:extLst>
          </p:cNvPr>
          <p:cNvSpPr/>
          <p:nvPr/>
        </p:nvSpPr>
        <p:spPr>
          <a:xfrm>
            <a:off x="4963551"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2</a:t>
            </a:r>
          </a:p>
        </p:txBody>
      </p:sp>
      <p:sp>
        <p:nvSpPr>
          <p:cNvPr id="6" name="Oval 5">
            <a:extLst>
              <a:ext uri="{FF2B5EF4-FFF2-40B4-BE49-F238E27FC236}">
                <a16:creationId xmlns:a16="http://schemas.microsoft.com/office/drawing/2014/main" id="{AA88E04F-BF22-92ED-E875-0F7D93A3C112}"/>
              </a:ext>
            </a:extLst>
          </p:cNvPr>
          <p:cNvSpPr/>
          <p:nvPr/>
        </p:nvSpPr>
        <p:spPr>
          <a:xfrm>
            <a:off x="7805224" y="5125151"/>
            <a:ext cx="2407920" cy="980228"/>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Market Participant 3</a:t>
            </a:r>
          </a:p>
        </p:txBody>
      </p:sp>
      <p:sp>
        <p:nvSpPr>
          <p:cNvPr id="3" name="Rectangle 2">
            <a:extLst>
              <a:ext uri="{FF2B5EF4-FFF2-40B4-BE49-F238E27FC236}">
                <a16:creationId xmlns:a16="http://schemas.microsoft.com/office/drawing/2014/main" id="{7C747BE2-DB0B-2F1C-BEC6-68E65A752196}"/>
              </a:ext>
            </a:extLst>
          </p:cNvPr>
          <p:cNvSpPr/>
          <p:nvPr/>
        </p:nvSpPr>
        <p:spPr>
          <a:xfrm>
            <a:off x="3014004" y="6264633"/>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84D7F50E-A67C-EAA3-9CEF-06860E8AA946}"/>
              </a:ext>
            </a:extLst>
          </p:cNvPr>
          <p:cNvSpPr/>
          <p:nvPr/>
        </p:nvSpPr>
        <p:spPr>
          <a:xfrm>
            <a:off x="5927188" y="6260744"/>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D1C5B648-0501-AD87-DA8E-09DD8CD8446B}"/>
              </a:ext>
            </a:extLst>
          </p:cNvPr>
          <p:cNvSpPr/>
          <p:nvPr/>
        </p:nvSpPr>
        <p:spPr>
          <a:xfrm>
            <a:off x="9009184" y="6254510"/>
            <a:ext cx="337624" cy="37982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255DB383-73F0-D520-076D-83390904DC13}"/>
              </a:ext>
            </a:extLst>
          </p:cNvPr>
          <p:cNvSpPr/>
          <p:nvPr/>
        </p:nvSpPr>
        <p:spPr>
          <a:xfrm>
            <a:off x="3351628"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C9F5637-3A3B-817F-F0DD-32A56C589402}"/>
              </a:ext>
            </a:extLst>
          </p:cNvPr>
          <p:cNvSpPr/>
          <p:nvPr/>
        </p:nvSpPr>
        <p:spPr>
          <a:xfrm>
            <a:off x="6264812" y="6264633"/>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04FA9A1-9B33-060B-B14F-B3347BCB4891}"/>
              </a:ext>
            </a:extLst>
          </p:cNvPr>
          <p:cNvSpPr/>
          <p:nvPr/>
        </p:nvSpPr>
        <p:spPr>
          <a:xfrm>
            <a:off x="9346808" y="6254510"/>
            <a:ext cx="337624" cy="3798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49E262D7-7922-BA00-F729-A103AF38BF8E}"/>
              </a:ext>
            </a:extLst>
          </p:cNvPr>
          <p:cNvSpPr/>
          <p:nvPr/>
        </p:nvSpPr>
        <p:spPr>
          <a:xfrm>
            <a:off x="5274802" y="2332823"/>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BAAEF8A2-B338-FBDC-3A1D-56BFE0E14F71}"/>
              </a:ext>
            </a:extLst>
          </p:cNvPr>
          <p:cNvSpPr/>
          <p:nvPr/>
        </p:nvSpPr>
        <p:spPr>
          <a:xfrm>
            <a:off x="5855090" y="2285124"/>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87B75CD9-A6D6-C098-C487-3EB4743582C5}"/>
              </a:ext>
            </a:extLst>
          </p:cNvPr>
          <p:cNvSpPr/>
          <p:nvPr/>
        </p:nvSpPr>
        <p:spPr>
          <a:xfrm>
            <a:off x="4708286" y="2333525"/>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D82E9859-BA86-B1B3-5DB8-2302F8CC2806}"/>
              </a:ext>
            </a:extLst>
          </p:cNvPr>
          <p:cNvSpPr/>
          <p:nvPr/>
        </p:nvSpPr>
        <p:spPr>
          <a:xfrm>
            <a:off x="4722641"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27C187ED-98FD-9539-006E-5C74C64F828F}"/>
              </a:ext>
            </a:extLst>
          </p:cNvPr>
          <p:cNvSpPr/>
          <p:nvPr/>
        </p:nvSpPr>
        <p:spPr>
          <a:xfrm>
            <a:off x="5274803" y="2585907"/>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0826DDC5-FF44-CD39-6D97-495A387E61D7}"/>
              </a:ext>
            </a:extLst>
          </p:cNvPr>
          <p:cNvSpPr/>
          <p:nvPr/>
        </p:nvSpPr>
        <p:spPr>
          <a:xfrm>
            <a:off x="5841318" y="2545942"/>
            <a:ext cx="481819" cy="42654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55048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2EF2E01D-5C74-6451-7890-DE6857C2BC19}"/>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3DF32F7C-FF60-286D-CD3B-8C5B781E518F}"/>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a:t>Primer On Financial Exchanges</a:t>
            </a:r>
            <a:endParaRPr/>
          </a:p>
        </p:txBody>
      </p:sp>
      <p:sp>
        <p:nvSpPr>
          <p:cNvPr id="2" name="Oval 1">
            <a:extLst>
              <a:ext uri="{FF2B5EF4-FFF2-40B4-BE49-F238E27FC236}">
                <a16:creationId xmlns:a16="http://schemas.microsoft.com/office/drawing/2014/main" id="{26E0A65E-31D2-4A54-9B64-E91B4EA4212E}"/>
              </a:ext>
            </a:extLst>
          </p:cNvPr>
          <p:cNvSpPr/>
          <p:nvPr/>
        </p:nvSpPr>
        <p:spPr>
          <a:xfrm>
            <a:off x="682886" y="1801239"/>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18" name="Picture 17">
            <a:extLst>
              <a:ext uri="{FF2B5EF4-FFF2-40B4-BE49-F238E27FC236}">
                <a16:creationId xmlns:a16="http://schemas.microsoft.com/office/drawing/2014/main" id="{7345F838-C012-2504-AEC2-D173E087D549}"/>
              </a:ext>
            </a:extLst>
          </p:cNvPr>
          <p:cNvPicPr>
            <a:picLocks noChangeAspect="1"/>
          </p:cNvPicPr>
          <p:nvPr/>
        </p:nvPicPr>
        <p:blipFill>
          <a:blip r:embed="rId3"/>
          <a:stretch>
            <a:fillRect/>
          </a:stretch>
        </p:blipFill>
        <p:spPr>
          <a:xfrm>
            <a:off x="415600" y="2940722"/>
            <a:ext cx="4959768" cy="3680834"/>
          </a:xfrm>
          <a:prstGeom prst="rect">
            <a:avLst/>
          </a:prstGeom>
        </p:spPr>
      </p:pic>
      <p:sp>
        <p:nvSpPr>
          <p:cNvPr id="19" name="TextBox 18">
            <a:extLst>
              <a:ext uri="{FF2B5EF4-FFF2-40B4-BE49-F238E27FC236}">
                <a16:creationId xmlns:a16="http://schemas.microsoft.com/office/drawing/2014/main" id="{E0270677-1900-B2BA-CA00-1E4105377FE3}"/>
              </a:ext>
            </a:extLst>
          </p:cNvPr>
          <p:cNvSpPr txBox="1"/>
          <p:nvPr/>
        </p:nvSpPr>
        <p:spPr>
          <a:xfrm>
            <a:off x="4819927" y="2248088"/>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 closer to mid price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sym typeface="Wingdings" pitchFamily="2" charset="2"/>
              </a:rPr>
              <a:t> Immediate execution/match</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BF7DEA3A-5D0E-3CC8-D798-D11EAA104610}"/>
              </a:ext>
            </a:extLst>
          </p:cNvPr>
          <p:cNvSpPr txBox="1"/>
          <p:nvPr/>
        </p:nvSpPr>
        <p:spPr>
          <a:xfrm>
            <a:off x="4819927" y="3655806"/>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 away from mid price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sym typeface="Wingdings" pitchFamily="2" charset="2"/>
              </a:rPr>
              <a:t> potential execution/match in future</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22C75900-2D66-9029-435C-CDB670514F36}"/>
              </a:ext>
            </a:extLst>
          </p:cNvPr>
          <p:cNvSpPr txBox="1"/>
          <p:nvPr/>
        </p:nvSpPr>
        <p:spPr>
          <a:xfrm>
            <a:off x="4819927" y="5138681"/>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Position in the queue/price </a:t>
            </a:r>
            <a:b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level matters!</a:t>
            </a:r>
          </a:p>
        </p:txBody>
      </p:sp>
    </p:spTree>
    <p:extLst>
      <p:ext uri="{BB962C8B-B14F-4D97-AF65-F5344CB8AC3E}">
        <p14:creationId xmlns:p14="http://schemas.microsoft.com/office/powerpoint/2010/main" val="52774341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7BC2511D-C94F-637B-4B5E-826BDD164F6A}"/>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384E1594-7B32-AE72-0704-C5B80AD5136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Primer On Financial Exchanges</a:t>
            </a:r>
            <a:endParaRPr dirty="0"/>
          </a:p>
        </p:txBody>
      </p:sp>
      <p:sp>
        <p:nvSpPr>
          <p:cNvPr id="2" name="Oval 1">
            <a:extLst>
              <a:ext uri="{FF2B5EF4-FFF2-40B4-BE49-F238E27FC236}">
                <a16:creationId xmlns:a16="http://schemas.microsoft.com/office/drawing/2014/main" id="{1AFF6A39-A26D-2A51-20F5-E187D3B31201}"/>
              </a:ext>
            </a:extLst>
          </p:cNvPr>
          <p:cNvSpPr/>
          <p:nvPr/>
        </p:nvSpPr>
        <p:spPr>
          <a:xfrm>
            <a:off x="682886" y="1801239"/>
            <a:ext cx="3629465" cy="113948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18" name="Picture 17">
            <a:extLst>
              <a:ext uri="{FF2B5EF4-FFF2-40B4-BE49-F238E27FC236}">
                <a16:creationId xmlns:a16="http://schemas.microsoft.com/office/drawing/2014/main" id="{909F9C84-4680-B58B-753B-E4AF6E58A6B4}"/>
              </a:ext>
            </a:extLst>
          </p:cNvPr>
          <p:cNvPicPr>
            <a:picLocks noChangeAspect="1"/>
          </p:cNvPicPr>
          <p:nvPr/>
        </p:nvPicPr>
        <p:blipFill>
          <a:blip r:embed="rId3"/>
          <a:stretch>
            <a:fillRect/>
          </a:stretch>
        </p:blipFill>
        <p:spPr>
          <a:xfrm>
            <a:off x="415600" y="2940722"/>
            <a:ext cx="4959768" cy="3680834"/>
          </a:xfrm>
          <a:prstGeom prst="rect">
            <a:avLst/>
          </a:prstGeom>
        </p:spPr>
      </p:pic>
      <p:sp>
        <p:nvSpPr>
          <p:cNvPr id="19" name="TextBox 18">
            <a:extLst>
              <a:ext uri="{FF2B5EF4-FFF2-40B4-BE49-F238E27FC236}">
                <a16:creationId xmlns:a16="http://schemas.microsoft.com/office/drawing/2014/main" id="{AA69F39E-6BF6-6B8B-FDBE-1DD87EE8D482}"/>
              </a:ext>
            </a:extLst>
          </p:cNvPr>
          <p:cNvSpPr txBox="1"/>
          <p:nvPr/>
        </p:nvSpPr>
        <p:spPr>
          <a:xfrm>
            <a:off x="4819927" y="2248088"/>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 closer to mid price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sym typeface="Wingdings" pitchFamily="2" charset="2"/>
              </a:rPr>
              <a:t> Immediate execution/match</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CFC2EEB6-7107-F1E4-1103-8AA4FFEDA74C}"/>
              </a:ext>
            </a:extLst>
          </p:cNvPr>
          <p:cNvSpPr txBox="1"/>
          <p:nvPr/>
        </p:nvSpPr>
        <p:spPr>
          <a:xfrm>
            <a:off x="4819927" y="3655806"/>
            <a:ext cx="7193882"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 away from mid price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sym typeface="Wingdings" pitchFamily="2" charset="2"/>
              </a:rPr>
              <a:t> potential execution/match in future</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7B1C08CD-6CC6-5CB1-5C85-B10FF82DD395}"/>
              </a:ext>
            </a:extLst>
          </p:cNvPr>
          <p:cNvSpPr txBox="1"/>
          <p:nvPr/>
        </p:nvSpPr>
        <p:spPr>
          <a:xfrm>
            <a:off x="4819927" y="5138681"/>
            <a:ext cx="719388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Position in the queue/price </a:t>
            </a:r>
            <a:b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b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level matters!</a:t>
            </a:r>
          </a:p>
        </p:txBody>
      </p:sp>
      <p:sp>
        <p:nvSpPr>
          <p:cNvPr id="3" name="Rounded Rectangle 2">
            <a:extLst>
              <a:ext uri="{FF2B5EF4-FFF2-40B4-BE49-F238E27FC236}">
                <a16:creationId xmlns:a16="http://schemas.microsoft.com/office/drawing/2014/main" id="{076363CE-F651-6AFA-5D9C-527FE8C4F61B}"/>
              </a:ext>
            </a:extLst>
          </p:cNvPr>
          <p:cNvSpPr/>
          <p:nvPr/>
        </p:nvSpPr>
        <p:spPr>
          <a:xfrm>
            <a:off x="6096000" y="3429000"/>
            <a:ext cx="3926698" cy="1564252"/>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Competition Among MPs</a:t>
            </a:r>
          </a:p>
        </p:txBody>
      </p:sp>
      <p:sp>
        <p:nvSpPr>
          <p:cNvPr id="4" name="Rectangle 3">
            <a:extLst>
              <a:ext uri="{FF2B5EF4-FFF2-40B4-BE49-F238E27FC236}">
                <a16:creationId xmlns:a16="http://schemas.microsoft.com/office/drawing/2014/main" id="{F593E40F-8BE6-21BC-F867-78CD18543412}"/>
              </a:ext>
            </a:extLst>
          </p:cNvPr>
          <p:cNvSpPr/>
          <p:nvPr/>
        </p:nvSpPr>
        <p:spPr>
          <a:xfrm>
            <a:off x="4908324" y="1356966"/>
            <a:ext cx="6219221" cy="19155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prstClr val="white"/>
                </a:solidFill>
                <a:effectLst/>
                <a:uLnTx/>
                <a:uFillTx/>
                <a:latin typeface="Aptos" panose="02110004020202020204"/>
                <a:ea typeface="+mn-ea"/>
                <a:cs typeface="+mn-cs"/>
              </a:rPr>
              <a:t>Traditional exchanges built in private data centers or colocation facilities!</a:t>
            </a:r>
          </a:p>
        </p:txBody>
      </p:sp>
    </p:spTree>
    <p:extLst>
      <p:ext uri="{BB962C8B-B14F-4D97-AF65-F5344CB8AC3E}">
        <p14:creationId xmlns:p14="http://schemas.microsoft.com/office/powerpoint/2010/main" val="317354135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994C19-636C-6217-A88E-E21D23C13D26}"/>
              </a:ext>
            </a:extLst>
          </p:cNvPr>
          <p:cNvSpPr txBox="1"/>
          <p:nvPr/>
        </p:nvSpPr>
        <p:spPr>
          <a:xfrm>
            <a:off x="240323" y="1997839"/>
            <a:ext cx="11711354" cy="286232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Can we use the public cloud to </a:t>
            </a:r>
            <a:r>
              <a:rPr kumimoji="0" lang="en-US" sz="6000" b="0" i="0" u="none" strike="noStrike" kern="1200" cap="none" spc="0" normalizeH="0" baseline="0" noProof="0" dirty="0">
                <a:ln>
                  <a:noFill/>
                </a:ln>
                <a:solidFill>
                  <a:srgbClr val="C00000"/>
                </a:solidFill>
                <a:effectLst/>
                <a:uLnTx/>
                <a:uFillTx/>
                <a:latin typeface="Aptos" panose="02110004020202020204"/>
                <a:ea typeface="+mn-ea"/>
                <a:cs typeface="+mn-cs"/>
              </a:rPr>
              <a:t>build</a:t>
            </a: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 and </a:t>
            </a:r>
            <a:r>
              <a:rPr kumimoji="0" lang="en-US" sz="6000" b="0" i="0" u="none" strike="noStrike" kern="1200" cap="none" spc="0" normalizeH="0" baseline="0" noProof="0" dirty="0">
                <a:ln>
                  <a:noFill/>
                </a:ln>
                <a:solidFill>
                  <a:srgbClr val="C00000"/>
                </a:solidFill>
                <a:effectLst/>
                <a:uLnTx/>
                <a:uFillTx/>
                <a:latin typeface="Aptos" panose="02110004020202020204"/>
                <a:ea typeface="+mn-ea"/>
                <a:cs typeface="+mn-cs"/>
              </a:rPr>
              <a:t>scale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uLnTx/>
                <a:uFillTx/>
                <a:latin typeface="Aptos" panose="02110004020202020204"/>
                <a:ea typeface="+mn-ea"/>
                <a:cs typeface="+mn-cs"/>
              </a:rPr>
              <a:t>financial exchanges?</a:t>
            </a:r>
          </a:p>
        </p:txBody>
      </p:sp>
    </p:spTree>
    <p:extLst>
      <p:ext uri="{BB962C8B-B14F-4D97-AF65-F5344CB8AC3E}">
        <p14:creationId xmlns:p14="http://schemas.microsoft.com/office/powerpoint/2010/main" val="3181368583"/>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Shape 58">
          <a:extLst>
            <a:ext uri="{FF2B5EF4-FFF2-40B4-BE49-F238E27FC236}">
              <a16:creationId xmlns:a16="http://schemas.microsoft.com/office/drawing/2014/main" id="{4A8CD6C0-A063-01B1-C7F5-9C54C3F8AFE1}"/>
            </a:ext>
          </a:extLst>
        </p:cNvPr>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CED002CF-80EC-C140-9B03-E1AEB6DA52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7" name="Oval 66">
            <a:extLst>
              <a:ext uri="{FF2B5EF4-FFF2-40B4-BE49-F238E27FC236}">
                <a16:creationId xmlns:a16="http://schemas.microsoft.com/office/drawing/2014/main" id="{E65D62B2-30C3-9CB3-5C5C-75D5C763F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9" name="Google Shape;59;p14">
            <a:extLst>
              <a:ext uri="{FF2B5EF4-FFF2-40B4-BE49-F238E27FC236}">
                <a16:creationId xmlns:a16="http://schemas.microsoft.com/office/drawing/2014/main" id="{81BD3367-97A9-AE7B-028E-6FD291F5A53B}"/>
              </a:ext>
            </a:extLst>
          </p:cNvPr>
          <p:cNvSpPr txBox="1">
            <a:spLocks noGrp="1"/>
          </p:cNvSpPr>
          <p:nvPr>
            <p:ph type="title"/>
          </p:nvPr>
        </p:nvSpPr>
        <p:spPr>
          <a:xfrm>
            <a:off x="1171074" y="1396686"/>
            <a:ext cx="3240506" cy="4064628"/>
          </a:xfrm>
          <a:prstGeom prst="rect">
            <a:avLst/>
          </a:prstGeom>
        </p:spPr>
        <p:txBody>
          <a:bodyPr spcFirstLastPara="1" vert="horz" lIns="91440" tIns="45720" rIns="91440" bIns="45720" rtlCol="0" anchor="ctr" anchorCtr="0">
            <a:normAutofit/>
          </a:bodyPr>
          <a:lstStyle/>
          <a:p>
            <a:pPr>
              <a:spcBef>
                <a:spcPct val="0"/>
              </a:spcBef>
            </a:pPr>
            <a:r>
              <a:rPr lang="en-US" kern="1200" dirty="0">
                <a:solidFill>
                  <a:srgbClr val="FFFFFF"/>
                </a:solidFill>
                <a:latin typeface="+mj-lt"/>
                <a:ea typeface="+mj-ea"/>
                <a:cs typeface="+mj-cs"/>
              </a:rPr>
              <a:t>Benefits of Public Cloud for Financial Exchanges</a:t>
            </a:r>
          </a:p>
        </p:txBody>
      </p:sp>
      <p:sp>
        <p:nvSpPr>
          <p:cNvPr id="69" name="Arc 68">
            <a:extLst>
              <a:ext uri="{FF2B5EF4-FFF2-40B4-BE49-F238E27FC236}">
                <a16:creationId xmlns:a16="http://schemas.microsoft.com/office/drawing/2014/main" id="{8945D019-CCE7-C804-489C-E8D46FE2B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1" name="Oval 70">
            <a:extLst>
              <a:ext uri="{FF2B5EF4-FFF2-40B4-BE49-F238E27FC236}">
                <a16:creationId xmlns:a16="http://schemas.microsoft.com/office/drawing/2014/main" id="{52E08653-441F-F262-CA19-3C0CB292D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0" name="Google Shape;60;p14">
            <a:extLst>
              <a:ext uri="{FF2B5EF4-FFF2-40B4-BE49-F238E27FC236}">
                <a16:creationId xmlns:a16="http://schemas.microsoft.com/office/drawing/2014/main" id="{4E6C7FAC-07F4-1EBB-F958-B423D2FEEBE1}"/>
              </a:ext>
            </a:extLst>
          </p:cNvPr>
          <p:cNvSpPr txBox="1">
            <a:spLocks noGrp="1"/>
          </p:cNvSpPr>
          <p:nvPr>
            <p:ph type="body" idx="1"/>
          </p:nvPr>
        </p:nvSpPr>
        <p:spPr>
          <a:xfrm>
            <a:off x="5201331" y="1391811"/>
            <a:ext cx="5536397" cy="3935281"/>
          </a:xfrm>
          <a:prstGeom prst="rect">
            <a:avLst/>
          </a:prstGeom>
        </p:spPr>
        <p:txBody>
          <a:bodyPr spcFirstLastPara="1" vert="horz" lIns="91440" tIns="45720" rIns="91440" bIns="45720" rtlCol="0" anchorCtr="0">
            <a:normAutofit/>
          </a:bodyPr>
          <a:lstStyle/>
          <a:p>
            <a:pPr indent="-228600">
              <a:spcAft>
                <a:spcPts val="600"/>
              </a:spcAft>
              <a:buFont typeface="Arial" panose="020B0604020202020204" pitchFamily="34" charset="0"/>
              <a:buChar char="•"/>
            </a:pPr>
            <a:r>
              <a:rPr lang="en-US" sz="2200" dirty="0"/>
              <a:t>Reducing constraints of physical space around the exchange server</a:t>
            </a:r>
          </a:p>
          <a:p>
            <a:pPr indent="-228600">
              <a:spcAft>
                <a:spcPts val="600"/>
              </a:spcAft>
              <a:buFont typeface="Arial" panose="020B0604020202020204" pitchFamily="34" charset="0"/>
              <a:buChar char="•"/>
            </a:pPr>
            <a:r>
              <a:rPr lang="en-US" sz="2200" dirty="0"/>
              <a:t>Unprecedented scale – 1000s of traders can be supported</a:t>
            </a:r>
          </a:p>
          <a:p>
            <a:pPr indent="-228600">
              <a:spcAft>
                <a:spcPts val="600"/>
              </a:spcAft>
              <a:buFont typeface="Arial" panose="020B0604020202020204" pitchFamily="34" charset="0"/>
              <a:buChar char="•"/>
            </a:pPr>
            <a:r>
              <a:rPr lang="en-US" sz="2200" dirty="0"/>
              <a:t>Low barriers to entry for launching new global markets</a:t>
            </a:r>
          </a:p>
          <a:p>
            <a:pPr indent="-228600">
              <a:spcAft>
                <a:spcPts val="600"/>
              </a:spcAft>
              <a:buFont typeface="Arial" panose="020B0604020202020204" pitchFamily="34" charset="0"/>
              <a:buChar char="•"/>
            </a:pPr>
            <a:r>
              <a:rPr lang="en-US" sz="2200" dirty="0"/>
              <a:t>Various analytics/ML services residing nearby</a:t>
            </a:r>
          </a:p>
          <a:p>
            <a:pPr indent="-228600">
              <a:spcAft>
                <a:spcPts val="600"/>
              </a:spcAft>
              <a:buFont typeface="Arial" panose="020B0604020202020204" pitchFamily="34" charset="0"/>
              <a:buChar char="•"/>
            </a:pPr>
            <a:r>
              <a:rPr lang="en-US" sz="2200" dirty="0"/>
              <a:t>And typical benefits of cloud: flexible resource allocation, reduced cost, offloading management etc.</a:t>
            </a:r>
          </a:p>
        </p:txBody>
      </p:sp>
      <p:sp>
        <p:nvSpPr>
          <p:cNvPr id="2" name="Google Shape;59;p14">
            <a:extLst>
              <a:ext uri="{FF2B5EF4-FFF2-40B4-BE49-F238E27FC236}">
                <a16:creationId xmlns:a16="http://schemas.microsoft.com/office/drawing/2014/main" id="{BAFD623D-D343-8986-0D2E-72E691C3779A}"/>
              </a:ext>
            </a:extLst>
          </p:cNvPr>
          <p:cNvSpPr txBox="1">
            <a:spLocks/>
          </p:cNvSpPr>
          <p:nvPr/>
        </p:nvSpPr>
        <p:spPr>
          <a:xfrm>
            <a:off x="6221904" y="5102626"/>
            <a:ext cx="11360800" cy="763600"/>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600"/>
              </a:spcAft>
              <a:buClr>
                <a:prstClr val="black"/>
              </a:buClr>
              <a:buSzPts val="2800"/>
              <a:buFont typeface="Arial"/>
              <a:buNone/>
              <a:tabLst/>
              <a:defRPr/>
            </a:pPr>
            <a:r>
              <a:rPr kumimoji="0" lang="en-US" sz="2800" b="0" i="0" u="none" strike="noStrike" kern="0" cap="none" spc="0" normalizeH="0" baseline="0" noProof="0" dirty="0">
                <a:ln>
                  <a:noFill/>
                </a:ln>
                <a:solidFill>
                  <a:srgbClr val="FF0000"/>
                </a:solidFill>
                <a:effectLst/>
                <a:uLnTx/>
                <a:uFillTx/>
                <a:latin typeface="Arial"/>
                <a:cs typeface="Arial"/>
                <a:sym typeface="Arial"/>
              </a:rPr>
              <a:t>There will be trade-offs.</a:t>
            </a:r>
          </a:p>
        </p:txBody>
      </p:sp>
      <p:sp>
        <p:nvSpPr>
          <p:cNvPr id="3" name="Google Shape;60;p14">
            <a:extLst>
              <a:ext uri="{FF2B5EF4-FFF2-40B4-BE49-F238E27FC236}">
                <a16:creationId xmlns:a16="http://schemas.microsoft.com/office/drawing/2014/main" id="{50207B9A-73F5-24FA-B999-10BA30461018}"/>
              </a:ext>
            </a:extLst>
          </p:cNvPr>
          <p:cNvSpPr txBox="1">
            <a:spLocks/>
          </p:cNvSpPr>
          <p:nvPr/>
        </p:nvSpPr>
        <p:spPr>
          <a:xfrm>
            <a:off x="5521677" y="5543416"/>
            <a:ext cx="11612611" cy="1710364"/>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609585" marR="0" lvl="0" indent="-457189" algn="l" defTabSz="914400" rtl="0" eaLnBrk="1" fontAlgn="auto" latinLnBrk="0" hangingPunct="1">
              <a:lnSpc>
                <a:spcPct val="115000"/>
              </a:lnSpc>
              <a:spcBef>
                <a:spcPts val="0"/>
              </a:spcBef>
              <a:spcAft>
                <a:spcPts val="600"/>
              </a:spcAft>
              <a:buClr>
                <a:srgbClr val="0E2841"/>
              </a:buClr>
              <a:buSzPts val="1800"/>
              <a:buFont typeface="Arial"/>
              <a:buChar char="-"/>
              <a:tabLst/>
              <a:defRPr/>
            </a:pPr>
            <a:r>
              <a:rPr kumimoji="0" lang="en-US" sz="2400" b="0" i="0" u="none" strike="noStrike" kern="0" cap="none" spc="0" normalizeH="0" baseline="0" noProof="0" dirty="0">
                <a:ln>
                  <a:noFill/>
                </a:ln>
                <a:solidFill>
                  <a:srgbClr val="0E2841"/>
                </a:solidFill>
                <a:effectLst/>
                <a:uLnTx/>
                <a:uFillTx/>
                <a:latin typeface="Arial"/>
                <a:cs typeface="Arial"/>
                <a:sym typeface="Arial"/>
              </a:rPr>
              <a:t>Latencies will be higher.</a:t>
            </a:r>
          </a:p>
          <a:p>
            <a:pPr marL="609585" marR="0" lvl="0" indent="-457189" algn="l" defTabSz="914400" rtl="0" eaLnBrk="1" fontAlgn="auto" latinLnBrk="0" hangingPunct="1">
              <a:lnSpc>
                <a:spcPct val="115000"/>
              </a:lnSpc>
              <a:spcBef>
                <a:spcPts val="0"/>
              </a:spcBef>
              <a:spcAft>
                <a:spcPts val="600"/>
              </a:spcAft>
              <a:buClr>
                <a:srgbClr val="0E2841"/>
              </a:buClr>
              <a:buSzPts val="1800"/>
              <a:buFont typeface="Arial"/>
              <a:buChar char="-"/>
              <a:tabLst/>
              <a:defRPr/>
            </a:pPr>
            <a:r>
              <a:rPr kumimoji="0" lang="en-US" sz="2400" b="0" i="0" u="none" strike="noStrike" kern="0" cap="none" spc="0" normalizeH="0" baseline="0" noProof="0" dirty="0">
                <a:ln>
                  <a:noFill/>
                </a:ln>
                <a:solidFill>
                  <a:srgbClr val="0E2841"/>
                </a:solidFill>
                <a:effectLst/>
                <a:uLnTx/>
                <a:uFillTx/>
                <a:latin typeface="Arial"/>
                <a:cs typeface="Arial"/>
                <a:sym typeface="Arial"/>
              </a:rPr>
              <a:t>Fairness guarantees will be coarser.</a:t>
            </a:r>
          </a:p>
        </p:txBody>
      </p:sp>
    </p:spTree>
    <p:extLst>
      <p:ext uri="{BB962C8B-B14F-4D97-AF65-F5344CB8AC3E}">
        <p14:creationId xmlns:p14="http://schemas.microsoft.com/office/powerpoint/2010/main" val="428643338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build="p"/>
      <p:bldP spid="2" grpId="0"/>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850D253-F2C4-4B85-8E4E-25642F169002}"/>
              </a:ext>
            </a:extLst>
          </p:cNvPr>
          <p:cNvSpPr>
            <a:spLocks noGrp="1"/>
          </p:cNvSpPr>
          <p:nvPr>
            <p:ph type="title"/>
          </p:nvPr>
        </p:nvSpPr>
        <p:spPr>
          <a:xfrm>
            <a:off x="818984" y="4230093"/>
            <a:ext cx="4150581" cy="1800165"/>
          </a:xfrm>
        </p:spPr>
        <p:txBody>
          <a:bodyPr vert="horz" lIns="91440" tIns="45720" rIns="91440" bIns="45720" rtlCol="0" anchor="t">
            <a:normAutofit/>
          </a:bodyPr>
          <a:lstStyle/>
          <a:p>
            <a:pPr algn="r">
              <a:spcBef>
                <a:spcPct val="0"/>
              </a:spcBef>
            </a:pPr>
            <a:r>
              <a:rPr lang="en-US" sz="4000" kern="1200" dirty="0">
                <a:solidFill>
                  <a:schemeClr val="tx1"/>
                </a:solidFill>
                <a:latin typeface="+mj-lt"/>
                <a:ea typeface="+mj-ea"/>
                <a:cs typeface="+mj-cs"/>
              </a:rPr>
              <a:t>Public Cloud Exhibits High Latency </a:t>
            </a:r>
            <a:r>
              <a:rPr lang="en-US" sz="4000" dirty="0"/>
              <a:t>&amp; </a:t>
            </a:r>
            <a:r>
              <a:rPr lang="en-US" sz="4000" kern="1200" dirty="0">
                <a:solidFill>
                  <a:schemeClr val="tx1"/>
                </a:solidFill>
                <a:latin typeface="+mj-lt"/>
                <a:ea typeface="+mj-ea"/>
                <a:cs typeface="+mj-cs"/>
              </a:rPr>
              <a:t>Variance</a:t>
            </a:r>
          </a:p>
        </p:txBody>
      </p:sp>
      <p:pic>
        <p:nvPicPr>
          <p:cNvPr id="7" name="Picture 6" descr="A green line graph with numbers&#10;&#10;AI-generated content may be incorrect.">
            <a:extLst>
              <a:ext uri="{FF2B5EF4-FFF2-40B4-BE49-F238E27FC236}">
                <a16:creationId xmlns:a16="http://schemas.microsoft.com/office/drawing/2014/main" id="{524C1768-0D83-2672-E01C-AB9533EC5854}"/>
              </a:ext>
            </a:extLst>
          </p:cNvPr>
          <p:cNvPicPr>
            <a:picLocks noChangeAspect="1"/>
          </p:cNvPicPr>
          <p:nvPr/>
        </p:nvPicPr>
        <p:blipFill>
          <a:blip r:embed="rId3"/>
          <a:srcRect l="6659" t="8107" r="9298"/>
          <a:stretch>
            <a:fillRect/>
          </a:stretch>
        </p:blipFill>
        <p:spPr>
          <a:xfrm>
            <a:off x="1374371" y="457200"/>
            <a:ext cx="9504220" cy="3455325"/>
          </a:xfrm>
          <a:prstGeom prst="rect">
            <a:avLst/>
          </a:prstGeom>
        </p:spPr>
      </p:pic>
      <p:sp>
        <p:nvSpPr>
          <p:cNvPr id="8" name="TextBox 7">
            <a:extLst>
              <a:ext uri="{FF2B5EF4-FFF2-40B4-BE49-F238E27FC236}">
                <a16:creationId xmlns:a16="http://schemas.microsoft.com/office/drawing/2014/main" id="{220C27FC-00B4-FA78-7403-3013CE370A95}"/>
              </a:ext>
            </a:extLst>
          </p:cNvPr>
          <p:cNvSpPr txBox="1"/>
          <p:nvPr/>
        </p:nvSpPr>
        <p:spPr>
          <a:xfrm>
            <a:off x="5246415" y="4230094"/>
            <a:ext cx="6235268" cy="1800164"/>
          </a:xfrm>
          <a:prstGeom prst="rect">
            <a:avLst/>
          </a:prstGeom>
        </p:spPr>
        <p:txBody>
          <a:bodyPr vert="horz" lIns="91440" tIns="45720" rIns="91440" bIns="45720" rtlCol="0" anchor="t">
            <a:normAutofit/>
          </a:bodyPr>
          <a:lstStyle/>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Latency varies temporally</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Latency varies spatially – across multiple clients</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Unfit for fair competition</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Onyx: mechanisms to achieve fairness + high performance at scale</a:t>
            </a:r>
          </a:p>
        </p:txBody>
      </p:sp>
      <p:sp>
        <p:nvSpPr>
          <p:cNvPr id="15" name="Rectangle 14">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1350269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6D7EE-D0F9-F30C-4D84-CD2984663346}"/>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3E41FEC-4794-0FB3-FA59-1D619D1EF899}"/>
              </a:ext>
            </a:extLst>
          </p:cNvPr>
          <p:cNvCxnSpPr>
            <a:cxnSpLocks/>
          </p:cNvCxnSpPr>
          <p:nvPr/>
        </p:nvCxnSpPr>
        <p:spPr>
          <a:xfrm flipH="1">
            <a:off x="2795953" y="510988"/>
            <a:ext cx="6541477" cy="5432613"/>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21A8EAA-7162-489E-0D5E-C4F622ABD4BC}"/>
              </a:ext>
            </a:extLst>
          </p:cNvPr>
          <p:cNvCxnSpPr>
            <a:cxnSpLocks/>
          </p:cNvCxnSpPr>
          <p:nvPr/>
        </p:nvCxnSpPr>
        <p:spPr>
          <a:xfrm>
            <a:off x="3059723" y="685801"/>
            <a:ext cx="6277707" cy="5257800"/>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5D44DC3-168A-C3F4-9068-42C5684FEFEA}"/>
              </a:ext>
            </a:extLst>
          </p:cNvPr>
          <p:cNvSpPr txBox="1"/>
          <p:nvPr/>
        </p:nvSpPr>
        <p:spPr>
          <a:xfrm>
            <a:off x="9396047" y="143849"/>
            <a:ext cx="288628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scalability</a:t>
            </a:r>
          </a:p>
        </p:txBody>
      </p:sp>
      <p:sp>
        <p:nvSpPr>
          <p:cNvPr id="18" name="TextBox 17">
            <a:extLst>
              <a:ext uri="{FF2B5EF4-FFF2-40B4-BE49-F238E27FC236}">
                <a16:creationId xmlns:a16="http://schemas.microsoft.com/office/drawing/2014/main" id="{14B23827-BA4F-5918-8348-B31FACCE5E6F}"/>
              </a:ext>
            </a:extLst>
          </p:cNvPr>
          <p:cNvSpPr txBox="1"/>
          <p:nvPr/>
        </p:nvSpPr>
        <p:spPr>
          <a:xfrm>
            <a:off x="562707" y="126266"/>
            <a:ext cx="281847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economy</a:t>
            </a:r>
          </a:p>
        </p:txBody>
      </p:sp>
      <p:sp>
        <p:nvSpPr>
          <p:cNvPr id="19" name="TextBox 18">
            <a:extLst>
              <a:ext uri="{FF2B5EF4-FFF2-40B4-BE49-F238E27FC236}">
                <a16:creationId xmlns:a16="http://schemas.microsoft.com/office/drawing/2014/main" id="{B5DC0346-EF18-F156-C2FB-E42928EAD4C8}"/>
              </a:ext>
            </a:extLst>
          </p:cNvPr>
          <p:cNvSpPr txBox="1"/>
          <p:nvPr/>
        </p:nvSpPr>
        <p:spPr>
          <a:xfrm>
            <a:off x="9305714" y="5961550"/>
            <a:ext cx="288628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fairness</a:t>
            </a:r>
          </a:p>
        </p:txBody>
      </p:sp>
      <p:sp>
        <p:nvSpPr>
          <p:cNvPr id="20" name="TextBox 19">
            <a:extLst>
              <a:ext uri="{FF2B5EF4-FFF2-40B4-BE49-F238E27FC236}">
                <a16:creationId xmlns:a16="http://schemas.microsoft.com/office/drawing/2014/main" id="{C9D792CB-CE22-CADB-C321-260A451A4B03}"/>
              </a:ext>
            </a:extLst>
          </p:cNvPr>
          <p:cNvSpPr txBox="1"/>
          <p:nvPr/>
        </p:nvSpPr>
        <p:spPr>
          <a:xfrm>
            <a:off x="562707" y="5965465"/>
            <a:ext cx="3675186"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Aptos" panose="02110004020202020204"/>
                <a:ea typeface="+mn-ea"/>
                <a:cs typeface="+mn-cs"/>
              </a:rPr>
              <a:t>performance</a:t>
            </a:r>
          </a:p>
        </p:txBody>
      </p:sp>
      <p:sp>
        <p:nvSpPr>
          <p:cNvPr id="21" name="Oval 20">
            <a:extLst>
              <a:ext uri="{FF2B5EF4-FFF2-40B4-BE49-F238E27FC236}">
                <a16:creationId xmlns:a16="http://schemas.microsoft.com/office/drawing/2014/main" id="{2E46A233-0044-3021-2539-B77FC2BF9E2B}"/>
              </a:ext>
            </a:extLst>
          </p:cNvPr>
          <p:cNvSpPr/>
          <p:nvPr/>
        </p:nvSpPr>
        <p:spPr>
          <a:xfrm>
            <a:off x="360484" y="1072807"/>
            <a:ext cx="1565031" cy="14606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Aptos" panose="02110004020202020204"/>
                <a:ea typeface="+mn-ea"/>
                <a:cs typeface="+mn-cs"/>
              </a:rPr>
              <a:t>Web APIs</a:t>
            </a:r>
          </a:p>
        </p:txBody>
      </p:sp>
      <p:cxnSp>
        <p:nvCxnSpPr>
          <p:cNvPr id="23" name="Straight Connector 22">
            <a:extLst>
              <a:ext uri="{FF2B5EF4-FFF2-40B4-BE49-F238E27FC236}">
                <a16:creationId xmlns:a16="http://schemas.microsoft.com/office/drawing/2014/main" id="{3482D5C4-19A7-DBF2-0113-F8D5DDE10151}"/>
              </a:ext>
            </a:extLst>
          </p:cNvPr>
          <p:cNvCxnSpPr>
            <a:cxnSpLocks/>
          </p:cNvCxnSpPr>
          <p:nvPr/>
        </p:nvCxnSpPr>
        <p:spPr>
          <a:xfrm>
            <a:off x="3833447" y="1316908"/>
            <a:ext cx="4466491" cy="19523"/>
          </a:xfrm>
          <a:prstGeom prst="line">
            <a:avLst/>
          </a:prstGeom>
          <a:ln w="127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910874B-6583-BC0E-4A8D-257C3A01E301}"/>
              </a:ext>
            </a:extLst>
          </p:cNvPr>
          <p:cNvCxnSpPr>
            <a:cxnSpLocks/>
          </p:cNvCxnSpPr>
          <p:nvPr/>
        </p:nvCxnSpPr>
        <p:spPr>
          <a:xfrm flipV="1">
            <a:off x="6629401" y="1336431"/>
            <a:ext cx="1670537" cy="2483771"/>
          </a:xfrm>
          <a:prstGeom prst="line">
            <a:avLst/>
          </a:prstGeom>
          <a:ln w="127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6970EAD-23BC-8054-3263-5C2B10E921F5}"/>
              </a:ext>
            </a:extLst>
          </p:cNvPr>
          <p:cNvCxnSpPr>
            <a:cxnSpLocks/>
          </p:cNvCxnSpPr>
          <p:nvPr/>
        </p:nvCxnSpPr>
        <p:spPr>
          <a:xfrm>
            <a:off x="5350621" y="3851031"/>
            <a:ext cx="1319812" cy="0"/>
          </a:xfrm>
          <a:prstGeom prst="line">
            <a:avLst/>
          </a:prstGeom>
          <a:ln w="127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C26B230-BAF0-93B2-63A3-0E14502A70E9}"/>
              </a:ext>
            </a:extLst>
          </p:cNvPr>
          <p:cNvCxnSpPr>
            <a:cxnSpLocks/>
          </p:cNvCxnSpPr>
          <p:nvPr/>
        </p:nvCxnSpPr>
        <p:spPr>
          <a:xfrm flipH="1" flipV="1">
            <a:off x="3833447" y="1444562"/>
            <a:ext cx="1517174" cy="2336313"/>
          </a:xfrm>
          <a:prstGeom prst="line">
            <a:avLst/>
          </a:prstGeom>
          <a:ln w="127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09AA9595-F546-C061-7C48-930AE84BFF56}"/>
              </a:ext>
            </a:extLst>
          </p:cNvPr>
          <p:cNvSpPr/>
          <p:nvPr/>
        </p:nvSpPr>
        <p:spPr>
          <a:xfrm>
            <a:off x="349243" y="3120714"/>
            <a:ext cx="1565031" cy="146063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Aptos" panose="02110004020202020204"/>
                <a:ea typeface="+mn-ea"/>
                <a:cs typeface="+mn-cs"/>
              </a:rPr>
              <a:t>On-Prem</a:t>
            </a:r>
          </a:p>
        </p:txBody>
      </p:sp>
      <p:cxnSp>
        <p:nvCxnSpPr>
          <p:cNvPr id="38" name="Straight Connector 37">
            <a:extLst>
              <a:ext uri="{FF2B5EF4-FFF2-40B4-BE49-F238E27FC236}">
                <a16:creationId xmlns:a16="http://schemas.microsoft.com/office/drawing/2014/main" id="{D707C351-2EF4-9FE6-363F-75EEE649A664}"/>
              </a:ext>
            </a:extLst>
          </p:cNvPr>
          <p:cNvCxnSpPr>
            <a:cxnSpLocks/>
          </p:cNvCxnSpPr>
          <p:nvPr/>
        </p:nvCxnSpPr>
        <p:spPr>
          <a:xfrm flipV="1">
            <a:off x="3360848" y="2720549"/>
            <a:ext cx="1989773" cy="2796642"/>
          </a:xfrm>
          <a:prstGeom prst="line">
            <a:avLst/>
          </a:prstGeom>
          <a:ln w="12700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86A6836-9F74-50DC-923C-F7573F458FCC}"/>
              </a:ext>
            </a:extLst>
          </p:cNvPr>
          <p:cNvCxnSpPr>
            <a:cxnSpLocks/>
          </p:cNvCxnSpPr>
          <p:nvPr/>
        </p:nvCxnSpPr>
        <p:spPr>
          <a:xfrm flipV="1">
            <a:off x="3381183" y="5378198"/>
            <a:ext cx="5200109" cy="35240"/>
          </a:xfrm>
          <a:prstGeom prst="line">
            <a:avLst/>
          </a:prstGeom>
          <a:ln w="12700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091B3576-5F4D-E4CE-2357-0ACADD7B4310}"/>
              </a:ext>
            </a:extLst>
          </p:cNvPr>
          <p:cNvCxnSpPr>
            <a:cxnSpLocks/>
          </p:cNvCxnSpPr>
          <p:nvPr/>
        </p:nvCxnSpPr>
        <p:spPr>
          <a:xfrm>
            <a:off x="6841381" y="2563629"/>
            <a:ext cx="1739911" cy="2710816"/>
          </a:xfrm>
          <a:prstGeom prst="line">
            <a:avLst/>
          </a:prstGeom>
          <a:ln w="12700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069F2B3-6C08-2BE5-40D1-BFF80A755A8A}"/>
              </a:ext>
            </a:extLst>
          </p:cNvPr>
          <p:cNvCxnSpPr>
            <a:cxnSpLocks/>
          </p:cNvCxnSpPr>
          <p:nvPr/>
        </p:nvCxnSpPr>
        <p:spPr>
          <a:xfrm flipV="1">
            <a:off x="5415320" y="2563629"/>
            <a:ext cx="1426061" cy="51876"/>
          </a:xfrm>
          <a:prstGeom prst="line">
            <a:avLst/>
          </a:prstGeom>
          <a:ln w="12700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443F3226-66FC-B71E-8DF1-6425DD94FB93}"/>
              </a:ext>
            </a:extLst>
          </p:cNvPr>
          <p:cNvSpPr/>
          <p:nvPr/>
        </p:nvSpPr>
        <p:spPr>
          <a:xfrm>
            <a:off x="9578717" y="1968367"/>
            <a:ext cx="2264040" cy="2216771"/>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Aptos" panose="02110004020202020204"/>
                <a:ea typeface="+mn-ea"/>
                <a:cs typeface="+mn-cs"/>
              </a:rPr>
              <a:t>Onyx</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ptos" panose="02110004020202020204"/>
                <a:ea typeface="+mn-ea"/>
                <a:cs typeface="+mn-cs"/>
              </a:rPr>
              <a:t>(this work)</a:t>
            </a:r>
          </a:p>
        </p:txBody>
      </p:sp>
      <p:cxnSp>
        <p:nvCxnSpPr>
          <p:cNvPr id="51" name="Straight Connector 50">
            <a:extLst>
              <a:ext uri="{FF2B5EF4-FFF2-40B4-BE49-F238E27FC236}">
                <a16:creationId xmlns:a16="http://schemas.microsoft.com/office/drawing/2014/main" id="{5E7FDEF5-F854-42FA-EE85-F1392553B8B8}"/>
              </a:ext>
            </a:extLst>
          </p:cNvPr>
          <p:cNvCxnSpPr>
            <a:cxnSpLocks/>
          </p:cNvCxnSpPr>
          <p:nvPr/>
        </p:nvCxnSpPr>
        <p:spPr>
          <a:xfrm>
            <a:off x="4589585" y="1968367"/>
            <a:ext cx="2954215" cy="0"/>
          </a:xfrm>
          <a:prstGeom prst="line">
            <a:avLst/>
          </a:prstGeom>
          <a:ln w="12700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F3884B1B-B881-1A56-79C0-E4815E9BAD6A}"/>
              </a:ext>
            </a:extLst>
          </p:cNvPr>
          <p:cNvCxnSpPr>
            <a:cxnSpLocks/>
          </p:cNvCxnSpPr>
          <p:nvPr/>
        </p:nvCxnSpPr>
        <p:spPr>
          <a:xfrm flipV="1">
            <a:off x="4535869" y="1968367"/>
            <a:ext cx="53716" cy="2396154"/>
          </a:xfrm>
          <a:prstGeom prst="line">
            <a:avLst/>
          </a:prstGeom>
          <a:ln w="12700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1A54ADDD-D93B-2E9B-8F46-BAD8451DAD87}"/>
              </a:ext>
            </a:extLst>
          </p:cNvPr>
          <p:cNvCxnSpPr>
            <a:cxnSpLocks/>
          </p:cNvCxnSpPr>
          <p:nvPr/>
        </p:nvCxnSpPr>
        <p:spPr>
          <a:xfrm flipV="1">
            <a:off x="4589585" y="4364521"/>
            <a:ext cx="2743200" cy="45260"/>
          </a:xfrm>
          <a:prstGeom prst="line">
            <a:avLst/>
          </a:prstGeom>
          <a:ln w="12700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658DC817-739C-61A2-7EB5-23EDDBE97C1F}"/>
              </a:ext>
            </a:extLst>
          </p:cNvPr>
          <p:cNvCxnSpPr>
            <a:cxnSpLocks/>
          </p:cNvCxnSpPr>
          <p:nvPr/>
        </p:nvCxnSpPr>
        <p:spPr>
          <a:xfrm>
            <a:off x="7485185" y="2003537"/>
            <a:ext cx="0" cy="2513384"/>
          </a:xfrm>
          <a:prstGeom prst="line">
            <a:avLst/>
          </a:prstGeom>
          <a:ln w="127000">
            <a:solidFill>
              <a:schemeClr val="accent6">
                <a:lumMod val="50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F2B03A1B-9CCF-846D-6F80-4E6D13B131CD}"/>
              </a:ext>
            </a:extLst>
          </p:cNvPr>
          <p:cNvCxnSpPr>
            <a:cxnSpLocks/>
          </p:cNvCxnSpPr>
          <p:nvPr/>
        </p:nvCxnSpPr>
        <p:spPr>
          <a:xfrm flipV="1">
            <a:off x="5350621" y="5936630"/>
            <a:ext cx="364379" cy="3229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6E29177E-CF4B-8F1F-291A-AA2F034F935E}"/>
              </a:ext>
            </a:extLst>
          </p:cNvPr>
          <p:cNvCxnSpPr>
            <a:cxnSpLocks/>
          </p:cNvCxnSpPr>
          <p:nvPr/>
        </p:nvCxnSpPr>
        <p:spPr>
          <a:xfrm>
            <a:off x="5350621" y="6363040"/>
            <a:ext cx="364379" cy="360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C5623635-639D-E30A-EF47-97C2A5A760F5}"/>
              </a:ext>
            </a:extLst>
          </p:cNvPr>
          <p:cNvCxnSpPr>
            <a:cxnSpLocks/>
          </p:cNvCxnSpPr>
          <p:nvPr/>
        </p:nvCxnSpPr>
        <p:spPr>
          <a:xfrm flipH="1">
            <a:off x="4805499" y="6358834"/>
            <a:ext cx="438652" cy="3965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D7788F3F-6665-0D22-0870-F2A1B5E15DCD}"/>
              </a:ext>
            </a:extLst>
          </p:cNvPr>
          <p:cNvCxnSpPr>
            <a:cxnSpLocks/>
          </p:cNvCxnSpPr>
          <p:nvPr/>
        </p:nvCxnSpPr>
        <p:spPr>
          <a:xfrm flipH="1" flipV="1">
            <a:off x="4856327" y="5943601"/>
            <a:ext cx="387824" cy="3432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C1EF0457-614F-7BB6-8B5A-BB5AE1009905}"/>
              </a:ext>
            </a:extLst>
          </p:cNvPr>
          <p:cNvSpPr txBox="1"/>
          <p:nvPr/>
        </p:nvSpPr>
        <p:spPr>
          <a:xfrm>
            <a:off x="5597612" y="6132311"/>
            <a:ext cx="28862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Away from center = better</a:t>
            </a:r>
          </a:p>
        </p:txBody>
      </p:sp>
      <p:sp>
        <p:nvSpPr>
          <p:cNvPr id="86" name="TextBox 85">
            <a:extLst>
              <a:ext uri="{FF2B5EF4-FFF2-40B4-BE49-F238E27FC236}">
                <a16:creationId xmlns:a16="http://schemas.microsoft.com/office/drawing/2014/main" id="{2D5434C5-0101-5AFE-B4CC-A34DB521DE55}"/>
              </a:ext>
            </a:extLst>
          </p:cNvPr>
          <p:cNvSpPr txBox="1"/>
          <p:nvPr/>
        </p:nvSpPr>
        <p:spPr>
          <a:xfrm>
            <a:off x="7086601" y="933223"/>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10,000 MPs</a:t>
            </a:r>
          </a:p>
        </p:txBody>
      </p:sp>
      <p:sp>
        <p:nvSpPr>
          <p:cNvPr id="87" name="TextBox 86">
            <a:extLst>
              <a:ext uri="{FF2B5EF4-FFF2-40B4-BE49-F238E27FC236}">
                <a16:creationId xmlns:a16="http://schemas.microsoft.com/office/drawing/2014/main" id="{E7F86D4D-F5A5-1E21-9972-3FC1C388F275}"/>
              </a:ext>
            </a:extLst>
          </p:cNvPr>
          <p:cNvSpPr txBox="1"/>
          <p:nvPr/>
        </p:nvSpPr>
        <p:spPr>
          <a:xfrm>
            <a:off x="3104689" y="3624748"/>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~100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ms</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8" name="TextBox 87">
            <a:extLst>
              <a:ext uri="{FF2B5EF4-FFF2-40B4-BE49-F238E27FC236}">
                <a16:creationId xmlns:a16="http://schemas.microsoft.com/office/drawing/2014/main" id="{7986400B-5300-A8A7-0D2F-7F271741AA00}"/>
              </a:ext>
            </a:extLst>
          </p:cNvPr>
          <p:cNvSpPr txBox="1"/>
          <p:nvPr/>
        </p:nvSpPr>
        <p:spPr>
          <a:xfrm>
            <a:off x="4484077" y="4479397"/>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&lt; 100 us</a:t>
            </a:r>
          </a:p>
        </p:txBody>
      </p:sp>
      <p:sp>
        <p:nvSpPr>
          <p:cNvPr id="89" name="TextBox 88">
            <a:extLst>
              <a:ext uri="{FF2B5EF4-FFF2-40B4-BE49-F238E27FC236}">
                <a16:creationId xmlns:a16="http://schemas.microsoft.com/office/drawing/2014/main" id="{C29D5899-CE1E-76E8-AFEA-8A0B353739A0}"/>
              </a:ext>
            </a:extLst>
          </p:cNvPr>
          <p:cNvSpPr txBox="1"/>
          <p:nvPr/>
        </p:nvSpPr>
        <p:spPr>
          <a:xfrm>
            <a:off x="3381183" y="5563254"/>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&lt; 1 us</a:t>
            </a:r>
          </a:p>
        </p:txBody>
      </p:sp>
      <p:sp>
        <p:nvSpPr>
          <p:cNvPr id="90" name="TextBox 89">
            <a:extLst>
              <a:ext uri="{FF2B5EF4-FFF2-40B4-BE49-F238E27FC236}">
                <a16:creationId xmlns:a16="http://schemas.microsoft.com/office/drawing/2014/main" id="{454D3CFA-E8D1-D948-D131-2B0038BC5C00}"/>
              </a:ext>
            </a:extLst>
          </p:cNvPr>
          <p:cNvSpPr txBox="1"/>
          <p:nvPr/>
        </p:nvSpPr>
        <p:spPr>
          <a:xfrm>
            <a:off x="7882807" y="1894755"/>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1000 MPs</a:t>
            </a:r>
          </a:p>
        </p:txBody>
      </p:sp>
      <p:sp>
        <p:nvSpPr>
          <p:cNvPr id="91" name="TextBox 90">
            <a:extLst>
              <a:ext uri="{FF2B5EF4-FFF2-40B4-BE49-F238E27FC236}">
                <a16:creationId xmlns:a16="http://schemas.microsoft.com/office/drawing/2014/main" id="{66887003-4412-C6ED-3C78-E5AA479FDAF3}"/>
              </a:ext>
            </a:extLst>
          </p:cNvPr>
          <p:cNvSpPr txBox="1"/>
          <p:nvPr/>
        </p:nvSpPr>
        <p:spPr>
          <a:xfrm>
            <a:off x="7509595" y="2716398"/>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100 MPs</a:t>
            </a:r>
          </a:p>
        </p:txBody>
      </p:sp>
      <p:sp>
        <p:nvSpPr>
          <p:cNvPr id="92" name="TextBox 91">
            <a:extLst>
              <a:ext uri="{FF2B5EF4-FFF2-40B4-BE49-F238E27FC236}">
                <a16:creationId xmlns:a16="http://schemas.microsoft.com/office/drawing/2014/main" id="{045B1CA6-3A24-6DE2-19D1-F1F60CDC7D40}"/>
              </a:ext>
            </a:extLst>
          </p:cNvPr>
          <p:cNvSpPr txBox="1"/>
          <p:nvPr/>
        </p:nvSpPr>
        <p:spPr>
          <a:xfrm>
            <a:off x="6781802" y="4366535"/>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 us</a:t>
            </a:r>
          </a:p>
        </p:txBody>
      </p:sp>
      <p:sp>
        <p:nvSpPr>
          <p:cNvPr id="93" name="TextBox 92">
            <a:extLst>
              <a:ext uri="{FF2B5EF4-FFF2-40B4-BE49-F238E27FC236}">
                <a16:creationId xmlns:a16="http://schemas.microsoft.com/office/drawing/2014/main" id="{4FBC12F5-D6E9-59AA-2B9D-375ABDB493DC}"/>
              </a:ext>
            </a:extLst>
          </p:cNvPr>
          <p:cNvSpPr txBox="1"/>
          <p:nvPr/>
        </p:nvSpPr>
        <p:spPr>
          <a:xfrm>
            <a:off x="8752240" y="5147859"/>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10 ns</a:t>
            </a:r>
          </a:p>
        </p:txBody>
      </p:sp>
      <p:sp>
        <p:nvSpPr>
          <p:cNvPr id="94" name="TextBox 93">
            <a:extLst>
              <a:ext uri="{FF2B5EF4-FFF2-40B4-BE49-F238E27FC236}">
                <a16:creationId xmlns:a16="http://schemas.microsoft.com/office/drawing/2014/main" id="{0761262B-86E6-265A-2A4B-E5330AE412FC}"/>
              </a:ext>
            </a:extLst>
          </p:cNvPr>
          <p:cNvSpPr txBox="1"/>
          <p:nvPr/>
        </p:nvSpPr>
        <p:spPr>
          <a:xfrm>
            <a:off x="5984629" y="3888307"/>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10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ms</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5" name="TextBox 94">
            <a:extLst>
              <a:ext uri="{FF2B5EF4-FFF2-40B4-BE49-F238E27FC236}">
                <a16:creationId xmlns:a16="http://schemas.microsoft.com/office/drawing/2014/main" id="{BC76C45B-EF9E-084C-9560-1E5C07958FAC}"/>
              </a:ext>
            </a:extLst>
          </p:cNvPr>
          <p:cNvSpPr txBox="1"/>
          <p:nvPr/>
        </p:nvSpPr>
        <p:spPr>
          <a:xfrm>
            <a:off x="2409093" y="2754799"/>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$60K/month/MP</a:t>
            </a:r>
          </a:p>
        </p:txBody>
      </p:sp>
      <p:sp>
        <p:nvSpPr>
          <p:cNvPr id="96" name="TextBox 95">
            <a:extLst>
              <a:ext uri="{FF2B5EF4-FFF2-40B4-BE49-F238E27FC236}">
                <a16:creationId xmlns:a16="http://schemas.microsoft.com/office/drawing/2014/main" id="{713C673E-E971-081F-D6FA-D19C25D5A49D}"/>
              </a:ext>
            </a:extLst>
          </p:cNvPr>
          <p:cNvSpPr txBox="1"/>
          <p:nvPr/>
        </p:nvSpPr>
        <p:spPr>
          <a:xfrm>
            <a:off x="2569319" y="1968037"/>
            <a:ext cx="207498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$16/month/MP</a:t>
            </a:r>
          </a:p>
        </p:txBody>
      </p:sp>
    </p:spTree>
    <p:extLst>
      <p:ext uri="{BB962C8B-B14F-4D97-AF65-F5344CB8AC3E}">
        <p14:creationId xmlns:p14="http://schemas.microsoft.com/office/powerpoint/2010/main" val="336620407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dissolve">
                                      <p:cBhvr>
                                        <p:cTn id="10" dur="500"/>
                                        <p:tgtEl>
                                          <p:spTgt spid="20"/>
                                        </p:tgtEl>
                                      </p:cBhvr>
                                    </p:animEffect>
                                  </p:childTnLst>
                                </p:cTn>
                              </p:par>
                              <p:par>
                                <p:cTn id="11" presetID="9"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par>
                                <p:cTn id="14" presetID="9"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dissolve">
                                      <p:cBhvr>
                                        <p:cTn id="19" dur="500"/>
                                        <p:tgtEl>
                                          <p:spTgt spid="19"/>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dissolve">
                                      <p:cBhvr>
                                        <p:cTn id="27" dur="500"/>
                                        <p:tgtEl>
                                          <p:spTgt spid="37"/>
                                        </p:tgtEl>
                                      </p:cBhvr>
                                    </p:animEffect>
                                  </p:childTnLst>
                                </p:cTn>
                              </p:par>
                              <p:par>
                                <p:cTn id="28" presetID="9"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dissolve">
                                      <p:cBhvr>
                                        <p:cTn id="30" dur="500"/>
                                        <p:tgtEl>
                                          <p:spTgt spid="38"/>
                                        </p:tgtEl>
                                      </p:cBhvr>
                                    </p:animEffect>
                                  </p:childTnLst>
                                </p:cTn>
                              </p:par>
                              <p:par>
                                <p:cTn id="31" presetID="9"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dissolve">
                                      <p:cBhvr>
                                        <p:cTn id="33" dur="500"/>
                                        <p:tgtEl>
                                          <p:spTgt spid="42"/>
                                        </p:tgtEl>
                                      </p:cBhvr>
                                    </p:animEffect>
                                  </p:childTnLst>
                                </p:cTn>
                              </p:par>
                              <p:par>
                                <p:cTn id="34" presetID="9" presetClass="entr" presetSubtype="0" fill="hold"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dissolve">
                                      <p:cBhvr>
                                        <p:cTn id="36" dur="500"/>
                                        <p:tgtEl>
                                          <p:spTgt spid="45"/>
                                        </p:tgtEl>
                                      </p:cBhvr>
                                    </p:animEffect>
                                  </p:childTnLst>
                                </p:cTn>
                              </p:par>
                              <p:par>
                                <p:cTn id="37" presetID="9" presetClass="entr" presetSubtype="0" fill="hold" nodeType="with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dissolve">
                                      <p:cBhvr>
                                        <p:cTn id="39" dur="500"/>
                                        <p:tgtEl>
                                          <p:spTgt spid="48"/>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89"/>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91"/>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par>
                                <p:cTn id="53" presetID="9"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dissolve">
                                      <p:cBhvr>
                                        <p:cTn id="55" dur="500"/>
                                        <p:tgtEl>
                                          <p:spTgt spid="23"/>
                                        </p:tgtEl>
                                      </p:cBhvr>
                                    </p:animEffect>
                                  </p:childTnLst>
                                </p:cTn>
                              </p:par>
                              <p:par>
                                <p:cTn id="56" presetID="9" presetClass="entr" presetSubtype="0" fill="hold"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dissolve">
                                      <p:cBhvr>
                                        <p:cTn id="58" dur="500"/>
                                        <p:tgtEl>
                                          <p:spTgt spid="34"/>
                                        </p:tgtEl>
                                      </p:cBhvr>
                                    </p:animEffect>
                                  </p:childTnLst>
                                </p:cTn>
                              </p:par>
                              <p:par>
                                <p:cTn id="59" presetID="9"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dissolve">
                                      <p:cBhvr>
                                        <p:cTn id="61" dur="500"/>
                                        <p:tgtEl>
                                          <p:spTgt spid="27"/>
                                        </p:tgtEl>
                                      </p:cBhvr>
                                    </p:animEffect>
                                  </p:childTnLst>
                                </p:cTn>
                              </p:par>
                              <p:par>
                                <p:cTn id="62" presetID="9" presetClass="entr" presetSubtype="0" fill="hold"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dissolve">
                                      <p:cBhvr>
                                        <p:cTn id="64" dur="500"/>
                                        <p:tgtEl>
                                          <p:spTgt spid="31"/>
                                        </p:tgtEl>
                                      </p:cBhvr>
                                    </p:animEffect>
                                  </p:childTnLst>
                                </p:cTn>
                              </p:par>
                              <p:par>
                                <p:cTn id="65" presetID="1" presetClass="entr" presetSubtype="0" fill="hold" grpId="0" nodeType="withEffect">
                                  <p:stCondLst>
                                    <p:cond delay="0"/>
                                  </p:stCondLst>
                                  <p:childTnLst>
                                    <p:set>
                                      <p:cBhvr>
                                        <p:cTn id="66" dur="1" fill="hold">
                                          <p:stCondLst>
                                            <p:cond delay="0"/>
                                          </p:stCondLst>
                                        </p:cTn>
                                        <p:tgtEl>
                                          <p:spTgt spid="8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dissolve">
                                      <p:cBhvr>
                                        <p:cTn id="75" dur="500"/>
                                        <p:tgtEl>
                                          <p:spTgt spid="50"/>
                                        </p:tgtEl>
                                      </p:cBhvr>
                                    </p:animEffect>
                                  </p:childTnLst>
                                </p:cTn>
                              </p:par>
                              <p:par>
                                <p:cTn id="76" presetID="9" presetClass="entr" presetSubtype="0" fill="hold" nodeType="withEffect">
                                  <p:stCondLst>
                                    <p:cond delay="0"/>
                                  </p:stCondLst>
                                  <p:childTnLst>
                                    <p:set>
                                      <p:cBhvr>
                                        <p:cTn id="77" dur="1" fill="hold">
                                          <p:stCondLst>
                                            <p:cond delay="0"/>
                                          </p:stCondLst>
                                        </p:cTn>
                                        <p:tgtEl>
                                          <p:spTgt spid="54"/>
                                        </p:tgtEl>
                                        <p:attrNameLst>
                                          <p:attrName>style.visibility</p:attrName>
                                        </p:attrNameLst>
                                      </p:cBhvr>
                                      <p:to>
                                        <p:strVal val="visible"/>
                                      </p:to>
                                    </p:set>
                                    <p:animEffect transition="in" filter="dissolve">
                                      <p:cBhvr>
                                        <p:cTn id="78" dur="500"/>
                                        <p:tgtEl>
                                          <p:spTgt spid="54"/>
                                        </p:tgtEl>
                                      </p:cBhvr>
                                    </p:animEffect>
                                  </p:childTnLst>
                                </p:cTn>
                              </p:par>
                              <p:par>
                                <p:cTn id="79" presetID="9" presetClass="entr" presetSubtype="0" fill="hold" nodeType="with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dissolve">
                                      <p:cBhvr>
                                        <p:cTn id="81" dur="500"/>
                                        <p:tgtEl>
                                          <p:spTgt spid="51"/>
                                        </p:tgtEl>
                                      </p:cBhvr>
                                    </p:animEffect>
                                  </p:childTnLst>
                                </p:cTn>
                              </p:par>
                              <p:par>
                                <p:cTn id="82" presetID="9" presetClass="entr" presetSubtype="0" fill="hold" nodeType="with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dissolve">
                                      <p:cBhvr>
                                        <p:cTn id="84" dur="500"/>
                                        <p:tgtEl>
                                          <p:spTgt spid="62"/>
                                        </p:tgtEl>
                                      </p:cBhvr>
                                    </p:animEffect>
                                  </p:childTnLst>
                                </p:cTn>
                              </p:par>
                              <p:par>
                                <p:cTn id="85" presetID="9" presetClass="entr" presetSubtype="0" fill="hold" nodeType="withEffect">
                                  <p:stCondLst>
                                    <p:cond delay="0"/>
                                  </p:stCondLst>
                                  <p:childTnLst>
                                    <p:set>
                                      <p:cBhvr>
                                        <p:cTn id="86" dur="1" fill="hold">
                                          <p:stCondLst>
                                            <p:cond delay="0"/>
                                          </p:stCondLst>
                                        </p:cTn>
                                        <p:tgtEl>
                                          <p:spTgt spid="59"/>
                                        </p:tgtEl>
                                        <p:attrNameLst>
                                          <p:attrName>style.visibility</p:attrName>
                                        </p:attrNameLst>
                                      </p:cBhvr>
                                      <p:to>
                                        <p:strVal val="visible"/>
                                      </p:to>
                                    </p:set>
                                    <p:animEffect transition="in" filter="dissolve">
                                      <p:cBhvr>
                                        <p:cTn id="87" dur="500"/>
                                        <p:tgtEl>
                                          <p:spTgt spid="59"/>
                                        </p:tgtEl>
                                      </p:cBhvr>
                                    </p:animEffect>
                                  </p:childTnLst>
                                </p:cTn>
                              </p:par>
                              <p:par>
                                <p:cTn id="88" presetID="1" presetClass="entr" presetSubtype="0" fill="hold" grpId="0" nodeType="withEffect">
                                  <p:stCondLst>
                                    <p:cond delay="0"/>
                                  </p:stCondLst>
                                  <p:childTnLst>
                                    <p:set>
                                      <p:cBhvr>
                                        <p:cTn id="89" dur="1" fill="hold">
                                          <p:stCondLst>
                                            <p:cond delay="0"/>
                                          </p:stCondLst>
                                        </p:cTn>
                                        <p:tgtEl>
                                          <p:spTgt spid="9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92"/>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88"/>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animBg="1"/>
      <p:bldP spid="37" grpId="0" animBg="1"/>
      <p:bldP spid="50" grpId="0" animBg="1"/>
      <p:bldP spid="86" grpId="0"/>
      <p:bldP spid="87" grpId="0"/>
      <p:bldP spid="88" grpId="0"/>
      <p:bldP spid="89" grpId="0"/>
      <p:bldP spid="90" grpId="0"/>
      <p:bldP spid="91" grpId="0"/>
      <p:bldP spid="92" grpId="0"/>
      <p:bldP spid="93" grpId="0"/>
      <p:bldP spid="94" grpId="0"/>
      <p:bldP spid="95" grpId="0"/>
      <p:bldP spid="96"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A88678-9A28-758D-C3C6-D98BAD5E2F6F}"/>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C0D9B04F-71F7-70E0-38A6-A3204B9904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9" name="Rectangle 48">
            <a:extLst>
              <a:ext uri="{FF2B5EF4-FFF2-40B4-BE49-F238E27FC236}">
                <a16:creationId xmlns:a16="http://schemas.microsoft.com/office/drawing/2014/main" id="{4DE296CF-617C-ECA4-CB80-D1ECBC6E4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35E895D1-6EF1-5D85-F23C-0C32E754A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1" name="Rectangle 50">
            <a:extLst>
              <a:ext uri="{FF2B5EF4-FFF2-40B4-BE49-F238E27FC236}">
                <a16:creationId xmlns:a16="http://schemas.microsoft.com/office/drawing/2014/main" id="{C75777E5-C3BC-60B0-15D7-D491D128E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2" name="Freeform: Shape 16">
            <a:extLst>
              <a:ext uri="{FF2B5EF4-FFF2-40B4-BE49-F238E27FC236}">
                <a16:creationId xmlns:a16="http://schemas.microsoft.com/office/drawing/2014/main" id="{04170A5F-4EE4-FA02-E57B-B7B8B5400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Rectangle 52">
            <a:extLst>
              <a:ext uri="{FF2B5EF4-FFF2-40B4-BE49-F238E27FC236}">
                <a16:creationId xmlns:a16="http://schemas.microsoft.com/office/drawing/2014/main" id="{2A20B623-424A-C413-368B-B238DD805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FBCE82B-3644-6521-92FB-E7D891B583F0}"/>
              </a:ext>
            </a:extLst>
          </p:cNvPr>
          <p:cNvSpPr>
            <a:spLocks noGrp="1"/>
          </p:cNvSpPr>
          <p:nvPr>
            <p:ph type="title"/>
          </p:nvPr>
        </p:nvSpPr>
        <p:spPr>
          <a:xfrm>
            <a:off x="586478" y="1683756"/>
            <a:ext cx="3115265" cy="2396359"/>
          </a:xfrm>
        </p:spPr>
        <p:txBody>
          <a:bodyPr anchor="b">
            <a:normAutofit/>
          </a:bodyPr>
          <a:lstStyle/>
          <a:p>
            <a:pPr algn="r"/>
            <a:r>
              <a:rPr lang="en-US" sz="3700" dirty="0">
                <a:solidFill>
                  <a:srgbClr val="FFFFFF"/>
                </a:solidFill>
              </a:rPr>
              <a:t>Onyx: Scalable Cloud Financial Exchange</a:t>
            </a:r>
          </a:p>
        </p:txBody>
      </p:sp>
      <p:graphicFrame>
        <p:nvGraphicFramePr>
          <p:cNvPr id="5" name="Content Placeholder 2">
            <a:extLst>
              <a:ext uri="{FF2B5EF4-FFF2-40B4-BE49-F238E27FC236}">
                <a16:creationId xmlns:a16="http://schemas.microsoft.com/office/drawing/2014/main" id="{90473725-4582-2D6A-BEBA-FAEE010172A4}"/>
              </a:ext>
            </a:extLst>
          </p:cNvPr>
          <p:cNvGraphicFramePr>
            <a:graphicFrameLocks noGrp="1"/>
          </p:cNvGraphicFramePr>
          <p:nvPr>
            <p:ph idx="1"/>
          </p:nvPr>
        </p:nvGraphicFramePr>
        <p:xfrm>
          <a:off x="4487451" y="384388"/>
          <a:ext cx="6790149" cy="6300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26155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382E76DE-0916-BF4F-940E-5CCE6068F0CC}"/>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1B8A2073-DDFC-A945-965F-34F057A13413}"/>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EC6F2A64-226F-F043-A736-0E712AA93A63}"/>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graphicEl>
                                              <a:dgm id="{E1F2A502-4B18-4E44-9443-18DEF06AC982}"/>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F71D5DF7-3038-2041-8621-DF8C046A658D}"/>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graphicEl>
                                              <a:dgm id="{6853193F-8754-5547-B915-A85C1FD214C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AB5ADB6-3848-E651-6B0E-8EEC03BACE09}"/>
              </a:ext>
            </a:extLst>
          </p:cNvPr>
          <p:cNvSpPr>
            <a:spLocks noGrp="1"/>
          </p:cNvSpPr>
          <p:nvPr>
            <p:ph type="title"/>
          </p:nvPr>
        </p:nvSpPr>
        <p:spPr>
          <a:xfrm>
            <a:off x="6094105" y="802955"/>
            <a:ext cx="4977976" cy="1454051"/>
          </a:xfrm>
        </p:spPr>
        <p:txBody>
          <a:bodyPr vert="horz" lIns="91440" tIns="45720" rIns="91440" bIns="45720" rtlCol="0" anchor="ctr">
            <a:normAutofit/>
          </a:bodyPr>
          <a:lstStyle/>
          <a:p>
            <a:pPr>
              <a:spcBef>
                <a:spcPct val="0"/>
              </a:spcBef>
            </a:pPr>
            <a:r>
              <a:rPr lang="en-US" sz="3600" kern="1200" dirty="0">
                <a:solidFill>
                  <a:schemeClr val="tx2"/>
                </a:solidFill>
                <a:latin typeface="+mj-lt"/>
                <a:ea typeface="+mj-ea"/>
                <a:cs typeface="+mj-cs"/>
              </a:rPr>
              <a:t>Onyx</a:t>
            </a:r>
          </a:p>
        </p:txBody>
      </p:sp>
      <p:pic>
        <p:nvPicPr>
          <p:cNvPr id="7" name="Graphic 6" descr="Check List">
            <a:extLst>
              <a:ext uri="{FF2B5EF4-FFF2-40B4-BE49-F238E27FC236}">
                <a16:creationId xmlns:a16="http://schemas.microsoft.com/office/drawing/2014/main" id="{C4F1CCD6-E105-C121-CFC1-1BB6A4E352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Text Placeholder 2">
            <a:extLst>
              <a:ext uri="{FF2B5EF4-FFF2-40B4-BE49-F238E27FC236}">
                <a16:creationId xmlns:a16="http://schemas.microsoft.com/office/drawing/2014/main" id="{73EA4F11-57C5-8E7C-CBB3-E5A3C0E4E8A9}"/>
              </a:ext>
            </a:extLst>
          </p:cNvPr>
          <p:cNvSpPr>
            <a:spLocks noGrp="1"/>
          </p:cNvSpPr>
          <p:nvPr>
            <p:ph type="body" idx="1"/>
          </p:nvPr>
        </p:nvSpPr>
        <p:spPr>
          <a:xfrm>
            <a:off x="6094103" y="2257006"/>
            <a:ext cx="4977578" cy="3639289"/>
          </a:xfrm>
        </p:spPr>
        <p:txBody>
          <a:bodyPr vert="horz" lIns="91440" tIns="45720" rIns="91440" bIns="45720" rtlCol="0" anchor="ctr">
            <a:normAutofit/>
          </a:bodyPr>
          <a:lstStyle/>
          <a:p>
            <a:pPr indent="-228600">
              <a:spcAft>
                <a:spcPts val="600"/>
              </a:spcAft>
              <a:buFont typeface="Arial" panose="020B0604020202020204" pitchFamily="34" charset="0"/>
              <a:buChar char="•"/>
            </a:pPr>
            <a:r>
              <a:rPr lang="en-US" sz="2400" dirty="0">
                <a:solidFill>
                  <a:schemeClr val="tx2"/>
                </a:solidFill>
              </a:rPr>
              <a:t>Fairness definitions and relaxation</a:t>
            </a:r>
          </a:p>
          <a:p>
            <a:pPr indent="-228600">
              <a:spcAft>
                <a:spcPts val="600"/>
              </a:spcAft>
              <a:buFont typeface="Arial" panose="020B0604020202020204" pitchFamily="34" charset="0"/>
              <a:buChar char="•"/>
            </a:pPr>
            <a:r>
              <a:rPr lang="en-US" sz="2400" dirty="0">
                <a:solidFill>
                  <a:schemeClr val="tx2"/>
                </a:solidFill>
              </a:rPr>
              <a:t>Scalable outbound fairness</a:t>
            </a:r>
          </a:p>
          <a:p>
            <a:pPr indent="-228600">
              <a:spcAft>
                <a:spcPts val="600"/>
              </a:spcAft>
              <a:buFont typeface="Arial" panose="020B0604020202020204" pitchFamily="34" charset="0"/>
              <a:buChar char="•"/>
            </a:pPr>
            <a:r>
              <a:rPr lang="en-US" sz="2400" dirty="0">
                <a:solidFill>
                  <a:schemeClr val="tx2"/>
                </a:solidFill>
              </a:rPr>
              <a:t>Scalable inbound fairness</a:t>
            </a:r>
          </a:p>
          <a:p>
            <a:pPr lvl="1" indent="-228600">
              <a:spcAft>
                <a:spcPts val="600"/>
              </a:spcAft>
              <a:buFont typeface="Arial" panose="020B0604020202020204" pitchFamily="34" charset="0"/>
              <a:buChar char="•"/>
            </a:pPr>
            <a:r>
              <a:rPr lang="en-US" dirty="0">
                <a:solidFill>
                  <a:schemeClr val="tx2"/>
                </a:solidFill>
              </a:rPr>
              <a:t>A scheduling policy to gracefully handle bursts</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aphicFrame>
        <p:nvGraphicFramePr>
          <p:cNvPr id="5" name="Table 4">
            <a:extLst>
              <a:ext uri="{FF2B5EF4-FFF2-40B4-BE49-F238E27FC236}">
                <a16:creationId xmlns:a16="http://schemas.microsoft.com/office/drawing/2014/main" id="{E9D2B147-FFEC-4388-CB03-56112A4BCFD0}"/>
              </a:ext>
            </a:extLst>
          </p:cNvPr>
          <p:cNvGraphicFramePr>
            <a:graphicFrameLocks noGrp="1"/>
          </p:cNvGraphicFramePr>
          <p:nvPr/>
        </p:nvGraphicFramePr>
        <p:xfrm>
          <a:off x="910624" y="5497975"/>
          <a:ext cx="9894012" cy="637958"/>
        </p:xfrm>
        <a:graphic>
          <a:graphicData uri="http://schemas.openxmlformats.org/drawingml/2006/table">
            <a:tbl>
              <a:tblPr firstRow="1" bandRow="1">
                <a:tableStyleId>{5C22544A-7EE6-4342-B048-85BDC9FD1C3A}</a:tableStyleId>
              </a:tblPr>
              <a:tblGrid>
                <a:gridCol w="3298004">
                  <a:extLst>
                    <a:ext uri="{9D8B030D-6E8A-4147-A177-3AD203B41FA5}">
                      <a16:colId xmlns:a16="http://schemas.microsoft.com/office/drawing/2014/main" val="1418160432"/>
                    </a:ext>
                  </a:extLst>
                </a:gridCol>
                <a:gridCol w="3298004">
                  <a:extLst>
                    <a:ext uri="{9D8B030D-6E8A-4147-A177-3AD203B41FA5}">
                      <a16:colId xmlns:a16="http://schemas.microsoft.com/office/drawing/2014/main" val="2777814822"/>
                    </a:ext>
                  </a:extLst>
                </a:gridCol>
                <a:gridCol w="3298004">
                  <a:extLst>
                    <a:ext uri="{9D8B030D-6E8A-4147-A177-3AD203B41FA5}">
                      <a16:colId xmlns:a16="http://schemas.microsoft.com/office/drawing/2014/main" val="4282663529"/>
                    </a:ext>
                  </a:extLst>
                </a:gridCol>
              </a:tblGrid>
              <a:tr h="637958">
                <a:tc>
                  <a:txBody>
                    <a:bodyPr/>
                    <a:lstStyle/>
                    <a:p>
                      <a:r>
                        <a:rPr lang="en-US" sz="2400" dirty="0"/>
                        <a:t>Definitions</a:t>
                      </a:r>
                    </a:p>
                  </a:txBody>
                  <a:tcPr/>
                </a:tc>
                <a:tc>
                  <a:txBody>
                    <a:bodyPr/>
                    <a:lstStyle/>
                    <a:p>
                      <a:r>
                        <a:rPr lang="en-US" sz="2400" dirty="0"/>
                        <a:t>Outbound</a:t>
                      </a:r>
                    </a:p>
                  </a:txBody>
                  <a:tcPr/>
                </a:tc>
                <a:tc>
                  <a:txBody>
                    <a:bodyPr/>
                    <a:lstStyle/>
                    <a:p>
                      <a:r>
                        <a:rPr lang="en-US" sz="24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9717741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48F9E-DCD6-F04B-15AD-DF1592E03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C377F-8A63-FEDB-F1D3-7895F86D9B79}"/>
              </a:ext>
            </a:extLst>
          </p:cNvPr>
          <p:cNvSpPr>
            <a:spLocks noGrp="1"/>
          </p:cNvSpPr>
          <p:nvPr>
            <p:ph type="title"/>
          </p:nvPr>
        </p:nvSpPr>
        <p:spPr>
          <a:xfrm>
            <a:off x="6094105" y="802955"/>
            <a:ext cx="4977976" cy="1454051"/>
          </a:xfrm>
        </p:spPr>
        <p:txBody>
          <a:bodyPr vert="horz" lIns="91440" tIns="45720" rIns="91440" bIns="45720" rtlCol="0" anchor="ctr">
            <a:normAutofit/>
          </a:bodyPr>
          <a:lstStyle/>
          <a:p>
            <a:pPr>
              <a:spcBef>
                <a:spcPct val="0"/>
              </a:spcBef>
            </a:pPr>
            <a:r>
              <a:rPr lang="en-US" sz="3600" kern="1200" dirty="0">
                <a:solidFill>
                  <a:schemeClr val="tx2"/>
                </a:solidFill>
                <a:latin typeface="+mj-lt"/>
                <a:ea typeface="+mj-ea"/>
                <a:cs typeface="+mj-cs"/>
              </a:rPr>
              <a:t>Onyx</a:t>
            </a:r>
          </a:p>
        </p:txBody>
      </p:sp>
      <p:pic>
        <p:nvPicPr>
          <p:cNvPr id="7" name="Graphic 6" descr="Check List">
            <a:extLst>
              <a:ext uri="{FF2B5EF4-FFF2-40B4-BE49-F238E27FC236}">
                <a16:creationId xmlns:a16="http://schemas.microsoft.com/office/drawing/2014/main" id="{DDAC13C2-2C70-3FE2-9E86-7C70A052D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Text Placeholder 2">
            <a:extLst>
              <a:ext uri="{FF2B5EF4-FFF2-40B4-BE49-F238E27FC236}">
                <a16:creationId xmlns:a16="http://schemas.microsoft.com/office/drawing/2014/main" id="{E961FCE8-0B81-5C70-BC0B-DC8D08C8FF54}"/>
              </a:ext>
            </a:extLst>
          </p:cNvPr>
          <p:cNvSpPr>
            <a:spLocks noGrp="1"/>
          </p:cNvSpPr>
          <p:nvPr>
            <p:ph type="body" idx="1"/>
          </p:nvPr>
        </p:nvSpPr>
        <p:spPr>
          <a:xfrm>
            <a:off x="6094103" y="2257006"/>
            <a:ext cx="4977578" cy="3639289"/>
          </a:xfrm>
        </p:spPr>
        <p:txBody>
          <a:bodyPr vert="horz" lIns="91440" tIns="45720" rIns="91440" bIns="45720" rtlCol="0" anchor="ctr">
            <a:normAutofit/>
          </a:bodyPr>
          <a:lstStyle/>
          <a:p>
            <a:pPr indent="-228600">
              <a:spcAft>
                <a:spcPts val="600"/>
              </a:spcAft>
              <a:buFont typeface="Arial" panose="020B0604020202020204" pitchFamily="34" charset="0"/>
              <a:buChar char="•"/>
            </a:pPr>
            <a:r>
              <a:rPr lang="en-US" sz="2400" dirty="0">
                <a:solidFill>
                  <a:schemeClr val="tx2"/>
                </a:solidFill>
              </a:rPr>
              <a:t>Fairness definitions and relaxation</a:t>
            </a:r>
          </a:p>
          <a:p>
            <a:pPr indent="-228600">
              <a:spcAft>
                <a:spcPts val="600"/>
              </a:spcAft>
              <a:buFont typeface="Arial" panose="020B0604020202020204" pitchFamily="34" charset="0"/>
              <a:buChar char="•"/>
            </a:pPr>
            <a:r>
              <a:rPr lang="en-US" sz="2400" dirty="0">
                <a:solidFill>
                  <a:schemeClr val="tx2"/>
                </a:solidFill>
              </a:rPr>
              <a:t>Scalable outbound fairness</a:t>
            </a:r>
          </a:p>
          <a:p>
            <a:pPr indent="-228600">
              <a:spcAft>
                <a:spcPts val="600"/>
              </a:spcAft>
              <a:buFont typeface="Arial" panose="020B0604020202020204" pitchFamily="34" charset="0"/>
              <a:buChar char="•"/>
            </a:pPr>
            <a:r>
              <a:rPr lang="en-US" sz="2400" dirty="0">
                <a:solidFill>
                  <a:schemeClr val="tx2"/>
                </a:solidFill>
              </a:rPr>
              <a:t>Scalable inbound fairness</a:t>
            </a:r>
          </a:p>
          <a:p>
            <a:pPr lvl="1" indent="-228600">
              <a:spcAft>
                <a:spcPts val="600"/>
              </a:spcAft>
              <a:buFont typeface="Arial" panose="020B0604020202020204" pitchFamily="34" charset="0"/>
              <a:buChar char="•"/>
            </a:pPr>
            <a:r>
              <a:rPr lang="en-US" dirty="0">
                <a:solidFill>
                  <a:schemeClr val="tx2"/>
                </a:solidFill>
              </a:rPr>
              <a:t>A scheduling policy to gracefully handle bursts</a:t>
            </a:r>
          </a:p>
        </p:txBody>
      </p:sp>
      <p:graphicFrame>
        <p:nvGraphicFramePr>
          <p:cNvPr id="5" name="Table 4">
            <a:extLst>
              <a:ext uri="{FF2B5EF4-FFF2-40B4-BE49-F238E27FC236}">
                <a16:creationId xmlns:a16="http://schemas.microsoft.com/office/drawing/2014/main" id="{D422C39A-55C7-E1FB-5AD3-65F9D94F508B}"/>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t>Definitions</a:t>
                      </a:r>
                    </a:p>
                  </a:txBody>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27570668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4677F2E-E363-684D-92DA-14A02C114784}"/>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8B236555-3ED9-5D6E-167C-E68F6C9CB2C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73A9A1B2-11C5-CF72-2C51-A1B57F4CCBC7}"/>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C8F76380-F83E-8E69-012D-CE58704DC7FD}"/>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14" name="TextBox 13">
            <a:extLst>
              <a:ext uri="{FF2B5EF4-FFF2-40B4-BE49-F238E27FC236}">
                <a16:creationId xmlns:a16="http://schemas.microsoft.com/office/drawing/2014/main" id="{098ABFDE-31AB-983A-5800-679DA02B019D}"/>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 name="Table 1">
            <a:extLst>
              <a:ext uri="{FF2B5EF4-FFF2-40B4-BE49-F238E27FC236}">
                <a16:creationId xmlns:a16="http://schemas.microsoft.com/office/drawing/2014/main" id="{9781423E-4CE5-9660-1A81-879BD85005C9}"/>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753985065"/>
      </p:ext>
    </p:extLst>
  </p:cSld>
  <p:clrMapOvr>
    <a:masterClrMapping/>
  </p:clrMapOvr>
  <p:transition spd="med">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E2AEE63-0ED7-016F-45B5-D6E6E5F037B4}"/>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2B39BE6D-53F3-4863-1262-DF4A24101CDE}"/>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641AF601-E630-8CA2-E43E-ACD3791CE6A0}"/>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B1EF6B28-059D-9EA2-78E1-EE2B14A7B297}"/>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FDBACB3F-498A-DA64-5FA8-3E903C9D7595}"/>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8D152D48-E50B-0A8D-2645-F5DAC89EDF49}"/>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BA844FE3-3AF0-5E60-5736-E444FC83A05A}"/>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EC0AE415-55C3-751D-BC30-E2A2EDA00A92}"/>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E1AC9103-7859-F21B-5F9F-6818C681A23D}"/>
              </a:ext>
            </a:extLst>
          </p:cNvPr>
          <p:cNvSpPr/>
          <p:nvPr/>
        </p:nvSpPr>
        <p:spPr>
          <a:xfrm>
            <a:off x="2721658" y="3050269"/>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31F89967-0B9B-BAFC-90B9-8CF5F1780667}"/>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 name="Table 1">
            <a:extLst>
              <a:ext uri="{FF2B5EF4-FFF2-40B4-BE49-F238E27FC236}">
                <a16:creationId xmlns:a16="http://schemas.microsoft.com/office/drawing/2014/main" id="{30BA6C20-01AD-7127-88A8-6B1BB1F6EF8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6973601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4DEF20A-FA1A-62CF-7956-76B3740D96BE}"/>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87A8119C-12A3-C4C7-3BD0-352761FFCC10}"/>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7040445C-8EC5-81A0-CAE1-532C8A5CF915}"/>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2A1312C5-9A43-0BA5-85CB-D23B6268F1F4}"/>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7F1B0E8C-CAC9-A9EB-493F-29DBC8D92A98}"/>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E26DC419-53AC-CE39-D9ED-A00AAD84D1A0}"/>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E1D85235-C0E3-B753-FB0D-B543AAE45CC3}"/>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9918DFA2-AA94-C691-AC12-3F3901551280}"/>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41FC1A99-9659-31CA-347C-B849439CEF57}"/>
              </a:ext>
            </a:extLst>
          </p:cNvPr>
          <p:cNvSpPr/>
          <p:nvPr/>
        </p:nvSpPr>
        <p:spPr>
          <a:xfrm>
            <a:off x="2721658" y="3050269"/>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243F08AF-42E1-149F-8DA8-D25B50AB1B20}"/>
              </a:ext>
            </a:extLst>
          </p:cNvPr>
          <p:cNvSpPr/>
          <p:nvPr/>
        </p:nvSpPr>
        <p:spPr>
          <a:xfrm>
            <a:off x="2874058" y="3202669"/>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4F9A5FF2-7EC6-F54F-B44B-0E2F384DD55C}"/>
              </a:ext>
            </a:extLst>
          </p:cNvPr>
          <p:cNvSpPr/>
          <p:nvPr/>
        </p:nvSpPr>
        <p:spPr>
          <a:xfrm>
            <a:off x="3026458" y="3355069"/>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1CF546D8-4DBB-B18B-2F22-7D02B25D1328}"/>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9" name="Table 8">
            <a:extLst>
              <a:ext uri="{FF2B5EF4-FFF2-40B4-BE49-F238E27FC236}">
                <a16:creationId xmlns:a16="http://schemas.microsoft.com/office/drawing/2014/main" id="{77FC8FAE-18E0-9F49-0EE0-904418EAA9BB}"/>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8098940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D18FC468-CDBC-602E-5B22-6BAC00F2D047}"/>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56B6E81D-CEDE-AEDF-4D35-F86BDAD15A6F}"/>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0E86577C-4E9F-2492-75AE-23A9676667CB}"/>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EE456D25-18D1-2243-01EB-31B3196649D7}"/>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FAC0C665-78CB-1B96-AC46-6980BB8F5634}"/>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F505ECEA-6FBC-2FF8-AAAB-F8DD79BA5A68}"/>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A55900D4-701C-13B6-5441-31BC1A729FC2}"/>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8E3F3628-4A39-6464-3733-6894DF3806BB}"/>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87D9E8D8-C87F-126A-A72A-299C1380FDF3}"/>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DE163202-4FEE-5511-0262-3FE8ED849200}"/>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7B616050-54DA-2D43-10C5-CAA39A574B54}"/>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3D498305-A864-F24C-5883-93CB9205267A}"/>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9" name="Table 8">
            <a:extLst>
              <a:ext uri="{FF2B5EF4-FFF2-40B4-BE49-F238E27FC236}">
                <a16:creationId xmlns:a16="http://schemas.microsoft.com/office/drawing/2014/main" id="{20795CCB-7805-B0A1-A8F6-65039EEC522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6101698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E0E61A8-2E79-2F80-44BC-5FD3323B96D4}"/>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B154D9C1-D58A-000D-F432-A104C1DFCB9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3E008336-77D9-B470-4F8D-991048C54396}"/>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8F31FA75-517A-5360-4C20-CE271D5BC809}"/>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51FFF389-1E25-FCC1-AF09-D37CF3AA30F7}"/>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B33504F5-D851-1BCE-3614-085774A89D7F}"/>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A9FA99F9-331D-1019-2BDF-92283FAC31A1}"/>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C454A941-3B6B-3868-36AF-D4DC12D2C29B}"/>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2995DBE5-F178-DDDF-33F3-6D4008801FB7}"/>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BAEF6B78-C12B-DE2C-D7D0-765FAA8D6D45}"/>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1DF42454-3748-57BD-65C1-609A655EE300}"/>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2D5E4FB5-544C-CF45-12DD-9368C5C07E3D}"/>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5B0B5BB9-46E6-7251-629E-84F0706BC900}"/>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965A269B-639B-83E7-1B8D-2DFCCEBC8EE2}"/>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FE62190D-9FCB-1F81-9EF3-142D6E70C42E}"/>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8" name="TextBox 17">
            <a:extLst>
              <a:ext uri="{FF2B5EF4-FFF2-40B4-BE49-F238E27FC236}">
                <a16:creationId xmlns:a16="http://schemas.microsoft.com/office/drawing/2014/main" id="{2C78D44A-E7FB-B40E-8A71-E15F022AC6EF}"/>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9" name="Table 8">
            <a:extLst>
              <a:ext uri="{FF2B5EF4-FFF2-40B4-BE49-F238E27FC236}">
                <a16:creationId xmlns:a16="http://schemas.microsoft.com/office/drawing/2014/main" id="{4AD5F5F1-F159-30AA-76CB-2905AF67B9C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6727834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6ADE9B6-2D34-FFB5-307A-5DF9213C4304}"/>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89E9A26A-A53B-65A5-E9E9-0C58EBA7EEC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D3311A38-5B6E-833A-E7DF-CB14C6240406}"/>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8D9B465E-A3FF-5CC2-FB6A-163D00BD98F7}"/>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44A4BA12-99A6-FA18-CDE6-F165DF00D742}"/>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FD47FD07-F3B6-BCC3-0CFE-90D469EA66F8}"/>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EE86E54F-7C13-20B0-E6A0-262EB118C7E8}"/>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48E4A2E9-DBDF-4C9F-30CE-DC811D580066}"/>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AAF71C3B-986E-4A37-1D0C-CB1F8DCE4C08}"/>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E010C54E-DBE3-4F9E-37EA-2136D728976C}"/>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F9024C05-6817-D8ED-F513-A44F42E3B6F0}"/>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98754420-F000-85AA-AA68-4D4361CDBAD0}"/>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D98DD0EB-5001-BB59-8FCA-E178BE6AD27F}"/>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C26BBE3E-ACBA-18A2-106E-41C48473F39B}"/>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E937B25A-2625-B6CC-E381-A063CC13C96C}"/>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898CAFB8-239F-156F-E5EE-75CBF4B641D8}"/>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C02375D2-E325-4863-B936-45D2BF8C2F01}"/>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A3774072-E82C-2A0B-F80A-7AC8A7DE6B9D}"/>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6A30D7C0-4DEE-EDE5-1A25-AFEB49029657}"/>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B58F7795-C475-2B33-CB2C-5DD787151B3A}"/>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1C365D58-7CEF-94A6-15AC-1B1DED82FBC6}"/>
              </a:ext>
            </a:extLst>
          </p:cNvPr>
          <p:cNvSpPr/>
          <p:nvPr/>
        </p:nvSpPr>
        <p:spPr>
          <a:xfrm>
            <a:off x="8953510" y="3951245"/>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3C66AFA9-864A-CC97-E810-94B9347EEF25}"/>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0" name="Table 19">
            <a:extLst>
              <a:ext uri="{FF2B5EF4-FFF2-40B4-BE49-F238E27FC236}">
                <a16:creationId xmlns:a16="http://schemas.microsoft.com/office/drawing/2014/main" id="{75A3F6D5-4531-177C-32AC-B9DC966074B7}"/>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6204935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F09A675-045B-1AF6-26AD-99BD7D68E681}"/>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F9CF8939-DDCD-533F-B6C5-4E524395288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386E139A-0F28-65C1-95C2-5B3861577D41}"/>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901C3877-4EAB-D49A-357F-9192FE4028D4}"/>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E40D9043-9413-934E-9CFF-603985D37A89}"/>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BB851695-6814-FB65-50FC-DB95055D5803}"/>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5B664CFB-D648-BBAF-9025-7A5A53627A95}"/>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660EF87D-F24B-2155-DD1B-80A8C4F440E2}"/>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FA28EB4B-1004-C7A8-046D-0BBE86F7BF4B}"/>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38A518AB-9F2A-F6DA-DFE4-10E08E317CB2}"/>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001F2FCB-ECBF-4922-9642-EE0AEDE02A69}"/>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1EA57750-D458-77CF-1379-DD80844F89CF}"/>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28FBAB75-FAF9-E531-B3A3-49652E908843}"/>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BD5AFE86-9C9F-3B81-23C3-A7C613F2BF81}"/>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72AAB13E-94F5-B7AD-1780-EE5C0D5BE217}"/>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30D3AEE6-52AD-5D24-07E6-0C9D98026853}"/>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7BD73240-3D66-9933-7C70-3EACA82D8D86}"/>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89442BEE-2D9D-A972-0DA3-99362298B8EB}"/>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CFEEB024-8BCB-2A2F-8DEE-6B8D9B6D8FF7}"/>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4626D700-B67C-CE1F-2D3E-C93F1CC0C262}"/>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2510A17F-3539-4E3A-F4E3-99C333363744}"/>
              </a:ext>
            </a:extLst>
          </p:cNvPr>
          <p:cNvSpPr/>
          <p:nvPr/>
        </p:nvSpPr>
        <p:spPr>
          <a:xfrm>
            <a:off x="8953510" y="3951245"/>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Oval 21">
            <a:extLst>
              <a:ext uri="{FF2B5EF4-FFF2-40B4-BE49-F238E27FC236}">
                <a16:creationId xmlns:a16="http://schemas.microsoft.com/office/drawing/2014/main" id="{E8DFEA62-3783-84F6-7528-43D741CD9CFF}"/>
              </a:ext>
            </a:extLst>
          </p:cNvPr>
          <p:cNvSpPr/>
          <p:nvPr/>
        </p:nvSpPr>
        <p:spPr>
          <a:xfrm>
            <a:off x="10538612" y="3951245"/>
            <a:ext cx="481819" cy="426542"/>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B6A85CC1-8DF7-2C26-BA3A-F8A2C6D863F5}"/>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0" name="Table 19">
            <a:extLst>
              <a:ext uri="{FF2B5EF4-FFF2-40B4-BE49-F238E27FC236}">
                <a16:creationId xmlns:a16="http://schemas.microsoft.com/office/drawing/2014/main" id="{400D5A03-95EF-E124-1680-82D1D688F9A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260590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22CE0D5-C33E-3810-E1A3-93FF48FF25AB}"/>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88FE0E17-1645-736C-5612-CEEC136B1CE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83F94081-D31F-85E6-D214-FCB65A802940}"/>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F468769B-73E9-E8CD-E1A3-C5EC7692C17E}"/>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2C4C53B0-66BD-6FA7-BCDE-40BE3C42F24A}"/>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F3187CB2-D8E2-7922-408A-0F7D53E4D24F}"/>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E3CD8313-0518-D67D-62A5-EA218D453D60}"/>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688BD516-7918-9E54-C40F-CAFF3F98EE35}"/>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12972AA5-D310-E57B-9314-25648E830B20}"/>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A78271A5-BC2A-9777-EE2B-A971C99BCB64}"/>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5FDA627D-85CE-2D2D-80FF-4DE094EC47CD}"/>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4CD949E6-939A-CBDA-E216-46D5AF1B24AC}"/>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4CEAF35B-A668-966C-EF23-32B7BE6B5DFC}"/>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F8F42A35-38F8-1FFC-E370-C97343CF82FC}"/>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AF2A6EFB-FA93-2050-DE41-3EEBFB214E12}"/>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2E71F279-B747-19D0-CB1A-5ADAFA175DA0}"/>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C2D1E25B-7E16-D9CC-212A-869962A1808B}"/>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6DFEE537-357F-5304-555D-5709996A100E}"/>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00C0C617-49AA-412F-EDD8-1FCCB10E5143}"/>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471D1A65-94EB-6001-22E9-BBB83226CB5E}"/>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692FAFD2-AAF3-99A1-A607-3D60A8B9CF55}"/>
              </a:ext>
            </a:extLst>
          </p:cNvPr>
          <p:cNvSpPr/>
          <p:nvPr/>
        </p:nvSpPr>
        <p:spPr>
          <a:xfrm>
            <a:off x="8953510" y="3951245"/>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Oval 21">
            <a:extLst>
              <a:ext uri="{FF2B5EF4-FFF2-40B4-BE49-F238E27FC236}">
                <a16:creationId xmlns:a16="http://schemas.microsoft.com/office/drawing/2014/main" id="{CEBECBE2-D90C-F565-6030-E10E3EC5AFF9}"/>
              </a:ext>
            </a:extLst>
          </p:cNvPr>
          <p:cNvSpPr/>
          <p:nvPr/>
        </p:nvSpPr>
        <p:spPr>
          <a:xfrm>
            <a:off x="10538612" y="3951245"/>
            <a:ext cx="481819" cy="426542"/>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F7878FAA-40A8-1FDD-FBB5-BC688D56CD38}"/>
              </a:ext>
            </a:extLst>
          </p:cNvPr>
          <p:cNvSpPr/>
          <p:nvPr/>
        </p:nvSpPr>
        <p:spPr>
          <a:xfrm>
            <a:off x="7187860" y="3951245"/>
            <a:ext cx="481819" cy="426542"/>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1F4174AD-D2DB-36DC-A235-65A7B2124677}"/>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4" name="Table 23">
            <a:extLst>
              <a:ext uri="{FF2B5EF4-FFF2-40B4-BE49-F238E27FC236}">
                <a16:creationId xmlns:a16="http://schemas.microsoft.com/office/drawing/2014/main" id="{12D036A5-CDD3-904A-A95E-435240057FDD}"/>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08777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5726BA9-CCF0-BC6D-FFDC-7B2CFA67124E}"/>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78746C9C-4C79-15CF-EEF0-36BFE74D21B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3E166B7E-21BE-6678-7E9D-10F64C2A00DF}"/>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81D8EAF0-35EF-9ED1-D78C-7951C53BEDC1}"/>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CB760685-71F8-E470-64FD-98925E128336}"/>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375B4F4D-CAD4-A917-74B5-ED587A2A678E}"/>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4E4506DE-BCFD-0201-66F9-9B93B99D9940}"/>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D283516E-0F7C-3395-D547-F06580D5280B}"/>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1F719DD1-26F9-2D35-82A1-19E9FA58F873}"/>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DF50577F-63F9-8D5D-6397-CDA6B825CED6}"/>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CFC8107E-D1A9-B70F-3B5D-B397AEF75A6B}"/>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D239291A-698F-0AFD-43C1-9E39A7EBC31C}"/>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8699C23A-987B-B073-5E3F-7A7C79062DFF}"/>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69A62865-8FF2-B44E-4C8C-6359DAE5B7FD}"/>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DD2DB7F6-48E7-B2C0-6B9E-41935F34C6A9}"/>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B1F29104-6E00-02B8-1BE5-F8645B8CA465}"/>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FD1FD19A-D7DF-BEBD-4D61-5476BBB7C610}"/>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C43187D5-EC38-CC4D-C988-BCCF68DEC9B6}"/>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90D45D07-6F3B-B10E-3282-5CE37F934EF1}"/>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C4277761-3DD3-2A10-403D-B2762A1268FF}"/>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6931C2F7-9237-90AA-C095-2790C6E4E70A}"/>
              </a:ext>
            </a:extLst>
          </p:cNvPr>
          <p:cNvSpPr/>
          <p:nvPr/>
        </p:nvSpPr>
        <p:spPr>
          <a:xfrm>
            <a:off x="8869256" y="1706261"/>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Oval 21">
            <a:extLst>
              <a:ext uri="{FF2B5EF4-FFF2-40B4-BE49-F238E27FC236}">
                <a16:creationId xmlns:a16="http://schemas.microsoft.com/office/drawing/2014/main" id="{4AEA54EB-04AD-50BB-B3EE-3F4BAFFB49A6}"/>
              </a:ext>
            </a:extLst>
          </p:cNvPr>
          <p:cNvSpPr/>
          <p:nvPr/>
        </p:nvSpPr>
        <p:spPr>
          <a:xfrm>
            <a:off x="8869254" y="2204975"/>
            <a:ext cx="481819" cy="426542"/>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F330C3CF-72D5-E2F2-9F37-F11537750473}"/>
              </a:ext>
            </a:extLst>
          </p:cNvPr>
          <p:cNvSpPr/>
          <p:nvPr/>
        </p:nvSpPr>
        <p:spPr>
          <a:xfrm>
            <a:off x="8869255" y="2657260"/>
            <a:ext cx="481819" cy="426542"/>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D186F88B-09D1-6387-E486-DA742B5E99CA}"/>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4" name="Table 23">
            <a:extLst>
              <a:ext uri="{FF2B5EF4-FFF2-40B4-BE49-F238E27FC236}">
                <a16:creationId xmlns:a16="http://schemas.microsoft.com/office/drawing/2014/main" id="{6E997CCF-98D3-D022-C3ED-B0AC697F1C8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801030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62619EC-3C00-ABFE-6834-6F6E7AF03CC2}"/>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37D444F1-1727-A4FD-0264-D43D1DBE8AB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13672F51-1846-1ED1-FDD5-E3E5883D865E}"/>
              </a:ext>
            </a:extLst>
          </p:cNvPr>
          <p:cNvSpPr txBox="1"/>
          <p:nvPr/>
        </p:nvSpPr>
        <p:spPr>
          <a:xfrm>
            <a:off x="415600" y="1771320"/>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DD755FC0-92DC-7FED-AE0A-AEDB8B4F5551}"/>
              </a:ext>
            </a:extLst>
          </p:cNvPr>
          <p:cNvSpPr txBox="1"/>
          <p:nvPr/>
        </p:nvSpPr>
        <p:spPr>
          <a:xfrm>
            <a:off x="9351075" y="5272395"/>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6" name="Oval 5">
            <a:extLst>
              <a:ext uri="{FF2B5EF4-FFF2-40B4-BE49-F238E27FC236}">
                <a16:creationId xmlns:a16="http://schemas.microsoft.com/office/drawing/2014/main" id="{9CBAF6C4-5170-43A6-2C16-077BEA42D756}"/>
              </a:ext>
            </a:extLst>
          </p:cNvPr>
          <p:cNvSpPr/>
          <p:nvPr/>
        </p:nvSpPr>
        <p:spPr>
          <a:xfrm>
            <a:off x="1970145" y="2428790"/>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7" name="Oval 6">
            <a:extLst>
              <a:ext uri="{FF2B5EF4-FFF2-40B4-BE49-F238E27FC236}">
                <a16:creationId xmlns:a16="http://schemas.microsoft.com/office/drawing/2014/main" id="{F037C253-1B9D-D507-B9A1-5D84F5A44857}"/>
              </a:ext>
            </a:extLst>
          </p:cNvPr>
          <p:cNvSpPr/>
          <p:nvPr/>
        </p:nvSpPr>
        <p:spPr>
          <a:xfrm>
            <a:off x="919756"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8" name="Oval 7">
            <a:extLst>
              <a:ext uri="{FF2B5EF4-FFF2-40B4-BE49-F238E27FC236}">
                <a16:creationId xmlns:a16="http://schemas.microsoft.com/office/drawing/2014/main" id="{2A4E640D-7DE6-6D63-CFE7-8F1239E6B709}"/>
              </a:ext>
            </a:extLst>
          </p:cNvPr>
          <p:cNvSpPr/>
          <p:nvPr/>
        </p:nvSpPr>
        <p:spPr>
          <a:xfrm>
            <a:off x="2636080" y="5655828"/>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0" name="Oval 9">
            <a:extLst>
              <a:ext uri="{FF2B5EF4-FFF2-40B4-BE49-F238E27FC236}">
                <a16:creationId xmlns:a16="http://schemas.microsoft.com/office/drawing/2014/main" id="{C8F8AF28-8DFF-B713-F749-16BCDC5A5D70}"/>
              </a:ext>
            </a:extLst>
          </p:cNvPr>
          <p:cNvSpPr/>
          <p:nvPr/>
        </p:nvSpPr>
        <p:spPr>
          <a:xfrm>
            <a:off x="4190625" y="5652051"/>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12" name="Rectangle 11">
            <a:extLst>
              <a:ext uri="{FF2B5EF4-FFF2-40B4-BE49-F238E27FC236}">
                <a16:creationId xmlns:a16="http://schemas.microsoft.com/office/drawing/2014/main" id="{E87760E3-84FF-9EC0-6070-60B5F34CCBC1}"/>
              </a:ext>
            </a:extLst>
          </p:cNvPr>
          <p:cNvSpPr/>
          <p:nvPr/>
        </p:nvSpPr>
        <p:spPr>
          <a:xfrm>
            <a:off x="1264536"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DAF7887B-2C28-FECF-47DA-D07AEE1A2676}"/>
              </a:ext>
            </a:extLst>
          </p:cNvPr>
          <p:cNvSpPr/>
          <p:nvPr/>
        </p:nvSpPr>
        <p:spPr>
          <a:xfrm>
            <a:off x="2965057" y="5272395"/>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B14BC95D-2CD8-F9A2-9EFD-F2686477B9BB}"/>
              </a:ext>
            </a:extLst>
          </p:cNvPr>
          <p:cNvSpPr/>
          <p:nvPr/>
        </p:nvSpPr>
        <p:spPr>
          <a:xfrm>
            <a:off x="4536455" y="5228454"/>
            <a:ext cx="520505" cy="3265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09E0B859-B72C-A756-843C-8E180E5F7481}"/>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D8B5BECA-C057-4FC1-12D6-69ACB13B75D9}"/>
              </a:ext>
            </a:extLst>
          </p:cNvPr>
          <p:cNvSpPr txBox="1"/>
          <p:nvPr/>
        </p:nvSpPr>
        <p:spPr>
          <a:xfrm>
            <a:off x="1300207" y="4858042"/>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t1</a:t>
            </a:r>
          </a:p>
        </p:txBody>
      </p:sp>
      <p:sp>
        <p:nvSpPr>
          <p:cNvPr id="13" name="TextBox 12">
            <a:extLst>
              <a:ext uri="{FF2B5EF4-FFF2-40B4-BE49-F238E27FC236}">
                <a16:creationId xmlns:a16="http://schemas.microsoft.com/office/drawing/2014/main" id="{695079EB-F930-5E7F-8FE3-4E5902BB5AA2}"/>
              </a:ext>
            </a:extLst>
          </p:cNvPr>
          <p:cNvSpPr txBox="1"/>
          <p:nvPr/>
        </p:nvSpPr>
        <p:spPr>
          <a:xfrm>
            <a:off x="2929385"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t2</a:t>
            </a:r>
          </a:p>
        </p:txBody>
      </p:sp>
      <p:sp>
        <p:nvSpPr>
          <p:cNvPr id="14" name="TextBox 13">
            <a:extLst>
              <a:ext uri="{FF2B5EF4-FFF2-40B4-BE49-F238E27FC236}">
                <a16:creationId xmlns:a16="http://schemas.microsoft.com/office/drawing/2014/main" id="{F40AF47B-C09C-93E5-313B-FD90EAB365B3}"/>
              </a:ext>
            </a:extLst>
          </p:cNvPr>
          <p:cNvSpPr txBox="1"/>
          <p:nvPr/>
        </p:nvSpPr>
        <p:spPr>
          <a:xfrm>
            <a:off x="4558563" y="4858041"/>
            <a:ext cx="4491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t3</a:t>
            </a:r>
          </a:p>
        </p:txBody>
      </p:sp>
      <p:sp>
        <p:nvSpPr>
          <p:cNvPr id="16" name="Rectangle 15">
            <a:extLst>
              <a:ext uri="{FF2B5EF4-FFF2-40B4-BE49-F238E27FC236}">
                <a16:creationId xmlns:a16="http://schemas.microsoft.com/office/drawing/2014/main" id="{E7DB5B05-D67A-E601-DA11-CB45C6BCD454}"/>
              </a:ext>
            </a:extLst>
          </p:cNvPr>
          <p:cNvSpPr/>
          <p:nvPr/>
        </p:nvSpPr>
        <p:spPr>
          <a:xfrm>
            <a:off x="1461043" y="294256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15" name="Oval 14">
            <a:extLst>
              <a:ext uri="{FF2B5EF4-FFF2-40B4-BE49-F238E27FC236}">
                <a16:creationId xmlns:a16="http://schemas.microsoft.com/office/drawing/2014/main" id="{57766903-06ED-6AE4-F5DC-292D45FABC91}"/>
              </a:ext>
            </a:extLst>
          </p:cNvPr>
          <p:cNvSpPr/>
          <p:nvPr/>
        </p:nvSpPr>
        <p:spPr>
          <a:xfrm>
            <a:off x="7952959" y="1205949"/>
            <a:ext cx="2220480" cy="276843"/>
          </a:xfrm>
          <a:prstGeom prst="ellipse">
            <a:avLst/>
          </a:prstGeom>
          <a:solidFill>
            <a:schemeClr val="accent6">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sp>
        <p:nvSpPr>
          <p:cNvPr id="17" name="Oval 16">
            <a:extLst>
              <a:ext uri="{FF2B5EF4-FFF2-40B4-BE49-F238E27FC236}">
                <a16:creationId xmlns:a16="http://schemas.microsoft.com/office/drawing/2014/main" id="{1D8CC608-F6BE-4177-BC5F-DEC02A47F56F}"/>
              </a:ext>
            </a:extLst>
          </p:cNvPr>
          <p:cNvSpPr/>
          <p:nvPr/>
        </p:nvSpPr>
        <p:spPr>
          <a:xfrm>
            <a:off x="6902570"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295159DD-93E9-23C2-C507-13FD98B7E5A8}"/>
              </a:ext>
            </a:extLst>
          </p:cNvPr>
          <p:cNvSpPr/>
          <p:nvPr/>
        </p:nvSpPr>
        <p:spPr>
          <a:xfrm>
            <a:off x="8618894" y="4432987"/>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07BF585F-D616-91A8-C3D3-5FB12C5A8AD6}"/>
              </a:ext>
            </a:extLst>
          </p:cNvPr>
          <p:cNvSpPr/>
          <p:nvPr/>
        </p:nvSpPr>
        <p:spPr>
          <a:xfrm>
            <a:off x="10173439" y="4429210"/>
            <a:ext cx="1212167" cy="276843"/>
          </a:xfrm>
          <a:prstGeom prst="ellipse">
            <a:avLst/>
          </a:prstGeom>
          <a:solidFill>
            <a:schemeClr val="accent4">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MP3</a:t>
            </a:r>
          </a:p>
        </p:txBody>
      </p:sp>
      <p:sp>
        <p:nvSpPr>
          <p:cNvPr id="21" name="Oval 20">
            <a:extLst>
              <a:ext uri="{FF2B5EF4-FFF2-40B4-BE49-F238E27FC236}">
                <a16:creationId xmlns:a16="http://schemas.microsoft.com/office/drawing/2014/main" id="{8AE7D72C-545E-9FF9-373F-F0F0152439DE}"/>
              </a:ext>
            </a:extLst>
          </p:cNvPr>
          <p:cNvSpPr/>
          <p:nvPr/>
        </p:nvSpPr>
        <p:spPr>
          <a:xfrm>
            <a:off x="8869256" y="1706261"/>
            <a:ext cx="481819" cy="42654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Oval 21">
            <a:extLst>
              <a:ext uri="{FF2B5EF4-FFF2-40B4-BE49-F238E27FC236}">
                <a16:creationId xmlns:a16="http://schemas.microsoft.com/office/drawing/2014/main" id="{7AA85371-87AD-AF2F-A86F-228CC893507C}"/>
              </a:ext>
            </a:extLst>
          </p:cNvPr>
          <p:cNvSpPr/>
          <p:nvPr/>
        </p:nvSpPr>
        <p:spPr>
          <a:xfrm>
            <a:off x="8869254" y="2204975"/>
            <a:ext cx="481819" cy="426542"/>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DA8EB2CE-5F0B-315C-21C5-40D53B748975}"/>
              </a:ext>
            </a:extLst>
          </p:cNvPr>
          <p:cNvSpPr/>
          <p:nvPr/>
        </p:nvSpPr>
        <p:spPr>
          <a:xfrm>
            <a:off x="8869255" y="2657260"/>
            <a:ext cx="481819" cy="426542"/>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Rectangle 22">
            <a:extLst>
              <a:ext uri="{FF2B5EF4-FFF2-40B4-BE49-F238E27FC236}">
                <a16:creationId xmlns:a16="http://schemas.microsoft.com/office/drawing/2014/main" id="{2F48C520-8DCD-4DAA-3FE5-1E3D312D0B1F}"/>
              </a:ext>
            </a:extLst>
          </p:cNvPr>
          <p:cNvSpPr/>
          <p:nvPr/>
        </p:nvSpPr>
        <p:spPr>
          <a:xfrm>
            <a:off x="6862864" y="2118023"/>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Orders should be seen by the exchange in the generation order</a:t>
            </a:r>
          </a:p>
        </p:txBody>
      </p:sp>
      <p:sp>
        <p:nvSpPr>
          <p:cNvPr id="24" name="TextBox 23">
            <a:extLst>
              <a:ext uri="{FF2B5EF4-FFF2-40B4-BE49-F238E27FC236}">
                <a16:creationId xmlns:a16="http://schemas.microsoft.com/office/drawing/2014/main" id="{75092569-C265-D1AC-39C5-CA97EFC3C1B3}"/>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graphicFrame>
        <p:nvGraphicFramePr>
          <p:cNvPr id="25" name="Table 24">
            <a:extLst>
              <a:ext uri="{FF2B5EF4-FFF2-40B4-BE49-F238E27FC236}">
                <a16:creationId xmlns:a16="http://schemas.microsoft.com/office/drawing/2014/main" id="{CE10A786-B7D0-525E-D672-2C58594D8F89}"/>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7426809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1954EB3-85F7-9C03-F4CC-6330F2C9C1D9}"/>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E38779FE-98B1-64B9-6D27-BDF76EE1D622}"/>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a:t>
            </a:r>
            <a:r>
              <a:rPr lang="en" baseline="30000" dirty="0"/>
              <a:t>1</a:t>
            </a:r>
            <a:endParaRPr baseline="30000" dirty="0"/>
          </a:p>
        </p:txBody>
      </p:sp>
      <p:sp>
        <p:nvSpPr>
          <p:cNvPr id="3" name="TextBox 2">
            <a:extLst>
              <a:ext uri="{FF2B5EF4-FFF2-40B4-BE49-F238E27FC236}">
                <a16:creationId xmlns:a16="http://schemas.microsoft.com/office/drawing/2014/main" id="{B985B7C6-C79E-E57C-490E-2BF172BD0CDB}"/>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E11EC9F0-1C4D-55EC-19B6-CD2A696C0297}"/>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75F15D44-3401-E960-6EBF-5C606CC29869}"/>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72E5546B-5BCC-B060-1C12-3CE1B4000E36}"/>
              </a:ext>
            </a:extLst>
          </p:cNvPr>
          <p:cNvSpPr/>
          <p:nvPr/>
        </p:nvSpPr>
        <p:spPr>
          <a:xfrm>
            <a:off x="1475111" y="2304327"/>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04AC63BA-24A9-BDDE-0C4B-605750DC6F92}"/>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1E413D2C-F810-63F9-563C-7949ED3A2CD8}"/>
              </a:ext>
            </a:extLst>
          </p:cNvPr>
          <p:cNvSpPr/>
          <p:nvPr/>
        </p:nvSpPr>
        <p:spPr>
          <a:xfrm>
            <a:off x="6862862" y="3429000"/>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Orders should be seen by the exchange in the generation order</a:t>
            </a:r>
          </a:p>
        </p:txBody>
      </p:sp>
      <p:graphicFrame>
        <p:nvGraphicFramePr>
          <p:cNvPr id="2" name="Table 1">
            <a:extLst>
              <a:ext uri="{FF2B5EF4-FFF2-40B4-BE49-F238E27FC236}">
                <a16:creationId xmlns:a16="http://schemas.microsoft.com/office/drawing/2014/main" id="{DC6FEF1E-8161-0E8A-61D2-636AFC405B7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9931100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87D40CDD-7D0B-C50D-C02E-9F988AA8CD86}"/>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EF8E9034-89CD-DE11-0A90-4BA7D7A487E9}"/>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 In Practice</a:t>
            </a:r>
            <a:endParaRPr baseline="30000" dirty="0"/>
          </a:p>
        </p:txBody>
      </p:sp>
      <p:sp>
        <p:nvSpPr>
          <p:cNvPr id="3" name="TextBox 2">
            <a:extLst>
              <a:ext uri="{FF2B5EF4-FFF2-40B4-BE49-F238E27FC236}">
                <a16:creationId xmlns:a16="http://schemas.microsoft.com/office/drawing/2014/main" id="{4E96BC44-F55F-88A7-E2B9-E19338734CBA}"/>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13F40730-6135-5C55-7536-A3DA0C37259B}"/>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93B752D1-5133-9C65-C1A9-DDD2D8FC5545}"/>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1C1D2A8-2724-E065-B4ED-D3D65E0174AA}"/>
              </a:ext>
            </a:extLst>
          </p:cNvPr>
          <p:cNvSpPr/>
          <p:nvPr/>
        </p:nvSpPr>
        <p:spPr>
          <a:xfrm>
            <a:off x="1475111" y="2304327"/>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CBF76652-8D0A-6A1C-B2E0-45AA5AC98F85}"/>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813C7584-3F3C-42D0-25F8-D7FEC30A7349}"/>
              </a:ext>
            </a:extLst>
          </p:cNvPr>
          <p:cNvSpPr/>
          <p:nvPr/>
        </p:nvSpPr>
        <p:spPr>
          <a:xfrm>
            <a:off x="6862862" y="3429000"/>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Orders should be seen by the exchange in the generation order</a:t>
            </a:r>
          </a:p>
        </p:txBody>
      </p:sp>
      <p:graphicFrame>
        <p:nvGraphicFramePr>
          <p:cNvPr id="2" name="Table 1">
            <a:extLst>
              <a:ext uri="{FF2B5EF4-FFF2-40B4-BE49-F238E27FC236}">
                <a16:creationId xmlns:a16="http://schemas.microsoft.com/office/drawing/2014/main" id="{2130BF60-1CEF-6524-F294-0DBEDF665623}"/>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3026734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02ABB61-5FB2-24F3-C72E-0D1CB6FE8A49}"/>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66F60F55-C667-03AF-236A-BE884975715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 In Practice</a:t>
            </a:r>
            <a:endParaRPr baseline="30000" dirty="0"/>
          </a:p>
        </p:txBody>
      </p:sp>
      <p:sp>
        <p:nvSpPr>
          <p:cNvPr id="3" name="TextBox 2">
            <a:extLst>
              <a:ext uri="{FF2B5EF4-FFF2-40B4-BE49-F238E27FC236}">
                <a16:creationId xmlns:a16="http://schemas.microsoft.com/office/drawing/2014/main" id="{05DED8E4-0F3E-996C-D0B5-0E9732E6EC9F}"/>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B88769CD-9708-3C62-A609-DF74716F2895}"/>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92EDA44D-28C0-4E6F-760E-F9C91FB41E3B}"/>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8DE83E3-3094-DA0A-1C4A-398CF3CA3656}"/>
              </a:ext>
            </a:extLst>
          </p:cNvPr>
          <p:cNvSpPr/>
          <p:nvPr/>
        </p:nvSpPr>
        <p:spPr>
          <a:xfrm>
            <a:off x="1475111" y="2304327"/>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9C5B18FC-62C9-D104-F61C-588EF7F148BF}"/>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549ADE82-B1B6-A16A-A142-7D9EC438D11D}"/>
              </a:ext>
            </a:extLst>
          </p:cNvPr>
          <p:cNvSpPr/>
          <p:nvPr/>
        </p:nvSpPr>
        <p:spPr>
          <a:xfrm>
            <a:off x="6862862" y="3429000"/>
            <a:ext cx="4186695" cy="18184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Orders should be seen by the exchange in the generation order</a:t>
            </a:r>
          </a:p>
        </p:txBody>
      </p:sp>
      <p:graphicFrame>
        <p:nvGraphicFramePr>
          <p:cNvPr id="2" name="Table 1">
            <a:extLst>
              <a:ext uri="{FF2B5EF4-FFF2-40B4-BE49-F238E27FC236}">
                <a16:creationId xmlns:a16="http://schemas.microsoft.com/office/drawing/2014/main" id="{26CA9BC7-5CA1-0320-530B-1C031FE431D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138784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2F1B396-0A9E-D9E1-99EB-D7609CC0363A}"/>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2F644B00-047A-5C30-DA28-D719F4201A2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 In Practice</a:t>
            </a:r>
            <a:endParaRPr baseline="30000" dirty="0"/>
          </a:p>
        </p:txBody>
      </p:sp>
      <p:sp>
        <p:nvSpPr>
          <p:cNvPr id="3" name="TextBox 2">
            <a:extLst>
              <a:ext uri="{FF2B5EF4-FFF2-40B4-BE49-F238E27FC236}">
                <a16:creationId xmlns:a16="http://schemas.microsoft.com/office/drawing/2014/main" id="{9EF37490-D970-4E0A-C23F-145FCF2A00A4}"/>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4F35420D-7ED7-D2CE-9494-7BE9070FAB63}"/>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C14B7170-816E-CB2F-C85E-05F5FF12DB6A}"/>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398A1486-9C55-C1EA-6E8F-C664EDC02916}"/>
              </a:ext>
            </a:extLst>
          </p:cNvPr>
          <p:cNvSpPr/>
          <p:nvPr/>
        </p:nvSpPr>
        <p:spPr>
          <a:xfrm>
            <a:off x="1475111" y="2304327"/>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7E2633C3-89CD-7573-C245-0BD245CFDA39}"/>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94412019-D59F-8657-AB2E-7C87C0B3B212}"/>
              </a:ext>
            </a:extLst>
          </p:cNvPr>
          <p:cNvSpPr/>
          <p:nvPr/>
        </p:nvSpPr>
        <p:spPr>
          <a:xfrm>
            <a:off x="6862862" y="3429000"/>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Orders should be seen by the exchange in the timestamped generation order</a:t>
            </a:r>
          </a:p>
        </p:txBody>
      </p:sp>
      <p:sp>
        <p:nvSpPr>
          <p:cNvPr id="2" name="Google Shape;113;p19">
            <a:extLst>
              <a:ext uri="{FF2B5EF4-FFF2-40B4-BE49-F238E27FC236}">
                <a16:creationId xmlns:a16="http://schemas.microsoft.com/office/drawing/2014/main" id="{FA2EA0D6-48B9-A7B1-8827-F287D3148119}"/>
              </a:ext>
            </a:extLst>
          </p:cNvPr>
          <p:cNvSpPr/>
          <p:nvPr/>
        </p:nvSpPr>
        <p:spPr>
          <a:xfrm>
            <a:off x="1913206" y="5666089"/>
            <a:ext cx="7943314" cy="974621"/>
          </a:xfrm>
          <a:prstGeom prst="roundRect">
            <a:avLst>
              <a:gd name="adj" fmla="val 16667"/>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t>Achieving fairness while being performant at </a:t>
            </a:r>
            <a:b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br>
            <a: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t>scale is our goal.</a:t>
            </a:r>
            <a:endParaRPr kumimoji="0" sz="2400" b="0" i="0" u="none" strike="noStrike" kern="0" cap="none" spc="0" normalizeH="0" baseline="0" noProof="0" dirty="0">
              <a:ln>
                <a:noFill/>
              </a:ln>
              <a:solidFill>
                <a:prstClr val="white"/>
              </a:solidFill>
              <a:effectLst/>
              <a:uLnTx/>
              <a:uFillTx/>
              <a:latin typeface="Arial"/>
              <a:ea typeface="+mn-ea"/>
              <a:cs typeface="Arial"/>
              <a:sym typeface="Arial"/>
            </a:endParaRPr>
          </a:p>
        </p:txBody>
      </p:sp>
      <p:graphicFrame>
        <p:nvGraphicFramePr>
          <p:cNvPr id="4" name="Table 3">
            <a:extLst>
              <a:ext uri="{FF2B5EF4-FFF2-40B4-BE49-F238E27FC236}">
                <a16:creationId xmlns:a16="http://schemas.microsoft.com/office/drawing/2014/main" id="{122FC294-408C-D267-BB48-9F0B7319DB9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9419105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205BBE8-5203-ECB3-6824-05F81C8B7A10}"/>
            </a:ext>
          </a:extLst>
        </p:cNvPr>
        <p:cNvGrpSpPr/>
        <p:nvPr/>
      </p:nvGrpSpPr>
      <p:grpSpPr>
        <a:xfrm>
          <a:off x="0" y="0"/>
          <a:ext cx="0" cy="0"/>
          <a:chOff x="0" y="0"/>
          <a:chExt cx="0" cy="0"/>
        </a:xfrm>
      </p:grpSpPr>
      <p:sp>
        <p:nvSpPr>
          <p:cNvPr id="112" name="Google Shape;112;p19">
            <a:extLst>
              <a:ext uri="{FF2B5EF4-FFF2-40B4-BE49-F238E27FC236}">
                <a16:creationId xmlns:a16="http://schemas.microsoft.com/office/drawing/2014/main" id="{F248277D-0B09-E1C4-3348-D79521DBA2F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Fairness In Practice</a:t>
            </a:r>
            <a:endParaRPr baseline="30000" dirty="0"/>
          </a:p>
        </p:txBody>
      </p:sp>
      <p:sp>
        <p:nvSpPr>
          <p:cNvPr id="3" name="TextBox 2">
            <a:extLst>
              <a:ext uri="{FF2B5EF4-FFF2-40B4-BE49-F238E27FC236}">
                <a16:creationId xmlns:a16="http://schemas.microsoft.com/office/drawing/2014/main" id="{CB761002-F2C9-2968-31C8-1701B9CFE01B}"/>
              </a:ext>
            </a:extLst>
          </p:cNvPr>
          <p:cNvSpPr txBox="1"/>
          <p:nvPr/>
        </p:nvSpPr>
        <p:spPr>
          <a:xfrm>
            <a:off x="2075587" y="1770109"/>
            <a:ext cx="2220480"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Outbound Fairness</a:t>
            </a:r>
          </a:p>
        </p:txBody>
      </p:sp>
      <p:sp>
        <p:nvSpPr>
          <p:cNvPr id="5" name="TextBox 4">
            <a:extLst>
              <a:ext uri="{FF2B5EF4-FFF2-40B4-BE49-F238E27FC236}">
                <a16:creationId xmlns:a16="http://schemas.microsoft.com/office/drawing/2014/main" id="{53441D98-826A-294D-BB9E-2E226608E14C}"/>
              </a:ext>
            </a:extLst>
          </p:cNvPr>
          <p:cNvSpPr txBox="1"/>
          <p:nvPr/>
        </p:nvSpPr>
        <p:spPr>
          <a:xfrm>
            <a:off x="8079622" y="5356801"/>
            <a:ext cx="2034531" cy="37965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0" i="0" u="none" strike="noStrike" kern="0" cap="none" spc="0" normalizeH="0" baseline="0" noProof="0" dirty="0">
                <a:ln>
                  <a:noFill/>
                </a:ln>
                <a:solidFill>
                  <a:srgbClr val="00B050"/>
                </a:solidFill>
                <a:effectLst/>
                <a:uLnTx/>
                <a:uFillTx/>
                <a:latin typeface="Arial"/>
                <a:ea typeface="+mn-ea"/>
                <a:cs typeface="Arial"/>
                <a:sym typeface="Arial"/>
              </a:rPr>
              <a:t>Inbound Fairness</a:t>
            </a:r>
          </a:p>
        </p:txBody>
      </p:sp>
      <p:sp>
        <p:nvSpPr>
          <p:cNvPr id="9" name="TextBox 8">
            <a:extLst>
              <a:ext uri="{FF2B5EF4-FFF2-40B4-BE49-F238E27FC236}">
                <a16:creationId xmlns:a16="http://schemas.microsoft.com/office/drawing/2014/main" id="{5B5A1382-C02D-8EC8-FECA-5CB015DA13C7}"/>
              </a:ext>
            </a:extLst>
          </p:cNvPr>
          <p:cNvSpPr txBox="1"/>
          <p:nvPr/>
        </p:nvSpPr>
        <p:spPr>
          <a:xfrm>
            <a:off x="815926" y="2982728"/>
            <a:ext cx="1847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79764EBC-FBCC-AC6B-D855-A6AC459708FF}"/>
              </a:ext>
            </a:extLst>
          </p:cNvPr>
          <p:cNvSpPr/>
          <p:nvPr/>
        </p:nvSpPr>
        <p:spPr>
          <a:xfrm>
            <a:off x="1475111" y="2304327"/>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Difference in data reception time for any two participants should be ~0</a:t>
            </a:r>
          </a:p>
        </p:txBody>
      </p:sp>
      <p:sp>
        <p:nvSpPr>
          <p:cNvPr id="24" name="TextBox 23">
            <a:extLst>
              <a:ext uri="{FF2B5EF4-FFF2-40B4-BE49-F238E27FC236}">
                <a16:creationId xmlns:a16="http://schemas.microsoft.com/office/drawing/2014/main" id="{11B31F0C-9C3F-F586-D5D7-E4FE8CE5D500}"/>
              </a:ext>
            </a:extLst>
          </p:cNvPr>
          <p:cNvSpPr txBox="1"/>
          <p:nvPr/>
        </p:nvSpPr>
        <p:spPr>
          <a:xfrm>
            <a:off x="9421414" y="146922"/>
            <a:ext cx="298372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800" b="0" i="0" u="none" strike="noStrike" kern="1200" cap="none" spc="0" normalizeH="0" baseline="0" noProof="0" dirty="0">
                <a:ln>
                  <a:noFill/>
                </a:ln>
                <a:solidFill>
                  <a:prstClr val="black"/>
                </a:solidFill>
                <a:effectLst/>
                <a:uLnTx/>
                <a:uFillTx/>
                <a:latin typeface="Aptos" panose="02110004020202020204"/>
                <a:ea typeface="+mn-ea"/>
                <a:cs typeface="+mn-cs"/>
              </a:rPr>
              <a:t>[1] </a:t>
            </a: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CloudEx: A Fair-Access Financial Exchange in the Cloud</a:t>
            </a:r>
          </a:p>
        </p:txBody>
      </p:sp>
      <p:sp>
        <p:nvSpPr>
          <p:cNvPr id="25" name="Rectangle 24">
            <a:extLst>
              <a:ext uri="{FF2B5EF4-FFF2-40B4-BE49-F238E27FC236}">
                <a16:creationId xmlns:a16="http://schemas.microsoft.com/office/drawing/2014/main" id="{F8043E6C-1BB2-9FC0-CACE-61506051EEFA}"/>
              </a:ext>
            </a:extLst>
          </p:cNvPr>
          <p:cNvSpPr/>
          <p:nvPr/>
        </p:nvSpPr>
        <p:spPr>
          <a:xfrm>
            <a:off x="6862862" y="3429000"/>
            <a:ext cx="4186695" cy="181846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Orders should be seen by the exchange in the timestamped generation order</a:t>
            </a:r>
          </a:p>
        </p:txBody>
      </p:sp>
      <p:sp>
        <p:nvSpPr>
          <p:cNvPr id="2" name="Google Shape;113;p19">
            <a:extLst>
              <a:ext uri="{FF2B5EF4-FFF2-40B4-BE49-F238E27FC236}">
                <a16:creationId xmlns:a16="http://schemas.microsoft.com/office/drawing/2014/main" id="{25E60E87-559C-5E2F-C883-9A3CEA3B6402}"/>
              </a:ext>
            </a:extLst>
          </p:cNvPr>
          <p:cNvSpPr/>
          <p:nvPr/>
        </p:nvSpPr>
        <p:spPr>
          <a:xfrm>
            <a:off x="1913206" y="5657770"/>
            <a:ext cx="7943314" cy="974621"/>
          </a:xfrm>
          <a:prstGeom prst="roundRect">
            <a:avLst>
              <a:gd name="adj" fmla="val 16667"/>
            </a:avLst>
          </a:prstGeom>
          <a:solidFill>
            <a:schemeClr val="accent1"/>
          </a:solidFill>
          <a:ln w="9525" cap="flat" cmpd="sng">
            <a:no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t>Achieving fairness while being performant at </a:t>
            </a:r>
            <a:b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br>
            <a:r>
              <a:rPr kumimoji="0" lang="en-US" sz="3600" b="0" i="0" u="none" strike="noStrike" kern="0" cap="none" spc="0" normalizeH="0" baseline="0" noProof="0" dirty="0">
                <a:ln>
                  <a:noFill/>
                </a:ln>
                <a:solidFill>
                  <a:srgbClr val="4EA72E"/>
                </a:solidFill>
                <a:effectLst/>
                <a:uLnTx/>
                <a:uFillTx/>
                <a:latin typeface="Arial"/>
                <a:ea typeface="+mn-ea"/>
                <a:cs typeface="Arial"/>
                <a:sym typeface="Arial"/>
              </a:rPr>
              <a:t>scale</a:t>
            </a:r>
            <a:r>
              <a:rPr kumimoji="0" lang="en-US" sz="2400" b="0" i="0" u="none" strike="noStrike" kern="0" cap="none" spc="0" normalizeH="0" baseline="0" noProof="0" dirty="0">
                <a:ln>
                  <a:noFill/>
                </a:ln>
                <a:solidFill>
                  <a:prstClr val="white"/>
                </a:solidFill>
                <a:effectLst/>
                <a:uLnTx/>
                <a:uFillTx/>
                <a:latin typeface="Arial"/>
                <a:ea typeface="+mn-ea"/>
                <a:cs typeface="Arial"/>
                <a:sym typeface="Arial"/>
              </a:rPr>
              <a:t> is our goal.</a:t>
            </a:r>
            <a:endParaRPr kumimoji="0" sz="2400" b="0" i="0" u="none" strike="noStrike" kern="0" cap="none" spc="0" normalizeH="0" baseline="0" noProof="0" dirty="0">
              <a:ln>
                <a:noFill/>
              </a:ln>
              <a:solidFill>
                <a:prstClr val="white"/>
              </a:solidFill>
              <a:effectLst/>
              <a:uLnTx/>
              <a:uFillTx/>
              <a:latin typeface="Arial"/>
              <a:ea typeface="+mn-ea"/>
              <a:cs typeface="Arial"/>
              <a:sym typeface="Arial"/>
            </a:endParaRPr>
          </a:p>
        </p:txBody>
      </p:sp>
      <p:sp>
        <p:nvSpPr>
          <p:cNvPr id="4" name="Up Arrow 3">
            <a:extLst>
              <a:ext uri="{FF2B5EF4-FFF2-40B4-BE49-F238E27FC236}">
                <a16:creationId xmlns:a16="http://schemas.microsoft.com/office/drawing/2014/main" id="{4199F83D-4089-27AC-B126-7416CB76A6A9}"/>
              </a:ext>
            </a:extLst>
          </p:cNvPr>
          <p:cNvSpPr/>
          <p:nvPr/>
        </p:nvSpPr>
        <p:spPr>
          <a:xfrm>
            <a:off x="4764363" y="5000610"/>
            <a:ext cx="564776" cy="1264023"/>
          </a:xfrm>
          <a:prstGeom prst="up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EA72E"/>
              </a:solidFill>
              <a:effectLst/>
              <a:uLnTx/>
              <a:uFillTx/>
              <a:latin typeface="Aptos" panose="02110004020202020204"/>
              <a:ea typeface="+mn-ea"/>
              <a:cs typeface="+mn-cs"/>
            </a:endParaRPr>
          </a:p>
        </p:txBody>
      </p:sp>
      <p:sp>
        <p:nvSpPr>
          <p:cNvPr id="6" name="Rounded Rectangle 5">
            <a:extLst>
              <a:ext uri="{FF2B5EF4-FFF2-40B4-BE49-F238E27FC236}">
                <a16:creationId xmlns:a16="http://schemas.microsoft.com/office/drawing/2014/main" id="{1576EBBE-97C9-C011-5166-4A2138005E76}"/>
              </a:ext>
            </a:extLst>
          </p:cNvPr>
          <p:cNvSpPr/>
          <p:nvPr/>
        </p:nvSpPr>
        <p:spPr>
          <a:xfrm>
            <a:off x="2863844" y="3365623"/>
            <a:ext cx="4796118" cy="151055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We target 1000 market participants (MPs). Each MP is a separate VM.</a:t>
            </a:r>
          </a:p>
        </p:txBody>
      </p:sp>
      <p:graphicFrame>
        <p:nvGraphicFramePr>
          <p:cNvPr id="7" name="Table 6">
            <a:extLst>
              <a:ext uri="{FF2B5EF4-FFF2-40B4-BE49-F238E27FC236}">
                <a16:creationId xmlns:a16="http://schemas.microsoft.com/office/drawing/2014/main" id="{23EF4B78-9772-734B-3DEB-42CFA2C245E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tx1"/>
                          </a:solidFill>
                        </a:rPr>
                        <a:t>Definitions</a:t>
                      </a:r>
                    </a:p>
                  </a:txBody>
                  <a:tcPr>
                    <a:solidFill>
                      <a:schemeClr val="accent6">
                        <a:lumMod val="60000"/>
                        <a:lumOff val="40000"/>
                      </a:schemeClr>
                    </a:solidFill>
                  </a:tcPr>
                </a:tc>
                <a:tc>
                  <a:txBody>
                    <a:bodyPr/>
                    <a:lstStyle/>
                    <a:p>
                      <a:r>
                        <a:rPr lang="en-US" sz="1800" dirty="0"/>
                        <a:t>Outbound</a:t>
                      </a:r>
                    </a:p>
                  </a:txBody>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6323146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D002046-11D5-4952-A95C-24DAF08BFD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BCC01D-AAF2-DC20-7511-4E09A008B4AA}"/>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7" name="TextBox 6">
            <a:extLst>
              <a:ext uri="{FF2B5EF4-FFF2-40B4-BE49-F238E27FC236}">
                <a16:creationId xmlns:a16="http://schemas.microsoft.com/office/drawing/2014/main" id="{99D0147D-FB59-4553-34DE-90EF59240DC0}"/>
              </a:ext>
            </a:extLst>
          </p:cNvPr>
          <p:cNvSpPr txBox="1"/>
          <p:nvPr/>
        </p:nvSpPr>
        <p:spPr>
          <a:xfrm>
            <a:off x="573955" y="1923804"/>
            <a:ext cx="8182419"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Fairness achieved by a simple “</a:t>
            </a:r>
            <a:r>
              <a:rPr kumimoji="0" lang="en-US" sz="2400" b="1" i="0" u="none" strike="noStrike" kern="1200" cap="none" spc="0" normalizeH="0" baseline="0" noProof="0" dirty="0">
                <a:ln>
                  <a:noFill/>
                </a:ln>
                <a:solidFill>
                  <a:prstClr val="black"/>
                </a:solidFill>
                <a:effectLst/>
                <a:uLnTx/>
                <a:uFillTx/>
                <a:latin typeface="Aptos" panose="02110004020202020204"/>
                <a:ea typeface="+mn-ea"/>
                <a:cs typeface="+mn-cs"/>
              </a:rPr>
              <a:t>Hold-and-release</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primitive.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Not scalable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w.r.t</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the number of receivers/participants.</a:t>
            </a:r>
          </a:p>
        </p:txBody>
      </p:sp>
      <p:graphicFrame>
        <p:nvGraphicFramePr>
          <p:cNvPr id="73" name="Table 72">
            <a:extLst>
              <a:ext uri="{FF2B5EF4-FFF2-40B4-BE49-F238E27FC236}">
                <a16:creationId xmlns:a16="http://schemas.microsoft.com/office/drawing/2014/main" id="{72D928C0-8A84-28FB-CD4F-E407F23157B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01163261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 name="Object 104" hidden="1">
            <a:extLst>
              <a:ext uri="{FF2B5EF4-FFF2-40B4-BE49-F238E27FC236}">
                <a16:creationId xmlns:a16="http://schemas.microsoft.com/office/drawing/2014/main" id="{27043BC4-3D66-4B32-8F58-55FD3DA065B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3" imgW="395" imgH="396" progId="TCLayout.ActiveDocument.1">
                  <p:embed/>
                </p:oleObj>
              </mc:Choice>
              <mc:Fallback>
                <p:oleObj name="think-cell Slide" r:id="rId83" imgW="395" imgH="396" progId="TCLayout.ActiveDocument.1">
                  <p:embed/>
                  <p:pic>
                    <p:nvPicPr>
                      <p:cNvPr id="105" name="Object 104" hidden="1">
                        <a:extLst>
                          <a:ext uri="{FF2B5EF4-FFF2-40B4-BE49-F238E27FC236}">
                            <a16:creationId xmlns:a16="http://schemas.microsoft.com/office/drawing/2014/main" id="{27043BC4-3D66-4B32-8F58-55FD3DA065B9}"/>
                          </a:ext>
                        </a:extLst>
                      </p:cNvPr>
                      <p:cNvPicPr/>
                      <p:nvPr/>
                    </p:nvPicPr>
                    <p:blipFill>
                      <a:blip r:embed="rId8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04954E15-8E6C-8002-8F03-793B02042F07}"/>
              </a:ext>
            </a:extLst>
          </p:cNvPr>
          <p:cNvSpPr>
            <a:spLocks noGrp="1"/>
          </p:cNvSpPr>
          <p:nvPr>
            <p:ph type="sldNum" sz="quarter" idx="12"/>
          </p:nvPr>
        </p:nvSpPr>
        <p:spPr>
          <a:xfrm>
            <a:off x="8610600" y="592685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632B31-F1D8-8846-B070-579B61B2702E}"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7" name="TitleTrackerAlpha 7">
            <a:extLst>
              <a:ext uri="{FF2B5EF4-FFF2-40B4-BE49-F238E27FC236}">
                <a16:creationId xmlns:a16="http://schemas.microsoft.com/office/drawing/2014/main" id="{88DA2C5B-5EC5-4E93-B30E-0F58E1617D83}"/>
              </a:ext>
            </a:extLst>
          </p:cNvPr>
          <p:cNvSpPr/>
          <p:nvPr>
            <p:custDataLst>
              <p:tags r:id="rId2"/>
            </p:custDataLst>
          </p:nvPr>
        </p:nvSpPr>
        <p:spPr>
          <a:xfrm>
            <a:off x="5799017" y="155922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S</a:t>
            </a:r>
          </a:p>
        </p:txBody>
      </p:sp>
      <p:pic>
        <p:nvPicPr>
          <p:cNvPr id="18" name="CustomIcon">
            <a:extLst>
              <a:ext uri="{FF2B5EF4-FFF2-40B4-BE49-F238E27FC236}">
                <a16:creationId xmlns:a16="http://schemas.microsoft.com/office/drawing/2014/main" id="{B63B0145-2E2F-4746-AE52-FE62BBC728ED}"/>
              </a:ext>
            </a:extLst>
          </p:cNvPr>
          <p:cNvPicPr>
            <a:picLocks noChangeAspect="1"/>
          </p:cNvPicPr>
          <p:nvPr>
            <p:custDataLst>
              <p:tags r:id="rId3"/>
            </p:custDataLst>
          </p:nvPr>
        </p:nvPicPr>
        <p:blipFill>
          <a:blip>
            <a:extLst>
              <a:ext uri="{96DAC541-7B7A-43D3-8B79-37D633B846F1}">
                <asvg:svgBlip xmlns:asvg="http://schemas.microsoft.com/office/drawing/2016/SVG/main" r:embed="rId85"/>
              </a:ext>
            </a:extLst>
          </a:blip>
          <a:stretch>
            <a:fillRect/>
          </a:stretch>
        </p:blipFill>
        <p:spPr>
          <a:xfrm>
            <a:off x="6873908" y="1707213"/>
            <a:ext cx="344104" cy="344104"/>
          </a:xfrm>
          <a:prstGeom prst="rect">
            <a:avLst/>
          </a:prstGeom>
        </p:spPr>
      </p:pic>
      <p:sp>
        <p:nvSpPr>
          <p:cNvPr id="22" name="TitleTrackerAlpha 7">
            <a:extLst>
              <a:ext uri="{FF2B5EF4-FFF2-40B4-BE49-F238E27FC236}">
                <a16:creationId xmlns:a16="http://schemas.microsoft.com/office/drawing/2014/main" id="{8DB09719-9BCF-4867-A7C7-E5D074659A73}"/>
              </a:ext>
            </a:extLst>
          </p:cNvPr>
          <p:cNvSpPr/>
          <p:nvPr>
            <p:custDataLst>
              <p:tags r:id="rId4"/>
            </p:custDataLst>
          </p:nvPr>
        </p:nvSpPr>
        <p:spPr>
          <a:xfrm>
            <a:off x="5780616"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R4</a:t>
            </a:r>
          </a:p>
        </p:txBody>
      </p:sp>
      <p:sp>
        <p:nvSpPr>
          <p:cNvPr id="23" name="TitleTrackerAlpha 7">
            <a:extLst>
              <a:ext uri="{FF2B5EF4-FFF2-40B4-BE49-F238E27FC236}">
                <a16:creationId xmlns:a16="http://schemas.microsoft.com/office/drawing/2014/main" id="{3BE9A525-0916-403B-8576-B52985B0870B}"/>
              </a:ext>
            </a:extLst>
          </p:cNvPr>
          <p:cNvSpPr/>
          <p:nvPr>
            <p:custDataLst>
              <p:tags r:id="rId5"/>
            </p:custDataLst>
          </p:nvPr>
        </p:nvSpPr>
        <p:spPr>
          <a:xfrm>
            <a:off x="838200"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R1</a:t>
            </a:r>
          </a:p>
        </p:txBody>
      </p:sp>
      <p:sp>
        <p:nvSpPr>
          <p:cNvPr id="24" name="TitleTrackerAlpha 7">
            <a:extLst>
              <a:ext uri="{FF2B5EF4-FFF2-40B4-BE49-F238E27FC236}">
                <a16:creationId xmlns:a16="http://schemas.microsoft.com/office/drawing/2014/main" id="{BCA1BAD7-747E-4148-934B-F990C0308435}"/>
              </a:ext>
            </a:extLst>
          </p:cNvPr>
          <p:cNvSpPr/>
          <p:nvPr>
            <p:custDataLst>
              <p:tags r:id="rId6"/>
            </p:custDataLst>
          </p:nvPr>
        </p:nvSpPr>
        <p:spPr>
          <a:xfrm>
            <a:off x="2485672"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R2</a:t>
            </a:r>
          </a:p>
        </p:txBody>
      </p:sp>
      <p:sp>
        <p:nvSpPr>
          <p:cNvPr id="25" name="TitleTrackerAlpha 7">
            <a:extLst>
              <a:ext uri="{FF2B5EF4-FFF2-40B4-BE49-F238E27FC236}">
                <a16:creationId xmlns:a16="http://schemas.microsoft.com/office/drawing/2014/main" id="{BA541E44-A67A-4882-83BC-2F84F2D9A9A7}"/>
              </a:ext>
            </a:extLst>
          </p:cNvPr>
          <p:cNvSpPr/>
          <p:nvPr>
            <p:custDataLst>
              <p:tags r:id="rId7"/>
            </p:custDataLst>
          </p:nvPr>
        </p:nvSpPr>
        <p:spPr>
          <a:xfrm>
            <a:off x="4133144"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R3</a:t>
            </a:r>
          </a:p>
        </p:txBody>
      </p:sp>
      <p:sp>
        <p:nvSpPr>
          <p:cNvPr id="26" name="TitleTrackerAlpha 7">
            <a:extLst>
              <a:ext uri="{FF2B5EF4-FFF2-40B4-BE49-F238E27FC236}">
                <a16:creationId xmlns:a16="http://schemas.microsoft.com/office/drawing/2014/main" id="{9E10F5D4-39FA-4721-8707-5C83F363FCFB}"/>
              </a:ext>
            </a:extLst>
          </p:cNvPr>
          <p:cNvSpPr/>
          <p:nvPr>
            <p:custDataLst>
              <p:tags r:id="rId8"/>
            </p:custDataLst>
          </p:nvPr>
        </p:nvSpPr>
        <p:spPr>
          <a:xfrm>
            <a:off x="9896967" y="4599605"/>
            <a:ext cx="593965" cy="593965"/>
          </a:xfrm>
          <a:prstGeom prst="ellipse">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ptos Display" panose="02110004020202020204"/>
                <a:ea typeface="+mn-ea"/>
                <a:cs typeface="+mn-cs"/>
              </a:rPr>
              <a:t>Rn</a:t>
            </a:r>
          </a:p>
        </p:txBody>
      </p:sp>
      <p:grpSp>
        <p:nvGrpSpPr>
          <p:cNvPr id="143" name="Group 142">
            <a:extLst>
              <a:ext uri="{FF2B5EF4-FFF2-40B4-BE49-F238E27FC236}">
                <a16:creationId xmlns:a16="http://schemas.microsoft.com/office/drawing/2014/main" id="{1533FF68-6A87-43F4-983F-B3A466767902}"/>
              </a:ext>
            </a:extLst>
          </p:cNvPr>
          <p:cNvGrpSpPr/>
          <p:nvPr/>
        </p:nvGrpSpPr>
        <p:grpSpPr>
          <a:xfrm>
            <a:off x="4260891" y="1707213"/>
            <a:ext cx="1552463" cy="258533"/>
            <a:chOff x="2580681" y="2136708"/>
            <a:chExt cx="1552463" cy="258533"/>
          </a:xfrm>
        </p:grpSpPr>
        <p:sp>
          <p:nvSpPr>
            <p:cNvPr id="28" name="Body1 19">
              <a:extLst>
                <a:ext uri="{FF2B5EF4-FFF2-40B4-BE49-F238E27FC236}">
                  <a16:creationId xmlns:a16="http://schemas.microsoft.com/office/drawing/2014/main" id="{9A62E4E9-FC0B-4B72-A40D-5FF4B77E157A}"/>
                </a:ext>
              </a:extLst>
            </p:cNvPr>
            <p:cNvSpPr txBox="1"/>
            <p:nvPr>
              <p:custDataLst>
                <p:tags r:id="rId80"/>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29" name="Rectangle 28">
              <a:extLst>
                <a:ext uri="{FF2B5EF4-FFF2-40B4-BE49-F238E27FC236}">
                  <a16:creationId xmlns:a16="http://schemas.microsoft.com/office/drawing/2014/main" id="{367E4714-D8F9-4686-849A-D2C0D8101075}"/>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41" name="Body1 19">
            <a:extLst>
              <a:ext uri="{FF2B5EF4-FFF2-40B4-BE49-F238E27FC236}">
                <a16:creationId xmlns:a16="http://schemas.microsoft.com/office/drawing/2014/main" id="{B9D13198-CB8F-4886-A99B-3F466E25925A}"/>
              </a:ext>
            </a:extLst>
          </p:cNvPr>
          <p:cNvSpPr txBox="1"/>
          <p:nvPr>
            <p:custDataLst>
              <p:tags r:id="rId9"/>
            </p:custDataLst>
          </p:nvPr>
        </p:nvSpPr>
        <p:spPr>
          <a:xfrm>
            <a:off x="7029016" y="4666565"/>
            <a:ext cx="2101745" cy="535531"/>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 . . . . .</a:t>
            </a:r>
          </a:p>
        </p:txBody>
      </p:sp>
      <p:sp>
        <p:nvSpPr>
          <p:cNvPr id="40" name="Body1 19">
            <a:extLst>
              <a:ext uri="{FF2B5EF4-FFF2-40B4-BE49-F238E27FC236}">
                <a16:creationId xmlns:a16="http://schemas.microsoft.com/office/drawing/2014/main" id="{1A8E1F52-93CE-42E7-9923-C3C5450AE61A}"/>
              </a:ext>
            </a:extLst>
          </p:cNvPr>
          <p:cNvSpPr txBox="1"/>
          <p:nvPr>
            <p:custDataLst>
              <p:tags r:id="rId10"/>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53" name="Body1 19">
            <a:extLst>
              <a:ext uri="{FF2B5EF4-FFF2-40B4-BE49-F238E27FC236}">
                <a16:creationId xmlns:a16="http://schemas.microsoft.com/office/drawing/2014/main" id="{E1055004-E6C9-43B9-8E3B-C35C54C1A52C}"/>
              </a:ext>
            </a:extLst>
          </p:cNvPr>
          <p:cNvSpPr txBox="1"/>
          <p:nvPr>
            <p:custDataLst>
              <p:tags r:id="rId11"/>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65" name="Body1 19">
            <a:extLst>
              <a:ext uri="{FF2B5EF4-FFF2-40B4-BE49-F238E27FC236}">
                <a16:creationId xmlns:a16="http://schemas.microsoft.com/office/drawing/2014/main" id="{F6EC3F23-0BBE-46A2-9847-5A8F1187BF55}"/>
              </a:ext>
            </a:extLst>
          </p:cNvPr>
          <p:cNvSpPr txBox="1"/>
          <p:nvPr>
            <p:custDataLst>
              <p:tags r:id="rId12"/>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77" name="Body1 19">
            <a:extLst>
              <a:ext uri="{FF2B5EF4-FFF2-40B4-BE49-F238E27FC236}">
                <a16:creationId xmlns:a16="http://schemas.microsoft.com/office/drawing/2014/main" id="{9826027A-D4B6-40FF-9001-BCB68FE5260D}"/>
              </a:ext>
            </a:extLst>
          </p:cNvPr>
          <p:cNvSpPr txBox="1"/>
          <p:nvPr>
            <p:custDataLst>
              <p:tags r:id="rId13"/>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92" name="Body1 19">
            <a:extLst>
              <a:ext uri="{FF2B5EF4-FFF2-40B4-BE49-F238E27FC236}">
                <a16:creationId xmlns:a16="http://schemas.microsoft.com/office/drawing/2014/main" id="{E8530AEE-CA50-4FA2-83F0-1B20930A81DC}"/>
              </a:ext>
            </a:extLst>
          </p:cNvPr>
          <p:cNvSpPr txBox="1"/>
          <p:nvPr>
            <p:custDataLst>
              <p:tags r:id="rId14"/>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sp>
        <p:nvSpPr>
          <p:cNvPr id="104" name="Body1 19">
            <a:extLst>
              <a:ext uri="{FF2B5EF4-FFF2-40B4-BE49-F238E27FC236}">
                <a16:creationId xmlns:a16="http://schemas.microsoft.com/office/drawing/2014/main" id="{7CD22A95-E086-4A9D-B6B2-F6EEED1C5DDF}"/>
              </a:ext>
            </a:extLst>
          </p:cNvPr>
          <p:cNvSpPr txBox="1"/>
          <p:nvPr>
            <p:custDataLst>
              <p:tags r:id="rId15"/>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0000</a:t>
            </a:r>
          </a:p>
        </p:txBody>
      </p:sp>
      <p:pic>
        <p:nvPicPr>
          <p:cNvPr id="106" name="CustomIcon">
            <a:extLst>
              <a:ext uri="{FF2B5EF4-FFF2-40B4-BE49-F238E27FC236}">
                <a16:creationId xmlns:a16="http://schemas.microsoft.com/office/drawing/2014/main" id="{8C923341-E015-4735-8072-39775818A947}"/>
              </a:ext>
            </a:extLst>
          </p:cNvPr>
          <p:cNvPicPr>
            <a:picLocks noChangeAspect="1"/>
          </p:cNvPicPr>
          <p:nvPr>
            <p:custDataLst>
              <p:tags r:id="rId16"/>
            </p:custDataLst>
          </p:nvPr>
        </p:nvPicPr>
        <p:blipFill>
          <a:blip>
            <a:extLst>
              <a:ext uri="{96DAC541-7B7A-43D3-8B79-37D633B846F1}">
                <asvg:svgBlip xmlns:asvg="http://schemas.microsoft.com/office/drawing/2016/SVG/main" r:embed="rId85"/>
              </a:ext>
            </a:extLst>
          </a:blip>
          <a:stretch>
            <a:fillRect/>
          </a:stretch>
        </p:blipFill>
        <p:spPr>
          <a:xfrm>
            <a:off x="494096" y="5228666"/>
            <a:ext cx="344104" cy="344104"/>
          </a:xfrm>
          <a:prstGeom prst="rect">
            <a:avLst/>
          </a:prstGeom>
        </p:spPr>
      </p:pic>
      <p:pic>
        <p:nvPicPr>
          <p:cNvPr id="107" name="CustomIcon">
            <a:extLst>
              <a:ext uri="{FF2B5EF4-FFF2-40B4-BE49-F238E27FC236}">
                <a16:creationId xmlns:a16="http://schemas.microsoft.com/office/drawing/2014/main" id="{84525F40-65CA-42EE-BE88-0F4492A0603F}"/>
              </a:ext>
            </a:extLst>
          </p:cNvPr>
          <p:cNvPicPr>
            <a:picLocks noChangeAspect="1"/>
          </p:cNvPicPr>
          <p:nvPr>
            <p:custDataLst>
              <p:tags r:id="rId17"/>
            </p:custDataLst>
          </p:nvPr>
        </p:nvPicPr>
        <p:blipFill>
          <a:blip>
            <a:extLst>
              <a:ext uri="{96DAC541-7B7A-43D3-8B79-37D633B846F1}">
                <asvg:svgBlip xmlns:asvg="http://schemas.microsoft.com/office/drawing/2016/SVG/main" r:embed="rId85"/>
              </a:ext>
            </a:extLst>
          </a:blip>
          <a:stretch>
            <a:fillRect/>
          </a:stretch>
        </p:blipFill>
        <p:spPr>
          <a:xfrm>
            <a:off x="2213306" y="5228666"/>
            <a:ext cx="344104" cy="344104"/>
          </a:xfrm>
          <a:prstGeom prst="rect">
            <a:avLst/>
          </a:prstGeom>
        </p:spPr>
      </p:pic>
      <p:pic>
        <p:nvPicPr>
          <p:cNvPr id="108" name="CustomIcon">
            <a:extLst>
              <a:ext uri="{FF2B5EF4-FFF2-40B4-BE49-F238E27FC236}">
                <a16:creationId xmlns:a16="http://schemas.microsoft.com/office/drawing/2014/main" id="{16A5EA41-D14C-4675-8A35-0FB04038EB45}"/>
              </a:ext>
            </a:extLst>
          </p:cNvPr>
          <p:cNvPicPr>
            <a:picLocks noChangeAspect="1"/>
          </p:cNvPicPr>
          <p:nvPr>
            <p:custDataLst>
              <p:tags r:id="rId18"/>
            </p:custDataLst>
          </p:nvPr>
        </p:nvPicPr>
        <p:blipFill>
          <a:blip>
            <a:extLst>
              <a:ext uri="{96DAC541-7B7A-43D3-8B79-37D633B846F1}">
                <asvg:svgBlip xmlns:asvg="http://schemas.microsoft.com/office/drawing/2016/SVG/main" r:embed="rId85"/>
              </a:ext>
            </a:extLst>
          </a:blip>
          <a:stretch>
            <a:fillRect/>
          </a:stretch>
        </p:blipFill>
        <p:spPr>
          <a:xfrm>
            <a:off x="3934515" y="5228666"/>
            <a:ext cx="344104" cy="344104"/>
          </a:xfrm>
          <a:prstGeom prst="rect">
            <a:avLst/>
          </a:prstGeom>
        </p:spPr>
      </p:pic>
      <p:pic>
        <p:nvPicPr>
          <p:cNvPr id="109" name="CustomIcon">
            <a:extLst>
              <a:ext uri="{FF2B5EF4-FFF2-40B4-BE49-F238E27FC236}">
                <a16:creationId xmlns:a16="http://schemas.microsoft.com/office/drawing/2014/main" id="{5AC56C78-2360-4347-BA18-FF2DBC734CA5}"/>
              </a:ext>
            </a:extLst>
          </p:cNvPr>
          <p:cNvPicPr>
            <a:picLocks noChangeAspect="1"/>
          </p:cNvPicPr>
          <p:nvPr>
            <p:custDataLst>
              <p:tags r:id="rId19"/>
            </p:custDataLst>
          </p:nvPr>
        </p:nvPicPr>
        <p:blipFill>
          <a:blip>
            <a:extLst>
              <a:ext uri="{96DAC541-7B7A-43D3-8B79-37D633B846F1}">
                <asvg:svgBlip xmlns:asvg="http://schemas.microsoft.com/office/drawing/2016/SVG/main" r:embed="rId85"/>
              </a:ext>
            </a:extLst>
          </a:blip>
          <a:stretch>
            <a:fillRect/>
          </a:stretch>
        </p:blipFill>
        <p:spPr>
          <a:xfrm>
            <a:off x="5590670" y="5228666"/>
            <a:ext cx="344104" cy="344104"/>
          </a:xfrm>
          <a:prstGeom prst="rect">
            <a:avLst/>
          </a:prstGeom>
        </p:spPr>
      </p:pic>
      <p:pic>
        <p:nvPicPr>
          <p:cNvPr id="110" name="CustomIcon">
            <a:extLst>
              <a:ext uri="{FF2B5EF4-FFF2-40B4-BE49-F238E27FC236}">
                <a16:creationId xmlns:a16="http://schemas.microsoft.com/office/drawing/2014/main" id="{E414E572-47C3-430D-A12D-244F941EC4BA}"/>
              </a:ext>
            </a:extLst>
          </p:cNvPr>
          <p:cNvPicPr>
            <a:picLocks noChangeAspect="1"/>
          </p:cNvPicPr>
          <p:nvPr>
            <p:custDataLst>
              <p:tags r:id="rId20"/>
            </p:custDataLst>
          </p:nvPr>
        </p:nvPicPr>
        <p:blipFill>
          <a:blip>
            <a:extLst>
              <a:ext uri="{96DAC541-7B7A-43D3-8B79-37D633B846F1}">
                <asvg:svgBlip xmlns:asvg="http://schemas.microsoft.com/office/drawing/2016/SVG/main" r:embed="rId85"/>
              </a:ext>
            </a:extLst>
          </a:blip>
          <a:stretch>
            <a:fillRect/>
          </a:stretch>
        </p:blipFill>
        <p:spPr>
          <a:xfrm>
            <a:off x="9724915" y="5228666"/>
            <a:ext cx="344104" cy="344104"/>
          </a:xfrm>
          <a:prstGeom prst="rect">
            <a:avLst/>
          </a:prstGeom>
        </p:spPr>
      </p:pic>
      <p:sp>
        <p:nvSpPr>
          <p:cNvPr id="39" name="Body1 19">
            <a:extLst>
              <a:ext uri="{FF2B5EF4-FFF2-40B4-BE49-F238E27FC236}">
                <a16:creationId xmlns:a16="http://schemas.microsoft.com/office/drawing/2014/main" id="{A32680FC-10A4-4B31-A673-9CE657FB5D17}"/>
              </a:ext>
            </a:extLst>
          </p:cNvPr>
          <p:cNvSpPr txBox="1"/>
          <p:nvPr>
            <p:custDataLst>
              <p:tags r:id="rId21"/>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52" name="Body1 19">
            <a:extLst>
              <a:ext uri="{FF2B5EF4-FFF2-40B4-BE49-F238E27FC236}">
                <a16:creationId xmlns:a16="http://schemas.microsoft.com/office/drawing/2014/main" id="{5DC6549B-EBCC-4E6F-AF3D-E64A7A14F98C}"/>
              </a:ext>
            </a:extLst>
          </p:cNvPr>
          <p:cNvSpPr txBox="1"/>
          <p:nvPr>
            <p:custDataLst>
              <p:tags r:id="rId22"/>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64" name="Body1 19">
            <a:extLst>
              <a:ext uri="{FF2B5EF4-FFF2-40B4-BE49-F238E27FC236}">
                <a16:creationId xmlns:a16="http://schemas.microsoft.com/office/drawing/2014/main" id="{13679855-271E-44F9-A722-38C958BD958A}"/>
              </a:ext>
            </a:extLst>
          </p:cNvPr>
          <p:cNvSpPr txBox="1"/>
          <p:nvPr>
            <p:custDataLst>
              <p:tags r:id="rId23"/>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76" name="Body1 19">
            <a:extLst>
              <a:ext uri="{FF2B5EF4-FFF2-40B4-BE49-F238E27FC236}">
                <a16:creationId xmlns:a16="http://schemas.microsoft.com/office/drawing/2014/main" id="{5E3511B7-4C98-43AC-A39B-BD8F0795B152}"/>
              </a:ext>
            </a:extLst>
          </p:cNvPr>
          <p:cNvSpPr txBox="1"/>
          <p:nvPr>
            <p:custDataLst>
              <p:tags r:id="rId24"/>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91" name="Body1 19">
            <a:extLst>
              <a:ext uri="{FF2B5EF4-FFF2-40B4-BE49-F238E27FC236}">
                <a16:creationId xmlns:a16="http://schemas.microsoft.com/office/drawing/2014/main" id="{3B3C0CA5-1037-4153-B050-5E628144F502}"/>
              </a:ext>
            </a:extLst>
          </p:cNvPr>
          <p:cNvSpPr txBox="1"/>
          <p:nvPr>
            <p:custDataLst>
              <p:tags r:id="rId25"/>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103" name="Body1 19">
            <a:extLst>
              <a:ext uri="{FF2B5EF4-FFF2-40B4-BE49-F238E27FC236}">
                <a16:creationId xmlns:a16="http://schemas.microsoft.com/office/drawing/2014/main" id="{C20FAA28-3F9D-4C51-99F9-8232ED8F6BC7}"/>
              </a:ext>
            </a:extLst>
          </p:cNvPr>
          <p:cNvSpPr txBox="1"/>
          <p:nvPr>
            <p:custDataLst>
              <p:tags r:id="rId26"/>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0001</a:t>
            </a:r>
          </a:p>
        </p:txBody>
      </p:sp>
      <p:sp>
        <p:nvSpPr>
          <p:cNvPr id="38" name="Body1 19">
            <a:extLst>
              <a:ext uri="{FF2B5EF4-FFF2-40B4-BE49-F238E27FC236}">
                <a16:creationId xmlns:a16="http://schemas.microsoft.com/office/drawing/2014/main" id="{FCDC80FD-DCCA-43FB-A07A-D4B60699A394}"/>
              </a:ext>
            </a:extLst>
          </p:cNvPr>
          <p:cNvSpPr txBox="1"/>
          <p:nvPr>
            <p:custDataLst>
              <p:tags r:id="rId27"/>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51" name="Body1 19">
            <a:extLst>
              <a:ext uri="{FF2B5EF4-FFF2-40B4-BE49-F238E27FC236}">
                <a16:creationId xmlns:a16="http://schemas.microsoft.com/office/drawing/2014/main" id="{F3E315AC-23FE-49BF-93D4-8880B7A59FF1}"/>
              </a:ext>
            </a:extLst>
          </p:cNvPr>
          <p:cNvSpPr txBox="1"/>
          <p:nvPr>
            <p:custDataLst>
              <p:tags r:id="rId28"/>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63" name="Body1 19">
            <a:extLst>
              <a:ext uri="{FF2B5EF4-FFF2-40B4-BE49-F238E27FC236}">
                <a16:creationId xmlns:a16="http://schemas.microsoft.com/office/drawing/2014/main" id="{218C6056-3F38-4CE6-88DF-FC657FDE814D}"/>
              </a:ext>
            </a:extLst>
          </p:cNvPr>
          <p:cNvSpPr txBox="1"/>
          <p:nvPr>
            <p:custDataLst>
              <p:tags r:id="rId29"/>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75" name="Body1 19">
            <a:extLst>
              <a:ext uri="{FF2B5EF4-FFF2-40B4-BE49-F238E27FC236}">
                <a16:creationId xmlns:a16="http://schemas.microsoft.com/office/drawing/2014/main" id="{F77CBF52-CBE5-4210-A2D9-0E096CCC3D65}"/>
              </a:ext>
            </a:extLst>
          </p:cNvPr>
          <p:cNvSpPr txBox="1"/>
          <p:nvPr>
            <p:custDataLst>
              <p:tags r:id="rId30"/>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90" name="Body1 19">
            <a:extLst>
              <a:ext uri="{FF2B5EF4-FFF2-40B4-BE49-F238E27FC236}">
                <a16:creationId xmlns:a16="http://schemas.microsoft.com/office/drawing/2014/main" id="{1252580C-7067-40AE-B76E-CC6E4DBB30A7}"/>
              </a:ext>
            </a:extLst>
          </p:cNvPr>
          <p:cNvSpPr txBox="1"/>
          <p:nvPr>
            <p:custDataLst>
              <p:tags r:id="rId31"/>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102" name="Body1 19">
            <a:extLst>
              <a:ext uri="{FF2B5EF4-FFF2-40B4-BE49-F238E27FC236}">
                <a16:creationId xmlns:a16="http://schemas.microsoft.com/office/drawing/2014/main" id="{A8E09093-77D7-4CBB-906C-D75A18DDF9FA}"/>
              </a:ext>
            </a:extLst>
          </p:cNvPr>
          <p:cNvSpPr txBox="1"/>
          <p:nvPr>
            <p:custDataLst>
              <p:tags r:id="rId32"/>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0002</a:t>
            </a:r>
          </a:p>
        </p:txBody>
      </p:sp>
      <p:sp>
        <p:nvSpPr>
          <p:cNvPr id="37" name="Body1 19">
            <a:extLst>
              <a:ext uri="{FF2B5EF4-FFF2-40B4-BE49-F238E27FC236}">
                <a16:creationId xmlns:a16="http://schemas.microsoft.com/office/drawing/2014/main" id="{0FBB87A0-B628-4A03-A326-BFD22FDAD84C}"/>
              </a:ext>
            </a:extLst>
          </p:cNvPr>
          <p:cNvSpPr txBox="1"/>
          <p:nvPr>
            <p:custDataLst>
              <p:tags r:id="rId33"/>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50" name="Body1 19">
            <a:extLst>
              <a:ext uri="{FF2B5EF4-FFF2-40B4-BE49-F238E27FC236}">
                <a16:creationId xmlns:a16="http://schemas.microsoft.com/office/drawing/2014/main" id="{866CAD6C-2F02-42AC-963B-869784254563}"/>
              </a:ext>
            </a:extLst>
          </p:cNvPr>
          <p:cNvSpPr txBox="1"/>
          <p:nvPr>
            <p:custDataLst>
              <p:tags r:id="rId34"/>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62" name="Body1 19">
            <a:extLst>
              <a:ext uri="{FF2B5EF4-FFF2-40B4-BE49-F238E27FC236}">
                <a16:creationId xmlns:a16="http://schemas.microsoft.com/office/drawing/2014/main" id="{D5D57715-1DE3-496B-87A7-A15A345F0CA2}"/>
              </a:ext>
            </a:extLst>
          </p:cNvPr>
          <p:cNvSpPr txBox="1"/>
          <p:nvPr>
            <p:custDataLst>
              <p:tags r:id="rId35"/>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74" name="Body1 19">
            <a:extLst>
              <a:ext uri="{FF2B5EF4-FFF2-40B4-BE49-F238E27FC236}">
                <a16:creationId xmlns:a16="http://schemas.microsoft.com/office/drawing/2014/main" id="{7EDB63F0-7F3D-4BD7-8E1C-7F1F6AEC5BB4}"/>
              </a:ext>
            </a:extLst>
          </p:cNvPr>
          <p:cNvSpPr txBox="1"/>
          <p:nvPr>
            <p:custDataLst>
              <p:tags r:id="rId36"/>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89" name="Body1 19">
            <a:extLst>
              <a:ext uri="{FF2B5EF4-FFF2-40B4-BE49-F238E27FC236}">
                <a16:creationId xmlns:a16="http://schemas.microsoft.com/office/drawing/2014/main" id="{FAB207FB-C84B-45AF-8322-2537E7CEDF87}"/>
              </a:ext>
            </a:extLst>
          </p:cNvPr>
          <p:cNvSpPr txBox="1"/>
          <p:nvPr>
            <p:custDataLst>
              <p:tags r:id="rId37"/>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101" name="Body1 19">
            <a:extLst>
              <a:ext uri="{FF2B5EF4-FFF2-40B4-BE49-F238E27FC236}">
                <a16:creationId xmlns:a16="http://schemas.microsoft.com/office/drawing/2014/main" id="{3C0CFA0B-968E-4BAB-8562-C2A1F7EE0657}"/>
              </a:ext>
            </a:extLst>
          </p:cNvPr>
          <p:cNvSpPr txBox="1"/>
          <p:nvPr>
            <p:custDataLst>
              <p:tags r:id="rId38"/>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0003</a:t>
            </a:r>
          </a:p>
        </p:txBody>
      </p:sp>
      <p:sp>
        <p:nvSpPr>
          <p:cNvPr id="36" name="Body1 19">
            <a:extLst>
              <a:ext uri="{FF2B5EF4-FFF2-40B4-BE49-F238E27FC236}">
                <a16:creationId xmlns:a16="http://schemas.microsoft.com/office/drawing/2014/main" id="{D1759F28-A426-4AEB-BF78-3B2F66077873}"/>
              </a:ext>
            </a:extLst>
          </p:cNvPr>
          <p:cNvSpPr txBox="1"/>
          <p:nvPr>
            <p:custDataLst>
              <p:tags r:id="rId39"/>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49" name="Body1 19">
            <a:extLst>
              <a:ext uri="{FF2B5EF4-FFF2-40B4-BE49-F238E27FC236}">
                <a16:creationId xmlns:a16="http://schemas.microsoft.com/office/drawing/2014/main" id="{AB7A684D-C0A2-4A6B-9067-453D8891F97E}"/>
              </a:ext>
            </a:extLst>
          </p:cNvPr>
          <p:cNvSpPr txBox="1"/>
          <p:nvPr>
            <p:custDataLst>
              <p:tags r:id="rId40"/>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61" name="Body1 19">
            <a:extLst>
              <a:ext uri="{FF2B5EF4-FFF2-40B4-BE49-F238E27FC236}">
                <a16:creationId xmlns:a16="http://schemas.microsoft.com/office/drawing/2014/main" id="{2B6E5BD2-02EF-4D61-8A69-09DEE0120CAD}"/>
              </a:ext>
            </a:extLst>
          </p:cNvPr>
          <p:cNvSpPr txBox="1"/>
          <p:nvPr>
            <p:custDataLst>
              <p:tags r:id="rId41"/>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73" name="Body1 19">
            <a:extLst>
              <a:ext uri="{FF2B5EF4-FFF2-40B4-BE49-F238E27FC236}">
                <a16:creationId xmlns:a16="http://schemas.microsoft.com/office/drawing/2014/main" id="{FFE8E94F-3F6F-46B9-A5D0-F66F6623D039}"/>
              </a:ext>
            </a:extLst>
          </p:cNvPr>
          <p:cNvSpPr txBox="1"/>
          <p:nvPr>
            <p:custDataLst>
              <p:tags r:id="rId42"/>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88" name="Body1 19">
            <a:extLst>
              <a:ext uri="{FF2B5EF4-FFF2-40B4-BE49-F238E27FC236}">
                <a16:creationId xmlns:a16="http://schemas.microsoft.com/office/drawing/2014/main" id="{572D042E-F972-40C2-841C-7264B0D0045F}"/>
              </a:ext>
            </a:extLst>
          </p:cNvPr>
          <p:cNvSpPr txBox="1"/>
          <p:nvPr>
            <p:custDataLst>
              <p:tags r:id="rId43"/>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100" name="Body1 19">
            <a:extLst>
              <a:ext uri="{FF2B5EF4-FFF2-40B4-BE49-F238E27FC236}">
                <a16:creationId xmlns:a16="http://schemas.microsoft.com/office/drawing/2014/main" id="{1A859F52-A5E6-4D11-BF77-C96E46DB3C4E}"/>
              </a:ext>
            </a:extLst>
          </p:cNvPr>
          <p:cNvSpPr txBox="1"/>
          <p:nvPr>
            <p:custDataLst>
              <p:tags r:id="rId44"/>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0004</a:t>
            </a:r>
          </a:p>
        </p:txBody>
      </p:sp>
      <p:sp>
        <p:nvSpPr>
          <p:cNvPr id="35" name="Body1 19">
            <a:extLst>
              <a:ext uri="{FF2B5EF4-FFF2-40B4-BE49-F238E27FC236}">
                <a16:creationId xmlns:a16="http://schemas.microsoft.com/office/drawing/2014/main" id="{CC4898CC-F43F-4424-8B5E-660ECFF4998E}"/>
              </a:ext>
            </a:extLst>
          </p:cNvPr>
          <p:cNvSpPr txBox="1"/>
          <p:nvPr>
            <p:custDataLst>
              <p:tags r:id="rId45"/>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48" name="Body1 19">
            <a:extLst>
              <a:ext uri="{FF2B5EF4-FFF2-40B4-BE49-F238E27FC236}">
                <a16:creationId xmlns:a16="http://schemas.microsoft.com/office/drawing/2014/main" id="{DF9EC921-0969-4339-AE4E-96DCD682B47F}"/>
              </a:ext>
            </a:extLst>
          </p:cNvPr>
          <p:cNvSpPr txBox="1"/>
          <p:nvPr>
            <p:custDataLst>
              <p:tags r:id="rId46"/>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60" name="Body1 19">
            <a:extLst>
              <a:ext uri="{FF2B5EF4-FFF2-40B4-BE49-F238E27FC236}">
                <a16:creationId xmlns:a16="http://schemas.microsoft.com/office/drawing/2014/main" id="{1089D5FD-5FFC-4AD7-81C1-CB4A635875F4}"/>
              </a:ext>
            </a:extLst>
          </p:cNvPr>
          <p:cNvSpPr txBox="1"/>
          <p:nvPr>
            <p:custDataLst>
              <p:tags r:id="rId47"/>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72" name="Body1 19">
            <a:extLst>
              <a:ext uri="{FF2B5EF4-FFF2-40B4-BE49-F238E27FC236}">
                <a16:creationId xmlns:a16="http://schemas.microsoft.com/office/drawing/2014/main" id="{C9AEA5D4-FF7C-4F59-BE85-13A367DD0AEE}"/>
              </a:ext>
            </a:extLst>
          </p:cNvPr>
          <p:cNvSpPr txBox="1"/>
          <p:nvPr>
            <p:custDataLst>
              <p:tags r:id="rId48"/>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87" name="Body1 19">
            <a:extLst>
              <a:ext uri="{FF2B5EF4-FFF2-40B4-BE49-F238E27FC236}">
                <a16:creationId xmlns:a16="http://schemas.microsoft.com/office/drawing/2014/main" id="{DA546C94-5971-4810-8212-BAF1BC88729C}"/>
              </a:ext>
            </a:extLst>
          </p:cNvPr>
          <p:cNvSpPr txBox="1"/>
          <p:nvPr>
            <p:custDataLst>
              <p:tags r:id="rId49"/>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99" name="Body1 19">
            <a:extLst>
              <a:ext uri="{FF2B5EF4-FFF2-40B4-BE49-F238E27FC236}">
                <a16:creationId xmlns:a16="http://schemas.microsoft.com/office/drawing/2014/main" id="{9026B57E-982D-40BA-9202-D2A5D4EAD0A2}"/>
              </a:ext>
            </a:extLst>
          </p:cNvPr>
          <p:cNvSpPr txBox="1"/>
          <p:nvPr>
            <p:custDataLst>
              <p:tags r:id="rId50"/>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0005</a:t>
            </a:r>
          </a:p>
        </p:txBody>
      </p:sp>
      <p:sp>
        <p:nvSpPr>
          <p:cNvPr id="34" name="Body1 19">
            <a:extLst>
              <a:ext uri="{FF2B5EF4-FFF2-40B4-BE49-F238E27FC236}">
                <a16:creationId xmlns:a16="http://schemas.microsoft.com/office/drawing/2014/main" id="{A5EBCE7C-E698-47A6-A0E8-C4C1025F1AE4}"/>
              </a:ext>
            </a:extLst>
          </p:cNvPr>
          <p:cNvSpPr txBox="1"/>
          <p:nvPr>
            <p:custDataLst>
              <p:tags r:id="rId51"/>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47" name="Body1 19">
            <a:extLst>
              <a:ext uri="{FF2B5EF4-FFF2-40B4-BE49-F238E27FC236}">
                <a16:creationId xmlns:a16="http://schemas.microsoft.com/office/drawing/2014/main" id="{92EF9181-07B8-4F48-80CB-FFDB87B9725E}"/>
              </a:ext>
            </a:extLst>
          </p:cNvPr>
          <p:cNvSpPr txBox="1"/>
          <p:nvPr>
            <p:custDataLst>
              <p:tags r:id="rId52"/>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59" name="Body1 19">
            <a:extLst>
              <a:ext uri="{FF2B5EF4-FFF2-40B4-BE49-F238E27FC236}">
                <a16:creationId xmlns:a16="http://schemas.microsoft.com/office/drawing/2014/main" id="{C2C6CAA5-6D90-4C40-83A1-FE6A1579779C}"/>
              </a:ext>
            </a:extLst>
          </p:cNvPr>
          <p:cNvSpPr txBox="1"/>
          <p:nvPr>
            <p:custDataLst>
              <p:tags r:id="rId53"/>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71" name="Body1 19">
            <a:extLst>
              <a:ext uri="{FF2B5EF4-FFF2-40B4-BE49-F238E27FC236}">
                <a16:creationId xmlns:a16="http://schemas.microsoft.com/office/drawing/2014/main" id="{CDF605D2-E1EF-4BE9-9E3E-599791F8EF44}"/>
              </a:ext>
            </a:extLst>
          </p:cNvPr>
          <p:cNvSpPr txBox="1"/>
          <p:nvPr>
            <p:custDataLst>
              <p:tags r:id="rId54"/>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86" name="Body1 19">
            <a:extLst>
              <a:ext uri="{FF2B5EF4-FFF2-40B4-BE49-F238E27FC236}">
                <a16:creationId xmlns:a16="http://schemas.microsoft.com/office/drawing/2014/main" id="{D43CBAC4-5734-4676-9B55-46AB31981AA3}"/>
              </a:ext>
            </a:extLst>
          </p:cNvPr>
          <p:cNvSpPr txBox="1"/>
          <p:nvPr>
            <p:custDataLst>
              <p:tags r:id="rId55"/>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98" name="Body1 19">
            <a:extLst>
              <a:ext uri="{FF2B5EF4-FFF2-40B4-BE49-F238E27FC236}">
                <a16:creationId xmlns:a16="http://schemas.microsoft.com/office/drawing/2014/main" id="{646AAB36-4F8A-4E89-B38C-327D514370BB}"/>
              </a:ext>
            </a:extLst>
          </p:cNvPr>
          <p:cNvSpPr txBox="1"/>
          <p:nvPr>
            <p:custDataLst>
              <p:tags r:id="rId56"/>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0006</a:t>
            </a:r>
          </a:p>
        </p:txBody>
      </p:sp>
      <p:sp>
        <p:nvSpPr>
          <p:cNvPr id="33" name="Body1 19">
            <a:extLst>
              <a:ext uri="{FF2B5EF4-FFF2-40B4-BE49-F238E27FC236}">
                <a16:creationId xmlns:a16="http://schemas.microsoft.com/office/drawing/2014/main" id="{90CD9A33-8582-4B04-890A-BB408D9F7FE8}"/>
              </a:ext>
            </a:extLst>
          </p:cNvPr>
          <p:cNvSpPr txBox="1"/>
          <p:nvPr>
            <p:custDataLst>
              <p:tags r:id="rId57"/>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46" name="Body1 19">
            <a:extLst>
              <a:ext uri="{FF2B5EF4-FFF2-40B4-BE49-F238E27FC236}">
                <a16:creationId xmlns:a16="http://schemas.microsoft.com/office/drawing/2014/main" id="{5CCEF8FF-C821-466F-8B58-C08DEB7E4516}"/>
              </a:ext>
            </a:extLst>
          </p:cNvPr>
          <p:cNvSpPr txBox="1"/>
          <p:nvPr>
            <p:custDataLst>
              <p:tags r:id="rId58"/>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58" name="Body1 19">
            <a:extLst>
              <a:ext uri="{FF2B5EF4-FFF2-40B4-BE49-F238E27FC236}">
                <a16:creationId xmlns:a16="http://schemas.microsoft.com/office/drawing/2014/main" id="{19BFBAD4-6619-46A1-8B20-FA716E29F64C}"/>
              </a:ext>
            </a:extLst>
          </p:cNvPr>
          <p:cNvSpPr txBox="1"/>
          <p:nvPr>
            <p:custDataLst>
              <p:tags r:id="rId59"/>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70" name="Body1 19">
            <a:extLst>
              <a:ext uri="{FF2B5EF4-FFF2-40B4-BE49-F238E27FC236}">
                <a16:creationId xmlns:a16="http://schemas.microsoft.com/office/drawing/2014/main" id="{0B715B06-D994-4ACA-B07C-0E088FBAB9CB}"/>
              </a:ext>
            </a:extLst>
          </p:cNvPr>
          <p:cNvSpPr txBox="1"/>
          <p:nvPr>
            <p:custDataLst>
              <p:tags r:id="rId60"/>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85" name="Body1 19">
            <a:extLst>
              <a:ext uri="{FF2B5EF4-FFF2-40B4-BE49-F238E27FC236}">
                <a16:creationId xmlns:a16="http://schemas.microsoft.com/office/drawing/2014/main" id="{EE114926-89DD-4BB0-A379-00B7AC221637}"/>
              </a:ext>
            </a:extLst>
          </p:cNvPr>
          <p:cNvSpPr txBox="1"/>
          <p:nvPr>
            <p:custDataLst>
              <p:tags r:id="rId61"/>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97" name="Body1 19">
            <a:extLst>
              <a:ext uri="{FF2B5EF4-FFF2-40B4-BE49-F238E27FC236}">
                <a16:creationId xmlns:a16="http://schemas.microsoft.com/office/drawing/2014/main" id="{5646ED97-9B14-488C-87E7-84972E05BC36}"/>
              </a:ext>
            </a:extLst>
          </p:cNvPr>
          <p:cNvSpPr txBox="1"/>
          <p:nvPr>
            <p:custDataLst>
              <p:tags r:id="rId62"/>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0007</a:t>
            </a:r>
          </a:p>
        </p:txBody>
      </p:sp>
      <p:sp>
        <p:nvSpPr>
          <p:cNvPr id="32" name="Body1 19">
            <a:extLst>
              <a:ext uri="{FF2B5EF4-FFF2-40B4-BE49-F238E27FC236}">
                <a16:creationId xmlns:a16="http://schemas.microsoft.com/office/drawing/2014/main" id="{3373F6D4-21E0-4E06-9E95-510450785A8E}"/>
              </a:ext>
            </a:extLst>
          </p:cNvPr>
          <p:cNvSpPr txBox="1"/>
          <p:nvPr>
            <p:custDataLst>
              <p:tags r:id="rId63"/>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45" name="Body1 19">
            <a:extLst>
              <a:ext uri="{FF2B5EF4-FFF2-40B4-BE49-F238E27FC236}">
                <a16:creationId xmlns:a16="http://schemas.microsoft.com/office/drawing/2014/main" id="{21586B87-1622-4927-A434-E78B77B0CC6E}"/>
              </a:ext>
            </a:extLst>
          </p:cNvPr>
          <p:cNvSpPr txBox="1"/>
          <p:nvPr>
            <p:custDataLst>
              <p:tags r:id="rId64"/>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57" name="Body1 19">
            <a:extLst>
              <a:ext uri="{FF2B5EF4-FFF2-40B4-BE49-F238E27FC236}">
                <a16:creationId xmlns:a16="http://schemas.microsoft.com/office/drawing/2014/main" id="{6BAFDE86-F56D-4B87-A245-7864CFEEF323}"/>
              </a:ext>
            </a:extLst>
          </p:cNvPr>
          <p:cNvSpPr txBox="1"/>
          <p:nvPr>
            <p:custDataLst>
              <p:tags r:id="rId65"/>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69" name="Body1 19">
            <a:extLst>
              <a:ext uri="{FF2B5EF4-FFF2-40B4-BE49-F238E27FC236}">
                <a16:creationId xmlns:a16="http://schemas.microsoft.com/office/drawing/2014/main" id="{EE17E3A9-AB33-443A-A339-7E95B575368A}"/>
              </a:ext>
            </a:extLst>
          </p:cNvPr>
          <p:cNvSpPr txBox="1"/>
          <p:nvPr>
            <p:custDataLst>
              <p:tags r:id="rId66"/>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84" name="Body1 19">
            <a:extLst>
              <a:ext uri="{FF2B5EF4-FFF2-40B4-BE49-F238E27FC236}">
                <a16:creationId xmlns:a16="http://schemas.microsoft.com/office/drawing/2014/main" id="{A872B137-9BF1-452B-AAFA-CF553DEDEFAD}"/>
              </a:ext>
            </a:extLst>
          </p:cNvPr>
          <p:cNvSpPr txBox="1"/>
          <p:nvPr>
            <p:custDataLst>
              <p:tags r:id="rId67"/>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96" name="Body1 19">
            <a:extLst>
              <a:ext uri="{FF2B5EF4-FFF2-40B4-BE49-F238E27FC236}">
                <a16:creationId xmlns:a16="http://schemas.microsoft.com/office/drawing/2014/main" id="{E7334B0B-4DA7-48D2-956E-F85DF8143BC6}"/>
              </a:ext>
            </a:extLst>
          </p:cNvPr>
          <p:cNvSpPr txBox="1"/>
          <p:nvPr>
            <p:custDataLst>
              <p:tags r:id="rId68"/>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0008</a:t>
            </a:r>
          </a:p>
        </p:txBody>
      </p:sp>
      <p:sp>
        <p:nvSpPr>
          <p:cNvPr id="31" name="Body1 19">
            <a:extLst>
              <a:ext uri="{FF2B5EF4-FFF2-40B4-BE49-F238E27FC236}">
                <a16:creationId xmlns:a16="http://schemas.microsoft.com/office/drawing/2014/main" id="{CA31CD21-D243-44D5-9399-4F18B5D6D723}"/>
              </a:ext>
            </a:extLst>
          </p:cNvPr>
          <p:cNvSpPr txBox="1"/>
          <p:nvPr>
            <p:custDataLst>
              <p:tags r:id="rId69"/>
            </p:custDataLst>
          </p:nvPr>
        </p:nvSpPr>
        <p:spPr>
          <a:xfrm>
            <a:off x="7239884" y="1718643"/>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44" name="Body1 19">
            <a:extLst>
              <a:ext uri="{FF2B5EF4-FFF2-40B4-BE49-F238E27FC236}">
                <a16:creationId xmlns:a16="http://schemas.microsoft.com/office/drawing/2014/main" id="{4A838B58-2E82-4B77-8EAF-39FC5B9E8FAA}"/>
              </a:ext>
            </a:extLst>
          </p:cNvPr>
          <p:cNvSpPr txBox="1"/>
          <p:nvPr>
            <p:custDataLst>
              <p:tags r:id="rId70"/>
            </p:custDataLst>
          </p:nvPr>
        </p:nvSpPr>
        <p:spPr>
          <a:xfrm>
            <a:off x="5972561" y="522983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56" name="Body1 19">
            <a:extLst>
              <a:ext uri="{FF2B5EF4-FFF2-40B4-BE49-F238E27FC236}">
                <a16:creationId xmlns:a16="http://schemas.microsoft.com/office/drawing/2014/main" id="{6BC04A59-0AF3-45C5-8C23-93C5BB7D7505}"/>
              </a:ext>
            </a:extLst>
          </p:cNvPr>
          <p:cNvSpPr txBox="1"/>
          <p:nvPr>
            <p:custDataLst>
              <p:tags r:id="rId71"/>
            </p:custDataLst>
          </p:nvPr>
        </p:nvSpPr>
        <p:spPr>
          <a:xfrm>
            <a:off x="427662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68" name="Body1 19">
            <a:extLst>
              <a:ext uri="{FF2B5EF4-FFF2-40B4-BE49-F238E27FC236}">
                <a16:creationId xmlns:a16="http://schemas.microsoft.com/office/drawing/2014/main" id="{65F43F0F-62D2-414B-B08E-82C6F6FE0E46}"/>
              </a:ext>
            </a:extLst>
          </p:cNvPr>
          <p:cNvSpPr txBox="1"/>
          <p:nvPr>
            <p:custDataLst>
              <p:tags r:id="rId72"/>
            </p:custDataLst>
          </p:nvPr>
        </p:nvSpPr>
        <p:spPr>
          <a:xfrm>
            <a:off x="258068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83" name="Body1 19">
            <a:extLst>
              <a:ext uri="{FF2B5EF4-FFF2-40B4-BE49-F238E27FC236}">
                <a16:creationId xmlns:a16="http://schemas.microsoft.com/office/drawing/2014/main" id="{7DBFCFEC-9834-4600-A46C-1CE22392DD6E}"/>
              </a:ext>
            </a:extLst>
          </p:cNvPr>
          <p:cNvSpPr txBox="1"/>
          <p:nvPr>
            <p:custDataLst>
              <p:tags r:id="rId73"/>
            </p:custDataLst>
          </p:nvPr>
        </p:nvSpPr>
        <p:spPr>
          <a:xfrm>
            <a:off x="884741"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sp>
        <p:nvSpPr>
          <p:cNvPr id="95" name="Body1 19">
            <a:extLst>
              <a:ext uri="{FF2B5EF4-FFF2-40B4-BE49-F238E27FC236}">
                <a16:creationId xmlns:a16="http://schemas.microsoft.com/office/drawing/2014/main" id="{821D2D41-3736-4F08-B736-250D91DAFF3B}"/>
              </a:ext>
            </a:extLst>
          </p:cNvPr>
          <p:cNvSpPr txBox="1"/>
          <p:nvPr>
            <p:custDataLst>
              <p:tags r:id="rId74"/>
            </p:custDataLst>
          </p:nvPr>
        </p:nvSpPr>
        <p:spPr>
          <a:xfrm>
            <a:off x="10088912" y="5228666"/>
            <a:ext cx="804040" cy="341632"/>
          </a:xfrm>
          <a:prstGeom prst="rect">
            <a:avLst/>
          </a:prstGeom>
          <a:solidFill>
            <a:schemeClr val="bg1"/>
          </a:solidFill>
        </p:spPr>
        <p:txBody>
          <a:bodyPr vert="horz"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0009</a:t>
            </a:r>
          </a:p>
        </p:txBody>
      </p:sp>
      <p:cxnSp>
        <p:nvCxnSpPr>
          <p:cNvPr id="126" name="Straight Arrow Connector 125">
            <a:extLst>
              <a:ext uri="{FF2B5EF4-FFF2-40B4-BE49-F238E27FC236}">
                <a16:creationId xmlns:a16="http://schemas.microsoft.com/office/drawing/2014/main" id="{9F2D89A3-DE2A-4FFB-85B9-03131C03E64D}"/>
              </a:ext>
            </a:extLst>
          </p:cNvPr>
          <p:cNvCxnSpPr>
            <a:cxnSpLocks/>
            <a:stCxn id="7" idx="3"/>
          </p:cNvCxnSpPr>
          <p:nvPr/>
        </p:nvCxnSpPr>
        <p:spPr>
          <a:xfrm flipH="1">
            <a:off x="3934515" y="2066206"/>
            <a:ext cx="1951486" cy="933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31DBC3AA-37C7-4273-AC56-2D069F051714}"/>
              </a:ext>
            </a:extLst>
          </p:cNvPr>
          <p:cNvCxnSpPr>
            <a:cxnSpLocks/>
          </p:cNvCxnSpPr>
          <p:nvPr/>
        </p:nvCxnSpPr>
        <p:spPr>
          <a:xfrm flipH="1">
            <a:off x="4276621" y="2031270"/>
            <a:ext cx="1819377" cy="1120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39289474-3277-4E58-B47A-1C983196F9A1}"/>
              </a:ext>
            </a:extLst>
          </p:cNvPr>
          <p:cNvCxnSpPr>
            <a:cxnSpLocks/>
            <a:stCxn id="7" idx="4"/>
          </p:cNvCxnSpPr>
          <p:nvPr/>
        </p:nvCxnSpPr>
        <p:spPr>
          <a:xfrm flipH="1">
            <a:off x="4952115" y="2153190"/>
            <a:ext cx="1143885" cy="1120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298A9A93-68B5-4D6E-A9C0-5DCEB4BA5E4A}"/>
              </a:ext>
            </a:extLst>
          </p:cNvPr>
          <p:cNvCxnSpPr>
            <a:cxnSpLocks/>
            <a:stCxn id="7" idx="4"/>
          </p:cNvCxnSpPr>
          <p:nvPr/>
        </p:nvCxnSpPr>
        <p:spPr>
          <a:xfrm>
            <a:off x="6096000" y="2153190"/>
            <a:ext cx="0" cy="1120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D066FAE4-BE63-41A3-8DF6-CCF1E1F10EAD}"/>
              </a:ext>
            </a:extLst>
          </p:cNvPr>
          <p:cNvCxnSpPr>
            <a:cxnSpLocks/>
            <a:stCxn id="7" idx="5"/>
          </p:cNvCxnSpPr>
          <p:nvPr/>
        </p:nvCxnSpPr>
        <p:spPr>
          <a:xfrm>
            <a:off x="6305998" y="2066206"/>
            <a:ext cx="1531065" cy="998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44" name="Group 143">
            <a:extLst>
              <a:ext uri="{FF2B5EF4-FFF2-40B4-BE49-F238E27FC236}">
                <a16:creationId xmlns:a16="http://schemas.microsoft.com/office/drawing/2014/main" id="{990F8887-2414-496B-8B9A-D7412276F3E1}"/>
              </a:ext>
            </a:extLst>
          </p:cNvPr>
          <p:cNvGrpSpPr/>
          <p:nvPr/>
        </p:nvGrpSpPr>
        <p:grpSpPr>
          <a:xfrm>
            <a:off x="2608489" y="3034441"/>
            <a:ext cx="1552463" cy="258533"/>
            <a:chOff x="2580681" y="2136708"/>
            <a:chExt cx="1552463" cy="258533"/>
          </a:xfrm>
        </p:grpSpPr>
        <p:sp>
          <p:nvSpPr>
            <p:cNvPr id="145" name="Body1 19">
              <a:extLst>
                <a:ext uri="{FF2B5EF4-FFF2-40B4-BE49-F238E27FC236}">
                  <a16:creationId xmlns:a16="http://schemas.microsoft.com/office/drawing/2014/main" id="{D1744D6E-A8AF-477D-9919-AE14B87DFE88}"/>
                </a:ext>
              </a:extLst>
            </p:cNvPr>
            <p:cNvSpPr txBox="1"/>
            <p:nvPr>
              <p:custDataLst>
                <p:tags r:id="rId79"/>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46" name="Rectangle 145">
              <a:extLst>
                <a:ext uri="{FF2B5EF4-FFF2-40B4-BE49-F238E27FC236}">
                  <a16:creationId xmlns:a16="http://schemas.microsoft.com/office/drawing/2014/main" id="{C5CDF4BA-1ECB-421C-A27F-604D08F701B2}"/>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47" name="Group 146">
            <a:extLst>
              <a:ext uri="{FF2B5EF4-FFF2-40B4-BE49-F238E27FC236}">
                <a16:creationId xmlns:a16="http://schemas.microsoft.com/office/drawing/2014/main" id="{97088599-E062-4945-8762-1487E721DA72}"/>
              </a:ext>
            </a:extLst>
          </p:cNvPr>
          <p:cNvGrpSpPr/>
          <p:nvPr/>
        </p:nvGrpSpPr>
        <p:grpSpPr>
          <a:xfrm>
            <a:off x="3039322" y="3327909"/>
            <a:ext cx="1552463" cy="258533"/>
            <a:chOff x="2580681" y="2136708"/>
            <a:chExt cx="1552463" cy="258533"/>
          </a:xfrm>
        </p:grpSpPr>
        <p:sp>
          <p:nvSpPr>
            <p:cNvPr id="148" name="Body1 19">
              <a:extLst>
                <a:ext uri="{FF2B5EF4-FFF2-40B4-BE49-F238E27FC236}">
                  <a16:creationId xmlns:a16="http://schemas.microsoft.com/office/drawing/2014/main" id="{C2E8B8EF-366C-4CC4-AC1D-D164C908E775}"/>
                </a:ext>
              </a:extLst>
            </p:cNvPr>
            <p:cNvSpPr txBox="1"/>
            <p:nvPr>
              <p:custDataLst>
                <p:tags r:id="rId78"/>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49" name="Rectangle 148">
              <a:extLst>
                <a:ext uri="{FF2B5EF4-FFF2-40B4-BE49-F238E27FC236}">
                  <a16:creationId xmlns:a16="http://schemas.microsoft.com/office/drawing/2014/main" id="{4A150ABB-4A54-4ED4-A98F-011DB47EFE2A}"/>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50" name="Group 149">
            <a:extLst>
              <a:ext uri="{FF2B5EF4-FFF2-40B4-BE49-F238E27FC236}">
                <a16:creationId xmlns:a16="http://schemas.microsoft.com/office/drawing/2014/main" id="{93826419-94E2-4E57-ACE3-E0D0EF8B02C2}"/>
              </a:ext>
            </a:extLst>
          </p:cNvPr>
          <p:cNvGrpSpPr/>
          <p:nvPr/>
        </p:nvGrpSpPr>
        <p:grpSpPr>
          <a:xfrm>
            <a:off x="4410077" y="3342357"/>
            <a:ext cx="1552463" cy="258533"/>
            <a:chOff x="2580681" y="2136708"/>
            <a:chExt cx="1552463" cy="258533"/>
          </a:xfrm>
        </p:grpSpPr>
        <p:sp>
          <p:nvSpPr>
            <p:cNvPr id="151" name="Body1 19">
              <a:extLst>
                <a:ext uri="{FF2B5EF4-FFF2-40B4-BE49-F238E27FC236}">
                  <a16:creationId xmlns:a16="http://schemas.microsoft.com/office/drawing/2014/main" id="{70E8F72C-BDE8-4E12-8D98-314F7BA614CF}"/>
                </a:ext>
              </a:extLst>
            </p:cNvPr>
            <p:cNvSpPr txBox="1"/>
            <p:nvPr>
              <p:custDataLst>
                <p:tags r:id="rId77"/>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52" name="Rectangle 151">
              <a:extLst>
                <a:ext uri="{FF2B5EF4-FFF2-40B4-BE49-F238E27FC236}">
                  <a16:creationId xmlns:a16="http://schemas.microsoft.com/office/drawing/2014/main" id="{D6EC2CFC-25A2-4170-8B6F-2D1CE975205C}"/>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53" name="Group 152">
            <a:extLst>
              <a:ext uri="{FF2B5EF4-FFF2-40B4-BE49-F238E27FC236}">
                <a16:creationId xmlns:a16="http://schemas.microsoft.com/office/drawing/2014/main" id="{1FB3302C-7A96-41FA-A521-2D7F409F13B4}"/>
              </a:ext>
            </a:extLst>
          </p:cNvPr>
          <p:cNvGrpSpPr/>
          <p:nvPr/>
        </p:nvGrpSpPr>
        <p:grpSpPr>
          <a:xfrm>
            <a:off x="5890008" y="3296841"/>
            <a:ext cx="1552463" cy="258533"/>
            <a:chOff x="2580681" y="2136708"/>
            <a:chExt cx="1552463" cy="258533"/>
          </a:xfrm>
        </p:grpSpPr>
        <p:sp>
          <p:nvSpPr>
            <p:cNvPr id="154" name="Body1 19">
              <a:extLst>
                <a:ext uri="{FF2B5EF4-FFF2-40B4-BE49-F238E27FC236}">
                  <a16:creationId xmlns:a16="http://schemas.microsoft.com/office/drawing/2014/main" id="{8613A96C-51EF-41F2-8436-45A799C8B0DB}"/>
                </a:ext>
              </a:extLst>
            </p:cNvPr>
            <p:cNvSpPr txBox="1"/>
            <p:nvPr>
              <p:custDataLst>
                <p:tags r:id="rId76"/>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55" name="Rectangle 154">
              <a:extLst>
                <a:ext uri="{FF2B5EF4-FFF2-40B4-BE49-F238E27FC236}">
                  <a16:creationId xmlns:a16="http://schemas.microsoft.com/office/drawing/2014/main" id="{4014E369-C31D-4B9A-ACB1-92A097D36C5F}"/>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56" name="Group 155">
            <a:extLst>
              <a:ext uri="{FF2B5EF4-FFF2-40B4-BE49-F238E27FC236}">
                <a16:creationId xmlns:a16="http://schemas.microsoft.com/office/drawing/2014/main" id="{0F29F158-BC69-4BA4-91E0-E6E011EF3B71}"/>
              </a:ext>
            </a:extLst>
          </p:cNvPr>
          <p:cNvGrpSpPr/>
          <p:nvPr/>
        </p:nvGrpSpPr>
        <p:grpSpPr>
          <a:xfrm>
            <a:off x="7548421" y="3083824"/>
            <a:ext cx="1552463" cy="258533"/>
            <a:chOff x="2580681" y="2136708"/>
            <a:chExt cx="1552463" cy="258533"/>
          </a:xfrm>
        </p:grpSpPr>
        <p:sp>
          <p:nvSpPr>
            <p:cNvPr id="157" name="Body1 19">
              <a:extLst>
                <a:ext uri="{FF2B5EF4-FFF2-40B4-BE49-F238E27FC236}">
                  <a16:creationId xmlns:a16="http://schemas.microsoft.com/office/drawing/2014/main" id="{98118F16-5A5A-467F-8FB1-18BABBF6C67D}"/>
                </a:ext>
              </a:extLst>
            </p:cNvPr>
            <p:cNvSpPr txBox="1"/>
            <p:nvPr>
              <p:custDataLst>
                <p:tags r:id="rId75"/>
              </p:custDataLst>
            </p:nvPr>
          </p:nvSpPr>
          <p:spPr>
            <a:xfrm>
              <a:off x="2580681" y="2136708"/>
              <a:ext cx="1552463" cy="258532"/>
            </a:xfrm>
            <a:prstGeom prst="rect">
              <a:avLst/>
            </a:prstGeom>
            <a:solidFill>
              <a:schemeClr val="bg1"/>
            </a:solidFill>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Deadline: 0009 | …</a:t>
              </a:r>
            </a:p>
          </p:txBody>
        </p:sp>
        <p:sp>
          <p:nvSpPr>
            <p:cNvPr id="158" name="Rectangle 157">
              <a:extLst>
                <a:ext uri="{FF2B5EF4-FFF2-40B4-BE49-F238E27FC236}">
                  <a16:creationId xmlns:a16="http://schemas.microsoft.com/office/drawing/2014/main" id="{90F9EAE7-6895-41D6-AC2E-3860ECC1FDDB}"/>
                </a:ext>
              </a:extLst>
            </p:cNvPr>
            <p:cNvSpPr/>
            <p:nvPr/>
          </p:nvSpPr>
          <p:spPr>
            <a:xfrm>
              <a:off x="2580681" y="2141063"/>
              <a:ext cx="1353834" cy="254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60" name="TextBox 159">
            <a:extLst>
              <a:ext uri="{FF2B5EF4-FFF2-40B4-BE49-F238E27FC236}">
                <a16:creationId xmlns:a16="http://schemas.microsoft.com/office/drawing/2014/main" id="{E5A0256E-3604-4B3E-A1A7-709CE800AF30}"/>
              </a:ext>
            </a:extLst>
          </p:cNvPr>
          <p:cNvSpPr txBox="1"/>
          <p:nvPr/>
        </p:nvSpPr>
        <p:spPr>
          <a:xfrm>
            <a:off x="8225338" y="1566293"/>
            <a:ext cx="3508035" cy="646331"/>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Senders and receivers synchronized to the same clock</a:t>
            </a:r>
          </a:p>
        </p:txBody>
      </p:sp>
      <p:sp>
        <p:nvSpPr>
          <p:cNvPr id="161" name="TextBox 160">
            <a:extLst>
              <a:ext uri="{FF2B5EF4-FFF2-40B4-BE49-F238E27FC236}">
                <a16:creationId xmlns:a16="http://schemas.microsoft.com/office/drawing/2014/main" id="{69F570CE-CAEF-44EF-8650-BAD57D2C972D}"/>
              </a:ext>
            </a:extLst>
          </p:cNvPr>
          <p:cNvSpPr txBox="1"/>
          <p:nvPr/>
        </p:nvSpPr>
        <p:spPr>
          <a:xfrm>
            <a:off x="1716673" y="1702466"/>
            <a:ext cx="2605992" cy="646331"/>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Sender attaches deadline to message</a:t>
            </a:r>
          </a:p>
        </p:txBody>
      </p:sp>
      <p:sp>
        <p:nvSpPr>
          <p:cNvPr id="162" name="TextBox 161">
            <a:extLst>
              <a:ext uri="{FF2B5EF4-FFF2-40B4-BE49-F238E27FC236}">
                <a16:creationId xmlns:a16="http://schemas.microsoft.com/office/drawing/2014/main" id="{F138A0BE-6339-4581-85B6-F44507B7197D}"/>
              </a:ext>
            </a:extLst>
          </p:cNvPr>
          <p:cNvSpPr txBox="1"/>
          <p:nvPr/>
        </p:nvSpPr>
        <p:spPr>
          <a:xfrm>
            <a:off x="5347853" y="5839876"/>
            <a:ext cx="4242459" cy="646331"/>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Receiver processes message when deadline is reached on receiver clock</a:t>
            </a:r>
          </a:p>
        </p:txBody>
      </p:sp>
      <p:sp>
        <p:nvSpPr>
          <p:cNvPr id="163" name="TextBox 162">
            <a:extLst>
              <a:ext uri="{FF2B5EF4-FFF2-40B4-BE49-F238E27FC236}">
                <a16:creationId xmlns:a16="http://schemas.microsoft.com/office/drawing/2014/main" id="{9DB03882-3D54-4E07-BDCE-1ED5C514426A}"/>
              </a:ext>
            </a:extLst>
          </p:cNvPr>
          <p:cNvSpPr txBox="1"/>
          <p:nvPr/>
        </p:nvSpPr>
        <p:spPr>
          <a:xfrm>
            <a:off x="9168860" y="2650526"/>
            <a:ext cx="2564514" cy="923330"/>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Sender multicasts message to all receivers</a:t>
            </a:r>
          </a:p>
        </p:txBody>
      </p:sp>
      <p:sp>
        <p:nvSpPr>
          <p:cNvPr id="164" name="TextBox 163">
            <a:extLst>
              <a:ext uri="{FF2B5EF4-FFF2-40B4-BE49-F238E27FC236}">
                <a16:creationId xmlns:a16="http://schemas.microsoft.com/office/drawing/2014/main" id="{C9FE7DAE-6D53-48A7-8882-13FB69662FE3}"/>
              </a:ext>
            </a:extLst>
          </p:cNvPr>
          <p:cNvSpPr txBox="1"/>
          <p:nvPr/>
        </p:nvSpPr>
        <p:spPr>
          <a:xfrm>
            <a:off x="7245227" y="3905199"/>
            <a:ext cx="4711246" cy="369332"/>
          </a:xfrm>
          <a:prstGeom prst="rect">
            <a:avLst/>
          </a:prstGeom>
        </p:spPr>
        <p:txBody>
          <a:bodyPr vert="horz" wrap="square" lIns="91440" tIns="45720" rIns="91440" bIns="45720" rtlCol="0">
            <a:spAutoFit/>
          </a:bodyPr>
          <a:lstStyle>
            <a:lvl1pPr marL="228600" lvl="0" indent="-228600">
              <a:lnSpc>
                <a:spcPct val="90000"/>
              </a:lnSpc>
              <a:spcBef>
                <a:spcPts val="1000"/>
              </a:spcBef>
              <a:buFont typeface="Arial" panose="020B0604020202020204" pitchFamily="34" charset="0"/>
              <a:buChar char="•"/>
              <a:defRPr sz="2800"/>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lvl="3" indent="-228600">
              <a:lnSpc>
                <a:spcPct val="90000"/>
              </a:lnSpc>
              <a:spcBef>
                <a:spcPts val="500"/>
              </a:spcBef>
              <a:buFont typeface="Arial" panose="020B0604020202020204" pitchFamily="34" charset="0"/>
              <a:buChar char="•"/>
            </a:lvl4pPr>
            <a:lvl5pPr marL="2057400" lvl="4"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Messages arrive at unpredictable times</a:t>
            </a:r>
          </a:p>
        </p:txBody>
      </p:sp>
      <p:graphicFrame>
        <p:nvGraphicFramePr>
          <p:cNvPr id="2" name="Table 1">
            <a:extLst>
              <a:ext uri="{FF2B5EF4-FFF2-40B4-BE49-F238E27FC236}">
                <a16:creationId xmlns:a16="http://schemas.microsoft.com/office/drawing/2014/main" id="{184D5B01-11C9-71C4-1148-9389A1D29CB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5" name="TextBox 4">
            <a:extLst>
              <a:ext uri="{FF2B5EF4-FFF2-40B4-BE49-F238E27FC236}">
                <a16:creationId xmlns:a16="http://schemas.microsoft.com/office/drawing/2014/main" id="{E4DCD534-ECB9-9312-7FDE-12FF9B46E657}"/>
              </a:ext>
            </a:extLst>
          </p:cNvPr>
          <p:cNvSpPr txBox="1"/>
          <p:nvPr/>
        </p:nvSpPr>
        <p:spPr>
          <a:xfrm>
            <a:off x="569979" y="476910"/>
            <a:ext cx="3326552"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Hold-and-release</a:t>
            </a:r>
          </a:p>
        </p:txBody>
      </p:sp>
    </p:spTree>
    <p:extLst>
      <p:ext uri="{BB962C8B-B14F-4D97-AF65-F5344CB8AC3E}">
        <p14:creationId xmlns:p14="http://schemas.microsoft.com/office/powerpoint/2010/main" val="20190365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500"/>
                                  </p:stCondLst>
                                  <p:childTnLst>
                                    <p:set>
                                      <p:cBhvr>
                                        <p:cTn id="46" dur="1" fill="hold">
                                          <p:stCondLst>
                                            <p:cond delay="0"/>
                                          </p:stCondLst>
                                        </p:cTn>
                                        <p:tgtEl>
                                          <p:spTgt spid="102"/>
                                        </p:tgtEl>
                                        <p:attrNameLst>
                                          <p:attrName>style.visibility</p:attrName>
                                        </p:attrNameLst>
                                      </p:cBhvr>
                                      <p:to>
                                        <p:strVal val="visible"/>
                                      </p:to>
                                    </p:set>
                                  </p:childTnLst>
                                </p:cTn>
                              </p:par>
                              <p:par>
                                <p:cTn id="47" presetID="1" presetClass="entr" presetSubtype="0" fill="hold" grpId="0" nodeType="withEffect">
                                  <p:stCondLst>
                                    <p:cond delay="500"/>
                                  </p:stCondLst>
                                  <p:childTnLst>
                                    <p:set>
                                      <p:cBhvr>
                                        <p:cTn id="48" dur="1" fill="hold">
                                          <p:stCondLst>
                                            <p:cond delay="0"/>
                                          </p:stCondLst>
                                        </p:cTn>
                                        <p:tgtEl>
                                          <p:spTgt spid="90"/>
                                        </p:tgtEl>
                                        <p:attrNameLst>
                                          <p:attrName>style.visibility</p:attrName>
                                        </p:attrNameLst>
                                      </p:cBhvr>
                                      <p:to>
                                        <p:strVal val="visible"/>
                                      </p:to>
                                    </p:set>
                                  </p:childTnLst>
                                </p:cTn>
                              </p:par>
                              <p:par>
                                <p:cTn id="49" presetID="1" presetClass="entr" presetSubtype="0" fill="hold" grpId="0" nodeType="withEffect">
                                  <p:stCondLst>
                                    <p:cond delay="500"/>
                                  </p:stCondLst>
                                  <p:childTnLst>
                                    <p:set>
                                      <p:cBhvr>
                                        <p:cTn id="50" dur="1" fill="hold">
                                          <p:stCondLst>
                                            <p:cond delay="0"/>
                                          </p:stCondLst>
                                        </p:cTn>
                                        <p:tgtEl>
                                          <p:spTgt spid="75"/>
                                        </p:tgtEl>
                                        <p:attrNameLst>
                                          <p:attrName>style.visibility</p:attrName>
                                        </p:attrNameLst>
                                      </p:cBhvr>
                                      <p:to>
                                        <p:strVal val="visible"/>
                                      </p:to>
                                    </p:set>
                                  </p:childTnLst>
                                </p:cTn>
                              </p:par>
                              <p:par>
                                <p:cTn id="51" presetID="1" presetClass="entr" presetSubtype="0" fill="hold" grpId="0" nodeType="withEffect">
                                  <p:stCondLst>
                                    <p:cond delay="50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grpId="0" nodeType="withEffect">
                                  <p:stCondLst>
                                    <p:cond delay="50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grpId="0" nodeType="withEffect">
                                  <p:stCondLst>
                                    <p:cond delay="50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750"/>
                                  </p:stCondLst>
                                  <p:childTnLst>
                                    <p:set>
                                      <p:cBhvr>
                                        <p:cTn id="58" dur="1" fill="hold">
                                          <p:stCondLst>
                                            <p:cond delay="0"/>
                                          </p:stCondLst>
                                        </p:cTn>
                                        <p:tgtEl>
                                          <p:spTgt spid="101"/>
                                        </p:tgtEl>
                                        <p:attrNameLst>
                                          <p:attrName>style.visibility</p:attrName>
                                        </p:attrNameLst>
                                      </p:cBhvr>
                                      <p:to>
                                        <p:strVal val="visible"/>
                                      </p:to>
                                    </p:set>
                                  </p:childTnLst>
                                </p:cTn>
                              </p:par>
                              <p:par>
                                <p:cTn id="59" presetID="1" presetClass="entr" presetSubtype="0" fill="hold" grpId="0" nodeType="withEffect">
                                  <p:stCondLst>
                                    <p:cond delay="500"/>
                                  </p:stCondLst>
                                  <p:childTnLst>
                                    <p:set>
                                      <p:cBhvr>
                                        <p:cTn id="60" dur="1" fill="hold">
                                          <p:stCondLst>
                                            <p:cond delay="0"/>
                                          </p:stCondLst>
                                        </p:cTn>
                                        <p:tgtEl>
                                          <p:spTgt spid="89"/>
                                        </p:tgtEl>
                                        <p:attrNameLst>
                                          <p:attrName>style.visibility</p:attrName>
                                        </p:attrNameLst>
                                      </p:cBhvr>
                                      <p:to>
                                        <p:strVal val="visible"/>
                                      </p:to>
                                    </p:set>
                                  </p:childTnLst>
                                </p:cTn>
                              </p:par>
                              <p:par>
                                <p:cTn id="61" presetID="1" presetClass="entr" presetSubtype="0" fill="hold" grpId="0" nodeType="withEffect">
                                  <p:stCondLst>
                                    <p:cond delay="50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grpId="0" nodeType="withEffect">
                                  <p:stCondLst>
                                    <p:cond delay="50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grpId="0" nodeType="withEffect">
                                  <p:stCondLst>
                                    <p:cond delay="50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grpId="0" nodeType="withEffect">
                                  <p:stCondLst>
                                    <p:cond delay="500"/>
                                  </p:stCondLst>
                                  <p:childTnLst>
                                    <p:set>
                                      <p:cBhvr>
                                        <p:cTn id="68" dur="1" fill="hold">
                                          <p:stCondLst>
                                            <p:cond delay="0"/>
                                          </p:stCondLst>
                                        </p:cTn>
                                        <p:tgtEl>
                                          <p:spTgt spid="37"/>
                                        </p:tgtEl>
                                        <p:attrNameLst>
                                          <p:attrName>style.visibility</p:attrName>
                                        </p:attrNameLst>
                                      </p:cBhvr>
                                      <p:to>
                                        <p:strVal val="visible"/>
                                      </p:to>
                                    </p:set>
                                  </p:childTnLst>
                                </p:cTn>
                              </p:par>
                            </p:childTnLst>
                          </p:cTn>
                        </p:par>
                        <p:par>
                          <p:cTn id="69" fill="hold">
                            <p:stCondLst>
                              <p:cond delay="750"/>
                            </p:stCondLst>
                            <p:childTnLst>
                              <p:par>
                                <p:cTn id="70" presetID="1" presetClass="entr" presetSubtype="0" fill="hold" nodeType="afterEffect">
                                  <p:stCondLst>
                                    <p:cond delay="0"/>
                                  </p:stCondLst>
                                  <p:childTnLst>
                                    <p:set>
                                      <p:cBhvr>
                                        <p:cTn id="71" dur="1" fill="hold">
                                          <p:stCondLst>
                                            <p:cond delay="0"/>
                                          </p:stCondLst>
                                        </p:cTn>
                                        <p:tgtEl>
                                          <p:spTgt spid="14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61"/>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136"/>
                                        </p:tgtEl>
                                        <p:attrNameLst>
                                          <p:attrName>style.visibility</p:attrName>
                                        </p:attrNameLst>
                                      </p:cBhvr>
                                      <p:to>
                                        <p:strVal val="visible"/>
                                      </p:to>
                                    </p:set>
                                    <p:animEffect transition="in" filter="wipe(up)">
                                      <p:cBhvr>
                                        <p:cTn id="78" dur="10"/>
                                        <p:tgtEl>
                                          <p:spTgt spid="136"/>
                                        </p:tgtEl>
                                      </p:cBhvr>
                                    </p:animEffect>
                                  </p:childTnLst>
                                </p:cTn>
                              </p:par>
                              <p:par>
                                <p:cTn id="79" presetID="22" presetClass="entr" presetSubtype="1" fill="hold" nodeType="withEffect">
                                  <p:stCondLst>
                                    <p:cond delay="0"/>
                                  </p:stCondLst>
                                  <p:childTnLst>
                                    <p:set>
                                      <p:cBhvr>
                                        <p:cTn id="80" dur="1" fill="hold">
                                          <p:stCondLst>
                                            <p:cond delay="0"/>
                                          </p:stCondLst>
                                        </p:cTn>
                                        <p:tgtEl>
                                          <p:spTgt spid="133"/>
                                        </p:tgtEl>
                                        <p:attrNameLst>
                                          <p:attrName>style.visibility</p:attrName>
                                        </p:attrNameLst>
                                      </p:cBhvr>
                                      <p:to>
                                        <p:strVal val="visible"/>
                                      </p:to>
                                    </p:set>
                                    <p:animEffect transition="in" filter="wipe(up)">
                                      <p:cBhvr>
                                        <p:cTn id="81" dur="10"/>
                                        <p:tgtEl>
                                          <p:spTgt spid="133"/>
                                        </p:tgtEl>
                                      </p:cBhvr>
                                    </p:animEffect>
                                  </p:childTnLst>
                                </p:cTn>
                              </p:par>
                              <p:par>
                                <p:cTn id="82" presetID="22" presetClass="entr" presetSubtype="1" fill="hold" nodeType="withEffect">
                                  <p:stCondLst>
                                    <p:cond delay="0"/>
                                  </p:stCondLst>
                                  <p:childTnLst>
                                    <p:set>
                                      <p:cBhvr>
                                        <p:cTn id="83" dur="1" fill="hold">
                                          <p:stCondLst>
                                            <p:cond delay="0"/>
                                          </p:stCondLst>
                                        </p:cTn>
                                        <p:tgtEl>
                                          <p:spTgt spid="130"/>
                                        </p:tgtEl>
                                        <p:attrNameLst>
                                          <p:attrName>style.visibility</p:attrName>
                                        </p:attrNameLst>
                                      </p:cBhvr>
                                      <p:to>
                                        <p:strVal val="visible"/>
                                      </p:to>
                                    </p:set>
                                    <p:animEffect transition="in" filter="wipe(up)">
                                      <p:cBhvr>
                                        <p:cTn id="84" dur="10"/>
                                        <p:tgtEl>
                                          <p:spTgt spid="130"/>
                                        </p:tgtEl>
                                      </p:cBhvr>
                                    </p:animEffect>
                                  </p:childTnLst>
                                </p:cTn>
                              </p:par>
                              <p:par>
                                <p:cTn id="85" presetID="22" presetClass="entr" presetSubtype="1" fill="hold" nodeType="withEffect">
                                  <p:stCondLst>
                                    <p:cond delay="0"/>
                                  </p:stCondLst>
                                  <p:childTnLst>
                                    <p:set>
                                      <p:cBhvr>
                                        <p:cTn id="86" dur="1" fill="hold">
                                          <p:stCondLst>
                                            <p:cond delay="0"/>
                                          </p:stCondLst>
                                        </p:cTn>
                                        <p:tgtEl>
                                          <p:spTgt spid="127"/>
                                        </p:tgtEl>
                                        <p:attrNameLst>
                                          <p:attrName>style.visibility</p:attrName>
                                        </p:attrNameLst>
                                      </p:cBhvr>
                                      <p:to>
                                        <p:strVal val="visible"/>
                                      </p:to>
                                    </p:set>
                                    <p:animEffect transition="in" filter="wipe(up)">
                                      <p:cBhvr>
                                        <p:cTn id="87" dur="10"/>
                                        <p:tgtEl>
                                          <p:spTgt spid="127"/>
                                        </p:tgtEl>
                                      </p:cBhvr>
                                    </p:animEffect>
                                  </p:childTnLst>
                                </p:cTn>
                              </p:par>
                              <p:par>
                                <p:cTn id="88" presetID="22" presetClass="entr" presetSubtype="1" fill="hold" nodeType="withEffect">
                                  <p:stCondLst>
                                    <p:cond delay="0"/>
                                  </p:stCondLst>
                                  <p:childTnLst>
                                    <p:set>
                                      <p:cBhvr>
                                        <p:cTn id="89" dur="1" fill="hold">
                                          <p:stCondLst>
                                            <p:cond delay="0"/>
                                          </p:stCondLst>
                                        </p:cTn>
                                        <p:tgtEl>
                                          <p:spTgt spid="126"/>
                                        </p:tgtEl>
                                        <p:attrNameLst>
                                          <p:attrName>style.visibility</p:attrName>
                                        </p:attrNameLst>
                                      </p:cBhvr>
                                      <p:to>
                                        <p:strVal val="visible"/>
                                      </p:to>
                                    </p:set>
                                    <p:animEffect transition="in" filter="wipe(up)">
                                      <p:cBhvr>
                                        <p:cTn id="90" dur="10"/>
                                        <p:tgtEl>
                                          <p:spTgt spid="126"/>
                                        </p:tgtEl>
                                      </p:cBhvr>
                                    </p:animEffect>
                                  </p:childTnLst>
                                </p:cTn>
                              </p:par>
                              <p:par>
                                <p:cTn id="91" presetID="1" presetClass="entr" presetSubtype="0" fill="hold" nodeType="withEffect">
                                  <p:stCondLst>
                                    <p:cond delay="0"/>
                                  </p:stCondLst>
                                  <p:childTnLst>
                                    <p:set>
                                      <p:cBhvr>
                                        <p:cTn id="92" dur="1" fill="hold">
                                          <p:stCondLst>
                                            <p:cond delay="0"/>
                                          </p:stCondLst>
                                        </p:cTn>
                                        <p:tgtEl>
                                          <p:spTgt spid="14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5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50"/>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4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0"/>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8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6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6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9"/>
                                        </p:tgtEl>
                                        <p:attrNameLst>
                                          <p:attrName>style.visibility</p:attrName>
                                        </p:attrNameLst>
                                      </p:cBhvr>
                                      <p:to>
                                        <p:strVal val="visible"/>
                                      </p:to>
                                    </p:set>
                                  </p:childTnLst>
                                </p:cTn>
                              </p:par>
                              <p:par>
                                <p:cTn id="129" presetID="42" presetClass="path" presetSubtype="0" accel="50000" decel="50000" fill="hold" nodeType="withEffect">
                                  <p:stCondLst>
                                    <p:cond delay="0"/>
                                  </p:stCondLst>
                                  <p:childTnLst>
                                    <p:animMotion origin="layout" path="M -4.16667E-6 -1.11111E-6 L -0.16015 0.19329 " pathEditMode="relative" rAng="0" ptsTypes="AA">
                                      <p:cBhvr>
                                        <p:cTn id="130" dur="500" fill="hold"/>
                                        <p:tgtEl>
                                          <p:spTgt spid="144"/>
                                        </p:tgtEl>
                                        <p:attrNameLst>
                                          <p:attrName>ppt_x</p:attrName>
                                          <p:attrName>ppt_y</p:attrName>
                                        </p:attrNameLst>
                                      </p:cBhvr>
                                      <p:rCtr x="-8008" y="9653"/>
                                    </p:animMotion>
                                  </p:childTnLst>
                                </p:cTn>
                              </p:par>
                              <p:par>
                                <p:cTn id="131" presetID="42" presetClass="path" presetSubtype="0" accel="50000" decel="50000" fill="hold" nodeType="withEffect">
                                  <p:stCondLst>
                                    <p:cond delay="0"/>
                                  </p:stCondLst>
                                  <p:childTnLst>
                                    <p:animMotion origin="layout" path="M -4.79167E-6 2.96296E-6 L -0.00013 0.14791 " pathEditMode="relative" rAng="0" ptsTypes="AA">
                                      <p:cBhvr>
                                        <p:cTn id="132" dur="500" fill="hold"/>
                                        <p:tgtEl>
                                          <p:spTgt spid="153"/>
                                        </p:tgtEl>
                                        <p:attrNameLst>
                                          <p:attrName>ppt_x</p:attrName>
                                          <p:attrName>ppt_y</p:attrName>
                                        </p:attrNameLst>
                                      </p:cBhvr>
                                      <p:rCtr x="-13" y="7384"/>
                                    </p:animMotion>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4"/>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4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6"/>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98"/>
                                        </p:tgtEl>
                                        <p:attrNameLst>
                                          <p:attrName>style.visibility</p:attrName>
                                        </p:attrNameLst>
                                      </p:cBhvr>
                                      <p:to>
                                        <p:strVal val="visible"/>
                                      </p:to>
                                    </p:set>
                                  </p:childTnLst>
                                </p:cTn>
                              </p:par>
                              <p:par>
                                <p:cTn id="147" presetID="42" presetClass="path" presetSubtype="0" accel="50000" decel="50000" fill="hold" nodeType="withEffect">
                                  <p:stCondLst>
                                    <p:cond delay="0"/>
                                  </p:stCondLst>
                                  <p:childTnLst>
                                    <p:animMotion origin="layout" path="M -6.25E-7 1.48148E-6 L -0.03841 0.14467 " pathEditMode="relative" rAng="0" ptsTypes="AA">
                                      <p:cBhvr>
                                        <p:cTn id="148" dur="500" fill="hold"/>
                                        <p:tgtEl>
                                          <p:spTgt spid="150"/>
                                        </p:tgtEl>
                                        <p:attrNameLst>
                                          <p:attrName>ppt_x</p:attrName>
                                          <p:attrName>ppt_y</p:attrName>
                                        </p:attrNameLst>
                                      </p:cBhvr>
                                      <p:rCtr x="-1927" y="7222"/>
                                    </p:animMotion>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3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46"/>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85"/>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97"/>
                                        </p:tgtEl>
                                        <p:attrNameLst>
                                          <p:attrName>style.visibility</p:attrName>
                                        </p:attrNameLst>
                                      </p:cBhvr>
                                      <p:to>
                                        <p:strVal val="visible"/>
                                      </p:to>
                                    </p:set>
                                  </p:childTnLst>
                                </p:cTn>
                              </p:par>
                              <p:par>
                                <p:cTn id="163" presetID="42" presetClass="path" presetSubtype="0" accel="50000" decel="50000" fill="hold" nodeType="withEffect">
                                  <p:stCondLst>
                                    <p:cond delay="0"/>
                                  </p:stCondLst>
                                  <p:childTnLst>
                                    <p:animMotion origin="layout" path="M -2.5E-6 1.48148E-6 L 0.15625 0.18102 " pathEditMode="relative" rAng="0" ptsTypes="AA">
                                      <p:cBhvr>
                                        <p:cTn id="164" dur="500" fill="hold"/>
                                        <p:tgtEl>
                                          <p:spTgt spid="156"/>
                                        </p:tgtEl>
                                        <p:attrNameLst>
                                          <p:attrName>ppt_x</p:attrName>
                                          <p:attrName>ppt_y</p:attrName>
                                        </p:attrNameLst>
                                      </p:cBhvr>
                                      <p:rCtr x="7813" y="9051"/>
                                    </p:animMotion>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32"/>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4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5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69"/>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84"/>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96"/>
                                        </p:tgtEl>
                                        <p:attrNameLst>
                                          <p:attrName>style.visibility</p:attrName>
                                        </p:attrNameLst>
                                      </p:cBhvr>
                                      <p:to>
                                        <p:strVal val="visible"/>
                                      </p:to>
                                    </p:set>
                                  </p:childTnLst>
                                </p:cTn>
                              </p:par>
                              <p:par>
                                <p:cTn id="179" presetID="42" presetClass="path" presetSubtype="0" accel="50000" decel="50000" fill="hold" nodeType="withEffect">
                                  <p:stCondLst>
                                    <p:cond delay="0"/>
                                  </p:stCondLst>
                                  <p:childTnLst>
                                    <p:animMotion origin="layout" path="M -6.25E-7 4.81481E-6 L -0.05625 0.14328 " pathEditMode="relative" rAng="0" ptsTypes="AA">
                                      <p:cBhvr>
                                        <p:cTn id="180" dur="500" fill="hold"/>
                                        <p:tgtEl>
                                          <p:spTgt spid="147"/>
                                        </p:tgtEl>
                                        <p:attrNameLst>
                                          <p:attrName>ppt_x</p:attrName>
                                          <p:attrName>ppt_y</p:attrName>
                                        </p:attrNameLst>
                                      </p:cBhvr>
                                      <p:rCtr x="-2812" y="7153"/>
                                    </p:animMotion>
                                  </p:childTnLst>
                                </p:cTn>
                              </p:par>
                            </p:childTnLst>
                          </p:cTn>
                        </p:par>
                      </p:childTnLst>
                    </p:cTn>
                  </p:par>
                  <p:par>
                    <p:cTn id="181" fill="hold">
                      <p:stCondLst>
                        <p:cond delay="indefinite"/>
                      </p:stCondLst>
                      <p:childTnLst>
                        <p:par>
                          <p:cTn id="182" fill="hold">
                            <p:stCondLst>
                              <p:cond delay="0"/>
                            </p:stCondLst>
                            <p:childTnLst>
                              <p:par>
                                <p:cTn id="183" presetID="9" presetClass="entr" presetSubtype="0" fill="hold" grpId="0" nodeType="clickEffect">
                                  <p:stCondLst>
                                    <p:cond delay="0"/>
                                  </p:stCondLst>
                                  <p:childTnLst>
                                    <p:set>
                                      <p:cBhvr>
                                        <p:cTn id="184" dur="1" fill="hold">
                                          <p:stCondLst>
                                            <p:cond delay="0"/>
                                          </p:stCondLst>
                                        </p:cTn>
                                        <p:tgtEl>
                                          <p:spTgt spid="164"/>
                                        </p:tgtEl>
                                        <p:attrNameLst>
                                          <p:attrName>style.visibility</p:attrName>
                                        </p:attrNameLst>
                                      </p:cBhvr>
                                      <p:to>
                                        <p:strVal val="visible"/>
                                      </p:to>
                                    </p:set>
                                    <p:animEffect transition="in" filter="dissolve">
                                      <p:cBhvr>
                                        <p:cTn id="185" dur="500"/>
                                        <p:tgtEl>
                                          <p:spTgt spid="164"/>
                                        </p:tgtEl>
                                      </p:cBhvr>
                                    </p:animEffec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grpId="0" nodeType="clickEffect">
                                  <p:stCondLst>
                                    <p:cond delay="0"/>
                                  </p:stCondLst>
                                  <p:childTnLst>
                                    <p:set>
                                      <p:cBhvr>
                                        <p:cTn id="189" dur="1" fill="hold">
                                          <p:stCondLst>
                                            <p:cond delay="0"/>
                                          </p:stCondLst>
                                        </p:cTn>
                                        <p:tgtEl>
                                          <p:spTgt spid="31"/>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44"/>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56"/>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68"/>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83"/>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95"/>
                                        </p:tgtEl>
                                        <p:attrNameLst>
                                          <p:attrName>style.visibility</p:attrName>
                                        </p:attrNameLst>
                                      </p:cBhvr>
                                      <p:to>
                                        <p:strVal val="visible"/>
                                      </p:to>
                                    </p:set>
                                  </p:childTnLst>
                                </p:cTn>
                              </p:par>
                              <p:par>
                                <p:cTn id="200" presetID="42" presetClass="path" presetSubtype="0" accel="50000" decel="50000" fill="hold" nodeType="withEffect">
                                  <p:stCondLst>
                                    <p:cond delay="0"/>
                                  </p:stCondLst>
                                  <p:childTnLst>
                                    <p:animMotion origin="layout" path="M 0.15625 0.18102 L 0.16198 0.3743 " pathEditMode="relative" rAng="0" ptsTypes="AA">
                                      <p:cBhvr>
                                        <p:cTn id="201" dur="500" fill="hold"/>
                                        <p:tgtEl>
                                          <p:spTgt spid="156"/>
                                        </p:tgtEl>
                                        <p:attrNameLst>
                                          <p:attrName>ppt_x</p:attrName>
                                          <p:attrName>ppt_y</p:attrName>
                                        </p:attrNameLst>
                                      </p:cBhvr>
                                      <p:rCtr x="286" y="9653"/>
                                    </p:animMotion>
                                  </p:childTnLst>
                                </p:cTn>
                              </p:par>
                              <p:par>
                                <p:cTn id="202" presetID="42" presetClass="path" presetSubtype="0" accel="50000" decel="50000" fill="hold" nodeType="withEffect">
                                  <p:stCondLst>
                                    <p:cond delay="0"/>
                                  </p:stCondLst>
                                  <p:childTnLst>
                                    <p:animMotion origin="layout" path="M -0.00013 0.14791 L 0.00912 0.33125 " pathEditMode="relative" rAng="0" ptsTypes="AA">
                                      <p:cBhvr>
                                        <p:cTn id="203" dur="500" fill="hold"/>
                                        <p:tgtEl>
                                          <p:spTgt spid="153"/>
                                        </p:tgtEl>
                                        <p:attrNameLst>
                                          <p:attrName>ppt_x</p:attrName>
                                          <p:attrName>ppt_y</p:attrName>
                                        </p:attrNameLst>
                                      </p:cBhvr>
                                      <p:rCtr x="456" y="9167"/>
                                    </p:animMotion>
                                  </p:childTnLst>
                                </p:cTn>
                              </p:par>
                              <p:par>
                                <p:cTn id="204" presetID="42" presetClass="path" presetSubtype="0" accel="50000" decel="50000" fill="hold" nodeType="withEffect">
                                  <p:stCondLst>
                                    <p:cond delay="0"/>
                                  </p:stCondLst>
                                  <p:childTnLst>
                                    <p:animMotion origin="layout" path="M -0.03841 0.14467 L -0.03476 0.32639 " pathEditMode="relative" rAng="0" ptsTypes="AA">
                                      <p:cBhvr>
                                        <p:cTn id="205" dur="500" fill="hold"/>
                                        <p:tgtEl>
                                          <p:spTgt spid="150"/>
                                        </p:tgtEl>
                                        <p:attrNameLst>
                                          <p:attrName>ppt_x</p:attrName>
                                          <p:attrName>ppt_y</p:attrName>
                                        </p:attrNameLst>
                                      </p:cBhvr>
                                      <p:rCtr x="182" y="9074"/>
                                    </p:animMotion>
                                  </p:childTnLst>
                                </p:cTn>
                              </p:par>
                              <p:par>
                                <p:cTn id="206" presetID="42" presetClass="path" presetSubtype="0" accel="50000" decel="50000" fill="hold" nodeType="withEffect">
                                  <p:stCondLst>
                                    <p:cond delay="0"/>
                                  </p:stCondLst>
                                  <p:childTnLst>
                                    <p:animMotion origin="layout" path="M -0.05625 0.14328 L -0.05299 0.32476 " pathEditMode="relative" rAng="0" ptsTypes="AA">
                                      <p:cBhvr>
                                        <p:cTn id="207" dur="500" fill="hold"/>
                                        <p:tgtEl>
                                          <p:spTgt spid="147"/>
                                        </p:tgtEl>
                                        <p:attrNameLst>
                                          <p:attrName>ppt_x</p:attrName>
                                          <p:attrName>ppt_y</p:attrName>
                                        </p:attrNameLst>
                                      </p:cBhvr>
                                      <p:rCtr x="156" y="9074"/>
                                    </p:animMotion>
                                  </p:childTnLst>
                                </p:cTn>
                              </p:par>
                              <p:par>
                                <p:cTn id="208" presetID="42" presetClass="path" presetSubtype="0" accel="50000" decel="50000" fill="hold" nodeType="withEffect">
                                  <p:stCondLst>
                                    <p:cond delay="0"/>
                                  </p:stCondLst>
                                  <p:childTnLst>
                                    <p:animMotion origin="layout" path="M -0.16015 0.19329 L -0.1638 0.36898 " pathEditMode="relative" rAng="0" ptsTypes="AA">
                                      <p:cBhvr>
                                        <p:cTn id="209" dur="500" fill="hold"/>
                                        <p:tgtEl>
                                          <p:spTgt spid="144"/>
                                        </p:tgtEl>
                                        <p:attrNameLst>
                                          <p:attrName>ppt_x</p:attrName>
                                          <p:attrName>ppt_y</p:attrName>
                                        </p:attrNameLst>
                                      </p:cBhvr>
                                      <p:rCtr x="-182" y="8773"/>
                                    </p:animMotion>
                                  </p:childTnLst>
                                </p:cTn>
                              </p:par>
                              <p:par>
                                <p:cTn id="210" presetID="9" presetClass="entr" presetSubtype="0" fill="hold" grpId="0" nodeType="withEffect">
                                  <p:stCondLst>
                                    <p:cond delay="0"/>
                                  </p:stCondLst>
                                  <p:childTnLst>
                                    <p:set>
                                      <p:cBhvr>
                                        <p:cTn id="211" dur="1" fill="hold">
                                          <p:stCondLst>
                                            <p:cond delay="0"/>
                                          </p:stCondLst>
                                        </p:cTn>
                                        <p:tgtEl>
                                          <p:spTgt spid="162"/>
                                        </p:tgtEl>
                                        <p:attrNameLst>
                                          <p:attrName>style.visibility</p:attrName>
                                        </p:attrNameLst>
                                      </p:cBhvr>
                                      <p:to>
                                        <p:strVal val="visible"/>
                                      </p:to>
                                    </p:set>
                                    <p:animEffect transition="in" filter="dissolve">
                                      <p:cBhvr>
                                        <p:cTn id="212"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53" grpId="0" animBg="1"/>
      <p:bldP spid="65" grpId="0" animBg="1"/>
      <p:bldP spid="77" grpId="0" animBg="1"/>
      <p:bldP spid="92" grpId="0" animBg="1"/>
      <p:bldP spid="104" grpId="0" animBg="1"/>
      <p:bldP spid="39" grpId="0" animBg="1"/>
      <p:bldP spid="52" grpId="0" animBg="1"/>
      <p:bldP spid="64" grpId="0" animBg="1"/>
      <p:bldP spid="76" grpId="0" animBg="1"/>
      <p:bldP spid="91" grpId="0" animBg="1"/>
      <p:bldP spid="103" grpId="0" animBg="1"/>
      <p:bldP spid="38" grpId="0" animBg="1"/>
      <p:bldP spid="51" grpId="0" animBg="1"/>
      <p:bldP spid="63" grpId="0" animBg="1"/>
      <p:bldP spid="75" grpId="0" animBg="1"/>
      <p:bldP spid="90" grpId="0" animBg="1"/>
      <p:bldP spid="102" grpId="0" animBg="1"/>
      <p:bldP spid="37" grpId="0" animBg="1"/>
      <p:bldP spid="50" grpId="0" animBg="1"/>
      <p:bldP spid="62" grpId="0" animBg="1"/>
      <p:bldP spid="74" grpId="0" animBg="1"/>
      <p:bldP spid="89" grpId="0" animBg="1"/>
      <p:bldP spid="101" grpId="0" animBg="1"/>
      <p:bldP spid="36" grpId="0" animBg="1"/>
      <p:bldP spid="49" grpId="0" animBg="1"/>
      <p:bldP spid="61" grpId="0" animBg="1"/>
      <p:bldP spid="73" grpId="0" animBg="1"/>
      <p:bldP spid="88" grpId="0" animBg="1"/>
      <p:bldP spid="100" grpId="0" animBg="1"/>
      <p:bldP spid="35" grpId="0" animBg="1"/>
      <p:bldP spid="48" grpId="0" animBg="1"/>
      <p:bldP spid="60" grpId="0" animBg="1"/>
      <p:bldP spid="72" grpId="0" animBg="1"/>
      <p:bldP spid="87" grpId="0" animBg="1"/>
      <p:bldP spid="99" grpId="0" animBg="1"/>
      <p:bldP spid="34" grpId="0" animBg="1"/>
      <p:bldP spid="47" grpId="0" animBg="1"/>
      <p:bldP spid="59" grpId="0" animBg="1"/>
      <p:bldP spid="71" grpId="0" animBg="1"/>
      <p:bldP spid="86" grpId="0" animBg="1"/>
      <p:bldP spid="98" grpId="0" animBg="1"/>
      <p:bldP spid="33" grpId="0" animBg="1"/>
      <p:bldP spid="46" grpId="0" animBg="1"/>
      <p:bldP spid="58" grpId="0" animBg="1"/>
      <p:bldP spid="70" grpId="0" animBg="1"/>
      <p:bldP spid="85" grpId="0" animBg="1"/>
      <p:bldP spid="97" grpId="0" animBg="1"/>
      <p:bldP spid="32" grpId="0" animBg="1"/>
      <p:bldP spid="45" grpId="0" animBg="1"/>
      <p:bldP spid="57" grpId="0" animBg="1"/>
      <p:bldP spid="69" grpId="0" animBg="1"/>
      <p:bldP spid="84" grpId="0" animBg="1"/>
      <p:bldP spid="96" grpId="0" animBg="1"/>
      <p:bldP spid="31" grpId="0" animBg="1"/>
      <p:bldP spid="44" grpId="0" animBg="1"/>
      <p:bldP spid="56" grpId="0" animBg="1"/>
      <p:bldP spid="68" grpId="0" animBg="1"/>
      <p:bldP spid="83" grpId="0" animBg="1"/>
      <p:bldP spid="95" grpId="0" animBg="1"/>
      <p:bldP spid="160" grpId="0"/>
      <p:bldP spid="161" grpId="0"/>
      <p:bldP spid="162" grpId="0"/>
      <p:bldP spid="163" grpId="0"/>
      <p:bldP spid="16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CBBDB6FF-3131-6AAA-C873-C31F4D39DD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B75C1D-72D1-FF9A-C60B-900C10AA5894}"/>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7" name="TextBox 6">
            <a:extLst>
              <a:ext uri="{FF2B5EF4-FFF2-40B4-BE49-F238E27FC236}">
                <a16:creationId xmlns:a16="http://schemas.microsoft.com/office/drawing/2014/main" id="{B25C4DA3-E114-E47C-8E75-CD406A23F146}"/>
              </a:ext>
            </a:extLst>
          </p:cNvPr>
          <p:cNvSpPr txBox="1"/>
          <p:nvPr/>
        </p:nvSpPr>
        <p:spPr>
          <a:xfrm>
            <a:off x="531970" y="1434210"/>
            <a:ext cx="7049589"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Fairness achieved by a simple “hold-and-release” primitive.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We scale it much further by proposing an efficient market data multicast mechanism.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A tree of proxy nodes is utilized that helps scale multicast.</a:t>
            </a:r>
          </a:p>
        </p:txBody>
      </p:sp>
      <p:sp>
        <p:nvSpPr>
          <p:cNvPr id="43" name="Google Shape;134;p21">
            <a:extLst>
              <a:ext uri="{FF2B5EF4-FFF2-40B4-BE49-F238E27FC236}">
                <a16:creationId xmlns:a16="http://schemas.microsoft.com/office/drawing/2014/main" id="{DCB12100-8747-1B96-64E7-861437116F2D}"/>
              </a:ext>
            </a:extLst>
          </p:cNvPr>
          <p:cNvSpPr/>
          <p:nvPr/>
        </p:nvSpPr>
        <p:spPr>
          <a:xfrm>
            <a:off x="9081909" y="1590941"/>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58CAB01F-1FCB-DA89-5462-198A3650CCFC}"/>
              </a:ext>
            </a:extLst>
          </p:cNvPr>
          <p:cNvSpPr/>
          <p:nvPr/>
        </p:nvSpPr>
        <p:spPr>
          <a:xfrm>
            <a:off x="8510909" y="23097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E9BA45CE-3836-6696-27BE-212EBF909CA0}"/>
              </a:ext>
            </a:extLst>
          </p:cNvPr>
          <p:cNvSpPr/>
          <p:nvPr/>
        </p:nvSpPr>
        <p:spPr>
          <a:xfrm>
            <a:off x="7867034" y="28817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B6D3EE74-675F-CFC8-7829-302B7F23115D}"/>
              </a:ext>
            </a:extLst>
          </p:cNvPr>
          <p:cNvSpPr/>
          <p:nvPr/>
        </p:nvSpPr>
        <p:spPr>
          <a:xfrm>
            <a:off x="8835247" y="28817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6631456B-913D-AF12-0FEA-E4151A6612EF}"/>
              </a:ext>
            </a:extLst>
          </p:cNvPr>
          <p:cNvSpPr/>
          <p:nvPr/>
        </p:nvSpPr>
        <p:spPr>
          <a:xfrm>
            <a:off x="7592509" y="35844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25E145B2-A97A-1E78-376B-2BD1E6A6C962}"/>
              </a:ext>
            </a:extLst>
          </p:cNvPr>
          <p:cNvSpPr/>
          <p:nvPr/>
        </p:nvSpPr>
        <p:spPr>
          <a:xfrm>
            <a:off x="8046284" y="35844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42ABB694-5BA8-9E21-7F20-B50E75C8DC6C}"/>
              </a:ext>
            </a:extLst>
          </p:cNvPr>
          <p:cNvSpPr/>
          <p:nvPr/>
        </p:nvSpPr>
        <p:spPr>
          <a:xfrm>
            <a:off x="8538722" y="35466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57EE35BD-C87D-B477-73FB-CDC71BDF0040}"/>
              </a:ext>
            </a:extLst>
          </p:cNvPr>
          <p:cNvSpPr/>
          <p:nvPr/>
        </p:nvSpPr>
        <p:spPr>
          <a:xfrm>
            <a:off x="9100559" y="35466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ED7A9BEB-A655-8ACF-F98D-32A53125133B}"/>
              </a:ext>
            </a:extLst>
          </p:cNvPr>
          <p:cNvCxnSpPr>
            <a:cxnSpLocks/>
            <a:endCxn id="44" idx="6"/>
          </p:cNvCxnSpPr>
          <p:nvPr/>
        </p:nvCxnSpPr>
        <p:spPr>
          <a:xfrm flipH="1">
            <a:off x="8858309" y="1977041"/>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69BC9D6A-8E52-C3F0-A470-6F9E57577297}"/>
              </a:ext>
            </a:extLst>
          </p:cNvPr>
          <p:cNvCxnSpPr>
            <a:cxnSpLocks/>
            <a:stCxn id="44" idx="4"/>
            <a:endCxn id="45" idx="6"/>
          </p:cNvCxnSpPr>
          <p:nvPr/>
        </p:nvCxnSpPr>
        <p:spPr>
          <a:xfrm flipH="1">
            <a:off x="8214509" y="2693141"/>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580E61F3-8AAF-E70D-5758-48E4189565A0}"/>
              </a:ext>
            </a:extLst>
          </p:cNvPr>
          <p:cNvCxnSpPr>
            <a:cxnSpLocks/>
            <a:stCxn id="44" idx="4"/>
            <a:endCxn id="46" idx="2"/>
          </p:cNvCxnSpPr>
          <p:nvPr/>
        </p:nvCxnSpPr>
        <p:spPr>
          <a:xfrm>
            <a:off x="8684609" y="2693141"/>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AC12AFDA-9BDA-EA46-DB18-920CD12CC042}"/>
              </a:ext>
            </a:extLst>
          </p:cNvPr>
          <p:cNvCxnSpPr>
            <a:cxnSpLocks/>
            <a:stCxn id="45" idx="4"/>
            <a:endCxn id="47" idx="7"/>
          </p:cNvCxnSpPr>
          <p:nvPr/>
        </p:nvCxnSpPr>
        <p:spPr>
          <a:xfrm flipH="1">
            <a:off x="7888934" y="3265116"/>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CA8746E6-4DAF-0F29-CB01-041509C637F4}"/>
              </a:ext>
            </a:extLst>
          </p:cNvPr>
          <p:cNvCxnSpPr>
            <a:cxnSpLocks/>
            <a:stCxn id="45" idx="4"/>
            <a:endCxn id="48" idx="1"/>
          </p:cNvCxnSpPr>
          <p:nvPr/>
        </p:nvCxnSpPr>
        <p:spPr>
          <a:xfrm>
            <a:off x="8040734" y="3265116"/>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0BBBC456-8D24-C16B-905B-F205FA6CAAF1}"/>
              </a:ext>
            </a:extLst>
          </p:cNvPr>
          <p:cNvCxnSpPr>
            <a:cxnSpLocks/>
            <a:stCxn id="46" idx="4"/>
            <a:endCxn id="49" idx="7"/>
          </p:cNvCxnSpPr>
          <p:nvPr/>
        </p:nvCxnSpPr>
        <p:spPr>
          <a:xfrm flipH="1">
            <a:off x="8835247" y="3265116"/>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F5F0F405-AD45-1E22-28F1-CEBFE43B4AB6}"/>
              </a:ext>
            </a:extLst>
          </p:cNvPr>
          <p:cNvCxnSpPr>
            <a:cxnSpLocks/>
            <a:stCxn id="46" idx="4"/>
            <a:endCxn id="50" idx="1"/>
          </p:cNvCxnSpPr>
          <p:nvPr/>
        </p:nvCxnSpPr>
        <p:spPr>
          <a:xfrm>
            <a:off x="9008947" y="3265116"/>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EF6A4ADA-7CC4-74BA-A3B8-97CA1D9A98C5}"/>
              </a:ext>
            </a:extLst>
          </p:cNvPr>
          <p:cNvSpPr/>
          <p:nvPr/>
        </p:nvSpPr>
        <p:spPr>
          <a:xfrm>
            <a:off x="10543209" y="22959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66592568-CCDD-AAA0-FC1D-705006113084}"/>
              </a:ext>
            </a:extLst>
          </p:cNvPr>
          <p:cNvSpPr/>
          <p:nvPr/>
        </p:nvSpPr>
        <p:spPr>
          <a:xfrm>
            <a:off x="10097947" y="28021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2630C611-81B1-2D47-91D6-113B36A41465}"/>
              </a:ext>
            </a:extLst>
          </p:cNvPr>
          <p:cNvSpPr/>
          <p:nvPr/>
        </p:nvSpPr>
        <p:spPr>
          <a:xfrm>
            <a:off x="11063959" y="27660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17F59E18-E833-486B-0A62-22320C89C97B}"/>
              </a:ext>
            </a:extLst>
          </p:cNvPr>
          <p:cNvSpPr/>
          <p:nvPr/>
        </p:nvSpPr>
        <p:spPr>
          <a:xfrm>
            <a:off x="9813597" y="35190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8D63C066-733D-4080-F282-6EA0D061F72C}"/>
              </a:ext>
            </a:extLst>
          </p:cNvPr>
          <p:cNvSpPr/>
          <p:nvPr/>
        </p:nvSpPr>
        <p:spPr>
          <a:xfrm>
            <a:off x="10307222" y="35190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9995C78E-4A13-216B-07A2-099AF52189C5}"/>
              </a:ext>
            </a:extLst>
          </p:cNvPr>
          <p:cNvSpPr/>
          <p:nvPr/>
        </p:nvSpPr>
        <p:spPr>
          <a:xfrm>
            <a:off x="10834509" y="34813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D419A113-6FDF-8056-689B-B99BCD369E17}"/>
              </a:ext>
            </a:extLst>
          </p:cNvPr>
          <p:cNvSpPr/>
          <p:nvPr/>
        </p:nvSpPr>
        <p:spPr>
          <a:xfrm>
            <a:off x="11366197" y="34813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049EC873-3CCC-3B72-6622-A3FEBB8DC40C}"/>
              </a:ext>
            </a:extLst>
          </p:cNvPr>
          <p:cNvCxnSpPr>
            <a:cxnSpLocks/>
            <a:stCxn id="58" idx="4"/>
            <a:endCxn id="59" idx="6"/>
          </p:cNvCxnSpPr>
          <p:nvPr/>
        </p:nvCxnSpPr>
        <p:spPr>
          <a:xfrm flipH="1">
            <a:off x="10445409" y="2679304"/>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C520F7C7-48C9-689A-8F29-B1DF4A1C0F44}"/>
              </a:ext>
            </a:extLst>
          </p:cNvPr>
          <p:cNvCxnSpPr>
            <a:cxnSpLocks/>
            <a:stCxn id="58" idx="4"/>
            <a:endCxn id="60" idx="2"/>
          </p:cNvCxnSpPr>
          <p:nvPr/>
        </p:nvCxnSpPr>
        <p:spPr>
          <a:xfrm>
            <a:off x="10716909" y="2679304"/>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9EDD3513-0D18-9464-BE3B-0A029FACBD93}"/>
              </a:ext>
            </a:extLst>
          </p:cNvPr>
          <p:cNvCxnSpPr>
            <a:cxnSpLocks/>
            <a:stCxn id="59" idx="4"/>
            <a:endCxn id="61" idx="7"/>
          </p:cNvCxnSpPr>
          <p:nvPr/>
        </p:nvCxnSpPr>
        <p:spPr>
          <a:xfrm flipH="1">
            <a:off x="10110247" y="3185591"/>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35960AB3-3677-4B61-1AB1-2CF1C84585A9}"/>
              </a:ext>
            </a:extLst>
          </p:cNvPr>
          <p:cNvCxnSpPr>
            <a:cxnSpLocks/>
            <a:stCxn id="59" idx="4"/>
            <a:endCxn id="62" idx="1"/>
          </p:cNvCxnSpPr>
          <p:nvPr/>
        </p:nvCxnSpPr>
        <p:spPr>
          <a:xfrm>
            <a:off x="10271647" y="3185591"/>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870C963C-CFAB-8D76-8E26-FFF83606C4FD}"/>
              </a:ext>
            </a:extLst>
          </p:cNvPr>
          <p:cNvCxnSpPr>
            <a:cxnSpLocks/>
            <a:stCxn id="60" idx="4"/>
            <a:endCxn id="63" idx="7"/>
          </p:cNvCxnSpPr>
          <p:nvPr/>
        </p:nvCxnSpPr>
        <p:spPr>
          <a:xfrm flipH="1">
            <a:off x="11131159" y="3149416"/>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36B4175C-7DAE-1498-48D2-161432F258BE}"/>
              </a:ext>
            </a:extLst>
          </p:cNvPr>
          <p:cNvCxnSpPr>
            <a:cxnSpLocks/>
            <a:stCxn id="60" idx="4"/>
            <a:endCxn id="64" idx="1"/>
          </p:cNvCxnSpPr>
          <p:nvPr/>
        </p:nvCxnSpPr>
        <p:spPr>
          <a:xfrm>
            <a:off x="11237659" y="3149416"/>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86A58E9F-CE9E-B6CE-FCED-9764CD76081F}"/>
              </a:ext>
            </a:extLst>
          </p:cNvPr>
          <p:cNvCxnSpPr>
            <a:cxnSpLocks/>
            <a:stCxn id="43" idx="4"/>
            <a:endCxn id="58" idx="2"/>
          </p:cNvCxnSpPr>
          <p:nvPr/>
        </p:nvCxnSpPr>
        <p:spPr>
          <a:xfrm>
            <a:off x="9986259" y="1974341"/>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B35EDEE3-4592-DBFF-B687-D06020CDD595}"/>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77" name="TextBox 76">
            <a:extLst>
              <a:ext uri="{FF2B5EF4-FFF2-40B4-BE49-F238E27FC236}">
                <a16:creationId xmlns:a16="http://schemas.microsoft.com/office/drawing/2014/main" id="{C203F508-D9F5-4C27-D56A-8BB61684DB1B}"/>
              </a:ext>
            </a:extLst>
          </p:cNvPr>
          <p:cNvSpPr txBox="1"/>
          <p:nvPr/>
        </p:nvSpPr>
        <p:spPr>
          <a:xfrm>
            <a:off x="2311240" y="1684793"/>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Latency</a:t>
            </a:r>
          </a:p>
        </p:txBody>
      </p:sp>
      <p:sp>
        <p:nvSpPr>
          <p:cNvPr id="78" name="TextBox 77">
            <a:extLst>
              <a:ext uri="{FF2B5EF4-FFF2-40B4-BE49-F238E27FC236}">
                <a16:creationId xmlns:a16="http://schemas.microsoft.com/office/drawing/2014/main" id="{AC5691C2-52F0-07EA-4EA3-26228967183E}"/>
              </a:ext>
            </a:extLst>
          </p:cNvPr>
          <p:cNvSpPr txBox="1"/>
          <p:nvPr/>
        </p:nvSpPr>
        <p:spPr>
          <a:xfrm>
            <a:off x="4157514" y="1692144"/>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Fairness</a:t>
            </a:r>
          </a:p>
        </p:txBody>
      </p:sp>
      <p:pic>
        <p:nvPicPr>
          <p:cNvPr id="79" name="Picture 78" descr="A black background with a black square&#10;&#10;AI-generated content may be incorrect.">
            <a:extLst>
              <a:ext uri="{FF2B5EF4-FFF2-40B4-BE49-F238E27FC236}">
                <a16:creationId xmlns:a16="http://schemas.microsoft.com/office/drawing/2014/main" id="{A3C87259-375F-1EBA-6A7E-BA4705C3020F}"/>
              </a:ext>
            </a:extLst>
          </p:cNvPr>
          <p:cNvPicPr>
            <a:picLocks noChangeAspect="1"/>
          </p:cNvPicPr>
          <p:nvPr/>
        </p:nvPicPr>
        <p:blipFill>
          <a:blip r:embed="rId3"/>
          <a:stretch>
            <a:fillRect/>
          </a:stretch>
        </p:blipFill>
        <p:spPr>
          <a:xfrm>
            <a:off x="2877072" y="2107828"/>
            <a:ext cx="2335164" cy="591256"/>
          </a:xfrm>
          <a:prstGeom prst="rect">
            <a:avLst/>
          </a:prstGeom>
        </p:spPr>
      </p:pic>
      <p:pic>
        <p:nvPicPr>
          <p:cNvPr id="4" name="Picture 3">
            <a:extLst>
              <a:ext uri="{FF2B5EF4-FFF2-40B4-BE49-F238E27FC236}">
                <a16:creationId xmlns:a16="http://schemas.microsoft.com/office/drawing/2014/main" id="{3A8E3E31-4E39-AE21-2FF6-B2C879E5C828}"/>
              </a:ext>
            </a:extLst>
          </p:cNvPr>
          <p:cNvPicPr>
            <a:picLocks noChangeAspect="1"/>
          </p:cNvPicPr>
          <p:nvPr/>
        </p:nvPicPr>
        <p:blipFill>
          <a:blip r:embed="rId4"/>
          <a:stretch>
            <a:fillRect/>
          </a:stretch>
        </p:blipFill>
        <p:spPr>
          <a:xfrm>
            <a:off x="2480301" y="438180"/>
            <a:ext cx="4880171" cy="3662775"/>
          </a:xfrm>
          <a:prstGeom prst="rect">
            <a:avLst/>
          </a:prstGeom>
          <a:ln>
            <a:noFill/>
          </a:ln>
          <a:effectLst>
            <a:outerShdw blurRad="292100" dist="139700" dir="2700000" algn="tl" rotWithShape="0">
              <a:srgbClr val="333333">
                <a:alpha val="65000"/>
              </a:srgbClr>
            </a:outerShdw>
          </a:effectLst>
        </p:spPr>
      </p:pic>
      <p:sp>
        <p:nvSpPr>
          <p:cNvPr id="2" name="Rectangle 1">
            <a:extLst>
              <a:ext uri="{FF2B5EF4-FFF2-40B4-BE49-F238E27FC236}">
                <a16:creationId xmlns:a16="http://schemas.microsoft.com/office/drawing/2014/main" id="{D7DDB5F9-FE5D-36B8-DD52-B7663627A828}"/>
              </a:ext>
            </a:extLst>
          </p:cNvPr>
          <p:cNvSpPr/>
          <p:nvPr/>
        </p:nvSpPr>
        <p:spPr>
          <a:xfrm>
            <a:off x="963169" y="4537539"/>
            <a:ext cx="10218740" cy="1772502"/>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800" dirty="0"/>
              <a:t>But still many venues for latency fluctuations, which hinder latency fairness and increase latency</a:t>
            </a:r>
          </a:p>
        </p:txBody>
      </p:sp>
    </p:spTree>
    <p:extLst>
      <p:ext uri="{BB962C8B-B14F-4D97-AF65-F5344CB8AC3E}">
        <p14:creationId xmlns:p14="http://schemas.microsoft.com/office/powerpoint/2010/main" val="117629204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dissolve">
                                      <p:cBhvr>
                                        <p:cTn id="11" dur="500"/>
                                        <p:tgtEl>
                                          <p:spTgt spid="77"/>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78"/>
                                        </p:tgtEl>
                                        <p:attrNameLst>
                                          <p:attrName>style.visibility</p:attrName>
                                        </p:attrNameLst>
                                      </p:cBhvr>
                                      <p:to>
                                        <p:strVal val="visible"/>
                                      </p:to>
                                    </p:set>
                                    <p:animEffect transition="in" filter="dissolve">
                                      <p:cBhvr>
                                        <p:cTn id="14" dur="500"/>
                                        <p:tgtEl>
                                          <p:spTgt spid="78"/>
                                        </p:tgtEl>
                                      </p:cBhvr>
                                    </p:animEffect>
                                  </p:childTnLst>
                                </p:cTn>
                              </p:par>
                              <p:par>
                                <p:cTn id="15" presetID="9" presetClass="entr" presetSubtype="0" fill="hold" nodeType="with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dissolve">
                                      <p:cBhvr>
                                        <p:cTn id="17" dur="500"/>
                                        <p:tgtEl>
                                          <p:spTgt spid="7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51"/>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5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7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52"/>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53"/>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59"/>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60"/>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65"/>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6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7"/>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4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50"/>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54"/>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55"/>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56"/>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57"/>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61"/>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62"/>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63"/>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64"/>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67"/>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68"/>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69"/>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7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77" grpId="0"/>
      <p:bldP spid="78" grpId="0"/>
      <p:bldP spid="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6C4F8A3-41FB-1F61-551B-FC69285555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830FA9-CB55-10B3-1B65-E3889DB1EBDE}"/>
              </a:ext>
            </a:extLst>
          </p:cNvPr>
          <p:cNvSpPr txBox="1"/>
          <p:nvPr/>
        </p:nvSpPr>
        <p:spPr>
          <a:xfrm>
            <a:off x="569979" y="476910"/>
            <a:ext cx="5354351"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Scalable Outbound Fairness</a:t>
            </a:r>
          </a:p>
        </p:txBody>
      </p:sp>
      <p:sp>
        <p:nvSpPr>
          <p:cNvPr id="7" name="TextBox 6">
            <a:extLst>
              <a:ext uri="{FF2B5EF4-FFF2-40B4-BE49-F238E27FC236}">
                <a16:creationId xmlns:a16="http://schemas.microsoft.com/office/drawing/2014/main" id="{44A1127D-B1A0-0D33-42FA-6418E6282348}"/>
              </a:ext>
            </a:extLst>
          </p:cNvPr>
          <p:cNvSpPr txBox="1"/>
          <p:nvPr/>
        </p:nvSpPr>
        <p:spPr>
          <a:xfrm>
            <a:off x="531970" y="1434210"/>
            <a:ext cx="7049589"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Fairness achieved by a simple “hold-and-release” primitive.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We scale it much further by proposing an efficient market data multicast mechanism.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A tree of proxy nodes is utilized that helps scale multicast.</a:t>
            </a:r>
          </a:p>
        </p:txBody>
      </p:sp>
      <p:sp>
        <p:nvSpPr>
          <p:cNvPr id="14" name="Google Shape;180;p23">
            <a:extLst>
              <a:ext uri="{FF2B5EF4-FFF2-40B4-BE49-F238E27FC236}">
                <a16:creationId xmlns:a16="http://schemas.microsoft.com/office/drawing/2014/main" id="{F8180448-3D48-DE1C-5855-E25FB2B2C88F}"/>
              </a:ext>
            </a:extLst>
          </p:cNvPr>
          <p:cNvSpPr/>
          <p:nvPr/>
        </p:nvSpPr>
        <p:spPr>
          <a:xfrm>
            <a:off x="2367684" y="4261410"/>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a:ln>
                  <a:noFill/>
                </a:ln>
                <a:solidFill>
                  <a:prstClr val="black"/>
                </a:solidFill>
                <a:effectLst/>
                <a:uLnTx/>
                <a:uFillTx/>
                <a:latin typeface="Aptos" panose="02110004020202020204"/>
                <a:ea typeface="+mn-ea"/>
                <a:cs typeface="+mn-cs"/>
              </a:rPr>
              <a:t>Latency Spikes On Links</a:t>
            </a: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181;p23">
            <a:extLst>
              <a:ext uri="{FF2B5EF4-FFF2-40B4-BE49-F238E27FC236}">
                <a16:creationId xmlns:a16="http://schemas.microsoft.com/office/drawing/2014/main" id="{A02DEF81-8FBE-5827-7141-DB26118959DE}"/>
              </a:ext>
            </a:extLst>
          </p:cNvPr>
          <p:cNvSpPr/>
          <p:nvPr/>
        </p:nvSpPr>
        <p:spPr>
          <a:xfrm>
            <a:off x="5261859" y="4254223"/>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Proxy node’s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6" name="Google Shape;182;p23">
            <a:extLst>
              <a:ext uri="{FF2B5EF4-FFF2-40B4-BE49-F238E27FC236}">
                <a16:creationId xmlns:a16="http://schemas.microsoft.com/office/drawing/2014/main" id="{5E5B3EFE-8B1C-FAD8-17AA-18F5FB893C6B}"/>
              </a:ext>
            </a:extLst>
          </p:cNvPr>
          <p:cNvSpPr/>
          <p:nvPr/>
        </p:nvSpPr>
        <p:spPr>
          <a:xfrm>
            <a:off x="8047509" y="4261410"/>
            <a:ext cx="2495700" cy="680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Receiver VMs’ performance variation</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Google Shape;183;p23">
            <a:extLst>
              <a:ext uri="{FF2B5EF4-FFF2-40B4-BE49-F238E27FC236}">
                <a16:creationId xmlns:a16="http://schemas.microsoft.com/office/drawing/2014/main" id="{215A0652-0D95-0D57-8864-5A7EDFD898B2}"/>
              </a:ext>
            </a:extLst>
          </p:cNvPr>
          <p:cNvSpPr/>
          <p:nvPr/>
        </p:nvSpPr>
        <p:spPr>
          <a:xfrm>
            <a:off x="2591909" y="5889085"/>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a:ln>
                  <a:noFill/>
                </a:ln>
                <a:solidFill>
                  <a:prstClr val="white"/>
                </a:solidFill>
                <a:effectLst/>
                <a:uLnTx/>
                <a:uFillTx/>
                <a:latin typeface="Aptos" panose="02110004020202020204"/>
                <a:ea typeface="+mn-ea"/>
                <a:cs typeface="+mn-cs"/>
              </a:rPr>
              <a:t>Round Robin Packet Spraying</a:t>
            </a: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Google Shape;184;p23">
            <a:extLst>
              <a:ext uri="{FF2B5EF4-FFF2-40B4-BE49-F238E27FC236}">
                <a16:creationId xmlns:a16="http://schemas.microsoft.com/office/drawing/2014/main" id="{2093D1FA-E3D9-1D17-6F6D-433E977C0837}"/>
              </a:ext>
            </a:extLst>
          </p:cNvPr>
          <p:cNvSpPr/>
          <p:nvPr/>
        </p:nvSpPr>
        <p:spPr>
          <a:xfrm>
            <a:off x="5401059" y="5881910"/>
            <a:ext cx="22173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Proxy Hedging i.e., multiple (H) parents</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Google Shape;185;p23">
            <a:extLst>
              <a:ext uri="{FF2B5EF4-FFF2-40B4-BE49-F238E27FC236}">
                <a16:creationId xmlns:a16="http://schemas.microsoft.com/office/drawing/2014/main" id="{2C0DE31B-F138-97B4-0C4E-873FC39F4671}"/>
              </a:ext>
            </a:extLst>
          </p:cNvPr>
          <p:cNvSpPr/>
          <p:nvPr/>
        </p:nvSpPr>
        <p:spPr>
          <a:xfrm>
            <a:off x="8325909" y="5881910"/>
            <a:ext cx="1938900" cy="694500"/>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white"/>
                </a:solidFill>
                <a:effectLst/>
                <a:uLnTx/>
                <a:uFillTx/>
                <a:latin typeface="Aptos" panose="02110004020202020204"/>
                <a:ea typeface="+mn-ea"/>
                <a:cs typeface="+mn-cs"/>
              </a:rPr>
              <a:t>Two VMs per trader</a:t>
            </a:r>
            <a:endParaRPr kumimoji="0"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Google Shape;186;p23">
            <a:extLst>
              <a:ext uri="{FF2B5EF4-FFF2-40B4-BE49-F238E27FC236}">
                <a16:creationId xmlns:a16="http://schemas.microsoft.com/office/drawing/2014/main" id="{49959D70-1803-27D4-6503-50CC60FBDDC9}"/>
              </a:ext>
            </a:extLst>
          </p:cNvPr>
          <p:cNvSpPr/>
          <p:nvPr/>
        </p:nvSpPr>
        <p:spPr>
          <a:xfrm>
            <a:off x="3257459" y="5068048"/>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Google Shape;187;p23">
            <a:extLst>
              <a:ext uri="{FF2B5EF4-FFF2-40B4-BE49-F238E27FC236}">
                <a16:creationId xmlns:a16="http://schemas.microsoft.com/office/drawing/2014/main" id="{BAA8A8B0-0CA3-2EC2-3291-2A636BEE099D}"/>
              </a:ext>
            </a:extLst>
          </p:cNvPr>
          <p:cNvSpPr/>
          <p:nvPr/>
        </p:nvSpPr>
        <p:spPr>
          <a:xfrm>
            <a:off x="6336159" y="5060848"/>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2" name="Google Shape;188;p23">
            <a:extLst>
              <a:ext uri="{FF2B5EF4-FFF2-40B4-BE49-F238E27FC236}">
                <a16:creationId xmlns:a16="http://schemas.microsoft.com/office/drawing/2014/main" id="{6C8D273A-5C31-7A08-2A78-08853788DA6F}"/>
              </a:ext>
            </a:extLst>
          </p:cNvPr>
          <p:cNvSpPr/>
          <p:nvPr/>
        </p:nvSpPr>
        <p:spPr>
          <a:xfrm>
            <a:off x="9121809" y="5042960"/>
            <a:ext cx="347100" cy="69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Google Shape;134;p21">
            <a:extLst>
              <a:ext uri="{FF2B5EF4-FFF2-40B4-BE49-F238E27FC236}">
                <a16:creationId xmlns:a16="http://schemas.microsoft.com/office/drawing/2014/main" id="{A78E8436-3F17-589A-4B7A-61964ABCBF39}"/>
              </a:ext>
            </a:extLst>
          </p:cNvPr>
          <p:cNvSpPr/>
          <p:nvPr/>
        </p:nvSpPr>
        <p:spPr>
          <a:xfrm>
            <a:off x="9081909" y="1590941"/>
            <a:ext cx="18087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800" b="0" i="0" u="none" strike="noStrike" kern="1200" cap="none" spc="0" normalizeH="0" baseline="0" noProof="0" dirty="0">
                <a:ln>
                  <a:noFill/>
                </a:ln>
                <a:solidFill>
                  <a:prstClr val="black"/>
                </a:solidFill>
                <a:effectLst/>
                <a:uLnTx/>
                <a:uFillTx/>
                <a:latin typeface="Aptos" panose="02110004020202020204"/>
                <a:ea typeface="+mn-ea"/>
                <a:cs typeface="+mn-cs"/>
              </a:rPr>
              <a:t>Exchange</a:t>
            </a:r>
            <a:endParaRPr kumimoji="0"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Google Shape;135;p21">
            <a:extLst>
              <a:ext uri="{FF2B5EF4-FFF2-40B4-BE49-F238E27FC236}">
                <a16:creationId xmlns:a16="http://schemas.microsoft.com/office/drawing/2014/main" id="{6A4C4E6B-BBF7-693B-1B60-E368E13D9FE0}"/>
              </a:ext>
            </a:extLst>
          </p:cNvPr>
          <p:cNvSpPr/>
          <p:nvPr/>
        </p:nvSpPr>
        <p:spPr>
          <a:xfrm>
            <a:off x="8510909" y="23097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Google Shape;136;p21">
            <a:extLst>
              <a:ext uri="{FF2B5EF4-FFF2-40B4-BE49-F238E27FC236}">
                <a16:creationId xmlns:a16="http://schemas.microsoft.com/office/drawing/2014/main" id="{39D08530-9E2D-B3DF-4FDE-A89461344CBA}"/>
              </a:ext>
            </a:extLst>
          </p:cNvPr>
          <p:cNvSpPr/>
          <p:nvPr/>
        </p:nvSpPr>
        <p:spPr>
          <a:xfrm>
            <a:off x="7867034" y="28817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Google Shape;137;p21">
            <a:extLst>
              <a:ext uri="{FF2B5EF4-FFF2-40B4-BE49-F238E27FC236}">
                <a16:creationId xmlns:a16="http://schemas.microsoft.com/office/drawing/2014/main" id="{030062A6-E574-CB2E-8944-918ED2DE1E91}"/>
              </a:ext>
            </a:extLst>
          </p:cNvPr>
          <p:cNvSpPr/>
          <p:nvPr/>
        </p:nvSpPr>
        <p:spPr>
          <a:xfrm>
            <a:off x="8835247" y="28817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Google Shape;138;p21">
            <a:extLst>
              <a:ext uri="{FF2B5EF4-FFF2-40B4-BE49-F238E27FC236}">
                <a16:creationId xmlns:a16="http://schemas.microsoft.com/office/drawing/2014/main" id="{79B34D0B-772C-B43A-0F28-722954553F50}"/>
              </a:ext>
            </a:extLst>
          </p:cNvPr>
          <p:cNvSpPr/>
          <p:nvPr/>
        </p:nvSpPr>
        <p:spPr>
          <a:xfrm>
            <a:off x="7592509" y="35844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8" name="Google Shape;139;p21">
            <a:extLst>
              <a:ext uri="{FF2B5EF4-FFF2-40B4-BE49-F238E27FC236}">
                <a16:creationId xmlns:a16="http://schemas.microsoft.com/office/drawing/2014/main" id="{6E02BC6B-E18D-46F9-9B7B-E8B150A953F6}"/>
              </a:ext>
            </a:extLst>
          </p:cNvPr>
          <p:cNvSpPr/>
          <p:nvPr/>
        </p:nvSpPr>
        <p:spPr>
          <a:xfrm>
            <a:off x="8046284" y="35844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Google Shape;140;p21">
            <a:extLst>
              <a:ext uri="{FF2B5EF4-FFF2-40B4-BE49-F238E27FC236}">
                <a16:creationId xmlns:a16="http://schemas.microsoft.com/office/drawing/2014/main" id="{0B681FBA-6B25-71EC-270E-3129943905A5}"/>
              </a:ext>
            </a:extLst>
          </p:cNvPr>
          <p:cNvSpPr/>
          <p:nvPr/>
        </p:nvSpPr>
        <p:spPr>
          <a:xfrm>
            <a:off x="8538722" y="35466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Google Shape;141;p21">
            <a:extLst>
              <a:ext uri="{FF2B5EF4-FFF2-40B4-BE49-F238E27FC236}">
                <a16:creationId xmlns:a16="http://schemas.microsoft.com/office/drawing/2014/main" id="{E6C8139E-E000-FA3D-35D4-0020B9A4F409}"/>
              </a:ext>
            </a:extLst>
          </p:cNvPr>
          <p:cNvSpPr/>
          <p:nvPr/>
        </p:nvSpPr>
        <p:spPr>
          <a:xfrm>
            <a:off x="9100559" y="35466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51" name="Google Shape;142;p21">
            <a:extLst>
              <a:ext uri="{FF2B5EF4-FFF2-40B4-BE49-F238E27FC236}">
                <a16:creationId xmlns:a16="http://schemas.microsoft.com/office/drawing/2014/main" id="{5213A4C2-DC11-D828-9B92-3824D609B55C}"/>
              </a:ext>
            </a:extLst>
          </p:cNvPr>
          <p:cNvCxnSpPr>
            <a:cxnSpLocks/>
            <a:endCxn id="44" idx="6"/>
          </p:cNvCxnSpPr>
          <p:nvPr/>
        </p:nvCxnSpPr>
        <p:spPr>
          <a:xfrm flipH="1">
            <a:off x="8858309" y="1977041"/>
            <a:ext cx="831900" cy="524400"/>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143;p21">
            <a:extLst>
              <a:ext uri="{FF2B5EF4-FFF2-40B4-BE49-F238E27FC236}">
                <a16:creationId xmlns:a16="http://schemas.microsoft.com/office/drawing/2014/main" id="{1670FC65-B454-7D6D-D3DF-3F2F6E72543D}"/>
              </a:ext>
            </a:extLst>
          </p:cNvPr>
          <p:cNvCxnSpPr>
            <a:cxnSpLocks/>
            <a:stCxn id="44" idx="4"/>
            <a:endCxn id="45" idx="6"/>
          </p:cNvCxnSpPr>
          <p:nvPr/>
        </p:nvCxnSpPr>
        <p:spPr>
          <a:xfrm flipH="1">
            <a:off x="8214509" y="2693141"/>
            <a:ext cx="470100" cy="380400"/>
          </a:xfrm>
          <a:prstGeom prst="straightConnector1">
            <a:avLst/>
          </a:prstGeom>
          <a:noFill/>
          <a:ln w="9525" cap="flat" cmpd="sng">
            <a:solidFill>
              <a:schemeClr val="dk2"/>
            </a:solidFill>
            <a:prstDash val="solid"/>
            <a:round/>
            <a:headEnd type="none" w="med" len="med"/>
            <a:tailEnd type="triangle" w="med" len="med"/>
          </a:ln>
        </p:spPr>
      </p:cxnSp>
      <p:cxnSp>
        <p:nvCxnSpPr>
          <p:cNvPr id="53" name="Google Shape;144;p21">
            <a:extLst>
              <a:ext uri="{FF2B5EF4-FFF2-40B4-BE49-F238E27FC236}">
                <a16:creationId xmlns:a16="http://schemas.microsoft.com/office/drawing/2014/main" id="{141A0BAD-D4CC-5B7E-A9B8-70211EC5F923}"/>
              </a:ext>
            </a:extLst>
          </p:cNvPr>
          <p:cNvCxnSpPr>
            <a:cxnSpLocks/>
            <a:stCxn id="44" idx="4"/>
            <a:endCxn id="46" idx="2"/>
          </p:cNvCxnSpPr>
          <p:nvPr/>
        </p:nvCxnSpPr>
        <p:spPr>
          <a:xfrm>
            <a:off x="8684609" y="2693141"/>
            <a:ext cx="150600" cy="3804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45;p21">
            <a:extLst>
              <a:ext uri="{FF2B5EF4-FFF2-40B4-BE49-F238E27FC236}">
                <a16:creationId xmlns:a16="http://schemas.microsoft.com/office/drawing/2014/main" id="{EE370DDA-6E2B-7688-6EC6-1F1705AD667D}"/>
              </a:ext>
            </a:extLst>
          </p:cNvPr>
          <p:cNvCxnSpPr>
            <a:cxnSpLocks/>
            <a:stCxn id="45" idx="4"/>
            <a:endCxn id="47" idx="7"/>
          </p:cNvCxnSpPr>
          <p:nvPr/>
        </p:nvCxnSpPr>
        <p:spPr>
          <a:xfrm flipH="1">
            <a:off x="7888934" y="3265116"/>
            <a:ext cx="151800" cy="375300"/>
          </a:xfrm>
          <a:prstGeom prst="straightConnector1">
            <a:avLst/>
          </a:prstGeom>
          <a:noFill/>
          <a:ln w="9525" cap="flat" cmpd="sng">
            <a:solidFill>
              <a:schemeClr val="dk2"/>
            </a:solidFill>
            <a:prstDash val="solid"/>
            <a:round/>
            <a:headEnd type="none" w="med" len="med"/>
            <a:tailEnd type="triangle" w="med" len="med"/>
          </a:ln>
        </p:spPr>
      </p:cxnSp>
      <p:cxnSp>
        <p:nvCxnSpPr>
          <p:cNvPr id="55" name="Google Shape;146;p21">
            <a:extLst>
              <a:ext uri="{FF2B5EF4-FFF2-40B4-BE49-F238E27FC236}">
                <a16:creationId xmlns:a16="http://schemas.microsoft.com/office/drawing/2014/main" id="{59C14280-AE6E-8942-6186-C5636263585D}"/>
              </a:ext>
            </a:extLst>
          </p:cNvPr>
          <p:cNvCxnSpPr>
            <a:cxnSpLocks/>
            <a:stCxn id="45" idx="4"/>
            <a:endCxn id="48" idx="1"/>
          </p:cNvCxnSpPr>
          <p:nvPr/>
        </p:nvCxnSpPr>
        <p:spPr>
          <a:xfrm>
            <a:off x="8040734" y="3265116"/>
            <a:ext cx="56400" cy="375300"/>
          </a:xfrm>
          <a:prstGeom prst="straightConnector1">
            <a:avLst/>
          </a:prstGeom>
          <a:noFill/>
          <a:ln w="9525" cap="flat" cmpd="sng">
            <a:solidFill>
              <a:schemeClr val="dk2"/>
            </a:solidFill>
            <a:prstDash val="solid"/>
            <a:round/>
            <a:headEnd type="none" w="med" len="med"/>
            <a:tailEnd type="triangle" w="med" len="med"/>
          </a:ln>
        </p:spPr>
      </p:cxnSp>
      <p:cxnSp>
        <p:nvCxnSpPr>
          <p:cNvPr id="56" name="Google Shape;147;p21">
            <a:extLst>
              <a:ext uri="{FF2B5EF4-FFF2-40B4-BE49-F238E27FC236}">
                <a16:creationId xmlns:a16="http://schemas.microsoft.com/office/drawing/2014/main" id="{F8B08EE4-BFEB-C4BC-1C16-EA481605F6D8}"/>
              </a:ext>
            </a:extLst>
          </p:cNvPr>
          <p:cNvCxnSpPr>
            <a:cxnSpLocks/>
            <a:stCxn id="46" idx="4"/>
            <a:endCxn id="49" idx="7"/>
          </p:cNvCxnSpPr>
          <p:nvPr/>
        </p:nvCxnSpPr>
        <p:spPr>
          <a:xfrm flipH="1">
            <a:off x="8835247" y="3265116"/>
            <a:ext cx="173700" cy="337800"/>
          </a:xfrm>
          <a:prstGeom prst="straightConnector1">
            <a:avLst/>
          </a:prstGeom>
          <a:noFill/>
          <a:ln w="9525" cap="flat" cmpd="sng">
            <a:solidFill>
              <a:schemeClr val="dk2"/>
            </a:solidFill>
            <a:prstDash val="solid"/>
            <a:round/>
            <a:headEnd type="none" w="med" len="med"/>
            <a:tailEnd type="triangle" w="med" len="med"/>
          </a:ln>
        </p:spPr>
      </p:cxnSp>
      <p:cxnSp>
        <p:nvCxnSpPr>
          <p:cNvPr id="57" name="Google Shape;148;p21">
            <a:extLst>
              <a:ext uri="{FF2B5EF4-FFF2-40B4-BE49-F238E27FC236}">
                <a16:creationId xmlns:a16="http://schemas.microsoft.com/office/drawing/2014/main" id="{11588DF4-B787-8689-76FF-C0BFE94D1596}"/>
              </a:ext>
            </a:extLst>
          </p:cNvPr>
          <p:cNvCxnSpPr>
            <a:cxnSpLocks/>
            <a:stCxn id="46" idx="4"/>
            <a:endCxn id="50" idx="1"/>
          </p:cNvCxnSpPr>
          <p:nvPr/>
        </p:nvCxnSpPr>
        <p:spPr>
          <a:xfrm>
            <a:off x="9008947" y="3265116"/>
            <a:ext cx="142500" cy="337800"/>
          </a:xfrm>
          <a:prstGeom prst="straightConnector1">
            <a:avLst/>
          </a:prstGeom>
          <a:noFill/>
          <a:ln w="9525" cap="flat" cmpd="sng">
            <a:solidFill>
              <a:schemeClr val="dk2"/>
            </a:solidFill>
            <a:prstDash val="solid"/>
            <a:round/>
            <a:headEnd type="none" w="med" len="med"/>
            <a:tailEnd type="triangle" w="med" len="med"/>
          </a:ln>
        </p:spPr>
      </p:cxnSp>
      <p:sp>
        <p:nvSpPr>
          <p:cNvPr id="58" name="Google Shape;149;p21">
            <a:extLst>
              <a:ext uri="{FF2B5EF4-FFF2-40B4-BE49-F238E27FC236}">
                <a16:creationId xmlns:a16="http://schemas.microsoft.com/office/drawing/2014/main" id="{75D7DAFF-45D5-ABF1-6FC7-5BAD8799905C}"/>
              </a:ext>
            </a:extLst>
          </p:cNvPr>
          <p:cNvSpPr/>
          <p:nvPr/>
        </p:nvSpPr>
        <p:spPr>
          <a:xfrm>
            <a:off x="10543209" y="2295904"/>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Google Shape;150;p21">
            <a:extLst>
              <a:ext uri="{FF2B5EF4-FFF2-40B4-BE49-F238E27FC236}">
                <a16:creationId xmlns:a16="http://schemas.microsoft.com/office/drawing/2014/main" id="{A8D52FA1-DD64-4ADA-1C66-DF3CC34F9E93}"/>
              </a:ext>
            </a:extLst>
          </p:cNvPr>
          <p:cNvSpPr/>
          <p:nvPr/>
        </p:nvSpPr>
        <p:spPr>
          <a:xfrm>
            <a:off x="10097947" y="280219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0" name="Google Shape;151;p21">
            <a:extLst>
              <a:ext uri="{FF2B5EF4-FFF2-40B4-BE49-F238E27FC236}">
                <a16:creationId xmlns:a16="http://schemas.microsoft.com/office/drawing/2014/main" id="{2779FAEA-6E54-B780-289A-2CA80AFA314C}"/>
              </a:ext>
            </a:extLst>
          </p:cNvPr>
          <p:cNvSpPr/>
          <p:nvPr/>
        </p:nvSpPr>
        <p:spPr>
          <a:xfrm>
            <a:off x="11063959" y="27660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Google Shape;152;p21">
            <a:extLst>
              <a:ext uri="{FF2B5EF4-FFF2-40B4-BE49-F238E27FC236}">
                <a16:creationId xmlns:a16="http://schemas.microsoft.com/office/drawing/2014/main" id="{30B7A60E-B574-0D18-9ADB-04D10DA2482E}"/>
              </a:ext>
            </a:extLst>
          </p:cNvPr>
          <p:cNvSpPr/>
          <p:nvPr/>
        </p:nvSpPr>
        <p:spPr>
          <a:xfrm>
            <a:off x="9813597" y="35190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Google Shape;153;p21">
            <a:extLst>
              <a:ext uri="{FF2B5EF4-FFF2-40B4-BE49-F238E27FC236}">
                <a16:creationId xmlns:a16="http://schemas.microsoft.com/office/drawing/2014/main" id="{1C14B88B-F02F-15A0-5489-CC3B1636308A}"/>
              </a:ext>
            </a:extLst>
          </p:cNvPr>
          <p:cNvSpPr/>
          <p:nvPr/>
        </p:nvSpPr>
        <p:spPr>
          <a:xfrm>
            <a:off x="10307222" y="3519041"/>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3" name="Google Shape;154;p21">
            <a:extLst>
              <a:ext uri="{FF2B5EF4-FFF2-40B4-BE49-F238E27FC236}">
                <a16:creationId xmlns:a16="http://schemas.microsoft.com/office/drawing/2014/main" id="{4AEF485A-31A0-47AB-0C0D-55AB1E223CA5}"/>
              </a:ext>
            </a:extLst>
          </p:cNvPr>
          <p:cNvSpPr/>
          <p:nvPr/>
        </p:nvSpPr>
        <p:spPr>
          <a:xfrm>
            <a:off x="10834509" y="34813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4" name="Google Shape;155;p21">
            <a:extLst>
              <a:ext uri="{FF2B5EF4-FFF2-40B4-BE49-F238E27FC236}">
                <a16:creationId xmlns:a16="http://schemas.microsoft.com/office/drawing/2014/main" id="{BAEE9BA7-3004-93D7-49F0-F65DFD98700E}"/>
              </a:ext>
            </a:extLst>
          </p:cNvPr>
          <p:cNvSpPr/>
          <p:nvPr/>
        </p:nvSpPr>
        <p:spPr>
          <a:xfrm>
            <a:off x="11366197" y="3481316"/>
            <a:ext cx="347400" cy="383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5" name="Google Shape;156;p21">
            <a:extLst>
              <a:ext uri="{FF2B5EF4-FFF2-40B4-BE49-F238E27FC236}">
                <a16:creationId xmlns:a16="http://schemas.microsoft.com/office/drawing/2014/main" id="{10AF4541-4EAF-BDA2-47B7-9F57951F570B}"/>
              </a:ext>
            </a:extLst>
          </p:cNvPr>
          <p:cNvCxnSpPr>
            <a:cxnSpLocks/>
            <a:stCxn id="58" idx="4"/>
            <a:endCxn id="59" idx="6"/>
          </p:cNvCxnSpPr>
          <p:nvPr/>
        </p:nvCxnSpPr>
        <p:spPr>
          <a:xfrm flipH="1">
            <a:off x="10445409" y="2679304"/>
            <a:ext cx="271500" cy="31470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157;p21">
            <a:extLst>
              <a:ext uri="{FF2B5EF4-FFF2-40B4-BE49-F238E27FC236}">
                <a16:creationId xmlns:a16="http://schemas.microsoft.com/office/drawing/2014/main" id="{D438D6D1-9554-9A13-5337-F148D8FE71EB}"/>
              </a:ext>
            </a:extLst>
          </p:cNvPr>
          <p:cNvCxnSpPr>
            <a:cxnSpLocks/>
            <a:stCxn id="58" idx="4"/>
            <a:endCxn id="60" idx="2"/>
          </p:cNvCxnSpPr>
          <p:nvPr/>
        </p:nvCxnSpPr>
        <p:spPr>
          <a:xfrm>
            <a:off x="10716909" y="2679304"/>
            <a:ext cx="347100" cy="27840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158;p21">
            <a:extLst>
              <a:ext uri="{FF2B5EF4-FFF2-40B4-BE49-F238E27FC236}">
                <a16:creationId xmlns:a16="http://schemas.microsoft.com/office/drawing/2014/main" id="{5675007F-AE38-367A-C5A9-821D25AAE2E1}"/>
              </a:ext>
            </a:extLst>
          </p:cNvPr>
          <p:cNvCxnSpPr>
            <a:cxnSpLocks/>
            <a:stCxn id="59" idx="4"/>
            <a:endCxn id="61" idx="7"/>
          </p:cNvCxnSpPr>
          <p:nvPr/>
        </p:nvCxnSpPr>
        <p:spPr>
          <a:xfrm flipH="1">
            <a:off x="10110247" y="3185591"/>
            <a:ext cx="161400" cy="38970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159;p21">
            <a:extLst>
              <a:ext uri="{FF2B5EF4-FFF2-40B4-BE49-F238E27FC236}">
                <a16:creationId xmlns:a16="http://schemas.microsoft.com/office/drawing/2014/main" id="{2BC07B8C-C558-DB35-E272-243410342990}"/>
              </a:ext>
            </a:extLst>
          </p:cNvPr>
          <p:cNvCxnSpPr>
            <a:cxnSpLocks/>
            <a:stCxn id="59" idx="4"/>
            <a:endCxn id="62" idx="1"/>
          </p:cNvCxnSpPr>
          <p:nvPr/>
        </p:nvCxnSpPr>
        <p:spPr>
          <a:xfrm>
            <a:off x="10271647" y="3185591"/>
            <a:ext cx="86400" cy="389700"/>
          </a:xfrm>
          <a:prstGeom prst="straightConnector1">
            <a:avLst/>
          </a:prstGeom>
          <a:noFill/>
          <a:ln w="9525" cap="flat" cmpd="sng">
            <a:solidFill>
              <a:schemeClr val="dk2"/>
            </a:solidFill>
            <a:prstDash val="solid"/>
            <a:round/>
            <a:headEnd type="none" w="med" len="med"/>
            <a:tailEnd type="triangle" w="med" len="med"/>
          </a:ln>
        </p:spPr>
      </p:cxnSp>
      <p:cxnSp>
        <p:nvCxnSpPr>
          <p:cNvPr id="69" name="Google Shape;160;p21">
            <a:extLst>
              <a:ext uri="{FF2B5EF4-FFF2-40B4-BE49-F238E27FC236}">
                <a16:creationId xmlns:a16="http://schemas.microsoft.com/office/drawing/2014/main" id="{056030CE-9580-7D85-AF40-8009829AA480}"/>
              </a:ext>
            </a:extLst>
          </p:cNvPr>
          <p:cNvCxnSpPr>
            <a:cxnSpLocks/>
            <a:stCxn id="60" idx="4"/>
            <a:endCxn id="63" idx="7"/>
          </p:cNvCxnSpPr>
          <p:nvPr/>
        </p:nvCxnSpPr>
        <p:spPr>
          <a:xfrm flipH="1">
            <a:off x="11131159" y="3149416"/>
            <a:ext cx="106500" cy="387900"/>
          </a:xfrm>
          <a:prstGeom prst="straightConnector1">
            <a:avLst/>
          </a:prstGeom>
          <a:noFill/>
          <a:ln w="9525" cap="flat" cmpd="sng">
            <a:solidFill>
              <a:schemeClr val="dk2"/>
            </a:solidFill>
            <a:prstDash val="solid"/>
            <a:round/>
            <a:headEnd type="none" w="med" len="med"/>
            <a:tailEnd type="triangle" w="med" len="med"/>
          </a:ln>
        </p:spPr>
      </p:cxnSp>
      <p:cxnSp>
        <p:nvCxnSpPr>
          <p:cNvPr id="70" name="Google Shape;161;p21">
            <a:extLst>
              <a:ext uri="{FF2B5EF4-FFF2-40B4-BE49-F238E27FC236}">
                <a16:creationId xmlns:a16="http://schemas.microsoft.com/office/drawing/2014/main" id="{C2329053-B316-733C-EDEC-C0465F3AE127}"/>
              </a:ext>
            </a:extLst>
          </p:cNvPr>
          <p:cNvCxnSpPr>
            <a:cxnSpLocks/>
            <a:stCxn id="60" idx="4"/>
            <a:endCxn id="64" idx="1"/>
          </p:cNvCxnSpPr>
          <p:nvPr/>
        </p:nvCxnSpPr>
        <p:spPr>
          <a:xfrm>
            <a:off x="11237659" y="3149416"/>
            <a:ext cx="179400" cy="3879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162;p21">
            <a:extLst>
              <a:ext uri="{FF2B5EF4-FFF2-40B4-BE49-F238E27FC236}">
                <a16:creationId xmlns:a16="http://schemas.microsoft.com/office/drawing/2014/main" id="{129A8B24-202C-DAEE-640F-A55C78E38AF4}"/>
              </a:ext>
            </a:extLst>
          </p:cNvPr>
          <p:cNvCxnSpPr>
            <a:cxnSpLocks/>
            <a:stCxn id="43" idx="4"/>
            <a:endCxn id="58" idx="2"/>
          </p:cNvCxnSpPr>
          <p:nvPr/>
        </p:nvCxnSpPr>
        <p:spPr>
          <a:xfrm>
            <a:off x="9986259" y="1974341"/>
            <a:ext cx="556950" cy="513263"/>
          </a:xfrm>
          <a:prstGeom prst="straightConnector1">
            <a:avLst/>
          </a:prstGeom>
          <a:noFill/>
          <a:ln w="9525" cap="flat" cmpd="sng">
            <a:solidFill>
              <a:schemeClr val="dk2"/>
            </a:solidFill>
            <a:prstDash val="solid"/>
            <a:round/>
            <a:headEnd type="none" w="med" len="med"/>
            <a:tailEnd type="triangle" w="med" len="med"/>
          </a:ln>
        </p:spPr>
      </p:cxnSp>
      <p:graphicFrame>
        <p:nvGraphicFramePr>
          <p:cNvPr id="73" name="Table 72">
            <a:extLst>
              <a:ext uri="{FF2B5EF4-FFF2-40B4-BE49-F238E27FC236}">
                <a16:creationId xmlns:a16="http://schemas.microsoft.com/office/drawing/2014/main" id="{4171857D-3F92-25EE-8C35-51540918C45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solidFill>
                            <a:schemeClr val="tx1"/>
                          </a:solidFill>
                        </a:rPr>
                        <a:t>Outbound</a:t>
                      </a:r>
                    </a:p>
                  </a:txBody>
                  <a:tcPr>
                    <a:solidFill>
                      <a:schemeClr val="accent6">
                        <a:lumMod val="60000"/>
                        <a:lumOff val="40000"/>
                      </a:schemeClr>
                    </a:solidFill>
                  </a:tcPr>
                </a:tc>
                <a:tc>
                  <a:txBody>
                    <a:bodyPr/>
                    <a:lstStyle/>
                    <a:p>
                      <a:r>
                        <a:rPr lang="en-US" sz="1800" dirty="0"/>
                        <a:t>Inbound</a:t>
                      </a:r>
                    </a:p>
                  </a:txBody>
                  <a:tcPr/>
                </a:tc>
                <a:extLst>
                  <a:ext uri="{0D108BD9-81ED-4DB2-BD59-A6C34878D82A}">
                    <a16:rowId xmlns:a16="http://schemas.microsoft.com/office/drawing/2014/main" val="2922337572"/>
                  </a:ext>
                </a:extLst>
              </a:tr>
            </a:tbl>
          </a:graphicData>
        </a:graphic>
      </p:graphicFrame>
      <p:sp>
        <p:nvSpPr>
          <p:cNvPr id="77" name="TextBox 76">
            <a:extLst>
              <a:ext uri="{FF2B5EF4-FFF2-40B4-BE49-F238E27FC236}">
                <a16:creationId xmlns:a16="http://schemas.microsoft.com/office/drawing/2014/main" id="{562B6C99-2EAD-251A-9A24-FF01ADB995D3}"/>
              </a:ext>
            </a:extLst>
          </p:cNvPr>
          <p:cNvSpPr txBox="1"/>
          <p:nvPr/>
        </p:nvSpPr>
        <p:spPr>
          <a:xfrm>
            <a:off x="2311240" y="1684793"/>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Latency</a:t>
            </a:r>
          </a:p>
        </p:txBody>
      </p:sp>
      <p:sp>
        <p:nvSpPr>
          <p:cNvPr id="78" name="TextBox 77">
            <a:extLst>
              <a:ext uri="{FF2B5EF4-FFF2-40B4-BE49-F238E27FC236}">
                <a16:creationId xmlns:a16="http://schemas.microsoft.com/office/drawing/2014/main" id="{3C4C1F50-7AD1-2C46-579E-BF89B89B3486}"/>
              </a:ext>
            </a:extLst>
          </p:cNvPr>
          <p:cNvSpPr txBox="1"/>
          <p:nvPr/>
        </p:nvSpPr>
        <p:spPr>
          <a:xfrm>
            <a:off x="4157514" y="1692144"/>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Fairness</a:t>
            </a:r>
          </a:p>
        </p:txBody>
      </p:sp>
      <p:pic>
        <p:nvPicPr>
          <p:cNvPr id="79" name="Picture 78" descr="A black background with a black square&#10;&#10;AI-generated content may be incorrect.">
            <a:extLst>
              <a:ext uri="{FF2B5EF4-FFF2-40B4-BE49-F238E27FC236}">
                <a16:creationId xmlns:a16="http://schemas.microsoft.com/office/drawing/2014/main" id="{B870BB2D-DA46-AF24-754E-7FA6CDB22EB2}"/>
              </a:ext>
            </a:extLst>
          </p:cNvPr>
          <p:cNvPicPr>
            <a:picLocks noChangeAspect="1"/>
          </p:cNvPicPr>
          <p:nvPr/>
        </p:nvPicPr>
        <p:blipFill>
          <a:blip r:embed="rId3"/>
          <a:stretch>
            <a:fillRect/>
          </a:stretch>
        </p:blipFill>
        <p:spPr>
          <a:xfrm>
            <a:off x="2877072" y="2107828"/>
            <a:ext cx="2335164" cy="591256"/>
          </a:xfrm>
          <a:prstGeom prst="rect">
            <a:avLst/>
          </a:prstGeom>
        </p:spPr>
      </p:pic>
      <p:pic>
        <p:nvPicPr>
          <p:cNvPr id="4" name="Picture 3">
            <a:extLst>
              <a:ext uri="{FF2B5EF4-FFF2-40B4-BE49-F238E27FC236}">
                <a16:creationId xmlns:a16="http://schemas.microsoft.com/office/drawing/2014/main" id="{B783F41A-70BD-3FAA-0C13-C190D9FA40D5}"/>
              </a:ext>
            </a:extLst>
          </p:cNvPr>
          <p:cNvPicPr>
            <a:picLocks noChangeAspect="1"/>
          </p:cNvPicPr>
          <p:nvPr/>
        </p:nvPicPr>
        <p:blipFill>
          <a:blip r:embed="rId4"/>
          <a:stretch>
            <a:fillRect/>
          </a:stretch>
        </p:blipFill>
        <p:spPr>
          <a:xfrm>
            <a:off x="2480301" y="438180"/>
            <a:ext cx="4880171" cy="36627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4865514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nodeType="clickEffect">
                                  <p:stCondLst>
                                    <p:cond delay="0"/>
                                  </p:stCondLst>
                                  <p:childTnLst>
                                    <p:animRot by="21600000">
                                      <p:cBhvr>
                                        <p:cTn id="18" dur="500" fill="hold"/>
                                        <p:tgtEl>
                                          <p:spTgt spid="52"/>
                                        </p:tgtEl>
                                        <p:attrNameLst>
                                          <p:attrName>r</p:attrName>
                                        </p:attrNameLst>
                                      </p:cBhvr>
                                    </p:animRot>
                                  </p:childTnLst>
                                </p:cTn>
                              </p:par>
                              <p:par>
                                <p:cTn id="19" presetID="8" presetClass="emph" presetSubtype="0" fill="hold" nodeType="withEffect">
                                  <p:stCondLst>
                                    <p:cond delay="0"/>
                                  </p:stCondLst>
                                  <p:childTnLst>
                                    <p:animRot by="21600000">
                                      <p:cBhvr>
                                        <p:cTn id="20" dur="500" fill="hold"/>
                                        <p:tgtEl>
                                          <p:spTgt spid="53"/>
                                        </p:tgtEl>
                                        <p:attrNameLst>
                                          <p:attrName>r</p:attrName>
                                        </p:attrNameLst>
                                      </p:cBhvr>
                                    </p:animRot>
                                  </p:childTnLst>
                                </p:cTn>
                              </p:par>
                              <p:par>
                                <p:cTn id="21" presetID="8" presetClass="emph" presetSubtype="0" fill="hold" nodeType="withEffect">
                                  <p:stCondLst>
                                    <p:cond delay="0"/>
                                  </p:stCondLst>
                                  <p:childTnLst>
                                    <p:animRot by="21600000">
                                      <p:cBhvr>
                                        <p:cTn id="22" dur="500" fill="hold"/>
                                        <p:tgtEl>
                                          <p:spTgt spid="65"/>
                                        </p:tgtEl>
                                        <p:attrNameLst>
                                          <p:attrName>r</p:attrName>
                                        </p:attrNameLst>
                                      </p:cBhvr>
                                    </p:animRot>
                                  </p:childTnLst>
                                </p:cTn>
                              </p:par>
                              <p:par>
                                <p:cTn id="23" presetID="8" presetClass="emph" presetSubtype="0" fill="hold" nodeType="withEffect">
                                  <p:stCondLst>
                                    <p:cond delay="0"/>
                                  </p:stCondLst>
                                  <p:childTnLst>
                                    <p:animRot by="21600000">
                                      <p:cBhvr>
                                        <p:cTn id="24" dur="500" fill="hold"/>
                                        <p:tgtEl>
                                          <p:spTgt spid="66"/>
                                        </p:tgtEl>
                                        <p:attrNameLst>
                                          <p:attrName>r</p:attrName>
                                        </p:attrNameLst>
                                      </p:cBhvr>
                                    </p:animRo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6" presetClass="emph" presetSubtype="0" fill="hold" grpId="0" nodeType="clickEffect">
                                  <p:stCondLst>
                                    <p:cond delay="0"/>
                                  </p:stCondLst>
                                  <p:childTnLst>
                                    <p:animEffect transition="out" filter="fade">
                                      <p:cBhvr>
                                        <p:cTn id="34" dur="500" tmFilter="0, 0; .2, .5; .8, .5; 1, 0"/>
                                        <p:tgtEl>
                                          <p:spTgt spid="44"/>
                                        </p:tgtEl>
                                      </p:cBhvr>
                                    </p:animEffect>
                                    <p:animScale>
                                      <p:cBhvr>
                                        <p:cTn id="35" dur="250" autoRev="1" fill="hold"/>
                                        <p:tgtEl>
                                          <p:spTgt spid="44"/>
                                        </p:tgtEl>
                                      </p:cBhvr>
                                      <p:by x="105000" y="105000"/>
                                    </p:animScale>
                                  </p:childTnLst>
                                </p:cTn>
                              </p:par>
                              <p:par>
                                <p:cTn id="36" presetID="26" presetClass="emph" presetSubtype="0" fill="hold" grpId="0" nodeType="withEffect">
                                  <p:stCondLst>
                                    <p:cond delay="0"/>
                                  </p:stCondLst>
                                  <p:childTnLst>
                                    <p:animEffect transition="out" filter="fade">
                                      <p:cBhvr>
                                        <p:cTn id="37" dur="500" tmFilter="0, 0; .2, .5; .8, .5; 1, 0"/>
                                        <p:tgtEl>
                                          <p:spTgt spid="45"/>
                                        </p:tgtEl>
                                      </p:cBhvr>
                                    </p:animEffect>
                                    <p:animScale>
                                      <p:cBhvr>
                                        <p:cTn id="38" dur="250" autoRev="1" fill="hold"/>
                                        <p:tgtEl>
                                          <p:spTgt spid="45"/>
                                        </p:tgtEl>
                                      </p:cBhvr>
                                      <p:by x="105000" y="105000"/>
                                    </p:animScale>
                                  </p:childTnLst>
                                </p:cTn>
                              </p:par>
                              <p:par>
                                <p:cTn id="39" presetID="26" presetClass="emph" presetSubtype="0" fill="hold" grpId="0" nodeType="withEffect">
                                  <p:stCondLst>
                                    <p:cond delay="0"/>
                                  </p:stCondLst>
                                  <p:childTnLst>
                                    <p:animEffect transition="out" filter="fade">
                                      <p:cBhvr>
                                        <p:cTn id="40" dur="500" tmFilter="0, 0; .2, .5; .8, .5; 1, 0"/>
                                        <p:tgtEl>
                                          <p:spTgt spid="46"/>
                                        </p:tgtEl>
                                      </p:cBhvr>
                                    </p:animEffect>
                                    <p:animScale>
                                      <p:cBhvr>
                                        <p:cTn id="41" dur="250" autoRev="1" fill="hold"/>
                                        <p:tgtEl>
                                          <p:spTgt spid="46"/>
                                        </p:tgtEl>
                                      </p:cBhvr>
                                      <p:by x="105000" y="105000"/>
                                    </p:animScale>
                                  </p:childTnLst>
                                </p:cTn>
                              </p:par>
                              <p:par>
                                <p:cTn id="42" presetID="26" presetClass="emph" presetSubtype="0" fill="hold" grpId="0" nodeType="withEffect">
                                  <p:stCondLst>
                                    <p:cond delay="0"/>
                                  </p:stCondLst>
                                  <p:childTnLst>
                                    <p:animEffect transition="out" filter="fade">
                                      <p:cBhvr>
                                        <p:cTn id="43" dur="500" tmFilter="0, 0; .2, .5; .8, .5; 1, 0"/>
                                        <p:tgtEl>
                                          <p:spTgt spid="59"/>
                                        </p:tgtEl>
                                      </p:cBhvr>
                                    </p:animEffect>
                                    <p:animScale>
                                      <p:cBhvr>
                                        <p:cTn id="44" dur="250" autoRev="1" fill="hold"/>
                                        <p:tgtEl>
                                          <p:spTgt spid="59"/>
                                        </p:tgtEl>
                                      </p:cBhvr>
                                      <p:by x="105000" y="105000"/>
                                    </p:animScale>
                                  </p:childTnLst>
                                </p:cTn>
                              </p:par>
                              <p:par>
                                <p:cTn id="45" presetID="26" presetClass="emph" presetSubtype="0" fill="hold" grpId="0" nodeType="withEffect">
                                  <p:stCondLst>
                                    <p:cond delay="0"/>
                                  </p:stCondLst>
                                  <p:childTnLst>
                                    <p:animEffect transition="out" filter="fade">
                                      <p:cBhvr>
                                        <p:cTn id="46" dur="500" tmFilter="0, 0; .2, .5; .8, .5; 1, 0"/>
                                        <p:tgtEl>
                                          <p:spTgt spid="58"/>
                                        </p:tgtEl>
                                      </p:cBhvr>
                                    </p:animEffect>
                                    <p:animScale>
                                      <p:cBhvr>
                                        <p:cTn id="47" dur="250" autoRev="1" fill="hold"/>
                                        <p:tgtEl>
                                          <p:spTgt spid="58"/>
                                        </p:tgtEl>
                                      </p:cBhvr>
                                      <p:by x="105000" y="105000"/>
                                    </p:animScale>
                                  </p:childTnLst>
                                </p:cTn>
                              </p:par>
                              <p:par>
                                <p:cTn id="48" presetID="26" presetClass="emph" presetSubtype="0" fill="hold" grpId="0" nodeType="withEffect">
                                  <p:stCondLst>
                                    <p:cond delay="0"/>
                                  </p:stCondLst>
                                  <p:childTnLst>
                                    <p:animEffect transition="out" filter="fade">
                                      <p:cBhvr>
                                        <p:cTn id="49" dur="500" tmFilter="0, 0; .2, .5; .8, .5; 1, 0"/>
                                        <p:tgtEl>
                                          <p:spTgt spid="60"/>
                                        </p:tgtEl>
                                      </p:cBhvr>
                                    </p:animEffect>
                                    <p:animScale>
                                      <p:cBhvr>
                                        <p:cTn id="50" dur="250" autoRev="1" fill="hold"/>
                                        <p:tgtEl>
                                          <p:spTgt spid="60"/>
                                        </p:tgtEl>
                                      </p:cBhvr>
                                      <p:by x="105000" y="105000"/>
                                    </p:animScale>
                                  </p:childTnLst>
                                </p:cTn>
                              </p:par>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6" presetClass="emph" presetSubtype="0" fill="hold" grpId="0" nodeType="clickEffect">
                                  <p:stCondLst>
                                    <p:cond delay="0"/>
                                  </p:stCondLst>
                                  <p:childTnLst>
                                    <p:animEffect transition="out" filter="fade">
                                      <p:cBhvr>
                                        <p:cTn id="60" dur="500" tmFilter="0, 0; .2, .5; .8, .5; 1, 0"/>
                                        <p:tgtEl>
                                          <p:spTgt spid="47"/>
                                        </p:tgtEl>
                                      </p:cBhvr>
                                    </p:animEffect>
                                    <p:animScale>
                                      <p:cBhvr>
                                        <p:cTn id="61" dur="250" autoRev="1" fill="hold"/>
                                        <p:tgtEl>
                                          <p:spTgt spid="47"/>
                                        </p:tgtEl>
                                      </p:cBhvr>
                                      <p:by x="105000" y="105000"/>
                                    </p:animScale>
                                  </p:childTnLst>
                                </p:cTn>
                              </p:par>
                              <p:par>
                                <p:cTn id="62" presetID="26" presetClass="emph" presetSubtype="0" fill="hold" grpId="0" nodeType="withEffect">
                                  <p:stCondLst>
                                    <p:cond delay="0"/>
                                  </p:stCondLst>
                                  <p:childTnLst>
                                    <p:animEffect transition="out" filter="fade">
                                      <p:cBhvr>
                                        <p:cTn id="63" dur="500" tmFilter="0, 0; .2, .5; .8, .5; 1, 0"/>
                                        <p:tgtEl>
                                          <p:spTgt spid="48"/>
                                        </p:tgtEl>
                                      </p:cBhvr>
                                    </p:animEffect>
                                    <p:animScale>
                                      <p:cBhvr>
                                        <p:cTn id="64" dur="250" autoRev="1" fill="hold"/>
                                        <p:tgtEl>
                                          <p:spTgt spid="48"/>
                                        </p:tgtEl>
                                      </p:cBhvr>
                                      <p:by x="105000" y="105000"/>
                                    </p:animScale>
                                  </p:childTnLst>
                                </p:cTn>
                              </p:par>
                              <p:par>
                                <p:cTn id="65" presetID="26" presetClass="emph" presetSubtype="0" fill="hold" grpId="0" nodeType="withEffect">
                                  <p:stCondLst>
                                    <p:cond delay="0"/>
                                  </p:stCondLst>
                                  <p:childTnLst>
                                    <p:animEffect transition="out" filter="fade">
                                      <p:cBhvr>
                                        <p:cTn id="66" dur="500" tmFilter="0, 0; .2, .5; .8, .5; 1, 0"/>
                                        <p:tgtEl>
                                          <p:spTgt spid="49"/>
                                        </p:tgtEl>
                                      </p:cBhvr>
                                    </p:animEffect>
                                    <p:animScale>
                                      <p:cBhvr>
                                        <p:cTn id="67" dur="250" autoRev="1" fill="hold"/>
                                        <p:tgtEl>
                                          <p:spTgt spid="49"/>
                                        </p:tgtEl>
                                      </p:cBhvr>
                                      <p:by x="105000" y="105000"/>
                                    </p:animScale>
                                  </p:childTnLst>
                                </p:cTn>
                              </p:par>
                              <p:par>
                                <p:cTn id="68" presetID="26" presetClass="emph" presetSubtype="0" fill="hold" grpId="0" nodeType="withEffect">
                                  <p:stCondLst>
                                    <p:cond delay="0"/>
                                  </p:stCondLst>
                                  <p:childTnLst>
                                    <p:animEffect transition="out" filter="fade">
                                      <p:cBhvr>
                                        <p:cTn id="69" dur="500" tmFilter="0, 0; .2, .5; .8, .5; 1, 0"/>
                                        <p:tgtEl>
                                          <p:spTgt spid="50"/>
                                        </p:tgtEl>
                                      </p:cBhvr>
                                    </p:animEffect>
                                    <p:animScale>
                                      <p:cBhvr>
                                        <p:cTn id="70" dur="250" autoRev="1" fill="hold"/>
                                        <p:tgtEl>
                                          <p:spTgt spid="50"/>
                                        </p:tgtEl>
                                      </p:cBhvr>
                                      <p:by x="105000" y="105000"/>
                                    </p:animScale>
                                  </p:childTnLst>
                                </p:cTn>
                              </p:par>
                              <p:par>
                                <p:cTn id="71" presetID="26" presetClass="emph" presetSubtype="0" fill="hold" grpId="0" nodeType="withEffect">
                                  <p:stCondLst>
                                    <p:cond delay="0"/>
                                  </p:stCondLst>
                                  <p:childTnLst>
                                    <p:animEffect transition="out" filter="fade">
                                      <p:cBhvr>
                                        <p:cTn id="72" dur="500" tmFilter="0, 0; .2, .5; .8, .5; 1, 0"/>
                                        <p:tgtEl>
                                          <p:spTgt spid="61"/>
                                        </p:tgtEl>
                                      </p:cBhvr>
                                    </p:animEffect>
                                    <p:animScale>
                                      <p:cBhvr>
                                        <p:cTn id="73" dur="250" autoRev="1" fill="hold"/>
                                        <p:tgtEl>
                                          <p:spTgt spid="61"/>
                                        </p:tgtEl>
                                      </p:cBhvr>
                                      <p:by x="105000" y="105000"/>
                                    </p:animScale>
                                  </p:childTnLst>
                                </p:cTn>
                              </p:par>
                              <p:par>
                                <p:cTn id="74" presetID="26" presetClass="emph" presetSubtype="0" fill="hold" grpId="0" nodeType="withEffect">
                                  <p:stCondLst>
                                    <p:cond delay="0"/>
                                  </p:stCondLst>
                                  <p:childTnLst>
                                    <p:animEffect transition="out" filter="fade">
                                      <p:cBhvr>
                                        <p:cTn id="75" dur="500" tmFilter="0, 0; .2, .5; .8, .5; 1, 0"/>
                                        <p:tgtEl>
                                          <p:spTgt spid="62"/>
                                        </p:tgtEl>
                                      </p:cBhvr>
                                    </p:animEffect>
                                    <p:animScale>
                                      <p:cBhvr>
                                        <p:cTn id="76" dur="250" autoRev="1" fill="hold"/>
                                        <p:tgtEl>
                                          <p:spTgt spid="62"/>
                                        </p:tgtEl>
                                      </p:cBhvr>
                                      <p:by x="105000" y="105000"/>
                                    </p:animScale>
                                  </p:childTnLst>
                                </p:cTn>
                              </p:par>
                              <p:par>
                                <p:cTn id="77" presetID="26" presetClass="emph" presetSubtype="0" fill="hold" grpId="0" nodeType="withEffect">
                                  <p:stCondLst>
                                    <p:cond delay="0"/>
                                  </p:stCondLst>
                                  <p:childTnLst>
                                    <p:animEffect transition="out" filter="fade">
                                      <p:cBhvr>
                                        <p:cTn id="78" dur="500" tmFilter="0, 0; .2, .5; .8, .5; 1, 0"/>
                                        <p:tgtEl>
                                          <p:spTgt spid="63"/>
                                        </p:tgtEl>
                                      </p:cBhvr>
                                    </p:animEffect>
                                    <p:animScale>
                                      <p:cBhvr>
                                        <p:cTn id="79" dur="250" autoRev="1" fill="hold"/>
                                        <p:tgtEl>
                                          <p:spTgt spid="63"/>
                                        </p:tgtEl>
                                      </p:cBhvr>
                                      <p:by x="105000" y="105000"/>
                                    </p:animScale>
                                  </p:childTnLst>
                                </p:cTn>
                              </p:par>
                              <p:par>
                                <p:cTn id="80" presetID="26" presetClass="emph" presetSubtype="0" fill="hold" grpId="0" nodeType="withEffect">
                                  <p:stCondLst>
                                    <p:cond delay="0"/>
                                  </p:stCondLst>
                                  <p:childTnLst>
                                    <p:animEffect transition="out" filter="fade">
                                      <p:cBhvr>
                                        <p:cTn id="81" dur="500" tmFilter="0, 0; .2, .5; .8, .5; 1, 0"/>
                                        <p:tgtEl>
                                          <p:spTgt spid="64"/>
                                        </p:tgtEl>
                                      </p:cBhvr>
                                    </p:animEffect>
                                    <p:animScale>
                                      <p:cBhvr>
                                        <p:cTn id="82" dur="250" autoRev="1" fill="hold"/>
                                        <p:tgtEl>
                                          <p:spTgt spid="64"/>
                                        </p:tgtEl>
                                      </p:cBhvr>
                                      <p:by x="105000" y="105000"/>
                                    </p:animScale>
                                  </p:childTnLst>
                                </p:cTn>
                              </p:par>
                              <p:par>
                                <p:cTn id="83" presetID="1" presetClass="entr" presetSubtype="0"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animBg="1"/>
      <p:bldP spid="49" grpId="0" animBg="1"/>
      <p:bldP spid="50" grpId="0" animBg="1"/>
      <p:bldP spid="58" grpId="0" animBg="1"/>
      <p:bldP spid="59" grpId="0" animBg="1"/>
      <p:bldP spid="60" grpId="0" animBg="1"/>
      <p:bldP spid="61" grpId="0" animBg="1"/>
      <p:bldP spid="62" grpId="0" animBg="1"/>
      <p:bldP spid="63" grpId="0" animBg="1"/>
      <p:bldP spid="6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2E603A3-06AA-7A41-9A17-003D81554D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527A11-CA77-7506-C0DC-27A0A5766415}"/>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Scalable Inbound Fairness</a:t>
            </a:r>
          </a:p>
        </p:txBody>
      </p:sp>
      <p:graphicFrame>
        <p:nvGraphicFramePr>
          <p:cNvPr id="5" name="TextBox 1">
            <a:extLst>
              <a:ext uri="{FF2B5EF4-FFF2-40B4-BE49-F238E27FC236}">
                <a16:creationId xmlns:a16="http://schemas.microsoft.com/office/drawing/2014/main" id="{932F8CB4-7701-4CEA-AC21-DE49ACEEB208}"/>
              </a:ext>
            </a:extLst>
          </p:cNvPr>
          <p:cNvGraphicFramePr/>
          <p:nvPr/>
        </p:nvGraphicFramePr>
        <p:xfrm>
          <a:off x="415600" y="1547467"/>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a:extLst>
              <a:ext uri="{FF2B5EF4-FFF2-40B4-BE49-F238E27FC236}">
                <a16:creationId xmlns:a16="http://schemas.microsoft.com/office/drawing/2014/main" id="{E3DBF461-35B4-5AB2-B202-97FAE0485A81}"/>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7671251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D7E3CA6-DD34-3DF0-1BC3-9E1EF151ED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0976B0-641A-24BF-42B9-B5A585809F5B}"/>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Scalable Inbound Fairness</a:t>
            </a:r>
          </a:p>
        </p:txBody>
      </p:sp>
      <p:graphicFrame>
        <p:nvGraphicFramePr>
          <p:cNvPr id="5" name="TextBox 1">
            <a:extLst>
              <a:ext uri="{FF2B5EF4-FFF2-40B4-BE49-F238E27FC236}">
                <a16:creationId xmlns:a16="http://schemas.microsoft.com/office/drawing/2014/main" id="{C1CCAE13-C613-B7F0-03B2-702407F8297B}"/>
              </a:ext>
            </a:extLst>
          </p:cNvPr>
          <p:cNvGraphicFramePr/>
          <p:nvPr/>
        </p:nvGraphicFramePr>
        <p:xfrm>
          <a:off x="415600" y="1547467"/>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a:extLst>
              <a:ext uri="{FF2B5EF4-FFF2-40B4-BE49-F238E27FC236}">
                <a16:creationId xmlns:a16="http://schemas.microsoft.com/office/drawing/2014/main" id="{E3DE11A1-4100-48AB-9992-09EC6C666BC1}"/>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TextBox 3">
            <a:extLst>
              <a:ext uri="{FF2B5EF4-FFF2-40B4-BE49-F238E27FC236}">
                <a16:creationId xmlns:a16="http://schemas.microsoft.com/office/drawing/2014/main" id="{0C4843AA-8278-A979-71E2-A5EB550C3A48}"/>
              </a:ext>
            </a:extLst>
          </p:cNvPr>
          <p:cNvSpPr txBox="1"/>
          <p:nvPr/>
        </p:nvSpPr>
        <p:spPr>
          <a:xfrm>
            <a:off x="2490951" y="5310533"/>
            <a:ext cx="132430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Sequencer</a:t>
            </a:r>
          </a:p>
        </p:txBody>
      </p:sp>
      <p:sp>
        <p:nvSpPr>
          <p:cNvPr id="6" name="TextBox 5">
            <a:extLst>
              <a:ext uri="{FF2B5EF4-FFF2-40B4-BE49-F238E27FC236}">
                <a16:creationId xmlns:a16="http://schemas.microsoft.com/office/drawing/2014/main" id="{EEB62350-34A3-3E74-A6BF-4C9961BADA1F}"/>
              </a:ext>
            </a:extLst>
          </p:cNvPr>
          <p:cNvSpPr txBox="1"/>
          <p:nvPr/>
        </p:nvSpPr>
        <p:spPr>
          <a:xfrm>
            <a:off x="9038897" y="5319332"/>
            <a:ext cx="132430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a:t>
            </a:r>
          </a:p>
        </p:txBody>
      </p:sp>
    </p:spTree>
    <p:extLst>
      <p:ext uri="{BB962C8B-B14F-4D97-AF65-F5344CB8AC3E}">
        <p14:creationId xmlns:p14="http://schemas.microsoft.com/office/powerpoint/2010/main" val="85389148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548A924-8852-2996-2135-C27F782DFD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82C4A3-C6B3-D000-513A-88FAA7477030}"/>
              </a:ext>
            </a:extLst>
          </p:cNvPr>
          <p:cNvSpPr txBox="1"/>
          <p:nvPr/>
        </p:nvSpPr>
        <p:spPr>
          <a:xfrm>
            <a:off x="415600" y="593367"/>
            <a:ext cx="11360800" cy="763600"/>
          </a:xfrm>
          <a:prstGeom prst="rect">
            <a:avLst/>
          </a:prstGeom>
          <a:noFill/>
          <a:ln>
            <a:noFill/>
          </a:ln>
        </p:spPr>
        <p:txBody>
          <a:bodyPr spcFirstLastPara="1" wrap="square" lIns="91425" tIns="91425" rIns="91425" bIns="91425" rtlCol="0" anchor="ctr" anchorCtr="0">
            <a:normAutofit/>
          </a:bodyPr>
          <a:lstStyle/>
          <a:p>
            <a:pPr marL="0" marR="0" lvl="0" indent="0" algn="l" defTabSz="1219170" rtl="0" eaLnBrk="1" fontAlgn="auto" latinLnBrk="0" hangingPunct="1">
              <a:lnSpc>
                <a:spcPct val="90000"/>
              </a:lnSpc>
              <a:spcBef>
                <a:spcPts val="0"/>
              </a:spcBef>
              <a:spcAft>
                <a:spcPts val="600"/>
              </a:spcAft>
              <a:buClr>
                <a:prstClr val="black"/>
              </a:buClr>
              <a:buSzPts val="4800"/>
              <a:buFontTx/>
              <a:buNone/>
              <a:tabLst/>
              <a:defRPr/>
            </a:pPr>
            <a:r>
              <a:rPr kumimoji="0" lang="en-US" sz="3500" b="0" i="0" u="none" strike="noStrike" kern="0" cap="none" spc="0" normalizeH="0" baseline="0" noProof="0" dirty="0">
                <a:ln>
                  <a:noFill/>
                </a:ln>
                <a:solidFill>
                  <a:prstClr val="black"/>
                </a:solidFill>
                <a:effectLst/>
                <a:uLnTx/>
                <a:uFillTx/>
                <a:latin typeface="Aptos" panose="02110004020202020204"/>
                <a:ea typeface="+mn-ea"/>
                <a:cs typeface="+mn-cs"/>
              </a:rPr>
              <a:t>Scalable Inbound Fairness</a:t>
            </a:r>
          </a:p>
        </p:txBody>
      </p:sp>
      <p:graphicFrame>
        <p:nvGraphicFramePr>
          <p:cNvPr id="5" name="TextBox 1">
            <a:extLst>
              <a:ext uri="{FF2B5EF4-FFF2-40B4-BE49-F238E27FC236}">
                <a16:creationId xmlns:a16="http://schemas.microsoft.com/office/drawing/2014/main" id="{3062C248-7535-FDD4-8695-8D91A7E8BBD3}"/>
              </a:ext>
            </a:extLst>
          </p:cNvPr>
          <p:cNvGraphicFramePr/>
          <p:nvPr/>
        </p:nvGraphicFramePr>
        <p:xfrm>
          <a:off x="415600" y="1547467"/>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a:extLst>
              <a:ext uri="{FF2B5EF4-FFF2-40B4-BE49-F238E27FC236}">
                <a16:creationId xmlns:a16="http://schemas.microsoft.com/office/drawing/2014/main" id="{5E232B7F-5CF1-7A5B-773A-0B7F905B05D5}"/>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a:t>
                      </a: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4" name="TextBox 3">
            <a:extLst>
              <a:ext uri="{FF2B5EF4-FFF2-40B4-BE49-F238E27FC236}">
                <a16:creationId xmlns:a16="http://schemas.microsoft.com/office/drawing/2014/main" id="{BD1CF28C-6EEC-D2D5-F09A-76618BE15AD5}"/>
              </a:ext>
            </a:extLst>
          </p:cNvPr>
          <p:cNvSpPr txBox="1"/>
          <p:nvPr/>
        </p:nvSpPr>
        <p:spPr>
          <a:xfrm>
            <a:off x="9412012" y="6546410"/>
            <a:ext cx="132430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Sequencer</a:t>
            </a:r>
          </a:p>
        </p:txBody>
      </p:sp>
      <p:sp>
        <p:nvSpPr>
          <p:cNvPr id="6" name="TextBox 5">
            <a:extLst>
              <a:ext uri="{FF2B5EF4-FFF2-40B4-BE49-F238E27FC236}">
                <a16:creationId xmlns:a16="http://schemas.microsoft.com/office/drawing/2014/main" id="{A9244D84-CF1C-6A96-B8A4-EB8821C1496B}"/>
              </a:ext>
            </a:extLst>
          </p:cNvPr>
          <p:cNvSpPr txBox="1"/>
          <p:nvPr/>
        </p:nvSpPr>
        <p:spPr>
          <a:xfrm>
            <a:off x="10933386" y="6553704"/>
            <a:ext cx="132430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a:t>
            </a:r>
          </a:p>
        </p:txBody>
      </p:sp>
    </p:spTree>
    <p:extLst>
      <p:ext uri="{BB962C8B-B14F-4D97-AF65-F5344CB8AC3E}">
        <p14:creationId xmlns:p14="http://schemas.microsoft.com/office/powerpoint/2010/main" val="34359188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90CA020-B942-1D1D-1CF8-83C7EF8ADF87}"/>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BB2B92B8-E904-AC2A-54EE-D9BFA1E8D02E}"/>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phic 1" descr="Server with solid fill">
            <a:extLst>
              <a:ext uri="{FF2B5EF4-FFF2-40B4-BE49-F238E27FC236}">
                <a16:creationId xmlns:a16="http://schemas.microsoft.com/office/drawing/2014/main" id="{49C358E6-EDB7-99E1-40B4-1CC09F2F496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12480" y="1084937"/>
            <a:ext cx="1219200" cy="1219200"/>
          </a:xfrm>
          <a:prstGeom prst="rect">
            <a:avLst/>
          </a:prstGeom>
        </p:spPr>
      </p:pic>
      <p:sp>
        <p:nvSpPr>
          <p:cNvPr id="4" name="TextBox 3">
            <a:extLst>
              <a:ext uri="{FF2B5EF4-FFF2-40B4-BE49-F238E27FC236}">
                <a16:creationId xmlns:a16="http://schemas.microsoft.com/office/drawing/2014/main" id="{2724CD92-C90E-1B5C-AA92-077BAD4613CF}"/>
              </a:ext>
            </a:extLst>
          </p:cNvPr>
          <p:cNvSpPr txBox="1"/>
          <p:nvPr/>
        </p:nvSpPr>
        <p:spPr>
          <a:xfrm>
            <a:off x="9487593" y="1317631"/>
            <a:ext cx="181771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7" name="Graphic 6" descr="Processor outline">
            <a:extLst>
              <a:ext uri="{FF2B5EF4-FFF2-40B4-BE49-F238E27FC236}">
                <a16:creationId xmlns:a16="http://schemas.microsoft.com/office/drawing/2014/main" id="{E047F8BE-55A7-1058-82B5-63C06B96324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86604" y="4720117"/>
            <a:ext cx="1052945" cy="1052945"/>
          </a:xfrm>
          <a:prstGeom prst="rect">
            <a:avLst/>
          </a:prstGeom>
        </p:spPr>
      </p:pic>
      <p:sp>
        <p:nvSpPr>
          <p:cNvPr id="8" name="TextBox 7">
            <a:extLst>
              <a:ext uri="{FF2B5EF4-FFF2-40B4-BE49-F238E27FC236}">
                <a16:creationId xmlns:a16="http://schemas.microsoft.com/office/drawing/2014/main" id="{F590DB5B-A69E-883F-CFAF-CB5B6E14240F}"/>
              </a:ext>
            </a:extLst>
          </p:cNvPr>
          <p:cNvSpPr txBox="1"/>
          <p:nvPr/>
        </p:nvSpPr>
        <p:spPr>
          <a:xfrm>
            <a:off x="8412481" y="5872893"/>
            <a:ext cx="179408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Participants</a:t>
            </a:r>
          </a:p>
        </p:txBody>
      </p:sp>
      <p:pic>
        <p:nvPicPr>
          <p:cNvPr id="9" name="Graphic 8" descr="Processor outline">
            <a:extLst>
              <a:ext uri="{FF2B5EF4-FFF2-40B4-BE49-F238E27FC236}">
                <a16:creationId xmlns:a16="http://schemas.microsoft.com/office/drawing/2014/main" id="{564D0236-01DF-883E-0163-E9E3829853E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68276" y="4720117"/>
            <a:ext cx="1052945" cy="1052945"/>
          </a:xfrm>
          <a:prstGeom prst="rect">
            <a:avLst/>
          </a:prstGeom>
        </p:spPr>
      </p:pic>
      <p:pic>
        <p:nvPicPr>
          <p:cNvPr id="10" name="Graphic 9" descr="Processor outline">
            <a:extLst>
              <a:ext uri="{FF2B5EF4-FFF2-40B4-BE49-F238E27FC236}">
                <a16:creationId xmlns:a16="http://schemas.microsoft.com/office/drawing/2014/main" id="{12FBDE2C-933F-2C22-8FAC-7A3F813610D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27440" y="4720118"/>
            <a:ext cx="1052945" cy="1052945"/>
          </a:xfrm>
          <a:prstGeom prst="rect">
            <a:avLst/>
          </a:prstGeom>
        </p:spPr>
      </p:pic>
      <p:cxnSp>
        <p:nvCxnSpPr>
          <p:cNvPr id="12" name="Straight Arrow Connector 11">
            <a:extLst>
              <a:ext uri="{FF2B5EF4-FFF2-40B4-BE49-F238E27FC236}">
                <a16:creationId xmlns:a16="http://schemas.microsoft.com/office/drawing/2014/main" id="{CA19AA89-51B8-06B9-1591-06205CF77F42}"/>
              </a:ext>
            </a:extLst>
          </p:cNvPr>
          <p:cNvCxnSpPr>
            <a:cxnSpLocks/>
          </p:cNvCxnSpPr>
          <p:nvPr/>
        </p:nvCxnSpPr>
        <p:spPr>
          <a:xfrm flipV="1">
            <a:off x="8094747" y="2712887"/>
            <a:ext cx="755743" cy="20075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42BAE11-5267-32A1-6677-9D1C8DD40845}"/>
              </a:ext>
            </a:extLst>
          </p:cNvPr>
          <p:cNvCxnSpPr>
            <a:cxnSpLocks/>
            <a:stCxn id="10" idx="0"/>
          </p:cNvCxnSpPr>
          <p:nvPr/>
        </p:nvCxnSpPr>
        <p:spPr>
          <a:xfrm flipH="1" flipV="1">
            <a:off x="9053690" y="2712887"/>
            <a:ext cx="200223" cy="200723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2674F9D-2413-AB84-5575-DE515AEBD6CE}"/>
              </a:ext>
            </a:extLst>
          </p:cNvPr>
          <p:cNvCxnSpPr>
            <a:cxnSpLocks/>
            <a:stCxn id="7" idx="0"/>
          </p:cNvCxnSpPr>
          <p:nvPr/>
        </p:nvCxnSpPr>
        <p:spPr>
          <a:xfrm flipH="1" flipV="1">
            <a:off x="9253913" y="2712887"/>
            <a:ext cx="1159164" cy="200722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Google Shape;385;p33">
            <a:extLst>
              <a:ext uri="{FF2B5EF4-FFF2-40B4-BE49-F238E27FC236}">
                <a16:creationId xmlns:a16="http://schemas.microsoft.com/office/drawing/2014/main" id="{B75B6FEB-5A5F-38F8-F9C2-9C11BDCE39A3}"/>
              </a:ext>
            </a:extLst>
          </p:cNvPr>
          <p:cNvSpPr txBox="1">
            <a:spLocks/>
          </p:cNvSpPr>
          <p:nvPr/>
        </p:nvSpPr>
        <p:spPr>
          <a:xfrm>
            <a:off x="645605" y="1528477"/>
            <a:ext cx="6970363" cy="45496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 Guarantees that orders are seen by the exchange in non-decreasing order of their (generation) timestamps</a:t>
            </a:r>
            <a:br>
              <a:rPr kumimoji="0" lang="en-US" sz="2400" b="0" i="0" u="none" strike="noStrike" kern="0" cap="none" spc="0" normalizeH="0" baseline="0" noProof="0" dirty="0">
                <a:ln>
                  <a:noFill/>
                </a:ln>
                <a:solidFill>
                  <a:srgbClr val="000000"/>
                </a:solidFill>
                <a:effectLst/>
                <a:uLnTx/>
                <a:uFillTx/>
                <a:latin typeface="Arial"/>
                <a:cs typeface="Arial"/>
                <a:sym typeface="Arial"/>
              </a:rPr>
            </a:br>
            <a:endParaRPr kumimoji="0" lang="en-US" sz="2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 Assumes clock synchronization</a:t>
            </a:r>
          </a:p>
          <a:p>
            <a:pPr marL="0" marR="0" lvl="0" indent="0" algn="l" defTabSz="914400" rtl="0" eaLnBrk="1" fontAlgn="auto" latinLnBrk="0" hangingPunct="1">
              <a:lnSpc>
                <a:spcPct val="100000"/>
              </a:lnSpc>
              <a:spcBef>
                <a:spcPts val="0"/>
              </a:spcBef>
              <a:spcAft>
                <a:spcPts val="0"/>
              </a:spcAft>
              <a:buClr>
                <a:srgbClr val="000000"/>
              </a:buClr>
              <a:buSzTx/>
              <a:buFont typeface="Arial"/>
              <a:buChar char="-"/>
              <a:tabLst/>
              <a:defRPr/>
            </a:pPr>
            <a:endParaRPr kumimoji="0" lang="en-US" sz="2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Char char="-"/>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 Strawman: Wait a fixed delay before releasing time-ordered messages to Exchange Server</a:t>
            </a:r>
          </a:p>
        </p:txBody>
      </p:sp>
      <p:sp>
        <p:nvSpPr>
          <p:cNvPr id="17" name="Can 16">
            <a:extLst>
              <a:ext uri="{FF2B5EF4-FFF2-40B4-BE49-F238E27FC236}">
                <a16:creationId xmlns:a16="http://schemas.microsoft.com/office/drawing/2014/main" id="{070A3A16-69B6-CA69-75BB-01CE0BD38FAF}"/>
              </a:ext>
            </a:extLst>
          </p:cNvPr>
          <p:cNvSpPr/>
          <p:nvPr/>
        </p:nvSpPr>
        <p:spPr>
          <a:xfrm rot="5400000">
            <a:off x="12905084" y="1708677"/>
            <a:ext cx="510231" cy="13901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470FE933-1371-61B9-9F0B-F067AE2BE297}"/>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6" name="TextBox 5">
            <a:extLst>
              <a:ext uri="{FF2B5EF4-FFF2-40B4-BE49-F238E27FC236}">
                <a16:creationId xmlns:a16="http://schemas.microsoft.com/office/drawing/2014/main" id="{AC95BC50-5D8C-3C44-D8DC-D6AFF68AFFDD}"/>
              </a:ext>
            </a:extLst>
          </p:cNvPr>
          <p:cNvSpPr txBox="1"/>
          <p:nvPr/>
        </p:nvSpPr>
        <p:spPr>
          <a:xfrm>
            <a:off x="1530079" y="4937575"/>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Latency</a:t>
            </a:r>
          </a:p>
        </p:txBody>
      </p:sp>
      <p:sp>
        <p:nvSpPr>
          <p:cNvPr id="11" name="TextBox 10">
            <a:extLst>
              <a:ext uri="{FF2B5EF4-FFF2-40B4-BE49-F238E27FC236}">
                <a16:creationId xmlns:a16="http://schemas.microsoft.com/office/drawing/2014/main" id="{2BDDFBFB-BA9D-A65B-7915-D258027486F1}"/>
              </a:ext>
            </a:extLst>
          </p:cNvPr>
          <p:cNvSpPr txBox="1"/>
          <p:nvPr/>
        </p:nvSpPr>
        <p:spPr>
          <a:xfrm>
            <a:off x="3376353" y="4944926"/>
            <a:ext cx="1808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Fairness</a:t>
            </a:r>
          </a:p>
        </p:txBody>
      </p:sp>
      <p:pic>
        <p:nvPicPr>
          <p:cNvPr id="16" name="Picture 15" descr="A black background with a black square&#10;&#10;AI-generated content may be incorrect.">
            <a:extLst>
              <a:ext uri="{FF2B5EF4-FFF2-40B4-BE49-F238E27FC236}">
                <a16:creationId xmlns:a16="http://schemas.microsoft.com/office/drawing/2014/main" id="{A7073347-D37F-5787-B7CD-1BC3F862A482}"/>
              </a:ext>
            </a:extLst>
          </p:cNvPr>
          <p:cNvPicPr>
            <a:picLocks noChangeAspect="1"/>
          </p:cNvPicPr>
          <p:nvPr/>
        </p:nvPicPr>
        <p:blipFill>
          <a:blip r:embed="rId10"/>
          <a:stretch>
            <a:fillRect/>
          </a:stretch>
        </p:blipFill>
        <p:spPr>
          <a:xfrm>
            <a:off x="2095911" y="5360610"/>
            <a:ext cx="2335164" cy="591256"/>
          </a:xfrm>
          <a:prstGeom prst="rect">
            <a:avLst/>
          </a:prstGeom>
        </p:spPr>
      </p:pic>
    </p:spTree>
    <p:extLst>
      <p:ext uri="{BB962C8B-B14F-4D97-AF65-F5344CB8AC3E}">
        <p14:creationId xmlns:p14="http://schemas.microsoft.com/office/powerpoint/2010/main" val="87656470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par>
                                <p:cTn id="8" presetID="5"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heckerboard(across)">
                                      <p:cBhvr>
                                        <p:cTn id="10" dur="500"/>
                                        <p:tgtEl>
                                          <p:spTgt spid="13"/>
                                        </p:tgtEl>
                                      </p:cBhvr>
                                    </p:animEffect>
                                  </p:childTnLst>
                                </p:cTn>
                              </p:par>
                              <p:par>
                                <p:cTn id="11" presetID="5" presetClass="entr" presetSubtype="1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checkerboard(across)">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0" nodeType="clickEffect">
                                  <p:stCondLst>
                                    <p:cond delay="0"/>
                                  </p:stCondLst>
                                  <p:childTnLst>
                                    <p:animMotion origin="layout" path="M 0.0082 -0.0243 L -0.33685 -0.00486 " pathEditMode="relative" rAng="0" ptsTypes="AA">
                                      <p:cBhvr>
                                        <p:cTn id="17" dur="500" fill="hold"/>
                                        <p:tgtEl>
                                          <p:spTgt spid="17"/>
                                        </p:tgtEl>
                                        <p:attrNameLst>
                                          <p:attrName>ppt_x</p:attrName>
                                          <p:attrName>ppt_y</p:attrName>
                                        </p:attrNameLst>
                                      </p:cBhvr>
                                      <p:rCtr x="-17253" y="972"/>
                                    </p:animMotion>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dissolve">
                                      <p:cBhvr>
                                        <p:cTn id="34" dur="500"/>
                                        <p:tgtEl>
                                          <p:spTgt spid="6"/>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dissolve">
                                      <p:cBhvr>
                                        <p:cTn id="37" dur="500"/>
                                        <p:tgtEl>
                                          <p:spTgt spid="11"/>
                                        </p:tgtEl>
                                      </p:cBhvr>
                                    </p:animEffect>
                                  </p:childTnLst>
                                </p:cTn>
                              </p:par>
                              <p:par>
                                <p:cTn id="38" presetID="9"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dissolv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17" grpId="0" animBg="1"/>
      <p:bldP spid="6" grpId="0"/>
      <p:bldP spid="1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255E82D-D41E-7515-DA77-6D34EB603B5D}"/>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27859A98-AF2F-F320-5C31-811AD416CDE7}"/>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phic 1" descr="Server with solid fill">
            <a:extLst>
              <a:ext uri="{FF2B5EF4-FFF2-40B4-BE49-F238E27FC236}">
                <a16:creationId xmlns:a16="http://schemas.microsoft.com/office/drawing/2014/main" id="{CC6771BB-1616-A77C-CD16-6AA85FDB920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76800" y="1336318"/>
            <a:ext cx="1219200" cy="1219200"/>
          </a:xfrm>
          <a:prstGeom prst="rect">
            <a:avLst/>
          </a:prstGeom>
        </p:spPr>
      </p:pic>
      <p:sp>
        <p:nvSpPr>
          <p:cNvPr id="4" name="TextBox 3">
            <a:extLst>
              <a:ext uri="{FF2B5EF4-FFF2-40B4-BE49-F238E27FC236}">
                <a16:creationId xmlns:a16="http://schemas.microsoft.com/office/drawing/2014/main" id="{2184D9D4-647B-02F5-EB10-B72EA33E84AC}"/>
              </a:ext>
            </a:extLst>
          </p:cNvPr>
          <p:cNvSpPr txBox="1"/>
          <p:nvPr/>
        </p:nvSpPr>
        <p:spPr>
          <a:xfrm>
            <a:off x="5951913" y="1569012"/>
            <a:ext cx="181771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7" name="Graphic 6" descr="Processor outline">
            <a:extLst>
              <a:ext uri="{FF2B5EF4-FFF2-40B4-BE49-F238E27FC236}">
                <a16:creationId xmlns:a16="http://schemas.microsoft.com/office/drawing/2014/main" id="{65C091AE-9ACD-A298-9F1C-8DEA2556DD2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3368" y="4635916"/>
            <a:ext cx="1052945" cy="1052945"/>
          </a:xfrm>
          <a:prstGeom prst="rect">
            <a:avLst/>
          </a:prstGeom>
        </p:spPr>
      </p:pic>
      <p:sp>
        <p:nvSpPr>
          <p:cNvPr id="8" name="TextBox 7">
            <a:extLst>
              <a:ext uri="{FF2B5EF4-FFF2-40B4-BE49-F238E27FC236}">
                <a16:creationId xmlns:a16="http://schemas.microsoft.com/office/drawing/2014/main" id="{160157FA-EB98-59C9-5DCF-182EC3416BE7}"/>
              </a:ext>
            </a:extLst>
          </p:cNvPr>
          <p:cNvSpPr txBox="1"/>
          <p:nvPr/>
        </p:nvSpPr>
        <p:spPr>
          <a:xfrm>
            <a:off x="7482532" y="4931555"/>
            <a:ext cx="28216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Clients/Participants</a:t>
            </a:r>
          </a:p>
        </p:txBody>
      </p:sp>
      <p:pic>
        <p:nvPicPr>
          <p:cNvPr id="9" name="Graphic 8" descr="Processor outline">
            <a:extLst>
              <a:ext uri="{FF2B5EF4-FFF2-40B4-BE49-F238E27FC236}">
                <a16:creationId xmlns:a16="http://schemas.microsoft.com/office/drawing/2014/main" id="{5A65F2AF-DC60-51E7-B507-7CE3D582DA4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05040" y="4635916"/>
            <a:ext cx="1052945" cy="1052945"/>
          </a:xfrm>
          <a:prstGeom prst="rect">
            <a:avLst/>
          </a:prstGeom>
        </p:spPr>
      </p:pic>
      <p:pic>
        <p:nvPicPr>
          <p:cNvPr id="10" name="Graphic 9" descr="Processor outline">
            <a:extLst>
              <a:ext uri="{FF2B5EF4-FFF2-40B4-BE49-F238E27FC236}">
                <a16:creationId xmlns:a16="http://schemas.microsoft.com/office/drawing/2014/main" id="{A88AB1B7-557B-5B3D-ACEB-DF79C7D9B7B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64204" y="4635917"/>
            <a:ext cx="1052945" cy="1052945"/>
          </a:xfrm>
          <a:prstGeom prst="rect">
            <a:avLst/>
          </a:prstGeom>
        </p:spPr>
      </p:pic>
      <p:sp>
        <p:nvSpPr>
          <p:cNvPr id="17" name="Can 16">
            <a:extLst>
              <a:ext uri="{FF2B5EF4-FFF2-40B4-BE49-F238E27FC236}">
                <a16:creationId xmlns:a16="http://schemas.microsoft.com/office/drawing/2014/main" id="{772281F7-FA5A-3F2D-29E4-0792F5AF4FDB}"/>
              </a:ext>
            </a:extLst>
          </p:cNvPr>
          <p:cNvSpPr/>
          <p:nvPr/>
        </p:nvSpPr>
        <p:spPr>
          <a:xfrm rot="5400000">
            <a:off x="5373186" y="2733933"/>
            <a:ext cx="510231" cy="13901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B41C2494-3453-6E3F-A479-28D209936C9C}"/>
              </a:ext>
            </a:extLst>
          </p:cNvPr>
          <p:cNvSpPr txBox="1"/>
          <p:nvPr/>
        </p:nvSpPr>
        <p:spPr>
          <a:xfrm>
            <a:off x="158302" y="1973555"/>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 attach message generation timestamps to outgoing messages</a:t>
            </a:r>
          </a:p>
        </p:txBody>
      </p:sp>
      <p:grpSp>
        <p:nvGrpSpPr>
          <p:cNvPr id="24" name="Group 23">
            <a:extLst>
              <a:ext uri="{FF2B5EF4-FFF2-40B4-BE49-F238E27FC236}">
                <a16:creationId xmlns:a16="http://schemas.microsoft.com/office/drawing/2014/main" id="{55F3421D-39EF-231C-325C-46935A93924B}"/>
              </a:ext>
            </a:extLst>
          </p:cNvPr>
          <p:cNvGrpSpPr/>
          <p:nvPr/>
        </p:nvGrpSpPr>
        <p:grpSpPr>
          <a:xfrm>
            <a:off x="5313966" y="5521682"/>
            <a:ext cx="753419" cy="753419"/>
            <a:chOff x="5313966" y="5521682"/>
            <a:chExt cx="753419" cy="753419"/>
          </a:xfrm>
        </p:grpSpPr>
        <p:pic>
          <p:nvPicPr>
            <p:cNvPr id="16" name="Graphic 15" descr="Envelope outline">
              <a:extLst>
                <a:ext uri="{FF2B5EF4-FFF2-40B4-BE49-F238E27FC236}">
                  <a16:creationId xmlns:a16="http://schemas.microsoft.com/office/drawing/2014/main" id="{BF0F200E-E9E1-F5D0-7C88-CAC6E9440B0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9" name="TextBox 18">
              <a:extLst>
                <a:ext uri="{FF2B5EF4-FFF2-40B4-BE49-F238E27FC236}">
                  <a16:creationId xmlns:a16="http://schemas.microsoft.com/office/drawing/2014/main" id="{E271B35D-4948-8F4E-2EDD-AD139796845B}"/>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25" name="Group 24">
            <a:extLst>
              <a:ext uri="{FF2B5EF4-FFF2-40B4-BE49-F238E27FC236}">
                <a16:creationId xmlns:a16="http://schemas.microsoft.com/office/drawing/2014/main" id="{25FA1431-0CF7-D278-BFB7-AF6068D07F32}"/>
              </a:ext>
            </a:extLst>
          </p:cNvPr>
          <p:cNvGrpSpPr/>
          <p:nvPr/>
        </p:nvGrpSpPr>
        <p:grpSpPr>
          <a:xfrm>
            <a:off x="4123381" y="5521682"/>
            <a:ext cx="753419" cy="753419"/>
            <a:chOff x="4123381" y="5521682"/>
            <a:chExt cx="753419" cy="753419"/>
          </a:xfrm>
        </p:grpSpPr>
        <p:pic>
          <p:nvPicPr>
            <p:cNvPr id="11" name="Graphic 10" descr="Envelope outline">
              <a:extLst>
                <a:ext uri="{FF2B5EF4-FFF2-40B4-BE49-F238E27FC236}">
                  <a16:creationId xmlns:a16="http://schemas.microsoft.com/office/drawing/2014/main" id="{2E39D2E7-D249-F938-764F-1DD8EE4D879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23381" y="5521682"/>
              <a:ext cx="753419" cy="753419"/>
            </a:xfrm>
            <a:prstGeom prst="rect">
              <a:avLst/>
            </a:prstGeom>
          </p:spPr>
        </p:pic>
        <p:sp>
          <p:nvSpPr>
            <p:cNvPr id="20" name="TextBox 19">
              <a:extLst>
                <a:ext uri="{FF2B5EF4-FFF2-40B4-BE49-F238E27FC236}">
                  <a16:creationId xmlns:a16="http://schemas.microsoft.com/office/drawing/2014/main" id="{37ADA8CC-8053-8FF2-D4C7-D87A6E77B951}"/>
                </a:ext>
              </a:extLst>
            </p:cNvPr>
            <p:cNvSpPr txBox="1"/>
            <p:nvPr/>
          </p:nvSpPr>
          <p:spPr>
            <a:xfrm>
              <a:off x="4319427"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23" name="Group 22">
            <a:extLst>
              <a:ext uri="{FF2B5EF4-FFF2-40B4-BE49-F238E27FC236}">
                <a16:creationId xmlns:a16="http://schemas.microsoft.com/office/drawing/2014/main" id="{D01A6B9C-FDA9-D925-BB28-2785731C19C1}"/>
              </a:ext>
            </a:extLst>
          </p:cNvPr>
          <p:cNvGrpSpPr/>
          <p:nvPr/>
        </p:nvGrpSpPr>
        <p:grpSpPr>
          <a:xfrm>
            <a:off x="6473130" y="5544846"/>
            <a:ext cx="753419" cy="753419"/>
            <a:chOff x="6473130" y="5544846"/>
            <a:chExt cx="753419" cy="753419"/>
          </a:xfrm>
        </p:grpSpPr>
        <p:pic>
          <p:nvPicPr>
            <p:cNvPr id="18" name="Graphic 17" descr="Envelope outline">
              <a:extLst>
                <a:ext uri="{FF2B5EF4-FFF2-40B4-BE49-F238E27FC236}">
                  <a16:creationId xmlns:a16="http://schemas.microsoft.com/office/drawing/2014/main" id="{C29C8ABC-7AFB-B825-9DE8-D4EC0C857E9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73130" y="5544846"/>
              <a:ext cx="753419" cy="753419"/>
            </a:xfrm>
            <a:prstGeom prst="rect">
              <a:avLst/>
            </a:prstGeom>
          </p:spPr>
        </p:pic>
        <p:sp>
          <p:nvSpPr>
            <p:cNvPr id="21" name="TextBox 20">
              <a:extLst>
                <a:ext uri="{FF2B5EF4-FFF2-40B4-BE49-F238E27FC236}">
                  <a16:creationId xmlns:a16="http://schemas.microsoft.com/office/drawing/2014/main" id="{E3160317-FD43-EE10-7814-E5D0311DB50F}"/>
                </a:ext>
              </a:extLst>
            </p:cNvPr>
            <p:cNvSpPr txBox="1"/>
            <p:nvPr/>
          </p:nvSpPr>
          <p:spPr>
            <a:xfrm>
              <a:off x="6654315" y="568886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sp>
        <p:nvSpPr>
          <p:cNvPr id="22" name="TextBox 21">
            <a:extLst>
              <a:ext uri="{FF2B5EF4-FFF2-40B4-BE49-F238E27FC236}">
                <a16:creationId xmlns:a16="http://schemas.microsoft.com/office/drawing/2014/main" id="{8E8ED801-7611-4F1B-C8CF-E2BE4E44D813}"/>
              </a:ext>
            </a:extLst>
          </p:cNvPr>
          <p:cNvSpPr txBox="1"/>
          <p:nvPr/>
        </p:nvSpPr>
        <p:spPr>
          <a:xfrm>
            <a:off x="8420545" y="1973554"/>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Sequencer waits for at least one message from each client</a:t>
            </a:r>
          </a:p>
        </p:txBody>
      </p:sp>
      <p:graphicFrame>
        <p:nvGraphicFramePr>
          <p:cNvPr id="6" name="Table 5">
            <a:extLst>
              <a:ext uri="{FF2B5EF4-FFF2-40B4-BE49-F238E27FC236}">
                <a16:creationId xmlns:a16="http://schemas.microsoft.com/office/drawing/2014/main" id="{2C4BB60B-5169-82DA-E5B9-5181B8A13FF7}"/>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12" name="TextBox 11">
            <a:extLst>
              <a:ext uri="{FF2B5EF4-FFF2-40B4-BE49-F238E27FC236}">
                <a16:creationId xmlns:a16="http://schemas.microsoft.com/office/drawing/2014/main" id="{13F17924-9639-5170-A5FC-FEB891EAE7B1}"/>
              </a:ext>
            </a:extLst>
          </p:cNvPr>
          <p:cNvSpPr txBox="1"/>
          <p:nvPr/>
        </p:nvSpPr>
        <p:spPr>
          <a:xfrm>
            <a:off x="7769629" y="966986"/>
            <a:ext cx="40534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Can use knowledge of MPs!</a:t>
            </a:r>
          </a:p>
        </p:txBody>
      </p:sp>
    </p:spTree>
    <p:extLst>
      <p:ext uri="{BB962C8B-B14F-4D97-AF65-F5344CB8AC3E}">
        <p14:creationId xmlns:p14="http://schemas.microsoft.com/office/powerpoint/2010/main" val="286817930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2" grpId="0"/>
      <p:bldP spid="1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4BE0239D-9714-FD8A-CA4B-344F6A2BA48C}"/>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9336495C-D774-BF7D-8A3B-5B7C54AAB7C3}"/>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phic 1" descr="Server with solid fill">
            <a:extLst>
              <a:ext uri="{FF2B5EF4-FFF2-40B4-BE49-F238E27FC236}">
                <a16:creationId xmlns:a16="http://schemas.microsoft.com/office/drawing/2014/main" id="{6E0E3EF1-5465-CDE5-83DC-B9336E01F49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76800" y="1336318"/>
            <a:ext cx="1219200" cy="1219200"/>
          </a:xfrm>
          <a:prstGeom prst="rect">
            <a:avLst/>
          </a:prstGeom>
        </p:spPr>
      </p:pic>
      <p:sp>
        <p:nvSpPr>
          <p:cNvPr id="4" name="TextBox 3">
            <a:extLst>
              <a:ext uri="{FF2B5EF4-FFF2-40B4-BE49-F238E27FC236}">
                <a16:creationId xmlns:a16="http://schemas.microsoft.com/office/drawing/2014/main" id="{47E7B662-CE9D-B137-6AA8-60D6C2413F3B}"/>
              </a:ext>
            </a:extLst>
          </p:cNvPr>
          <p:cNvSpPr txBox="1"/>
          <p:nvPr/>
        </p:nvSpPr>
        <p:spPr>
          <a:xfrm>
            <a:off x="5951913" y="1569012"/>
            <a:ext cx="181771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7" name="Graphic 6" descr="Processor outline">
            <a:extLst>
              <a:ext uri="{FF2B5EF4-FFF2-40B4-BE49-F238E27FC236}">
                <a16:creationId xmlns:a16="http://schemas.microsoft.com/office/drawing/2014/main" id="{9340D1C2-46D8-97FA-AD01-FBB70F3CCD5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3368" y="4635916"/>
            <a:ext cx="1052945" cy="1052945"/>
          </a:xfrm>
          <a:prstGeom prst="rect">
            <a:avLst/>
          </a:prstGeom>
        </p:spPr>
      </p:pic>
      <p:sp>
        <p:nvSpPr>
          <p:cNvPr id="8" name="TextBox 7">
            <a:extLst>
              <a:ext uri="{FF2B5EF4-FFF2-40B4-BE49-F238E27FC236}">
                <a16:creationId xmlns:a16="http://schemas.microsoft.com/office/drawing/2014/main" id="{F442BDD2-A9F4-2FDB-4C8D-AF2EED14A9EE}"/>
              </a:ext>
            </a:extLst>
          </p:cNvPr>
          <p:cNvSpPr txBox="1"/>
          <p:nvPr/>
        </p:nvSpPr>
        <p:spPr>
          <a:xfrm>
            <a:off x="7482532" y="4931555"/>
            <a:ext cx="28216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Clients/Participants</a:t>
            </a:r>
          </a:p>
        </p:txBody>
      </p:sp>
      <p:pic>
        <p:nvPicPr>
          <p:cNvPr id="9" name="Graphic 8" descr="Processor outline">
            <a:extLst>
              <a:ext uri="{FF2B5EF4-FFF2-40B4-BE49-F238E27FC236}">
                <a16:creationId xmlns:a16="http://schemas.microsoft.com/office/drawing/2014/main" id="{C4FA8925-4087-3E40-C5FC-F5E9077C3BD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05040" y="4635916"/>
            <a:ext cx="1052945" cy="1052945"/>
          </a:xfrm>
          <a:prstGeom prst="rect">
            <a:avLst/>
          </a:prstGeom>
        </p:spPr>
      </p:pic>
      <p:pic>
        <p:nvPicPr>
          <p:cNvPr id="10" name="Graphic 9" descr="Processor outline">
            <a:extLst>
              <a:ext uri="{FF2B5EF4-FFF2-40B4-BE49-F238E27FC236}">
                <a16:creationId xmlns:a16="http://schemas.microsoft.com/office/drawing/2014/main" id="{42BFDFC4-5187-BE3E-D5B3-D2B4CCDA545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64204" y="4635917"/>
            <a:ext cx="1052945" cy="1052945"/>
          </a:xfrm>
          <a:prstGeom prst="rect">
            <a:avLst/>
          </a:prstGeom>
        </p:spPr>
      </p:pic>
      <p:sp>
        <p:nvSpPr>
          <p:cNvPr id="17" name="Can 16">
            <a:extLst>
              <a:ext uri="{FF2B5EF4-FFF2-40B4-BE49-F238E27FC236}">
                <a16:creationId xmlns:a16="http://schemas.microsoft.com/office/drawing/2014/main" id="{E8B08C20-1FDE-0DAB-0FD8-3473A61D5118}"/>
              </a:ext>
            </a:extLst>
          </p:cNvPr>
          <p:cNvSpPr/>
          <p:nvPr/>
        </p:nvSpPr>
        <p:spPr>
          <a:xfrm rot="5400000">
            <a:off x="5373186" y="2733933"/>
            <a:ext cx="510231" cy="13901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CCDD77D2-97C4-683C-2CC8-801C0017E2F0}"/>
              </a:ext>
            </a:extLst>
          </p:cNvPr>
          <p:cNvSpPr txBox="1"/>
          <p:nvPr/>
        </p:nvSpPr>
        <p:spPr>
          <a:xfrm>
            <a:off x="158302" y="1973555"/>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 attach message generation timestamps to outgoing messages</a:t>
            </a:r>
          </a:p>
        </p:txBody>
      </p:sp>
      <p:grpSp>
        <p:nvGrpSpPr>
          <p:cNvPr id="24" name="Group 23">
            <a:extLst>
              <a:ext uri="{FF2B5EF4-FFF2-40B4-BE49-F238E27FC236}">
                <a16:creationId xmlns:a16="http://schemas.microsoft.com/office/drawing/2014/main" id="{2523A96A-321F-F537-E2AC-F718746A8F4A}"/>
              </a:ext>
            </a:extLst>
          </p:cNvPr>
          <p:cNvGrpSpPr/>
          <p:nvPr/>
        </p:nvGrpSpPr>
        <p:grpSpPr>
          <a:xfrm>
            <a:off x="5313966" y="5521682"/>
            <a:ext cx="753419" cy="753419"/>
            <a:chOff x="5313966" y="5521682"/>
            <a:chExt cx="753419" cy="753419"/>
          </a:xfrm>
        </p:grpSpPr>
        <p:pic>
          <p:nvPicPr>
            <p:cNvPr id="16" name="Graphic 15" descr="Envelope outline">
              <a:extLst>
                <a:ext uri="{FF2B5EF4-FFF2-40B4-BE49-F238E27FC236}">
                  <a16:creationId xmlns:a16="http://schemas.microsoft.com/office/drawing/2014/main" id="{CF6556F8-721C-FF0C-D692-60C65EBA405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9" name="TextBox 18">
              <a:extLst>
                <a:ext uri="{FF2B5EF4-FFF2-40B4-BE49-F238E27FC236}">
                  <a16:creationId xmlns:a16="http://schemas.microsoft.com/office/drawing/2014/main" id="{BCDA4ACC-3148-24A5-84B1-2309D3B48DFB}"/>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25" name="Group 24">
            <a:extLst>
              <a:ext uri="{FF2B5EF4-FFF2-40B4-BE49-F238E27FC236}">
                <a16:creationId xmlns:a16="http://schemas.microsoft.com/office/drawing/2014/main" id="{C43C2677-3EAB-57E1-6269-40478A506D24}"/>
              </a:ext>
            </a:extLst>
          </p:cNvPr>
          <p:cNvGrpSpPr/>
          <p:nvPr/>
        </p:nvGrpSpPr>
        <p:grpSpPr>
          <a:xfrm>
            <a:off x="5719711" y="3549062"/>
            <a:ext cx="753419" cy="753419"/>
            <a:chOff x="4123381" y="5521682"/>
            <a:chExt cx="753419" cy="753419"/>
          </a:xfrm>
        </p:grpSpPr>
        <p:pic>
          <p:nvPicPr>
            <p:cNvPr id="11" name="Graphic 10" descr="Envelope outline">
              <a:extLst>
                <a:ext uri="{FF2B5EF4-FFF2-40B4-BE49-F238E27FC236}">
                  <a16:creationId xmlns:a16="http://schemas.microsoft.com/office/drawing/2014/main" id="{4A41C6CE-2AD6-42D6-D874-72290CE3792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23381" y="5521682"/>
              <a:ext cx="753419" cy="753419"/>
            </a:xfrm>
            <a:prstGeom prst="rect">
              <a:avLst/>
            </a:prstGeom>
          </p:spPr>
        </p:pic>
        <p:sp>
          <p:nvSpPr>
            <p:cNvPr id="20" name="TextBox 19">
              <a:extLst>
                <a:ext uri="{FF2B5EF4-FFF2-40B4-BE49-F238E27FC236}">
                  <a16:creationId xmlns:a16="http://schemas.microsoft.com/office/drawing/2014/main" id="{17FE3805-B85C-5CF7-DF91-F896AB987EC0}"/>
                </a:ext>
              </a:extLst>
            </p:cNvPr>
            <p:cNvSpPr txBox="1"/>
            <p:nvPr/>
          </p:nvSpPr>
          <p:spPr>
            <a:xfrm>
              <a:off x="4319427"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23" name="Group 22">
            <a:extLst>
              <a:ext uri="{FF2B5EF4-FFF2-40B4-BE49-F238E27FC236}">
                <a16:creationId xmlns:a16="http://schemas.microsoft.com/office/drawing/2014/main" id="{2230A8EB-3BF4-EFEF-C531-ED21D473B02C}"/>
              </a:ext>
            </a:extLst>
          </p:cNvPr>
          <p:cNvGrpSpPr/>
          <p:nvPr/>
        </p:nvGrpSpPr>
        <p:grpSpPr>
          <a:xfrm>
            <a:off x="6473130" y="5544846"/>
            <a:ext cx="753419" cy="753419"/>
            <a:chOff x="6473130" y="5544846"/>
            <a:chExt cx="753419" cy="753419"/>
          </a:xfrm>
        </p:grpSpPr>
        <p:pic>
          <p:nvPicPr>
            <p:cNvPr id="18" name="Graphic 17" descr="Envelope outline">
              <a:extLst>
                <a:ext uri="{FF2B5EF4-FFF2-40B4-BE49-F238E27FC236}">
                  <a16:creationId xmlns:a16="http://schemas.microsoft.com/office/drawing/2014/main" id="{F03544A3-1AB0-64CD-546D-BA79D5E6BBC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73130" y="5544846"/>
              <a:ext cx="753419" cy="753419"/>
            </a:xfrm>
            <a:prstGeom prst="rect">
              <a:avLst/>
            </a:prstGeom>
          </p:spPr>
        </p:pic>
        <p:sp>
          <p:nvSpPr>
            <p:cNvPr id="21" name="TextBox 20">
              <a:extLst>
                <a:ext uri="{FF2B5EF4-FFF2-40B4-BE49-F238E27FC236}">
                  <a16:creationId xmlns:a16="http://schemas.microsoft.com/office/drawing/2014/main" id="{DCE7CE68-40C4-AC5E-AA14-B7FFE18DA9CF}"/>
                </a:ext>
              </a:extLst>
            </p:cNvPr>
            <p:cNvSpPr txBox="1"/>
            <p:nvPr/>
          </p:nvSpPr>
          <p:spPr>
            <a:xfrm>
              <a:off x="6654315" y="568886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sp>
        <p:nvSpPr>
          <p:cNvPr id="22" name="TextBox 21">
            <a:extLst>
              <a:ext uri="{FF2B5EF4-FFF2-40B4-BE49-F238E27FC236}">
                <a16:creationId xmlns:a16="http://schemas.microsoft.com/office/drawing/2014/main" id="{2E0B8D22-A5CC-4D01-1A2A-D4377CA89B19}"/>
              </a:ext>
            </a:extLst>
          </p:cNvPr>
          <p:cNvSpPr txBox="1"/>
          <p:nvPr/>
        </p:nvSpPr>
        <p:spPr>
          <a:xfrm>
            <a:off x="8420545" y="1973554"/>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Sequencer waits for at least one message from each client</a:t>
            </a:r>
          </a:p>
        </p:txBody>
      </p:sp>
      <p:graphicFrame>
        <p:nvGraphicFramePr>
          <p:cNvPr id="6" name="Table 5">
            <a:extLst>
              <a:ext uri="{FF2B5EF4-FFF2-40B4-BE49-F238E27FC236}">
                <a16:creationId xmlns:a16="http://schemas.microsoft.com/office/drawing/2014/main" id="{102462E8-E092-E711-28CD-2FB1A607CDC5}"/>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12" name="TextBox 11">
            <a:extLst>
              <a:ext uri="{FF2B5EF4-FFF2-40B4-BE49-F238E27FC236}">
                <a16:creationId xmlns:a16="http://schemas.microsoft.com/office/drawing/2014/main" id="{70482652-E9D2-35E5-C1CE-3B227A5D7F5C}"/>
              </a:ext>
            </a:extLst>
          </p:cNvPr>
          <p:cNvSpPr txBox="1"/>
          <p:nvPr/>
        </p:nvSpPr>
        <p:spPr>
          <a:xfrm>
            <a:off x="7769629" y="966986"/>
            <a:ext cx="40534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Can use knowledge of MPs!</a:t>
            </a:r>
          </a:p>
        </p:txBody>
      </p:sp>
    </p:spTree>
    <p:extLst>
      <p:ext uri="{BB962C8B-B14F-4D97-AF65-F5344CB8AC3E}">
        <p14:creationId xmlns:p14="http://schemas.microsoft.com/office/powerpoint/2010/main" val="24053900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611CE59-4653-6276-ED50-021E6D56263D}"/>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618FD49E-7B08-BF54-BDE7-FD6BB06BEFD3}"/>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phic 1" descr="Server with solid fill">
            <a:extLst>
              <a:ext uri="{FF2B5EF4-FFF2-40B4-BE49-F238E27FC236}">
                <a16:creationId xmlns:a16="http://schemas.microsoft.com/office/drawing/2014/main" id="{C233181F-EE23-49FD-FED4-A1659E6C27E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76800" y="1336318"/>
            <a:ext cx="1219200" cy="1219200"/>
          </a:xfrm>
          <a:prstGeom prst="rect">
            <a:avLst/>
          </a:prstGeom>
        </p:spPr>
      </p:pic>
      <p:sp>
        <p:nvSpPr>
          <p:cNvPr id="4" name="TextBox 3">
            <a:extLst>
              <a:ext uri="{FF2B5EF4-FFF2-40B4-BE49-F238E27FC236}">
                <a16:creationId xmlns:a16="http://schemas.microsoft.com/office/drawing/2014/main" id="{82F09D81-2137-5692-6045-6DDD7961DD03}"/>
              </a:ext>
            </a:extLst>
          </p:cNvPr>
          <p:cNvSpPr txBox="1"/>
          <p:nvPr/>
        </p:nvSpPr>
        <p:spPr>
          <a:xfrm>
            <a:off x="5951913" y="1569012"/>
            <a:ext cx="181771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7" name="Graphic 6" descr="Processor outline">
            <a:extLst>
              <a:ext uri="{FF2B5EF4-FFF2-40B4-BE49-F238E27FC236}">
                <a16:creationId xmlns:a16="http://schemas.microsoft.com/office/drawing/2014/main" id="{C39EF82C-06B8-63D9-6948-308C62944B6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3368" y="4635916"/>
            <a:ext cx="1052945" cy="1052945"/>
          </a:xfrm>
          <a:prstGeom prst="rect">
            <a:avLst/>
          </a:prstGeom>
        </p:spPr>
      </p:pic>
      <p:sp>
        <p:nvSpPr>
          <p:cNvPr id="8" name="TextBox 7">
            <a:extLst>
              <a:ext uri="{FF2B5EF4-FFF2-40B4-BE49-F238E27FC236}">
                <a16:creationId xmlns:a16="http://schemas.microsoft.com/office/drawing/2014/main" id="{D02E7BA2-D6DA-A2DC-6485-50963976DE55}"/>
              </a:ext>
            </a:extLst>
          </p:cNvPr>
          <p:cNvSpPr txBox="1"/>
          <p:nvPr/>
        </p:nvSpPr>
        <p:spPr>
          <a:xfrm>
            <a:off x="7482532" y="4931555"/>
            <a:ext cx="28216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Clients/Participants</a:t>
            </a:r>
          </a:p>
        </p:txBody>
      </p:sp>
      <p:pic>
        <p:nvPicPr>
          <p:cNvPr id="9" name="Graphic 8" descr="Processor outline">
            <a:extLst>
              <a:ext uri="{FF2B5EF4-FFF2-40B4-BE49-F238E27FC236}">
                <a16:creationId xmlns:a16="http://schemas.microsoft.com/office/drawing/2014/main" id="{B5EB7D4A-05F1-55EA-D345-F6CCE7FD89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05040" y="4635916"/>
            <a:ext cx="1052945" cy="1052945"/>
          </a:xfrm>
          <a:prstGeom prst="rect">
            <a:avLst/>
          </a:prstGeom>
        </p:spPr>
      </p:pic>
      <p:pic>
        <p:nvPicPr>
          <p:cNvPr id="10" name="Graphic 9" descr="Processor outline">
            <a:extLst>
              <a:ext uri="{FF2B5EF4-FFF2-40B4-BE49-F238E27FC236}">
                <a16:creationId xmlns:a16="http://schemas.microsoft.com/office/drawing/2014/main" id="{899389C1-A323-8038-1A62-194E366EFBB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64204" y="4635917"/>
            <a:ext cx="1052945" cy="1052945"/>
          </a:xfrm>
          <a:prstGeom prst="rect">
            <a:avLst/>
          </a:prstGeom>
        </p:spPr>
      </p:pic>
      <p:sp>
        <p:nvSpPr>
          <p:cNvPr id="17" name="Can 16">
            <a:extLst>
              <a:ext uri="{FF2B5EF4-FFF2-40B4-BE49-F238E27FC236}">
                <a16:creationId xmlns:a16="http://schemas.microsoft.com/office/drawing/2014/main" id="{C8F8F040-092A-8918-2E3C-0E3193008058}"/>
              </a:ext>
            </a:extLst>
          </p:cNvPr>
          <p:cNvSpPr/>
          <p:nvPr/>
        </p:nvSpPr>
        <p:spPr>
          <a:xfrm rot="5400000">
            <a:off x="5373186" y="2733933"/>
            <a:ext cx="510231" cy="13901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3E83F68C-4839-2CB4-DB31-D33BD42C9B26}"/>
              </a:ext>
            </a:extLst>
          </p:cNvPr>
          <p:cNvSpPr txBox="1"/>
          <p:nvPr/>
        </p:nvSpPr>
        <p:spPr>
          <a:xfrm>
            <a:off x="158302" y="1973555"/>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 attach message generation timestamps to outgoing messages</a:t>
            </a:r>
          </a:p>
        </p:txBody>
      </p:sp>
      <p:grpSp>
        <p:nvGrpSpPr>
          <p:cNvPr id="24" name="Group 23">
            <a:extLst>
              <a:ext uri="{FF2B5EF4-FFF2-40B4-BE49-F238E27FC236}">
                <a16:creationId xmlns:a16="http://schemas.microsoft.com/office/drawing/2014/main" id="{2E050183-C4C3-557C-CAC8-95AE21F44762}"/>
              </a:ext>
            </a:extLst>
          </p:cNvPr>
          <p:cNvGrpSpPr/>
          <p:nvPr/>
        </p:nvGrpSpPr>
        <p:grpSpPr>
          <a:xfrm>
            <a:off x="6356425" y="3549060"/>
            <a:ext cx="753419" cy="753419"/>
            <a:chOff x="5313966" y="5521682"/>
            <a:chExt cx="753419" cy="753419"/>
          </a:xfrm>
        </p:grpSpPr>
        <p:pic>
          <p:nvPicPr>
            <p:cNvPr id="16" name="Graphic 15" descr="Envelope outline">
              <a:extLst>
                <a:ext uri="{FF2B5EF4-FFF2-40B4-BE49-F238E27FC236}">
                  <a16:creationId xmlns:a16="http://schemas.microsoft.com/office/drawing/2014/main" id="{79D5795A-5421-A618-A3A9-5DD3F392008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9" name="TextBox 18">
              <a:extLst>
                <a:ext uri="{FF2B5EF4-FFF2-40B4-BE49-F238E27FC236}">
                  <a16:creationId xmlns:a16="http://schemas.microsoft.com/office/drawing/2014/main" id="{D7DB40E2-B054-8E95-2AD9-C4F1CCF0AD61}"/>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25" name="Group 24">
            <a:extLst>
              <a:ext uri="{FF2B5EF4-FFF2-40B4-BE49-F238E27FC236}">
                <a16:creationId xmlns:a16="http://schemas.microsoft.com/office/drawing/2014/main" id="{3AC9A87A-FDC1-068E-F24A-51F052BD6057}"/>
              </a:ext>
            </a:extLst>
          </p:cNvPr>
          <p:cNvGrpSpPr/>
          <p:nvPr/>
        </p:nvGrpSpPr>
        <p:grpSpPr>
          <a:xfrm>
            <a:off x="5719711" y="3549062"/>
            <a:ext cx="753419" cy="753419"/>
            <a:chOff x="4123381" y="5521682"/>
            <a:chExt cx="753419" cy="753419"/>
          </a:xfrm>
        </p:grpSpPr>
        <p:pic>
          <p:nvPicPr>
            <p:cNvPr id="11" name="Graphic 10" descr="Envelope outline">
              <a:extLst>
                <a:ext uri="{FF2B5EF4-FFF2-40B4-BE49-F238E27FC236}">
                  <a16:creationId xmlns:a16="http://schemas.microsoft.com/office/drawing/2014/main" id="{071E582B-B079-D834-BD12-61227A34848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23381" y="5521682"/>
              <a:ext cx="753419" cy="753419"/>
            </a:xfrm>
            <a:prstGeom prst="rect">
              <a:avLst/>
            </a:prstGeom>
          </p:spPr>
        </p:pic>
        <p:sp>
          <p:nvSpPr>
            <p:cNvPr id="20" name="TextBox 19">
              <a:extLst>
                <a:ext uri="{FF2B5EF4-FFF2-40B4-BE49-F238E27FC236}">
                  <a16:creationId xmlns:a16="http://schemas.microsoft.com/office/drawing/2014/main" id="{108747C4-59D4-D816-F436-7130427C55BE}"/>
                </a:ext>
              </a:extLst>
            </p:cNvPr>
            <p:cNvSpPr txBox="1"/>
            <p:nvPr/>
          </p:nvSpPr>
          <p:spPr>
            <a:xfrm>
              <a:off x="4319427"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23" name="Group 22">
            <a:extLst>
              <a:ext uri="{FF2B5EF4-FFF2-40B4-BE49-F238E27FC236}">
                <a16:creationId xmlns:a16="http://schemas.microsoft.com/office/drawing/2014/main" id="{4272AA6D-FFF4-67D9-AA46-E8C043B06B60}"/>
              </a:ext>
            </a:extLst>
          </p:cNvPr>
          <p:cNvGrpSpPr/>
          <p:nvPr/>
        </p:nvGrpSpPr>
        <p:grpSpPr>
          <a:xfrm>
            <a:off x="6473130" y="5544846"/>
            <a:ext cx="753419" cy="753419"/>
            <a:chOff x="6473130" y="5544846"/>
            <a:chExt cx="753419" cy="753419"/>
          </a:xfrm>
        </p:grpSpPr>
        <p:pic>
          <p:nvPicPr>
            <p:cNvPr id="18" name="Graphic 17" descr="Envelope outline">
              <a:extLst>
                <a:ext uri="{FF2B5EF4-FFF2-40B4-BE49-F238E27FC236}">
                  <a16:creationId xmlns:a16="http://schemas.microsoft.com/office/drawing/2014/main" id="{18772611-6DA3-01A1-E443-F3F0F826466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73130" y="5544846"/>
              <a:ext cx="753419" cy="753419"/>
            </a:xfrm>
            <a:prstGeom prst="rect">
              <a:avLst/>
            </a:prstGeom>
          </p:spPr>
        </p:pic>
        <p:sp>
          <p:nvSpPr>
            <p:cNvPr id="21" name="TextBox 20">
              <a:extLst>
                <a:ext uri="{FF2B5EF4-FFF2-40B4-BE49-F238E27FC236}">
                  <a16:creationId xmlns:a16="http://schemas.microsoft.com/office/drawing/2014/main" id="{D93423A2-C9DD-B0D8-0E89-0F212DA26849}"/>
                </a:ext>
              </a:extLst>
            </p:cNvPr>
            <p:cNvSpPr txBox="1"/>
            <p:nvPr/>
          </p:nvSpPr>
          <p:spPr>
            <a:xfrm>
              <a:off x="6654315" y="568886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sp>
        <p:nvSpPr>
          <p:cNvPr id="22" name="TextBox 21">
            <a:extLst>
              <a:ext uri="{FF2B5EF4-FFF2-40B4-BE49-F238E27FC236}">
                <a16:creationId xmlns:a16="http://schemas.microsoft.com/office/drawing/2014/main" id="{16568E75-D2F3-28A8-AEB8-0350858C90D1}"/>
              </a:ext>
            </a:extLst>
          </p:cNvPr>
          <p:cNvSpPr txBox="1"/>
          <p:nvPr/>
        </p:nvSpPr>
        <p:spPr>
          <a:xfrm>
            <a:off x="8420545" y="1973554"/>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Sequencer waits for at least one message from each client</a:t>
            </a:r>
          </a:p>
        </p:txBody>
      </p:sp>
      <p:graphicFrame>
        <p:nvGraphicFramePr>
          <p:cNvPr id="6" name="Table 5">
            <a:extLst>
              <a:ext uri="{FF2B5EF4-FFF2-40B4-BE49-F238E27FC236}">
                <a16:creationId xmlns:a16="http://schemas.microsoft.com/office/drawing/2014/main" id="{65374BB8-E0FD-BA6D-AD45-D6A45F11514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12" name="TextBox 11">
            <a:extLst>
              <a:ext uri="{FF2B5EF4-FFF2-40B4-BE49-F238E27FC236}">
                <a16:creationId xmlns:a16="http://schemas.microsoft.com/office/drawing/2014/main" id="{5918FBC3-C82D-FC0C-D9F1-1D45E8576592}"/>
              </a:ext>
            </a:extLst>
          </p:cNvPr>
          <p:cNvSpPr txBox="1"/>
          <p:nvPr/>
        </p:nvSpPr>
        <p:spPr>
          <a:xfrm>
            <a:off x="7769629" y="966986"/>
            <a:ext cx="40534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Can use knowledge of MPs!</a:t>
            </a:r>
          </a:p>
        </p:txBody>
      </p:sp>
    </p:spTree>
    <p:extLst>
      <p:ext uri="{BB962C8B-B14F-4D97-AF65-F5344CB8AC3E}">
        <p14:creationId xmlns:p14="http://schemas.microsoft.com/office/powerpoint/2010/main" val="5208602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C234167B-C12F-D3CF-BBBF-69E5293EA077}"/>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6A7B9822-C51D-3CF7-CFDA-A5694D8B3204}"/>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phic 1" descr="Server with solid fill">
            <a:extLst>
              <a:ext uri="{FF2B5EF4-FFF2-40B4-BE49-F238E27FC236}">
                <a16:creationId xmlns:a16="http://schemas.microsoft.com/office/drawing/2014/main" id="{5D771217-788E-1D6E-5586-D24A4F940A9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76800" y="1336318"/>
            <a:ext cx="1219200" cy="1219200"/>
          </a:xfrm>
          <a:prstGeom prst="rect">
            <a:avLst/>
          </a:prstGeom>
        </p:spPr>
      </p:pic>
      <p:sp>
        <p:nvSpPr>
          <p:cNvPr id="4" name="TextBox 3">
            <a:extLst>
              <a:ext uri="{FF2B5EF4-FFF2-40B4-BE49-F238E27FC236}">
                <a16:creationId xmlns:a16="http://schemas.microsoft.com/office/drawing/2014/main" id="{0106ACAB-5E95-90F6-E160-60ED59DA3F0F}"/>
              </a:ext>
            </a:extLst>
          </p:cNvPr>
          <p:cNvSpPr txBox="1"/>
          <p:nvPr/>
        </p:nvSpPr>
        <p:spPr>
          <a:xfrm>
            <a:off x="5951913" y="1569012"/>
            <a:ext cx="181771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7" name="Graphic 6" descr="Processor outline">
            <a:extLst>
              <a:ext uri="{FF2B5EF4-FFF2-40B4-BE49-F238E27FC236}">
                <a16:creationId xmlns:a16="http://schemas.microsoft.com/office/drawing/2014/main" id="{FA0E9D29-DC48-62AD-807C-5377DCA23A8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3368" y="4635916"/>
            <a:ext cx="1052945" cy="1052945"/>
          </a:xfrm>
          <a:prstGeom prst="rect">
            <a:avLst/>
          </a:prstGeom>
        </p:spPr>
      </p:pic>
      <p:sp>
        <p:nvSpPr>
          <p:cNvPr id="8" name="TextBox 7">
            <a:extLst>
              <a:ext uri="{FF2B5EF4-FFF2-40B4-BE49-F238E27FC236}">
                <a16:creationId xmlns:a16="http://schemas.microsoft.com/office/drawing/2014/main" id="{15C6DFC2-5507-3911-CFCD-B886239FB114}"/>
              </a:ext>
            </a:extLst>
          </p:cNvPr>
          <p:cNvSpPr txBox="1"/>
          <p:nvPr/>
        </p:nvSpPr>
        <p:spPr>
          <a:xfrm>
            <a:off x="7482532" y="4931555"/>
            <a:ext cx="28216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Clients/Participants</a:t>
            </a:r>
          </a:p>
        </p:txBody>
      </p:sp>
      <p:pic>
        <p:nvPicPr>
          <p:cNvPr id="9" name="Graphic 8" descr="Processor outline">
            <a:extLst>
              <a:ext uri="{FF2B5EF4-FFF2-40B4-BE49-F238E27FC236}">
                <a16:creationId xmlns:a16="http://schemas.microsoft.com/office/drawing/2014/main" id="{BD67F434-A4C2-AF2A-855D-1D14CEF10D5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05040" y="4635916"/>
            <a:ext cx="1052945" cy="1052945"/>
          </a:xfrm>
          <a:prstGeom prst="rect">
            <a:avLst/>
          </a:prstGeom>
        </p:spPr>
      </p:pic>
      <p:pic>
        <p:nvPicPr>
          <p:cNvPr id="10" name="Graphic 9" descr="Processor outline">
            <a:extLst>
              <a:ext uri="{FF2B5EF4-FFF2-40B4-BE49-F238E27FC236}">
                <a16:creationId xmlns:a16="http://schemas.microsoft.com/office/drawing/2014/main" id="{C462AC4C-E5C0-4C61-A542-A6F943AEBB5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64204" y="4635917"/>
            <a:ext cx="1052945" cy="1052945"/>
          </a:xfrm>
          <a:prstGeom prst="rect">
            <a:avLst/>
          </a:prstGeom>
        </p:spPr>
      </p:pic>
      <p:sp>
        <p:nvSpPr>
          <p:cNvPr id="17" name="Can 16">
            <a:extLst>
              <a:ext uri="{FF2B5EF4-FFF2-40B4-BE49-F238E27FC236}">
                <a16:creationId xmlns:a16="http://schemas.microsoft.com/office/drawing/2014/main" id="{6AC1D063-7047-C8BF-0924-42B31E73FFB2}"/>
              </a:ext>
            </a:extLst>
          </p:cNvPr>
          <p:cNvSpPr/>
          <p:nvPr/>
        </p:nvSpPr>
        <p:spPr>
          <a:xfrm rot="5400000">
            <a:off x="5373186" y="2733933"/>
            <a:ext cx="510231" cy="13901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3C7150BE-4C6C-E928-D095-50EDB4D1707E}"/>
              </a:ext>
            </a:extLst>
          </p:cNvPr>
          <p:cNvSpPr txBox="1"/>
          <p:nvPr/>
        </p:nvSpPr>
        <p:spPr>
          <a:xfrm>
            <a:off x="158302" y="1973555"/>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 attach message generation timestamps to outgoing messages</a:t>
            </a:r>
          </a:p>
        </p:txBody>
      </p:sp>
      <p:grpSp>
        <p:nvGrpSpPr>
          <p:cNvPr id="24" name="Group 23">
            <a:extLst>
              <a:ext uri="{FF2B5EF4-FFF2-40B4-BE49-F238E27FC236}">
                <a16:creationId xmlns:a16="http://schemas.microsoft.com/office/drawing/2014/main" id="{85876E9C-0573-FAA0-C7FB-53025589F641}"/>
              </a:ext>
            </a:extLst>
          </p:cNvPr>
          <p:cNvGrpSpPr/>
          <p:nvPr/>
        </p:nvGrpSpPr>
        <p:grpSpPr>
          <a:xfrm>
            <a:off x="6356425" y="3549060"/>
            <a:ext cx="753419" cy="753419"/>
            <a:chOff x="5313966" y="5521682"/>
            <a:chExt cx="753419" cy="753419"/>
          </a:xfrm>
        </p:grpSpPr>
        <p:pic>
          <p:nvPicPr>
            <p:cNvPr id="16" name="Graphic 15" descr="Envelope outline">
              <a:extLst>
                <a:ext uri="{FF2B5EF4-FFF2-40B4-BE49-F238E27FC236}">
                  <a16:creationId xmlns:a16="http://schemas.microsoft.com/office/drawing/2014/main" id="{2BD60132-3123-4E08-8CA2-2B92DF2B742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9" name="TextBox 18">
              <a:extLst>
                <a:ext uri="{FF2B5EF4-FFF2-40B4-BE49-F238E27FC236}">
                  <a16:creationId xmlns:a16="http://schemas.microsoft.com/office/drawing/2014/main" id="{B1C71A84-43CD-0F1A-4189-CD4FBB723660}"/>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25" name="Group 24">
            <a:extLst>
              <a:ext uri="{FF2B5EF4-FFF2-40B4-BE49-F238E27FC236}">
                <a16:creationId xmlns:a16="http://schemas.microsoft.com/office/drawing/2014/main" id="{D1EEFD75-12F7-9BDA-EEAE-A4620EE20453}"/>
              </a:ext>
            </a:extLst>
          </p:cNvPr>
          <p:cNvGrpSpPr/>
          <p:nvPr/>
        </p:nvGrpSpPr>
        <p:grpSpPr>
          <a:xfrm>
            <a:off x="5719711" y="3549062"/>
            <a:ext cx="753419" cy="753419"/>
            <a:chOff x="4123381" y="5521682"/>
            <a:chExt cx="753419" cy="753419"/>
          </a:xfrm>
        </p:grpSpPr>
        <p:pic>
          <p:nvPicPr>
            <p:cNvPr id="11" name="Graphic 10" descr="Envelope outline">
              <a:extLst>
                <a:ext uri="{FF2B5EF4-FFF2-40B4-BE49-F238E27FC236}">
                  <a16:creationId xmlns:a16="http://schemas.microsoft.com/office/drawing/2014/main" id="{3FC256D2-BF52-A2F0-9512-846BA29F3AC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23381" y="5521682"/>
              <a:ext cx="753419" cy="753419"/>
            </a:xfrm>
            <a:prstGeom prst="rect">
              <a:avLst/>
            </a:prstGeom>
          </p:spPr>
        </p:pic>
        <p:sp>
          <p:nvSpPr>
            <p:cNvPr id="20" name="TextBox 19">
              <a:extLst>
                <a:ext uri="{FF2B5EF4-FFF2-40B4-BE49-F238E27FC236}">
                  <a16:creationId xmlns:a16="http://schemas.microsoft.com/office/drawing/2014/main" id="{060A0674-53B4-4574-26F8-8F9036604239}"/>
                </a:ext>
              </a:extLst>
            </p:cNvPr>
            <p:cNvSpPr txBox="1"/>
            <p:nvPr/>
          </p:nvSpPr>
          <p:spPr>
            <a:xfrm>
              <a:off x="4319427"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23" name="Group 22">
            <a:extLst>
              <a:ext uri="{FF2B5EF4-FFF2-40B4-BE49-F238E27FC236}">
                <a16:creationId xmlns:a16="http://schemas.microsoft.com/office/drawing/2014/main" id="{71BFCF83-0939-EB1A-C5D3-8C65596DC2D8}"/>
              </a:ext>
            </a:extLst>
          </p:cNvPr>
          <p:cNvGrpSpPr/>
          <p:nvPr/>
        </p:nvGrpSpPr>
        <p:grpSpPr>
          <a:xfrm>
            <a:off x="5057985" y="3549060"/>
            <a:ext cx="753419" cy="753419"/>
            <a:chOff x="6473130" y="5544846"/>
            <a:chExt cx="753419" cy="753419"/>
          </a:xfrm>
        </p:grpSpPr>
        <p:pic>
          <p:nvPicPr>
            <p:cNvPr id="18" name="Graphic 17" descr="Envelope outline">
              <a:extLst>
                <a:ext uri="{FF2B5EF4-FFF2-40B4-BE49-F238E27FC236}">
                  <a16:creationId xmlns:a16="http://schemas.microsoft.com/office/drawing/2014/main" id="{DF61EB05-4C71-A8D6-7853-92C62C382F7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73130" y="5544846"/>
              <a:ext cx="753419" cy="753419"/>
            </a:xfrm>
            <a:prstGeom prst="rect">
              <a:avLst/>
            </a:prstGeom>
          </p:spPr>
        </p:pic>
        <p:sp>
          <p:nvSpPr>
            <p:cNvPr id="21" name="TextBox 20">
              <a:extLst>
                <a:ext uri="{FF2B5EF4-FFF2-40B4-BE49-F238E27FC236}">
                  <a16:creationId xmlns:a16="http://schemas.microsoft.com/office/drawing/2014/main" id="{05917D34-A95C-2C1B-5C0A-6D2B6867DE41}"/>
                </a:ext>
              </a:extLst>
            </p:cNvPr>
            <p:cNvSpPr txBox="1"/>
            <p:nvPr/>
          </p:nvSpPr>
          <p:spPr>
            <a:xfrm>
              <a:off x="6654315" y="568886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sp>
        <p:nvSpPr>
          <p:cNvPr id="22" name="TextBox 21">
            <a:extLst>
              <a:ext uri="{FF2B5EF4-FFF2-40B4-BE49-F238E27FC236}">
                <a16:creationId xmlns:a16="http://schemas.microsoft.com/office/drawing/2014/main" id="{05F75933-C835-92A7-7390-B5114B10600B}"/>
              </a:ext>
            </a:extLst>
          </p:cNvPr>
          <p:cNvSpPr txBox="1"/>
          <p:nvPr/>
        </p:nvSpPr>
        <p:spPr>
          <a:xfrm>
            <a:off x="8420545" y="1973554"/>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Sequencer waits for at least one message from each client</a:t>
            </a:r>
          </a:p>
        </p:txBody>
      </p:sp>
      <p:sp>
        <p:nvSpPr>
          <p:cNvPr id="6" name="TextBox 5">
            <a:extLst>
              <a:ext uri="{FF2B5EF4-FFF2-40B4-BE49-F238E27FC236}">
                <a16:creationId xmlns:a16="http://schemas.microsoft.com/office/drawing/2014/main" id="{1209E4C5-AB09-A87B-BB10-59F313A00580}"/>
              </a:ext>
            </a:extLst>
          </p:cNvPr>
          <p:cNvSpPr txBox="1"/>
          <p:nvPr/>
        </p:nvSpPr>
        <p:spPr>
          <a:xfrm>
            <a:off x="8420544" y="3508408"/>
            <a:ext cx="372798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It releases the smallest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ts’</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message and waits again</a:t>
            </a:r>
          </a:p>
        </p:txBody>
      </p:sp>
      <p:graphicFrame>
        <p:nvGraphicFramePr>
          <p:cNvPr id="12" name="Table 11">
            <a:extLst>
              <a:ext uri="{FF2B5EF4-FFF2-40B4-BE49-F238E27FC236}">
                <a16:creationId xmlns:a16="http://schemas.microsoft.com/office/drawing/2014/main" id="{5D91A556-D653-5CDA-7341-C7B294BAF58C}"/>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13" name="TextBox 12">
            <a:extLst>
              <a:ext uri="{FF2B5EF4-FFF2-40B4-BE49-F238E27FC236}">
                <a16:creationId xmlns:a16="http://schemas.microsoft.com/office/drawing/2014/main" id="{7E4F4F29-A1C2-86AF-8704-37171ECCC71C}"/>
              </a:ext>
            </a:extLst>
          </p:cNvPr>
          <p:cNvSpPr txBox="1"/>
          <p:nvPr/>
        </p:nvSpPr>
        <p:spPr>
          <a:xfrm>
            <a:off x="7769629" y="966986"/>
            <a:ext cx="40534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Can use knowledge of MPs!</a:t>
            </a:r>
          </a:p>
        </p:txBody>
      </p:sp>
    </p:spTree>
    <p:extLst>
      <p:ext uri="{BB962C8B-B14F-4D97-AF65-F5344CB8AC3E}">
        <p14:creationId xmlns:p14="http://schemas.microsoft.com/office/powerpoint/2010/main" val="426788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8E3E709-8CEF-FDA8-334E-D9E7E6A655DA}"/>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E0570CD7-19CF-EE0B-3863-84C2670AE0D0}"/>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phic 1" descr="Server with solid fill">
            <a:extLst>
              <a:ext uri="{FF2B5EF4-FFF2-40B4-BE49-F238E27FC236}">
                <a16:creationId xmlns:a16="http://schemas.microsoft.com/office/drawing/2014/main" id="{2A2530BD-3512-EE22-4881-4DC5D8325B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76800" y="1336318"/>
            <a:ext cx="1219200" cy="1219200"/>
          </a:xfrm>
          <a:prstGeom prst="rect">
            <a:avLst/>
          </a:prstGeom>
        </p:spPr>
      </p:pic>
      <p:sp>
        <p:nvSpPr>
          <p:cNvPr id="4" name="TextBox 3">
            <a:extLst>
              <a:ext uri="{FF2B5EF4-FFF2-40B4-BE49-F238E27FC236}">
                <a16:creationId xmlns:a16="http://schemas.microsoft.com/office/drawing/2014/main" id="{F4207E71-D3B2-CB52-A0C5-25EC995BE7C1}"/>
              </a:ext>
            </a:extLst>
          </p:cNvPr>
          <p:cNvSpPr txBox="1"/>
          <p:nvPr/>
        </p:nvSpPr>
        <p:spPr>
          <a:xfrm>
            <a:off x="5951913" y="1569012"/>
            <a:ext cx="181771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7" name="Graphic 6" descr="Processor outline">
            <a:extLst>
              <a:ext uri="{FF2B5EF4-FFF2-40B4-BE49-F238E27FC236}">
                <a16:creationId xmlns:a16="http://schemas.microsoft.com/office/drawing/2014/main" id="{D26EA9A3-D905-02CF-F0DB-C6B054CA064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3368" y="4635916"/>
            <a:ext cx="1052945" cy="1052945"/>
          </a:xfrm>
          <a:prstGeom prst="rect">
            <a:avLst/>
          </a:prstGeom>
        </p:spPr>
      </p:pic>
      <p:sp>
        <p:nvSpPr>
          <p:cNvPr id="8" name="TextBox 7">
            <a:extLst>
              <a:ext uri="{FF2B5EF4-FFF2-40B4-BE49-F238E27FC236}">
                <a16:creationId xmlns:a16="http://schemas.microsoft.com/office/drawing/2014/main" id="{89B4B4DE-8A40-C73F-F8F2-4C067496EDD4}"/>
              </a:ext>
            </a:extLst>
          </p:cNvPr>
          <p:cNvSpPr txBox="1"/>
          <p:nvPr/>
        </p:nvSpPr>
        <p:spPr>
          <a:xfrm>
            <a:off x="7482532" y="4931555"/>
            <a:ext cx="28216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Clients/Participants</a:t>
            </a:r>
          </a:p>
        </p:txBody>
      </p:sp>
      <p:pic>
        <p:nvPicPr>
          <p:cNvPr id="9" name="Graphic 8" descr="Processor outline">
            <a:extLst>
              <a:ext uri="{FF2B5EF4-FFF2-40B4-BE49-F238E27FC236}">
                <a16:creationId xmlns:a16="http://schemas.microsoft.com/office/drawing/2014/main" id="{A48A9AA4-D925-A781-B266-7B43CDFA67C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05040" y="4635916"/>
            <a:ext cx="1052945" cy="1052945"/>
          </a:xfrm>
          <a:prstGeom prst="rect">
            <a:avLst/>
          </a:prstGeom>
        </p:spPr>
      </p:pic>
      <p:pic>
        <p:nvPicPr>
          <p:cNvPr id="10" name="Graphic 9" descr="Processor outline">
            <a:extLst>
              <a:ext uri="{FF2B5EF4-FFF2-40B4-BE49-F238E27FC236}">
                <a16:creationId xmlns:a16="http://schemas.microsoft.com/office/drawing/2014/main" id="{4D9DBCE5-163D-8797-4A2E-F15D481294B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64204" y="4635917"/>
            <a:ext cx="1052945" cy="1052945"/>
          </a:xfrm>
          <a:prstGeom prst="rect">
            <a:avLst/>
          </a:prstGeom>
        </p:spPr>
      </p:pic>
      <p:sp>
        <p:nvSpPr>
          <p:cNvPr id="17" name="Can 16">
            <a:extLst>
              <a:ext uri="{FF2B5EF4-FFF2-40B4-BE49-F238E27FC236}">
                <a16:creationId xmlns:a16="http://schemas.microsoft.com/office/drawing/2014/main" id="{5BE78168-E67E-FCA4-06E0-54DB866937E7}"/>
              </a:ext>
            </a:extLst>
          </p:cNvPr>
          <p:cNvSpPr/>
          <p:nvPr/>
        </p:nvSpPr>
        <p:spPr>
          <a:xfrm rot="5400000">
            <a:off x="5373186" y="2733933"/>
            <a:ext cx="510231" cy="13901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6A0716B8-1977-7AD4-441D-674FB032B7D2}"/>
              </a:ext>
            </a:extLst>
          </p:cNvPr>
          <p:cNvSpPr txBox="1"/>
          <p:nvPr/>
        </p:nvSpPr>
        <p:spPr>
          <a:xfrm>
            <a:off x="158302" y="1973555"/>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 attach message generation timestamps to outgoing messages</a:t>
            </a:r>
          </a:p>
        </p:txBody>
      </p:sp>
      <p:grpSp>
        <p:nvGrpSpPr>
          <p:cNvPr id="24" name="Group 23">
            <a:extLst>
              <a:ext uri="{FF2B5EF4-FFF2-40B4-BE49-F238E27FC236}">
                <a16:creationId xmlns:a16="http://schemas.microsoft.com/office/drawing/2014/main" id="{F1DCFBA3-66F2-EF5B-7CBC-E134EEF9AE2E}"/>
              </a:ext>
            </a:extLst>
          </p:cNvPr>
          <p:cNvGrpSpPr/>
          <p:nvPr/>
        </p:nvGrpSpPr>
        <p:grpSpPr>
          <a:xfrm>
            <a:off x="6386306" y="2333813"/>
            <a:ext cx="753419" cy="753419"/>
            <a:chOff x="5313966" y="5521682"/>
            <a:chExt cx="753419" cy="753419"/>
          </a:xfrm>
        </p:grpSpPr>
        <p:pic>
          <p:nvPicPr>
            <p:cNvPr id="16" name="Graphic 15" descr="Envelope outline">
              <a:extLst>
                <a:ext uri="{FF2B5EF4-FFF2-40B4-BE49-F238E27FC236}">
                  <a16:creationId xmlns:a16="http://schemas.microsoft.com/office/drawing/2014/main" id="{8C4E8B56-6578-369F-25E2-F14E2E4FA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9" name="TextBox 18">
              <a:extLst>
                <a:ext uri="{FF2B5EF4-FFF2-40B4-BE49-F238E27FC236}">
                  <a16:creationId xmlns:a16="http://schemas.microsoft.com/office/drawing/2014/main" id="{3C12D2EB-7655-5ECF-4E36-662848D4215C}"/>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25" name="Group 24">
            <a:extLst>
              <a:ext uri="{FF2B5EF4-FFF2-40B4-BE49-F238E27FC236}">
                <a16:creationId xmlns:a16="http://schemas.microsoft.com/office/drawing/2014/main" id="{0DCEBE77-B5A5-8BAE-1A07-38BA84866BCD}"/>
              </a:ext>
            </a:extLst>
          </p:cNvPr>
          <p:cNvGrpSpPr/>
          <p:nvPr/>
        </p:nvGrpSpPr>
        <p:grpSpPr>
          <a:xfrm>
            <a:off x="5719711" y="3549062"/>
            <a:ext cx="753419" cy="753419"/>
            <a:chOff x="4123381" y="5521682"/>
            <a:chExt cx="753419" cy="753419"/>
          </a:xfrm>
        </p:grpSpPr>
        <p:pic>
          <p:nvPicPr>
            <p:cNvPr id="11" name="Graphic 10" descr="Envelope outline">
              <a:extLst>
                <a:ext uri="{FF2B5EF4-FFF2-40B4-BE49-F238E27FC236}">
                  <a16:creationId xmlns:a16="http://schemas.microsoft.com/office/drawing/2014/main" id="{EC052D40-1D33-C3D1-40C5-64C2D326954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23381" y="5521682"/>
              <a:ext cx="753419" cy="753419"/>
            </a:xfrm>
            <a:prstGeom prst="rect">
              <a:avLst/>
            </a:prstGeom>
          </p:spPr>
        </p:pic>
        <p:sp>
          <p:nvSpPr>
            <p:cNvPr id="20" name="TextBox 19">
              <a:extLst>
                <a:ext uri="{FF2B5EF4-FFF2-40B4-BE49-F238E27FC236}">
                  <a16:creationId xmlns:a16="http://schemas.microsoft.com/office/drawing/2014/main" id="{7986FD76-EC9F-4C1D-9C20-F48E6BC23CE3}"/>
                </a:ext>
              </a:extLst>
            </p:cNvPr>
            <p:cNvSpPr txBox="1"/>
            <p:nvPr/>
          </p:nvSpPr>
          <p:spPr>
            <a:xfrm>
              <a:off x="4319427"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23" name="Group 22">
            <a:extLst>
              <a:ext uri="{FF2B5EF4-FFF2-40B4-BE49-F238E27FC236}">
                <a16:creationId xmlns:a16="http://schemas.microsoft.com/office/drawing/2014/main" id="{B3A5B5B0-9132-0512-212D-04282F86A58A}"/>
              </a:ext>
            </a:extLst>
          </p:cNvPr>
          <p:cNvGrpSpPr/>
          <p:nvPr/>
        </p:nvGrpSpPr>
        <p:grpSpPr>
          <a:xfrm>
            <a:off x="5057985" y="3549060"/>
            <a:ext cx="753419" cy="753419"/>
            <a:chOff x="6473130" y="5544846"/>
            <a:chExt cx="753419" cy="753419"/>
          </a:xfrm>
        </p:grpSpPr>
        <p:pic>
          <p:nvPicPr>
            <p:cNvPr id="18" name="Graphic 17" descr="Envelope outline">
              <a:extLst>
                <a:ext uri="{FF2B5EF4-FFF2-40B4-BE49-F238E27FC236}">
                  <a16:creationId xmlns:a16="http://schemas.microsoft.com/office/drawing/2014/main" id="{9EF27254-355F-703C-A6F3-5A8DB982705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73130" y="5544846"/>
              <a:ext cx="753419" cy="753419"/>
            </a:xfrm>
            <a:prstGeom prst="rect">
              <a:avLst/>
            </a:prstGeom>
          </p:spPr>
        </p:pic>
        <p:sp>
          <p:nvSpPr>
            <p:cNvPr id="21" name="TextBox 20">
              <a:extLst>
                <a:ext uri="{FF2B5EF4-FFF2-40B4-BE49-F238E27FC236}">
                  <a16:creationId xmlns:a16="http://schemas.microsoft.com/office/drawing/2014/main" id="{31BB3C77-AF67-134D-003A-759235E32F52}"/>
                </a:ext>
              </a:extLst>
            </p:cNvPr>
            <p:cNvSpPr txBox="1"/>
            <p:nvPr/>
          </p:nvSpPr>
          <p:spPr>
            <a:xfrm>
              <a:off x="6654315" y="568886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sp>
        <p:nvSpPr>
          <p:cNvPr id="22" name="TextBox 21">
            <a:extLst>
              <a:ext uri="{FF2B5EF4-FFF2-40B4-BE49-F238E27FC236}">
                <a16:creationId xmlns:a16="http://schemas.microsoft.com/office/drawing/2014/main" id="{724E2A79-D13E-3D29-309C-5EB993F0174D}"/>
              </a:ext>
            </a:extLst>
          </p:cNvPr>
          <p:cNvSpPr txBox="1"/>
          <p:nvPr/>
        </p:nvSpPr>
        <p:spPr>
          <a:xfrm>
            <a:off x="8420545" y="1973554"/>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Sequencer waits for at least one message from each client</a:t>
            </a:r>
          </a:p>
        </p:txBody>
      </p:sp>
      <p:sp>
        <p:nvSpPr>
          <p:cNvPr id="6" name="TextBox 5">
            <a:extLst>
              <a:ext uri="{FF2B5EF4-FFF2-40B4-BE49-F238E27FC236}">
                <a16:creationId xmlns:a16="http://schemas.microsoft.com/office/drawing/2014/main" id="{5D3801E3-361D-F650-2B20-757402D68B46}"/>
              </a:ext>
            </a:extLst>
          </p:cNvPr>
          <p:cNvSpPr txBox="1"/>
          <p:nvPr/>
        </p:nvSpPr>
        <p:spPr>
          <a:xfrm>
            <a:off x="8420544" y="3508408"/>
            <a:ext cx="372798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It releases the smallest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ts’</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message and waits again</a:t>
            </a:r>
          </a:p>
        </p:txBody>
      </p:sp>
      <p:grpSp>
        <p:nvGrpSpPr>
          <p:cNvPr id="12" name="Group 11">
            <a:extLst>
              <a:ext uri="{FF2B5EF4-FFF2-40B4-BE49-F238E27FC236}">
                <a16:creationId xmlns:a16="http://schemas.microsoft.com/office/drawing/2014/main" id="{710B061D-BDF9-F71C-D803-AFC55F8B0858}"/>
              </a:ext>
            </a:extLst>
          </p:cNvPr>
          <p:cNvGrpSpPr/>
          <p:nvPr/>
        </p:nvGrpSpPr>
        <p:grpSpPr>
          <a:xfrm>
            <a:off x="5343001" y="5544846"/>
            <a:ext cx="753419" cy="753419"/>
            <a:chOff x="5313966" y="5521682"/>
            <a:chExt cx="753419" cy="753419"/>
          </a:xfrm>
        </p:grpSpPr>
        <p:pic>
          <p:nvPicPr>
            <p:cNvPr id="13" name="Graphic 12" descr="Envelope outline">
              <a:extLst>
                <a:ext uri="{FF2B5EF4-FFF2-40B4-BE49-F238E27FC236}">
                  <a16:creationId xmlns:a16="http://schemas.microsoft.com/office/drawing/2014/main" id="{C98CF25C-82DD-7A1B-726D-50AD9CCBDBD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4" name="TextBox 13">
              <a:extLst>
                <a:ext uri="{FF2B5EF4-FFF2-40B4-BE49-F238E27FC236}">
                  <a16:creationId xmlns:a16="http://schemas.microsoft.com/office/drawing/2014/main" id="{0A61701C-0B78-9582-E1AB-4B0741220BEB}"/>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graphicFrame>
        <p:nvGraphicFramePr>
          <p:cNvPr id="15" name="Table 14">
            <a:extLst>
              <a:ext uri="{FF2B5EF4-FFF2-40B4-BE49-F238E27FC236}">
                <a16:creationId xmlns:a16="http://schemas.microsoft.com/office/drawing/2014/main" id="{E6350A8F-CAD5-5170-F0D6-FFC423AC4EF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26" name="TextBox 25">
            <a:extLst>
              <a:ext uri="{FF2B5EF4-FFF2-40B4-BE49-F238E27FC236}">
                <a16:creationId xmlns:a16="http://schemas.microsoft.com/office/drawing/2014/main" id="{1E254DE2-7A90-1197-19E9-68CA029D02D8}"/>
              </a:ext>
            </a:extLst>
          </p:cNvPr>
          <p:cNvSpPr txBox="1"/>
          <p:nvPr/>
        </p:nvSpPr>
        <p:spPr>
          <a:xfrm>
            <a:off x="7769629" y="966986"/>
            <a:ext cx="40534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Can use knowledge of MPs!</a:t>
            </a:r>
          </a:p>
        </p:txBody>
      </p:sp>
    </p:spTree>
    <p:extLst>
      <p:ext uri="{BB962C8B-B14F-4D97-AF65-F5344CB8AC3E}">
        <p14:creationId xmlns:p14="http://schemas.microsoft.com/office/powerpoint/2010/main" val="7828277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95C8615B-A32A-51C8-7F92-12417CF481EE}"/>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5842A7B5-698A-16F4-2641-B2EEB5018A6F}"/>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phic 1" descr="Server with solid fill">
            <a:extLst>
              <a:ext uri="{FF2B5EF4-FFF2-40B4-BE49-F238E27FC236}">
                <a16:creationId xmlns:a16="http://schemas.microsoft.com/office/drawing/2014/main" id="{B181366D-5FD6-5CA4-7820-B5EC8E079D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76800" y="1336318"/>
            <a:ext cx="1219200" cy="1219200"/>
          </a:xfrm>
          <a:prstGeom prst="rect">
            <a:avLst/>
          </a:prstGeom>
        </p:spPr>
      </p:pic>
      <p:sp>
        <p:nvSpPr>
          <p:cNvPr id="4" name="TextBox 3">
            <a:extLst>
              <a:ext uri="{FF2B5EF4-FFF2-40B4-BE49-F238E27FC236}">
                <a16:creationId xmlns:a16="http://schemas.microsoft.com/office/drawing/2014/main" id="{E50F4675-67E5-7085-4EF2-84CBC1B1BB6C}"/>
              </a:ext>
            </a:extLst>
          </p:cNvPr>
          <p:cNvSpPr txBox="1"/>
          <p:nvPr/>
        </p:nvSpPr>
        <p:spPr>
          <a:xfrm>
            <a:off x="5951913" y="1569012"/>
            <a:ext cx="181771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7" name="Graphic 6" descr="Processor outline">
            <a:extLst>
              <a:ext uri="{FF2B5EF4-FFF2-40B4-BE49-F238E27FC236}">
                <a16:creationId xmlns:a16="http://schemas.microsoft.com/office/drawing/2014/main" id="{F7D3B5F9-14CD-2F92-BA03-CEB9B6D404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3368" y="4635916"/>
            <a:ext cx="1052945" cy="1052945"/>
          </a:xfrm>
          <a:prstGeom prst="rect">
            <a:avLst/>
          </a:prstGeom>
        </p:spPr>
      </p:pic>
      <p:sp>
        <p:nvSpPr>
          <p:cNvPr id="8" name="TextBox 7">
            <a:extLst>
              <a:ext uri="{FF2B5EF4-FFF2-40B4-BE49-F238E27FC236}">
                <a16:creationId xmlns:a16="http://schemas.microsoft.com/office/drawing/2014/main" id="{B6D067BE-32F3-A366-90C1-28356687AE22}"/>
              </a:ext>
            </a:extLst>
          </p:cNvPr>
          <p:cNvSpPr txBox="1"/>
          <p:nvPr/>
        </p:nvSpPr>
        <p:spPr>
          <a:xfrm>
            <a:off x="7482532" y="4931555"/>
            <a:ext cx="28216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Clients/Participants</a:t>
            </a:r>
          </a:p>
        </p:txBody>
      </p:sp>
      <p:pic>
        <p:nvPicPr>
          <p:cNvPr id="9" name="Graphic 8" descr="Processor outline">
            <a:extLst>
              <a:ext uri="{FF2B5EF4-FFF2-40B4-BE49-F238E27FC236}">
                <a16:creationId xmlns:a16="http://schemas.microsoft.com/office/drawing/2014/main" id="{0592E5B2-C9BE-6300-907E-78FC981FCB4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05040" y="4635916"/>
            <a:ext cx="1052945" cy="1052945"/>
          </a:xfrm>
          <a:prstGeom prst="rect">
            <a:avLst/>
          </a:prstGeom>
        </p:spPr>
      </p:pic>
      <p:pic>
        <p:nvPicPr>
          <p:cNvPr id="10" name="Graphic 9" descr="Processor outline">
            <a:extLst>
              <a:ext uri="{FF2B5EF4-FFF2-40B4-BE49-F238E27FC236}">
                <a16:creationId xmlns:a16="http://schemas.microsoft.com/office/drawing/2014/main" id="{C0C15434-C5CC-7A5D-89F7-8BAC9B4B1F0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64204" y="4635917"/>
            <a:ext cx="1052945" cy="1052945"/>
          </a:xfrm>
          <a:prstGeom prst="rect">
            <a:avLst/>
          </a:prstGeom>
        </p:spPr>
      </p:pic>
      <p:sp>
        <p:nvSpPr>
          <p:cNvPr id="17" name="Can 16">
            <a:extLst>
              <a:ext uri="{FF2B5EF4-FFF2-40B4-BE49-F238E27FC236}">
                <a16:creationId xmlns:a16="http://schemas.microsoft.com/office/drawing/2014/main" id="{E1489721-24C6-CCEB-80E4-0BF888E225AB}"/>
              </a:ext>
            </a:extLst>
          </p:cNvPr>
          <p:cNvSpPr/>
          <p:nvPr/>
        </p:nvSpPr>
        <p:spPr>
          <a:xfrm rot="5400000">
            <a:off x="5373186" y="2733933"/>
            <a:ext cx="510231" cy="13901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04A588EC-A4FC-7BB4-6029-CA20FBD860FD}"/>
              </a:ext>
            </a:extLst>
          </p:cNvPr>
          <p:cNvSpPr txBox="1"/>
          <p:nvPr/>
        </p:nvSpPr>
        <p:spPr>
          <a:xfrm>
            <a:off x="158302" y="1973555"/>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 attach message generation timestamps to outgoing messages</a:t>
            </a:r>
          </a:p>
        </p:txBody>
      </p:sp>
      <p:grpSp>
        <p:nvGrpSpPr>
          <p:cNvPr id="24" name="Group 23">
            <a:extLst>
              <a:ext uri="{FF2B5EF4-FFF2-40B4-BE49-F238E27FC236}">
                <a16:creationId xmlns:a16="http://schemas.microsoft.com/office/drawing/2014/main" id="{5B9424E8-7EA4-F50D-1A20-9F10D31A258E}"/>
              </a:ext>
            </a:extLst>
          </p:cNvPr>
          <p:cNvGrpSpPr/>
          <p:nvPr/>
        </p:nvGrpSpPr>
        <p:grpSpPr>
          <a:xfrm>
            <a:off x="6386306" y="2333813"/>
            <a:ext cx="753419" cy="753419"/>
            <a:chOff x="5313966" y="5521682"/>
            <a:chExt cx="753419" cy="753419"/>
          </a:xfrm>
        </p:grpSpPr>
        <p:pic>
          <p:nvPicPr>
            <p:cNvPr id="16" name="Graphic 15" descr="Envelope outline">
              <a:extLst>
                <a:ext uri="{FF2B5EF4-FFF2-40B4-BE49-F238E27FC236}">
                  <a16:creationId xmlns:a16="http://schemas.microsoft.com/office/drawing/2014/main" id="{ED34272F-3F83-A171-37A1-9AFE7447C57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9" name="TextBox 18">
              <a:extLst>
                <a:ext uri="{FF2B5EF4-FFF2-40B4-BE49-F238E27FC236}">
                  <a16:creationId xmlns:a16="http://schemas.microsoft.com/office/drawing/2014/main" id="{30F1AA02-07DC-1E08-CC6E-4ED6F7DC97DF}"/>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25" name="Group 24">
            <a:extLst>
              <a:ext uri="{FF2B5EF4-FFF2-40B4-BE49-F238E27FC236}">
                <a16:creationId xmlns:a16="http://schemas.microsoft.com/office/drawing/2014/main" id="{ED239F68-51BF-D4D0-7B8A-38CB490D0E68}"/>
              </a:ext>
            </a:extLst>
          </p:cNvPr>
          <p:cNvGrpSpPr/>
          <p:nvPr/>
        </p:nvGrpSpPr>
        <p:grpSpPr>
          <a:xfrm>
            <a:off x="5719711" y="3549062"/>
            <a:ext cx="753419" cy="753419"/>
            <a:chOff x="4123381" y="5521682"/>
            <a:chExt cx="753419" cy="753419"/>
          </a:xfrm>
        </p:grpSpPr>
        <p:pic>
          <p:nvPicPr>
            <p:cNvPr id="11" name="Graphic 10" descr="Envelope outline">
              <a:extLst>
                <a:ext uri="{FF2B5EF4-FFF2-40B4-BE49-F238E27FC236}">
                  <a16:creationId xmlns:a16="http://schemas.microsoft.com/office/drawing/2014/main" id="{83E0E7B4-297A-FAB2-0A3B-49A16D503DA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23381" y="5521682"/>
              <a:ext cx="753419" cy="753419"/>
            </a:xfrm>
            <a:prstGeom prst="rect">
              <a:avLst/>
            </a:prstGeom>
          </p:spPr>
        </p:pic>
        <p:sp>
          <p:nvSpPr>
            <p:cNvPr id="20" name="TextBox 19">
              <a:extLst>
                <a:ext uri="{FF2B5EF4-FFF2-40B4-BE49-F238E27FC236}">
                  <a16:creationId xmlns:a16="http://schemas.microsoft.com/office/drawing/2014/main" id="{FC3F7A94-FAB9-E6C9-6CE0-5E0C650BBEEF}"/>
                </a:ext>
              </a:extLst>
            </p:cNvPr>
            <p:cNvSpPr txBox="1"/>
            <p:nvPr/>
          </p:nvSpPr>
          <p:spPr>
            <a:xfrm>
              <a:off x="4319427"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23" name="Group 22">
            <a:extLst>
              <a:ext uri="{FF2B5EF4-FFF2-40B4-BE49-F238E27FC236}">
                <a16:creationId xmlns:a16="http://schemas.microsoft.com/office/drawing/2014/main" id="{60C2239B-C014-47B4-7371-EDFC83151473}"/>
              </a:ext>
            </a:extLst>
          </p:cNvPr>
          <p:cNvGrpSpPr/>
          <p:nvPr/>
        </p:nvGrpSpPr>
        <p:grpSpPr>
          <a:xfrm>
            <a:off x="5057985" y="3549060"/>
            <a:ext cx="753419" cy="753419"/>
            <a:chOff x="6473130" y="5544846"/>
            <a:chExt cx="753419" cy="753419"/>
          </a:xfrm>
        </p:grpSpPr>
        <p:pic>
          <p:nvPicPr>
            <p:cNvPr id="18" name="Graphic 17" descr="Envelope outline">
              <a:extLst>
                <a:ext uri="{FF2B5EF4-FFF2-40B4-BE49-F238E27FC236}">
                  <a16:creationId xmlns:a16="http://schemas.microsoft.com/office/drawing/2014/main" id="{CFBEE8CD-6147-59FC-1340-D03B294ADB8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73130" y="5544846"/>
              <a:ext cx="753419" cy="753419"/>
            </a:xfrm>
            <a:prstGeom prst="rect">
              <a:avLst/>
            </a:prstGeom>
          </p:spPr>
        </p:pic>
        <p:sp>
          <p:nvSpPr>
            <p:cNvPr id="21" name="TextBox 20">
              <a:extLst>
                <a:ext uri="{FF2B5EF4-FFF2-40B4-BE49-F238E27FC236}">
                  <a16:creationId xmlns:a16="http://schemas.microsoft.com/office/drawing/2014/main" id="{61A3A418-57BF-15CD-D541-D6989108E6E5}"/>
                </a:ext>
              </a:extLst>
            </p:cNvPr>
            <p:cNvSpPr txBox="1"/>
            <p:nvPr/>
          </p:nvSpPr>
          <p:spPr>
            <a:xfrm>
              <a:off x="6654315" y="568886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sp>
        <p:nvSpPr>
          <p:cNvPr id="22" name="TextBox 21">
            <a:extLst>
              <a:ext uri="{FF2B5EF4-FFF2-40B4-BE49-F238E27FC236}">
                <a16:creationId xmlns:a16="http://schemas.microsoft.com/office/drawing/2014/main" id="{7C839782-7C61-030F-B53E-4D6D4859FC7E}"/>
              </a:ext>
            </a:extLst>
          </p:cNvPr>
          <p:cNvSpPr txBox="1"/>
          <p:nvPr/>
        </p:nvSpPr>
        <p:spPr>
          <a:xfrm>
            <a:off x="8420545" y="1973554"/>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Sequencer waits for at least one message from each client</a:t>
            </a:r>
          </a:p>
        </p:txBody>
      </p:sp>
      <p:sp>
        <p:nvSpPr>
          <p:cNvPr id="6" name="TextBox 5">
            <a:extLst>
              <a:ext uri="{FF2B5EF4-FFF2-40B4-BE49-F238E27FC236}">
                <a16:creationId xmlns:a16="http://schemas.microsoft.com/office/drawing/2014/main" id="{38F4F78D-5B10-7A8F-75C3-78B6AE29118F}"/>
              </a:ext>
            </a:extLst>
          </p:cNvPr>
          <p:cNvSpPr txBox="1"/>
          <p:nvPr/>
        </p:nvSpPr>
        <p:spPr>
          <a:xfrm>
            <a:off x="8420544" y="3508408"/>
            <a:ext cx="372798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It releases the smallest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ts’</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message and waits again</a:t>
            </a:r>
          </a:p>
        </p:txBody>
      </p:sp>
      <p:grpSp>
        <p:nvGrpSpPr>
          <p:cNvPr id="12" name="Group 11">
            <a:extLst>
              <a:ext uri="{FF2B5EF4-FFF2-40B4-BE49-F238E27FC236}">
                <a16:creationId xmlns:a16="http://schemas.microsoft.com/office/drawing/2014/main" id="{5EF82E6B-4FBB-A7A3-FE86-6256B726A338}"/>
              </a:ext>
            </a:extLst>
          </p:cNvPr>
          <p:cNvGrpSpPr/>
          <p:nvPr/>
        </p:nvGrpSpPr>
        <p:grpSpPr>
          <a:xfrm>
            <a:off x="4406763" y="3549060"/>
            <a:ext cx="753419" cy="753419"/>
            <a:chOff x="5313966" y="5521682"/>
            <a:chExt cx="753419" cy="753419"/>
          </a:xfrm>
        </p:grpSpPr>
        <p:pic>
          <p:nvPicPr>
            <p:cNvPr id="13" name="Graphic 12" descr="Envelope outline">
              <a:extLst>
                <a:ext uri="{FF2B5EF4-FFF2-40B4-BE49-F238E27FC236}">
                  <a16:creationId xmlns:a16="http://schemas.microsoft.com/office/drawing/2014/main" id="{FCF5CC08-09B7-246E-825A-8BAC7BD0E4A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4" name="TextBox 13">
              <a:extLst>
                <a:ext uri="{FF2B5EF4-FFF2-40B4-BE49-F238E27FC236}">
                  <a16:creationId xmlns:a16="http://schemas.microsoft.com/office/drawing/2014/main" id="{5AA9165F-F41A-BA65-307C-6141F0B5CADD}"/>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graphicFrame>
        <p:nvGraphicFramePr>
          <p:cNvPr id="15" name="Table 14">
            <a:extLst>
              <a:ext uri="{FF2B5EF4-FFF2-40B4-BE49-F238E27FC236}">
                <a16:creationId xmlns:a16="http://schemas.microsoft.com/office/drawing/2014/main" id="{2453C236-914A-8DA7-0F42-595CAA462628}"/>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26" name="TextBox 25">
            <a:extLst>
              <a:ext uri="{FF2B5EF4-FFF2-40B4-BE49-F238E27FC236}">
                <a16:creationId xmlns:a16="http://schemas.microsoft.com/office/drawing/2014/main" id="{A4E348E2-14C2-996F-771A-989191F313C3}"/>
              </a:ext>
            </a:extLst>
          </p:cNvPr>
          <p:cNvSpPr txBox="1"/>
          <p:nvPr/>
        </p:nvSpPr>
        <p:spPr>
          <a:xfrm>
            <a:off x="7769629" y="966986"/>
            <a:ext cx="40534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Can use knowledge of MPs!</a:t>
            </a:r>
          </a:p>
        </p:txBody>
      </p:sp>
    </p:spTree>
    <p:extLst>
      <p:ext uri="{BB962C8B-B14F-4D97-AF65-F5344CB8AC3E}">
        <p14:creationId xmlns:p14="http://schemas.microsoft.com/office/powerpoint/2010/main" val="40545320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90ECAF4-814B-3E2F-E0A1-0BDFBDA6CB7E}"/>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C452EC6B-2FD7-C30A-F68D-E4C539F87464}"/>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raphic 1" descr="Server with solid fill">
            <a:extLst>
              <a:ext uri="{FF2B5EF4-FFF2-40B4-BE49-F238E27FC236}">
                <a16:creationId xmlns:a16="http://schemas.microsoft.com/office/drawing/2014/main" id="{8C3EBAF2-D97D-90FE-27DE-6356E94700E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76800" y="1336318"/>
            <a:ext cx="1219200" cy="1219200"/>
          </a:xfrm>
          <a:prstGeom prst="rect">
            <a:avLst/>
          </a:prstGeom>
        </p:spPr>
      </p:pic>
      <p:sp>
        <p:nvSpPr>
          <p:cNvPr id="4" name="TextBox 3">
            <a:extLst>
              <a:ext uri="{FF2B5EF4-FFF2-40B4-BE49-F238E27FC236}">
                <a16:creationId xmlns:a16="http://schemas.microsoft.com/office/drawing/2014/main" id="{546F8001-1C9B-062A-075F-49BE8414850D}"/>
              </a:ext>
            </a:extLst>
          </p:cNvPr>
          <p:cNvSpPr txBox="1"/>
          <p:nvPr/>
        </p:nvSpPr>
        <p:spPr>
          <a:xfrm>
            <a:off x="5951913" y="1569012"/>
            <a:ext cx="181771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Exchange Server</a:t>
            </a:r>
          </a:p>
        </p:txBody>
      </p:sp>
      <p:pic>
        <p:nvPicPr>
          <p:cNvPr id="7" name="Graphic 6" descr="Processor outline">
            <a:extLst>
              <a:ext uri="{FF2B5EF4-FFF2-40B4-BE49-F238E27FC236}">
                <a16:creationId xmlns:a16="http://schemas.microsoft.com/office/drawing/2014/main" id="{5391F11B-18AA-C3BE-3F87-BE34C669985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23368" y="4635916"/>
            <a:ext cx="1052945" cy="1052945"/>
          </a:xfrm>
          <a:prstGeom prst="rect">
            <a:avLst/>
          </a:prstGeom>
        </p:spPr>
      </p:pic>
      <p:sp>
        <p:nvSpPr>
          <p:cNvPr id="8" name="TextBox 7">
            <a:extLst>
              <a:ext uri="{FF2B5EF4-FFF2-40B4-BE49-F238E27FC236}">
                <a16:creationId xmlns:a16="http://schemas.microsoft.com/office/drawing/2014/main" id="{E666C67C-94C8-98AC-3873-EBE2031C2D2A}"/>
              </a:ext>
            </a:extLst>
          </p:cNvPr>
          <p:cNvSpPr txBox="1"/>
          <p:nvPr/>
        </p:nvSpPr>
        <p:spPr>
          <a:xfrm>
            <a:off x="7482532" y="4931555"/>
            <a:ext cx="28216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Clients/Participants</a:t>
            </a:r>
          </a:p>
        </p:txBody>
      </p:sp>
      <p:pic>
        <p:nvPicPr>
          <p:cNvPr id="9" name="Graphic 8" descr="Processor outline">
            <a:extLst>
              <a:ext uri="{FF2B5EF4-FFF2-40B4-BE49-F238E27FC236}">
                <a16:creationId xmlns:a16="http://schemas.microsoft.com/office/drawing/2014/main" id="{1841B34D-CDC5-3A82-6F4E-71925FBAEC7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05040" y="4635916"/>
            <a:ext cx="1052945" cy="1052945"/>
          </a:xfrm>
          <a:prstGeom prst="rect">
            <a:avLst/>
          </a:prstGeom>
        </p:spPr>
      </p:pic>
      <p:pic>
        <p:nvPicPr>
          <p:cNvPr id="10" name="Graphic 9" descr="Processor outline">
            <a:extLst>
              <a:ext uri="{FF2B5EF4-FFF2-40B4-BE49-F238E27FC236}">
                <a16:creationId xmlns:a16="http://schemas.microsoft.com/office/drawing/2014/main" id="{CAC91AA1-72B3-1D5F-D31A-A184908CB3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64204" y="4635917"/>
            <a:ext cx="1052945" cy="1052945"/>
          </a:xfrm>
          <a:prstGeom prst="rect">
            <a:avLst/>
          </a:prstGeom>
        </p:spPr>
      </p:pic>
      <p:sp>
        <p:nvSpPr>
          <p:cNvPr id="17" name="Can 16">
            <a:extLst>
              <a:ext uri="{FF2B5EF4-FFF2-40B4-BE49-F238E27FC236}">
                <a16:creationId xmlns:a16="http://schemas.microsoft.com/office/drawing/2014/main" id="{BBD27018-75D3-177B-04AD-730913079CA0}"/>
              </a:ext>
            </a:extLst>
          </p:cNvPr>
          <p:cNvSpPr/>
          <p:nvPr/>
        </p:nvSpPr>
        <p:spPr>
          <a:xfrm rot="5400000">
            <a:off x="5373186" y="2733933"/>
            <a:ext cx="510231" cy="13901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2152BFA7-55C8-99E3-A582-94FE0D61ACA1}"/>
              </a:ext>
            </a:extLst>
          </p:cNvPr>
          <p:cNvSpPr txBox="1"/>
          <p:nvPr/>
        </p:nvSpPr>
        <p:spPr>
          <a:xfrm>
            <a:off x="158302" y="1973555"/>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 attach message generation timestamps to outgoing messages</a:t>
            </a:r>
          </a:p>
        </p:txBody>
      </p:sp>
      <p:grpSp>
        <p:nvGrpSpPr>
          <p:cNvPr id="24" name="Group 23">
            <a:extLst>
              <a:ext uri="{FF2B5EF4-FFF2-40B4-BE49-F238E27FC236}">
                <a16:creationId xmlns:a16="http://schemas.microsoft.com/office/drawing/2014/main" id="{89F17BDB-B704-B4FE-0B43-3F50BCBE9E0F}"/>
              </a:ext>
            </a:extLst>
          </p:cNvPr>
          <p:cNvGrpSpPr/>
          <p:nvPr/>
        </p:nvGrpSpPr>
        <p:grpSpPr>
          <a:xfrm>
            <a:off x="6386306" y="2333813"/>
            <a:ext cx="753419" cy="753419"/>
            <a:chOff x="5313966" y="5521682"/>
            <a:chExt cx="753419" cy="753419"/>
          </a:xfrm>
        </p:grpSpPr>
        <p:pic>
          <p:nvPicPr>
            <p:cNvPr id="16" name="Graphic 15" descr="Envelope outline">
              <a:extLst>
                <a:ext uri="{FF2B5EF4-FFF2-40B4-BE49-F238E27FC236}">
                  <a16:creationId xmlns:a16="http://schemas.microsoft.com/office/drawing/2014/main" id="{1A2ABDE9-FEE9-CF21-E62A-D09F7877442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9" name="TextBox 18">
              <a:extLst>
                <a:ext uri="{FF2B5EF4-FFF2-40B4-BE49-F238E27FC236}">
                  <a16:creationId xmlns:a16="http://schemas.microsoft.com/office/drawing/2014/main" id="{420ABEF2-B57F-ED19-7728-B63EAAF868FB}"/>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25" name="Group 24">
            <a:extLst>
              <a:ext uri="{FF2B5EF4-FFF2-40B4-BE49-F238E27FC236}">
                <a16:creationId xmlns:a16="http://schemas.microsoft.com/office/drawing/2014/main" id="{CA289BB4-109F-3BE4-DDD9-17BA3664846E}"/>
              </a:ext>
            </a:extLst>
          </p:cNvPr>
          <p:cNvGrpSpPr/>
          <p:nvPr/>
        </p:nvGrpSpPr>
        <p:grpSpPr>
          <a:xfrm>
            <a:off x="5668039" y="2333813"/>
            <a:ext cx="753419" cy="753419"/>
            <a:chOff x="4123381" y="5521682"/>
            <a:chExt cx="753419" cy="753419"/>
          </a:xfrm>
        </p:grpSpPr>
        <p:pic>
          <p:nvPicPr>
            <p:cNvPr id="11" name="Graphic 10" descr="Envelope outline">
              <a:extLst>
                <a:ext uri="{FF2B5EF4-FFF2-40B4-BE49-F238E27FC236}">
                  <a16:creationId xmlns:a16="http://schemas.microsoft.com/office/drawing/2014/main" id="{9571B5B3-F99E-FE60-33CF-CA616F37852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123381" y="5521682"/>
              <a:ext cx="753419" cy="753419"/>
            </a:xfrm>
            <a:prstGeom prst="rect">
              <a:avLst/>
            </a:prstGeom>
          </p:spPr>
        </p:pic>
        <p:sp>
          <p:nvSpPr>
            <p:cNvPr id="20" name="TextBox 19">
              <a:extLst>
                <a:ext uri="{FF2B5EF4-FFF2-40B4-BE49-F238E27FC236}">
                  <a16:creationId xmlns:a16="http://schemas.microsoft.com/office/drawing/2014/main" id="{3D74DE71-2E8B-AB67-070A-6629965388BE}"/>
                </a:ext>
              </a:extLst>
            </p:cNvPr>
            <p:cNvSpPr txBox="1"/>
            <p:nvPr/>
          </p:nvSpPr>
          <p:spPr>
            <a:xfrm>
              <a:off x="4319427"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23" name="Group 22">
            <a:extLst>
              <a:ext uri="{FF2B5EF4-FFF2-40B4-BE49-F238E27FC236}">
                <a16:creationId xmlns:a16="http://schemas.microsoft.com/office/drawing/2014/main" id="{B6993901-2226-EF73-1A0F-F7DD96E123B6}"/>
              </a:ext>
            </a:extLst>
          </p:cNvPr>
          <p:cNvGrpSpPr/>
          <p:nvPr/>
        </p:nvGrpSpPr>
        <p:grpSpPr>
          <a:xfrm>
            <a:off x="5057985" y="3549060"/>
            <a:ext cx="753419" cy="753419"/>
            <a:chOff x="6473130" y="5544846"/>
            <a:chExt cx="753419" cy="753419"/>
          </a:xfrm>
        </p:grpSpPr>
        <p:pic>
          <p:nvPicPr>
            <p:cNvPr id="18" name="Graphic 17" descr="Envelope outline">
              <a:extLst>
                <a:ext uri="{FF2B5EF4-FFF2-40B4-BE49-F238E27FC236}">
                  <a16:creationId xmlns:a16="http://schemas.microsoft.com/office/drawing/2014/main" id="{055DF166-C846-01BC-650C-34B1CE5DF6C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73130" y="5544846"/>
              <a:ext cx="753419" cy="753419"/>
            </a:xfrm>
            <a:prstGeom prst="rect">
              <a:avLst/>
            </a:prstGeom>
          </p:spPr>
        </p:pic>
        <p:sp>
          <p:nvSpPr>
            <p:cNvPr id="21" name="TextBox 20">
              <a:extLst>
                <a:ext uri="{FF2B5EF4-FFF2-40B4-BE49-F238E27FC236}">
                  <a16:creationId xmlns:a16="http://schemas.microsoft.com/office/drawing/2014/main" id="{03B0AEBF-84B4-79AF-BE0F-3D6791EB957E}"/>
                </a:ext>
              </a:extLst>
            </p:cNvPr>
            <p:cNvSpPr txBox="1"/>
            <p:nvPr/>
          </p:nvSpPr>
          <p:spPr>
            <a:xfrm>
              <a:off x="6654315" y="5688861"/>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sp>
        <p:nvSpPr>
          <p:cNvPr id="22" name="TextBox 21">
            <a:extLst>
              <a:ext uri="{FF2B5EF4-FFF2-40B4-BE49-F238E27FC236}">
                <a16:creationId xmlns:a16="http://schemas.microsoft.com/office/drawing/2014/main" id="{C32C9B8C-D1E2-B4BC-CE6B-208795468197}"/>
              </a:ext>
            </a:extLst>
          </p:cNvPr>
          <p:cNvSpPr txBox="1"/>
          <p:nvPr/>
        </p:nvSpPr>
        <p:spPr>
          <a:xfrm>
            <a:off x="8420545" y="1973554"/>
            <a:ext cx="372798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Sequencer waits for at least one message from each client</a:t>
            </a:r>
          </a:p>
        </p:txBody>
      </p:sp>
      <p:sp>
        <p:nvSpPr>
          <p:cNvPr id="6" name="TextBox 5">
            <a:extLst>
              <a:ext uri="{FF2B5EF4-FFF2-40B4-BE49-F238E27FC236}">
                <a16:creationId xmlns:a16="http://schemas.microsoft.com/office/drawing/2014/main" id="{A6C98620-E4C3-ED2F-94AC-087FC2049070}"/>
              </a:ext>
            </a:extLst>
          </p:cNvPr>
          <p:cNvSpPr txBox="1"/>
          <p:nvPr/>
        </p:nvSpPr>
        <p:spPr>
          <a:xfrm>
            <a:off x="8420544" y="3508408"/>
            <a:ext cx="372798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It releases the smallest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ts’</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message and waits again</a:t>
            </a:r>
          </a:p>
        </p:txBody>
      </p:sp>
      <p:grpSp>
        <p:nvGrpSpPr>
          <p:cNvPr id="12" name="Group 11">
            <a:extLst>
              <a:ext uri="{FF2B5EF4-FFF2-40B4-BE49-F238E27FC236}">
                <a16:creationId xmlns:a16="http://schemas.microsoft.com/office/drawing/2014/main" id="{F3368CB1-204F-31F1-013D-602A18BAD8C1}"/>
              </a:ext>
            </a:extLst>
          </p:cNvPr>
          <p:cNvGrpSpPr/>
          <p:nvPr/>
        </p:nvGrpSpPr>
        <p:grpSpPr>
          <a:xfrm>
            <a:off x="4406763" y="3549060"/>
            <a:ext cx="753419" cy="753419"/>
            <a:chOff x="5313966" y="5521682"/>
            <a:chExt cx="753419" cy="753419"/>
          </a:xfrm>
        </p:grpSpPr>
        <p:pic>
          <p:nvPicPr>
            <p:cNvPr id="13" name="Graphic 12" descr="Envelope outline">
              <a:extLst>
                <a:ext uri="{FF2B5EF4-FFF2-40B4-BE49-F238E27FC236}">
                  <a16:creationId xmlns:a16="http://schemas.microsoft.com/office/drawing/2014/main" id="{2FBE1080-3794-9765-2238-328E60264F0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13966" y="5521682"/>
              <a:ext cx="753419" cy="753419"/>
            </a:xfrm>
            <a:prstGeom prst="rect">
              <a:avLst/>
            </a:prstGeom>
          </p:spPr>
        </p:pic>
        <p:sp>
          <p:nvSpPr>
            <p:cNvPr id="14" name="TextBox 13">
              <a:extLst>
                <a:ext uri="{FF2B5EF4-FFF2-40B4-BE49-F238E27FC236}">
                  <a16:creationId xmlns:a16="http://schemas.microsoft.com/office/drawing/2014/main" id="{906A7838-01C4-859A-4D59-88F6EF28F2C4}"/>
                </a:ext>
              </a:extLst>
            </p:cNvPr>
            <p:cNvSpPr txBox="1"/>
            <p:nvPr/>
          </p:nvSpPr>
          <p:spPr>
            <a:xfrm>
              <a:off x="5486400" y="5667558"/>
              <a:ext cx="3561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graphicFrame>
        <p:nvGraphicFramePr>
          <p:cNvPr id="15" name="Table 14">
            <a:extLst>
              <a:ext uri="{FF2B5EF4-FFF2-40B4-BE49-F238E27FC236}">
                <a16:creationId xmlns:a16="http://schemas.microsoft.com/office/drawing/2014/main" id="{440F5FAC-2910-9830-1C6C-C1FC7D3F5151}"/>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26" name="TextBox 25">
            <a:extLst>
              <a:ext uri="{FF2B5EF4-FFF2-40B4-BE49-F238E27FC236}">
                <a16:creationId xmlns:a16="http://schemas.microsoft.com/office/drawing/2014/main" id="{F6C05090-D2C3-A5EE-5FF9-333608FD314E}"/>
              </a:ext>
            </a:extLst>
          </p:cNvPr>
          <p:cNvSpPr txBox="1"/>
          <p:nvPr/>
        </p:nvSpPr>
        <p:spPr>
          <a:xfrm>
            <a:off x="7769629" y="966986"/>
            <a:ext cx="40534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Can use knowledge of MPs!</a:t>
            </a:r>
          </a:p>
        </p:txBody>
      </p:sp>
    </p:spTree>
    <p:extLst>
      <p:ext uri="{BB962C8B-B14F-4D97-AF65-F5344CB8AC3E}">
        <p14:creationId xmlns:p14="http://schemas.microsoft.com/office/powerpoint/2010/main" val="28956670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05ABCBAA-87DA-BB1F-D244-272A41762AC8}"/>
            </a:ext>
          </a:extLst>
        </p:cNvPr>
        <p:cNvGrpSpPr/>
        <p:nvPr/>
      </p:nvGrpSpPr>
      <p:grpSpPr>
        <a:xfrm>
          <a:off x="0" y="0"/>
          <a:ext cx="0" cy="0"/>
          <a:chOff x="0" y="0"/>
          <a:chExt cx="0" cy="0"/>
        </a:xfrm>
      </p:grpSpPr>
      <p:graphicFrame>
        <p:nvGraphicFramePr>
          <p:cNvPr id="5" name="TextBox 1">
            <a:extLst>
              <a:ext uri="{FF2B5EF4-FFF2-40B4-BE49-F238E27FC236}">
                <a16:creationId xmlns:a16="http://schemas.microsoft.com/office/drawing/2014/main" id="{C60578B4-4F8D-01BE-997C-35829B6B64A1}"/>
              </a:ext>
            </a:extLst>
          </p:cNvPr>
          <p:cNvGraphicFramePr/>
          <p:nvPr/>
        </p:nvGraphicFramePr>
        <p:xfrm>
          <a:off x="-3930768" y="-2383265"/>
          <a:ext cx="11360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Can 16">
            <a:extLst>
              <a:ext uri="{FF2B5EF4-FFF2-40B4-BE49-F238E27FC236}">
                <a16:creationId xmlns:a16="http://schemas.microsoft.com/office/drawing/2014/main" id="{DC5582FA-9063-931C-0EAA-A97C7B2B058D}"/>
              </a:ext>
            </a:extLst>
          </p:cNvPr>
          <p:cNvSpPr/>
          <p:nvPr/>
        </p:nvSpPr>
        <p:spPr>
          <a:xfrm rot="5400000">
            <a:off x="5100657" y="452002"/>
            <a:ext cx="510231" cy="353885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3B51A561-361C-A5AE-237D-94575741EAD1}"/>
              </a:ext>
            </a:extLst>
          </p:cNvPr>
          <p:cNvSpPr txBox="1"/>
          <p:nvPr/>
        </p:nvSpPr>
        <p:spPr>
          <a:xfrm>
            <a:off x="1928833" y="2967335"/>
            <a:ext cx="833433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Drawback: liveness (progress) may halt under client failures</a:t>
            </a:r>
          </a:p>
        </p:txBody>
      </p:sp>
      <p:sp>
        <p:nvSpPr>
          <p:cNvPr id="26" name="TextBox 25">
            <a:extLst>
              <a:ext uri="{FF2B5EF4-FFF2-40B4-BE49-F238E27FC236}">
                <a16:creationId xmlns:a16="http://schemas.microsoft.com/office/drawing/2014/main" id="{78F8367C-0DE0-2A3C-E364-B123AAA8EE83}"/>
              </a:ext>
            </a:extLst>
          </p:cNvPr>
          <p:cNvSpPr txBox="1"/>
          <p:nvPr/>
        </p:nvSpPr>
        <p:spPr>
          <a:xfrm>
            <a:off x="1928833" y="3624546"/>
            <a:ext cx="92384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Safety (fairness) is guaranteed if clocks are perfectly synchronized</a:t>
            </a:r>
          </a:p>
        </p:txBody>
      </p:sp>
      <p:sp>
        <p:nvSpPr>
          <p:cNvPr id="27" name="TextBox 26">
            <a:extLst>
              <a:ext uri="{FF2B5EF4-FFF2-40B4-BE49-F238E27FC236}">
                <a16:creationId xmlns:a16="http://schemas.microsoft.com/office/drawing/2014/main" id="{63480231-AB32-4194-2948-7E23D537E137}"/>
              </a:ext>
            </a:extLst>
          </p:cNvPr>
          <p:cNvSpPr txBox="1"/>
          <p:nvPr/>
        </p:nvSpPr>
        <p:spPr>
          <a:xfrm>
            <a:off x="1928833" y="4350037"/>
            <a:ext cx="9950994"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In practice, we ensure that clock synchronization accuracy is sufficiently</a:t>
            </a:r>
            <a:b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high compared to the time granularity of interest.</a:t>
            </a:r>
          </a:p>
        </p:txBody>
      </p:sp>
      <p:graphicFrame>
        <p:nvGraphicFramePr>
          <p:cNvPr id="2" name="Table 1">
            <a:extLst>
              <a:ext uri="{FF2B5EF4-FFF2-40B4-BE49-F238E27FC236}">
                <a16:creationId xmlns:a16="http://schemas.microsoft.com/office/drawing/2014/main" id="{62C82EF7-B5DC-F950-CA74-1F19FFE8363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rgbClr val="FF0000"/>
                          </a:solidFill>
                        </a:rPr>
                        <a:t>Sequencer</a:t>
                      </a:r>
                      <a:r>
                        <a:rPr lang="en-US" sz="1800" b="1" dirty="0">
                          <a:solidFill>
                            <a:schemeClr val="tx1"/>
                          </a:solidFill>
                        </a:rPr>
                        <a:t>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8368867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6" grpId="0"/>
      <p:bldP spid="2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715DFF76-15F4-B7BE-4BA7-3876120D59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F064D8-E10B-0C2A-145D-E054039F72ED}"/>
              </a:ext>
            </a:extLst>
          </p:cNvPr>
          <p:cNvSpPr txBox="1"/>
          <p:nvPr/>
        </p:nvSpPr>
        <p:spPr>
          <a:xfrm>
            <a:off x="569979" y="476910"/>
            <a:ext cx="3578224" cy="584775"/>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3200" b="0" i="0" u="none" strike="noStrike" kern="0" cap="none" spc="0" normalizeH="0" baseline="0" noProof="0" dirty="0" err="1">
                <a:ln>
                  <a:noFill/>
                </a:ln>
                <a:solidFill>
                  <a:srgbClr val="156082"/>
                </a:solidFill>
                <a:effectLst/>
                <a:uLnTx/>
                <a:uFillTx/>
                <a:latin typeface="Arial"/>
                <a:ea typeface="+mn-ea"/>
                <a:cs typeface="Arial"/>
                <a:sym typeface="Arial"/>
              </a:rPr>
              <a:t>Incast</a:t>
            </a:r>
            <a:r>
              <a:rPr kumimoji="0" lang="en-US" sz="3200" b="0" i="0" u="none" strike="noStrike" kern="0" cap="none" spc="0" normalizeH="0" baseline="0" noProof="0" dirty="0">
                <a:ln>
                  <a:noFill/>
                </a:ln>
                <a:solidFill>
                  <a:srgbClr val="156082"/>
                </a:solidFill>
                <a:effectLst/>
                <a:uLnTx/>
                <a:uFillTx/>
                <a:latin typeface="Arial"/>
                <a:ea typeface="+mn-ea"/>
                <a:cs typeface="Arial"/>
                <a:sym typeface="Arial"/>
              </a:rPr>
              <a:t> Congestion</a:t>
            </a:r>
          </a:p>
        </p:txBody>
      </p:sp>
      <p:sp>
        <p:nvSpPr>
          <p:cNvPr id="7" name="TextBox 6">
            <a:extLst>
              <a:ext uri="{FF2B5EF4-FFF2-40B4-BE49-F238E27FC236}">
                <a16:creationId xmlns:a16="http://schemas.microsoft.com/office/drawing/2014/main" id="{74E029FE-577A-5BE0-C3D5-761476EE6CC5}"/>
              </a:ext>
            </a:extLst>
          </p:cNvPr>
          <p:cNvSpPr txBox="1"/>
          <p:nvPr/>
        </p:nvSpPr>
        <p:spPr>
          <a:xfrm>
            <a:off x="569979" y="1235036"/>
            <a:ext cx="11044089"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As the number of clients increase, the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incast</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congestion at the exchange occurs.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We see the opportunity to reuse the multicast tree in the reverse direction to reduce burstiness behavior at the ingress of the exchange.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Clients get partitioned into groups where each leaf proxy node handles a group of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Reduced fan-in at the exchange, leads to lower packet drops.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Enables scheduling of packets at the tree nodes (virtual network nodes) as it moves queues from the exchange ingress to the tree nodes</a:t>
            </a:r>
          </a:p>
        </p:txBody>
      </p:sp>
      <p:graphicFrame>
        <p:nvGraphicFramePr>
          <p:cNvPr id="2" name="Table 1">
            <a:extLst>
              <a:ext uri="{FF2B5EF4-FFF2-40B4-BE49-F238E27FC236}">
                <a16:creationId xmlns:a16="http://schemas.microsoft.com/office/drawing/2014/main" id="{C5D7842F-C485-5F61-5049-BB838A5360D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LOQ</a:t>
                      </a:r>
                      <a:endParaRPr lang="en-US" sz="1800" dirty="0">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47354740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58C464D4-80FE-7B51-2FBB-1DA3DCD3EC6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71431E3-B656-964F-AA55-E868196DB545}"/>
              </a:ext>
            </a:extLst>
          </p:cNvPr>
          <p:cNvPicPr>
            <a:picLocks noChangeAspect="1"/>
          </p:cNvPicPr>
          <p:nvPr/>
        </p:nvPicPr>
        <p:blipFill>
          <a:blip r:embed="rId3"/>
          <a:stretch>
            <a:fillRect/>
          </a:stretch>
        </p:blipFill>
        <p:spPr>
          <a:xfrm>
            <a:off x="6580342" y="2593544"/>
            <a:ext cx="4218835" cy="3130959"/>
          </a:xfrm>
          <a:prstGeom prst="rect">
            <a:avLst/>
          </a:prstGeom>
        </p:spPr>
      </p:pic>
      <p:sp>
        <p:nvSpPr>
          <p:cNvPr id="406" name="Google Shape;406;p35">
            <a:extLst>
              <a:ext uri="{FF2B5EF4-FFF2-40B4-BE49-F238E27FC236}">
                <a16:creationId xmlns:a16="http://schemas.microsoft.com/office/drawing/2014/main" id="{3249C9D7-9FAB-B664-A97F-3DD0131BBBBD}"/>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a:t>
            </a:r>
            <a:endParaRPr dirty="0"/>
          </a:p>
        </p:txBody>
      </p:sp>
      <p:sp>
        <p:nvSpPr>
          <p:cNvPr id="407" name="Google Shape;407;p35">
            <a:extLst>
              <a:ext uri="{FF2B5EF4-FFF2-40B4-BE49-F238E27FC236}">
                <a16:creationId xmlns:a16="http://schemas.microsoft.com/office/drawing/2014/main" id="{B8CE01C3-F86E-7743-CA06-049496BC3AB9}"/>
              </a:ext>
            </a:extLst>
          </p:cNvPr>
          <p:cNvSpPr txBox="1">
            <a:spLocks noGrp="1"/>
          </p:cNvSpPr>
          <p:nvPr>
            <p:ph type="body" idx="1"/>
          </p:nvPr>
        </p:nvSpPr>
        <p:spPr>
          <a:xfrm>
            <a:off x="415600" y="1536634"/>
            <a:ext cx="11360800" cy="1839761"/>
          </a:xfrm>
          <a:prstGeom prst="rect">
            <a:avLst/>
          </a:prstGeom>
        </p:spPr>
        <p:txBody>
          <a:bodyPr spcFirstLastPara="1" wrap="square" lIns="121900" tIns="121900" rIns="121900" bIns="121900" anchor="t" anchorCtr="0">
            <a:noAutofit/>
          </a:bodyPr>
          <a:lstStyle/>
          <a:p>
            <a:pPr>
              <a:buFont typeface="Arial" panose="020B0604020202020204" pitchFamily="34" charset="0"/>
              <a:buChar char="-"/>
            </a:pPr>
            <a:r>
              <a:rPr lang="en-US" sz="2400" dirty="0"/>
              <a:t>During bursty market activity, the exchange server may be overwhelmed.</a:t>
            </a:r>
          </a:p>
          <a:p>
            <a:pPr>
              <a:buChar char="-"/>
            </a:pPr>
            <a:r>
              <a:rPr lang="en-US" sz="2400" dirty="0"/>
              <a:t>Schedules order in a way to avoid idling the matching engine, using the knowledge that orders are matched by price time priority algorithm</a:t>
            </a:r>
          </a:p>
        </p:txBody>
      </p:sp>
      <p:sp>
        <p:nvSpPr>
          <p:cNvPr id="3" name="Oval 2">
            <a:extLst>
              <a:ext uri="{FF2B5EF4-FFF2-40B4-BE49-F238E27FC236}">
                <a16:creationId xmlns:a16="http://schemas.microsoft.com/office/drawing/2014/main" id="{55D51AC1-4B54-6643-9AF4-23598F686676}"/>
              </a:ext>
            </a:extLst>
          </p:cNvPr>
          <p:cNvSpPr/>
          <p:nvPr/>
        </p:nvSpPr>
        <p:spPr>
          <a:xfrm>
            <a:off x="3985965" y="3792748"/>
            <a:ext cx="960895" cy="92843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$5</a:t>
            </a:r>
          </a:p>
        </p:txBody>
      </p:sp>
      <p:sp>
        <p:nvSpPr>
          <p:cNvPr id="4" name="Oval 3">
            <a:extLst>
              <a:ext uri="{FF2B5EF4-FFF2-40B4-BE49-F238E27FC236}">
                <a16:creationId xmlns:a16="http://schemas.microsoft.com/office/drawing/2014/main" id="{2DD9E9C6-5FC5-9399-3CA1-33B019989986}"/>
              </a:ext>
            </a:extLst>
          </p:cNvPr>
          <p:cNvSpPr/>
          <p:nvPr/>
        </p:nvSpPr>
        <p:spPr>
          <a:xfrm>
            <a:off x="1392823" y="3792749"/>
            <a:ext cx="960895" cy="92843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sp>
        <p:nvSpPr>
          <p:cNvPr id="5" name="Oval 4">
            <a:extLst>
              <a:ext uri="{FF2B5EF4-FFF2-40B4-BE49-F238E27FC236}">
                <a16:creationId xmlns:a16="http://schemas.microsoft.com/office/drawing/2014/main" id="{42B93D45-AB3A-D173-4A62-8E4A0CBC7FD0}"/>
              </a:ext>
            </a:extLst>
          </p:cNvPr>
          <p:cNvSpPr/>
          <p:nvPr/>
        </p:nvSpPr>
        <p:spPr>
          <a:xfrm>
            <a:off x="2689393" y="3792748"/>
            <a:ext cx="960895" cy="92843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sp>
        <p:nvSpPr>
          <p:cNvPr id="6" name="Oval 5">
            <a:extLst>
              <a:ext uri="{FF2B5EF4-FFF2-40B4-BE49-F238E27FC236}">
                <a16:creationId xmlns:a16="http://schemas.microsoft.com/office/drawing/2014/main" id="{B56C8AE1-9FB3-59FD-697C-54C69DF301A7}"/>
              </a:ext>
            </a:extLst>
          </p:cNvPr>
          <p:cNvSpPr/>
          <p:nvPr/>
        </p:nvSpPr>
        <p:spPr>
          <a:xfrm>
            <a:off x="5243328" y="3792747"/>
            <a:ext cx="960895" cy="928431"/>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sp>
        <p:nvSpPr>
          <p:cNvPr id="7" name="Down Arrow 6">
            <a:extLst>
              <a:ext uri="{FF2B5EF4-FFF2-40B4-BE49-F238E27FC236}">
                <a16:creationId xmlns:a16="http://schemas.microsoft.com/office/drawing/2014/main" id="{FDC48DB9-4214-8FA8-4C17-397AB981098C}"/>
              </a:ext>
            </a:extLst>
          </p:cNvPr>
          <p:cNvSpPr/>
          <p:nvPr/>
        </p:nvSpPr>
        <p:spPr>
          <a:xfrm>
            <a:off x="6071644" y="3966368"/>
            <a:ext cx="265157" cy="489268"/>
          </a:xfrm>
          <a:prstGeom prst="downArrow">
            <a:avLst/>
          </a:prstGeom>
          <a:solidFill>
            <a:srgbClr val="FF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Down Arrow 7">
            <a:extLst>
              <a:ext uri="{FF2B5EF4-FFF2-40B4-BE49-F238E27FC236}">
                <a16:creationId xmlns:a16="http://schemas.microsoft.com/office/drawing/2014/main" id="{FD42435B-D204-D3B7-E2FE-7F28CC532E64}"/>
              </a:ext>
            </a:extLst>
          </p:cNvPr>
          <p:cNvSpPr/>
          <p:nvPr/>
        </p:nvSpPr>
        <p:spPr>
          <a:xfrm>
            <a:off x="2153311" y="3966368"/>
            <a:ext cx="239615" cy="385313"/>
          </a:xfrm>
          <a:prstGeom prst="downArrow">
            <a:avLst/>
          </a:prstGeom>
          <a:solidFill>
            <a:srgbClr val="FF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Down Arrow 8">
            <a:extLst>
              <a:ext uri="{FF2B5EF4-FFF2-40B4-BE49-F238E27FC236}">
                <a16:creationId xmlns:a16="http://schemas.microsoft.com/office/drawing/2014/main" id="{B3D95227-75D2-537D-24F8-72EFBE442FAA}"/>
              </a:ext>
            </a:extLst>
          </p:cNvPr>
          <p:cNvSpPr/>
          <p:nvPr/>
        </p:nvSpPr>
        <p:spPr>
          <a:xfrm>
            <a:off x="2151571" y="4405267"/>
            <a:ext cx="239615" cy="385313"/>
          </a:xfrm>
          <a:prstGeom prst="downArrow">
            <a:avLst/>
          </a:prstGeom>
          <a:solidFill>
            <a:srgbClr val="FF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Down Arrow 9">
            <a:extLst>
              <a:ext uri="{FF2B5EF4-FFF2-40B4-BE49-F238E27FC236}">
                <a16:creationId xmlns:a16="http://schemas.microsoft.com/office/drawing/2014/main" id="{42204CF7-F34A-11FE-A25D-75A53A34C0FA}"/>
              </a:ext>
            </a:extLst>
          </p:cNvPr>
          <p:cNvSpPr/>
          <p:nvPr/>
        </p:nvSpPr>
        <p:spPr>
          <a:xfrm rot="10800000">
            <a:off x="3530480" y="4070323"/>
            <a:ext cx="239615" cy="385313"/>
          </a:xfrm>
          <a:prstGeom prst="downArrow">
            <a:avLst/>
          </a:prstGeom>
          <a:solidFill>
            <a:srgbClr val="92D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Down Arrow 10">
            <a:extLst>
              <a:ext uri="{FF2B5EF4-FFF2-40B4-BE49-F238E27FC236}">
                <a16:creationId xmlns:a16="http://schemas.microsoft.com/office/drawing/2014/main" id="{16C080B0-4A32-67DF-9B89-53C74EA73727}"/>
              </a:ext>
            </a:extLst>
          </p:cNvPr>
          <p:cNvSpPr/>
          <p:nvPr/>
        </p:nvSpPr>
        <p:spPr>
          <a:xfrm rot="10800000">
            <a:off x="4773535" y="4262979"/>
            <a:ext cx="239615" cy="385313"/>
          </a:xfrm>
          <a:prstGeom prst="downArrow">
            <a:avLst/>
          </a:prstGeom>
          <a:solidFill>
            <a:srgbClr val="92D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Down Arrow 11">
            <a:extLst>
              <a:ext uri="{FF2B5EF4-FFF2-40B4-BE49-F238E27FC236}">
                <a16:creationId xmlns:a16="http://schemas.microsoft.com/office/drawing/2014/main" id="{8DF268F4-08B3-ACFC-B7A1-F7234C44C470}"/>
              </a:ext>
            </a:extLst>
          </p:cNvPr>
          <p:cNvSpPr/>
          <p:nvPr/>
        </p:nvSpPr>
        <p:spPr>
          <a:xfrm rot="10800000">
            <a:off x="4773533" y="3792747"/>
            <a:ext cx="239615" cy="385313"/>
          </a:xfrm>
          <a:prstGeom prst="downArrow">
            <a:avLst/>
          </a:prstGeom>
          <a:solidFill>
            <a:srgbClr val="92D05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Google Shape;408;p35">
            <a:extLst>
              <a:ext uri="{FF2B5EF4-FFF2-40B4-BE49-F238E27FC236}">
                <a16:creationId xmlns:a16="http://schemas.microsoft.com/office/drawing/2014/main" id="{6E4D29A9-2CEC-0239-0055-2D340AF7F539}"/>
              </a:ext>
            </a:extLst>
          </p:cNvPr>
          <p:cNvSpPr/>
          <p:nvPr/>
        </p:nvSpPr>
        <p:spPr>
          <a:xfrm>
            <a:off x="1993850" y="5492637"/>
            <a:ext cx="7938400" cy="9852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oogle Shape;409;p35">
            <a:extLst>
              <a:ext uri="{FF2B5EF4-FFF2-40B4-BE49-F238E27FC236}">
                <a16:creationId xmlns:a16="http://schemas.microsoft.com/office/drawing/2014/main" id="{D59BD170-13EB-D239-C5FA-34645FAECE28}"/>
              </a:ext>
            </a:extLst>
          </p:cNvPr>
          <p:cNvSpPr txBox="1"/>
          <p:nvPr/>
        </p:nvSpPr>
        <p:spPr>
          <a:xfrm>
            <a:off x="1993850" y="5562037"/>
            <a:ext cx="7938400" cy="984845"/>
          </a:xfrm>
          <a:prstGeom prst="rect">
            <a:avLst/>
          </a:prstGeom>
          <a:noFill/>
          <a:ln>
            <a:noFill/>
          </a:ln>
        </p:spPr>
        <p:txBody>
          <a:bodyPr spcFirstLastPara="1" wrap="square" lIns="121900" tIns="121900" rIns="121900" bIns="1219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400" b="0" i="0" u="none" strike="noStrike" kern="1200" cap="none" spc="0" normalizeH="0" baseline="0" noProof="0" dirty="0">
                <a:ln>
                  <a:noFill/>
                </a:ln>
                <a:solidFill>
                  <a:prstClr val="white"/>
                </a:solidFill>
                <a:effectLst/>
                <a:uLnTx/>
                <a:uFillTx/>
                <a:latin typeface="Aptos" panose="02110004020202020204"/>
                <a:ea typeface="+mn-ea"/>
                <a:cs typeface="+mn-cs"/>
              </a:rPr>
              <a:t>Naively doing such prioritization will not preserve inbound fairness. </a:t>
            </a:r>
            <a:endParaRPr kumimoji="0" sz="2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aphicFrame>
        <p:nvGraphicFramePr>
          <p:cNvPr id="13" name="Table 12">
            <a:extLst>
              <a:ext uri="{FF2B5EF4-FFF2-40B4-BE49-F238E27FC236}">
                <a16:creationId xmlns:a16="http://schemas.microsoft.com/office/drawing/2014/main" id="{34CE55C7-6856-ECC9-1204-D524C3C1403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16" name="Rounded Rectangle 15">
            <a:extLst>
              <a:ext uri="{FF2B5EF4-FFF2-40B4-BE49-F238E27FC236}">
                <a16:creationId xmlns:a16="http://schemas.microsoft.com/office/drawing/2014/main" id="{FDCAEB06-1BD9-501B-3E5A-159DB470DFD2}"/>
              </a:ext>
            </a:extLst>
          </p:cNvPr>
          <p:cNvSpPr/>
          <p:nvPr/>
        </p:nvSpPr>
        <p:spPr>
          <a:xfrm>
            <a:off x="5243328" y="269512"/>
            <a:ext cx="6242819" cy="10874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panose="02110004020202020204"/>
                <a:ea typeface="+mn-ea"/>
                <a:cs typeface="+mn-cs"/>
              </a:rPr>
              <a:t>LOQ: A Domain-Specific Scheduling Policy</a:t>
            </a:r>
          </a:p>
        </p:txBody>
      </p:sp>
    </p:spTree>
    <p:extLst>
      <p:ext uri="{BB962C8B-B14F-4D97-AF65-F5344CB8AC3E}">
        <p14:creationId xmlns:p14="http://schemas.microsoft.com/office/powerpoint/2010/main" val="325270566"/>
      </p:ext>
    </p:extLst>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07">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ppt_x"/>
                                          </p:val>
                                        </p:tav>
                                        <p:tav tm="100000">
                                          <p:val>
                                            <p:strVal val="#ppt_x"/>
                                          </p:val>
                                        </p:tav>
                                      </p:tavLst>
                                    </p:anim>
                                    <p:anim calcmode="lin" valueType="num">
                                      <p:cBhvr additive="base">
                                        <p:cTn id="33" dur="500" fill="hold"/>
                                        <p:tgtEl>
                                          <p:spTgt spid="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fill="hold"/>
                                        <p:tgtEl>
                                          <p:spTgt spid="4"/>
                                        </p:tgtEl>
                                        <p:attrNameLst>
                                          <p:attrName>ppt_x</p:attrName>
                                        </p:attrNameLst>
                                      </p:cBhvr>
                                      <p:tavLst>
                                        <p:tav tm="0">
                                          <p:val>
                                            <p:strVal val="#ppt_x"/>
                                          </p:val>
                                        </p:tav>
                                        <p:tav tm="100000">
                                          <p:val>
                                            <p:strVal val="#ppt_x"/>
                                          </p:val>
                                        </p:tav>
                                      </p:tavLst>
                                    </p:anim>
                                    <p:anim calcmode="lin" valueType="num">
                                      <p:cBhvr additive="base">
                                        <p:cTn id="3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4" grpId="0" animBg="1"/>
      <p:bldP spid="15" grpId="0"/>
      <p:bldP spid="1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CBFCC49D-0895-F169-4433-88EE9E805D87}"/>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7A822D50-8F80-07CB-ED2A-B7B55878642D}"/>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C4BDCC5B-B2E1-3580-AB9A-8D7253EB1F23}"/>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DFECCEFA-337A-B33E-9EFA-E000D00C4F93}"/>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2C55BED9-9F4A-4CCF-E005-F65AA92AFC64}"/>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191A4723-083A-3B4D-CBFE-0F6974AC0895}"/>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05CDC054-979C-8D48-89C1-74CCBC5FC9DE}"/>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272C1A65-D56E-167C-14B8-BDC3979EFB04}"/>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BABB70BB-56E3-1AB3-0534-A4BCF76295ED}"/>
              </a:ext>
            </a:extLst>
          </p:cNvPr>
          <p:cNvSpPr/>
          <p:nvPr/>
        </p:nvSpPr>
        <p:spPr>
          <a:xfrm>
            <a:off x="1055077" y="5647174"/>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7FD44635-1DAF-9414-3567-2DEAB9DFB235}"/>
              </a:ext>
            </a:extLst>
          </p:cNvPr>
          <p:cNvSpPr/>
          <p:nvPr/>
        </p:nvSpPr>
        <p:spPr>
          <a:xfrm>
            <a:off x="1247672" y="5662247"/>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E2AE2693-AADB-755A-5539-9D4CBD61F113}"/>
              </a:ext>
            </a:extLst>
          </p:cNvPr>
          <p:cNvSpPr/>
          <p:nvPr/>
        </p:nvSpPr>
        <p:spPr>
          <a:xfrm>
            <a:off x="2006319" y="5647174"/>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27DF20DC-42E0-6203-5B2A-821E1C426DF1}"/>
              </a:ext>
            </a:extLst>
          </p:cNvPr>
          <p:cNvSpPr/>
          <p:nvPr/>
        </p:nvSpPr>
        <p:spPr>
          <a:xfrm>
            <a:off x="3012831" y="5632102"/>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5669B602-202B-E5A2-EF57-62F69B3EAC7F}"/>
              </a:ext>
            </a:extLst>
          </p:cNvPr>
          <p:cNvSpPr/>
          <p:nvPr/>
        </p:nvSpPr>
        <p:spPr>
          <a:xfrm>
            <a:off x="3997571" y="5632102"/>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C792EEE9-6CE9-16C1-00ED-0F884FA79456}"/>
              </a:ext>
            </a:extLst>
          </p:cNvPr>
          <p:cNvSpPr/>
          <p:nvPr/>
        </p:nvSpPr>
        <p:spPr>
          <a:xfrm>
            <a:off x="4191838" y="5657222"/>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EC1C9668-0514-1720-1A77-55BDDFB561F3}"/>
              </a:ext>
            </a:extLst>
          </p:cNvPr>
          <p:cNvSpPr/>
          <p:nvPr/>
        </p:nvSpPr>
        <p:spPr>
          <a:xfrm>
            <a:off x="3811673" y="5679830"/>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2" name="Table 1">
            <a:extLst>
              <a:ext uri="{FF2B5EF4-FFF2-40B4-BE49-F238E27FC236}">
                <a16:creationId xmlns:a16="http://schemas.microsoft.com/office/drawing/2014/main" id="{A6F3B792-56F4-8E04-9BC0-DC5CF6124E3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440986663"/>
      </p:ext>
    </p:extLst>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211C64BD-41BD-6F2F-B265-62AC4F699BDD}"/>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596027CB-5FBA-87B8-0350-F91E281B891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887D5150-C258-D770-F3FC-B8C7C9D70C6C}"/>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EA464B21-9ECA-6E22-48FC-7F7C805C9C92}"/>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6350ADE9-70A9-7A6D-DD63-BF7BD60E150F}"/>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CE42F38E-59F7-B1ED-5D32-E420F432227F}"/>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5DAC0452-52B8-A38D-F994-49FE05ABA86F}"/>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A4B91619-F1D0-9C30-09A7-36AA7546A259}"/>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FCA1EB92-DFA6-4309-8220-9D3AC36E6E09}"/>
              </a:ext>
            </a:extLst>
          </p:cNvPr>
          <p:cNvSpPr/>
          <p:nvPr/>
        </p:nvSpPr>
        <p:spPr>
          <a:xfrm>
            <a:off x="1966127" y="466651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7C1D8470-9185-9A60-9E01-BEE0542790CA}"/>
              </a:ext>
            </a:extLst>
          </p:cNvPr>
          <p:cNvSpPr/>
          <p:nvPr/>
        </p:nvSpPr>
        <p:spPr>
          <a:xfrm>
            <a:off x="2183187" y="4669134"/>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3AF7120B-03A6-721C-B190-60AA1275CDCE}"/>
              </a:ext>
            </a:extLst>
          </p:cNvPr>
          <p:cNvSpPr/>
          <p:nvPr/>
        </p:nvSpPr>
        <p:spPr>
          <a:xfrm>
            <a:off x="2406362" y="4680566"/>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B70CBD89-C192-033A-55B6-F654A9814B10}"/>
              </a:ext>
            </a:extLst>
          </p:cNvPr>
          <p:cNvSpPr/>
          <p:nvPr/>
        </p:nvSpPr>
        <p:spPr>
          <a:xfrm>
            <a:off x="2656115" y="466651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6981674E-FF6C-7F0B-4ADB-BE6363769C7A}"/>
              </a:ext>
            </a:extLst>
          </p:cNvPr>
          <p:cNvSpPr/>
          <p:nvPr/>
        </p:nvSpPr>
        <p:spPr>
          <a:xfrm>
            <a:off x="2245588" y="487514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004CB062-74E7-27CC-8841-0AA16E93306B}"/>
              </a:ext>
            </a:extLst>
          </p:cNvPr>
          <p:cNvSpPr/>
          <p:nvPr/>
        </p:nvSpPr>
        <p:spPr>
          <a:xfrm>
            <a:off x="2475390" y="4882499"/>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2E60AE7B-FD34-90D1-1181-886684800136}"/>
              </a:ext>
            </a:extLst>
          </p:cNvPr>
          <p:cNvSpPr/>
          <p:nvPr/>
        </p:nvSpPr>
        <p:spPr>
          <a:xfrm>
            <a:off x="2905868" y="466651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2" name="Table 1">
            <a:extLst>
              <a:ext uri="{FF2B5EF4-FFF2-40B4-BE49-F238E27FC236}">
                <a16:creationId xmlns:a16="http://schemas.microsoft.com/office/drawing/2014/main" id="{0FF3735E-59D0-5C9A-7820-E71C64F04798}"/>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90538434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D0FA9E4C-8ADE-339E-1F66-2BE2018B783A}"/>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A7415E4F-870A-D7E5-009F-8DFDCA0AAB4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A6E97DEC-79E5-22C2-223E-E26C99FAC912}"/>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CA60208E-B4DB-C185-4642-F77D183FB7EF}"/>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D41454A8-83C0-ECAA-7675-99721ABAF3D4}"/>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9C2B8A92-B218-CFC2-87A7-7A6E9B6C2DAA}"/>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B43911D4-3B6F-D3F7-EEBB-7E416FC9E76B}"/>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4D335532-DD1B-9D2D-B0F8-228B986B0649}"/>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08653576-B23F-C6A4-D606-CE3AC93C5A92}"/>
              </a:ext>
            </a:extLst>
          </p:cNvPr>
          <p:cNvSpPr/>
          <p:nvPr/>
        </p:nvSpPr>
        <p:spPr>
          <a:xfrm>
            <a:off x="2152017" y="3152271"/>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2DEB6DDE-B560-682D-CFB5-68961C334F14}"/>
              </a:ext>
            </a:extLst>
          </p:cNvPr>
          <p:cNvSpPr/>
          <p:nvPr/>
        </p:nvSpPr>
        <p:spPr>
          <a:xfrm>
            <a:off x="2392894" y="3161189"/>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7AC2AF7D-394D-A414-C0DE-81C5177F7A1D}"/>
              </a:ext>
            </a:extLst>
          </p:cNvPr>
          <p:cNvSpPr/>
          <p:nvPr/>
        </p:nvSpPr>
        <p:spPr>
          <a:xfrm>
            <a:off x="2601239" y="3152271"/>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E2C9DB3C-D833-6035-B4B3-CC7696BCC77F}"/>
              </a:ext>
            </a:extLst>
          </p:cNvPr>
          <p:cNvSpPr/>
          <p:nvPr/>
        </p:nvSpPr>
        <p:spPr>
          <a:xfrm>
            <a:off x="2811762" y="3175225"/>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BD36FFEB-86F4-36DE-AB0F-3A4C78A36780}"/>
              </a:ext>
            </a:extLst>
          </p:cNvPr>
          <p:cNvSpPr/>
          <p:nvPr/>
        </p:nvSpPr>
        <p:spPr>
          <a:xfrm>
            <a:off x="1955767" y="3152271"/>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6F448191-7523-D777-514C-C26CC601FFBB}"/>
              </a:ext>
            </a:extLst>
          </p:cNvPr>
          <p:cNvSpPr/>
          <p:nvPr/>
        </p:nvSpPr>
        <p:spPr>
          <a:xfrm>
            <a:off x="3289160" y="3161189"/>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D8BBB722-8776-3B88-C849-7F88FF1393F8}"/>
              </a:ext>
            </a:extLst>
          </p:cNvPr>
          <p:cNvSpPr/>
          <p:nvPr/>
        </p:nvSpPr>
        <p:spPr>
          <a:xfrm>
            <a:off x="3050461" y="3163810"/>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C1AFAB86-3BC0-BB13-B92F-B5260825F81E}"/>
              </a:ext>
            </a:extLst>
          </p:cNvPr>
          <p:cNvSpPr txBox="1"/>
          <p:nvPr/>
        </p:nvSpPr>
        <p:spPr>
          <a:xfrm>
            <a:off x="449187" y="2994001"/>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graphicFrame>
        <p:nvGraphicFramePr>
          <p:cNvPr id="3" name="Table 2">
            <a:extLst>
              <a:ext uri="{FF2B5EF4-FFF2-40B4-BE49-F238E27FC236}">
                <a16:creationId xmlns:a16="http://schemas.microsoft.com/office/drawing/2014/main" id="{0200A9DC-4709-B1CE-2F02-5CE64631BE53}"/>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03527415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3D4452E9-2C42-934B-8453-A60580550FB6}"/>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4EA3CCC4-E796-DF1E-F791-B2BC5844A7A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56830ED3-92E3-FE32-1007-F6D0A996A71B}"/>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5CE079E4-8CE5-EF58-904F-A5CE0D46500F}"/>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B8196FD6-E56C-49D9-0567-43774D6C1ED8}"/>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07E1EA33-DEFD-50F1-EC8A-2970F89ED6E6}"/>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9A724554-DA1C-AA9C-020F-DC6B1716F633}"/>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B695B455-6CF1-4B09-975F-F3B752845C19}"/>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2536998D-A519-DB04-22AF-86EB66D63117}"/>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5F1720B3-579E-4B1F-5B79-2086F2475161}"/>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F2475814-F4A8-442F-6C98-27F49BE66130}"/>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2A4001A9-870B-F904-111E-B1C8B15F6A3F}"/>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B48216A9-0E8E-CDB8-C585-7A5A2B2CCA04}"/>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439978D0-17E8-9EC6-C5A3-9D9ECA7325BD}"/>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900B3016-8B45-FF8E-1792-A50B04DAF829}"/>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6A80BFE0-D30F-CEA6-30D3-8581F34687CA}"/>
              </a:ext>
            </a:extLst>
          </p:cNvPr>
          <p:cNvSpPr txBox="1"/>
          <p:nvPr/>
        </p:nvSpPr>
        <p:spPr>
          <a:xfrm>
            <a:off x="292924" y="188736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sp>
        <p:nvSpPr>
          <p:cNvPr id="3" name="TextBox 2">
            <a:extLst>
              <a:ext uri="{FF2B5EF4-FFF2-40B4-BE49-F238E27FC236}">
                <a16:creationId xmlns:a16="http://schemas.microsoft.com/office/drawing/2014/main" id="{FC837F8D-112B-4541-D858-7228AE529A20}"/>
              </a:ext>
            </a:extLst>
          </p:cNvPr>
          <p:cNvSpPr txBox="1"/>
          <p:nvPr/>
        </p:nvSpPr>
        <p:spPr>
          <a:xfrm>
            <a:off x="289837" y="302926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graphicFrame>
        <p:nvGraphicFramePr>
          <p:cNvPr id="11" name="Table 10">
            <a:extLst>
              <a:ext uri="{FF2B5EF4-FFF2-40B4-BE49-F238E27FC236}">
                <a16:creationId xmlns:a16="http://schemas.microsoft.com/office/drawing/2014/main" id="{356635C7-015A-20A0-97E0-A37DBDCE3AE1}"/>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02401311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E862169F-9A39-5A0B-BA3B-C80B047969A2}"/>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CD25155D-33F8-FC1C-82FB-3E42A174D9F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A6865693-8377-6D01-6EBD-560910FF281D}"/>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A31E6EAC-025C-5F40-AD60-C2275DF5A92B}"/>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C2060EF3-74BC-0289-15C2-18D5B5C061AC}"/>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619E527F-4478-3CF0-53CB-A21E229B2750}"/>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CCD5F2B4-95C7-C8BE-741F-C8EA6FC6B30E}"/>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948E78BB-3EA4-90D0-99A5-3BBC8FB28FA7}"/>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977E6532-6E29-256F-D868-8130B2F54A70}"/>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8B423B50-FF1E-9704-1760-C07E1594218A}"/>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B8A4DAD7-C094-996C-69E6-E6DDFEE4A9C8}"/>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AB6449C5-135A-E747-A382-E8C2B68754BC}"/>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8C613B7F-974E-0637-78F4-21F7EAAA64EE}"/>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2313CB73-336F-9082-A745-64E71DFC389B}"/>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B39142F2-AC11-81C6-F61C-F1C5F7319606}"/>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B899406D-7CD4-2AB9-22B5-33BEDE38E2E5}"/>
              </a:ext>
            </a:extLst>
          </p:cNvPr>
          <p:cNvSpPr txBox="1"/>
          <p:nvPr/>
        </p:nvSpPr>
        <p:spPr>
          <a:xfrm>
            <a:off x="292924" y="188736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C46D86A2-1283-5B26-82DC-507AF758EA13}"/>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90131862-6D21-4101-7F71-950EFCC22658}"/>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B1629935-0294-5E64-7BB8-F0F9141925A7}"/>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0397E867-8288-24D0-4747-DB83A6684592}"/>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F0478C8C-F800-10A9-AE55-CD1629823DEC}"/>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91E8D152-FFE9-40D6-7D07-79B2891FAEF3}"/>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22D5EBF6-F037-9A1D-3B99-4ED5D06F8936}"/>
              </a:ext>
            </a:extLst>
          </p:cNvPr>
          <p:cNvSpPr/>
          <p:nvPr/>
        </p:nvSpPr>
        <p:spPr>
          <a:xfrm>
            <a:off x="7448232" y="5584372"/>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B83D5742-ADDC-92D0-E1F1-4C102A15E4B1}"/>
              </a:ext>
            </a:extLst>
          </p:cNvPr>
          <p:cNvSpPr/>
          <p:nvPr/>
        </p:nvSpPr>
        <p:spPr>
          <a:xfrm>
            <a:off x="7640827" y="5599445"/>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4A31D7CD-9BF9-70FD-5E77-51EB972F5C68}"/>
              </a:ext>
            </a:extLst>
          </p:cNvPr>
          <p:cNvSpPr/>
          <p:nvPr/>
        </p:nvSpPr>
        <p:spPr>
          <a:xfrm>
            <a:off x="8399474" y="5584372"/>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94EB7987-EAB8-FADE-129E-A9E82D8DC953}"/>
              </a:ext>
            </a:extLst>
          </p:cNvPr>
          <p:cNvSpPr/>
          <p:nvPr/>
        </p:nvSpPr>
        <p:spPr>
          <a:xfrm>
            <a:off x="9405986" y="5569300"/>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A208E077-87EE-DCD1-C049-7DDBC8DB832C}"/>
              </a:ext>
            </a:extLst>
          </p:cNvPr>
          <p:cNvSpPr/>
          <p:nvPr/>
        </p:nvSpPr>
        <p:spPr>
          <a:xfrm>
            <a:off x="10390726" y="5569300"/>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EB69C602-F12F-B89C-BD34-332E1A3E4E46}"/>
              </a:ext>
            </a:extLst>
          </p:cNvPr>
          <p:cNvSpPr/>
          <p:nvPr/>
        </p:nvSpPr>
        <p:spPr>
          <a:xfrm>
            <a:off x="10584993" y="5594420"/>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3B51EB43-ADF0-911A-B6CE-904D3FDD4D05}"/>
              </a:ext>
            </a:extLst>
          </p:cNvPr>
          <p:cNvSpPr/>
          <p:nvPr/>
        </p:nvSpPr>
        <p:spPr>
          <a:xfrm>
            <a:off x="10204828" y="5617028"/>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TextBox 35">
            <a:extLst>
              <a:ext uri="{FF2B5EF4-FFF2-40B4-BE49-F238E27FC236}">
                <a16:creationId xmlns:a16="http://schemas.microsoft.com/office/drawing/2014/main" id="{EB71F994-FAE7-CF14-800F-749BBD9422BD}"/>
              </a:ext>
            </a:extLst>
          </p:cNvPr>
          <p:cNvSpPr txBox="1"/>
          <p:nvPr/>
        </p:nvSpPr>
        <p:spPr>
          <a:xfrm>
            <a:off x="292924" y="300722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graphicFrame>
        <p:nvGraphicFramePr>
          <p:cNvPr id="22" name="Table 21">
            <a:extLst>
              <a:ext uri="{FF2B5EF4-FFF2-40B4-BE49-F238E27FC236}">
                <a16:creationId xmlns:a16="http://schemas.microsoft.com/office/drawing/2014/main" id="{4D9F3A8F-AA65-12E4-3F23-58F7CBA8CEE8}"/>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59083215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8" grpId="0" animBg="1"/>
      <p:bldP spid="19" grpId="0" animBg="1"/>
      <p:bldP spid="20" grpId="0" animBg="1"/>
      <p:bldP spid="21" grpId="0" animBg="1"/>
      <p:bldP spid="29" grpId="0" animBg="1"/>
      <p:bldP spid="30" grpId="0" animBg="1"/>
      <p:bldP spid="31" grpId="0" animBg="1"/>
      <p:bldP spid="32" grpId="0" animBg="1"/>
      <p:bldP spid="33" grpId="0" animBg="1"/>
      <p:bldP spid="34" grpId="0" animBg="1"/>
      <p:bldP spid="3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FBBD2BB3-3CA3-1E8A-A105-6AEADF9B9B1E}"/>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CD72E258-C99F-C83E-8CFC-00DFEF3445A9}"/>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D38DAD73-CA3B-C3B0-5EE2-2243E779A18B}"/>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6FA26B33-5793-ECD8-CBA5-D59EF1BCEF6B}"/>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44F571BE-8CDB-B6A9-6A70-1882D6530180}"/>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E9D45053-066D-7B78-2A55-02A90559B1AB}"/>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D9195AEA-AAC4-1924-4EAD-AE53E6ABAC22}"/>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A39D6977-7471-01F5-EF5C-2D07E361FB75}"/>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8639BB0D-1D5F-78EF-9B70-DC7B2E8A252A}"/>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727DDD32-6ACB-E2B9-CB54-F5711D019F5E}"/>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54779E15-59E0-EEE8-F9BF-CC3D48B85AC7}"/>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5837B6E2-AF13-DBCF-4D75-11D688CB37ED}"/>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DDF1FEEA-FC08-69D8-0AFA-093F3474DCEB}"/>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3A3A6E72-3ED6-0A2E-09FA-02858E0B9D7C}"/>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07076964-3E1C-D634-4D61-DB57DA3BCA4F}"/>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CCB55092-22A8-3AD8-B51E-9A44DD04B8FF}"/>
              </a:ext>
            </a:extLst>
          </p:cNvPr>
          <p:cNvSpPr txBox="1"/>
          <p:nvPr/>
        </p:nvSpPr>
        <p:spPr>
          <a:xfrm>
            <a:off x="292924" y="188736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65F4C338-38F2-802D-F7CC-635ADE8F6204}"/>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598D79B4-A31A-ABC7-DC72-1E69B0BB5D19}"/>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C5B675D1-EE75-9888-5C06-CD019355B7EF}"/>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7704D84B-D817-4C4A-4777-FC1C2F7AA9CF}"/>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F436B016-F495-187B-9F3B-26F58AFD441C}"/>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7B5AD404-844E-7E11-BC84-1C864CD3EC1D}"/>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427A1E6E-3C90-5089-A41F-3ED44E2BD964}"/>
              </a:ext>
            </a:extLst>
          </p:cNvPr>
          <p:cNvSpPr/>
          <p:nvPr/>
        </p:nvSpPr>
        <p:spPr>
          <a:xfrm>
            <a:off x="8399474" y="4617506"/>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44563911-8F63-2CEF-AA2B-000DB670E090}"/>
              </a:ext>
            </a:extLst>
          </p:cNvPr>
          <p:cNvSpPr/>
          <p:nvPr/>
        </p:nvSpPr>
        <p:spPr>
          <a:xfrm>
            <a:off x="8185107" y="4617506"/>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442BA351-440B-84BA-11A0-5431330A500E}"/>
              </a:ext>
            </a:extLst>
          </p:cNvPr>
          <p:cNvSpPr/>
          <p:nvPr/>
        </p:nvSpPr>
        <p:spPr>
          <a:xfrm>
            <a:off x="8613841" y="4617506"/>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8E32259B-6091-19C3-463E-2C9D2DBC7392}"/>
              </a:ext>
            </a:extLst>
          </p:cNvPr>
          <p:cNvSpPr/>
          <p:nvPr/>
        </p:nvSpPr>
        <p:spPr>
          <a:xfrm>
            <a:off x="8828208" y="461322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FB09EACF-D320-2BCF-9BE6-4E04A46C2002}"/>
              </a:ext>
            </a:extLst>
          </p:cNvPr>
          <p:cNvSpPr/>
          <p:nvPr/>
        </p:nvSpPr>
        <p:spPr>
          <a:xfrm>
            <a:off x="9274135" y="461322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07600313-B862-B7C7-8F45-58C3D9FCD9F5}"/>
              </a:ext>
            </a:extLst>
          </p:cNvPr>
          <p:cNvSpPr/>
          <p:nvPr/>
        </p:nvSpPr>
        <p:spPr>
          <a:xfrm>
            <a:off x="9471004" y="461322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C8E7F22C-47A6-6C96-E398-6EE61F82831D}"/>
              </a:ext>
            </a:extLst>
          </p:cNvPr>
          <p:cNvSpPr/>
          <p:nvPr/>
        </p:nvSpPr>
        <p:spPr>
          <a:xfrm>
            <a:off x="9064341" y="461322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TextBox 35">
            <a:extLst>
              <a:ext uri="{FF2B5EF4-FFF2-40B4-BE49-F238E27FC236}">
                <a16:creationId xmlns:a16="http://schemas.microsoft.com/office/drawing/2014/main" id="{EB28E8AE-B2AF-68C8-17AC-4FC9A77EB443}"/>
              </a:ext>
            </a:extLst>
          </p:cNvPr>
          <p:cNvSpPr txBox="1"/>
          <p:nvPr/>
        </p:nvSpPr>
        <p:spPr>
          <a:xfrm>
            <a:off x="289837" y="302926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graphicFrame>
        <p:nvGraphicFramePr>
          <p:cNvPr id="22" name="Table 21">
            <a:extLst>
              <a:ext uri="{FF2B5EF4-FFF2-40B4-BE49-F238E27FC236}">
                <a16:creationId xmlns:a16="http://schemas.microsoft.com/office/drawing/2014/main" id="{815A7612-F300-528D-9EA6-5F9985F4079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2516107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12D0EA4A-7C63-F988-E96A-9D3DE9220DD5}"/>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5C9C8BBB-633D-9F81-4C98-0BA546FEF86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AB8EABC0-9908-EE39-F5FD-670CCA4DB4F2}"/>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3CCE741D-8FF9-73E4-E94D-6A1A76D130FB}"/>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FB960873-1165-E785-C227-146A7E4AB7F0}"/>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1BA5508E-7E15-F4F5-BF63-A244E5E411C1}"/>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484D416A-D668-704B-03A1-93C05B5BE416}"/>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8C99124E-BF01-F33A-2705-CE67164084F9}"/>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B8E0DDC9-DD56-49F7-3EFA-CFAD974639EA}"/>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D2CE3F59-A5AB-EF70-8391-0C188A311D06}"/>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086C2407-8921-6E46-6D0F-E8C56E5AFBD9}"/>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0A08636-EAE9-EB21-D253-E257C55889BC}"/>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96E57386-1B61-3053-4112-C0ADA6D498F6}"/>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BF9F2BE0-6C6A-19A1-C438-4D5E0F501E8E}"/>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312E36C4-F701-EC12-3A21-025F919E7157}"/>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C20FA4B9-5840-4C46-DE91-17EF0A0A81B9}"/>
              </a:ext>
            </a:extLst>
          </p:cNvPr>
          <p:cNvSpPr txBox="1"/>
          <p:nvPr/>
        </p:nvSpPr>
        <p:spPr>
          <a:xfrm>
            <a:off x="292924" y="188736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CBB12262-C3E0-EE38-493C-6D75F4202FBC}"/>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7643E3A0-4E0C-C392-29CA-D42E52141DF3}"/>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23121432-35E5-CD09-35DD-01E2E513DF8C}"/>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67868C0C-24AA-7AE5-0FE1-AEEF98871B54}"/>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68ACF5C5-F46D-26DD-D93C-9D129462A183}"/>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53171ECB-2AB4-4F76-24F9-8D8572C5302C}"/>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4CC812F0-206F-F98E-AF84-9F04EF90114A}"/>
              </a:ext>
            </a:extLst>
          </p:cNvPr>
          <p:cNvSpPr/>
          <p:nvPr/>
        </p:nvSpPr>
        <p:spPr>
          <a:xfrm>
            <a:off x="8399474" y="4617506"/>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F354CFAA-AA8F-A9C9-761F-56B013D08DEC}"/>
              </a:ext>
            </a:extLst>
          </p:cNvPr>
          <p:cNvSpPr/>
          <p:nvPr/>
        </p:nvSpPr>
        <p:spPr>
          <a:xfrm>
            <a:off x="8185107" y="4617506"/>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EC007C7D-1287-E566-493A-26B662DEC0AE}"/>
              </a:ext>
            </a:extLst>
          </p:cNvPr>
          <p:cNvSpPr/>
          <p:nvPr/>
        </p:nvSpPr>
        <p:spPr>
          <a:xfrm>
            <a:off x="10015311" y="3165157"/>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97165C78-0EC2-0766-4F28-7E45FD0D0912}"/>
              </a:ext>
            </a:extLst>
          </p:cNvPr>
          <p:cNvSpPr/>
          <p:nvPr/>
        </p:nvSpPr>
        <p:spPr>
          <a:xfrm>
            <a:off x="8411589" y="3145079"/>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2A42D886-029E-9522-3769-0DF920B33D4D}"/>
              </a:ext>
            </a:extLst>
          </p:cNvPr>
          <p:cNvSpPr/>
          <p:nvPr/>
        </p:nvSpPr>
        <p:spPr>
          <a:xfrm>
            <a:off x="8023840" y="3177557"/>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CFD4EC65-9476-890D-1232-53CDC00364B5}"/>
              </a:ext>
            </a:extLst>
          </p:cNvPr>
          <p:cNvSpPr/>
          <p:nvPr/>
        </p:nvSpPr>
        <p:spPr>
          <a:xfrm>
            <a:off x="8694228" y="3145079"/>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477922E4-928F-D277-1085-470A69840261}"/>
              </a:ext>
            </a:extLst>
          </p:cNvPr>
          <p:cNvSpPr/>
          <p:nvPr/>
        </p:nvSpPr>
        <p:spPr>
          <a:xfrm>
            <a:off x="9064341" y="4613223"/>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73C331BE-8F06-43E0-1319-F2B3A3986520}"/>
              </a:ext>
            </a:extLst>
          </p:cNvPr>
          <p:cNvSpPr txBox="1"/>
          <p:nvPr/>
        </p:nvSpPr>
        <p:spPr>
          <a:xfrm>
            <a:off x="292924" y="299633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graphicFrame>
        <p:nvGraphicFramePr>
          <p:cNvPr id="23" name="Table 22">
            <a:extLst>
              <a:ext uri="{FF2B5EF4-FFF2-40B4-BE49-F238E27FC236}">
                <a16:creationId xmlns:a16="http://schemas.microsoft.com/office/drawing/2014/main" id="{13523433-E410-22C0-A889-79CCC8457AE3}"/>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16532226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FB8572AE-4408-C95B-7BAD-F40B511EF66D}"/>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907AA038-2F1A-7E8D-42E8-1BA0B7D0EECA}"/>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58CA4028-53B3-FEC5-5067-0022813DA013}"/>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9E1FE96F-CC89-D681-4449-AFB13D74D63E}"/>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7CC91832-14B3-2862-D030-57DA08BDC792}"/>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F477CA71-89BC-AAC2-9A46-8670269417DA}"/>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0174632D-ED38-EF15-BC45-52753E962401}"/>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636BCCC2-3859-BBB6-8C68-616E138D98D0}"/>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05911E7D-661A-393A-03A5-78BED0822A04}"/>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F333DC2B-D204-EE12-82C2-840E7F767AD5}"/>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E262CF1D-1B8C-3EC3-9155-9A55605B2F7F}"/>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E1F7D4AE-7305-F2FD-9976-F3C96D2EBC12}"/>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5449F6C1-E922-A81E-9793-6B1F2AB2EAFE}"/>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BD1A160C-45BF-225D-DE02-02DA71E51207}"/>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B65A1671-52A9-CE0C-2B74-41BC4599683D}"/>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693F464F-81EE-0356-1E86-44F4605B79FD}"/>
              </a:ext>
            </a:extLst>
          </p:cNvPr>
          <p:cNvSpPr txBox="1"/>
          <p:nvPr/>
        </p:nvSpPr>
        <p:spPr>
          <a:xfrm>
            <a:off x="292924" y="188736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244EA95D-638B-076A-DC28-474144C649D9}"/>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F495AE60-44A7-3FD0-77EC-E58428C0BA10}"/>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9346E2E8-BA11-6A87-51AF-3E8C7AFC8230}"/>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B2DF35E9-C1D6-EA77-8FF4-0B0A33069361}"/>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0FA62308-50CE-19EE-68A4-C0C6969AB7C1}"/>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7EA24CA6-5C2A-4398-25D8-DD17F7091771}"/>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32737A52-261D-89C2-8B84-7CBCC8A225BC}"/>
              </a:ext>
            </a:extLst>
          </p:cNvPr>
          <p:cNvSpPr/>
          <p:nvPr/>
        </p:nvSpPr>
        <p:spPr>
          <a:xfrm>
            <a:off x="8694228" y="3386277"/>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11C10B3E-42EF-1029-0372-898D8BDA7BD7}"/>
              </a:ext>
            </a:extLst>
          </p:cNvPr>
          <p:cNvSpPr/>
          <p:nvPr/>
        </p:nvSpPr>
        <p:spPr>
          <a:xfrm>
            <a:off x="9547175" y="3185292"/>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CC5A9DDC-4060-A91B-B349-A73B1A031FD2}"/>
              </a:ext>
            </a:extLst>
          </p:cNvPr>
          <p:cNvSpPr/>
          <p:nvPr/>
        </p:nvSpPr>
        <p:spPr>
          <a:xfrm>
            <a:off x="10015311" y="3165157"/>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19E63690-C34D-F7BC-4679-88C89CB34F32}"/>
              </a:ext>
            </a:extLst>
          </p:cNvPr>
          <p:cNvSpPr/>
          <p:nvPr/>
        </p:nvSpPr>
        <p:spPr>
          <a:xfrm>
            <a:off x="8411589" y="3145079"/>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F92DF61D-B4A4-D1BB-2242-E58E664EEC30}"/>
              </a:ext>
            </a:extLst>
          </p:cNvPr>
          <p:cNvSpPr/>
          <p:nvPr/>
        </p:nvSpPr>
        <p:spPr>
          <a:xfrm>
            <a:off x="8023840" y="3177557"/>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1ABF9C44-3B34-68D9-3B19-BE608D1F0A90}"/>
              </a:ext>
            </a:extLst>
          </p:cNvPr>
          <p:cNvSpPr/>
          <p:nvPr/>
        </p:nvSpPr>
        <p:spPr>
          <a:xfrm>
            <a:off x="8694228" y="3145079"/>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49360C27-AB5C-A1FE-CF5D-62BA9604A8BD}"/>
              </a:ext>
            </a:extLst>
          </p:cNvPr>
          <p:cNvSpPr/>
          <p:nvPr/>
        </p:nvSpPr>
        <p:spPr>
          <a:xfrm>
            <a:off x="9021550" y="3190331"/>
            <a:ext cx="160774" cy="160772"/>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9A7CB0A6-758A-1C8D-26C7-569C14D85527}"/>
              </a:ext>
            </a:extLst>
          </p:cNvPr>
          <p:cNvSpPr txBox="1"/>
          <p:nvPr/>
        </p:nvSpPr>
        <p:spPr>
          <a:xfrm>
            <a:off x="262263" y="298393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sp>
        <p:nvSpPr>
          <p:cNvPr id="23" name="TextBox 22">
            <a:extLst>
              <a:ext uri="{FF2B5EF4-FFF2-40B4-BE49-F238E27FC236}">
                <a16:creationId xmlns:a16="http://schemas.microsoft.com/office/drawing/2014/main" id="{75CEFBB1-06BF-A4A8-DF52-3E39353FD486}"/>
              </a:ext>
            </a:extLst>
          </p:cNvPr>
          <p:cNvSpPr txBox="1"/>
          <p:nvPr/>
        </p:nvSpPr>
        <p:spPr>
          <a:xfrm>
            <a:off x="10531792" y="298393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LOQ</a:t>
            </a:r>
          </a:p>
        </p:txBody>
      </p:sp>
      <p:graphicFrame>
        <p:nvGraphicFramePr>
          <p:cNvPr id="24" name="Table 23">
            <a:extLst>
              <a:ext uri="{FF2B5EF4-FFF2-40B4-BE49-F238E27FC236}">
                <a16:creationId xmlns:a16="http://schemas.microsoft.com/office/drawing/2014/main" id="{875808C0-D7BB-7CEE-932A-9AFC41E72C36}"/>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08089552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B9D69BB1-9AD8-4A16-FC16-FBBCA22603DA}"/>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FD47C639-A9FF-668A-89A8-6988ABD190BA}"/>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9EA3CB57-1A40-3CA2-30BD-DF84204751C2}"/>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9D46730C-C9A3-8ED8-77EF-D43F95794E96}"/>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09936CA7-E973-692B-CEEC-DF91387C16AD}"/>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2D53BC4F-DCB6-0DE8-3EB3-8FA1C25F3FBA}"/>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554B7C03-C84A-991E-638C-E311611364C3}"/>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887F7E04-6087-71CF-C104-F58EF7CBEF25}"/>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8509523D-C509-BC65-0260-03EFA1AE06EC}"/>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AAC89ACD-829E-5FAB-9B80-4F411413BF3C}"/>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5578379E-7CB3-A492-43AF-3F3290CF2F02}"/>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EE285682-9BE6-3514-57B0-D227F09212EF}"/>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22C4B8A7-C356-F570-221D-0BEF73E05FE5}"/>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15346970-24E2-EE5D-7DF7-0760B05B5C5A}"/>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BE4530EE-DCB4-CF14-F59E-91A9214A54F7}"/>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89E0C538-E8E0-BA34-A4AF-73FAC45891BF}"/>
              </a:ext>
            </a:extLst>
          </p:cNvPr>
          <p:cNvSpPr txBox="1"/>
          <p:nvPr/>
        </p:nvSpPr>
        <p:spPr>
          <a:xfrm>
            <a:off x="292924" y="188736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B5E2127C-A8EE-7545-1C1E-0A413E90B7A9}"/>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BAD3DF30-1162-1FE3-81F4-371507AD353B}"/>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B5224352-D243-A35E-17AF-C823C04A7CEC}"/>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51570834-1804-3AF3-0D32-5551C000A9AE}"/>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909C6244-F136-94C0-E6D2-C4443631DE84}"/>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FFA624E3-015F-6942-6514-E1EFC7F2426D}"/>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3749BB9D-9659-C78A-E67F-3E1480CE2FC0}"/>
              </a:ext>
            </a:extLst>
          </p:cNvPr>
          <p:cNvSpPr/>
          <p:nvPr/>
        </p:nvSpPr>
        <p:spPr>
          <a:xfrm>
            <a:off x="8513146"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45B2AEBB-5B39-3D0A-E8C4-E5BF12946D5B}"/>
              </a:ext>
            </a:extLst>
          </p:cNvPr>
          <p:cNvSpPr/>
          <p:nvPr/>
        </p:nvSpPr>
        <p:spPr>
          <a:xfrm>
            <a:off x="9252499"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B5A3F489-37B6-AA48-2E4B-46A75ADE2BE1}"/>
              </a:ext>
            </a:extLst>
          </p:cNvPr>
          <p:cNvSpPr/>
          <p:nvPr/>
        </p:nvSpPr>
        <p:spPr>
          <a:xfrm>
            <a:off x="9508144" y="214488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46409125-E869-A62C-3E64-ACDF4ABFD772}"/>
              </a:ext>
            </a:extLst>
          </p:cNvPr>
          <p:cNvSpPr/>
          <p:nvPr/>
        </p:nvSpPr>
        <p:spPr>
          <a:xfrm>
            <a:off x="829904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14BE1082-CD68-B1B8-56B2-8802199FBD46}"/>
              </a:ext>
            </a:extLst>
          </p:cNvPr>
          <p:cNvSpPr/>
          <p:nvPr/>
        </p:nvSpPr>
        <p:spPr>
          <a:xfrm>
            <a:off x="9759419" y="213552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7D5B5A84-EB89-A8DF-04A3-C8A7D495D8EE}"/>
              </a:ext>
            </a:extLst>
          </p:cNvPr>
          <p:cNvSpPr/>
          <p:nvPr/>
        </p:nvSpPr>
        <p:spPr>
          <a:xfrm>
            <a:off x="8778023"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312A2663-8244-218B-A6D1-B2BDC0C9CED2}"/>
              </a:ext>
            </a:extLst>
          </p:cNvPr>
          <p:cNvSpPr/>
          <p:nvPr/>
        </p:nvSpPr>
        <p:spPr>
          <a:xfrm>
            <a:off x="902037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1EAFCB11-D9F0-135F-FC01-AD097FE6A5E7}"/>
              </a:ext>
            </a:extLst>
          </p:cNvPr>
          <p:cNvSpPr txBox="1"/>
          <p:nvPr/>
        </p:nvSpPr>
        <p:spPr>
          <a:xfrm>
            <a:off x="10125695" y="190814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BACBAFA1-694F-9072-4A5C-F1E9AF964EAB}"/>
              </a:ext>
            </a:extLst>
          </p:cNvPr>
          <p:cNvSpPr txBox="1"/>
          <p:nvPr/>
        </p:nvSpPr>
        <p:spPr>
          <a:xfrm>
            <a:off x="10531792" y="298393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LOQ</a:t>
            </a:r>
          </a:p>
        </p:txBody>
      </p:sp>
      <p:sp>
        <p:nvSpPr>
          <p:cNvPr id="24" name="TextBox 23">
            <a:extLst>
              <a:ext uri="{FF2B5EF4-FFF2-40B4-BE49-F238E27FC236}">
                <a16:creationId xmlns:a16="http://schemas.microsoft.com/office/drawing/2014/main" id="{8A0EFCCF-3E24-2EA2-B5E7-50098BDE30AE}"/>
              </a:ext>
            </a:extLst>
          </p:cNvPr>
          <p:cNvSpPr txBox="1"/>
          <p:nvPr/>
        </p:nvSpPr>
        <p:spPr>
          <a:xfrm>
            <a:off x="262263" y="298393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graphicFrame>
        <p:nvGraphicFramePr>
          <p:cNvPr id="25" name="Table 24">
            <a:extLst>
              <a:ext uri="{FF2B5EF4-FFF2-40B4-BE49-F238E27FC236}">
                <a16:creationId xmlns:a16="http://schemas.microsoft.com/office/drawing/2014/main" id="{F724D850-FE96-B777-D67B-0EE37B7AB6A3}"/>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82741164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D499567B-700D-0C9A-4146-E93470C73F3F}"/>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8D16F805-4B81-9E97-56CF-E993D6E68674}"/>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34A9FC0A-5694-A725-5736-EB34A52FD30B}"/>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6A63F6CD-96C4-5739-465A-C66C2447A036}"/>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7CFAC0B9-FECB-6CD1-A73F-C5B4AF356011}"/>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C5899ABE-F36B-CF04-9A72-A3D4F501D055}"/>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E34A7A84-8C06-139B-B954-1A715CA3D839}"/>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754051FC-EAD4-3D25-FB95-89CB5580EC77}"/>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B61898A8-C837-7BFA-E80F-B13B75C43BCB}"/>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3C406600-B606-D3BB-3F2C-BF15D6FD8579}"/>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6E959EB6-BEE9-84F4-C381-44FCF16FB79E}"/>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617A061-F457-641E-EA58-C85EB632DF92}"/>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B274447A-E675-2800-D67C-C17EDD21407E}"/>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9303FA0F-4C41-7BCA-8BCB-952E961ABD0A}"/>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1028D3D4-17BB-80F2-A138-43011342A484}"/>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E01891DE-4F0A-AC83-5F26-0FE0E0F1D3A4}"/>
              </a:ext>
            </a:extLst>
          </p:cNvPr>
          <p:cNvSpPr txBox="1"/>
          <p:nvPr/>
        </p:nvSpPr>
        <p:spPr>
          <a:xfrm>
            <a:off x="4306319" y="3128982"/>
            <a:ext cx="1363529" cy="707886"/>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40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8F1642FF-9128-3978-378E-0F43C70CA52D}"/>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198531C3-1E47-DA0E-7730-AD6D7F047228}"/>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575FC4AA-A140-3F78-4784-883F6B5D4376}"/>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1CE6D8FE-E354-B9D6-80E5-B13C54151A3E}"/>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2ADCF581-0761-B95A-02F2-8289A14E7D90}"/>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4A0DBE4D-8E45-D54E-D365-8CB00C9499CE}"/>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A311B017-53B3-0D75-44FB-C143A25B27DE}"/>
              </a:ext>
            </a:extLst>
          </p:cNvPr>
          <p:cNvSpPr/>
          <p:nvPr/>
        </p:nvSpPr>
        <p:spPr>
          <a:xfrm>
            <a:off x="8513146"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CFF2B178-B66E-277B-2F9C-943705218F73}"/>
              </a:ext>
            </a:extLst>
          </p:cNvPr>
          <p:cNvSpPr/>
          <p:nvPr/>
        </p:nvSpPr>
        <p:spPr>
          <a:xfrm>
            <a:off x="9252499"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88450B4E-D442-48A2-DADB-649FEAA92F58}"/>
              </a:ext>
            </a:extLst>
          </p:cNvPr>
          <p:cNvSpPr/>
          <p:nvPr/>
        </p:nvSpPr>
        <p:spPr>
          <a:xfrm>
            <a:off x="9508144" y="214488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25C632E4-A14A-7049-E9E0-6E129BCA0A2B}"/>
              </a:ext>
            </a:extLst>
          </p:cNvPr>
          <p:cNvSpPr/>
          <p:nvPr/>
        </p:nvSpPr>
        <p:spPr>
          <a:xfrm>
            <a:off x="829904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04FACC5D-6940-7831-9996-83E760C52365}"/>
              </a:ext>
            </a:extLst>
          </p:cNvPr>
          <p:cNvSpPr/>
          <p:nvPr/>
        </p:nvSpPr>
        <p:spPr>
          <a:xfrm>
            <a:off x="9759419" y="213552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ABE93788-CD5D-6CB7-A909-27BFE78BF899}"/>
              </a:ext>
            </a:extLst>
          </p:cNvPr>
          <p:cNvSpPr/>
          <p:nvPr/>
        </p:nvSpPr>
        <p:spPr>
          <a:xfrm>
            <a:off x="8778023"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32F07AA9-C18C-7836-866C-466F599CD89C}"/>
              </a:ext>
            </a:extLst>
          </p:cNvPr>
          <p:cNvSpPr/>
          <p:nvPr/>
        </p:nvSpPr>
        <p:spPr>
          <a:xfrm>
            <a:off x="902037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1AFB86E8-21D5-86B0-F089-0BB6822CBEDE}"/>
              </a:ext>
            </a:extLst>
          </p:cNvPr>
          <p:cNvSpPr txBox="1"/>
          <p:nvPr/>
        </p:nvSpPr>
        <p:spPr>
          <a:xfrm>
            <a:off x="6259556" y="3128982"/>
            <a:ext cx="1363528" cy="707886"/>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40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30EED8CF-A9F6-B9B7-B226-28C255E62377}"/>
              </a:ext>
            </a:extLst>
          </p:cNvPr>
          <p:cNvSpPr txBox="1"/>
          <p:nvPr/>
        </p:nvSpPr>
        <p:spPr>
          <a:xfrm>
            <a:off x="5652695" y="3138956"/>
            <a:ext cx="52519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7" name="TextBox 26">
            <a:extLst>
              <a:ext uri="{FF2B5EF4-FFF2-40B4-BE49-F238E27FC236}">
                <a16:creationId xmlns:a16="http://schemas.microsoft.com/office/drawing/2014/main" id="{AB3F9EBF-B830-FFBD-99F1-BBF73CFE1A0B}"/>
              </a:ext>
            </a:extLst>
          </p:cNvPr>
          <p:cNvSpPr txBox="1"/>
          <p:nvPr/>
        </p:nvSpPr>
        <p:spPr>
          <a:xfrm>
            <a:off x="10531792" y="298393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LOQ</a:t>
            </a:r>
          </a:p>
        </p:txBody>
      </p:sp>
      <p:sp>
        <p:nvSpPr>
          <p:cNvPr id="28" name="TextBox 27">
            <a:extLst>
              <a:ext uri="{FF2B5EF4-FFF2-40B4-BE49-F238E27FC236}">
                <a16:creationId xmlns:a16="http://schemas.microsoft.com/office/drawing/2014/main" id="{81094DE6-9E8A-54A2-46EA-43BD26B1DAA6}"/>
              </a:ext>
            </a:extLst>
          </p:cNvPr>
          <p:cNvSpPr txBox="1"/>
          <p:nvPr/>
        </p:nvSpPr>
        <p:spPr>
          <a:xfrm>
            <a:off x="262263" y="2983933"/>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I</a:t>
            </a:r>
            <a:r>
              <a:rPr kumimoji="0" lang="en-US" sz="2800" b="0" i="0" u="none" strike="noStrike" kern="1200" cap="none" spc="0" normalizeH="0" baseline="-25000" noProof="0" dirty="0">
                <a:ln>
                  <a:noFill/>
                </a:ln>
                <a:solidFill>
                  <a:prstClr val="black"/>
                </a:solidFill>
                <a:effectLst/>
                <a:uLnTx/>
                <a:uFillTx/>
                <a:latin typeface="Aptos" panose="02110004020202020204"/>
                <a:ea typeface="+mn-ea"/>
                <a:cs typeface="+mn-cs"/>
              </a:rPr>
              <a:t>FIFO</a:t>
            </a:r>
          </a:p>
        </p:txBody>
      </p:sp>
      <p:graphicFrame>
        <p:nvGraphicFramePr>
          <p:cNvPr id="24" name="Table 23">
            <a:extLst>
              <a:ext uri="{FF2B5EF4-FFF2-40B4-BE49-F238E27FC236}">
                <a16:creationId xmlns:a16="http://schemas.microsoft.com/office/drawing/2014/main" id="{203FB98A-885D-2194-7E70-FF5040DC4D25}"/>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309550364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9C3107FC-576C-9290-BCC9-8D9D328FEE78}"/>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0117D705-F048-9D34-E823-DE0B3A894023}"/>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5C8A9D49-A95B-FFC7-12CF-17861E26E3E3}"/>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5A95B5B0-F3C9-047A-2CA1-897D02FFC9F7}"/>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8150E075-EDCB-481C-908B-909C89907CA6}"/>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71FCB03C-C666-7443-D523-A73625327321}"/>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33B0910A-94C8-C027-671E-84B9BA68AD0A}"/>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537FBD7F-883A-0CD2-DA38-79B3AC3845C7}"/>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B8A9BC25-415E-60E5-6EAF-C6B9C7C0F5CA}"/>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060DD180-94F0-E9C8-A514-719CBC1F66C8}"/>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64EB7331-3585-4F89-D31D-52B6ADADF352}"/>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69B6A4F1-9C87-2FAC-ADC4-7B5FD274EB89}"/>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1D0BAD06-3E6A-D7D9-CAC7-71DC2399CA33}"/>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EE809B43-1B63-4ECE-199F-86F05454A21C}"/>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0EA58417-29B1-7D6D-5456-4003A528CA4D}"/>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E5DD1641-E614-92B4-85AC-E1A46C1DBD95}"/>
              </a:ext>
            </a:extLst>
          </p:cNvPr>
          <p:cNvSpPr txBox="1"/>
          <p:nvPr/>
        </p:nvSpPr>
        <p:spPr>
          <a:xfrm>
            <a:off x="4306319" y="3128982"/>
            <a:ext cx="1363529" cy="707886"/>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40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6E708ABA-BF9E-CD6D-B626-0C2705EE5DCA}"/>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AF4BE75A-56AB-A15F-C2EA-8542E4F6E2E2}"/>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6A94C6E4-93FE-C174-5E1D-43554CD38C65}"/>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F8F071EA-7EF6-7963-8D79-E726CCB5E7AA}"/>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D4AB9014-B353-7804-749E-6E590F0A30F1}"/>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C7A9AC88-8955-31F4-7212-5335919A516C}"/>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E2555813-EE7E-FBEC-47E4-D2A8AB705CDB}"/>
              </a:ext>
            </a:extLst>
          </p:cNvPr>
          <p:cNvSpPr/>
          <p:nvPr/>
        </p:nvSpPr>
        <p:spPr>
          <a:xfrm>
            <a:off x="8513146"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2688E333-9EC5-1DA3-241C-8168A24DAA82}"/>
              </a:ext>
            </a:extLst>
          </p:cNvPr>
          <p:cNvSpPr/>
          <p:nvPr/>
        </p:nvSpPr>
        <p:spPr>
          <a:xfrm>
            <a:off x="9252499"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CCB24172-F9AF-9AD5-9559-87144699DC38}"/>
              </a:ext>
            </a:extLst>
          </p:cNvPr>
          <p:cNvSpPr/>
          <p:nvPr/>
        </p:nvSpPr>
        <p:spPr>
          <a:xfrm>
            <a:off x="9508144" y="214488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DF438874-44D0-6B3D-E8AC-AC1A874777D7}"/>
              </a:ext>
            </a:extLst>
          </p:cNvPr>
          <p:cNvSpPr/>
          <p:nvPr/>
        </p:nvSpPr>
        <p:spPr>
          <a:xfrm>
            <a:off x="829904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0ECD4C38-D752-EB24-E673-3C571488616A}"/>
              </a:ext>
            </a:extLst>
          </p:cNvPr>
          <p:cNvSpPr/>
          <p:nvPr/>
        </p:nvSpPr>
        <p:spPr>
          <a:xfrm>
            <a:off x="9759419" y="213552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FB866862-F7C5-2C9D-85E0-75F32BC249B3}"/>
              </a:ext>
            </a:extLst>
          </p:cNvPr>
          <p:cNvSpPr/>
          <p:nvPr/>
        </p:nvSpPr>
        <p:spPr>
          <a:xfrm>
            <a:off x="8778023"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BC7AF180-A964-CF1C-01F0-55399F1629AE}"/>
              </a:ext>
            </a:extLst>
          </p:cNvPr>
          <p:cNvSpPr/>
          <p:nvPr/>
        </p:nvSpPr>
        <p:spPr>
          <a:xfrm>
            <a:off x="902037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0485E653-1251-2916-E872-C4CD313263C7}"/>
              </a:ext>
            </a:extLst>
          </p:cNvPr>
          <p:cNvSpPr txBox="1"/>
          <p:nvPr/>
        </p:nvSpPr>
        <p:spPr>
          <a:xfrm>
            <a:off x="6259556" y="3128982"/>
            <a:ext cx="1363528" cy="707886"/>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40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40C9C423-CFC4-32DD-5925-9266D95BE5DD}"/>
              </a:ext>
            </a:extLst>
          </p:cNvPr>
          <p:cNvSpPr txBox="1"/>
          <p:nvPr/>
        </p:nvSpPr>
        <p:spPr>
          <a:xfrm>
            <a:off x="5652695" y="3138956"/>
            <a:ext cx="52519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639B91E5-0709-AA47-BC3C-B75D53C8B1B3}"/>
              </a:ext>
            </a:extLst>
          </p:cNvPr>
          <p:cNvSpPr txBox="1"/>
          <p:nvPr/>
        </p:nvSpPr>
        <p:spPr>
          <a:xfrm>
            <a:off x="4782445" y="4238838"/>
            <a:ext cx="102806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40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B40FB57A-7A53-05E4-0C50-F65E23294D86}"/>
              </a:ext>
            </a:extLst>
          </p:cNvPr>
          <p:cNvSpPr txBox="1"/>
          <p:nvPr/>
        </p:nvSpPr>
        <p:spPr>
          <a:xfrm>
            <a:off x="6177890" y="4201098"/>
            <a:ext cx="102806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40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164ABCA0-F2C7-6F2D-76C1-64772D467D84}"/>
              </a:ext>
            </a:extLst>
          </p:cNvPr>
          <p:cNvSpPr txBox="1"/>
          <p:nvPr/>
        </p:nvSpPr>
        <p:spPr>
          <a:xfrm>
            <a:off x="5734361" y="4248812"/>
            <a:ext cx="52519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graphicFrame>
        <p:nvGraphicFramePr>
          <p:cNvPr id="27" name="Table 26">
            <a:extLst>
              <a:ext uri="{FF2B5EF4-FFF2-40B4-BE49-F238E27FC236}">
                <a16:creationId xmlns:a16="http://schemas.microsoft.com/office/drawing/2014/main" id="{07AC9CE2-1FD3-4A53-2C75-7A2FC0E659B8}"/>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27661258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6760E419-0970-B08F-649F-F326100D4C8F}"/>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D57E301D-FC5E-8D61-12D7-20BBC47394D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6C44D3A6-77FF-2357-3D5F-825E35924839}"/>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1C9A336F-7CA3-0B19-7F4D-ADA6389204DD}"/>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672C235E-57D6-6EC6-7F75-5C2D848E1038}"/>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DC01D1B0-1A1F-01D5-13D0-35A424155A68}"/>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D0DF52C4-F75D-F801-9547-4A6CADA83620}"/>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C390DA48-1749-85F7-D80A-54BC06470AC7}"/>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581CC21D-4F2A-A14E-4F75-0CD4424077A8}"/>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807DED71-5465-F61E-ADF3-82A5FFB5C41A}"/>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A537AD1C-ABB1-FFB1-F103-7F7768805968}"/>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BE85D5E2-15B7-CB60-0768-42DFB9499939}"/>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C080EBB1-F886-B419-60DF-B33F203B4CF5}"/>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2A50E3E2-B526-A347-4585-8BC4B363D65C}"/>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43BBB73A-9731-2A6F-A316-1EF12F54ADDA}"/>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D1D05D38-F504-FB9D-C53F-78AC3075105A}"/>
              </a:ext>
            </a:extLst>
          </p:cNvPr>
          <p:cNvSpPr txBox="1"/>
          <p:nvPr/>
        </p:nvSpPr>
        <p:spPr>
          <a:xfrm>
            <a:off x="4306319" y="3128982"/>
            <a:ext cx="1363529" cy="707886"/>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40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6E357F95-2C7B-0AF5-F08B-D284B6F1EB78}"/>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B0A13DD2-3DF6-131C-73FA-372C5CDC11D8}"/>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61ED0FBC-7056-94B9-8E1C-72A421F15B94}"/>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87E51382-25A6-3097-E759-FA5B492A8E0D}"/>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77F8553C-B6DA-0748-ED6C-BC55CAE30173}"/>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956C816B-F2AF-F022-B80C-57DEBC9961B3}"/>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3B08E44A-10BB-EEE9-96C9-034E2B12D357}"/>
              </a:ext>
            </a:extLst>
          </p:cNvPr>
          <p:cNvSpPr/>
          <p:nvPr/>
        </p:nvSpPr>
        <p:spPr>
          <a:xfrm>
            <a:off x="8513146"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6B3E7E02-0398-BC29-52B6-7D0E747704A2}"/>
              </a:ext>
            </a:extLst>
          </p:cNvPr>
          <p:cNvSpPr/>
          <p:nvPr/>
        </p:nvSpPr>
        <p:spPr>
          <a:xfrm>
            <a:off x="9252499"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D7041E6B-51D3-87E0-D4B4-F32A1B3B561D}"/>
              </a:ext>
            </a:extLst>
          </p:cNvPr>
          <p:cNvSpPr/>
          <p:nvPr/>
        </p:nvSpPr>
        <p:spPr>
          <a:xfrm>
            <a:off x="9508144" y="214488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ECC71FE4-8804-88C4-D1DC-4126A4BB9C2A}"/>
              </a:ext>
            </a:extLst>
          </p:cNvPr>
          <p:cNvSpPr/>
          <p:nvPr/>
        </p:nvSpPr>
        <p:spPr>
          <a:xfrm>
            <a:off x="829904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191D722F-561C-CDA7-2208-A41FA0E69ECA}"/>
              </a:ext>
            </a:extLst>
          </p:cNvPr>
          <p:cNvSpPr/>
          <p:nvPr/>
        </p:nvSpPr>
        <p:spPr>
          <a:xfrm>
            <a:off x="9759419" y="213552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EC830E81-C951-CEB5-DBEC-E9B26C22F635}"/>
              </a:ext>
            </a:extLst>
          </p:cNvPr>
          <p:cNvSpPr/>
          <p:nvPr/>
        </p:nvSpPr>
        <p:spPr>
          <a:xfrm>
            <a:off x="8778023"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49F1B64F-A865-721E-F66B-1EFAF95BF815}"/>
              </a:ext>
            </a:extLst>
          </p:cNvPr>
          <p:cNvSpPr/>
          <p:nvPr/>
        </p:nvSpPr>
        <p:spPr>
          <a:xfrm>
            <a:off x="902037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239E82DC-42EE-2A55-B9DA-BFC0E1D5D246}"/>
              </a:ext>
            </a:extLst>
          </p:cNvPr>
          <p:cNvSpPr txBox="1"/>
          <p:nvPr/>
        </p:nvSpPr>
        <p:spPr>
          <a:xfrm>
            <a:off x="6259556" y="3128982"/>
            <a:ext cx="1363528" cy="707886"/>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40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95596AB3-8718-BFD9-05EA-6298252CFB32}"/>
              </a:ext>
            </a:extLst>
          </p:cNvPr>
          <p:cNvSpPr txBox="1"/>
          <p:nvPr/>
        </p:nvSpPr>
        <p:spPr>
          <a:xfrm>
            <a:off x="5652695" y="3138956"/>
            <a:ext cx="52519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186DB7F8-040C-5AE7-3A9D-FBB06623C6DC}"/>
              </a:ext>
            </a:extLst>
          </p:cNvPr>
          <p:cNvSpPr txBox="1"/>
          <p:nvPr/>
        </p:nvSpPr>
        <p:spPr>
          <a:xfrm>
            <a:off x="4782445" y="4238838"/>
            <a:ext cx="102806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40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242B8168-4A3A-5FCD-48BC-BEC19C9EDABD}"/>
              </a:ext>
            </a:extLst>
          </p:cNvPr>
          <p:cNvSpPr txBox="1"/>
          <p:nvPr/>
        </p:nvSpPr>
        <p:spPr>
          <a:xfrm>
            <a:off x="6177890" y="4201098"/>
            <a:ext cx="102806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40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5D45DDB3-7B06-1E56-DAA9-CEE9542C644C}"/>
              </a:ext>
            </a:extLst>
          </p:cNvPr>
          <p:cNvSpPr txBox="1"/>
          <p:nvPr/>
        </p:nvSpPr>
        <p:spPr>
          <a:xfrm>
            <a:off x="5734361" y="4248812"/>
            <a:ext cx="52519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8FED2A86-ADB7-7859-48E2-10F83925AA02}"/>
              </a:ext>
            </a:extLst>
          </p:cNvPr>
          <p:cNvSpPr/>
          <p:nvPr/>
        </p:nvSpPr>
        <p:spPr>
          <a:xfrm>
            <a:off x="4040184" y="1904538"/>
            <a:ext cx="3854547" cy="2038294"/>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B07F2D3E-94F0-709B-B903-0B06DB131641}"/>
              </a:ext>
            </a:extLst>
          </p:cNvPr>
          <p:cNvSpPr txBox="1"/>
          <p:nvPr/>
        </p:nvSpPr>
        <p:spPr>
          <a:xfrm>
            <a:off x="4736165" y="1904537"/>
            <a:ext cx="2597921"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graphicFrame>
        <p:nvGraphicFramePr>
          <p:cNvPr id="28" name="Table 27">
            <a:extLst>
              <a:ext uri="{FF2B5EF4-FFF2-40B4-BE49-F238E27FC236}">
                <a16:creationId xmlns:a16="http://schemas.microsoft.com/office/drawing/2014/main" id="{426CABD3-F0BB-79F2-60F0-F3979D15D04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Tree>
    <p:extLst>
      <p:ext uri="{BB962C8B-B14F-4D97-AF65-F5344CB8AC3E}">
        <p14:creationId xmlns:p14="http://schemas.microsoft.com/office/powerpoint/2010/main" val="193286638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EBFDA0D7-F628-4784-D134-BE11B7DEE89F}"/>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2145D04D-E233-AB6E-F7A4-1AF84E53E9C7}"/>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4" name="Triangle 3">
            <a:extLst>
              <a:ext uri="{FF2B5EF4-FFF2-40B4-BE49-F238E27FC236}">
                <a16:creationId xmlns:a16="http://schemas.microsoft.com/office/drawing/2014/main" id="{A86DBDF7-6D52-D774-DD17-247FE267FC5C}"/>
              </a:ext>
            </a:extLst>
          </p:cNvPr>
          <p:cNvSpPr/>
          <p:nvPr/>
        </p:nvSpPr>
        <p:spPr>
          <a:xfrm>
            <a:off x="1517300" y="2371411"/>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5" name="Oval 4">
            <a:extLst>
              <a:ext uri="{FF2B5EF4-FFF2-40B4-BE49-F238E27FC236}">
                <a16:creationId xmlns:a16="http://schemas.microsoft.com/office/drawing/2014/main" id="{DD57820E-A106-D1DC-5485-A06C14E2B7C8}"/>
              </a:ext>
            </a:extLst>
          </p:cNvPr>
          <p:cNvSpPr/>
          <p:nvPr/>
        </p:nvSpPr>
        <p:spPr>
          <a:xfrm>
            <a:off x="803868"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6" name="Oval 5">
            <a:extLst>
              <a:ext uri="{FF2B5EF4-FFF2-40B4-BE49-F238E27FC236}">
                <a16:creationId xmlns:a16="http://schemas.microsoft.com/office/drawing/2014/main" id="{B082C444-A368-E7F2-401D-6391678841ED}"/>
              </a:ext>
            </a:extLst>
          </p:cNvPr>
          <p:cNvSpPr/>
          <p:nvPr/>
        </p:nvSpPr>
        <p:spPr>
          <a:xfrm>
            <a:off x="1770185"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7" name="Oval 6">
            <a:extLst>
              <a:ext uri="{FF2B5EF4-FFF2-40B4-BE49-F238E27FC236}">
                <a16:creationId xmlns:a16="http://schemas.microsoft.com/office/drawing/2014/main" id="{878EA3E8-7AEA-BF61-B3A9-6D1CFDBB0DC3}"/>
              </a:ext>
            </a:extLst>
          </p:cNvPr>
          <p:cNvSpPr/>
          <p:nvPr/>
        </p:nvSpPr>
        <p:spPr>
          <a:xfrm>
            <a:off x="2736502" y="5838092"/>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8" name="Oval 7">
            <a:extLst>
              <a:ext uri="{FF2B5EF4-FFF2-40B4-BE49-F238E27FC236}">
                <a16:creationId xmlns:a16="http://schemas.microsoft.com/office/drawing/2014/main" id="{D05E3148-9177-5855-8C4F-1390D07D721D}"/>
              </a:ext>
            </a:extLst>
          </p:cNvPr>
          <p:cNvSpPr/>
          <p:nvPr/>
        </p:nvSpPr>
        <p:spPr>
          <a:xfrm>
            <a:off x="3702819"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Cloud 8">
            <a:extLst>
              <a:ext uri="{FF2B5EF4-FFF2-40B4-BE49-F238E27FC236}">
                <a16:creationId xmlns:a16="http://schemas.microsoft.com/office/drawing/2014/main" id="{5EE6F848-3854-0B54-3CE8-640CBF4E1001}"/>
              </a:ext>
            </a:extLst>
          </p:cNvPr>
          <p:cNvSpPr/>
          <p:nvPr/>
        </p:nvSpPr>
        <p:spPr>
          <a:xfrm>
            <a:off x="972176" y="3567127"/>
            <a:ext cx="3371223" cy="1838849"/>
          </a:xfrm>
          <a:prstGeom prst="cloud">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FIFO Fabric</a:t>
            </a:r>
          </a:p>
        </p:txBody>
      </p:sp>
      <p:sp>
        <p:nvSpPr>
          <p:cNvPr id="10" name="Oval 9">
            <a:extLst>
              <a:ext uri="{FF2B5EF4-FFF2-40B4-BE49-F238E27FC236}">
                <a16:creationId xmlns:a16="http://schemas.microsoft.com/office/drawing/2014/main" id="{4ED15351-E6B8-64C0-B64A-0B642AF0E00E}"/>
              </a:ext>
            </a:extLst>
          </p:cNvPr>
          <p:cNvSpPr/>
          <p:nvPr/>
        </p:nvSpPr>
        <p:spPr>
          <a:xfrm>
            <a:off x="1699370"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59CAD92-CFB0-078D-D9BA-AE7EA274A920}"/>
              </a:ext>
            </a:extLst>
          </p:cNvPr>
          <p:cNvSpPr/>
          <p:nvPr/>
        </p:nvSpPr>
        <p:spPr>
          <a:xfrm>
            <a:off x="2934367" y="2095363"/>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2E0CD68C-65A3-7DCC-3B40-E493C3263F13}"/>
              </a:ext>
            </a:extLst>
          </p:cNvPr>
          <p:cNvSpPr/>
          <p:nvPr/>
        </p:nvSpPr>
        <p:spPr>
          <a:xfrm>
            <a:off x="2652824" y="208000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6DEDC16E-EC36-A8CA-F421-8FA78CE96518}"/>
              </a:ext>
            </a:extLst>
          </p:cNvPr>
          <p:cNvSpPr/>
          <p:nvPr/>
        </p:nvSpPr>
        <p:spPr>
          <a:xfrm>
            <a:off x="2403230"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859C3BA2-029E-3E58-AFC8-5DFDF96520E6}"/>
              </a:ext>
            </a:extLst>
          </p:cNvPr>
          <p:cNvSpPr/>
          <p:nvPr/>
        </p:nvSpPr>
        <p:spPr>
          <a:xfrm>
            <a:off x="3271227" y="2095074"/>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31FCE7C9-F4E5-76BE-A823-2379F997103E}"/>
              </a:ext>
            </a:extLst>
          </p:cNvPr>
          <p:cNvSpPr/>
          <p:nvPr/>
        </p:nvSpPr>
        <p:spPr>
          <a:xfrm>
            <a:off x="2164083"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B21A7349-BCB4-7D9D-48F6-FFDFDEBA3BEA}"/>
              </a:ext>
            </a:extLst>
          </p:cNvPr>
          <p:cNvSpPr/>
          <p:nvPr/>
        </p:nvSpPr>
        <p:spPr>
          <a:xfrm>
            <a:off x="1937701" y="2089367"/>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92C7C22C-792A-5A5C-2362-7150CFC5512F}"/>
              </a:ext>
            </a:extLst>
          </p:cNvPr>
          <p:cNvSpPr txBox="1"/>
          <p:nvPr/>
        </p:nvSpPr>
        <p:spPr>
          <a:xfrm>
            <a:off x="4306319" y="3128982"/>
            <a:ext cx="1363529" cy="707886"/>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40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3" name="Triangle 2">
            <a:extLst>
              <a:ext uri="{FF2B5EF4-FFF2-40B4-BE49-F238E27FC236}">
                <a16:creationId xmlns:a16="http://schemas.microsoft.com/office/drawing/2014/main" id="{8EE0C477-BCBC-8E97-7959-F9F261EA006C}"/>
              </a:ext>
            </a:extLst>
          </p:cNvPr>
          <p:cNvSpPr/>
          <p:nvPr/>
        </p:nvSpPr>
        <p:spPr>
          <a:xfrm>
            <a:off x="8004240" y="2341265"/>
            <a:ext cx="2280977" cy="763601"/>
          </a:xfrm>
          <a:prstGeom prst="triangle">
            <a:avLst>
              <a:gd name="adj" fmla="val 5088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Exchange</a:t>
            </a:r>
          </a:p>
        </p:txBody>
      </p:sp>
      <p:sp>
        <p:nvSpPr>
          <p:cNvPr id="11" name="Oval 10">
            <a:extLst>
              <a:ext uri="{FF2B5EF4-FFF2-40B4-BE49-F238E27FC236}">
                <a16:creationId xmlns:a16="http://schemas.microsoft.com/office/drawing/2014/main" id="{9759E065-2464-7B4B-1BBB-E439F5B36087}"/>
              </a:ext>
            </a:extLst>
          </p:cNvPr>
          <p:cNvSpPr/>
          <p:nvPr/>
        </p:nvSpPr>
        <p:spPr>
          <a:xfrm>
            <a:off x="7290808"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MP1</a:t>
            </a:r>
          </a:p>
        </p:txBody>
      </p:sp>
      <p:sp>
        <p:nvSpPr>
          <p:cNvPr id="18" name="Oval 17">
            <a:extLst>
              <a:ext uri="{FF2B5EF4-FFF2-40B4-BE49-F238E27FC236}">
                <a16:creationId xmlns:a16="http://schemas.microsoft.com/office/drawing/2014/main" id="{0FF6AA06-4547-67BC-1263-F4BD451DF3A0}"/>
              </a:ext>
            </a:extLst>
          </p:cNvPr>
          <p:cNvSpPr/>
          <p:nvPr/>
        </p:nvSpPr>
        <p:spPr>
          <a:xfrm>
            <a:off x="8257125"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MP2</a:t>
            </a:r>
          </a:p>
        </p:txBody>
      </p:sp>
      <p:sp>
        <p:nvSpPr>
          <p:cNvPr id="19" name="Oval 18">
            <a:extLst>
              <a:ext uri="{FF2B5EF4-FFF2-40B4-BE49-F238E27FC236}">
                <a16:creationId xmlns:a16="http://schemas.microsoft.com/office/drawing/2014/main" id="{1B9E72F7-4825-91C2-1720-F644C7555BEC}"/>
              </a:ext>
            </a:extLst>
          </p:cNvPr>
          <p:cNvSpPr/>
          <p:nvPr/>
        </p:nvSpPr>
        <p:spPr>
          <a:xfrm>
            <a:off x="9223442" y="5807946"/>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MP3</a:t>
            </a:r>
          </a:p>
        </p:txBody>
      </p:sp>
      <p:sp>
        <p:nvSpPr>
          <p:cNvPr id="20" name="Oval 19">
            <a:extLst>
              <a:ext uri="{FF2B5EF4-FFF2-40B4-BE49-F238E27FC236}">
                <a16:creationId xmlns:a16="http://schemas.microsoft.com/office/drawing/2014/main" id="{C0DC3071-A59B-81F9-87A1-AFAEDC709194}"/>
              </a:ext>
            </a:extLst>
          </p:cNvPr>
          <p:cNvSpPr/>
          <p:nvPr/>
        </p:nvSpPr>
        <p:spPr>
          <a:xfrm>
            <a:off x="10189759" y="5777800"/>
            <a:ext cx="713432" cy="5225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white"/>
                </a:solidFill>
                <a:effectLst/>
                <a:uLnTx/>
                <a:uFillTx/>
                <a:latin typeface="Aptos" panose="02110004020202020204"/>
                <a:ea typeface="+mn-ea"/>
                <a:cs typeface="+mn-cs"/>
              </a:rPr>
              <a:t>MPn</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1" name="Cloud 20">
            <a:extLst>
              <a:ext uri="{FF2B5EF4-FFF2-40B4-BE49-F238E27FC236}">
                <a16:creationId xmlns:a16="http://schemas.microsoft.com/office/drawing/2014/main" id="{79D0B3F0-B425-6122-D457-21E827ADB0F9}"/>
              </a:ext>
            </a:extLst>
          </p:cNvPr>
          <p:cNvSpPr/>
          <p:nvPr/>
        </p:nvSpPr>
        <p:spPr>
          <a:xfrm>
            <a:off x="7349279" y="3567127"/>
            <a:ext cx="3371223" cy="1838849"/>
          </a:xfrm>
          <a:prstGeom prst="cloud">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LOQ Fabric</a:t>
            </a:r>
          </a:p>
        </p:txBody>
      </p:sp>
      <p:sp>
        <p:nvSpPr>
          <p:cNvPr id="29" name="Oval 28">
            <a:extLst>
              <a:ext uri="{FF2B5EF4-FFF2-40B4-BE49-F238E27FC236}">
                <a16:creationId xmlns:a16="http://schemas.microsoft.com/office/drawing/2014/main" id="{A8B024AF-ED82-D95C-26C4-B53E943C5F68}"/>
              </a:ext>
            </a:extLst>
          </p:cNvPr>
          <p:cNvSpPr/>
          <p:nvPr/>
        </p:nvSpPr>
        <p:spPr>
          <a:xfrm>
            <a:off x="8513146"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74BDA31F-5956-0D6F-BD2C-405194F03717}"/>
              </a:ext>
            </a:extLst>
          </p:cNvPr>
          <p:cNvSpPr/>
          <p:nvPr/>
        </p:nvSpPr>
        <p:spPr>
          <a:xfrm>
            <a:off x="9252499"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Oval 30">
            <a:extLst>
              <a:ext uri="{FF2B5EF4-FFF2-40B4-BE49-F238E27FC236}">
                <a16:creationId xmlns:a16="http://schemas.microsoft.com/office/drawing/2014/main" id="{E689DCB5-118D-822D-8C2F-421677D1A50A}"/>
              </a:ext>
            </a:extLst>
          </p:cNvPr>
          <p:cNvSpPr/>
          <p:nvPr/>
        </p:nvSpPr>
        <p:spPr>
          <a:xfrm>
            <a:off x="9508144" y="214488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Oval 31">
            <a:extLst>
              <a:ext uri="{FF2B5EF4-FFF2-40B4-BE49-F238E27FC236}">
                <a16:creationId xmlns:a16="http://schemas.microsoft.com/office/drawing/2014/main" id="{783F3423-DC10-CFA9-EB34-F5B6D36E6489}"/>
              </a:ext>
            </a:extLst>
          </p:cNvPr>
          <p:cNvSpPr/>
          <p:nvPr/>
        </p:nvSpPr>
        <p:spPr>
          <a:xfrm>
            <a:off x="829904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Oval 32">
            <a:extLst>
              <a:ext uri="{FF2B5EF4-FFF2-40B4-BE49-F238E27FC236}">
                <a16:creationId xmlns:a16="http://schemas.microsoft.com/office/drawing/2014/main" id="{16B13D7F-08D3-E8EB-6124-3D22BE807EF9}"/>
              </a:ext>
            </a:extLst>
          </p:cNvPr>
          <p:cNvSpPr/>
          <p:nvPr/>
        </p:nvSpPr>
        <p:spPr>
          <a:xfrm>
            <a:off x="9759419" y="2135529"/>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Oval 33">
            <a:extLst>
              <a:ext uri="{FF2B5EF4-FFF2-40B4-BE49-F238E27FC236}">
                <a16:creationId xmlns:a16="http://schemas.microsoft.com/office/drawing/2014/main" id="{68BEDEC4-EC5A-FC3E-FDDC-341667ADCDC5}"/>
              </a:ext>
            </a:extLst>
          </p:cNvPr>
          <p:cNvSpPr/>
          <p:nvPr/>
        </p:nvSpPr>
        <p:spPr>
          <a:xfrm>
            <a:off x="8778023" y="214558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A60011B2-B60A-5E3F-96F2-703E9A0DF376}"/>
              </a:ext>
            </a:extLst>
          </p:cNvPr>
          <p:cNvSpPr/>
          <p:nvPr/>
        </p:nvSpPr>
        <p:spPr>
          <a:xfrm>
            <a:off x="9020375" y="2136221"/>
            <a:ext cx="160774" cy="16077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5877C8D1-2C9C-6F18-A62C-72AA25866939}"/>
              </a:ext>
            </a:extLst>
          </p:cNvPr>
          <p:cNvSpPr txBox="1"/>
          <p:nvPr/>
        </p:nvSpPr>
        <p:spPr>
          <a:xfrm>
            <a:off x="6259556" y="3128982"/>
            <a:ext cx="1363528" cy="707886"/>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40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C930378E-F1A4-D7D9-BDCD-7DD3D60F7529}"/>
              </a:ext>
            </a:extLst>
          </p:cNvPr>
          <p:cNvSpPr txBox="1"/>
          <p:nvPr/>
        </p:nvSpPr>
        <p:spPr>
          <a:xfrm>
            <a:off x="5652695" y="3138956"/>
            <a:ext cx="52519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06CD96C1-2B6D-3D76-866C-BA0223E3EBFA}"/>
              </a:ext>
            </a:extLst>
          </p:cNvPr>
          <p:cNvSpPr txBox="1"/>
          <p:nvPr/>
        </p:nvSpPr>
        <p:spPr>
          <a:xfrm>
            <a:off x="4782445" y="4238838"/>
            <a:ext cx="102806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40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6BB89F33-C9D5-7F69-E226-E2FDBE659570}"/>
              </a:ext>
            </a:extLst>
          </p:cNvPr>
          <p:cNvSpPr txBox="1"/>
          <p:nvPr/>
        </p:nvSpPr>
        <p:spPr>
          <a:xfrm>
            <a:off x="6177890" y="4201098"/>
            <a:ext cx="1028062"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40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E9816A36-BC1B-09E8-7D29-EAC6968D9CAC}"/>
              </a:ext>
            </a:extLst>
          </p:cNvPr>
          <p:cNvSpPr txBox="1"/>
          <p:nvPr/>
        </p:nvSpPr>
        <p:spPr>
          <a:xfrm>
            <a:off x="5734361" y="4248812"/>
            <a:ext cx="52519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ACAC07A0-4ABE-9C88-512C-2342423BF1E3}"/>
              </a:ext>
            </a:extLst>
          </p:cNvPr>
          <p:cNvSpPr/>
          <p:nvPr/>
        </p:nvSpPr>
        <p:spPr>
          <a:xfrm>
            <a:off x="4040184" y="1904538"/>
            <a:ext cx="3854547" cy="2038294"/>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EB23A096-2952-CA94-2460-194D9F43573B}"/>
              </a:ext>
            </a:extLst>
          </p:cNvPr>
          <p:cNvSpPr txBox="1"/>
          <p:nvPr/>
        </p:nvSpPr>
        <p:spPr>
          <a:xfrm>
            <a:off x="4736165" y="1904537"/>
            <a:ext cx="2597921"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C3167868-0E61-DB7D-8F4F-C91EE2D1D4D7}"/>
              </a:ext>
            </a:extLst>
          </p:cNvPr>
          <p:cNvSpPr/>
          <p:nvPr/>
        </p:nvSpPr>
        <p:spPr>
          <a:xfrm>
            <a:off x="3201687" y="4061055"/>
            <a:ext cx="5097358" cy="1716745"/>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FF8927BA-77B5-C6C6-C1B6-A111960CE7FA}"/>
              </a:ext>
            </a:extLst>
          </p:cNvPr>
          <p:cNvSpPr txBox="1"/>
          <p:nvPr/>
        </p:nvSpPr>
        <p:spPr>
          <a:xfrm>
            <a:off x="3264223" y="4918958"/>
            <a:ext cx="540646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9E04CA45-7D57-6C33-2CD3-560B925585AE}"/>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D00DC401-C4C8-7CB7-5593-B2E86B1C5646}"/>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Tree>
    <p:extLst>
      <p:ext uri="{BB962C8B-B14F-4D97-AF65-F5344CB8AC3E}">
        <p14:creationId xmlns:p14="http://schemas.microsoft.com/office/powerpoint/2010/main" val="175819444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57964692-BE23-795E-7A99-02C5CB7EA0B7}"/>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CA8C704C-16F9-2B5A-6E6E-AB6AA230182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2DB70064-C583-2622-ACD8-279FC6289CC5}"/>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8E6A8E77-835E-DFB1-0282-2CF7B65BFAAF}"/>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E4BB8EC9-2035-D6F6-E63B-034B36E352CE}"/>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2D718DB2-4329-804F-5405-A3C1CB61DFF8}"/>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C32F9B40-8140-4215-1032-069D940DBA3C}"/>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DB1C62BD-11C4-F63D-C882-F8ED7EB29C96}"/>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34BF1FFB-4C78-0F98-833D-9BFFB29D3576}"/>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DECF3612-5C90-9A17-8BF1-1E3639E6EE82}"/>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12902204-3660-DF2F-6580-7003586A3CBD}"/>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8A4250A0-8A75-7614-1E60-78E8561C67DF}"/>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F2408108-7EDA-BA36-9222-0DBA9A4541D2}"/>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2A811A2B-9C87-94B1-6524-EFE51F67CEB7}"/>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0" name="Oval 39">
            <a:extLst>
              <a:ext uri="{FF2B5EF4-FFF2-40B4-BE49-F238E27FC236}">
                <a16:creationId xmlns:a16="http://schemas.microsoft.com/office/drawing/2014/main" id="{F998379B-87CC-6D0D-D332-3B62AFFC54AF}"/>
              </a:ext>
            </a:extLst>
          </p:cNvPr>
          <p:cNvSpPr/>
          <p:nvPr/>
        </p:nvSpPr>
        <p:spPr>
          <a:xfrm>
            <a:off x="1365994" y="2145051"/>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 name="Oval 40">
            <a:extLst>
              <a:ext uri="{FF2B5EF4-FFF2-40B4-BE49-F238E27FC236}">
                <a16:creationId xmlns:a16="http://schemas.microsoft.com/office/drawing/2014/main" id="{AE10EDC0-79AE-DBE4-8788-6849C56C2A6E}"/>
              </a:ext>
            </a:extLst>
          </p:cNvPr>
          <p:cNvSpPr/>
          <p:nvPr/>
        </p:nvSpPr>
        <p:spPr>
          <a:xfrm>
            <a:off x="2815585" y="2145051"/>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E548CEE1-8530-23D0-A267-F83CE153120A}"/>
              </a:ext>
            </a:extLst>
          </p:cNvPr>
          <p:cNvSpPr/>
          <p:nvPr/>
        </p:nvSpPr>
        <p:spPr>
          <a:xfrm>
            <a:off x="2090789" y="2145051"/>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Cube 43">
            <a:extLst>
              <a:ext uri="{FF2B5EF4-FFF2-40B4-BE49-F238E27FC236}">
                <a16:creationId xmlns:a16="http://schemas.microsoft.com/office/drawing/2014/main" id="{81758D3B-2190-EF49-F236-253908F11EEC}"/>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45" name="Oval 44">
            <a:extLst>
              <a:ext uri="{FF2B5EF4-FFF2-40B4-BE49-F238E27FC236}">
                <a16:creationId xmlns:a16="http://schemas.microsoft.com/office/drawing/2014/main" id="{9837BE40-9F58-3F19-B97C-22CDE1E49FF2}"/>
              </a:ext>
            </a:extLst>
          </p:cNvPr>
          <p:cNvSpPr/>
          <p:nvPr/>
        </p:nvSpPr>
        <p:spPr>
          <a:xfrm>
            <a:off x="3515517"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0928595"/>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4" grpId="0" animBg="1"/>
      <p:bldP spid="4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45D9A1CA-FA63-5D28-BF10-4C57CDB6748D}"/>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103C7C79-6F0C-34CE-9068-E94F525EA39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EE6BEC1D-4B7F-BA89-6CA5-33A5DD1C4EFD}"/>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D9F18E63-536D-751E-E3CB-E9AF2B2E4551}"/>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B85836BE-BF19-C09E-6788-A507432BE868}"/>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A49C18CF-90A1-A4D0-EEE4-4250F62E3DF1}"/>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AA289EF2-D05A-DE47-7B54-35458B5828D5}"/>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C7733B50-F74C-0423-3981-EB12E386591A}"/>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F51BAE7C-E389-E9FD-417E-5E822FCE886D}"/>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2035C892-122F-81D7-2059-613CC1339461}"/>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8617047C-F043-76C6-F7CB-DCB8F044672E}"/>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556DA517-A7A0-FB37-8479-8C84CC56FAE3}"/>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C85C89F9-6DDE-F8F0-72E7-21C275012AC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FF4FD419-6325-A665-5F81-BF2366E3C8D7}"/>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0" name="Oval 39">
            <a:extLst>
              <a:ext uri="{FF2B5EF4-FFF2-40B4-BE49-F238E27FC236}">
                <a16:creationId xmlns:a16="http://schemas.microsoft.com/office/drawing/2014/main" id="{3F69206B-B0E0-EDC0-95C9-B1207E60B20A}"/>
              </a:ext>
            </a:extLst>
          </p:cNvPr>
          <p:cNvSpPr/>
          <p:nvPr/>
        </p:nvSpPr>
        <p:spPr>
          <a:xfrm>
            <a:off x="1365994" y="2145051"/>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 name="Oval 40">
            <a:extLst>
              <a:ext uri="{FF2B5EF4-FFF2-40B4-BE49-F238E27FC236}">
                <a16:creationId xmlns:a16="http://schemas.microsoft.com/office/drawing/2014/main" id="{91C8AB83-7272-F066-6BF0-BBCDFD8A97A0}"/>
              </a:ext>
            </a:extLst>
          </p:cNvPr>
          <p:cNvSpPr/>
          <p:nvPr/>
        </p:nvSpPr>
        <p:spPr>
          <a:xfrm>
            <a:off x="2815585" y="2145051"/>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AC81DE76-EDD0-EB56-4A26-7644B838A7D5}"/>
              </a:ext>
            </a:extLst>
          </p:cNvPr>
          <p:cNvSpPr/>
          <p:nvPr/>
        </p:nvSpPr>
        <p:spPr>
          <a:xfrm>
            <a:off x="2090789" y="2145051"/>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Cube 43">
            <a:extLst>
              <a:ext uri="{FF2B5EF4-FFF2-40B4-BE49-F238E27FC236}">
                <a16:creationId xmlns:a16="http://schemas.microsoft.com/office/drawing/2014/main" id="{F7B2DAAC-B3C5-1F8C-E111-90B1BDA67B1D}"/>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45" name="Oval 44">
            <a:extLst>
              <a:ext uri="{FF2B5EF4-FFF2-40B4-BE49-F238E27FC236}">
                <a16:creationId xmlns:a16="http://schemas.microsoft.com/office/drawing/2014/main" id="{5F109CC3-C217-3DAF-1518-8A1D7A6BF691}"/>
              </a:ext>
            </a:extLst>
          </p:cNvPr>
          <p:cNvSpPr/>
          <p:nvPr/>
        </p:nvSpPr>
        <p:spPr>
          <a:xfrm>
            <a:off x="3515517"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Oval 2">
            <a:extLst>
              <a:ext uri="{FF2B5EF4-FFF2-40B4-BE49-F238E27FC236}">
                <a16:creationId xmlns:a16="http://schemas.microsoft.com/office/drawing/2014/main" id="{FB0DD820-9A4C-CD87-9D88-39827B9D9144}"/>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FBC2F7E8-44C7-DFC6-2660-098DDF6645DE}"/>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EA82FD6E-A117-45B5-8363-A6F45C736928}"/>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2DDC954F-1A0E-6F13-7406-D30E46E80A4F}"/>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9C331152-1E1D-8177-011B-8DB58943057D}"/>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95622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Wor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1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B83E4AF6-94CD-A53F-F194-4276B32C4D1C}"/>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6CA61C2B-659B-4F62-056C-2C359080B86E}"/>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D42B536D-62D4-C15C-1CFA-B6C4EEA4CB20}"/>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D1147BBB-B00B-61BF-1B38-48B5E7B2BBBA}"/>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6276766B-C7E9-2401-D383-2535C7D771D4}"/>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B8D28259-6FD7-8AD1-71AF-9651C807D7B3}"/>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222B16B0-4087-64D7-87AA-D3A8F1A5568F}"/>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F49DC9AC-6637-483C-5906-713EA86A6F76}"/>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CB518B52-C6FF-89BB-1158-243C00AA2980}"/>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BBB56095-8E99-6BAE-FF0E-3C0D758D8222}"/>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098E0003-CA5F-8161-85E2-200B5DDCE039}"/>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63AEB48B-57EC-0583-693C-25A781C11F74}"/>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3C7D8E84-6B4D-CFDA-B4D1-408CE1969333}"/>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402EA7CA-70CC-2472-6BDA-B194843E9FDA}"/>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1" name="Oval 40">
            <a:extLst>
              <a:ext uri="{FF2B5EF4-FFF2-40B4-BE49-F238E27FC236}">
                <a16:creationId xmlns:a16="http://schemas.microsoft.com/office/drawing/2014/main" id="{B750DCBE-7F62-4B80-7536-0DC45CE33EDA}"/>
              </a:ext>
            </a:extLst>
          </p:cNvPr>
          <p:cNvSpPr/>
          <p:nvPr/>
        </p:nvSpPr>
        <p:spPr>
          <a:xfrm>
            <a:off x="2815585" y="2145051"/>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2C00131A-5C8F-02E7-9762-CA18199AABF7}"/>
              </a:ext>
            </a:extLst>
          </p:cNvPr>
          <p:cNvSpPr/>
          <p:nvPr/>
        </p:nvSpPr>
        <p:spPr>
          <a:xfrm>
            <a:off x="2090789" y="2145051"/>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5" name="Oval 44">
            <a:extLst>
              <a:ext uri="{FF2B5EF4-FFF2-40B4-BE49-F238E27FC236}">
                <a16:creationId xmlns:a16="http://schemas.microsoft.com/office/drawing/2014/main" id="{D293749A-5F64-4F5D-CAC6-FC0E0632F5D7}"/>
              </a:ext>
            </a:extLst>
          </p:cNvPr>
          <p:cNvSpPr/>
          <p:nvPr/>
        </p:nvSpPr>
        <p:spPr>
          <a:xfrm>
            <a:off x="3515517"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Oval 39">
            <a:extLst>
              <a:ext uri="{FF2B5EF4-FFF2-40B4-BE49-F238E27FC236}">
                <a16:creationId xmlns:a16="http://schemas.microsoft.com/office/drawing/2014/main" id="{705FD355-903A-8FF7-F1D3-9C496BB47CCA}"/>
              </a:ext>
            </a:extLst>
          </p:cNvPr>
          <p:cNvSpPr/>
          <p:nvPr/>
        </p:nvSpPr>
        <p:spPr>
          <a:xfrm>
            <a:off x="1743356" y="3671451"/>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Cube 43">
            <a:extLst>
              <a:ext uri="{FF2B5EF4-FFF2-40B4-BE49-F238E27FC236}">
                <a16:creationId xmlns:a16="http://schemas.microsoft.com/office/drawing/2014/main" id="{77D8A792-D08E-902A-B8C5-BA02B7DB3379}"/>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8B935D1B-8D45-7B07-8E3A-507CAADD7F0B}"/>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0EDE45C5-A873-09DA-5208-D9F13191A9BF}"/>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4FD5D467-9DE6-F3C3-19F3-8650957452A0}"/>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58388B45-7F69-26FF-A1D9-45019F092713}"/>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DA299C6F-D469-A247-D6D1-F4B9BEAEB66A}"/>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8548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9D77EBDC-0B86-E26D-D068-1D12B717F283}"/>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8738B1C6-AA77-8CE8-773D-DD3A17D45A96}"/>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AEBD58E0-F583-E228-05CD-E02C0AD8CBA0}"/>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6A451249-75BD-5283-06F5-B5BD7F7BCE09}"/>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F6DE9AE0-D3CC-16B0-CADC-EE8CE6ACF152}"/>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DEF410B7-2304-5186-FEC3-3278C5EFFD76}"/>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B7D72ACA-F26E-FD43-1A53-EDB51796ED42}"/>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3AE980E3-FEB5-0644-731A-B834B21AB3CE}"/>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EA7F4C83-4154-14A4-D88E-815B72A31E09}"/>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7A2EBCDD-40EB-7E68-88BF-F44103AE1BA3}"/>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B712B3BE-DF69-EBDD-16A2-5E8E69D39464}"/>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9D62E3B4-3594-0148-8348-C34E1E92DAB2}"/>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223D3289-A498-955F-E760-54E84E0A9C8D}"/>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55732277-6E29-8788-821C-866340B3F453}"/>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1" name="Oval 40">
            <a:extLst>
              <a:ext uri="{FF2B5EF4-FFF2-40B4-BE49-F238E27FC236}">
                <a16:creationId xmlns:a16="http://schemas.microsoft.com/office/drawing/2014/main" id="{0205E074-4606-2617-FA6F-6C87A10FB2E3}"/>
              </a:ext>
            </a:extLst>
          </p:cNvPr>
          <p:cNvSpPr/>
          <p:nvPr/>
        </p:nvSpPr>
        <p:spPr>
          <a:xfrm>
            <a:off x="2815585" y="2145051"/>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5" name="Oval 44">
            <a:extLst>
              <a:ext uri="{FF2B5EF4-FFF2-40B4-BE49-F238E27FC236}">
                <a16:creationId xmlns:a16="http://schemas.microsoft.com/office/drawing/2014/main" id="{C661884D-7A3D-6F7F-B312-D0F106EDF4F5}"/>
              </a:ext>
            </a:extLst>
          </p:cNvPr>
          <p:cNvSpPr/>
          <p:nvPr/>
        </p:nvSpPr>
        <p:spPr>
          <a:xfrm>
            <a:off x="3515517"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Oval 39">
            <a:extLst>
              <a:ext uri="{FF2B5EF4-FFF2-40B4-BE49-F238E27FC236}">
                <a16:creationId xmlns:a16="http://schemas.microsoft.com/office/drawing/2014/main" id="{8FE854C3-0E1C-73B7-2E5A-6EB19AD019BB}"/>
              </a:ext>
            </a:extLst>
          </p:cNvPr>
          <p:cNvSpPr/>
          <p:nvPr/>
        </p:nvSpPr>
        <p:spPr>
          <a:xfrm>
            <a:off x="1743356" y="3671451"/>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04630DB3-60AB-ACBB-D53C-CE1C04B16BAA}"/>
              </a:ext>
            </a:extLst>
          </p:cNvPr>
          <p:cNvSpPr/>
          <p:nvPr/>
        </p:nvSpPr>
        <p:spPr>
          <a:xfrm>
            <a:off x="2157000" y="3627428"/>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Cube 43">
            <a:extLst>
              <a:ext uri="{FF2B5EF4-FFF2-40B4-BE49-F238E27FC236}">
                <a16:creationId xmlns:a16="http://schemas.microsoft.com/office/drawing/2014/main" id="{014799DF-DFA6-043A-0DD6-24E1D8E99AC6}"/>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9C652EDA-D298-1F2A-BE33-295EFBACF28D}"/>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C1073490-74F1-D834-9FA7-F767047A45BC}"/>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CBBFF96B-84DC-F7F0-58D5-CD389E1E817E}"/>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54836514-4114-8F3C-6858-0E7A70E809F4}"/>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D8B8525-2BCD-F11C-27E5-5B209F0DCD00}"/>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63513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Word"/>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839D4FB5-73F9-8AE4-B9F7-7174B7F8FA08}"/>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027BC943-7AD2-F0B3-E988-A60BC46D082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42CCBF2F-6EA0-6EB3-AE68-D433C3611AED}"/>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BD33B52B-AE4A-3ED6-E207-04B5E5B675C6}"/>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4EC168CD-1314-B639-A361-2088646C5822}"/>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11E5D991-0DFA-E853-A3D7-8AF32E69609D}"/>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98AAA60A-B68F-CB42-D7BB-CCA141E8A064}"/>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9CCC3FAB-1889-6640-0CBF-648B18B464A0}"/>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863B9DE8-89C3-7556-9081-52D93FF5AFC0}"/>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820D45EB-4854-2FFB-B808-E6B9309FDF2E}"/>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94578A95-93F2-12A5-C28C-CCC8750DCD9B}"/>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07D1471D-B6BA-2813-6707-A3092A83DA9C}"/>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F4E078B9-820C-63E7-6F78-B6309A9FFB1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C76D7B7E-95EB-06F8-F653-9A68D8CBA246}"/>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5" name="Oval 44">
            <a:extLst>
              <a:ext uri="{FF2B5EF4-FFF2-40B4-BE49-F238E27FC236}">
                <a16:creationId xmlns:a16="http://schemas.microsoft.com/office/drawing/2014/main" id="{F29C25D8-8333-1DD2-2992-DB425CEC211D}"/>
              </a:ext>
            </a:extLst>
          </p:cNvPr>
          <p:cNvSpPr/>
          <p:nvPr/>
        </p:nvSpPr>
        <p:spPr>
          <a:xfrm>
            <a:off x="3515517"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Oval 39">
            <a:extLst>
              <a:ext uri="{FF2B5EF4-FFF2-40B4-BE49-F238E27FC236}">
                <a16:creationId xmlns:a16="http://schemas.microsoft.com/office/drawing/2014/main" id="{ED7A0968-9EA8-85FF-AF08-DDDA36E838D5}"/>
              </a:ext>
            </a:extLst>
          </p:cNvPr>
          <p:cNvSpPr/>
          <p:nvPr/>
        </p:nvSpPr>
        <p:spPr>
          <a:xfrm>
            <a:off x="1743356" y="3671451"/>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0A9F9932-7412-1C87-A9B1-97382159E3A0}"/>
              </a:ext>
            </a:extLst>
          </p:cNvPr>
          <p:cNvSpPr/>
          <p:nvPr/>
        </p:nvSpPr>
        <p:spPr>
          <a:xfrm>
            <a:off x="2157000" y="3627428"/>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 name="Oval 40">
            <a:extLst>
              <a:ext uri="{FF2B5EF4-FFF2-40B4-BE49-F238E27FC236}">
                <a16:creationId xmlns:a16="http://schemas.microsoft.com/office/drawing/2014/main" id="{AF791AAB-2AA8-9975-1CA0-F5B082DBB4B3}"/>
              </a:ext>
            </a:extLst>
          </p:cNvPr>
          <p:cNvSpPr/>
          <p:nvPr/>
        </p:nvSpPr>
        <p:spPr>
          <a:xfrm>
            <a:off x="2581495" y="3671451"/>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Cube 43">
            <a:extLst>
              <a:ext uri="{FF2B5EF4-FFF2-40B4-BE49-F238E27FC236}">
                <a16:creationId xmlns:a16="http://schemas.microsoft.com/office/drawing/2014/main" id="{483CACAB-5E63-CCF1-402F-13EB13E99BB0}"/>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1F4C26CA-7683-40AA-CBC2-5AFB856098F9}"/>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21D15FAA-0CEE-1311-1B04-25A170CD4922}"/>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04E57991-4F64-79BC-7B0A-542E21C2B7CB}"/>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0C8CDA9C-D4B3-EC08-E69C-504D369A36B7}"/>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F8926A14-885F-64FF-138A-8BFE8C34E779}"/>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86980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Word"/>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4F3DCAFE-72A6-C406-E567-18ED1FED428D}"/>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180EA395-43C0-78A3-C431-805110484736}"/>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F02ECB28-A1FF-991E-4C9A-12B7106927A7}"/>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0BF93A66-025B-9291-4BA0-B9BBE293674A}"/>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5CF61883-07F2-0533-8BFD-B477CC15D011}"/>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9940F96E-7C7B-7695-B165-E434DC0B2940}"/>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CE9D33F7-BAB1-3699-8E18-F88CD166FD68}"/>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F653FAC9-506C-8A6A-3148-5BA2DA7F2F7E}"/>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CF331EE1-9C60-3BAC-8E3C-474E1FB27BA6}"/>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38C31DE1-F1DE-C490-CEAC-E1435B964EED}"/>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61F387B5-9EA3-1039-76DE-3C6A0D4B5B81}"/>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F962D562-C6B4-0C20-A463-9FB578F31173}"/>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4D6EE1CF-2A9E-80D5-70CE-3D9DCF9F9520}"/>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B33C6939-17C0-3BDA-2656-F671E18AA6AC}"/>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5" name="Oval 44">
            <a:extLst>
              <a:ext uri="{FF2B5EF4-FFF2-40B4-BE49-F238E27FC236}">
                <a16:creationId xmlns:a16="http://schemas.microsoft.com/office/drawing/2014/main" id="{A2EF2619-36AD-72DC-BA06-6E800420AF7A}"/>
              </a:ext>
            </a:extLst>
          </p:cNvPr>
          <p:cNvSpPr/>
          <p:nvPr/>
        </p:nvSpPr>
        <p:spPr>
          <a:xfrm>
            <a:off x="3515517"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Oval 39">
            <a:extLst>
              <a:ext uri="{FF2B5EF4-FFF2-40B4-BE49-F238E27FC236}">
                <a16:creationId xmlns:a16="http://schemas.microsoft.com/office/drawing/2014/main" id="{48E2B0F9-7B46-A60B-E73C-78DCA30EC8F2}"/>
              </a:ext>
            </a:extLst>
          </p:cNvPr>
          <p:cNvSpPr/>
          <p:nvPr/>
        </p:nvSpPr>
        <p:spPr>
          <a:xfrm>
            <a:off x="1386004" y="5290447"/>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9A5FF498-FCCF-8718-6973-AD5A1248E256}"/>
              </a:ext>
            </a:extLst>
          </p:cNvPr>
          <p:cNvSpPr/>
          <p:nvPr/>
        </p:nvSpPr>
        <p:spPr>
          <a:xfrm>
            <a:off x="2157000" y="3627428"/>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 name="Oval 40">
            <a:extLst>
              <a:ext uri="{FF2B5EF4-FFF2-40B4-BE49-F238E27FC236}">
                <a16:creationId xmlns:a16="http://schemas.microsoft.com/office/drawing/2014/main" id="{2B06BB82-80F5-F5C7-D9B2-5DABE5DCC40E}"/>
              </a:ext>
            </a:extLst>
          </p:cNvPr>
          <p:cNvSpPr/>
          <p:nvPr/>
        </p:nvSpPr>
        <p:spPr>
          <a:xfrm>
            <a:off x="1626998" y="5292902"/>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Cube 43">
            <a:extLst>
              <a:ext uri="{FF2B5EF4-FFF2-40B4-BE49-F238E27FC236}">
                <a16:creationId xmlns:a16="http://schemas.microsoft.com/office/drawing/2014/main" id="{069898D3-215D-862A-2CF2-0776FAF68075}"/>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3D97A4BE-F1D8-0169-0D8C-CDEE31868435}"/>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3379A6CB-5FB6-A7D2-A989-C9E5DB2DC2BA}"/>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85CE8350-F387-C962-9295-56D10F8F6235}"/>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21EFFC95-3030-CDE4-3D62-5FE32CA98DAC}"/>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7C8F9126-3BC9-379D-ED14-017BF6A328DF}"/>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91308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Word"/>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DD2DDD44-25BB-9328-8853-382F09588440}"/>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3E4F27D6-A905-CACB-7580-DA70264CEA88}"/>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B8859E8F-C325-B7D0-5116-19812F52F65F}"/>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571A6E4A-FA13-0EA4-4220-9A752769523A}"/>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3B892AF7-AFD1-2509-0734-1B38894ED4F0}"/>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B6D49B57-D804-E493-E70D-EA8AB0174905}"/>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699ADDC7-701E-C750-A556-989B18392F13}"/>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69F6DD78-23AF-3A31-D349-689305C7B316}"/>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63E9A811-0CA1-B0B5-201F-B05F0F5E4AF3}"/>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71EE6B2C-E6EF-E9A9-5F84-952C23C220C9}"/>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AFE1C91E-97C2-D0A8-9AFB-9FA41C81E8AE}"/>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F2DC13E5-8A26-F668-1353-0C87F3AE0528}"/>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3471AD70-7D64-1F48-D59A-CF58A9D21CA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1272D6D6-5F5C-9A97-6F47-8186612B7806}"/>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5" name="Oval 44">
            <a:extLst>
              <a:ext uri="{FF2B5EF4-FFF2-40B4-BE49-F238E27FC236}">
                <a16:creationId xmlns:a16="http://schemas.microsoft.com/office/drawing/2014/main" id="{EEAA03DB-8CC4-0786-E145-BBCF6344029E}"/>
              </a:ext>
            </a:extLst>
          </p:cNvPr>
          <p:cNvSpPr/>
          <p:nvPr/>
        </p:nvSpPr>
        <p:spPr>
          <a:xfrm>
            <a:off x="2518843" y="3627428"/>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Oval 39">
            <a:extLst>
              <a:ext uri="{FF2B5EF4-FFF2-40B4-BE49-F238E27FC236}">
                <a16:creationId xmlns:a16="http://schemas.microsoft.com/office/drawing/2014/main" id="{180A600A-44A2-B641-E59A-4E5F4BE35AE0}"/>
              </a:ext>
            </a:extLst>
          </p:cNvPr>
          <p:cNvSpPr/>
          <p:nvPr/>
        </p:nvSpPr>
        <p:spPr>
          <a:xfrm>
            <a:off x="1386004" y="5290447"/>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FEA6280E-2F8B-8C7E-706E-B6BEF5DAC326}"/>
              </a:ext>
            </a:extLst>
          </p:cNvPr>
          <p:cNvSpPr/>
          <p:nvPr/>
        </p:nvSpPr>
        <p:spPr>
          <a:xfrm>
            <a:off x="2157000" y="3627428"/>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 name="Oval 40">
            <a:extLst>
              <a:ext uri="{FF2B5EF4-FFF2-40B4-BE49-F238E27FC236}">
                <a16:creationId xmlns:a16="http://schemas.microsoft.com/office/drawing/2014/main" id="{C5F11949-0461-651C-1D1B-9D563C560DCD}"/>
              </a:ext>
            </a:extLst>
          </p:cNvPr>
          <p:cNvSpPr/>
          <p:nvPr/>
        </p:nvSpPr>
        <p:spPr>
          <a:xfrm>
            <a:off x="1626998" y="5292902"/>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Cube 43">
            <a:extLst>
              <a:ext uri="{FF2B5EF4-FFF2-40B4-BE49-F238E27FC236}">
                <a16:creationId xmlns:a16="http://schemas.microsoft.com/office/drawing/2014/main" id="{25DC39E6-AA93-ABCE-F651-B80C3C3B530A}"/>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D80CF1E5-697F-C86A-E041-D8FFCBB14741}"/>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D037011D-C951-C838-826E-CA38EA6F6D76}"/>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F4F086BB-DEFF-06B6-835D-1280C9AE41FE}"/>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16DCC5A8-4D12-AF53-B446-8DA9CBB321D6}"/>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185B0048-7147-2A5B-5E77-CD4E6FB4C125}"/>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32747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Word"/>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83EAC5CD-BF29-AC9B-F318-CC52D5A88071}"/>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5CC0BA5D-517A-BB69-8E66-D462CBC68CEF}"/>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E69FB9D5-DF9A-5414-B125-2CFA01B3395E}"/>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77AD58E7-8731-1DE1-FAD1-22DC03928D20}"/>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CC85C416-9C67-7A75-FC93-173DD77FF243}"/>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4EC75921-B0B1-81B6-4221-F247AC281242}"/>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B5CB592D-6BC7-7AB5-F18A-9CCA47932658}"/>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A9D7C786-DD58-E087-A103-4309361E68A7}"/>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044EC814-34F7-7D25-1D12-B929F554E0A1}"/>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8468D4C0-ED79-D6CA-0F7F-0A19E4ED20C0}"/>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596AD37F-0DC4-28B9-C1CE-B5C1CE2941B7}"/>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BDFFB389-F19A-4D13-6D09-8F2818895F48}"/>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6496A079-CA13-9BC6-3273-F964B1BABDAF}"/>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203F5B09-6B40-BBDB-000E-FF03A396DDD4}"/>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5" name="Oval 44">
            <a:extLst>
              <a:ext uri="{FF2B5EF4-FFF2-40B4-BE49-F238E27FC236}">
                <a16:creationId xmlns:a16="http://schemas.microsoft.com/office/drawing/2014/main" id="{B0C41631-B497-300C-AFAA-0CF16C0F29D8}"/>
              </a:ext>
            </a:extLst>
          </p:cNvPr>
          <p:cNvSpPr/>
          <p:nvPr/>
        </p:nvSpPr>
        <p:spPr>
          <a:xfrm>
            <a:off x="2610285" y="5290447"/>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Oval 39">
            <a:extLst>
              <a:ext uri="{FF2B5EF4-FFF2-40B4-BE49-F238E27FC236}">
                <a16:creationId xmlns:a16="http://schemas.microsoft.com/office/drawing/2014/main" id="{F614FDE1-26FF-4022-C8B9-BB90286F41E9}"/>
              </a:ext>
            </a:extLst>
          </p:cNvPr>
          <p:cNvSpPr/>
          <p:nvPr/>
        </p:nvSpPr>
        <p:spPr>
          <a:xfrm>
            <a:off x="1386004" y="5290447"/>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Oval 41">
            <a:extLst>
              <a:ext uri="{FF2B5EF4-FFF2-40B4-BE49-F238E27FC236}">
                <a16:creationId xmlns:a16="http://schemas.microsoft.com/office/drawing/2014/main" id="{C15385BB-B161-8704-B351-0E07294722D2}"/>
              </a:ext>
            </a:extLst>
          </p:cNvPr>
          <p:cNvSpPr/>
          <p:nvPr/>
        </p:nvSpPr>
        <p:spPr>
          <a:xfrm>
            <a:off x="2248442" y="5290447"/>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 name="Oval 40">
            <a:extLst>
              <a:ext uri="{FF2B5EF4-FFF2-40B4-BE49-F238E27FC236}">
                <a16:creationId xmlns:a16="http://schemas.microsoft.com/office/drawing/2014/main" id="{C35338BF-3DE2-2912-7A2E-70DBE54CB7A1}"/>
              </a:ext>
            </a:extLst>
          </p:cNvPr>
          <p:cNvSpPr/>
          <p:nvPr/>
        </p:nvSpPr>
        <p:spPr>
          <a:xfrm>
            <a:off x="1626998" y="5292902"/>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Cube 43">
            <a:extLst>
              <a:ext uri="{FF2B5EF4-FFF2-40B4-BE49-F238E27FC236}">
                <a16:creationId xmlns:a16="http://schemas.microsoft.com/office/drawing/2014/main" id="{D533771E-8585-7E23-95B8-088DC55A0BDC}"/>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31EE0E82-5A2C-D6BC-C979-04019AD189BD}"/>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6AFEC9DE-B072-3874-A055-72D4F1672522}"/>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193A0B19-734F-F1D3-5584-EE0F905747C9}"/>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69EE18D8-5CCF-8F1D-9979-4E4379ADE2C5}"/>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97B805B6-FCD4-559A-A804-8F9AE63714CC}"/>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37219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Word"/>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EB3C2FA8-730B-C254-BA20-D74623968792}"/>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2135CC0E-3CB0-2AE4-95BC-12DEBC64CEFD}"/>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B0F2DB6D-78EE-DDDB-E67A-178A6FA6D86F}"/>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7DD23F7D-2D48-D3FC-A768-BE8C6DA370B4}"/>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B5C8E5D0-88F6-3754-C17A-2335F3B11A64}"/>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725D9482-4D78-483C-DD38-40BB52129FB8}"/>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FE308894-9E1C-B281-02ED-F60571C5FB8D}"/>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E5D09E4C-0DDD-DB64-EE56-73C236E0F16E}"/>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9F3BA211-8910-997E-618F-60BC72E99117}"/>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08105906-0E86-FE33-65F1-B6C8D507FCA3}"/>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819C7401-7BEC-EAB7-3DD7-9BABBD972ACE}"/>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7EA0BB97-2462-E356-6642-2662CCC9B014}"/>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71614D32-C006-1F72-C0B1-2EE5DB618867}"/>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2D25D10A-A99C-6E1C-A581-A298E756B0DE}"/>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4" name="Cube 43">
            <a:extLst>
              <a:ext uri="{FF2B5EF4-FFF2-40B4-BE49-F238E27FC236}">
                <a16:creationId xmlns:a16="http://schemas.microsoft.com/office/drawing/2014/main" id="{A9B60A89-F0D7-9853-94AD-7EDFF54688A7}"/>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7C370634-475C-2EF3-54AA-16F2AA07D9F3}"/>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2A209B80-F533-BA88-F269-288609404FE5}"/>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271797AB-867A-D9D4-D6BC-03DB3C0D5752}"/>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565F6F87-3E76-EF33-DD52-2CD135185360}"/>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4E85FF35-D3E5-A0E6-4C99-5DEA34A3D484}"/>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EF56ABE-D0F8-CC86-98AA-43EFA1FA3057}"/>
              </a:ext>
            </a:extLst>
          </p:cNvPr>
          <p:cNvSpPr/>
          <p:nvPr/>
        </p:nvSpPr>
        <p:spPr>
          <a:xfrm>
            <a:off x="1544845" y="2145051"/>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C388857E-56DC-892C-C830-1946944A5337}"/>
              </a:ext>
            </a:extLst>
          </p:cNvPr>
          <p:cNvSpPr/>
          <p:nvPr/>
        </p:nvSpPr>
        <p:spPr>
          <a:xfrm>
            <a:off x="2784541" y="2151453"/>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E2977247-5486-107B-830C-471CDF65F531}"/>
              </a:ext>
            </a:extLst>
          </p:cNvPr>
          <p:cNvSpPr/>
          <p:nvPr/>
        </p:nvSpPr>
        <p:spPr>
          <a:xfrm>
            <a:off x="2164693" y="2152581"/>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98FE0091-B4FA-4C55-C246-83C28FBFEADB}"/>
              </a:ext>
            </a:extLst>
          </p:cNvPr>
          <p:cNvSpPr/>
          <p:nvPr/>
        </p:nvSpPr>
        <p:spPr>
          <a:xfrm>
            <a:off x="3420653"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7364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grpId="0" nodeType="clickEffect">
                                  <p:stCondLst>
                                    <p:cond delay="0"/>
                                  </p:stCondLst>
                                  <p:childTnLst>
                                    <p:animMotion origin="layout" path="M -8.33333E-7 -3.33333E-6 L 0.01341 -0.11921 C 0.01628 -0.14606 0.02044 -0.16041 0.02487 -0.16041 C 0.02982 -0.16041 0.03386 -0.14606 0.03672 -0.11921 L 0.05026 -3.33333E-6 " pathEditMode="relative" rAng="0" ptsTypes="AAAAA">
                                      <p:cBhvr>
                                        <p:cTn id="6" dur="500" fill="hold"/>
                                        <p:tgtEl>
                                          <p:spTgt spid="16"/>
                                        </p:tgtEl>
                                        <p:attrNameLst>
                                          <p:attrName>ppt_x</p:attrName>
                                          <p:attrName>ppt_y</p:attrName>
                                        </p:attrNameLst>
                                      </p:cBhvr>
                                      <p:rCtr x="2513" y="-8032"/>
                                    </p:animMotion>
                                  </p:childTnLst>
                                </p:cTn>
                              </p:par>
                              <p:par>
                                <p:cTn id="7" presetID="37" presetClass="path" presetSubtype="0" accel="50000" decel="50000" fill="hold" grpId="0" nodeType="withEffect">
                                  <p:stCondLst>
                                    <p:cond delay="0"/>
                                  </p:stCondLst>
                                  <p:childTnLst>
                                    <p:animMotion origin="layout" path="M -0.00052 -3.33333E-6 L -0.01445 0.06598 C -0.01732 0.08102 -0.02161 0.08912 -0.02617 0.08912 C -0.03138 0.08912 -0.03554 0.08102 -0.03841 0.06598 L -0.05221 -3.33333E-6 " pathEditMode="relative" rAng="0" ptsTypes="AAAAA">
                                      <p:cBhvr>
                                        <p:cTn id="8" dur="500" fill="hold"/>
                                        <p:tgtEl>
                                          <p:spTgt spid="15"/>
                                        </p:tgtEl>
                                        <p:attrNameLst>
                                          <p:attrName>ppt_x</p:attrName>
                                          <p:attrName>ppt_y</p:attrName>
                                        </p:attrNameLst>
                                      </p:cBhvr>
                                      <p:rCtr x="-2591" y="44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1839A640-F759-322F-8699-AB937EFE2064}"/>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E3DEC163-BF55-1BD9-40F9-5C8D525D90AB}"/>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15E45BE2-ECC0-71C5-2E37-52014C263A08}"/>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34DBB2AC-9DCE-EBC1-591C-6A477D6416EB}"/>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656412C5-D4CC-E2E8-F981-5DE9F90D2891}"/>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5E879CD9-9A50-7694-BAFC-B8B33E6A4970}"/>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1B998FC7-1000-2A97-9051-5D8E98C62099}"/>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32716884-56CA-9488-DCFA-A72D8C7C1D90}"/>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896630CD-71E9-B8AB-F793-805924593615}"/>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09620EEC-373F-9EE4-D8B4-5E1F2AD0E473}"/>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487102CE-3E0A-8DB0-3699-EE8B48D4DBCF}"/>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DFD3036B-E0E5-514D-DA80-C363885CC97F}"/>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A980BB65-EA74-F52C-4247-F3B25665099C}"/>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5E11CE8D-EDD1-2899-770F-710E037BB9E6}"/>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4" name="Cube 43">
            <a:extLst>
              <a:ext uri="{FF2B5EF4-FFF2-40B4-BE49-F238E27FC236}">
                <a16:creationId xmlns:a16="http://schemas.microsoft.com/office/drawing/2014/main" id="{7FC9B12E-1BF4-23BF-7709-E6772B92C131}"/>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B75B3058-6191-A2CF-E3B1-61D2FB269EAB}"/>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FD577A69-9B8D-8793-0EEF-75639C7B273F}"/>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1FC50685-4B85-0812-A923-A4D8541AFCCE}"/>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A137ECA5-061D-7E13-99BA-96C474894696}"/>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4AB008EC-2118-9442-EF46-D717DBB2A636}"/>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8AB5739-A3E9-170A-1702-2BD8AACD204D}"/>
              </a:ext>
            </a:extLst>
          </p:cNvPr>
          <p:cNvSpPr/>
          <p:nvPr/>
        </p:nvSpPr>
        <p:spPr>
          <a:xfrm>
            <a:off x="1544845" y="2145051"/>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DE7CF094-9204-F37F-4DC3-791258BFC5CD}"/>
              </a:ext>
            </a:extLst>
          </p:cNvPr>
          <p:cNvSpPr/>
          <p:nvPr/>
        </p:nvSpPr>
        <p:spPr>
          <a:xfrm>
            <a:off x="2151423" y="2145051"/>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9BDB99FF-4D62-F074-7ED4-D87189052061}"/>
              </a:ext>
            </a:extLst>
          </p:cNvPr>
          <p:cNvSpPr/>
          <p:nvPr/>
        </p:nvSpPr>
        <p:spPr>
          <a:xfrm>
            <a:off x="2792486" y="2145051"/>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C1F186B9-392B-A14C-90D5-B63B47E99898}"/>
              </a:ext>
            </a:extLst>
          </p:cNvPr>
          <p:cNvSpPr/>
          <p:nvPr/>
        </p:nvSpPr>
        <p:spPr>
          <a:xfrm>
            <a:off x="3420653"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15798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085ACF2B-3AE9-F5F3-D124-F0C152D2075A}"/>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E2403DC7-6153-3C37-17B2-8C4EF2363BFC}"/>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2738F5B0-E8D6-BFB7-48FF-F24A8D8FED2E}"/>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EAC24114-D777-3FB8-B888-E175563FCC26}"/>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253DA2D7-690D-ACBB-030F-61B2D2118924}"/>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07F6FF5D-09C9-A219-161E-47EB39D1D168}"/>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537247C9-72CF-B323-26E0-2811E2372C2D}"/>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01547321-62B1-06B4-FD03-869FABC464EB}"/>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3CD65C30-19E5-7ADA-04DE-3B113C2A978D}"/>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0CEC1AE7-0AC8-FD15-6D3C-341F31607C19}"/>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F4966101-DACE-E80C-6689-E670E52C6724}"/>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CE1C6C31-FC19-960E-45F7-E50CA99E61B8}"/>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58E100A4-7626-9ECC-B383-DFC9663B615A}"/>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B5BDE997-4367-1763-E5BC-192F512A008B}"/>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4" name="Cube 43">
            <a:extLst>
              <a:ext uri="{FF2B5EF4-FFF2-40B4-BE49-F238E27FC236}">
                <a16:creationId xmlns:a16="http://schemas.microsoft.com/office/drawing/2014/main" id="{F60EBE06-F575-1E92-A231-EEE9CD4FEEEA}"/>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7F4D574D-8197-122D-A2B8-EE3EBD9B8C56}"/>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34DEF3A6-5939-924F-AECF-00B020EF580C}"/>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E3875E93-4983-DB28-30FC-B3115FDBCCF9}"/>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085FA3C2-AA12-C7F9-3949-0C7FECD1A853}"/>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BA376A3D-992E-88FE-6B56-A073DE6B0022}"/>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8E1441F-0CFD-E71A-77C8-F5064F056EE9}"/>
              </a:ext>
            </a:extLst>
          </p:cNvPr>
          <p:cNvSpPr/>
          <p:nvPr/>
        </p:nvSpPr>
        <p:spPr>
          <a:xfrm>
            <a:off x="11119167" y="5768362"/>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E1F7CAEA-0542-1620-E7F1-0230B78D2DA4}"/>
              </a:ext>
            </a:extLst>
          </p:cNvPr>
          <p:cNvSpPr/>
          <p:nvPr/>
        </p:nvSpPr>
        <p:spPr>
          <a:xfrm>
            <a:off x="9830913"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5ADBEE33-7CAC-5623-2FF8-1855B6236665}"/>
              </a:ext>
            </a:extLst>
          </p:cNvPr>
          <p:cNvSpPr/>
          <p:nvPr/>
        </p:nvSpPr>
        <p:spPr>
          <a:xfrm>
            <a:off x="10633900" y="576041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EDCE1ABD-4591-EB3C-8264-DE50E9BCD0D6}"/>
              </a:ext>
            </a:extLst>
          </p:cNvPr>
          <p:cNvSpPr/>
          <p:nvPr/>
        </p:nvSpPr>
        <p:spPr>
          <a:xfrm>
            <a:off x="10210823" y="5760794"/>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C24AACE-C4BA-A364-72DF-2922821C9FDE}"/>
              </a:ext>
            </a:extLst>
          </p:cNvPr>
          <p:cNvSpPr/>
          <p:nvPr/>
        </p:nvSpPr>
        <p:spPr>
          <a:xfrm>
            <a:off x="9850077" y="5750813"/>
            <a:ext cx="1829444" cy="621398"/>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4F7B50B-0B2A-1EA4-EB2B-5125782F8566}"/>
              </a:ext>
            </a:extLst>
          </p:cNvPr>
          <p:cNvSpPr/>
          <p:nvPr/>
        </p:nvSpPr>
        <p:spPr>
          <a:xfrm>
            <a:off x="1544845" y="2145051"/>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Oval 17">
            <a:extLst>
              <a:ext uri="{FF2B5EF4-FFF2-40B4-BE49-F238E27FC236}">
                <a16:creationId xmlns:a16="http://schemas.microsoft.com/office/drawing/2014/main" id="{5FE3C483-8982-AFDB-16D6-5504ED0E7C11}"/>
              </a:ext>
            </a:extLst>
          </p:cNvPr>
          <p:cNvSpPr/>
          <p:nvPr/>
        </p:nvSpPr>
        <p:spPr>
          <a:xfrm>
            <a:off x="2151423" y="2145051"/>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Oval 18">
            <a:extLst>
              <a:ext uri="{FF2B5EF4-FFF2-40B4-BE49-F238E27FC236}">
                <a16:creationId xmlns:a16="http://schemas.microsoft.com/office/drawing/2014/main" id="{C8E3904D-70C8-0457-2DB8-D0BC0855E06E}"/>
              </a:ext>
            </a:extLst>
          </p:cNvPr>
          <p:cNvSpPr/>
          <p:nvPr/>
        </p:nvSpPr>
        <p:spPr>
          <a:xfrm>
            <a:off x="2792486" y="2145051"/>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66F8489C-FBD6-2CBD-4B43-BCB9609DDF4E}"/>
              </a:ext>
            </a:extLst>
          </p:cNvPr>
          <p:cNvSpPr/>
          <p:nvPr/>
        </p:nvSpPr>
        <p:spPr>
          <a:xfrm>
            <a:off x="3420653" y="2145051"/>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107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1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A0F804B2-FB86-122B-72D7-71F48609048E}"/>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EDB0CEAF-C117-872B-89C0-44D568BBE355}"/>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D929F616-00D1-BA06-D830-EC8D4C6F13DA}"/>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62B55F91-2DE3-32C8-0D34-09A713EC58EA}"/>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870596D3-5CB7-DD13-F351-D0413A631E9B}"/>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ACCA4450-7674-2BC3-DB43-8927DF1A674C}"/>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679171FC-DFFE-18FA-F81E-E04C4C117020}"/>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4A6E06BE-30BE-B93F-19B9-B3791512C540}"/>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E54A808B-0F9A-6F64-B69B-9A24D5DB7F0A}"/>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56124430-9F74-3383-4EDE-7254E5FEE226}"/>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2BC85FF4-6727-C74F-7B68-043099598489}"/>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00A9B299-149C-A108-820C-55721C6B7DED}"/>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CF3A6882-A7EE-147B-C841-825110478B15}"/>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0C0C27AC-A0A0-C6A9-83EF-8CFFB018CA18}"/>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4" name="Cube 43">
            <a:extLst>
              <a:ext uri="{FF2B5EF4-FFF2-40B4-BE49-F238E27FC236}">
                <a16:creationId xmlns:a16="http://schemas.microsoft.com/office/drawing/2014/main" id="{A9FC0AFF-9893-2362-9531-72E4102A3ACD}"/>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80883B7A-B2F1-C78B-0D9E-E4053F7B9E87}"/>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03400021-EBEA-059C-27F6-CA6A5DB62A59}"/>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6A7E141A-412A-4508-DB49-87CDE0744A68}"/>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BB66E48B-375D-1FD8-4520-5AC19EDF2F71}"/>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DABF5EE1-B264-A32D-637E-AF20FF0B5156}"/>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768630B-B711-E8E4-76B7-FAD9C6BAA531}"/>
              </a:ext>
            </a:extLst>
          </p:cNvPr>
          <p:cNvSpPr/>
          <p:nvPr/>
        </p:nvSpPr>
        <p:spPr>
          <a:xfrm>
            <a:off x="11119167" y="5768362"/>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C7186B4C-F6A2-2CBD-979A-D407A71A6D3E}"/>
              </a:ext>
            </a:extLst>
          </p:cNvPr>
          <p:cNvSpPr/>
          <p:nvPr/>
        </p:nvSpPr>
        <p:spPr>
          <a:xfrm>
            <a:off x="9830913"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9EA42080-C1F1-9DC7-6A53-AC462E5ED0B9}"/>
              </a:ext>
            </a:extLst>
          </p:cNvPr>
          <p:cNvSpPr/>
          <p:nvPr/>
        </p:nvSpPr>
        <p:spPr>
          <a:xfrm>
            <a:off x="10633900" y="576041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6F8D0269-9E5F-0CCB-37C1-D1DAA161B201}"/>
              </a:ext>
            </a:extLst>
          </p:cNvPr>
          <p:cNvSpPr/>
          <p:nvPr/>
        </p:nvSpPr>
        <p:spPr>
          <a:xfrm>
            <a:off x="10210823" y="5760794"/>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B0CD435B-3C69-6C68-985F-378D3E6B298F}"/>
              </a:ext>
            </a:extLst>
          </p:cNvPr>
          <p:cNvSpPr/>
          <p:nvPr/>
        </p:nvSpPr>
        <p:spPr>
          <a:xfrm>
            <a:off x="9850077" y="5750813"/>
            <a:ext cx="1829444" cy="621398"/>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9925C57-D0C9-A7B0-0043-C01905A38E82}"/>
              </a:ext>
            </a:extLst>
          </p:cNvPr>
          <p:cNvSpPr/>
          <p:nvPr/>
        </p:nvSpPr>
        <p:spPr>
          <a:xfrm>
            <a:off x="1514741" y="5140430"/>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Oval 17">
            <a:extLst>
              <a:ext uri="{FF2B5EF4-FFF2-40B4-BE49-F238E27FC236}">
                <a16:creationId xmlns:a16="http://schemas.microsoft.com/office/drawing/2014/main" id="{0C6A708C-AE66-A809-1D1D-B725A3FE7DFC}"/>
              </a:ext>
            </a:extLst>
          </p:cNvPr>
          <p:cNvSpPr/>
          <p:nvPr/>
        </p:nvSpPr>
        <p:spPr>
          <a:xfrm>
            <a:off x="2121319" y="5140430"/>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Oval 18">
            <a:extLst>
              <a:ext uri="{FF2B5EF4-FFF2-40B4-BE49-F238E27FC236}">
                <a16:creationId xmlns:a16="http://schemas.microsoft.com/office/drawing/2014/main" id="{F73FCAD0-ED92-9155-4035-F74295F42343}"/>
              </a:ext>
            </a:extLst>
          </p:cNvPr>
          <p:cNvSpPr/>
          <p:nvPr/>
        </p:nvSpPr>
        <p:spPr>
          <a:xfrm>
            <a:off x="2762382" y="5140430"/>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D4AF637B-ED97-F2EA-5B5F-FBF8E382E41B}"/>
              </a:ext>
            </a:extLst>
          </p:cNvPr>
          <p:cNvSpPr/>
          <p:nvPr/>
        </p:nvSpPr>
        <p:spPr>
          <a:xfrm>
            <a:off x="3390549" y="5140430"/>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19127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DF80B9F2-31C7-8BE0-E71F-60767D8167F9}"/>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3D68A026-9DC5-4B7B-9A44-7E4BB7C1FD2E}"/>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Preserves Fairness</a:t>
            </a:r>
            <a:endParaRPr dirty="0"/>
          </a:p>
        </p:txBody>
      </p:sp>
      <p:sp>
        <p:nvSpPr>
          <p:cNvPr id="2" name="TextBox 1">
            <a:extLst>
              <a:ext uri="{FF2B5EF4-FFF2-40B4-BE49-F238E27FC236}">
                <a16:creationId xmlns:a16="http://schemas.microsoft.com/office/drawing/2014/main" id="{20B0E3CC-5F19-221E-1F35-E3511C6466FA}"/>
              </a:ext>
            </a:extLst>
          </p:cNvPr>
          <p:cNvSpPr txBox="1"/>
          <p:nvPr/>
        </p:nvSpPr>
        <p:spPr>
          <a:xfrm>
            <a:off x="8391294" y="3138257"/>
            <a:ext cx="1363529" cy="523220"/>
          </a:xfrm>
          <a:prstGeom prst="rect">
            <a:avLst/>
          </a:prstGeom>
          <a:solidFill>
            <a:schemeClr val="accent6">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FIFO</a:t>
            </a:r>
          </a:p>
        </p:txBody>
      </p:sp>
      <p:sp>
        <p:nvSpPr>
          <p:cNvPr id="22" name="TextBox 21">
            <a:extLst>
              <a:ext uri="{FF2B5EF4-FFF2-40B4-BE49-F238E27FC236}">
                <a16:creationId xmlns:a16="http://schemas.microsoft.com/office/drawing/2014/main" id="{4A49C926-C388-A926-8BA0-4E0E15CA9ACA}"/>
              </a:ext>
            </a:extLst>
          </p:cNvPr>
          <p:cNvSpPr txBox="1"/>
          <p:nvPr/>
        </p:nvSpPr>
        <p:spPr>
          <a:xfrm>
            <a:off x="10344531" y="3138257"/>
            <a:ext cx="1363528" cy="523220"/>
          </a:xfrm>
          <a:prstGeom prst="rect">
            <a:avLst/>
          </a:prstGeom>
          <a:solidFill>
            <a:schemeClr val="accent4">
              <a:lumMod val="60000"/>
              <a:lumOff val="4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uLnTx/>
                <a:uFillTx/>
                <a:latin typeface="Aptos" panose="02110004020202020204"/>
                <a:ea typeface="+mn-ea"/>
                <a:cs typeface="+mn-cs"/>
              </a:rPr>
              <a:t>S</a:t>
            </a:r>
            <a:r>
              <a:rPr kumimoji="0" lang="en-US" sz="2800" b="0" i="0" u="none" strike="noStrike" kern="1200" cap="none" spc="0" normalizeH="0" baseline="-25000" noProof="0" dirty="0">
                <a:ln>
                  <a:noFill/>
                </a:ln>
                <a:solidFill>
                  <a:srgbClr val="FF0000"/>
                </a:solidFill>
                <a:effectLst/>
                <a:uLnTx/>
                <a:uFillTx/>
                <a:latin typeface="Aptos" panose="02110004020202020204"/>
                <a:ea typeface="+mn-ea"/>
                <a:cs typeface="+mn-cs"/>
              </a:rPr>
              <a:t>LOQ</a:t>
            </a:r>
          </a:p>
        </p:txBody>
      </p:sp>
      <p:sp>
        <p:nvSpPr>
          <p:cNvPr id="23" name="TextBox 22">
            <a:extLst>
              <a:ext uri="{FF2B5EF4-FFF2-40B4-BE49-F238E27FC236}">
                <a16:creationId xmlns:a16="http://schemas.microsoft.com/office/drawing/2014/main" id="{C5D25F65-817C-463B-394E-EE0D7FFAA9C3}"/>
              </a:ext>
            </a:extLst>
          </p:cNvPr>
          <p:cNvSpPr txBox="1"/>
          <p:nvPr/>
        </p:nvSpPr>
        <p:spPr>
          <a:xfrm>
            <a:off x="9737670" y="3148231"/>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4" name="TextBox 23">
            <a:extLst>
              <a:ext uri="{FF2B5EF4-FFF2-40B4-BE49-F238E27FC236}">
                <a16:creationId xmlns:a16="http://schemas.microsoft.com/office/drawing/2014/main" id="{77643F57-BBA0-2E3F-B062-C260D9C4996D}"/>
              </a:ext>
            </a:extLst>
          </p:cNvPr>
          <p:cNvSpPr txBox="1"/>
          <p:nvPr/>
        </p:nvSpPr>
        <p:spPr>
          <a:xfrm>
            <a:off x="8919971" y="461721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00"/>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00"/>
                </a:highlight>
                <a:uLnTx/>
                <a:uFillTx/>
                <a:latin typeface="Aptos" panose="02110004020202020204"/>
                <a:ea typeface="+mn-ea"/>
                <a:cs typeface="+mn-cs"/>
              </a:rPr>
              <a:t>FIFO</a:t>
            </a:r>
          </a:p>
        </p:txBody>
      </p:sp>
      <p:sp>
        <p:nvSpPr>
          <p:cNvPr id="25" name="TextBox 24">
            <a:extLst>
              <a:ext uri="{FF2B5EF4-FFF2-40B4-BE49-F238E27FC236}">
                <a16:creationId xmlns:a16="http://schemas.microsoft.com/office/drawing/2014/main" id="{71813EC7-FD11-AAF9-AB28-8260FD10E641}"/>
              </a:ext>
            </a:extLst>
          </p:cNvPr>
          <p:cNvSpPr txBox="1"/>
          <p:nvPr/>
        </p:nvSpPr>
        <p:spPr>
          <a:xfrm>
            <a:off x="10315416" y="4579470"/>
            <a:ext cx="10280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0000"/>
                </a:solidFill>
                <a:effectLst/>
                <a:highlight>
                  <a:srgbClr val="00FFFF"/>
                </a:highlight>
                <a:uLnTx/>
                <a:uFillTx/>
                <a:latin typeface="Aptos" panose="02110004020202020204"/>
                <a:ea typeface="+mn-ea"/>
                <a:cs typeface="+mn-cs"/>
              </a:rPr>
              <a:t>I</a:t>
            </a:r>
            <a:r>
              <a:rPr kumimoji="0" lang="en-US" sz="2800" b="0" i="0" u="none" strike="noStrike" kern="1200" cap="none" spc="0" normalizeH="0" baseline="-25000" noProof="0" dirty="0">
                <a:ln>
                  <a:noFill/>
                </a:ln>
                <a:solidFill>
                  <a:srgbClr val="FF0000"/>
                </a:solidFill>
                <a:effectLst/>
                <a:highlight>
                  <a:srgbClr val="00FFFF"/>
                </a:highlight>
                <a:uLnTx/>
                <a:uFillTx/>
                <a:latin typeface="Aptos" panose="02110004020202020204"/>
                <a:ea typeface="+mn-ea"/>
                <a:cs typeface="+mn-cs"/>
              </a:rPr>
              <a:t>LOQ</a:t>
            </a:r>
          </a:p>
        </p:txBody>
      </p:sp>
      <p:sp>
        <p:nvSpPr>
          <p:cNvPr id="26" name="TextBox 25">
            <a:extLst>
              <a:ext uri="{FF2B5EF4-FFF2-40B4-BE49-F238E27FC236}">
                <a16:creationId xmlns:a16="http://schemas.microsoft.com/office/drawing/2014/main" id="{302821E5-9756-9C98-8740-374705E7DE76}"/>
              </a:ext>
            </a:extLst>
          </p:cNvPr>
          <p:cNvSpPr txBox="1"/>
          <p:nvPr/>
        </p:nvSpPr>
        <p:spPr>
          <a:xfrm>
            <a:off x="9871887" y="4627184"/>
            <a:ext cx="52519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6" name="Rectangle 35">
            <a:extLst>
              <a:ext uri="{FF2B5EF4-FFF2-40B4-BE49-F238E27FC236}">
                <a16:creationId xmlns:a16="http://schemas.microsoft.com/office/drawing/2014/main" id="{83374A0A-E503-CCC9-9E94-9E39F1AC4947}"/>
              </a:ext>
            </a:extLst>
          </p:cNvPr>
          <p:cNvSpPr/>
          <p:nvPr/>
        </p:nvSpPr>
        <p:spPr>
          <a:xfrm>
            <a:off x="8177710" y="2282911"/>
            <a:ext cx="3644549" cy="1598972"/>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3064E9FF-6F0C-366E-2EDE-716DA5BE058E}"/>
              </a:ext>
            </a:extLst>
          </p:cNvPr>
          <p:cNvSpPr txBox="1"/>
          <p:nvPr/>
        </p:nvSpPr>
        <p:spPr>
          <a:xfrm>
            <a:off x="8873691" y="2282909"/>
            <a:ext cx="259792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Preserves Fairness</a:t>
            </a:r>
          </a:p>
        </p:txBody>
      </p:sp>
      <p:sp>
        <p:nvSpPr>
          <p:cNvPr id="28" name="Rectangle 27">
            <a:extLst>
              <a:ext uri="{FF2B5EF4-FFF2-40B4-BE49-F238E27FC236}">
                <a16:creationId xmlns:a16="http://schemas.microsoft.com/office/drawing/2014/main" id="{F82EC859-A25E-FB38-6356-163C42EA3537}"/>
              </a:ext>
            </a:extLst>
          </p:cNvPr>
          <p:cNvSpPr/>
          <p:nvPr/>
        </p:nvSpPr>
        <p:spPr>
          <a:xfrm>
            <a:off x="7339213" y="4439427"/>
            <a:ext cx="4765154" cy="1020297"/>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386BD719-3C02-675E-8252-D08435344FE6}"/>
              </a:ext>
            </a:extLst>
          </p:cNvPr>
          <p:cNvSpPr txBox="1"/>
          <p:nvPr/>
        </p:nvSpPr>
        <p:spPr>
          <a:xfrm>
            <a:off x="7641297" y="5121170"/>
            <a:ext cx="54064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Room for improving performance with scheduling</a:t>
            </a:r>
          </a:p>
        </p:txBody>
      </p:sp>
      <p:graphicFrame>
        <p:nvGraphicFramePr>
          <p:cNvPr id="38" name="Table 37">
            <a:extLst>
              <a:ext uri="{FF2B5EF4-FFF2-40B4-BE49-F238E27FC236}">
                <a16:creationId xmlns:a16="http://schemas.microsoft.com/office/drawing/2014/main" id="{2A0881F3-F842-DA8F-E784-B436808A6F30}"/>
              </a:ext>
            </a:extLst>
          </p:cNvPr>
          <p:cNvGraphicFramePr>
            <a:graphicFrameLocks noGrp="1"/>
          </p:cNvGraphicFramePr>
          <p:nvPr/>
        </p:nvGraphicFramePr>
        <p:xfrm>
          <a:off x="0" y="6553704"/>
          <a:ext cx="12192000" cy="3983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418160432"/>
                    </a:ext>
                  </a:extLst>
                </a:gridCol>
                <a:gridCol w="4064000">
                  <a:extLst>
                    <a:ext uri="{9D8B030D-6E8A-4147-A177-3AD203B41FA5}">
                      <a16:colId xmlns:a16="http://schemas.microsoft.com/office/drawing/2014/main" val="2777814822"/>
                    </a:ext>
                  </a:extLst>
                </a:gridCol>
                <a:gridCol w="4064000">
                  <a:extLst>
                    <a:ext uri="{9D8B030D-6E8A-4147-A177-3AD203B41FA5}">
                      <a16:colId xmlns:a16="http://schemas.microsoft.com/office/drawing/2014/main" val="4282663529"/>
                    </a:ext>
                  </a:extLst>
                </a:gridCol>
              </a:tblGrid>
              <a:tr h="398321">
                <a:tc>
                  <a:txBody>
                    <a:bodyPr/>
                    <a:lstStyle/>
                    <a:p>
                      <a:r>
                        <a:rPr lang="en-US" sz="1800" dirty="0">
                          <a:solidFill>
                            <a:schemeClr val="bg1"/>
                          </a:solidFill>
                        </a:rPr>
                        <a:t>Definitions</a:t>
                      </a:r>
                    </a:p>
                  </a:txBody>
                  <a:tcPr>
                    <a:solidFill>
                      <a:schemeClr val="accent1"/>
                    </a:solidFill>
                  </a:tcPr>
                </a:tc>
                <a:tc>
                  <a:txBody>
                    <a:bodyPr/>
                    <a:lstStyle/>
                    <a:p>
                      <a:r>
                        <a:rPr lang="en-US" sz="1800" dirty="0"/>
                        <a:t>Outbound</a:t>
                      </a:r>
                    </a:p>
                  </a:txBody>
                  <a:tcPr/>
                </a:tc>
                <a:tc>
                  <a:txBody>
                    <a:bodyPr/>
                    <a:lstStyle/>
                    <a:p>
                      <a:r>
                        <a:rPr lang="en-US" sz="1800" dirty="0">
                          <a:solidFill>
                            <a:schemeClr val="tx1"/>
                          </a:solidFill>
                        </a:rPr>
                        <a:t>Inbound: </a:t>
                      </a:r>
                      <a:r>
                        <a:rPr lang="en-US" sz="1800" b="1" dirty="0">
                          <a:solidFill>
                            <a:schemeClr val="tx1"/>
                          </a:solidFill>
                        </a:rPr>
                        <a:t>Sequencer + </a:t>
                      </a:r>
                      <a:r>
                        <a:rPr lang="en-US" sz="1800" b="1" dirty="0">
                          <a:solidFill>
                            <a:srgbClr val="FF0000"/>
                          </a:solidFill>
                        </a:rPr>
                        <a:t>LOQ</a:t>
                      </a:r>
                      <a:endParaRPr lang="en-US" sz="1800" dirty="0">
                        <a:solidFill>
                          <a:srgbClr val="FF0000"/>
                        </a:solidFill>
                      </a:endParaRPr>
                    </a:p>
                  </a:txBody>
                  <a:tcPr>
                    <a:solidFill>
                      <a:schemeClr val="accent6">
                        <a:lumMod val="60000"/>
                        <a:lumOff val="40000"/>
                      </a:schemeClr>
                    </a:solidFill>
                  </a:tcPr>
                </a:tc>
                <a:extLst>
                  <a:ext uri="{0D108BD9-81ED-4DB2-BD59-A6C34878D82A}">
                    <a16:rowId xmlns:a16="http://schemas.microsoft.com/office/drawing/2014/main" val="2922337572"/>
                  </a:ext>
                </a:extLst>
              </a:tr>
            </a:tbl>
          </a:graphicData>
        </a:graphic>
      </p:graphicFrame>
      <p:sp>
        <p:nvSpPr>
          <p:cNvPr id="39" name="Rounded Rectangle 38">
            <a:extLst>
              <a:ext uri="{FF2B5EF4-FFF2-40B4-BE49-F238E27FC236}">
                <a16:creationId xmlns:a16="http://schemas.microsoft.com/office/drawing/2014/main" id="{014206D5-FD18-4F58-65FB-9252EDE55B87}"/>
              </a:ext>
            </a:extLst>
          </p:cNvPr>
          <p:cNvSpPr/>
          <p:nvPr/>
        </p:nvSpPr>
        <p:spPr>
          <a:xfrm>
            <a:off x="8459818" y="109091"/>
            <a:ext cx="3644549" cy="1875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Key Idea: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Separate critical and non-critical orders using the mid-price</a:t>
            </a:r>
          </a:p>
        </p:txBody>
      </p:sp>
      <p:sp>
        <p:nvSpPr>
          <p:cNvPr id="44" name="Cube 43">
            <a:extLst>
              <a:ext uri="{FF2B5EF4-FFF2-40B4-BE49-F238E27FC236}">
                <a16:creationId xmlns:a16="http://schemas.microsoft.com/office/drawing/2014/main" id="{A4253E96-F679-05D0-AFA1-B0C8E346C57D}"/>
              </a:ext>
            </a:extLst>
          </p:cNvPr>
          <p:cNvSpPr/>
          <p:nvPr/>
        </p:nvSpPr>
        <p:spPr>
          <a:xfrm>
            <a:off x="1825022" y="3215996"/>
            <a:ext cx="1594613" cy="1331773"/>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Exchange Algorithm</a:t>
            </a:r>
          </a:p>
        </p:txBody>
      </p:sp>
      <p:sp>
        <p:nvSpPr>
          <p:cNvPr id="3" name="Oval 2">
            <a:extLst>
              <a:ext uri="{FF2B5EF4-FFF2-40B4-BE49-F238E27FC236}">
                <a16:creationId xmlns:a16="http://schemas.microsoft.com/office/drawing/2014/main" id="{AAB6DF61-852C-7D28-B2DE-E63CD719B456}"/>
              </a:ext>
            </a:extLst>
          </p:cNvPr>
          <p:cNvSpPr/>
          <p:nvPr/>
        </p:nvSpPr>
        <p:spPr>
          <a:xfrm>
            <a:off x="7408347"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EC5B9641-EE36-3E5A-604E-FB5443E59A68}"/>
              </a:ext>
            </a:extLst>
          </p:cNvPr>
          <p:cNvSpPr/>
          <p:nvPr/>
        </p:nvSpPr>
        <p:spPr>
          <a:xfrm>
            <a:off x="8044459" y="5781329"/>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4383A1FA-D0B5-D2B7-0A04-D9CFA9DCFB89}"/>
              </a:ext>
            </a:extLst>
          </p:cNvPr>
          <p:cNvSpPr/>
          <p:nvPr/>
        </p:nvSpPr>
        <p:spPr>
          <a:xfrm>
            <a:off x="7718842" y="578132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C157CF27-66E1-DC06-E7C7-F1E4EEFA4482}"/>
              </a:ext>
            </a:extLst>
          </p:cNvPr>
          <p:cNvSpPr/>
          <p:nvPr/>
        </p:nvSpPr>
        <p:spPr>
          <a:xfrm>
            <a:off x="8400394" y="5781329"/>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9A8C706F-E5CE-C8C8-EEDB-9F182F760892}"/>
              </a:ext>
            </a:extLst>
          </p:cNvPr>
          <p:cNvSpPr/>
          <p:nvPr/>
        </p:nvSpPr>
        <p:spPr>
          <a:xfrm>
            <a:off x="7339213" y="5770775"/>
            <a:ext cx="1621535" cy="611792"/>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1201713-1480-0A40-B9C9-9144F82B02E9}"/>
              </a:ext>
            </a:extLst>
          </p:cNvPr>
          <p:cNvSpPr/>
          <p:nvPr/>
        </p:nvSpPr>
        <p:spPr>
          <a:xfrm>
            <a:off x="11119167" y="5768362"/>
            <a:ext cx="560354" cy="611792"/>
          </a:xfrm>
          <a:prstGeom prst="ellipse">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803C689B-9C0D-B13E-2579-F12807B95E5A}"/>
              </a:ext>
            </a:extLst>
          </p:cNvPr>
          <p:cNvSpPr/>
          <p:nvPr/>
        </p:nvSpPr>
        <p:spPr>
          <a:xfrm>
            <a:off x="9830913" y="5770775"/>
            <a:ext cx="560354" cy="61179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9E779DD7-3855-D06B-6F51-95B9D88E689B}"/>
              </a:ext>
            </a:extLst>
          </p:cNvPr>
          <p:cNvSpPr/>
          <p:nvPr/>
        </p:nvSpPr>
        <p:spPr>
          <a:xfrm>
            <a:off x="10633900" y="5760419"/>
            <a:ext cx="560354" cy="611792"/>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0816C03E-4A90-32E2-45DC-AB0D687B610F}"/>
              </a:ext>
            </a:extLst>
          </p:cNvPr>
          <p:cNvSpPr/>
          <p:nvPr/>
        </p:nvSpPr>
        <p:spPr>
          <a:xfrm>
            <a:off x="10210823" y="5760794"/>
            <a:ext cx="560354" cy="611792"/>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7D503221-C7CA-2623-8131-3A2AAACC157F}"/>
              </a:ext>
            </a:extLst>
          </p:cNvPr>
          <p:cNvSpPr/>
          <p:nvPr/>
        </p:nvSpPr>
        <p:spPr>
          <a:xfrm>
            <a:off x="9850077" y="5750813"/>
            <a:ext cx="1829444" cy="621398"/>
          </a:xfrm>
          <a:prstGeom prst="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01A2BAA-19F1-17B8-660E-F56A05259F72}"/>
              </a:ext>
            </a:extLst>
          </p:cNvPr>
          <p:cNvSpPr/>
          <p:nvPr/>
        </p:nvSpPr>
        <p:spPr>
          <a:xfrm>
            <a:off x="325313" y="2648986"/>
            <a:ext cx="6663253" cy="2501418"/>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LOQ accounts for how exchange algorithm works and only reorders the orders if the output wouldn’t change, while reducing idle time for the exchange server</a:t>
            </a:r>
          </a:p>
        </p:txBody>
      </p:sp>
    </p:spTree>
    <p:extLst>
      <p:ext uri="{BB962C8B-B14F-4D97-AF65-F5344CB8AC3E}">
        <p14:creationId xmlns:p14="http://schemas.microsoft.com/office/powerpoint/2010/main" val="39181233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Shape 413">
          <a:extLst>
            <a:ext uri="{FF2B5EF4-FFF2-40B4-BE49-F238E27FC236}">
              <a16:creationId xmlns:a16="http://schemas.microsoft.com/office/drawing/2014/main" id="{80B1D0AF-ACD7-AD68-7194-8FDC3F1F000C}"/>
            </a:ext>
          </a:extLst>
        </p:cNvPr>
        <p:cNvGrpSpPr/>
        <p:nvPr/>
      </p:nvGrpSpPr>
      <p:grpSpPr>
        <a:xfrm>
          <a:off x="0" y="0"/>
          <a:ext cx="0" cy="0"/>
          <a:chOff x="0" y="0"/>
          <a:chExt cx="0" cy="0"/>
        </a:xfrm>
      </p:grpSpPr>
      <p:sp>
        <p:nvSpPr>
          <p:cNvPr id="419" name="Freeform: Shape 418">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1" name="Freeform: Shape 420">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4" name="Google Shape;414;p36">
            <a:extLst>
              <a:ext uri="{FF2B5EF4-FFF2-40B4-BE49-F238E27FC236}">
                <a16:creationId xmlns:a16="http://schemas.microsoft.com/office/drawing/2014/main" id="{C8EA5209-D748-B465-BECE-ABB202854B30}"/>
              </a:ext>
            </a:extLst>
          </p:cNvPr>
          <p:cNvSpPr txBox="1">
            <a:spLocks noGrp="1"/>
          </p:cNvSpPr>
          <p:nvPr>
            <p:ph type="title"/>
          </p:nvPr>
        </p:nvSpPr>
        <p:spPr>
          <a:xfrm>
            <a:off x="2555631" y="1441938"/>
            <a:ext cx="7080738" cy="3974124"/>
          </a:xfrm>
        </p:spPr>
        <p:txBody>
          <a:bodyPr spcFirstLastPara="1" vert="horz" lIns="91440" tIns="45720" rIns="91440" bIns="45720" rtlCol="0" anchor="ctr" anchorCtr="0">
            <a:normAutofit/>
          </a:bodyPr>
          <a:lstStyle/>
          <a:p>
            <a:pPr algn="ctr">
              <a:spcBef>
                <a:spcPct val="0"/>
              </a:spcBef>
            </a:pPr>
            <a:r>
              <a:rPr lang="en-US" sz="5400">
                <a:solidFill>
                  <a:schemeClr val="bg1">
                    <a:lumMod val="95000"/>
                    <a:lumOff val="5000"/>
                  </a:schemeClr>
                </a:solidFill>
              </a:rPr>
              <a:t>Evaluation</a:t>
            </a:r>
          </a:p>
        </p:txBody>
      </p:sp>
    </p:spTree>
    <p:extLst>
      <p:ext uri="{BB962C8B-B14F-4D97-AF65-F5344CB8AC3E}">
        <p14:creationId xmlns:p14="http://schemas.microsoft.com/office/powerpoint/2010/main" val="3956135537"/>
      </p:ext>
    </p:extLst>
  </p:cSld>
  <p:clrMapOvr>
    <a:overrideClrMapping bg1="dk1" tx1="lt1" bg2="dk2" tx2="lt2" accent1="accent1" accent2="accent2" accent3="accent3" accent4="accent4" accent5="accent5" accent6="accent6" hlink="hlink" folHlink="folHlink"/>
  </p:clrMapOvr>
  <p:transition spd="med">
    <p:push dir="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14;p36">
            <a:extLst>
              <a:ext uri="{FF2B5EF4-FFF2-40B4-BE49-F238E27FC236}">
                <a16:creationId xmlns:a16="http://schemas.microsoft.com/office/drawing/2014/main" id="{2D33170C-EDAF-FA08-3FBA-5B30C9C20603}"/>
              </a:ext>
            </a:extLst>
          </p:cNvPr>
          <p:cNvSpPr txBox="1">
            <a:spLocks noGrp="1"/>
          </p:cNvSpPr>
          <p:nvPr>
            <p:ph type="title"/>
          </p:nvPr>
        </p:nvSpPr>
        <p:spPr>
          <a:xfrm>
            <a:off x="415600" y="593367"/>
            <a:ext cx="11360800" cy="763600"/>
          </a:xfrm>
        </p:spPr>
        <p:txBody>
          <a:bodyPr spcFirstLastPara="1" wrap="square" lIns="121900" tIns="121900" rIns="121900" bIns="121900" anchor="ctr" anchorCtr="0">
            <a:normAutofit/>
          </a:bodyPr>
          <a:lstStyle/>
          <a:p>
            <a:pPr>
              <a:lnSpc>
                <a:spcPct val="90000"/>
              </a:lnSpc>
            </a:pPr>
            <a:r>
              <a:rPr lang="en-US" sz="3500" dirty="0"/>
              <a:t>Multicast Service</a:t>
            </a:r>
          </a:p>
        </p:txBody>
      </p:sp>
      <p:pic>
        <p:nvPicPr>
          <p:cNvPr id="3" name="Picture 2">
            <a:extLst>
              <a:ext uri="{FF2B5EF4-FFF2-40B4-BE49-F238E27FC236}">
                <a16:creationId xmlns:a16="http://schemas.microsoft.com/office/drawing/2014/main" id="{1AB3DCAF-D365-8FA8-7C76-8E053B3594CF}"/>
              </a:ext>
            </a:extLst>
          </p:cNvPr>
          <p:cNvPicPr>
            <a:picLocks noChangeAspect="1"/>
          </p:cNvPicPr>
          <p:nvPr/>
        </p:nvPicPr>
        <p:blipFill>
          <a:blip r:embed="rId2"/>
          <a:stretch>
            <a:fillRect/>
          </a:stretch>
        </p:blipFill>
        <p:spPr>
          <a:xfrm>
            <a:off x="2240182" y="1231900"/>
            <a:ext cx="7283645" cy="5466684"/>
          </a:xfrm>
          <a:prstGeom prst="rect">
            <a:avLst/>
          </a:prstGeom>
        </p:spPr>
      </p:pic>
      <p:sp>
        <p:nvSpPr>
          <p:cNvPr id="2" name="Rectangle 1">
            <a:extLst>
              <a:ext uri="{FF2B5EF4-FFF2-40B4-BE49-F238E27FC236}">
                <a16:creationId xmlns:a16="http://schemas.microsoft.com/office/drawing/2014/main" id="{29092D2E-B316-79D5-D153-7CCACB2D0459}"/>
              </a:ext>
            </a:extLst>
          </p:cNvPr>
          <p:cNvSpPr/>
          <p:nvPr/>
        </p:nvSpPr>
        <p:spPr>
          <a:xfrm>
            <a:off x="3449053" y="1540042"/>
            <a:ext cx="5743073" cy="42351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5238213"/>
      </p:ext>
    </p:extLst>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324C-357F-E382-CEFB-BB0C55C00D80}"/>
            </a:ext>
          </a:extLst>
        </p:cNvPr>
        <p:cNvGrpSpPr/>
        <p:nvPr/>
      </p:nvGrpSpPr>
      <p:grpSpPr>
        <a:xfrm>
          <a:off x="0" y="0"/>
          <a:ext cx="0" cy="0"/>
          <a:chOff x="0" y="0"/>
          <a:chExt cx="0" cy="0"/>
        </a:xfrm>
      </p:grpSpPr>
      <p:sp>
        <p:nvSpPr>
          <p:cNvPr id="5" name="Google Shape;414;p36">
            <a:extLst>
              <a:ext uri="{FF2B5EF4-FFF2-40B4-BE49-F238E27FC236}">
                <a16:creationId xmlns:a16="http://schemas.microsoft.com/office/drawing/2014/main" id="{13D2E114-A299-8630-03EF-90FE24AB1470}"/>
              </a:ext>
            </a:extLst>
          </p:cNvPr>
          <p:cNvSpPr txBox="1">
            <a:spLocks noGrp="1"/>
          </p:cNvSpPr>
          <p:nvPr>
            <p:ph type="title"/>
          </p:nvPr>
        </p:nvSpPr>
        <p:spPr>
          <a:xfrm>
            <a:off x="415600" y="593367"/>
            <a:ext cx="11360800" cy="763600"/>
          </a:xfrm>
        </p:spPr>
        <p:txBody>
          <a:bodyPr spcFirstLastPara="1" wrap="square" lIns="121900" tIns="121900" rIns="121900" bIns="121900" anchor="ctr" anchorCtr="0">
            <a:normAutofit/>
          </a:bodyPr>
          <a:lstStyle/>
          <a:p>
            <a:pPr>
              <a:lnSpc>
                <a:spcPct val="90000"/>
              </a:lnSpc>
            </a:pPr>
            <a:r>
              <a:rPr lang="en-US" sz="3500" dirty="0"/>
              <a:t>Multicast Service</a:t>
            </a:r>
          </a:p>
        </p:txBody>
      </p:sp>
      <p:pic>
        <p:nvPicPr>
          <p:cNvPr id="3" name="Picture 2">
            <a:extLst>
              <a:ext uri="{FF2B5EF4-FFF2-40B4-BE49-F238E27FC236}">
                <a16:creationId xmlns:a16="http://schemas.microsoft.com/office/drawing/2014/main" id="{25D73149-5170-2AF7-1F9E-862E6DBEB390}"/>
              </a:ext>
            </a:extLst>
          </p:cNvPr>
          <p:cNvPicPr>
            <a:picLocks noChangeAspect="1"/>
          </p:cNvPicPr>
          <p:nvPr/>
        </p:nvPicPr>
        <p:blipFill>
          <a:blip r:embed="rId2"/>
          <a:stretch>
            <a:fillRect/>
          </a:stretch>
        </p:blipFill>
        <p:spPr>
          <a:xfrm>
            <a:off x="2240182" y="1231900"/>
            <a:ext cx="7283645" cy="5466684"/>
          </a:xfrm>
          <a:prstGeom prst="rect">
            <a:avLst/>
          </a:prstGeom>
        </p:spPr>
      </p:pic>
    </p:spTree>
    <p:extLst>
      <p:ext uri="{BB962C8B-B14F-4D97-AF65-F5344CB8AC3E}">
        <p14:creationId xmlns:p14="http://schemas.microsoft.com/office/powerpoint/2010/main" val="2390327868"/>
      </p:ext>
    </p:extLst>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F150E-44D9-771A-0607-177C549803C1}"/>
            </a:ext>
          </a:extLst>
        </p:cNvPr>
        <p:cNvGrpSpPr/>
        <p:nvPr/>
      </p:nvGrpSpPr>
      <p:grpSpPr>
        <a:xfrm>
          <a:off x="0" y="0"/>
          <a:ext cx="0" cy="0"/>
          <a:chOff x="0" y="0"/>
          <a:chExt cx="0" cy="0"/>
        </a:xfrm>
      </p:grpSpPr>
      <p:sp>
        <p:nvSpPr>
          <p:cNvPr id="5" name="Google Shape;414;p36">
            <a:extLst>
              <a:ext uri="{FF2B5EF4-FFF2-40B4-BE49-F238E27FC236}">
                <a16:creationId xmlns:a16="http://schemas.microsoft.com/office/drawing/2014/main" id="{3C8C05E2-EA59-C9C3-C966-61103B6BDE78}"/>
              </a:ext>
            </a:extLst>
          </p:cNvPr>
          <p:cNvSpPr txBox="1">
            <a:spLocks noGrp="1"/>
          </p:cNvSpPr>
          <p:nvPr>
            <p:ph type="title"/>
          </p:nvPr>
        </p:nvSpPr>
        <p:spPr>
          <a:xfrm>
            <a:off x="415600" y="593367"/>
            <a:ext cx="11360800" cy="763600"/>
          </a:xfrm>
        </p:spPr>
        <p:txBody>
          <a:bodyPr spcFirstLastPara="1" wrap="square" lIns="121900" tIns="121900" rIns="121900" bIns="121900" anchor="ctr" anchorCtr="0">
            <a:normAutofit/>
          </a:bodyPr>
          <a:lstStyle/>
          <a:p>
            <a:pPr>
              <a:lnSpc>
                <a:spcPct val="90000"/>
              </a:lnSpc>
            </a:pPr>
            <a:r>
              <a:rPr lang="en-US" sz="3500" dirty="0"/>
              <a:t>Delivery Fairness</a:t>
            </a:r>
          </a:p>
        </p:txBody>
      </p:sp>
      <p:pic>
        <p:nvPicPr>
          <p:cNvPr id="3" name="Picture 2">
            <a:extLst>
              <a:ext uri="{FF2B5EF4-FFF2-40B4-BE49-F238E27FC236}">
                <a16:creationId xmlns:a16="http://schemas.microsoft.com/office/drawing/2014/main" id="{2743E37C-FEA6-5EDA-56FB-A1F3BC306599}"/>
              </a:ext>
            </a:extLst>
          </p:cNvPr>
          <p:cNvPicPr>
            <a:picLocks noChangeAspect="1"/>
          </p:cNvPicPr>
          <p:nvPr/>
        </p:nvPicPr>
        <p:blipFill>
          <a:blip r:embed="rId2"/>
          <a:stretch>
            <a:fillRect/>
          </a:stretch>
        </p:blipFill>
        <p:spPr>
          <a:xfrm>
            <a:off x="2296651" y="1356967"/>
            <a:ext cx="6664468" cy="5001965"/>
          </a:xfrm>
          <a:prstGeom prst="rect">
            <a:avLst/>
          </a:prstGeom>
        </p:spPr>
      </p:pic>
      <p:sp>
        <p:nvSpPr>
          <p:cNvPr id="2" name="Rectangle 1">
            <a:extLst>
              <a:ext uri="{FF2B5EF4-FFF2-40B4-BE49-F238E27FC236}">
                <a16:creationId xmlns:a16="http://schemas.microsoft.com/office/drawing/2014/main" id="{2D41E74B-4005-561A-2403-5AAFEF4EAF7F}"/>
              </a:ext>
            </a:extLst>
          </p:cNvPr>
          <p:cNvSpPr/>
          <p:nvPr/>
        </p:nvSpPr>
        <p:spPr>
          <a:xfrm>
            <a:off x="3368843" y="1700463"/>
            <a:ext cx="5325978" cy="3784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2250957"/>
      </p:ext>
    </p:extLst>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E392E-647B-4AC8-4E60-41923313CE71}"/>
            </a:ext>
          </a:extLst>
        </p:cNvPr>
        <p:cNvGrpSpPr/>
        <p:nvPr/>
      </p:nvGrpSpPr>
      <p:grpSpPr>
        <a:xfrm>
          <a:off x="0" y="0"/>
          <a:ext cx="0" cy="0"/>
          <a:chOff x="0" y="0"/>
          <a:chExt cx="0" cy="0"/>
        </a:xfrm>
      </p:grpSpPr>
      <p:sp>
        <p:nvSpPr>
          <p:cNvPr id="5" name="Google Shape;414;p36">
            <a:extLst>
              <a:ext uri="{FF2B5EF4-FFF2-40B4-BE49-F238E27FC236}">
                <a16:creationId xmlns:a16="http://schemas.microsoft.com/office/drawing/2014/main" id="{AA979948-C33F-FE6D-B3A0-25478F9718DE}"/>
              </a:ext>
            </a:extLst>
          </p:cNvPr>
          <p:cNvSpPr txBox="1">
            <a:spLocks noGrp="1"/>
          </p:cNvSpPr>
          <p:nvPr>
            <p:ph type="title"/>
          </p:nvPr>
        </p:nvSpPr>
        <p:spPr>
          <a:xfrm>
            <a:off x="415600" y="593367"/>
            <a:ext cx="11360800" cy="763600"/>
          </a:xfrm>
        </p:spPr>
        <p:txBody>
          <a:bodyPr spcFirstLastPara="1" wrap="square" lIns="121900" tIns="121900" rIns="121900" bIns="121900" anchor="ctr" anchorCtr="0">
            <a:normAutofit/>
          </a:bodyPr>
          <a:lstStyle/>
          <a:p>
            <a:pPr>
              <a:lnSpc>
                <a:spcPct val="90000"/>
              </a:lnSpc>
            </a:pPr>
            <a:r>
              <a:rPr lang="en-US" sz="3500" dirty="0"/>
              <a:t>Delivery Fairness</a:t>
            </a:r>
          </a:p>
        </p:txBody>
      </p:sp>
      <p:pic>
        <p:nvPicPr>
          <p:cNvPr id="3" name="Picture 2">
            <a:extLst>
              <a:ext uri="{FF2B5EF4-FFF2-40B4-BE49-F238E27FC236}">
                <a16:creationId xmlns:a16="http://schemas.microsoft.com/office/drawing/2014/main" id="{640D47BE-E63A-DFB5-EA44-07C704ED450A}"/>
              </a:ext>
            </a:extLst>
          </p:cNvPr>
          <p:cNvPicPr>
            <a:picLocks noChangeAspect="1"/>
          </p:cNvPicPr>
          <p:nvPr/>
        </p:nvPicPr>
        <p:blipFill>
          <a:blip r:embed="rId2"/>
          <a:stretch>
            <a:fillRect/>
          </a:stretch>
        </p:blipFill>
        <p:spPr>
          <a:xfrm>
            <a:off x="2296651" y="1356967"/>
            <a:ext cx="6664468" cy="5001965"/>
          </a:xfrm>
          <a:prstGeom prst="rect">
            <a:avLst/>
          </a:prstGeom>
        </p:spPr>
      </p:pic>
    </p:spTree>
    <p:extLst>
      <p:ext uri="{BB962C8B-B14F-4D97-AF65-F5344CB8AC3E}">
        <p14:creationId xmlns:p14="http://schemas.microsoft.com/office/powerpoint/2010/main" val="2212520201"/>
      </p:ext>
    </p:ext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D5746D8E-662A-D44D-20A9-57CBD8DCFAF6}"/>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1BEF5BF6-9DE0-00C1-CA39-030DA7DB2001}"/>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Limit Order Queue Gracefully Handles Bursts</a:t>
            </a:r>
            <a:endParaRPr dirty="0"/>
          </a:p>
        </p:txBody>
      </p:sp>
      <p:grpSp>
        <p:nvGrpSpPr>
          <p:cNvPr id="6" name="Group 5">
            <a:extLst>
              <a:ext uri="{FF2B5EF4-FFF2-40B4-BE49-F238E27FC236}">
                <a16:creationId xmlns:a16="http://schemas.microsoft.com/office/drawing/2014/main" id="{DFB01584-5488-16AC-0255-0E54D7E5998A}"/>
              </a:ext>
            </a:extLst>
          </p:cNvPr>
          <p:cNvGrpSpPr/>
          <p:nvPr/>
        </p:nvGrpSpPr>
        <p:grpSpPr>
          <a:xfrm>
            <a:off x="978285" y="1603513"/>
            <a:ext cx="9066047" cy="4661120"/>
            <a:chOff x="3158777" y="1759776"/>
            <a:chExt cx="8233973" cy="4116987"/>
          </a:xfrm>
        </p:grpSpPr>
        <p:pic>
          <p:nvPicPr>
            <p:cNvPr id="7" name="Picture 6">
              <a:extLst>
                <a:ext uri="{FF2B5EF4-FFF2-40B4-BE49-F238E27FC236}">
                  <a16:creationId xmlns:a16="http://schemas.microsoft.com/office/drawing/2014/main" id="{69E10A84-0F34-7E0D-C0C0-555ADBE2A1C4}"/>
                </a:ext>
              </a:extLst>
            </p:cNvPr>
            <p:cNvPicPr>
              <a:picLocks noChangeAspect="1"/>
            </p:cNvPicPr>
            <p:nvPr/>
          </p:nvPicPr>
          <p:blipFill>
            <a:blip r:embed="rId3"/>
            <a:stretch>
              <a:fillRect/>
            </a:stretch>
          </p:blipFill>
          <p:spPr>
            <a:xfrm>
              <a:off x="3158777" y="1759776"/>
              <a:ext cx="8233973" cy="4116987"/>
            </a:xfrm>
            <a:prstGeom prst="rect">
              <a:avLst/>
            </a:prstGeom>
            <a:noFill/>
            <a:ln>
              <a:noFill/>
            </a:ln>
          </p:spPr>
        </p:pic>
        <p:sp>
          <p:nvSpPr>
            <p:cNvPr id="8" name="TextBox 7">
              <a:extLst>
                <a:ext uri="{FF2B5EF4-FFF2-40B4-BE49-F238E27FC236}">
                  <a16:creationId xmlns:a16="http://schemas.microsoft.com/office/drawing/2014/main" id="{450B8BE5-53FC-4AA9-7ACA-8BFB560CB606}"/>
                </a:ext>
              </a:extLst>
            </p:cNvPr>
            <p:cNvSpPr txBox="1"/>
            <p:nvPr/>
          </p:nvSpPr>
          <p:spPr>
            <a:xfrm>
              <a:off x="8078566" y="2660068"/>
              <a:ext cx="2791137" cy="646331"/>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Load generation stops here</a:t>
              </a:r>
            </a:p>
          </p:txBody>
        </p:sp>
      </p:grpSp>
    </p:spTree>
    <p:extLst>
      <p:ext uri="{BB962C8B-B14F-4D97-AF65-F5344CB8AC3E}">
        <p14:creationId xmlns:p14="http://schemas.microsoft.com/office/powerpoint/2010/main" val="2572206837"/>
      </p:ext>
    </p:extLst>
  </p:cSld>
  <p:clrMapOvr>
    <a:masterClrMapping/>
  </p:clrMapOvr>
  <p:transition spd="med">
    <p:push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405">
          <a:extLst>
            <a:ext uri="{FF2B5EF4-FFF2-40B4-BE49-F238E27FC236}">
              <a16:creationId xmlns:a16="http://schemas.microsoft.com/office/drawing/2014/main" id="{C63CDC99-24C8-C576-9029-DC6D11A88BE4}"/>
            </a:ext>
          </a:extLst>
        </p:cNvPr>
        <p:cNvGrpSpPr/>
        <p:nvPr/>
      </p:nvGrpSpPr>
      <p:grpSpPr>
        <a:xfrm>
          <a:off x="0" y="0"/>
          <a:ext cx="0" cy="0"/>
          <a:chOff x="0" y="0"/>
          <a:chExt cx="0" cy="0"/>
        </a:xfrm>
      </p:grpSpPr>
      <p:sp>
        <p:nvSpPr>
          <p:cNvPr id="406" name="Google Shape;406;p35">
            <a:extLst>
              <a:ext uri="{FF2B5EF4-FFF2-40B4-BE49-F238E27FC236}">
                <a16:creationId xmlns:a16="http://schemas.microsoft.com/office/drawing/2014/main" id="{64D86A8B-3EB4-3261-C6AA-C3D1339D50ED}"/>
              </a:ext>
            </a:extLst>
          </p:cNvPr>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 dirty="0"/>
              <a:t>Remarks</a:t>
            </a:r>
            <a:endParaRPr dirty="0"/>
          </a:p>
        </p:txBody>
      </p:sp>
      <p:sp>
        <p:nvSpPr>
          <p:cNvPr id="407" name="Google Shape;407;p35">
            <a:extLst>
              <a:ext uri="{FF2B5EF4-FFF2-40B4-BE49-F238E27FC236}">
                <a16:creationId xmlns:a16="http://schemas.microsoft.com/office/drawing/2014/main" id="{3F4CFC00-7700-B6A2-3AC2-16C917B5371A}"/>
              </a:ext>
            </a:extLst>
          </p:cNvPr>
          <p:cNvSpPr txBox="1">
            <a:spLocks noGrp="1"/>
          </p:cNvSpPr>
          <p:nvPr>
            <p:ph type="body" idx="1"/>
          </p:nvPr>
        </p:nvSpPr>
        <p:spPr>
          <a:xfrm>
            <a:off x="325164" y="1356967"/>
            <a:ext cx="11776401" cy="5501033"/>
          </a:xfrm>
          <a:prstGeom prst="rect">
            <a:avLst/>
          </a:prstGeom>
        </p:spPr>
        <p:txBody>
          <a:bodyPr spcFirstLastPara="1" wrap="square" lIns="121900" tIns="121900" rIns="121900" bIns="121900" anchor="t" anchorCtr="0">
            <a:noAutofit/>
          </a:bodyPr>
          <a:lstStyle/>
          <a:p>
            <a:pPr>
              <a:buChar char="-"/>
            </a:pPr>
            <a:r>
              <a:rPr lang="en-US" sz="2400" dirty="0"/>
              <a:t>Cloud financial exchanges can be realized by developing new primitives, without specialized infrastructure</a:t>
            </a:r>
          </a:p>
          <a:p>
            <a:pPr lvl="1">
              <a:buChar char="-"/>
            </a:pPr>
            <a:r>
              <a:rPr lang="en-US" sz="2000" dirty="0"/>
              <a:t>Some fairness/performance guarantees need to be accordingly relaxed</a:t>
            </a:r>
            <a:br>
              <a:rPr lang="en-US" sz="2000" dirty="0"/>
            </a:br>
            <a:endParaRPr lang="en-US" sz="2000" dirty="0"/>
          </a:p>
          <a:p>
            <a:pPr>
              <a:buChar char="-"/>
            </a:pPr>
            <a:r>
              <a:rPr lang="en-US" sz="2400" dirty="0"/>
              <a:t>Such exchanges present a new operating point in the cost-performance curve</a:t>
            </a:r>
          </a:p>
          <a:p>
            <a:pPr marL="152396" indent="0">
              <a:buNone/>
            </a:pPr>
            <a:endParaRPr lang="en-US" sz="2400" dirty="0"/>
          </a:p>
          <a:p>
            <a:pPr>
              <a:buChar char="-"/>
            </a:pPr>
            <a:r>
              <a:rPr lang="en-US" sz="2400" dirty="0"/>
              <a:t>Application-specific scheduling can have a significant beneficial impact while preserving fairness</a:t>
            </a:r>
          </a:p>
        </p:txBody>
      </p:sp>
      <p:pic>
        <p:nvPicPr>
          <p:cNvPr id="4" name="Picture 3" descr="A diagram of a diagram&#10;&#10;AI-generated content may be incorrect.">
            <a:extLst>
              <a:ext uri="{FF2B5EF4-FFF2-40B4-BE49-F238E27FC236}">
                <a16:creationId xmlns:a16="http://schemas.microsoft.com/office/drawing/2014/main" id="{243ADDA2-72B7-E612-2419-26C229D6B2C1}"/>
              </a:ext>
            </a:extLst>
          </p:cNvPr>
          <p:cNvPicPr>
            <a:picLocks noChangeAspect="1"/>
          </p:cNvPicPr>
          <p:nvPr/>
        </p:nvPicPr>
        <p:blipFill>
          <a:blip r:embed="rId3"/>
          <a:stretch>
            <a:fillRect/>
          </a:stretch>
        </p:blipFill>
        <p:spPr>
          <a:xfrm>
            <a:off x="3708867" y="3765903"/>
            <a:ext cx="5153905" cy="2917040"/>
          </a:xfrm>
          <a:prstGeom prst="rect">
            <a:avLst/>
          </a:prstGeom>
        </p:spPr>
      </p:pic>
    </p:spTree>
    <p:extLst>
      <p:ext uri="{BB962C8B-B14F-4D97-AF65-F5344CB8AC3E}">
        <p14:creationId xmlns:p14="http://schemas.microsoft.com/office/powerpoint/2010/main" val="730626841"/>
      </p:ext>
    </p:extLst>
  </p:cSld>
  <p:clrMapOvr>
    <a:masterClrMapping/>
  </p:clrMapOvr>
  <p:transition spd="med">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7">
                                            <p:txEl>
                                              <p:pRg st="2" end="2"/>
                                            </p:txEl>
                                          </p:spTgt>
                                        </p:tgtEl>
                                        <p:attrNameLst>
                                          <p:attrName>style.visibility</p:attrName>
                                        </p:attrNameLst>
                                      </p:cBhvr>
                                      <p:to>
                                        <p:strVal val="visible"/>
                                      </p:to>
                                    </p:set>
                                  </p:childTnLst>
                                </p:cTn>
                              </p:par>
                              <p:par>
                                <p:cTn id="15" presetID="9"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AB378-7859-6A20-47CD-677676875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1EAEB-5CE1-6152-5D7A-D07BED5028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71B675-7E39-1575-54A5-CF327E90AB92}"/>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A64DDF82-2C65-10B6-9280-ADE673DA4B43}"/>
              </a:ext>
            </a:extLst>
          </p:cNvPr>
          <p:cNvSpPr/>
          <p:nvPr/>
        </p:nvSpPr>
        <p:spPr>
          <a:xfrm>
            <a:off x="-210532" y="-296945"/>
            <a:ext cx="12613064" cy="7282206"/>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5279650"/>
      </p:ext>
    </p:ext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3C3834-5FF7-E139-E0B7-538FE1121884}"/>
              </a:ext>
            </a:extLst>
          </p:cNvPr>
          <p:cNvSpPr>
            <a:spLocks noGrp="1"/>
          </p:cNvSpPr>
          <p:nvPr>
            <p:ph type="ctrTitle"/>
          </p:nvPr>
        </p:nvSpPr>
        <p:spPr>
          <a:xfrm>
            <a:off x="1524000" y="1305782"/>
            <a:ext cx="9144000" cy="2387600"/>
          </a:xfrm>
        </p:spPr>
        <p:txBody>
          <a:bodyPr>
            <a:normAutofit/>
          </a:bodyPr>
          <a:lstStyle/>
          <a:p>
            <a:r>
              <a:rPr lang="en-US" sz="72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Probabilistic Fair Order of Events</a:t>
            </a:r>
            <a:endParaRPr lang="en-US" sz="7200" dirty="0"/>
          </a:p>
        </p:txBody>
      </p:sp>
      <p:sp>
        <p:nvSpPr>
          <p:cNvPr id="15" name="TextBox 14">
            <a:extLst>
              <a:ext uri="{FF2B5EF4-FFF2-40B4-BE49-F238E27FC236}">
                <a16:creationId xmlns:a16="http://schemas.microsoft.com/office/drawing/2014/main" id="{E8BC87CD-6594-D550-6B16-8E2B98C16BD8}"/>
              </a:ext>
            </a:extLst>
          </p:cNvPr>
          <p:cNvSpPr txBox="1"/>
          <p:nvPr/>
        </p:nvSpPr>
        <p:spPr>
          <a:xfrm>
            <a:off x="2122844" y="4073748"/>
            <a:ext cx="7983415" cy="830997"/>
          </a:xfrm>
          <a:prstGeom prst="rect">
            <a:avLst/>
          </a:prstGeom>
          <a:noFill/>
        </p:spPr>
        <p:txBody>
          <a:bodyPr wrap="square" rtlCol="0">
            <a:spAutoFit/>
          </a:bodyPr>
          <a:lstStyle/>
          <a:p>
            <a:pPr algn="ctr"/>
            <a:r>
              <a:rPr lang="en-US" sz="2400" dirty="0"/>
              <a:t>Muhammad Haseeb, Jinkun Geng, Aurojit Panda, Radhika Mittal, Nirav Atre, Srinivas Narayana, Anirudh Sivaraman</a:t>
            </a:r>
          </a:p>
        </p:txBody>
      </p:sp>
      <p:sp>
        <p:nvSpPr>
          <p:cNvPr id="16" name="TextBox 15">
            <a:extLst>
              <a:ext uri="{FF2B5EF4-FFF2-40B4-BE49-F238E27FC236}">
                <a16:creationId xmlns:a16="http://schemas.microsoft.com/office/drawing/2014/main" id="{F501DE95-D977-3B4A-B70F-2BCD6C9E7D70}"/>
              </a:ext>
            </a:extLst>
          </p:cNvPr>
          <p:cNvSpPr txBox="1"/>
          <p:nvPr/>
        </p:nvSpPr>
        <p:spPr>
          <a:xfrm>
            <a:off x="2269947" y="5030374"/>
            <a:ext cx="7983415" cy="461665"/>
          </a:xfrm>
          <a:prstGeom prst="rect">
            <a:avLst/>
          </a:prstGeom>
          <a:noFill/>
        </p:spPr>
        <p:txBody>
          <a:bodyPr wrap="square" rtlCol="0">
            <a:spAutoFit/>
          </a:bodyPr>
          <a:lstStyle/>
          <a:p>
            <a:pPr algn="ctr"/>
            <a:r>
              <a:rPr lang="en-US" sz="2400" dirty="0"/>
              <a:t>NYU,  UIUC,  Rutgers University, Jane Street</a:t>
            </a:r>
          </a:p>
        </p:txBody>
      </p:sp>
      <p:pic>
        <p:nvPicPr>
          <p:cNvPr id="4" name="Graphic 3" descr="Torch with solid fill">
            <a:extLst>
              <a:ext uri="{FF2B5EF4-FFF2-40B4-BE49-F238E27FC236}">
                <a16:creationId xmlns:a16="http://schemas.microsoft.com/office/drawing/2014/main" id="{1AB0B4E7-1BBF-208E-1F55-74AD143589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34973" y="4017401"/>
            <a:ext cx="261486" cy="261486"/>
          </a:xfrm>
          <a:prstGeom prst="rect">
            <a:avLst/>
          </a:prstGeom>
        </p:spPr>
      </p:pic>
      <p:pic>
        <p:nvPicPr>
          <p:cNvPr id="6" name="Graphic 5" descr="Torch with solid fill">
            <a:extLst>
              <a:ext uri="{FF2B5EF4-FFF2-40B4-BE49-F238E27FC236}">
                <a16:creationId xmlns:a16="http://schemas.microsoft.com/office/drawing/2014/main" id="{E91402EA-0BB2-D4C6-F31B-2F065BFDDF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7581" y="3984514"/>
            <a:ext cx="261486" cy="261486"/>
          </a:xfrm>
          <a:prstGeom prst="rect">
            <a:avLst/>
          </a:prstGeom>
        </p:spPr>
      </p:pic>
      <p:pic>
        <p:nvPicPr>
          <p:cNvPr id="8" name="Graphic 7" descr="Torch with solid fill">
            <a:extLst>
              <a:ext uri="{FF2B5EF4-FFF2-40B4-BE49-F238E27FC236}">
                <a16:creationId xmlns:a16="http://schemas.microsoft.com/office/drawing/2014/main" id="{ECA733C9-57DB-5A21-EBF3-8CF9C56708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80693" y="3951065"/>
            <a:ext cx="261486" cy="261486"/>
          </a:xfrm>
          <a:prstGeom prst="rect">
            <a:avLst/>
          </a:prstGeom>
        </p:spPr>
      </p:pic>
      <p:pic>
        <p:nvPicPr>
          <p:cNvPr id="10" name="Graphic 9" descr="Torch with solid fill">
            <a:extLst>
              <a:ext uri="{FF2B5EF4-FFF2-40B4-BE49-F238E27FC236}">
                <a16:creationId xmlns:a16="http://schemas.microsoft.com/office/drawing/2014/main" id="{3661746E-2D01-EBC5-09CC-85795A72AC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60567" y="4419362"/>
            <a:ext cx="261486" cy="261486"/>
          </a:xfrm>
          <a:prstGeom prst="rect">
            <a:avLst/>
          </a:prstGeom>
        </p:spPr>
      </p:pic>
      <p:pic>
        <p:nvPicPr>
          <p:cNvPr id="14" name="Graphic 13" descr="Torch with solid fill">
            <a:extLst>
              <a:ext uri="{FF2B5EF4-FFF2-40B4-BE49-F238E27FC236}">
                <a16:creationId xmlns:a16="http://schemas.microsoft.com/office/drawing/2014/main" id="{26D4CEFF-F807-73B5-223D-0F7358CB76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24527" y="4924518"/>
            <a:ext cx="261486" cy="261486"/>
          </a:xfrm>
          <a:prstGeom prst="rect">
            <a:avLst/>
          </a:prstGeom>
        </p:spPr>
      </p:pic>
      <p:pic>
        <p:nvPicPr>
          <p:cNvPr id="21" name="Graphic 20" descr="Pegasus with solid fill">
            <a:extLst>
              <a:ext uri="{FF2B5EF4-FFF2-40B4-BE49-F238E27FC236}">
                <a16:creationId xmlns:a16="http://schemas.microsoft.com/office/drawing/2014/main" id="{554FB99E-8A76-46FF-EAAA-E80F302007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3623" y="4429360"/>
            <a:ext cx="195712" cy="195712"/>
          </a:xfrm>
          <a:prstGeom prst="rect">
            <a:avLst/>
          </a:prstGeom>
        </p:spPr>
      </p:pic>
      <p:pic>
        <p:nvPicPr>
          <p:cNvPr id="22" name="Graphic 21" descr="Pegasus with solid fill">
            <a:extLst>
              <a:ext uri="{FF2B5EF4-FFF2-40B4-BE49-F238E27FC236}">
                <a16:creationId xmlns:a16="http://schemas.microsoft.com/office/drawing/2014/main" id="{658AF386-03A8-D68F-C078-CD41AF8A39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41731" y="4990292"/>
            <a:ext cx="195712" cy="195712"/>
          </a:xfrm>
          <a:prstGeom prst="rect">
            <a:avLst/>
          </a:prstGeom>
        </p:spPr>
      </p:pic>
      <p:pic>
        <p:nvPicPr>
          <p:cNvPr id="24" name="Graphic 23" descr="Crown with solid fill">
            <a:extLst>
              <a:ext uri="{FF2B5EF4-FFF2-40B4-BE49-F238E27FC236}">
                <a16:creationId xmlns:a16="http://schemas.microsoft.com/office/drawing/2014/main" id="{39BF8717-4529-4229-940F-5E88B2BD77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53344" y="4398722"/>
            <a:ext cx="195712" cy="195712"/>
          </a:xfrm>
          <a:prstGeom prst="rect">
            <a:avLst/>
          </a:prstGeom>
        </p:spPr>
      </p:pic>
      <p:pic>
        <p:nvPicPr>
          <p:cNvPr id="25" name="Graphic 24" descr="Crown with solid fill">
            <a:extLst>
              <a:ext uri="{FF2B5EF4-FFF2-40B4-BE49-F238E27FC236}">
                <a16:creationId xmlns:a16="http://schemas.microsoft.com/office/drawing/2014/main" id="{89F0D3AD-5F67-0855-CC94-714EAF2508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34973" y="4990292"/>
            <a:ext cx="195712" cy="195712"/>
          </a:xfrm>
          <a:prstGeom prst="rect">
            <a:avLst/>
          </a:prstGeom>
        </p:spPr>
      </p:pic>
      <p:sp>
        <p:nvSpPr>
          <p:cNvPr id="26" name="TextBox 25">
            <a:extLst>
              <a:ext uri="{FF2B5EF4-FFF2-40B4-BE49-F238E27FC236}">
                <a16:creationId xmlns:a16="http://schemas.microsoft.com/office/drawing/2014/main" id="{1E446CBC-202E-7078-CACD-27C4AEA503F7}"/>
              </a:ext>
            </a:extLst>
          </p:cNvPr>
          <p:cNvSpPr txBox="1"/>
          <p:nvPr/>
        </p:nvSpPr>
        <p:spPr>
          <a:xfrm>
            <a:off x="3251200" y="5434149"/>
            <a:ext cx="5483726" cy="369332"/>
          </a:xfrm>
          <a:prstGeom prst="rect">
            <a:avLst/>
          </a:prstGeom>
          <a:solidFill>
            <a:schemeClr val="bg1"/>
          </a:solidFill>
        </p:spPr>
        <p:txBody>
          <a:bodyPr wrap="square" rtlCol="0">
            <a:spAutoFit/>
          </a:bodyPr>
          <a:lstStyle/>
          <a:p>
            <a:endParaRPr lang="en-US" dirty="0"/>
          </a:p>
        </p:txBody>
      </p:sp>
      <p:pic>
        <p:nvPicPr>
          <p:cNvPr id="17" name="Graphic 16" descr="Palm tree with solid fill">
            <a:extLst>
              <a:ext uri="{FF2B5EF4-FFF2-40B4-BE49-F238E27FC236}">
                <a16:creationId xmlns:a16="http://schemas.microsoft.com/office/drawing/2014/main" id="{661BDCBC-C542-804C-246E-422C51735C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14739" y="4914351"/>
            <a:ext cx="271653" cy="271653"/>
          </a:xfrm>
          <a:prstGeom prst="rect">
            <a:avLst/>
          </a:prstGeom>
        </p:spPr>
      </p:pic>
      <p:pic>
        <p:nvPicPr>
          <p:cNvPr id="18" name="Graphic 17" descr="Palm tree with solid fill">
            <a:extLst>
              <a:ext uri="{FF2B5EF4-FFF2-40B4-BE49-F238E27FC236}">
                <a16:creationId xmlns:a16="http://schemas.microsoft.com/office/drawing/2014/main" id="{67292B36-615A-5218-5F0C-97C94FB969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16335" y="4353419"/>
            <a:ext cx="271653" cy="271653"/>
          </a:xfrm>
          <a:prstGeom prst="rect">
            <a:avLst/>
          </a:prstGeom>
        </p:spPr>
      </p:pic>
    </p:spTree>
    <p:extLst>
      <p:ext uri="{BB962C8B-B14F-4D97-AF65-F5344CB8AC3E}">
        <p14:creationId xmlns:p14="http://schemas.microsoft.com/office/powerpoint/2010/main" val="3893071349"/>
      </p:ext>
    </p:extLst>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E79F9-2E62-8239-0CA0-1BC333D3B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5DD0D-C2A0-514E-9283-CEC4A187B8C5}"/>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F7E10220-F9FD-2DA6-3F41-1CA1426561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5526" y="2050689"/>
            <a:ext cx="2760519" cy="2760519"/>
          </a:xfrm>
          <a:prstGeom prst="rect">
            <a:avLst/>
          </a:prstGeom>
        </p:spPr>
      </p:pic>
    </p:spTree>
    <p:extLst>
      <p:ext uri="{BB962C8B-B14F-4D97-AF65-F5344CB8AC3E}">
        <p14:creationId xmlns:p14="http://schemas.microsoft.com/office/powerpoint/2010/main" val="4055813914"/>
      </p:ext>
    </p:extLst>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28DBA-EDBD-E3E0-4F1C-519C9B7D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E546F-BF65-FA74-EA2D-F158A58F99F6}"/>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B557F74D-ED46-E285-F642-2CB94C47CF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6714079B-4348-3DE5-27D6-EBB0F747EC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48F3121-D9B7-3858-F89A-0AFFB7F097D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0C78D743-0D63-5BC5-3661-FD4F74E79AB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4951" y="2073198"/>
            <a:ext cx="1325562" cy="1325562"/>
          </a:xfrm>
          <a:prstGeom prst="rect">
            <a:avLst/>
          </a:prstGeom>
        </p:spPr>
      </p:pic>
      <p:pic>
        <p:nvPicPr>
          <p:cNvPr id="8" name="Graphic 7" descr="Head with gears with solid fill">
            <a:extLst>
              <a:ext uri="{FF2B5EF4-FFF2-40B4-BE49-F238E27FC236}">
                <a16:creationId xmlns:a16="http://schemas.microsoft.com/office/drawing/2014/main" id="{59C193E1-7AB9-AAB1-C73C-44489D093F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51141774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9BBE-72FA-B172-BA93-AC2155D19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6CD2A-7F51-F988-4A7C-A4510581EBD2}"/>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05675F9B-60F2-9B0C-70AD-A7FBDB4441D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F49B5A4D-B2D5-61B2-A78F-29FF6F4A06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A10C5BBA-F8B7-2266-A081-D924D374ED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B60B992C-341D-AB67-CC16-9323B9570F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5C5D49E1-FC73-14BA-D077-1B03A2B75F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35897" y="1233488"/>
            <a:ext cx="914400" cy="914400"/>
          </a:xfrm>
          <a:prstGeom prst="rect">
            <a:avLst/>
          </a:prstGeom>
        </p:spPr>
      </p:pic>
      <p:pic>
        <p:nvPicPr>
          <p:cNvPr id="18" name="Graphic 17" descr="Coins with solid fill">
            <a:extLst>
              <a:ext uri="{FF2B5EF4-FFF2-40B4-BE49-F238E27FC236}">
                <a16:creationId xmlns:a16="http://schemas.microsoft.com/office/drawing/2014/main" id="{0C543CD7-E12B-3C4F-14DE-E93BFC384B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96200" y="3726874"/>
            <a:ext cx="914400" cy="914400"/>
          </a:xfrm>
          <a:prstGeom prst="rect">
            <a:avLst/>
          </a:prstGeom>
        </p:spPr>
      </p:pic>
      <p:pic>
        <p:nvPicPr>
          <p:cNvPr id="19" name="Graphic 18" descr="Coins with solid fill">
            <a:extLst>
              <a:ext uri="{FF2B5EF4-FFF2-40B4-BE49-F238E27FC236}">
                <a16:creationId xmlns:a16="http://schemas.microsoft.com/office/drawing/2014/main" id="{7EE0C082-B571-BFC6-F723-E1236BBABF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24085" y="2480181"/>
            <a:ext cx="914400" cy="914400"/>
          </a:xfrm>
          <a:prstGeom prst="rect">
            <a:avLst/>
          </a:prstGeom>
        </p:spPr>
      </p:pic>
      <p:pic>
        <p:nvPicPr>
          <p:cNvPr id="20" name="Graphic 19" descr="Coins with solid fill">
            <a:extLst>
              <a:ext uri="{FF2B5EF4-FFF2-40B4-BE49-F238E27FC236}">
                <a16:creationId xmlns:a16="http://schemas.microsoft.com/office/drawing/2014/main" id="{3C2E0B11-9EBA-CCBA-A6FB-49FF46BDE4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96200" y="5041612"/>
            <a:ext cx="914400" cy="914400"/>
          </a:xfrm>
          <a:prstGeom prst="rect">
            <a:avLst/>
          </a:prstGeom>
        </p:spPr>
      </p:pic>
      <p:pic>
        <p:nvPicPr>
          <p:cNvPr id="21" name="Graphic 20" descr="Head with gears with solid fill">
            <a:extLst>
              <a:ext uri="{FF2B5EF4-FFF2-40B4-BE49-F238E27FC236}">
                <a16:creationId xmlns:a16="http://schemas.microsoft.com/office/drawing/2014/main" id="{13CDDF7D-7FB2-B412-31F8-CCF5418BE59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71915" y="5016716"/>
            <a:ext cx="1133962" cy="1133962"/>
          </a:xfrm>
          <a:prstGeom prst="rect">
            <a:avLst/>
          </a:prstGeom>
        </p:spPr>
      </p:pic>
    </p:spTree>
    <p:extLst>
      <p:ext uri="{BB962C8B-B14F-4D97-AF65-F5344CB8AC3E}">
        <p14:creationId xmlns:p14="http://schemas.microsoft.com/office/powerpoint/2010/main" val="240282509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BAA2-49D5-696E-5E79-4FD8B4D68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D32B3-77E5-8368-AACD-C994B0C4B03B}"/>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804706E6-7140-7FB4-263D-A07F4ECE59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A92473BC-8FE4-3F08-FD96-85C16166B1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C07B8E88-FD12-0994-8CB2-1D582CB750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E14C2B8F-FE57-0C1A-D5A4-334E208F7B7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4951" y="2073198"/>
            <a:ext cx="1325562" cy="1325562"/>
          </a:xfrm>
          <a:prstGeom prst="rect">
            <a:avLst/>
          </a:prstGeom>
        </p:spPr>
      </p:pic>
      <p:pic>
        <p:nvPicPr>
          <p:cNvPr id="9" name="Graphic 8" descr="Head with gears with solid fill">
            <a:extLst>
              <a:ext uri="{FF2B5EF4-FFF2-40B4-BE49-F238E27FC236}">
                <a16:creationId xmlns:a16="http://schemas.microsoft.com/office/drawing/2014/main" id="{61C790B3-126D-41E0-B7AC-5D62B7C771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71915" y="5016716"/>
            <a:ext cx="1133962" cy="1133962"/>
          </a:xfrm>
          <a:prstGeom prst="rect">
            <a:avLst/>
          </a:prstGeom>
        </p:spPr>
      </p:pic>
      <p:sp>
        <p:nvSpPr>
          <p:cNvPr id="11" name="Rounded Rectangle 10">
            <a:extLst>
              <a:ext uri="{FF2B5EF4-FFF2-40B4-BE49-F238E27FC236}">
                <a16:creationId xmlns:a16="http://schemas.microsoft.com/office/drawing/2014/main" id="{74BE8875-5FE5-9DC5-21A3-35CBC30A7632}"/>
              </a:ext>
            </a:extLst>
          </p:cNvPr>
          <p:cNvSpPr/>
          <p:nvPr/>
        </p:nvSpPr>
        <p:spPr>
          <a:xfrm>
            <a:off x="4093210" y="150434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1 share, 4 buyers</a:t>
            </a:r>
          </a:p>
        </p:txBody>
      </p:sp>
      <p:sp>
        <p:nvSpPr>
          <p:cNvPr id="12" name="Rounded Rectangle 11">
            <a:extLst>
              <a:ext uri="{FF2B5EF4-FFF2-40B4-BE49-F238E27FC236}">
                <a16:creationId xmlns:a16="http://schemas.microsoft.com/office/drawing/2014/main" id="{AF2FE911-F778-682B-6D73-ACFA24E5FAC2}"/>
              </a:ext>
            </a:extLst>
          </p:cNvPr>
          <p:cNvSpPr/>
          <p:nvPr/>
        </p:nvSpPr>
        <p:spPr>
          <a:xfrm>
            <a:off x="4093210" y="2986564"/>
            <a:ext cx="3463637" cy="1024803"/>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Who gets to buy?</a:t>
            </a:r>
          </a:p>
        </p:txBody>
      </p:sp>
      <p:sp>
        <p:nvSpPr>
          <p:cNvPr id="14" name="Rounded Rectangle 13">
            <a:extLst>
              <a:ext uri="{FF2B5EF4-FFF2-40B4-BE49-F238E27FC236}">
                <a16:creationId xmlns:a16="http://schemas.microsoft.com/office/drawing/2014/main" id="{2D8EAB7D-7673-0A52-9E1E-9024D662074D}"/>
              </a:ext>
            </a:extLst>
          </p:cNvPr>
          <p:cNvSpPr/>
          <p:nvPr/>
        </p:nvSpPr>
        <p:spPr>
          <a:xfrm>
            <a:off x="4126714" y="4468784"/>
            <a:ext cx="3463637" cy="1024803"/>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whoever asked first!</a:t>
            </a:r>
          </a:p>
        </p:txBody>
      </p:sp>
      <p:pic>
        <p:nvPicPr>
          <p:cNvPr id="15" name="Graphic 14" descr="Coins with solid fill">
            <a:extLst>
              <a:ext uri="{FF2B5EF4-FFF2-40B4-BE49-F238E27FC236}">
                <a16:creationId xmlns:a16="http://schemas.microsoft.com/office/drawing/2014/main" id="{35F47457-E2B9-11C8-A1B0-7DF411E74E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4683" y="4303538"/>
            <a:ext cx="914400" cy="914400"/>
          </a:xfrm>
          <a:prstGeom prst="rect">
            <a:avLst/>
          </a:prstGeom>
        </p:spPr>
      </p:pic>
      <p:pic>
        <p:nvPicPr>
          <p:cNvPr id="16" name="Graphic 15" descr="Coins with solid fill">
            <a:extLst>
              <a:ext uri="{FF2B5EF4-FFF2-40B4-BE49-F238E27FC236}">
                <a16:creationId xmlns:a16="http://schemas.microsoft.com/office/drawing/2014/main" id="{E0F40736-9FA1-3385-DEDA-BA110298E19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5206" y="4616660"/>
            <a:ext cx="914400" cy="914400"/>
          </a:xfrm>
          <a:prstGeom prst="rect">
            <a:avLst/>
          </a:prstGeom>
        </p:spPr>
      </p:pic>
      <p:pic>
        <p:nvPicPr>
          <p:cNvPr id="17" name="Graphic 16" descr="Coins with solid fill">
            <a:extLst>
              <a:ext uri="{FF2B5EF4-FFF2-40B4-BE49-F238E27FC236}">
                <a16:creationId xmlns:a16="http://schemas.microsoft.com/office/drawing/2014/main" id="{4010B577-E1AD-791E-A520-B290CCA2637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78182" y="4579187"/>
            <a:ext cx="914400" cy="914400"/>
          </a:xfrm>
          <a:prstGeom prst="rect">
            <a:avLst/>
          </a:prstGeom>
        </p:spPr>
      </p:pic>
      <p:pic>
        <p:nvPicPr>
          <p:cNvPr id="21" name="Graphic 20" descr="Coins with solid fill">
            <a:extLst>
              <a:ext uri="{FF2B5EF4-FFF2-40B4-BE49-F238E27FC236}">
                <a16:creationId xmlns:a16="http://schemas.microsoft.com/office/drawing/2014/main" id="{18163241-34A9-9B64-4E9C-CB3A08176F4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09606" y="5030854"/>
            <a:ext cx="914400" cy="914400"/>
          </a:xfrm>
          <a:prstGeom prst="rect">
            <a:avLst/>
          </a:prstGeom>
        </p:spPr>
      </p:pic>
    </p:spTree>
    <p:extLst>
      <p:ext uri="{BB962C8B-B14F-4D97-AF65-F5344CB8AC3E}">
        <p14:creationId xmlns:p14="http://schemas.microsoft.com/office/powerpoint/2010/main" val="117967327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2BF5-3015-D126-2799-1281798A1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F751-6B8B-47A8-38C2-14DA7EDA8B9C}"/>
              </a:ext>
            </a:extLst>
          </p:cNvPr>
          <p:cNvSpPr>
            <a:spLocks noGrp="1"/>
          </p:cNvSpPr>
          <p:nvPr>
            <p:ph type="title"/>
          </p:nvPr>
        </p:nvSpPr>
        <p:spPr/>
        <p:txBody>
          <a:bodyPr/>
          <a:lstStyle/>
          <a:p>
            <a:r>
              <a:rPr lang="en-US" dirty="0"/>
              <a:t>A Financial Market</a:t>
            </a:r>
          </a:p>
        </p:txBody>
      </p:sp>
      <p:pic>
        <p:nvPicPr>
          <p:cNvPr id="10" name="Graphic 9" descr="Downward trend graph outline">
            <a:extLst>
              <a:ext uri="{FF2B5EF4-FFF2-40B4-BE49-F238E27FC236}">
                <a16:creationId xmlns:a16="http://schemas.microsoft.com/office/drawing/2014/main" id="{763ADF05-A92F-8F33-CDBF-32658D487B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36" y="1801308"/>
            <a:ext cx="1357746" cy="1357746"/>
          </a:xfrm>
          <a:prstGeom prst="rect">
            <a:avLst/>
          </a:prstGeom>
        </p:spPr>
      </p:pic>
      <p:pic>
        <p:nvPicPr>
          <p:cNvPr id="5" name="Graphic 4" descr="Baby outline">
            <a:extLst>
              <a:ext uri="{FF2B5EF4-FFF2-40B4-BE49-F238E27FC236}">
                <a16:creationId xmlns:a16="http://schemas.microsoft.com/office/drawing/2014/main" id="{1204A95F-8644-A11D-66BA-A7F77A63C9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3285" y="3640757"/>
            <a:ext cx="1133962" cy="1133962"/>
          </a:xfrm>
          <a:prstGeom prst="rect">
            <a:avLst/>
          </a:prstGeom>
        </p:spPr>
      </p:pic>
      <p:pic>
        <p:nvPicPr>
          <p:cNvPr id="6" name="Graphic 5" descr="Male profile with solid fill">
            <a:extLst>
              <a:ext uri="{FF2B5EF4-FFF2-40B4-BE49-F238E27FC236}">
                <a16:creationId xmlns:a16="http://schemas.microsoft.com/office/drawing/2014/main" id="{E6806E34-1994-1032-9DF6-4D6F18656CC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9780" y="851543"/>
            <a:ext cx="1207583" cy="1207583"/>
          </a:xfrm>
          <a:prstGeom prst="rect">
            <a:avLst/>
          </a:prstGeom>
        </p:spPr>
      </p:pic>
      <p:pic>
        <p:nvPicPr>
          <p:cNvPr id="7" name="Graphic 6" descr="Office worker female with solid fill">
            <a:extLst>
              <a:ext uri="{FF2B5EF4-FFF2-40B4-BE49-F238E27FC236}">
                <a16:creationId xmlns:a16="http://schemas.microsoft.com/office/drawing/2014/main" id="{6306CEE3-B920-4472-B56E-A4FA29F0066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4951" y="2073198"/>
            <a:ext cx="1325562" cy="1325562"/>
          </a:xfrm>
          <a:prstGeom prst="rect">
            <a:avLst/>
          </a:prstGeom>
        </p:spPr>
      </p:pic>
      <p:pic>
        <p:nvPicPr>
          <p:cNvPr id="13" name="Graphic 12" descr="Coins with solid fill">
            <a:extLst>
              <a:ext uri="{FF2B5EF4-FFF2-40B4-BE49-F238E27FC236}">
                <a16:creationId xmlns:a16="http://schemas.microsoft.com/office/drawing/2014/main" id="{9BDBF1A2-F83E-4662-7812-48D08B377F1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4683" y="4303538"/>
            <a:ext cx="914400" cy="914400"/>
          </a:xfrm>
          <a:prstGeom prst="rect">
            <a:avLst/>
          </a:prstGeom>
        </p:spPr>
      </p:pic>
      <p:pic>
        <p:nvPicPr>
          <p:cNvPr id="18" name="Graphic 17" descr="Coins with solid fill">
            <a:extLst>
              <a:ext uri="{FF2B5EF4-FFF2-40B4-BE49-F238E27FC236}">
                <a16:creationId xmlns:a16="http://schemas.microsoft.com/office/drawing/2014/main" id="{00BA45E6-65FC-EE9D-562C-7656E86B693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5206" y="4616660"/>
            <a:ext cx="914400" cy="914400"/>
          </a:xfrm>
          <a:prstGeom prst="rect">
            <a:avLst/>
          </a:prstGeom>
        </p:spPr>
      </p:pic>
      <p:pic>
        <p:nvPicPr>
          <p:cNvPr id="19" name="Graphic 18" descr="Coins with solid fill">
            <a:extLst>
              <a:ext uri="{FF2B5EF4-FFF2-40B4-BE49-F238E27FC236}">
                <a16:creationId xmlns:a16="http://schemas.microsoft.com/office/drawing/2014/main" id="{61637A50-1F56-9708-958E-32EE0A34805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78182" y="4579187"/>
            <a:ext cx="914400" cy="914400"/>
          </a:xfrm>
          <a:prstGeom prst="rect">
            <a:avLst/>
          </a:prstGeom>
        </p:spPr>
      </p:pic>
      <p:pic>
        <p:nvPicPr>
          <p:cNvPr id="20" name="Graphic 19" descr="Coins with solid fill">
            <a:extLst>
              <a:ext uri="{FF2B5EF4-FFF2-40B4-BE49-F238E27FC236}">
                <a16:creationId xmlns:a16="http://schemas.microsoft.com/office/drawing/2014/main" id="{5D21E5F1-9028-51CE-CAA1-1CCC9B754E9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09606" y="5030854"/>
            <a:ext cx="914400" cy="914400"/>
          </a:xfrm>
          <a:prstGeom prst="rect">
            <a:avLst/>
          </a:prstGeom>
        </p:spPr>
      </p:pic>
      <p:pic>
        <p:nvPicPr>
          <p:cNvPr id="9" name="Graphic 8" descr="Head with gears with solid fill">
            <a:extLst>
              <a:ext uri="{FF2B5EF4-FFF2-40B4-BE49-F238E27FC236}">
                <a16:creationId xmlns:a16="http://schemas.microsoft.com/office/drawing/2014/main" id="{78C82B5A-FD9B-0AD2-CA57-ED29DE40B2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71915" y="5016716"/>
            <a:ext cx="1133962" cy="1133962"/>
          </a:xfrm>
          <a:prstGeom prst="rect">
            <a:avLst/>
          </a:prstGeom>
        </p:spPr>
      </p:pic>
      <p:sp>
        <p:nvSpPr>
          <p:cNvPr id="14" name="Rounded Rectangle 13">
            <a:extLst>
              <a:ext uri="{FF2B5EF4-FFF2-40B4-BE49-F238E27FC236}">
                <a16:creationId xmlns:a16="http://schemas.microsoft.com/office/drawing/2014/main" id="{A4FF3DAD-CAB3-CE75-7E3C-A5924B0BA599}"/>
              </a:ext>
            </a:extLst>
          </p:cNvPr>
          <p:cNvSpPr/>
          <p:nvPr/>
        </p:nvSpPr>
        <p:spPr>
          <a:xfrm>
            <a:off x="3526472" y="1497331"/>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whoever asked first!</a:t>
            </a:r>
          </a:p>
        </p:txBody>
      </p:sp>
      <p:sp>
        <p:nvSpPr>
          <p:cNvPr id="16" name="Rounded Rectangle 15">
            <a:extLst>
              <a:ext uri="{FF2B5EF4-FFF2-40B4-BE49-F238E27FC236}">
                <a16:creationId xmlns:a16="http://schemas.microsoft.com/office/drawing/2014/main" id="{3887983B-C5B4-84EC-7B7F-4EA9A0AC10E3}"/>
              </a:ext>
            </a:extLst>
          </p:cNvPr>
          <p:cNvSpPr/>
          <p:nvPr/>
        </p:nvSpPr>
        <p:spPr>
          <a:xfrm>
            <a:off x="3526473" y="4509210"/>
            <a:ext cx="4719902" cy="138549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tx1"/>
                </a:solidFill>
              </a:rPr>
              <a:t>Fair Ordering</a:t>
            </a:r>
          </a:p>
        </p:txBody>
      </p:sp>
      <p:sp>
        <p:nvSpPr>
          <p:cNvPr id="8" name="Rounded Rectangle 7">
            <a:extLst>
              <a:ext uri="{FF2B5EF4-FFF2-40B4-BE49-F238E27FC236}">
                <a16:creationId xmlns:a16="http://schemas.microsoft.com/office/drawing/2014/main" id="{DA0FE26F-584E-DD18-BBB1-C766503C22F2}"/>
              </a:ext>
            </a:extLst>
          </p:cNvPr>
          <p:cNvSpPr/>
          <p:nvPr/>
        </p:nvSpPr>
        <p:spPr>
          <a:xfrm>
            <a:off x="3552498" y="2977976"/>
            <a:ext cx="4633899" cy="1325562"/>
          </a:xfrm>
          <a:prstGeom prst="roundRect">
            <a:avLst/>
          </a:prstGeom>
          <a:solidFill>
            <a:srgbClr val="FF0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solidFill>
                  <a:schemeClr val="bg1"/>
                </a:solidFill>
              </a:rPr>
              <a:t>How do we know that?</a:t>
            </a:r>
          </a:p>
        </p:txBody>
      </p:sp>
    </p:spTree>
    <p:extLst>
      <p:ext uri="{BB962C8B-B14F-4D97-AF65-F5344CB8AC3E}">
        <p14:creationId xmlns:p14="http://schemas.microsoft.com/office/powerpoint/2010/main" val="376561711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8"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7D4A5-D651-D3C3-8649-9CFAF466793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F2C8FC84-EAAD-1221-F163-436F2202A9B9}"/>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065C38A0-9F02-76CC-4131-A053426E3F8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generation order!</a:t>
            </a:r>
          </a:p>
        </p:txBody>
      </p:sp>
    </p:spTree>
    <p:extLst>
      <p:ext uri="{BB962C8B-B14F-4D97-AF65-F5344CB8AC3E}">
        <p14:creationId xmlns:p14="http://schemas.microsoft.com/office/powerpoint/2010/main" val="64969723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8EE5-9896-D219-FEFD-BAB86FD7ABF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8BBBCEB2-26A3-658D-F231-989E202F3652}"/>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2" name="Rounded Rectangle 1">
            <a:extLst>
              <a:ext uri="{FF2B5EF4-FFF2-40B4-BE49-F238E27FC236}">
                <a16:creationId xmlns:a16="http://schemas.microsoft.com/office/drawing/2014/main" id="{7306A10E-A842-A905-2E58-FFDC77A561A4}"/>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Tree>
    <p:extLst>
      <p:ext uri="{BB962C8B-B14F-4D97-AF65-F5344CB8AC3E}">
        <p14:creationId xmlns:p14="http://schemas.microsoft.com/office/powerpoint/2010/main" val="373626993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6C3F-E0D9-CCF6-6EDC-344EF354F073}"/>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D16C38AD-286E-6BEC-587F-0F0AFC41FBD4}"/>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D1C8C80E-324D-EB67-6265-070A904E6CE6}"/>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1A839E66-BEA0-81BA-8867-ABFBBB3E57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9C149CE8-66E3-F44F-0903-02D7D13A77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43E9C66-54D7-DEF4-080C-83D218B7C9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4167224"/>
            <a:ext cx="914400" cy="914400"/>
          </a:xfrm>
          <a:prstGeom prst="rect">
            <a:avLst/>
          </a:prstGeom>
        </p:spPr>
      </p:pic>
      <p:sp>
        <p:nvSpPr>
          <p:cNvPr id="7" name="TextBox 6">
            <a:extLst>
              <a:ext uri="{FF2B5EF4-FFF2-40B4-BE49-F238E27FC236}">
                <a16:creationId xmlns:a16="http://schemas.microsoft.com/office/drawing/2014/main" id="{CFE37185-24A6-CA4E-3DEB-53A208302930}"/>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E4EA5CE6-A8B0-2532-7CE6-430D07B011BA}"/>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Tree>
    <p:extLst>
      <p:ext uri="{BB962C8B-B14F-4D97-AF65-F5344CB8AC3E}">
        <p14:creationId xmlns:p14="http://schemas.microsoft.com/office/powerpoint/2010/main" val="212660086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1029D-4069-17CF-D434-22F57DDB882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9FC8D823-2CE1-F25E-5A92-A5E8FB33398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72E305E6-83BB-4E31-085D-B5D448F9501A}"/>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sp>
        <p:nvSpPr>
          <p:cNvPr id="7" name="TextBox 6">
            <a:extLst>
              <a:ext uri="{FF2B5EF4-FFF2-40B4-BE49-F238E27FC236}">
                <a16:creationId xmlns:a16="http://schemas.microsoft.com/office/drawing/2014/main" id="{DA75F368-F386-F025-27B0-A50D20FD816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8" name="Rounded Rectangle 7">
            <a:extLst>
              <a:ext uri="{FF2B5EF4-FFF2-40B4-BE49-F238E27FC236}">
                <a16:creationId xmlns:a16="http://schemas.microsoft.com/office/drawing/2014/main" id="{93C14C7E-1A35-1930-5B6D-9852AE4FC129}"/>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pic>
        <p:nvPicPr>
          <p:cNvPr id="2" name="Graphic 1" descr="Clock with solid fill">
            <a:extLst>
              <a:ext uri="{FF2B5EF4-FFF2-40B4-BE49-F238E27FC236}">
                <a16:creationId xmlns:a16="http://schemas.microsoft.com/office/drawing/2014/main" id="{73FA1D15-FEC0-2391-50BC-CC497BE102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5081624"/>
            <a:ext cx="914400" cy="914400"/>
          </a:xfrm>
          <a:prstGeom prst="rect">
            <a:avLst/>
          </a:prstGeom>
        </p:spPr>
      </p:pic>
      <p:pic>
        <p:nvPicPr>
          <p:cNvPr id="4" name="Graphic 3" descr="Clock with solid fill">
            <a:extLst>
              <a:ext uri="{FF2B5EF4-FFF2-40B4-BE49-F238E27FC236}">
                <a16:creationId xmlns:a16="http://schemas.microsoft.com/office/drawing/2014/main" id="{5636BF5F-2E05-E6BA-3CBD-83428D15BD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3289986"/>
            <a:ext cx="914400" cy="914400"/>
          </a:xfrm>
          <a:prstGeom prst="rect">
            <a:avLst/>
          </a:prstGeom>
        </p:spPr>
      </p:pic>
      <p:pic>
        <p:nvPicPr>
          <p:cNvPr id="9" name="Graphic 8" descr="Clock with solid fill">
            <a:extLst>
              <a:ext uri="{FF2B5EF4-FFF2-40B4-BE49-F238E27FC236}">
                <a16:creationId xmlns:a16="http://schemas.microsoft.com/office/drawing/2014/main" id="{197BA0B4-9CDB-B6A4-5FA0-8F51217947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4167224"/>
            <a:ext cx="914400" cy="914400"/>
          </a:xfrm>
          <a:prstGeom prst="rect">
            <a:avLst/>
          </a:prstGeom>
        </p:spPr>
      </p:pic>
      <p:sp>
        <p:nvSpPr>
          <p:cNvPr id="10" name="Rectangle 9">
            <a:extLst>
              <a:ext uri="{FF2B5EF4-FFF2-40B4-BE49-F238E27FC236}">
                <a16:creationId xmlns:a16="http://schemas.microsoft.com/office/drawing/2014/main" id="{CDCBCDB3-9A65-0532-C569-373A93E55C49}"/>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7A395D-F46A-E025-D24B-DBC116EE914C}"/>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0B349F8-F4F7-FE47-282B-85C26BBA74B6}"/>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585804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3E67-747F-E98E-5C3E-30AC65B44397}"/>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EB39B488-FFCF-4D9E-BC64-C6EBB042959E}"/>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12" name="Rounded Rectangle 11">
            <a:extLst>
              <a:ext uri="{FF2B5EF4-FFF2-40B4-BE49-F238E27FC236}">
                <a16:creationId xmlns:a16="http://schemas.microsoft.com/office/drawing/2014/main" id="{1124650B-C049-5490-96F4-2BCA96ECCBF0}"/>
              </a:ext>
            </a:extLst>
          </p:cNvPr>
          <p:cNvSpPr/>
          <p:nvPr/>
        </p:nvSpPr>
        <p:spPr>
          <a:xfrm>
            <a:off x="1077189" y="1765010"/>
            <a:ext cx="10037622" cy="990601"/>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Events generated by clients should be observed by a server in the same order as their </a:t>
            </a:r>
            <a:r>
              <a:rPr lang="en-US" sz="3200" dirty="0">
                <a:solidFill>
                  <a:schemeClr val="bg1"/>
                </a:solidFill>
                <a:highlight>
                  <a:srgbClr val="FF0000"/>
                </a:highlight>
              </a:rPr>
              <a:t>generation order</a:t>
            </a:r>
            <a:r>
              <a:rPr lang="en-US" sz="3200" dirty="0">
                <a:solidFill>
                  <a:schemeClr val="tx1"/>
                </a:solidFill>
              </a:rPr>
              <a:t>!</a:t>
            </a:r>
          </a:p>
        </p:txBody>
      </p:sp>
      <p:pic>
        <p:nvPicPr>
          <p:cNvPr id="3" name="Graphic 2" descr="Clock with solid fill">
            <a:extLst>
              <a:ext uri="{FF2B5EF4-FFF2-40B4-BE49-F238E27FC236}">
                <a16:creationId xmlns:a16="http://schemas.microsoft.com/office/drawing/2014/main" id="{58BF78D1-9AD1-EC75-CE7B-36EF55E7D0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5081624"/>
            <a:ext cx="914400" cy="914400"/>
          </a:xfrm>
          <a:prstGeom prst="rect">
            <a:avLst/>
          </a:prstGeom>
        </p:spPr>
      </p:pic>
      <p:pic>
        <p:nvPicPr>
          <p:cNvPr id="5" name="Graphic 4" descr="Clock with solid fill">
            <a:extLst>
              <a:ext uri="{FF2B5EF4-FFF2-40B4-BE49-F238E27FC236}">
                <a16:creationId xmlns:a16="http://schemas.microsoft.com/office/drawing/2014/main" id="{2C559097-9514-B530-6FBD-4B0F122E66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3289986"/>
            <a:ext cx="914400" cy="914400"/>
          </a:xfrm>
          <a:prstGeom prst="rect">
            <a:avLst/>
          </a:prstGeom>
        </p:spPr>
      </p:pic>
      <p:pic>
        <p:nvPicPr>
          <p:cNvPr id="6" name="Graphic 5" descr="Clock with solid fill">
            <a:extLst>
              <a:ext uri="{FF2B5EF4-FFF2-40B4-BE49-F238E27FC236}">
                <a16:creationId xmlns:a16="http://schemas.microsoft.com/office/drawing/2014/main" id="{D04E2911-042B-67BC-59B9-97355922B2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2637" y="4167224"/>
            <a:ext cx="914400" cy="914400"/>
          </a:xfrm>
          <a:prstGeom prst="rect">
            <a:avLst/>
          </a:prstGeom>
        </p:spPr>
      </p:pic>
      <p:sp>
        <p:nvSpPr>
          <p:cNvPr id="11" name="TextBox 10">
            <a:extLst>
              <a:ext uri="{FF2B5EF4-FFF2-40B4-BE49-F238E27FC236}">
                <a16:creationId xmlns:a16="http://schemas.microsoft.com/office/drawing/2014/main" id="{A044EDB2-0A12-3185-E19B-24E392210F39}"/>
              </a:ext>
            </a:extLst>
          </p:cNvPr>
          <p:cNvSpPr txBox="1"/>
          <p:nvPr/>
        </p:nvSpPr>
        <p:spPr>
          <a:xfrm>
            <a:off x="7807037" y="3747186"/>
            <a:ext cx="2279072" cy="1815882"/>
          </a:xfrm>
          <a:prstGeom prst="rect">
            <a:avLst/>
          </a:prstGeom>
          <a:noFill/>
        </p:spPr>
        <p:txBody>
          <a:bodyPr wrap="square" rtlCol="0">
            <a:spAutoFit/>
          </a:bodyPr>
          <a:lstStyle/>
          <a:p>
            <a:r>
              <a:rPr lang="en-US" sz="2800" dirty="0"/>
              <a:t>Clients with perfectly synchronized clocks</a:t>
            </a:r>
          </a:p>
        </p:txBody>
      </p:sp>
      <p:sp>
        <p:nvSpPr>
          <p:cNvPr id="13" name="Rectangle 12">
            <a:extLst>
              <a:ext uri="{FF2B5EF4-FFF2-40B4-BE49-F238E27FC236}">
                <a16:creationId xmlns:a16="http://schemas.microsoft.com/office/drawing/2014/main" id="{5D782981-690E-08EC-E25F-A4B5811B06F7}"/>
              </a:ext>
            </a:extLst>
          </p:cNvPr>
          <p:cNvSpPr/>
          <p:nvPr/>
        </p:nvSpPr>
        <p:spPr>
          <a:xfrm>
            <a:off x="7807037" y="4433455"/>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5BD47ED-C22B-E0E4-0B7C-87C479F8A34F}"/>
              </a:ext>
            </a:extLst>
          </p:cNvPr>
          <p:cNvSpPr/>
          <p:nvPr/>
        </p:nvSpPr>
        <p:spPr>
          <a:xfrm>
            <a:off x="7831283" y="4890655"/>
            <a:ext cx="2279072" cy="45719"/>
          </a:xfrm>
          <a:custGeom>
            <a:avLst/>
            <a:gdLst>
              <a:gd name="csX0" fmla="*/ 0 w 2279072"/>
              <a:gd name="csY0" fmla="*/ 0 h 45719"/>
              <a:gd name="csX1" fmla="*/ 546977 w 2279072"/>
              <a:gd name="csY1" fmla="*/ 0 h 45719"/>
              <a:gd name="csX2" fmla="*/ 1116745 w 2279072"/>
              <a:gd name="csY2" fmla="*/ 0 h 45719"/>
              <a:gd name="csX3" fmla="*/ 1686513 w 2279072"/>
              <a:gd name="csY3" fmla="*/ 0 h 45719"/>
              <a:gd name="csX4" fmla="*/ 2279072 w 2279072"/>
              <a:gd name="csY4" fmla="*/ 0 h 45719"/>
              <a:gd name="csX5" fmla="*/ 2279072 w 2279072"/>
              <a:gd name="csY5" fmla="*/ 45719 h 45719"/>
              <a:gd name="csX6" fmla="*/ 1709304 w 2279072"/>
              <a:gd name="csY6" fmla="*/ 45719 h 45719"/>
              <a:gd name="csX7" fmla="*/ 1185117 w 2279072"/>
              <a:gd name="csY7" fmla="*/ 45719 h 45719"/>
              <a:gd name="csX8" fmla="*/ 660931 w 2279072"/>
              <a:gd name="csY8" fmla="*/ 45719 h 45719"/>
              <a:gd name="csX9" fmla="*/ 0 w 2279072"/>
              <a:gd name="csY9" fmla="*/ 45719 h 45719"/>
              <a:gd name="csX10" fmla="*/ 0 w 2279072"/>
              <a:gd name="csY10"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79072" h="45719" fill="none" extrusionOk="0">
                <a:moveTo>
                  <a:pt x="0" y="0"/>
                </a:moveTo>
                <a:cubicBezTo>
                  <a:pt x="243645" y="-65220"/>
                  <a:pt x="422659" y="13369"/>
                  <a:pt x="546977" y="0"/>
                </a:cubicBezTo>
                <a:cubicBezTo>
                  <a:pt x="671295" y="-13369"/>
                  <a:pt x="880606" y="67309"/>
                  <a:pt x="1116745" y="0"/>
                </a:cubicBezTo>
                <a:cubicBezTo>
                  <a:pt x="1352884" y="-67309"/>
                  <a:pt x="1557373" y="24558"/>
                  <a:pt x="1686513" y="0"/>
                </a:cubicBezTo>
                <a:cubicBezTo>
                  <a:pt x="1815653" y="-24558"/>
                  <a:pt x="2004557" y="16791"/>
                  <a:pt x="2279072" y="0"/>
                </a:cubicBezTo>
                <a:cubicBezTo>
                  <a:pt x="2280264" y="14948"/>
                  <a:pt x="2274874" y="32827"/>
                  <a:pt x="2279072" y="45719"/>
                </a:cubicBezTo>
                <a:cubicBezTo>
                  <a:pt x="2101378" y="96800"/>
                  <a:pt x="1850402" y="-19910"/>
                  <a:pt x="1709304" y="45719"/>
                </a:cubicBezTo>
                <a:cubicBezTo>
                  <a:pt x="1568206" y="111348"/>
                  <a:pt x="1323179" y="22312"/>
                  <a:pt x="1185117" y="45719"/>
                </a:cubicBezTo>
                <a:cubicBezTo>
                  <a:pt x="1047055" y="69126"/>
                  <a:pt x="807091" y="3087"/>
                  <a:pt x="660931" y="45719"/>
                </a:cubicBezTo>
                <a:cubicBezTo>
                  <a:pt x="514771" y="88351"/>
                  <a:pt x="237813" y="22655"/>
                  <a:pt x="0" y="45719"/>
                </a:cubicBezTo>
                <a:cubicBezTo>
                  <a:pt x="-1477" y="33426"/>
                  <a:pt x="4017" y="15270"/>
                  <a:pt x="0" y="0"/>
                </a:cubicBezTo>
                <a:close/>
              </a:path>
              <a:path w="2279072" h="45719" stroke="0" extrusionOk="0">
                <a:moveTo>
                  <a:pt x="0" y="0"/>
                </a:moveTo>
                <a:cubicBezTo>
                  <a:pt x="250598" y="-3467"/>
                  <a:pt x="323486" y="32446"/>
                  <a:pt x="546977" y="0"/>
                </a:cubicBezTo>
                <a:cubicBezTo>
                  <a:pt x="770468" y="-32446"/>
                  <a:pt x="878294" y="34001"/>
                  <a:pt x="1048373" y="0"/>
                </a:cubicBezTo>
                <a:cubicBezTo>
                  <a:pt x="1218452" y="-34001"/>
                  <a:pt x="1503102" y="629"/>
                  <a:pt x="1663723" y="0"/>
                </a:cubicBezTo>
                <a:cubicBezTo>
                  <a:pt x="1824344" y="-629"/>
                  <a:pt x="1975870" y="56582"/>
                  <a:pt x="2279072" y="0"/>
                </a:cubicBezTo>
                <a:cubicBezTo>
                  <a:pt x="2280955" y="13748"/>
                  <a:pt x="2277293" y="34312"/>
                  <a:pt x="2279072" y="45719"/>
                </a:cubicBezTo>
                <a:cubicBezTo>
                  <a:pt x="2129653" y="96407"/>
                  <a:pt x="1986856" y="-4182"/>
                  <a:pt x="1754885" y="45719"/>
                </a:cubicBezTo>
                <a:cubicBezTo>
                  <a:pt x="1522914" y="95620"/>
                  <a:pt x="1484423" y="20627"/>
                  <a:pt x="1230699" y="45719"/>
                </a:cubicBezTo>
                <a:cubicBezTo>
                  <a:pt x="976975" y="70811"/>
                  <a:pt x="762965" y="-26584"/>
                  <a:pt x="615349" y="45719"/>
                </a:cubicBezTo>
                <a:cubicBezTo>
                  <a:pt x="467733" y="118022"/>
                  <a:pt x="131579" y="7807"/>
                  <a:pt x="0" y="45719"/>
                </a:cubicBezTo>
                <a:cubicBezTo>
                  <a:pt x="-547" y="32491"/>
                  <a:pt x="4088" y="1699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EDFBD2-2775-7590-063A-A4D6D9D6E50C}"/>
              </a:ext>
            </a:extLst>
          </p:cNvPr>
          <p:cNvSpPr/>
          <p:nvPr/>
        </p:nvSpPr>
        <p:spPr>
          <a:xfrm>
            <a:off x="7872846" y="5302136"/>
            <a:ext cx="1132609" cy="45719"/>
          </a:xfrm>
          <a:custGeom>
            <a:avLst/>
            <a:gdLst>
              <a:gd name="csX0" fmla="*/ 0 w 1132609"/>
              <a:gd name="csY0" fmla="*/ 0 h 45719"/>
              <a:gd name="csX1" fmla="*/ 588957 w 1132609"/>
              <a:gd name="csY1" fmla="*/ 0 h 45719"/>
              <a:gd name="csX2" fmla="*/ 1132609 w 1132609"/>
              <a:gd name="csY2" fmla="*/ 0 h 45719"/>
              <a:gd name="csX3" fmla="*/ 1132609 w 1132609"/>
              <a:gd name="csY3" fmla="*/ 45719 h 45719"/>
              <a:gd name="csX4" fmla="*/ 577631 w 1132609"/>
              <a:gd name="csY4" fmla="*/ 45719 h 45719"/>
              <a:gd name="csX5" fmla="*/ 0 w 1132609"/>
              <a:gd name="csY5" fmla="*/ 45719 h 45719"/>
              <a:gd name="csX6" fmla="*/ 0 w 1132609"/>
              <a:gd name="csY6" fmla="*/ 0 h 457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2609" h="45719" fill="none" extrusionOk="0">
                <a:moveTo>
                  <a:pt x="0" y="0"/>
                </a:moveTo>
                <a:cubicBezTo>
                  <a:pt x="220432" y="-43673"/>
                  <a:pt x="397974" y="43750"/>
                  <a:pt x="588957" y="0"/>
                </a:cubicBezTo>
                <a:cubicBezTo>
                  <a:pt x="779940" y="-43750"/>
                  <a:pt x="948055" y="3532"/>
                  <a:pt x="1132609" y="0"/>
                </a:cubicBezTo>
                <a:cubicBezTo>
                  <a:pt x="1136090" y="9574"/>
                  <a:pt x="1130962" y="29744"/>
                  <a:pt x="1132609" y="45719"/>
                </a:cubicBezTo>
                <a:cubicBezTo>
                  <a:pt x="890896" y="111788"/>
                  <a:pt x="783495" y="-20152"/>
                  <a:pt x="577631" y="45719"/>
                </a:cubicBezTo>
                <a:cubicBezTo>
                  <a:pt x="371767" y="111590"/>
                  <a:pt x="185214" y="29915"/>
                  <a:pt x="0" y="45719"/>
                </a:cubicBezTo>
                <a:cubicBezTo>
                  <a:pt x="-2659" y="25136"/>
                  <a:pt x="4833" y="13660"/>
                  <a:pt x="0" y="0"/>
                </a:cubicBezTo>
                <a:close/>
              </a:path>
              <a:path w="1132609" h="45719" stroke="0" extrusionOk="0">
                <a:moveTo>
                  <a:pt x="0" y="0"/>
                </a:moveTo>
                <a:cubicBezTo>
                  <a:pt x="150607" y="-58387"/>
                  <a:pt x="297933" y="48823"/>
                  <a:pt x="554978" y="0"/>
                </a:cubicBezTo>
                <a:cubicBezTo>
                  <a:pt x="812023" y="-48823"/>
                  <a:pt x="862205" y="3488"/>
                  <a:pt x="1132609" y="0"/>
                </a:cubicBezTo>
                <a:cubicBezTo>
                  <a:pt x="1137115" y="9407"/>
                  <a:pt x="1132276" y="23614"/>
                  <a:pt x="1132609" y="45719"/>
                </a:cubicBezTo>
                <a:cubicBezTo>
                  <a:pt x="855846" y="54093"/>
                  <a:pt x="780892" y="38970"/>
                  <a:pt x="566305" y="45719"/>
                </a:cubicBezTo>
                <a:cubicBezTo>
                  <a:pt x="351718" y="52468"/>
                  <a:pt x="145629" y="-4692"/>
                  <a:pt x="0" y="45719"/>
                </a:cubicBezTo>
                <a:cubicBezTo>
                  <a:pt x="-1446" y="25972"/>
                  <a:pt x="4445" y="11312"/>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68B73FAA-2D88-E3CA-1842-303D5AB49B38}"/>
              </a:ext>
            </a:extLst>
          </p:cNvPr>
          <p:cNvSpPr/>
          <p:nvPr/>
        </p:nvSpPr>
        <p:spPr>
          <a:xfrm>
            <a:off x="2479964" y="3394364"/>
            <a:ext cx="3505200" cy="2452254"/>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Process events in the order of their timestamps!</a:t>
            </a:r>
          </a:p>
        </p:txBody>
      </p:sp>
      <p:sp>
        <p:nvSpPr>
          <p:cNvPr id="18" name="Rectangle 17">
            <a:extLst>
              <a:ext uri="{FF2B5EF4-FFF2-40B4-BE49-F238E27FC236}">
                <a16:creationId xmlns:a16="http://schemas.microsoft.com/office/drawing/2014/main" id="{32F4316E-4D60-0685-B924-82F9911EE2EF}"/>
              </a:ext>
            </a:extLst>
          </p:cNvPr>
          <p:cNvSpPr/>
          <p:nvPr/>
        </p:nvSpPr>
        <p:spPr>
          <a:xfrm>
            <a:off x="3342410" y="3701467"/>
            <a:ext cx="1780308" cy="45719"/>
          </a:xfrm>
          <a:custGeom>
            <a:avLst/>
            <a:gdLst>
              <a:gd name="csX0" fmla="*/ 0 w 1780308"/>
              <a:gd name="csY0" fmla="*/ 0 h 45719"/>
              <a:gd name="csX1" fmla="*/ 629042 w 1780308"/>
              <a:gd name="csY1" fmla="*/ 0 h 45719"/>
              <a:gd name="csX2" fmla="*/ 1240281 w 1780308"/>
              <a:gd name="csY2" fmla="*/ 0 h 45719"/>
              <a:gd name="csX3" fmla="*/ 1780308 w 1780308"/>
              <a:gd name="csY3" fmla="*/ 0 h 45719"/>
              <a:gd name="csX4" fmla="*/ 1780308 w 1780308"/>
              <a:gd name="csY4" fmla="*/ 45719 h 45719"/>
              <a:gd name="csX5" fmla="*/ 1222478 w 1780308"/>
              <a:gd name="csY5" fmla="*/ 45719 h 45719"/>
              <a:gd name="csX6" fmla="*/ 629042 w 1780308"/>
              <a:gd name="csY6" fmla="*/ 45719 h 45719"/>
              <a:gd name="csX7" fmla="*/ 0 w 1780308"/>
              <a:gd name="csY7" fmla="*/ 45719 h 45719"/>
              <a:gd name="csX8" fmla="*/ 0 w 1780308"/>
              <a:gd name="csY8"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80308" h="45719" fill="none" extrusionOk="0">
                <a:moveTo>
                  <a:pt x="0" y="0"/>
                </a:moveTo>
                <a:cubicBezTo>
                  <a:pt x="290229" y="-45046"/>
                  <a:pt x="403111" y="70471"/>
                  <a:pt x="629042" y="0"/>
                </a:cubicBezTo>
                <a:cubicBezTo>
                  <a:pt x="854973" y="-70471"/>
                  <a:pt x="1087081" y="67673"/>
                  <a:pt x="1240281" y="0"/>
                </a:cubicBezTo>
                <a:cubicBezTo>
                  <a:pt x="1393481" y="-67673"/>
                  <a:pt x="1640132" y="1057"/>
                  <a:pt x="1780308" y="0"/>
                </a:cubicBezTo>
                <a:cubicBezTo>
                  <a:pt x="1782267" y="16164"/>
                  <a:pt x="1775285" y="29889"/>
                  <a:pt x="1780308" y="45719"/>
                </a:cubicBezTo>
                <a:cubicBezTo>
                  <a:pt x="1551657" y="52379"/>
                  <a:pt x="1489134" y="18540"/>
                  <a:pt x="1222478" y="45719"/>
                </a:cubicBezTo>
                <a:cubicBezTo>
                  <a:pt x="955822" y="72898"/>
                  <a:pt x="866814" y="-11913"/>
                  <a:pt x="629042" y="45719"/>
                </a:cubicBezTo>
                <a:cubicBezTo>
                  <a:pt x="391270" y="103351"/>
                  <a:pt x="219415" y="8257"/>
                  <a:pt x="0" y="45719"/>
                </a:cubicBezTo>
                <a:cubicBezTo>
                  <a:pt x="-4002" y="23225"/>
                  <a:pt x="5204" y="15704"/>
                  <a:pt x="0" y="0"/>
                </a:cubicBezTo>
                <a:close/>
              </a:path>
              <a:path w="1780308" h="45719" stroke="0" extrusionOk="0">
                <a:moveTo>
                  <a:pt x="0" y="0"/>
                </a:moveTo>
                <a:cubicBezTo>
                  <a:pt x="172019" y="-47117"/>
                  <a:pt x="347405" y="57919"/>
                  <a:pt x="575633" y="0"/>
                </a:cubicBezTo>
                <a:cubicBezTo>
                  <a:pt x="803861" y="-57919"/>
                  <a:pt x="895401" y="28554"/>
                  <a:pt x="1115660" y="0"/>
                </a:cubicBezTo>
                <a:cubicBezTo>
                  <a:pt x="1335919" y="-28554"/>
                  <a:pt x="1604294" y="71367"/>
                  <a:pt x="1780308" y="0"/>
                </a:cubicBezTo>
                <a:cubicBezTo>
                  <a:pt x="1783255" y="20023"/>
                  <a:pt x="1778049" y="32550"/>
                  <a:pt x="1780308" y="45719"/>
                </a:cubicBezTo>
                <a:cubicBezTo>
                  <a:pt x="1525475" y="105187"/>
                  <a:pt x="1399752" y="-1665"/>
                  <a:pt x="1222478" y="45719"/>
                </a:cubicBezTo>
                <a:cubicBezTo>
                  <a:pt x="1045204" y="93103"/>
                  <a:pt x="846951" y="28140"/>
                  <a:pt x="593436" y="45719"/>
                </a:cubicBezTo>
                <a:cubicBezTo>
                  <a:pt x="339921" y="63298"/>
                  <a:pt x="227133" y="42805"/>
                  <a:pt x="0" y="45719"/>
                </a:cubicBezTo>
                <a:cubicBezTo>
                  <a:pt x="-460" y="35846"/>
                  <a:pt x="3527" y="12901"/>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198F500-835C-1B85-3137-B6D2BD78756B}"/>
              </a:ext>
            </a:extLst>
          </p:cNvPr>
          <p:cNvSpPr/>
          <p:nvPr/>
        </p:nvSpPr>
        <p:spPr>
          <a:xfrm>
            <a:off x="2763982" y="4340220"/>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30B984-6FBA-128B-E878-BFADF71E990C}"/>
              </a:ext>
            </a:extLst>
          </p:cNvPr>
          <p:cNvSpPr/>
          <p:nvPr/>
        </p:nvSpPr>
        <p:spPr>
          <a:xfrm>
            <a:off x="2763982" y="4951264"/>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659006-7345-9F6B-4637-54DAE22393F6}"/>
              </a:ext>
            </a:extLst>
          </p:cNvPr>
          <p:cNvSpPr/>
          <p:nvPr/>
        </p:nvSpPr>
        <p:spPr>
          <a:xfrm>
            <a:off x="2746664" y="5531605"/>
            <a:ext cx="3068782" cy="45719"/>
          </a:xfrm>
          <a:custGeom>
            <a:avLst/>
            <a:gdLst>
              <a:gd name="csX0" fmla="*/ 0 w 3068782"/>
              <a:gd name="csY0" fmla="*/ 0 h 45719"/>
              <a:gd name="csX1" fmla="*/ 572839 w 3068782"/>
              <a:gd name="csY1" fmla="*/ 0 h 45719"/>
              <a:gd name="csX2" fmla="*/ 1114991 w 3068782"/>
              <a:gd name="csY2" fmla="*/ 0 h 45719"/>
              <a:gd name="csX3" fmla="*/ 1657142 w 3068782"/>
              <a:gd name="csY3" fmla="*/ 0 h 45719"/>
              <a:gd name="csX4" fmla="*/ 2076542 w 3068782"/>
              <a:gd name="csY4" fmla="*/ 0 h 45719"/>
              <a:gd name="csX5" fmla="*/ 2526631 w 3068782"/>
              <a:gd name="csY5" fmla="*/ 0 h 45719"/>
              <a:gd name="csX6" fmla="*/ 3068782 w 3068782"/>
              <a:gd name="csY6" fmla="*/ 0 h 45719"/>
              <a:gd name="csX7" fmla="*/ 3068782 w 3068782"/>
              <a:gd name="csY7" fmla="*/ 45719 h 45719"/>
              <a:gd name="csX8" fmla="*/ 2557318 w 3068782"/>
              <a:gd name="csY8" fmla="*/ 45719 h 45719"/>
              <a:gd name="csX9" fmla="*/ 2137918 w 3068782"/>
              <a:gd name="csY9" fmla="*/ 45719 h 45719"/>
              <a:gd name="csX10" fmla="*/ 1718518 w 3068782"/>
              <a:gd name="csY10" fmla="*/ 45719 h 45719"/>
              <a:gd name="csX11" fmla="*/ 1176366 w 3068782"/>
              <a:gd name="csY11" fmla="*/ 45719 h 45719"/>
              <a:gd name="csX12" fmla="*/ 726278 w 3068782"/>
              <a:gd name="csY12" fmla="*/ 45719 h 45719"/>
              <a:gd name="csX13" fmla="*/ 0 w 3068782"/>
              <a:gd name="csY13" fmla="*/ 45719 h 45719"/>
              <a:gd name="csX14" fmla="*/ 0 w 3068782"/>
              <a:gd name="csY14" fmla="*/ 0 h 457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68782" h="45719" fill="none" extrusionOk="0">
                <a:moveTo>
                  <a:pt x="0" y="0"/>
                </a:moveTo>
                <a:cubicBezTo>
                  <a:pt x="245246" y="-53751"/>
                  <a:pt x="299777" y="44648"/>
                  <a:pt x="572839" y="0"/>
                </a:cubicBezTo>
                <a:cubicBezTo>
                  <a:pt x="845901" y="-44648"/>
                  <a:pt x="940094" y="2835"/>
                  <a:pt x="1114991" y="0"/>
                </a:cubicBezTo>
                <a:cubicBezTo>
                  <a:pt x="1289888" y="-2835"/>
                  <a:pt x="1419671" y="55824"/>
                  <a:pt x="1657142" y="0"/>
                </a:cubicBezTo>
                <a:cubicBezTo>
                  <a:pt x="1894613" y="-55824"/>
                  <a:pt x="1881976" y="20401"/>
                  <a:pt x="2076542" y="0"/>
                </a:cubicBezTo>
                <a:cubicBezTo>
                  <a:pt x="2271108" y="-20401"/>
                  <a:pt x="2410253" y="34466"/>
                  <a:pt x="2526631" y="0"/>
                </a:cubicBezTo>
                <a:cubicBezTo>
                  <a:pt x="2643009" y="-34466"/>
                  <a:pt x="2806769" y="63811"/>
                  <a:pt x="3068782" y="0"/>
                </a:cubicBezTo>
                <a:cubicBezTo>
                  <a:pt x="3069156" y="13870"/>
                  <a:pt x="3067611" y="28899"/>
                  <a:pt x="3068782" y="45719"/>
                </a:cubicBezTo>
                <a:cubicBezTo>
                  <a:pt x="2909745" y="104518"/>
                  <a:pt x="2723396" y="30108"/>
                  <a:pt x="2557318" y="45719"/>
                </a:cubicBezTo>
                <a:cubicBezTo>
                  <a:pt x="2391240" y="61330"/>
                  <a:pt x="2238829" y="25670"/>
                  <a:pt x="2137918" y="45719"/>
                </a:cubicBezTo>
                <a:cubicBezTo>
                  <a:pt x="2037007" y="65768"/>
                  <a:pt x="1803275" y="24744"/>
                  <a:pt x="1718518" y="45719"/>
                </a:cubicBezTo>
                <a:cubicBezTo>
                  <a:pt x="1633761" y="66694"/>
                  <a:pt x="1328303" y="-14450"/>
                  <a:pt x="1176366" y="45719"/>
                </a:cubicBezTo>
                <a:cubicBezTo>
                  <a:pt x="1024429" y="105888"/>
                  <a:pt x="844662" y="22511"/>
                  <a:pt x="726278" y="45719"/>
                </a:cubicBezTo>
                <a:cubicBezTo>
                  <a:pt x="607894" y="68927"/>
                  <a:pt x="166128" y="-9176"/>
                  <a:pt x="0" y="45719"/>
                </a:cubicBezTo>
                <a:cubicBezTo>
                  <a:pt x="-2073" y="27678"/>
                  <a:pt x="5011" y="14384"/>
                  <a:pt x="0" y="0"/>
                </a:cubicBezTo>
                <a:close/>
              </a:path>
              <a:path w="3068782" h="45719" stroke="0" extrusionOk="0">
                <a:moveTo>
                  <a:pt x="0" y="0"/>
                </a:moveTo>
                <a:cubicBezTo>
                  <a:pt x="222430" y="-36251"/>
                  <a:pt x="283164" y="9035"/>
                  <a:pt x="480776" y="0"/>
                </a:cubicBezTo>
                <a:cubicBezTo>
                  <a:pt x="678388" y="-9035"/>
                  <a:pt x="793600" y="25673"/>
                  <a:pt x="900176" y="0"/>
                </a:cubicBezTo>
                <a:cubicBezTo>
                  <a:pt x="1006752" y="-25673"/>
                  <a:pt x="1209997" y="64458"/>
                  <a:pt x="1473015" y="0"/>
                </a:cubicBezTo>
                <a:cubicBezTo>
                  <a:pt x="1736033" y="-64458"/>
                  <a:pt x="1837393" y="16586"/>
                  <a:pt x="1953791" y="0"/>
                </a:cubicBezTo>
                <a:cubicBezTo>
                  <a:pt x="2070189" y="-16586"/>
                  <a:pt x="2252161" y="25833"/>
                  <a:pt x="2434567" y="0"/>
                </a:cubicBezTo>
                <a:cubicBezTo>
                  <a:pt x="2616973" y="-25833"/>
                  <a:pt x="2781797" y="69488"/>
                  <a:pt x="3068782" y="0"/>
                </a:cubicBezTo>
                <a:cubicBezTo>
                  <a:pt x="3070212" y="20926"/>
                  <a:pt x="3064563" y="36494"/>
                  <a:pt x="3068782" y="45719"/>
                </a:cubicBezTo>
                <a:cubicBezTo>
                  <a:pt x="2859352" y="87875"/>
                  <a:pt x="2701510" y="148"/>
                  <a:pt x="2557318" y="45719"/>
                </a:cubicBezTo>
                <a:cubicBezTo>
                  <a:pt x="2413126" y="91290"/>
                  <a:pt x="2317246" y="28308"/>
                  <a:pt x="2137918" y="45719"/>
                </a:cubicBezTo>
                <a:cubicBezTo>
                  <a:pt x="1958590" y="63130"/>
                  <a:pt x="1852780" y="33541"/>
                  <a:pt x="1626454" y="45719"/>
                </a:cubicBezTo>
                <a:cubicBezTo>
                  <a:pt x="1400128" y="57897"/>
                  <a:pt x="1274521" y="37593"/>
                  <a:pt x="1114991" y="45719"/>
                </a:cubicBezTo>
                <a:cubicBezTo>
                  <a:pt x="955461" y="53845"/>
                  <a:pt x="843703" y="28177"/>
                  <a:pt x="634215" y="45719"/>
                </a:cubicBezTo>
                <a:cubicBezTo>
                  <a:pt x="424727" y="63261"/>
                  <a:pt x="260358" y="-24293"/>
                  <a:pt x="0" y="45719"/>
                </a:cubicBezTo>
                <a:cubicBezTo>
                  <a:pt x="-463" y="29546"/>
                  <a:pt x="2827" y="11420"/>
                  <a:pt x="0" y="0"/>
                </a:cubicBezTo>
                <a:close/>
              </a:path>
            </a:pathLst>
          </a:custGeom>
          <a:solidFill>
            <a:srgbClr val="FF0000"/>
          </a:solid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5954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33577-DB23-406A-683F-0394CB80C7BB}"/>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6D456BD0-E400-D4EE-AD70-BD7EF39072B3}"/>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Fair Ordering</a:t>
            </a:r>
          </a:p>
        </p:txBody>
      </p:sp>
      <p:sp>
        <p:nvSpPr>
          <p:cNvPr id="3" name="Rounded Rectangle 2">
            <a:extLst>
              <a:ext uri="{FF2B5EF4-FFF2-40B4-BE49-F238E27FC236}">
                <a16:creationId xmlns:a16="http://schemas.microsoft.com/office/drawing/2014/main" id="{4A9D1208-A94A-4281-A206-AFA15969897A}"/>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Our Proposal</a:t>
            </a:r>
          </a:p>
        </p:txBody>
      </p:sp>
      <p:sp>
        <p:nvSpPr>
          <p:cNvPr id="5" name="Rounded Rectangle 4">
            <a:extLst>
              <a:ext uri="{FF2B5EF4-FFF2-40B4-BE49-F238E27FC236}">
                <a16:creationId xmlns:a16="http://schemas.microsoft.com/office/drawing/2014/main" id="{95C0259C-4A66-F421-79AE-FC935693F219}"/>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pic>
        <p:nvPicPr>
          <p:cNvPr id="12" name="Graphic 11" descr="Clock with solid fill">
            <a:extLst>
              <a:ext uri="{FF2B5EF4-FFF2-40B4-BE49-F238E27FC236}">
                <a16:creationId xmlns:a16="http://schemas.microsoft.com/office/drawing/2014/main" id="{392C6871-0B8F-6DD4-36BF-39F962D67D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67225" y="1899927"/>
            <a:ext cx="914400" cy="914400"/>
          </a:xfrm>
          <a:prstGeom prst="rect">
            <a:avLst/>
          </a:prstGeom>
        </p:spPr>
      </p:pic>
      <p:pic>
        <p:nvPicPr>
          <p:cNvPr id="13" name="Graphic 12" descr="Clock with solid fill">
            <a:extLst>
              <a:ext uri="{FF2B5EF4-FFF2-40B4-BE49-F238E27FC236}">
                <a16:creationId xmlns:a16="http://schemas.microsoft.com/office/drawing/2014/main" id="{AA102FCB-6B46-FFE3-C81F-BA97F26E5C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6782" y="1899927"/>
            <a:ext cx="914400" cy="914400"/>
          </a:xfrm>
          <a:prstGeom prst="rect">
            <a:avLst/>
          </a:prstGeom>
        </p:spPr>
      </p:pic>
      <p:pic>
        <p:nvPicPr>
          <p:cNvPr id="14" name="Graphic 13" descr="Clock with solid fill">
            <a:extLst>
              <a:ext uri="{FF2B5EF4-FFF2-40B4-BE49-F238E27FC236}">
                <a16:creationId xmlns:a16="http://schemas.microsoft.com/office/drawing/2014/main" id="{7F1CB5A1-1769-5822-029B-BBCBA2935F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204354758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1C12B-E042-5E1A-FFAA-6D9BE649E2D0}"/>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25CC6B78-2FD9-39DE-AF3A-6EA10A33678F}"/>
              </a:ext>
            </a:extLst>
          </p:cNvPr>
          <p:cNvSpPr/>
          <p:nvPr/>
        </p:nvSpPr>
        <p:spPr>
          <a:xfrm>
            <a:off x="623454" y="574964"/>
            <a:ext cx="4281056"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Fair Ordering</a:t>
            </a:r>
          </a:p>
        </p:txBody>
      </p:sp>
      <p:sp>
        <p:nvSpPr>
          <p:cNvPr id="3" name="Rounded Rectangle 2">
            <a:extLst>
              <a:ext uri="{FF2B5EF4-FFF2-40B4-BE49-F238E27FC236}">
                <a16:creationId xmlns:a16="http://schemas.microsoft.com/office/drawing/2014/main" id="{1FC08AEF-07D4-C0E7-3348-73EF3B7CAF21}"/>
              </a:ext>
            </a:extLst>
          </p:cNvPr>
          <p:cNvSpPr/>
          <p:nvPr/>
        </p:nvSpPr>
        <p:spPr>
          <a:xfrm>
            <a:off x="5383897" y="574964"/>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5" name="Rounded Rectangle 4">
            <a:extLst>
              <a:ext uri="{FF2B5EF4-FFF2-40B4-BE49-F238E27FC236}">
                <a16:creationId xmlns:a16="http://schemas.microsoft.com/office/drawing/2014/main" id="{2EDDB4B0-88B8-60A8-1F28-5FC75CBCEA33}"/>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6" name="TextBox 5">
            <a:extLst>
              <a:ext uri="{FF2B5EF4-FFF2-40B4-BE49-F238E27FC236}">
                <a16:creationId xmlns:a16="http://schemas.microsoft.com/office/drawing/2014/main" id="{C45171AB-8276-0193-D81A-C9E5B9378A6C}"/>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7" name="Rounded Rectangle 6">
            <a:extLst>
              <a:ext uri="{FF2B5EF4-FFF2-40B4-BE49-F238E27FC236}">
                <a16:creationId xmlns:a16="http://schemas.microsoft.com/office/drawing/2014/main" id="{C44FD225-5FBD-7B73-DC96-0048C0063BB0}"/>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AF933B63-F3AA-7CB8-880F-9EB7D30F62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308EAF3D-DDF1-290A-9827-F28C6386D9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6E01F937-1BCF-A7F7-6A87-A3148379F4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12003" y="1899927"/>
            <a:ext cx="914400" cy="914400"/>
          </a:xfrm>
          <a:prstGeom prst="rect">
            <a:avLst/>
          </a:prstGeom>
        </p:spPr>
      </p:pic>
    </p:spTree>
    <p:extLst>
      <p:ext uri="{BB962C8B-B14F-4D97-AF65-F5344CB8AC3E}">
        <p14:creationId xmlns:p14="http://schemas.microsoft.com/office/powerpoint/2010/main" val="49122738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A5D3-DCB5-097E-BBC1-63789ACB8B96}"/>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60BA4BB-7650-CFA4-AC86-15D0AE96D413}"/>
              </a:ext>
            </a:extLst>
          </p:cNvPr>
          <p:cNvSpPr/>
          <p:nvPr/>
        </p:nvSpPr>
        <p:spPr>
          <a:xfrm>
            <a:off x="7287490" y="554183"/>
            <a:ext cx="4281056"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Our Proposal</a:t>
            </a:r>
          </a:p>
        </p:txBody>
      </p:sp>
      <p:sp>
        <p:nvSpPr>
          <p:cNvPr id="16" name="Rounded Rectangle 15">
            <a:extLst>
              <a:ext uri="{FF2B5EF4-FFF2-40B4-BE49-F238E27FC236}">
                <a16:creationId xmlns:a16="http://schemas.microsoft.com/office/drawing/2014/main" id="{AF89A489-9BC9-C35E-4934-CA0D5C634DF2}"/>
              </a:ext>
            </a:extLst>
          </p:cNvPr>
          <p:cNvSpPr/>
          <p:nvPr/>
        </p:nvSpPr>
        <p:spPr>
          <a:xfrm>
            <a:off x="2568261" y="561804"/>
            <a:ext cx="4702242"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prstClr val="black"/>
                </a:solidFill>
                <a:latin typeface="Aptos" panose="02110004020202020204"/>
              </a:rPr>
              <a:t>      </a:t>
            </a:r>
            <a:r>
              <a:rPr kumimoji="0" lang="en-US" sz="4000" b="0" i="0" u="none" strike="noStrike" kern="1200" cap="none" spc="0" normalizeH="0" baseline="0" noProof="0" dirty="0">
                <a:ln>
                  <a:noFill/>
                </a:ln>
                <a:solidFill>
                  <a:prstClr val="black"/>
                </a:solidFill>
                <a:effectLst/>
                <a:uLnTx/>
                <a:uFillTx/>
                <a:latin typeface="Aptos" panose="02110004020202020204"/>
                <a:ea typeface="+mn-ea"/>
                <a:cs typeface="+mn-cs"/>
              </a:rPr>
              <a:t>Probabilistic Fair Ordering</a:t>
            </a:r>
          </a:p>
        </p:txBody>
      </p:sp>
      <p:sp>
        <p:nvSpPr>
          <p:cNvPr id="5" name="Rounded Rectangle 4">
            <a:extLst>
              <a:ext uri="{FF2B5EF4-FFF2-40B4-BE49-F238E27FC236}">
                <a16:creationId xmlns:a16="http://schemas.microsoft.com/office/drawing/2014/main" id="{9E8D2AF0-6BE7-A45D-6A1F-C1EE5F4AED42}"/>
              </a:ext>
            </a:extLst>
          </p:cNvPr>
          <p:cNvSpPr/>
          <p:nvPr/>
        </p:nvSpPr>
        <p:spPr>
          <a:xfrm>
            <a:off x="623454" y="2829568"/>
            <a:ext cx="10751128" cy="990600"/>
          </a:xfrm>
          <a:prstGeom prst="roundRect">
            <a:avLst/>
          </a:prstGeom>
          <a:solidFill>
            <a:schemeClr val="accent2">
              <a:lumMod val="40000"/>
              <a:lumOff val="6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It’s impossible to obtain precise timestamps.</a:t>
            </a:r>
          </a:p>
        </p:txBody>
      </p:sp>
      <p:sp>
        <p:nvSpPr>
          <p:cNvPr id="7" name="Rounded Rectangle 6">
            <a:extLst>
              <a:ext uri="{FF2B5EF4-FFF2-40B4-BE49-F238E27FC236}">
                <a16:creationId xmlns:a16="http://schemas.microsoft.com/office/drawing/2014/main" id="{3FAF4C24-FF1A-64D3-EACB-A25A4467322D}"/>
              </a:ext>
            </a:extLst>
          </p:cNvPr>
          <p:cNvSpPr/>
          <p:nvPr/>
        </p:nvSpPr>
        <p:spPr>
          <a:xfrm>
            <a:off x="623454" y="4435103"/>
            <a:ext cx="11018781" cy="990600"/>
          </a:xfrm>
          <a:prstGeom prst="roundRect">
            <a:avLst/>
          </a:prstGeom>
          <a:solidFill>
            <a:schemeClr val="accent2">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lvl="0" algn="ctr">
              <a:defRPr/>
            </a:pPr>
            <a:r>
              <a:rPr lang="en-US" sz="2800" dirty="0">
                <a:solidFill>
                  <a:srgbClr val="E97132">
                    <a:lumMod val="20000"/>
                    <a:lumOff val="80000"/>
                  </a:srgbClr>
                </a:solidFill>
              </a:rPr>
              <a:t>But we can </a:t>
            </a:r>
            <a:r>
              <a:rPr lang="en-US" sz="2800" dirty="0">
                <a:solidFill>
                  <a:schemeClr val="tx1"/>
                </a:solidFill>
                <a:highlight>
                  <a:srgbClr val="FFFF00"/>
                </a:highlight>
              </a:rPr>
              <a:t>probabilistically compare</a:t>
            </a:r>
            <a:r>
              <a:rPr lang="en-US" sz="2800" dirty="0">
                <a:solidFill>
                  <a:srgbClr val="E97132">
                    <a:lumMod val="20000"/>
                    <a:lumOff val="80000"/>
                  </a:srgbClr>
                </a:solidFill>
              </a:rPr>
              <a:t> two imprecise timestamps.</a:t>
            </a:r>
          </a:p>
        </p:txBody>
      </p:sp>
      <p:pic>
        <p:nvPicPr>
          <p:cNvPr id="2" name="Graphic 1" descr="Clock with solid fill">
            <a:extLst>
              <a:ext uri="{FF2B5EF4-FFF2-40B4-BE49-F238E27FC236}">
                <a16:creationId xmlns:a16="http://schemas.microsoft.com/office/drawing/2014/main" id="{56A1BCF8-5391-CBA1-F6CB-BE4FFD13B1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67225" y="1899927"/>
            <a:ext cx="914400" cy="914400"/>
          </a:xfrm>
          <a:prstGeom prst="rect">
            <a:avLst/>
          </a:prstGeom>
        </p:spPr>
      </p:pic>
      <p:pic>
        <p:nvPicPr>
          <p:cNvPr id="4" name="Graphic 3" descr="Clock with solid fill">
            <a:extLst>
              <a:ext uri="{FF2B5EF4-FFF2-40B4-BE49-F238E27FC236}">
                <a16:creationId xmlns:a16="http://schemas.microsoft.com/office/drawing/2014/main" id="{5AAA02EF-970F-F74F-1E31-A5A128296F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56782" y="1899927"/>
            <a:ext cx="914400" cy="914400"/>
          </a:xfrm>
          <a:prstGeom prst="rect">
            <a:avLst/>
          </a:prstGeom>
        </p:spPr>
      </p:pic>
      <p:pic>
        <p:nvPicPr>
          <p:cNvPr id="9" name="Graphic 8" descr="Clock with solid fill">
            <a:extLst>
              <a:ext uri="{FF2B5EF4-FFF2-40B4-BE49-F238E27FC236}">
                <a16:creationId xmlns:a16="http://schemas.microsoft.com/office/drawing/2014/main" id="{A17E4295-B461-3390-5104-0A06DD9AB6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12003" y="1899927"/>
            <a:ext cx="914400" cy="914400"/>
          </a:xfrm>
          <a:prstGeom prst="rect">
            <a:avLst/>
          </a:prstGeom>
        </p:spPr>
      </p:pic>
      <p:sp>
        <p:nvSpPr>
          <p:cNvPr id="11" name="Rounded Rectangle 10">
            <a:extLst>
              <a:ext uri="{FF2B5EF4-FFF2-40B4-BE49-F238E27FC236}">
                <a16:creationId xmlns:a16="http://schemas.microsoft.com/office/drawing/2014/main" id="{F55705BE-6C8E-1A69-CC8E-E2AA41245518}"/>
              </a:ext>
            </a:extLst>
          </p:cNvPr>
          <p:cNvSpPr/>
          <p:nvPr/>
        </p:nvSpPr>
        <p:spPr>
          <a:xfrm>
            <a:off x="623453" y="5545338"/>
            <a:ext cx="11018780" cy="990600"/>
          </a:xfrm>
          <a:prstGeom prst="roundRect">
            <a:avLst/>
          </a:prstGeom>
          <a:solidFill>
            <a:schemeClr val="accent2">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tx1"/>
                </a:solidFill>
              </a:rPr>
              <a:t>Enabled by treating time as a Random Variable!</a:t>
            </a:r>
          </a:p>
        </p:txBody>
      </p:sp>
      <p:sp>
        <p:nvSpPr>
          <p:cNvPr id="12" name="Rounded Rectangle 11">
            <a:extLst>
              <a:ext uri="{FF2B5EF4-FFF2-40B4-BE49-F238E27FC236}">
                <a16:creationId xmlns:a16="http://schemas.microsoft.com/office/drawing/2014/main" id="{91FD4E88-32BD-0D72-B59F-15B6EDAA0427}"/>
              </a:ext>
            </a:extLst>
          </p:cNvPr>
          <p:cNvSpPr/>
          <p:nvPr/>
        </p:nvSpPr>
        <p:spPr>
          <a:xfrm>
            <a:off x="314510" y="561804"/>
            <a:ext cx="2951017"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Tommy</a:t>
            </a:r>
          </a:p>
        </p:txBody>
      </p:sp>
      <p:sp>
        <p:nvSpPr>
          <p:cNvPr id="13" name="Rounded Rectangle 12">
            <a:extLst>
              <a:ext uri="{FF2B5EF4-FFF2-40B4-BE49-F238E27FC236}">
                <a16:creationId xmlns:a16="http://schemas.microsoft.com/office/drawing/2014/main" id="{AA1249CE-0063-4777-1DC7-0B6D9CC4E60D}"/>
              </a:ext>
            </a:extLst>
          </p:cNvPr>
          <p:cNvSpPr/>
          <p:nvPr/>
        </p:nvSpPr>
        <p:spPr>
          <a:xfrm>
            <a:off x="2940296" y="561804"/>
            <a:ext cx="342218" cy="990600"/>
          </a:xfrm>
          <a:prstGeom prst="roundRect">
            <a:avLst/>
          </a:prstGeom>
          <a:solidFill>
            <a:srgbClr val="92D05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tx1"/>
                </a:solidFill>
              </a:rPr>
              <a:t>:</a:t>
            </a:r>
          </a:p>
        </p:txBody>
      </p:sp>
      <p:sp>
        <p:nvSpPr>
          <p:cNvPr id="14" name="TextBox 13">
            <a:extLst>
              <a:ext uri="{FF2B5EF4-FFF2-40B4-BE49-F238E27FC236}">
                <a16:creationId xmlns:a16="http://schemas.microsoft.com/office/drawing/2014/main" id="{3F781D6E-BB95-307E-3C9C-C88162A40238}"/>
              </a:ext>
            </a:extLst>
          </p:cNvPr>
          <p:cNvSpPr txBox="1"/>
          <p:nvPr/>
        </p:nvSpPr>
        <p:spPr>
          <a:xfrm>
            <a:off x="817418" y="3785943"/>
            <a:ext cx="1153620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srgbClr val="FF0000"/>
                </a:solidFill>
                <a:latin typeface="Aptos" panose="02110004020202020204"/>
              </a:rPr>
              <a:t>b</a:t>
            </a:r>
            <a:r>
              <a:rPr kumimoji="0" lang="en-US" sz="3200" b="0" i="0" u="none" strike="noStrike" kern="1200" cap="none" spc="0" normalizeH="0" baseline="0" noProof="0" dirty="0">
                <a:ln>
                  <a:noFill/>
                </a:ln>
                <a:solidFill>
                  <a:srgbClr val="FF0000"/>
                </a:solidFill>
                <a:effectLst/>
                <a:uLnTx/>
                <a:uFillTx/>
                <a:latin typeface="Aptos" panose="02110004020202020204"/>
              </a:rPr>
              <a:t>ecause it’s impossible to remove all the error from clocks</a:t>
            </a:r>
            <a:endParaRPr kumimoji="0" lang="en-US" sz="2400" b="0" i="0" u="none" strike="noStrike" kern="1200" cap="none" spc="0" normalizeH="0" baseline="0" noProof="0" dirty="0">
              <a:ln>
                <a:noFill/>
              </a:ln>
              <a:solidFill>
                <a:srgbClr val="FF0000"/>
              </a:solidFill>
              <a:effectLst/>
              <a:uLnTx/>
              <a:uFillTx/>
              <a:latin typeface="Aptos" panose="02110004020202020204"/>
              <a:ea typeface="+mn-ea"/>
              <a:cs typeface="+mn-cs"/>
            </a:endParaRPr>
          </a:p>
        </p:txBody>
      </p:sp>
      <p:sp>
        <p:nvSpPr>
          <p:cNvPr id="15" name="Rounded Rectangle 14">
            <a:extLst>
              <a:ext uri="{FF2B5EF4-FFF2-40B4-BE49-F238E27FC236}">
                <a16:creationId xmlns:a16="http://schemas.microsoft.com/office/drawing/2014/main" id="{35386162-E6B0-07F5-A351-84F6853CF289}"/>
              </a:ext>
            </a:extLst>
          </p:cNvPr>
          <p:cNvSpPr/>
          <p:nvPr/>
        </p:nvSpPr>
        <p:spPr>
          <a:xfrm>
            <a:off x="323003" y="561804"/>
            <a:ext cx="2951017"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5400" dirty="0">
              <a:solidFill>
                <a:schemeClr val="tx1"/>
              </a:solidFill>
            </a:endParaRPr>
          </a:p>
        </p:txBody>
      </p:sp>
      <p:sp>
        <p:nvSpPr>
          <p:cNvPr id="17" name="Rounded Rectangle 16">
            <a:extLst>
              <a:ext uri="{FF2B5EF4-FFF2-40B4-BE49-F238E27FC236}">
                <a16:creationId xmlns:a16="http://schemas.microsoft.com/office/drawing/2014/main" id="{8D87D4C2-06D1-85D9-8395-E8AE07719CAC}"/>
              </a:ext>
            </a:extLst>
          </p:cNvPr>
          <p:cNvSpPr/>
          <p:nvPr/>
        </p:nvSpPr>
        <p:spPr>
          <a:xfrm>
            <a:off x="7287490" y="586376"/>
            <a:ext cx="4281056" cy="990600"/>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654526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AF5D50-8F1C-2BB8-764C-AB798550241E}"/>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A88B2A58-92CB-2E41-CC60-98B29EB22764}"/>
              </a:ext>
            </a:extLst>
          </p:cNvPr>
          <p:cNvSpPr/>
          <p:nvPr/>
        </p:nvSpPr>
        <p:spPr>
          <a:xfrm>
            <a:off x="1329771" y="1681020"/>
            <a:ext cx="2953511" cy="1081472"/>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rPr>
              <a:t>Equalized Cables</a:t>
            </a:r>
            <a:br>
              <a:rPr lang="en-US" dirty="0">
                <a:solidFill>
                  <a:schemeClr val="bg1"/>
                </a:solidFill>
              </a:rPr>
            </a:br>
            <a:r>
              <a:rPr lang="en-US" sz="5400" dirty="0">
                <a:solidFill>
                  <a:schemeClr val="bg1"/>
                </a:solidFill>
              </a:rPr>
              <a:t>FIFO</a:t>
            </a:r>
          </a:p>
        </p:txBody>
      </p:sp>
      <p:sp>
        <p:nvSpPr>
          <p:cNvPr id="4" name="Rounded Rectangle 3">
            <a:extLst>
              <a:ext uri="{FF2B5EF4-FFF2-40B4-BE49-F238E27FC236}">
                <a16:creationId xmlns:a16="http://schemas.microsoft.com/office/drawing/2014/main" id="{0958510F-084C-7AC3-29DF-63139BD9705D}"/>
              </a:ext>
            </a:extLst>
          </p:cNvPr>
          <p:cNvSpPr/>
          <p:nvPr/>
        </p:nvSpPr>
        <p:spPr>
          <a:xfrm>
            <a:off x="7765070" y="1681020"/>
            <a:ext cx="2987420" cy="1073929"/>
          </a:xfrm>
          <a:prstGeom prst="roundRect">
            <a:avLst/>
          </a:prstGeom>
          <a:solidFill>
            <a:schemeClr val="accent1">
              <a:lumMod val="60000"/>
              <a:lumOff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5400" dirty="0">
                <a:solidFill>
                  <a:schemeClr val="bg1"/>
                </a:solidFill>
              </a:rPr>
              <a:t>Onyx</a:t>
            </a:r>
            <a:br>
              <a:rPr lang="en-US" sz="5400" dirty="0">
                <a:solidFill>
                  <a:schemeClr val="bg1"/>
                </a:solidFill>
              </a:rPr>
            </a:br>
            <a:r>
              <a:rPr lang="en-US" dirty="0">
                <a:solidFill>
                  <a:schemeClr val="bg1"/>
                </a:solidFill>
              </a:rPr>
              <a:t>SIGCOMM’25</a:t>
            </a:r>
            <a:endParaRPr lang="en-US" sz="5400" dirty="0">
              <a:solidFill>
                <a:schemeClr val="bg1"/>
              </a:solidFill>
            </a:endParaRPr>
          </a:p>
        </p:txBody>
      </p:sp>
      <p:sp>
        <p:nvSpPr>
          <p:cNvPr id="9" name="Rectangle 8">
            <a:extLst>
              <a:ext uri="{FF2B5EF4-FFF2-40B4-BE49-F238E27FC236}">
                <a16:creationId xmlns:a16="http://schemas.microsoft.com/office/drawing/2014/main" id="{E528202C-23A4-2938-3F58-7CE00B017D72}"/>
              </a:ext>
            </a:extLst>
          </p:cNvPr>
          <p:cNvSpPr/>
          <p:nvPr/>
        </p:nvSpPr>
        <p:spPr>
          <a:xfrm>
            <a:off x="4283282" y="491174"/>
            <a:ext cx="3481787"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Prior Work</a:t>
            </a:r>
          </a:p>
        </p:txBody>
      </p:sp>
      <p:pic>
        <p:nvPicPr>
          <p:cNvPr id="10" name="Picture 9">
            <a:extLst>
              <a:ext uri="{FF2B5EF4-FFF2-40B4-BE49-F238E27FC236}">
                <a16:creationId xmlns:a16="http://schemas.microsoft.com/office/drawing/2014/main" id="{5B4E4D27-03F2-5B6A-7B0B-4AC6FDCE7F79}"/>
              </a:ext>
            </a:extLst>
          </p:cNvPr>
          <p:cNvPicPr>
            <a:picLocks noChangeAspect="1"/>
          </p:cNvPicPr>
          <p:nvPr/>
        </p:nvPicPr>
        <p:blipFill>
          <a:blip r:embed="rId2"/>
          <a:stretch>
            <a:fillRect/>
          </a:stretch>
        </p:blipFill>
        <p:spPr>
          <a:xfrm>
            <a:off x="1095339" y="2337418"/>
            <a:ext cx="3355593" cy="3600041"/>
          </a:xfrm>
          <a:prstGeom prst="rect">
            <a:avLst/>
          </a:prstGeom>
        </p:spPr>
      </p:pic>
      <p:sp>
        <p:nvSpPr>
          <p:cNvPr id="11" name="TextBox 10">
            <a:extLst>
              <a:ext uri="{FF2B5EF4-FFF2-40B4-BE49-F238E27FC236}">
                <a16:creationId xmlns:a16="http://schemas.microsoft.com/office/drawing/2014/main" id="{AB08B153-1F4B-D29B-8E4A-5E7E241021B2}"/>
              </a:ext>
            </a:extLst>
          </p:cNvPr>
          <p:cNvSpPr txBox="1"/>
          <p:nvPr/>
        </p:nvSpPr>
        <p:spPr>
          <a:xfrm>
            <a:off x="1497420" y="5474376"/>
            <a:ext cx="29535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On-premises exchanges / private data centers</a:t>
            </a:r>
          </a:p>
        </p:txBody>
      </p:sp>
      <p:pic>
        <p:nvPicPr>
          <p:cNvPr id="12" name="Picture 11">
            <a:extLst>
              <a:ext uri="{FF2B5EF4-FFF2-40B4-BE49-F238E27FC236}">
                <a16:creationId xmlns:a16="http://schemas.microsoft.com/office/drawing/2014/main" id="{03A4067F-B256-7FFF-80EA-71F5965B24FF}"/>
              </a:ext>
            </a:extLst>
          </p:cNvPr>
          <p:cNvPicPr>
            <a:picLocks noChangeAspect="1"/>
          </p:cNvPicPr>
          <p:nvPr/>
        </p:nvPicPr>
        <p:blipFill>
          <a:blip r:embed="rId3"/>
          <a:stretch>
            <a:fillRect/>
          </a:stretch>
        </p:blipFill>
        <p:spPr>
          <a:xfrm>
            <a:off x="7448480" y="2509984"/>
            <a:ext cx="3758184" cy="3395177"/>
          </a:xfrm>
          <a:prstGeom prst="rect">
            <a:avLst/>
          </a:prstGeom>
        </p:spPr>
      </p:pic>
      <p:sp>
        <p:nvSpPr>
          <p:cNvPr id="13" name="TextBox 12">
            <a:extLst>
              <a:ext uri="{FF2B5EF4-FFF2-40B4-BE49-F238E27FC236}">
                <a16:creationId xmlns:a16="http://schemas.microsoft.com/office/drawing/2014/main" id="{01C509D9-0A19-183B-A5CC-945549BA4C87}"/>
              </a:ext>
            </a:extLst>
          </p:cNvPr>
          <p:cNvSpPr txBox="1"/>
          <p:nvPr/>
        </p:nvSpPr>
        <p:spPr>
          <a:xfrm>
            <a:off x="8105027" y="5468251"/>
            <a:ext cx="295351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Single region public cloud</a:t>
            </a:r>
          </a:p>
        </p:txBody>
      </p:sp>
      <p:sp>
        <p:nvSpPr>
          <p:cNvPr id="17" name="TextBox 16">
            <a:extLst>
              <a:ext uri="{FF2B5EF4-FFF2-40B4-BE49-F238E27FC236}">
                <a16:creationId xmlns:a16="http://schemas.microsoft.com/office/drawing/2014/main" id="{A05D1D0F-CC4B-DC90-60EF-4D1BB6B752AA}"/>
              </a:ext>
            </a:extLst>
          </p:cNvPr>
          <p:cNvSpPr txBox="1"/>
          <p:nvPr/>
        </p:nvSpPr>
        <p:spPr>
          <a:xfrm>
            <a:off x="8919927" y="3073917"/>
            <a:ext cx="714106" cy="369332"/>
          </a:xfrm>
          <a:prstGeom prst="rect">
            <a:avLst/>
          </a:prstGeom>
          <a:solidFill>
            <a:schemeClr val="accent6">
              <a:lumMod val="20000"/>
              <a:lumOff val="8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Onyx</a:t>
            </a:r>
          </a:p>
        </p:txBody>
      </p:sp>
      <p:sp>
        <p:nvSpPr>
          <p:cNvPr id="16" name="Rounded Rectangle 15">
            <a:extLst>
              <a:ext uri="{FF2B5EF4-FFF2-40B4-BE49-F238E27FC236}">
                <a16:creationId xmlns:a16="http://schemas.microsoft.com/office/drawing/2014/main" id="{EE5B4536-8D83-FD48-1876-E0FA95316A73}"/>
              </a:ext>
            </a:extLst>
          </p:cNvPr>
          <p:cNvSpPr/>
          <p:nvPr/>
        </p:nvSpPr>
        <p:spPr>
          <a:xfrm>
            <a:off x="314510" y="1414504"/>
            <a:ext cx="11420290" cy="83268"/>
          </a:xfrm>
          <a:prstGeom prst="round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 dirty="0">
                <a:solidFill>
                  <a:schemeClr val="accent6"/>
                </a:solidFill>
              </a:rPr>
              <a:t>Tommy</a:t>
            </a:r>
          </a:p>
        </p:txBody>
      </p:sp>
    </p:spTree>
    <p:extLst>
      <p:ext uri="{BB962C8B-B14F-4D97-AF65-F5344CB8AC3E}">
        <p14:creationId xmlns:p14="http://schemas.microsoft.com/office/powerpoint/2010/main" val="4358298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p:bldP spid="13" grpId="0"/>
      <p:bldP spid="17"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5BBF-1B8F-8943-1513-DC0422A6C530}"/>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E3E3CAA6-354B-81FE-3FC2-4E02E3FD38FB}"/>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3E18314-365A-EE1E-0D12-808D6119DCEC}"/>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5F1D8B1F-DDC6-AD5B-EC35-DEC701DE2A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FC41FBAB-0C9C-449E-36AC-E7B73221A2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69194A3B-0F9A-CEC6-0BD9-B1756F32AD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C392B9DA-30E3-C441-CB29-01477705CA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2D9796AB-F84B-1DE2-A5D9-7261232419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67D79C0F-623D-3066-4636-E50D04262891}"/>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47499C2-0E31-1DCE-A060-5FA0B0321518}"/>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40D6B3E0-3809-F388-0142-3A7443156B5D}"/>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D21D8E98-C1FF-C273-7567-2DDF59C82E78}"/>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95CB0D97-C2BE-E5C8-3407-38A68AE24E8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9BD07AAF-CA90-194A-EEA1-C386D6CE24A9}"/>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C218843C-9F13-AA7F-BD3F-3D979A067C33}"/>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A51B049-F4AF-98BA-B005-42D26054AFC3}"/>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78FDB8A-127F-E222-174D-576A0B0E3F8F}"/>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F018C3C0-A4F1-7109-28D5-14EED0557E5C}"/>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63D3AF6B-32DE-9136-71A7-D1F7802872E9}"/>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A6909A8B-D78B-B3EC-A634-9A165004A09C}"/>
              </a:ext>
            </a:extLst>
          </p:cNvPr>
          <p:cNvPicPr>
            <a:picLocks noChangeAspect="1"/>
          </p:cNvPicPr>
          <p:nvPr/>
        </p:nvPicPr>
        <p:blipFill>
          <a:blip r:embed="rId7"/>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81E1A0AD-BFF8-2794-7B5D-DBF894282356}"/>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D563CE6F-D20E-794E-665A-5F38950C478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CBA7C77C-37FB-CCEB-619A-5253DF9965D6}"/>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E9B78F4A-A1DD-F599-9B37-412F81140499}"/>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E4B192A6-C626-4A51-2905-B3983D15C2E7}"/>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C59308A0-45BF-A4C8-5C67-F42D294B6360}"/>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0B2E1C5B-F42F-538E-A7A6-5CBA663EFCEC}"/>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spTree>
    <p:extLst>
      <p:ext uri="{BB962C8B-B14F-4D97-AF65-F5344CB8AC3E}">
        <p14:creationId xmlns:p14="http://schemas.microsoft.com/office/powerpoint/2010/main" val="120353565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circle(in)">
                                      <p:cBhvr>
                                        <p:cTn id="21" dur="500"/>
                                        <p:tgtEl>
                                          <p:spTgt spid="80"/>
                                        </p:tgtEl>
                                      </p:cBhvr>
                                    </p:animEffect>
                                  </p:childTnLst>
                                </p:cTn>
                              </p:par>
                              <p:par>
                                <p:cTn id="22" presetID="6" presetClass="entr" presetSubtype="16" fill="hold"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circle(in)">
                                      <p:cBhvr>
                                        <p:cTn id="24" dur="500"/>
                                        <p:tgtEl>
                                          <p:spTgt spid="43"/>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circle(in)">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par>
                                <p:cTn id="34" presetID="6" presetClass="entr" presetSubtype="16"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circle(in)">
                                      <p:cBhvr>
                                        <p:cTn id="36" dur="1000"/>
                                        <p:tgtEl>
                                          <p:spTgt spid="55"/>
                                        </p:tgtEl>
                                      </p:cBhvr>
                                    </p:animEffect>
                                  </p:childTnLst>
                                </p:cTn>
                              </p:par>
                              <p:par>
                                <p:cTn id="37" presetID="1"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6" presetClass="entr" presetSubtype="16"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circle(in)">
                                      <p:cBhvr>
                                        <p:cTn id="43" dur="1000"/>
                                        <p:tgtEl>
                                          <p:spTgt spid="56"/>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0"/>
                                        </p:tgtEl>
                                        <p:attrNameLst>
                                          <p:attrName>style.visibility</p:attrName>
                                        </p:attrNameLst>
                                      </p:cBhvr>
                                      <p:to>
                                        <p:strVal val="visible"/>
                                      </p:to>
                                    </p:set>
                                    <p:animEffect transition="in" filter="blinds(horizontal)">
                                      <p:cBhvr>
                                        <p:cTn id="50" dur="500"/>
                                        <p:tgtEl>
                                          <p:spTgt spid="12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checkerboard(across)">
                                      <p:cBhvr>
                                        <p:cTn id="55" dur="500"/>
                                        <p:tgtEl>
                                          <p:spTgt spid="79"/>
                                        </p:tgtEl>
                                      </p:cBhvr>
                                    </p:animEffect>
                                  </p:childTnLst>
                                </p:cTn>
                              </p:par>
                              <p:par>
                                <p:cTn id="56" presetID="5" presetClass="entr" presetSubtype="10" fill="hold" nodeType="withEffect">
                                  <p:stCondLst>
                                    <p:cond delay="0"/>
                                  </p:stCondLst>
                                  <p:childTnLst>
                                    <p:set>
                                      <p:cBhvr>
                                        <p:cTn id="57" dur="1" fill="hold">
                                          <p:stCondLst>
                                            <p:cond delay="0"/>
                                          </p:stCondLst>
                                        </p:cTn>
                                        <p:tgtEl>
                                          <p:spTgt spid="78"/>
                                        </p:tgtEl>
                                        <p:attrNameLst>
                                          <p:attrName>style.visibility</p:attrName>
                                        </p:attrNameLst>
                                      </p:cBhvr>
                                      <p:to>
                                        <p:strVal val="visible"/>
                                      </p:to>
                                    </p:set>
                                    <p:animEffect transition="in" filter="checkerboard(across)">
                                      <p:cBhvr>
                                        <p:cTn id="5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5" grpId="0" animBg="1"/>
      <p:bldP spid="56" grpId="0" animBg="1"/>
      <p:bldP spid="79" grpId="0" animBg="1"/>
      <p:bldP spid="80" grpId="0" animBg="1"/>
      <p:bldP spid="118"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9159-65B2-87EB-8094-B5D93DF82A75}"/>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BA1CAC90-D90C-EBFD-2A1C-868DF740A29F}"/>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A9D3F87-C13B-9EC1-5E00-1413EDE303C1}"/>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pic>
        <p:nvPicPr>
          <p:cNvPr id="7" name="Graphic 6" descr="Server outline">
            <a:extLst>
              <a:ext uri="{FF2B5EF4-FFF2-40B4-BE49-F238E27FC236}">
                <a16:creationId xmlns:a16="http://schemas.microsoft.com/office/drawing/2014/main" id="{3BF33D9F-89AC-616C-6BFF-6EC62257F3D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488FF363-3D0D-ABB9-BFF6-DF2AE36E67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D3FB802F-C2F4-E858-6DB6-382C270CFE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69A32D20-122D-3A73-116E-D60E262F1E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60CCA746-643E-4FE7-7554-63D83E36C0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070F6092-8EB0-3F27-3E55-A872D54CAA56}"/>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DDA8148-DAAA-075B-CCA4-1CD6A173CD72}"/>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C30FCB57-B496-2421-D425-147D03FDD667}"/>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4843FF7F-B345-F617-C27B-E259EEA3A6B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E2AB4EDE-243B-CC50-9DFE-6C11ECDC64EC}"/>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B9B30AC3-2319-4D0B-1B19-E0C62324442D}"/>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B850363A-8B49-A5E3-17E9-D457C1ACC41E}"/>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6B3CF548-CA56-8085-1E89-7D2456AEBB7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34C983D4-363B-70FD-D645-D52C55113139}"/>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75ADE9C0-4EA1-376F-2A40-5BCF0056867B}"/>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BD788C9F-51A6-840E-2C37-586C8F8B0C72}"/>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6A985DFF-35D8-4035-EF8B-F13C84EE8EC7}"/>
              </a:ext>
            </a:extLst>
          </p:cNvPr>
          <p:cNvPicPr>
            <a:picLocks noChangeAspect="1"/>
          </p:cNvPicPr>
          <p:nvPr/>
        </p:nvPicPr>
        <p:blipFill>
          <a:blip r:embed="rId6"/>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260E1B7E-2E20-399D-6FFB-004F1485A3B2}"/>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5C827AE5-004F-5A8E-DB29-182DA4BCB7C1}"/>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591D57FB-038A-1D3B-B9D5-377174E03D5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5B07E745-1C62-E22C-CE5E-29E91AB3D09C}"/>
              </a:ext>
            </a:extLst>
          </p:cNvPr>
          <p:cNvSpPr txBox="1"/>
          <p:nvPr/>
        </p:nvSpPr>
        <p:spPr>
          <a:xfrm>
            <a:off x="4607187" y="3801560"/>
            <a:ext cx="923971" cy="400110"/>
          </a:xfrm>
          <a:prstGeom prst="rect">
            <a:avLst/>
          </a:prstGeom>
          <a:solidFill>
            <a:schemeClr val="bg1"/>
          </a:solidFill>
        </p:spPr>
        <p:txBody>
          <a:bodyPr wrap="none" rtlCol="0">
            <a:spAutoFit/>
          </a:bodyPr>
          <a:lstStyle/>
          <a:p>
            <a:pPr lvl="0">
              <a:defRPr/>
            </a:pPr>
            <a:r>
              <a:rPr lang="en-US" sz="2000" dirty="0">
                <a:solidFill>
                  <a:srgbClr val="A02B93">
                    <a:lumMod val="60000"/>
                    <a:lumOff val="40000"/>
                  </a:srgbClr>
                </a:solidFill>
              </a:rPr>
              <a:t>Events</a:t>
            </a:r>
            <a:endPar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endParaRPr>
          </a:p>
        </p:txBody>
      </p:sp>
      <p:sp>
        <p:nvSpPr>
          <p:cNvPr id="118" name="TextBox 117">
            <a:extLst>
              <a:ext uri="{FF2B5EF4-FFF2-40B4-BE49-F238E27FC236}">
                <a16:creationId xmlns:a16="http://schemas.microsoft.com/office/drawing/2014/main" id="{0B718CA8-64E4-134D-4C21-A1C90B02F79D}"/>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A6A05307-5C1A-A478-D5F7-F77230FD8AFA}"/>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7" name="TextBox 126">
            <a:extLst>
              <a:ext uri="{FF2B5EF4-FFF2-40B4-BE49-F238E27FC236}">
                <a16:creationId xmlns:a16="http://schemas.microsoft.com/office/drawing/2014/main" id="{8A227BD1-B341-04C2-EE9A-203CD3E62285}"/>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3" name="Group 2">
            <a:extLst>
              <a:ext uri="{FF2B5EF4-FFF2-40B4-BE49-F238E27FC236}">
                <a16:creationId xmlns:a16="http://schemas.microsoft.com/office/drawing/2014/main" id="{5757C529-73B3-EAAC-A936-73ACB7642670}"/>
              </a:ext>
            </a:extLst>
          </p:cNvPr>
          <p:cNvGrpSpPr/>
          <p:nvPr/>
        </p:nvGrpSpPr>
        <p:grpSpPr>
          <a:xfrm>
            <a:off x="3419735" y="3466610"/>
            <a:ext cx="418924" cy="419672"/>
            <a:chOff x="6302631" y="3337852"/>
            <a:chExt cx="418924" cy="419672"/>
          </a:xfrm>
        </p:grpSpPr>
        <p:sp>
          <p:nvSpPr>
            <p:cNvPr id="4" name="Freeform 3">
              <a:extLst>
                <a:ext uri="{FF2B5EF4-FFF2-40B4-BE49-F238E27FC236}">
                  <a16:creationId xmlns:a16="http://schemas.microsoft.com/office/drawing/2014/main" id="{2AD82E81-1D13-4FB0-F238-6082ADC2BB7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0FE5E4C-10FB-5BE0-46E6-4260B51AE6F8}"/>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9" name="Group 8">
            <a:extLst>
              <a:ext uri="{FF2B5EF4-FFF2-40B4-BE49-F238E27FC236}">
                <a16:creationId xmlns:a16="http://schemas.microsoft.com/office/drawing/2014/main" id="{194627AC-D228-056A-3136-BA843AB4F55D}"/>
              </a:ext>
            </a:extLst>
          </p:cNvPr>
          <p:cNvGrpSpPr/>
          <p:nvPr/>
        </p:nvGrpSpPr>
        <p:grpSpPr>
          <a:xfrm>
            <a:off x="3867347" y="3466610"/>
            <a:ext cx="418924" cy="419672"/>
            <a:chOff x="6302631" y="3337852"/>
            <a:chExt cx="418924" cy="419672"/>
          </a:xfrm>
        </p:grpSpPr>
        <p:sp>
          <p:nvSpPr>
            <p:cNvPr id="13" name="Freeform 12">
              <a:extLst>
                <a:ext uri="{FF2B5EF4-FFF2-40B4-BE49-F238E27FC236}">
                  <a16:creationId xmlns:a16="http://schemas.microsoft.com/office/drawing/2014/main" id="{6B415BC6-D220-8407-03D5-50300A6E5DE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0480ABB6-48AF-B255-035D-410F4A0A15E2}"/>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2</a:t>
              </a:r>
            </a:p>
          </p:txBody>
        </p:sp>
      </p:grpSp>
      <p:grpSp>
        <p:nvGrpSpPr>
          <p:cNvPr id="17" name="Group 16">
            <a:extLst>
              <a:ext uri="{FF2B5EF4-FFF2-40B4-BE49-F238E27FC236}">
                <a16:creationId xmlns:a16="http://schemas.microsoft.com/office/drawing/2014/main" id="{2BD635A9-EE2B-BEB0-E90F-EF6CB74F3528}"/>
              </a:ext>
            </a:extLst>
          </p:cNvPr>
          <p:cNvGrpSpPr/>
          <p:nvPr/>
        </p:nvGrpSpPr>
        <p:grpSpPr>
          <a:xfrm>
            <a:off x="4737558" y="3474399"/>
            <a:ext cx="418924" cy="419672"/>
            <a:chOff x="6302631" y="3337852"/>
            <a:chExt cx="418924" cy="419672"/>
          </a:xfrm>
        </p:grpSpPr>
        <p:sp>
          <p:nvSpPr>
            <p:cNvPr id="18" name="Freeform 17">
              <a:extLst>
                <a:ext uri="{FF2B5EF4-FFF2-40B4-BE49-F238E27FC236}">
                  <a16:creationId xmlns:a16="http://schemas.microsoft.com/office/drawing/2014/main" id="{E7998973-1B0A-412D-842D-3A7DDC12782F}"/>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A09EEB9D-9C91-2FE0-0DE4-10B37F570985}"/>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20" name="Group 19">
            <a:extLst>
              <a:ext uri="{FF2B5EF4-FFF2-40B4-BE49-F238E27FC236}">
                <a16:creationId xmlns:a16="http://schemas.microsoft.com/office/drawing/2014/main" id="{896FAB8C-8529-E526-6F3D-F7278BAEAF73}"/>
              </a:ext>
            </a:extLst>
          </p:cNvPr>
          <p:cNvGrpSpPr/>
          <p:nvPr/>
        </p:nvGrpSpPr>
        <p:grpSpPr>
          <a:xfrm>
            <a:off x="5191428" y="3466610"/>
            <a:ext cx="418924" cy="419672"/>
            <a:chOff x="6302631" y="3337852"/>
            <a:chExt cx="418924" cy="419672"/>
          </a:xfrm>
        </p:grpSpPr>
        <p:sp>
          <p:nvSpPr>
            <p:cNvPr id="21" name="Freeform 20">
              <a:extLst>
                <a:ext uri="{FF2B5EF4-FFF2-40B4-BE49-F238E27FC236}">
                  <a16:creationId xmlns:a16="http://schemas.microsoft.com/office/drawing/2014/main" id="{B629B0CF-4C67-C4E8-CA62-D1D6A91375B7}"/>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TextBox 21">
              <a:extLst>
                <a:ext uri="{FF2B5EF4-FFF2-40B4-BE49-F238E27FC236}">
                  <a16:creationId xmlns:a16="http://schemas.microsoft.com/office/drawing/2014/main" id="{A003BF1F-8B99-9BF5-7423-3DE18D7C496A}"/>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4</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50135549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0.00065 -1.11111E-6 C 0.00182 0.0037 -0.00052 0.00023 0.00169 0.0331 C 0.00377 0.06597 -0.01472 0.16667 0.01237 0.19676 C 0.04166 0.23125 0.11875 0.22361 0.15338 0.22824 " pathEditMode="relative" rAng="0" ptsTypes="AAAA">
                                      <p:cBhvr>
                                        <p:cTn id="6" dur="1000" fill="hold"/>
                                        <p:tgtEl>
                                          <p:spTgt spid="3"/>
                                        </p:tgtEl>
                                        <p:attrNameLst>
                                          <p:attrName>ppt_x</p:attrName>
                                          <p:attrName>ppt_y</p:attrName>
                                        </p:attrNameLst>
                                      </p:cBhvr>
                                      <p:rCtr x="7604" y="11412"/>
                                    </p:animMotion>
                                  </p:childTnLst>
                                </p:cTn>
                              </p:par>
                              <p:par>
                                <p:cTn id="7" presetID="50" presetClass="path" presetSubtype="0" accel="50000" decel="50000" fill="hold" nodeType="withEffect">
                                  <p:stCondLst>
                                    <p:cond delay="0"/>
                                  </p:stCondLst>
                                  <p:childTnLst>
                                    <p:animMotion origin="layout" path="M -0.00065 -1.11111E-6 C 0.00183 0.00417 -0.00052 0.0007 0.0017 0.03333 C 0.00378 0.06644 -0.01472 0.1669 0.01237 0.19699 C 0.04167 0.23171 0.16446 0.22361 0.19909 0.22847 " pathEditMode="relative" rAng="0" ptsTypes="AAAA">
                                      <p:cBhvr>
                                        <p:cTn id="8" dur="500" fill="hold"/>
                                        <p:tgtEl>
                                          <p:spTgt spid="9"/>
                                        </p:tgtEl>
                                        <p:attrNameLst>
                                          <p:attrName>ppt_x</p:attrName>
                                          <p:attrName>ppt_y</p:attrName>
                                        </p:attrNameLst>
                                      </p:cBhvr>
                                      <p:rCtr x="9896" y="11412"/>
                                    </p:animMotion>
                                  </p:childTnLst>
                                </p:cTn>
                              </p:par>
                              <p:par>
                                <p:cTn id="9" presetID="50" presetClass="path" presetSubtype="0" accel="50000" decel="50000" fill="hold" nodeType="withEffect">
                                  <p:stCondLst>
                                    <p:cond delay="0"/>
                                  </p:stCondLst>
                                  <p:childTnLst>
                                    <p:animMotion origin="layout" path="M 2.5E-6 1.48148E-6 C 0.00234 0.00324 2.5E-6 0.00069 0.00234 0.03241 C 0.00703 0.06898 0.00091 0.16967 0.00065 0.21782 " pathEditMode="relative" rAng="0" ptsTypes="AAA">
                                      <p:cBhvr>
                                        <p:cTn id="10" dur="1000" fill="hold"/>
                                        <p:tgtEl>
                                          <p:spTgt spid="17"/>
                                        </p:tgtEl>
                                        <p:attrNameLst>
                                          <p:attrName>ppt_x</p:attrName>
                                          <p:attrName>ppt_y</p:attrName>
                                        </p:attrNameLst>
                                      </p:cBhvr>
                                      <p:rCtr x="208" y="10880"/>
                                    </p:animMotion>
                                  </p:childTnLst>
                                </p:cTn>
                              </p:par>
                              <p:par>
                                <p:cTn id="11" presetID="50" presetClass="path" presetSubtype="0" accel="50000" decel="50000" fill="hold" nodeType="withEffect">
                                  <p:stCondLst>
                                    <p:cond delay="0"/>
                                  </p:stCondLst>
                                  <p:childTnLst>
                                    <p:animMotion origin="layout" path="M 0.00013 -0.00046 C 0.0026 0.00324 0.00026 0.00023 0.00247 0.03264 C 0.00456 0.06551 -0.01393 0.16597 0.01315 0.19607 C 0.04284 0.23079 0.01536 0.2213 0.05 0.22616 " pathEditMode="relative" rAng="0" ptsTypes="AAAA">
                                      <p:cBhvr>
                                        <p:cTn id="12" dur="500" fill="hold"/>
                                        <p:tgtEl>
                                          <p:spTgt spid="20"/>
                                        </p:tgtEl>
                                        <p:attrNameLst>
                                          <p:attrName>ppt_x</p:attrName>
                                          <p:attrName>ppt_y</p:attrName>
                                        </p:attrNameLst>
                                      </p:cBhvr>
                                      <p:rCtr x="2396" y="1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F39C-D2A9-3467-28D1-262E097DC409}"/>
            </a:ext>
          </a:extLst>
        </p:cNvPr>
        <p:cNvGrpSpPr/>
        <p:nvPr/>
      </p:nvGrpSpPr>
      <p:grpSpPr>
        <a:xfrm>
          <a:off x="0" y="0"/>
          <a:ext cx="0" cy="0"/>
          <a:chOff x="0" y="0"/>
          <a:chExt cx="0" cy="0"/>
        </a:xfrm>
      </p:grpSpPr>
      <p:sp>
        <p:nvSpPr>
          <p:cNvPr id="5" name="Can 4">
            <a:extLst>
              <a:ext uri="{FF2B5EF4-FFF2-40B4-BE49-F238E27FC236}">
                <a16:creationId xmlns:a16="http://schemas.microsoft.com/office/drawing/2014/main" id="{D971A022-5DD7-BA1B-7315-0A1F6BE88874}"/>
              </a:ext>
            </a:extLst>
          </p:cNvPr>
          <p:cNvSpPr/>
          <p:nvPr/>
        </p:nvSpPr>
        <p:spPr>
          <a:xfrm rot="5400000">
            <a:off x="5418564" y="2362027"/>
            <a:ext cx="666707" cy="5357578"/>
          </a:xfrm>
          <a:prstGeom prst="ca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7" name="Graphic 6" descr="Server outline">
            <a:extLst>
              <a:ext uri="{FF2B5EF4-FFF2-40B4-BE49-F238E27FC236}">
                <a16:creationId xmlns:a16="http://schemas.microsoft.com/office/drawing/2014/main" id="{B708E40E-4CD1-88C8-7456-9590730193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70053" y="2775829"/>
            <a:ext cx="721034" cy="721034"/>
          </a:xfrm>
          <a:prstGeom prst="rect">
            <a:avLst/>
          </a:prstGeom>
        </p:spPr>
      </p:pic>
      <p:pic>
        <p:nvPicPr>
          <p:cNvPr id="8" name="Graphic 7" descr="Server outline">
            <a:extLst>
              <a:ext uri="{FF2B5EF4-FFF2-40B4-BE49-F238E27FC236}">
                <a16:creationId xmlns:a16="http://schemas.microsoft.com/office/drawing/2014/main" id="{CA95B654-D166-484C-A7F7-51CF38FB56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1855" y="2775829"/>
            <a:ext cx="721034" cy="721034"/>
          </a:xfrm>
          <a:prstGeom prst="rect">
            <a:avLst/>
          </a:prstGeom>
        </p:spPr>
      </p:pic>
      <p:pic>
        <p:nvPicPr>
          <p:cNvPr id="10" name="Graphic 9" descr="Alarm clock with solid fill">
            <a:extLst>
              <a:ext uri="{FF2B5EF4-FFF2-40B4-BE49-F238E27FC236}">
                <a16:creationId xmlns:a16="http://schemas.microsoft.com/office/drawing/2014/main" id="{3965E680-6A2C-A585-CF08-65D920B30C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4006" y="2433087"/>
            <a:ext cx="513127" cy="513127"/>
          </a:xfrm>
          <a:prstGeom prst="rect">
            <a:avLst/>
          </a:prstGeom>
        </p:spPr>
      </p:pic>
      <p:pic>
        <p:nvPicPr>
          <p:cNvPr id="11" name="Graphic 10" descr="Alarm clock with solid fill">
            <a:extLst>
              <a:ext uri="{FF2B5EF4-FFF2-40B4-BE49-F238E27FC236}">
                <a16:creationId xmlns:a16="http://schemas.microsoft.com/office/drawing/2014/main" id="{57B3B4EE-4653-6733-D05A-98BFF18FFE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95808" y="2433086"/>
            <a:ext cx="513127" cy="513127"/>
          </a:xfrm>
          <a:prstGeom prst="rect">
            <a:avLst/>
          </a:prstGeom>
        </p:spPr>
      </p:pic>
      <p:pic>
        <p:nvPicPr>
          <p:cNvPr id="12" name="Graphic 11" descr="Alarm clock with solid fill">
            <a:extLst>
              <a:ext uri="{FF2B5EF4-FFF2-40B4-BE49-F238E27FC236}">
                <a16:creationId xmlns:a16="http://schemas.microsoft.com/office/drawing/2014/main" id="{43D3A8B8-7BE6-E871-2FCA-678A411D2C5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11550" y="4790703"/>
            <a:ext cx="513127" cy="513127"/>
          </a:xfrm>
          <a:prstGeom prst="rect">
            <a:avLst/>
          </a:prstGeom>
        </p:spPr>
      </p:pic>
      <p:cxnSp>
        <p:nvCxnSpPr>
          <p:cNvPr id="14" name="Straight Connector 13">
            <a:extLst>
              <a:ext uri="{FF2B5EF4-FFF2-40B4-BE49-F238E27FC236}">
                <a16:creationId xmlns:a16="http://schemas.microsoft.com/office/drawing/2014/main" id="{D4F42AA9-91B5-7E2D-B6D9-89A017CF9697}"/>
              </a:ext>
            </a:extLst>
          </p:cNvPr>
          <p:cNvCxnSpPr>
            <a:cxnSpLocks/>
          </p:cNvCxnSpPr>
          <p:nvPr/>
        </p:nvCxnSpPr>
        <p:spPr>
          <a:xfrm>
            <a:off x="3991087" y="3050285"/>
            <a:ext cx="640080"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41AA39D-08BE-1E60-93BF-FC489E9885F5}"/>
              </a:ext>
            </a:extLst>
          </p:cNvPr>
          <p:cNvSpPr txBox="1"/>
          <p:nvPr/>
        </p:nvSpPr>
        <p:spPr>
          <a:xfrm>
            <a:off x="3894522" y="3104289"/>
            <a:ext cx="8938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Clients</a:t>
            </a:r>
          </a:p>
        </p:txBody>
      </p:sp>
      <p:sp>
        <p:nvSpPr>
          <p:cNvPr id="41" name="TextBox 40">
            <a:extLst>
              <a:ext uri="{FF2B5EF4-FFF2-40B4-BE49-F238E27FC236}">
                <a16:creationId xmlns:a16="http://schemas.microsoft.com/office/drawing/2014/main" id="{8FECA533-F30A-1830-945C-300416336DE2}"/>
              </a:ext>
            </a:extLst>
          </p:cNvPr>
          <p:cNvSpPr txBox="1"/>
          <p:nvPr/>
        </p:nvSpPr>
        <p:spPr>
          <a:xfrm>
            <a:off x="2038272" y="3496861"/>
            <a:ext cx="148694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Best Effort</a:t>
            </a:r>
            <a:b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br>
            <a:r>
              <a:rPr kumimoji="0" lang="en-US" sz="20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Clock Sync</a:t>
            </a:r>
            <a:r>
              <a:rPr kumimoji="0" lang="en-US" sz="1800" b="0" i="0" u="none" strike="noStrike" kern="1200" cap="none" spc="0" normalizeH="0" baseline="0" noProof="0" dirty="0">
                <a:ln>
                  <a:noFill/>
                </a:ln>
                <a:solidFill>
                  <a:prstClr val="white">
                    <a:lumMod val="65000"/>
                  </a:prstClr>
                </a:solidFill>
                <a:effectLst/>
                <a:uLnTx/>
                <a:uFillTx/>
                <a:latin typeface="Aptos" panose="02110004020202020204"/>
                <a:ea typeface="+mn-ea"/>
                <a:cs typeface="+mn-cs"/>
              </a:rPr>
              <a:t>.</a:t>
            </a:r>
          </a:p>
        </p:txBody>
      </p:sp>
      <p:cxnSp>
        <p:nvCxnSpPr>
          <p:cNvPr id="43" name="Straight Arrow Connector 42">
            <a:extLst>
              <a:ext uri="{FF2B5EF4-FFF2-40B4-BE49-F238E27FC236}">
                <a16:creationId xmlns:a16="http://schemas.microsoft.com/office/drawing/2014/main" id="{232B17D9-83AA-8E5B-B248-5C90EDF1CD59}"/>
              </a:ext>
            </a:extLst>
          </p:cNvPr>
          <p:cNvCxnSpPr>
            <a:cxnSpLocks/>
          </p:cNvCxnSpPr>
          <p:nvPr/>
        </p:nvCxnSpPr>
        <p:spPr>
          <a:xfrm>
            <a:off x="3894522" y="2746143"/>
            <a:ext cx="901286" cy="1"/>
          </a:xfrm>
          <a:prstGeom prst="straightConnector1">
            <a:avLst/>
          </a:prstGeom>
          <a:ln w="28575">
            <a:solidFill>
              <a:schemeClr val="bg1">
                <a:lumMod val="65000"/>
              </a:schemeClr>
            </a:solidFill>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Freeform 54">
            <a:extLst>
              <a:ext uri="{FF2B5EF4-FFF2-40B4-BE49-F238E27FC236}">
                <a16:creationId xmlns:a16="http://schemas.microsoft.com/office/drawing/2014/main" id="{C939B760-9BF7-FE38-AF03-A6FC22FC757B}"/>
              </a:ext>
            </a:extLst>
          </p:cNvPr>
          <p:cNvSpPr/>
          <p:nvPr/>
        </p:nvSpPr>
        <p:spPr>
          <a:xfrm>
            <a:off x="3374006" y="1887264"/>
            <a:ext cx="387086" cy="472132"/>
          </a:xfrm>
          <a:custGeom>
            <a:avLst/>
            <a:gdLst>
              <a:gd name="connsiteX0" fmla="*/ 0 w 387086"/>
              <a:gd name="connsiteY0" fmla="*/ 457234 h 472132"/>
              <a:gd name="connsiteX1" fmla="*/ 198570 w 387086"/>
              <a:gd name="connsiteY1" fmla="*/ 52459 h 472132"/>
              <a:gd name="connsiteX2" fmla="*/ 387087 w 387086"/>
              <a:gd name="connsiteY2" fmla="*/ 472132 h 472132"/>
            </a:gdLst>
            <a:ahLst/>
            <a:cxnLst>
              <a:cxn ang="0">
                <a:pos x="connsiteX0" y="connsiteY0"/>
              </a:cxn>
              <a:cxn ang="0">
                <a:pos x="connsiteX1" y="connsiteY1"/>
              </a:cxn>
              <a:cxn ang="0">
                <a:pos x="connsiteX2" y="connsiteY2"/>
              </a:cxn>
            </a:cxnLst>
            <a:rect l="l" t="t" r="r" b="b"/>
            <a:pathLst>
              <a:path w="387086" h="472132">
                <a:moveTo>
                  <a:pt x="0" y="457234"/>
                </a:moveTo>
                <a:cubicBezTo>
                  <a:pt x="118415" y="327276"/>
                  <a:pt x="184606" y="192351"/>
                  <a:pt x="198570" y="52459"/>
                </a:cubicBezTo>
                <a:cubicBezTo>
                  <a:pt x="212535" y="-87432"/>
                  <a:pt x="275374" y="52459"/>
                  <a:pt x="387087" y="472132"/>
                </a:cubicBezTo>
              </a:path>
            </a:pathLst>
          </a:custGeom>
          <a:noFill/>
          <a:ln w="41869" cap="flat">
            <a:solidFill>
              <a:schemeClr val="accent1">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Freeform 55">
            <a:extLst>
              <a:ext uri="{FF2B5EF4-FFF2-40B4-BE49-F238E27FC236}">
                <a16:creationId xmlns:a16="http://schemas.microsoft.com/office/drawing/2014/main" id="{A66A5B91-78F1-2AD0-B7CD-CA909A73E393}"/>
              </a:ext>
            </a:extLst>
          </p:cNvPr>
          <p:cNvSpPr/>
          <p:nvPr/>
        </p:nvSpPr>
        <p:spPr>
          <a:xfrm>
            <a:off x="4834587" y="2089607"/>
            <a:ext cx="387086" cy="269789"/>
          </a:xfrm>
          <a:custGeom>
            <a:avLst/>
            <a:gdLst>
              <a:gd name="connsiteX0" fmla="*/ 0 w 387086"/>
              <a:gd name="connsiteY0" fmla="*/ 254892 h 269789"/>
              <a:gd name="connsiteX1" fmla="*/ 247585 w 387086"/>
              <a:gd name="connsiteY1" fmla="*/ 7494 h 269789"/>
              <a:gd name="connsiteX2" fmla="*/ 387087 w 387086"/>
              <a:gd name="connsiteY2" fmla="*/ 269790 h 269789"/>
            </a:gdLst>
            <a:ahLst/>
            <a:cxnLst>
              <a:cxn ang="0">
                <a:pos x="connsiteX0" y="connsiteY0"/>
              </a:cxn>
              <a:cxn ang="0">
                <a:pos x="connsiteX1" y="connsiteY1"/>
              </a:cxn>
              <a:cxn ang="0">
                <a:pos x="connsiteX2" y="connsiteY2"/>
              </a:cxn>
            </a:cxnLst>
            <a:rect l="l" t="t" r="r" b="b"/>
            <a:pathLst>
              <a:path w="387086" h="269789">
                <a:moveTo>
                  <a:pt x="0" y="254892"/>
                </a:moveTo>
                <a:cubicBezTo>
                  <a:pt x="118409" y="124934"/>
                  <a:pt x="200937" y="42468"/>
                  <a:pt x="247585" y="7494"/>
                </a:cubicBezTo>
                <a:cubicBezTo>
                  <a:pt x="294232" y="-27479"/>
                  <a:pt x="340733" y="59954"/>
                  <a:pt x="387087" y="269790"/>
                </a:cubicBezTo>
              </a:path>
            </a:pathLst>
          </a:custGeom>
          <a:noFill/>
          <a:ln w="41869" cap="flat">
            <a:solidFill>
              <a:schemeClr val="accent5">
                <a:lumMod val="60000"/>
                <a:lumOff val="4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63" name="Straight Arrow Connector 62">
            <a:extLst>
              <a:ext uri="{FF2B5EF4-FFF2-40B4-BE49-F238E27FC236}">
                <a16:creationId xmlns:a16="http://schemas.microsoft.com/office/drawing/2014/main" id="{F71BB9B0-656B-BAD5-1391-67E97F04021B}"/>
              </a:ext>
            </a:extLst>
          </p:cNvPr>
          <p:cNvCxnSpPr>
            <a:cxnSpLocks/>
          </p:cNvCxnSpPr>
          <p:nvPr/>
        </p:nvCxnSpPr>
        <p:spPr>
          <a:xfrm>
            <a:off x="3348478" y="2359396"/>
            <a:ext cx="64260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59BBF7E3-0BF9-FFA5-33A0-B0D22602B7FA}"/>
              </a:ext>
            </a:extLst>
          </p:cNvPr>
          <p:cNvCxnSpPr>
            <a:cxnSpLocks/>
          </p:cNvCxnSpPr>
          <p:nvPr/>
        </p:nvCxnSpPr>
        <p:spPr>
          <a:xfrm flipV="1">
            <a:off x="3348478" y="1887264"/>
            <a:ext cx="0" cy="47213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370D8FA-4415-B033-4AF4-77CFAB343865}"/>
              </a:ext>
            </a:extLst>
          </p:cNvPr>
          <p:cNvCxnSpPr>
            <a:cxnSpLocks/>
          </p:cNvCxnSpPr>
          <p:nvPr/>
        </p:nvCxnSpPr>
        <p:spPr>
          <a:xfrm>
            <a:off x="4795808" y="2359396"/>
            <a:ext cx="6170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14377A22-92DA-205D-FC83-F8C3E9E484E7}"/>
              </a:ext>
            </a:extLst>
          </p:cNvPr>
          <p:cNvCxnSpPr>
            <a:cxnSpLocks/>
          </p:cNvCxnSpPr>
          <p:nvPr/>
        </p:nvCxnSpPr>
        <p:spPr>
          <a:xfrm flipV="1">
            <a:off x="4795808" y="1979098"/>
            <a:ext cx="0" cy="38029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C6C839D-C062-3A33-6AF4-F4C6C5913280}"/>
              </a:ext>
            </a:extLst>
          </p:cNvPr>
          <p:cNvSpPr/>
          <p:nvPr/>
        </p:nvSpPr>
        <p:spPr>
          <a:xfrm>
            <a:off x="5488743" y="4767464"/>
            <a:ext cx="2519841" cy="513127"/>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82C315B2-854E-9555-64A1-E3ECC5795294}"/>
              </a:ext>
            </a:extLst>
          </p:cNvPr>
          <p:cNvPicPr>
            <a:picLocks noChangeAspect="1"/>
          </p:cNvPicPr>
          <p:nvPr/>
        </p:nvPicPr>
        <p:blipFill>
          <a:blip r:embed="rId7"/>
          <a:stretch>
            <a:fillRect/>
          </a:stretch>
        </p:blipFill>
        <p:spPr>
          <a:xfrm>
            <a:off x="5566672" y="4877997"/>
            <a:ext cx="2304087" cy="398689"/>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80" name="Freeform 79">
            <a:extLst>
              <a:ext uri="{FF2B5EF4-FFF2-40B4-BE49-F238E27FC236}">
                <a16:creationId xmlns:a16="http://schemas.microsoft.com/office/drawing/2014/main" id="{573403E5-C756-4DEB-524E-A964FC0C8C88}"/>
              </a:ext>
            </a:extLst>
          </p:cNvPr>
          <p:cNvSpPr/>
          <p:nvPr/>
        </p:nvSpPr>
        <p:spPr>
          <a:xfrm>
            <a:off x="2569285" y="2736925"/>
            <a:ext cx="861149" cy="2351856"/>
          </a:xfrm>
          <a:custGeom>
            <a:avLst/>
            <a:gdLst>
              <a:gd name="connsiteX0" fmla="*/ 449925 w 638860"/>
              <a:gd name="connsiteY0" fmla="*/ 1663374 h 1663373"/>
              <a:gd name="connsiteX1" fmla="*/ 0 w 638860"/>
              <a:gd name="connsiteY1" fmla="*/ 804303 h 1663373"/>
              <a:gd name="connsiteX2" fmla="*/ 638861 w 638860"/>
              <a:gd name="connsiteY2" fmla="*/ 0 h 1663373"/>
            </a:gdLst>
            <a:ahLst/>
            <a:cxnLst>
              <a:cxn ang="0">
                <a:pos x="connsiteX0" y="connsiteY0"/>
              </a:cxn>
              <a:cxn ang="0">
                <a:pos x="connsiteX1" y="connsiteY1"/>
              </a:cxn>
              <a:cxn ang="0">
                <a:pos x="connsiteX2" y="connsiteY2"/>
              </a:cxn>
            </a:cxnLst>
            <a:rect l="l" t="t" r="r" b="b"/>
            <a:pathLst>
              <a:path w="638860" h="1663373">
                <a:moveTo>
                  <a:pt x="449925" y="1663374"/>
                </a:moveTo>
                <a:cubicBezTo>
                  <a:pt x="149975" y="1440381"/>
                  <a:pt x="0" y="1154038"/>
                  <a:pt x="0" y="804303"/>
                </a:cubicBezTo>
                <a:cubicBezTo>
                  <a:pt x="0" y="454575"/>
                  <a:pt x="212954" y="186475"/>
                  <a:pt x="638861" y="0"/>
                </a:cubicBezTo>
              </a:path>
            </a:pathLst>
          </a:custGeom>
          <a:noFill/>
          <a:ln w="31750" cap="sq">
            <a:solidFill>
              <a:schemeClr val="bg1">
                <a:lumMod val="65000"/>
              </a:schemeClr>
            </a:solidFill>
            <a:prstDash val="sysDot"/>
            <a:miter/>
            <a:headEnd type="stealth" w="lg" len="lg"/>
            <a:tailEnd type="stealth" w="lg" len="lg"/>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2" name="Elbow Connector 81">
            <a:extLst>
              <a:ext uri="{FF2B5EF4-FFF2-40B4-BE49-F238E27FC236}">
                <a16:creationId xmlns:a16="http://schemas.microsoft.com/office/drawing/2014/main" id="{45F16B69-2400-4E7A-F179-B243910EBF7E}"/>
              </a:ext>
            </a:extLst>
          </p:cNvPr>
          <p:cNvCxnSpPr>
            <a:cxnSpLocks/>
            <a:stCxn id="7" idx="2"/>
            <a:endCxn id="79" idx="2"/>
          </p:cNvCxnSpPr>
          <p:nvPr/>
        </p:nvCxnSpPr>
        <p:spPr>
          <a:xfrm rot="16200000" flipH="1">
            <a:off x="3796074" y="3331358"/>
            <a:ext cx="1527165" cy="1858173"/>
          </a:xfrm>
          <a:prstGeom prst="bentConnector2">
            <a:avLst/>
          </a:prstGeom>
          <a:ln w="38100">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Elbow Connector 83">
            <a:extLst>
              <a:ext uri="{FF2B5EF4-FFF2-40B4-BE49-F238E27FC236}">
                <a16:creationId xmlns:a16="http://schemas.microsoft.com/office/drawing/2014/main" id="{754DFFD8-FEBD-94A7-2C49-588E9012671D}"/>
              </a:ext>
            </a:extLst>
          </p:cNvPr>
          <p:cNvCxnSpPr>
            <a:cxnSpLocks/>
            <a:stCxn id="8" idx="2"/>
            <a:endCxn id="79" idx="2"/>
          </p:cNvCxnSpPr>
          <p:nvPr/>
        </p:nvCxnSpPr>
        <p:spPr>
          <a:xfrm rot="16200000" flipH="1">
            <a:off x="4506975" y="4042259"/>
            <a:ext cx="1527165" cy="436371"/>
          </a:xfrm>
          <a:prstGeom prst="bentConnector2">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64DB4875-B39E-E8D0-6EA0-29294F94FA3F}"/>
              </a:ext>
            </a:extLst>
          </p:cNvPr>
          <p:cNvSpPr txBox="1"/>
          <p:nvPr/>
        </p:nvSpPr>
        <p:spPr>
          <a:xfrm>
            <a:off x="4607187" y="3801560"/>
            <a:ext cx="923971"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A02B93">
                    <a:lumMod val="60000"/>
                    <a:lumOff val="40000"/>
                  </a:srgbClr>
                </a:solidFill>
                <a:effectLst/>
                <a:uLnTx/>
                <a:uFillTx/>
                <a:latin typeface="Aptos" panose="02110004020202020204"/>
                <a:ea typeface="+mn-ea"/>
                <a:cs typeface="+mn-cs"/>
              </a:rPr>
              <a:t>Events</a:t>
            </a:r>
          </a:p>
        </p:txBody>
      </p:sp>
      <p:cxnSp>
        <p:nvCxnSpPr>
          <p:cNvPr id="93" name="Straight Arrow Connector 92">
            <a:extLst>
              <a:ext uri="{FF2B5EF4-FFF2-40B4-BE49-F238E27FC236}">
                <a16:creationId xmlns:a16="http://schemas.microsoft.com/office/drawing/2014/main" id="{7DCE8E3F-A075-EE7C-4694-DF4B72D7D618}"/>
              </a:ext>
            </a:extLst>
          </p:cNvPr>
          <p:cNvCxnSpPr>
            <a:cxnSpLocks/>
            <a:stCxn id="79" idx="0"/>
          </p:cNvCxnSpPr>
          <p:nvPr/>
        </p:nvCxnSpPr>
        <p:spPr>
          <a:xfrm flipV="1">
            <a:off x="6748664" y="3946923"/>
            <a:ext cx="0" cy="820541"/>
          </a:xfrm>
          <a:prstGeom prst="straightConnector1">
            <a:avLst/>
          </a:prstGeom>
          <a:ln w="412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478CDA35-EFE4-01D0-2428-BA24732BC42F}"/>
              </a:ext>
            </a:extLst>
          </p:cNvPr>
          <p:cNvSpPr txBox="1"/>
          <p:nvPr/>
        </p:nvSpPr>
        <p:spPr>
          <a:xfrm>
            <a:off x="6768203" y="4248357"/>
            <a:ext cx="889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Output</a:t>
            </a:r>
          </a:p>
        </p:txBody>
      </p:sp>
      <p:sp>
        <p:nvSpPr>
          <p:cNvPr id="117" name="TextBox 116">
            <a:extLst>
              <a:ext uri="{FF2B5EF4-FFF2-40B4-BE49-F238E27FC236}">
                <a16:creationId xmlns:a16="http://schemas.microsoft.com/office/drawing/2014/main" id="{9FE495E8-4CED-6386-6280-CF57927AD4E8}"/>
              </a:ext>
            </a:extLst>
          </p:cNvPr>
          <p:cNvSpPr txBox="1"/>
          <p:nvPr/>
        </p:nvSpPr>
        <p:spPr>
          <a:xfrm>
            <a:off x="6249000" y="2838159"/>
            <a:ext cx="235199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Fair Order of Events</a:t>
            </a:r>
          </a:p>
        </p:txBody>
      </p:sp>
      <p:sp>
        <p:nvSpPr>
          <p:cNvPr id="118" name="TextBox 117">
            <a:extLst>
              <a:ext uri="{FF2B5EF4-FFF2-40B4-BE49-F238E27FC236}">
                <a16:creationId xmlns:a16="http://schemas.microsoft.com/office/drawing/2014/main" id="{5F918AE7-9F6A-4235-ADFE-6B33A398EA66}"/>
              </a:ext>
            </a:extLst>
          </p:cNvPr>
          <p:cNvSpPr txBox="1"/>
          <p:nvPr/>
        </p:nvSpPr>
        <p:spPr>
          <a:xfrm>
            <a:off x="2688505" y="1400413"/>
            <a:ext cx="38656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Learned Clock Error Distributions</a:t>
            </a:r>
          </a:p>
        </p:txBody>
      </p:sp>
      <p:cxnSp>
        <p:nvCxnSpPr>
          <p:cNvPr id="120" name="Elbow Connector 119">
            <a:extLst>
              <a:ext uri="{FF2B5EF4-FFF2-40B4-BE49-F238E27FC236}">
                <a16:creationId xmlns:a16="http://schemas.microsoft.com/office/drawing/2014/main" id="{16E0D18D-75EB-FB44-3973-0DFA735197F3}"/>
              </a:ext>
            </a:extLst>
          </p:cNvPr>
          <p:cNvCxnSpPr>
            <a:cxnSpLocks/>
          </p:cNvCxnSpPr>
          <p:nvPr/>
        </p:nvCxnSpPr>
        <p:spPr>
          <a:xfrm rot="16200000" flipH="1">
            <a:off x="4210650" y="3330623"/>
            <a:ext cx="2784487" cy="302454"/>
          </a:xfrm>
          <a:prstGeom prst="bentConnector3">
            <a:avLst>
              <a:gd name="adj1" fmla="val 548"/>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2EFEC891-759E-0E7A-9303-933DA9B74944}"/>
              </a:ext>
            </a:extLst>
          </p:cNvPr>
          <p:cNvGrpSpPr/>
          <p:nvPr/>
        </p:nvGrpSpPr>
        <p:grpSpPr>
          <a:xfrm>
            <a:off x="6333987" y="3336637"/>
            <a:ext cx="418924" cy="419672"/>
            <a:chOff x="6302631" y="3337852"/>
            <a:chExt cx="418924" cy="419672"/>
          </a:xfrm>
        </p:grpSpPr>
        <p:sp>
          <p:nvSpPr>
            <p:cNvPr id="133" name="Freeform 132">
              <a:extLst>
                <a:ext uri="{FF2B5EF4-FFF2-40B4-BE49-F238E27FC236}">
                  <a16:creationId xmlns:a16="http://schemas.microsoft.com/office/drawing/2014/main" id="{EDEF8969-CE49-C3E5-ACBD-E94F785D2A2E}"/>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1" name="TextBox 140">
              <a:extLst>
                <a:ext uri="{FF2B5EF4-FFF2-40B4-BE49-F238E27FC236}">
                  <a16:creationId xmlns:a16="http://schemas.microsoft.com/office/drawing/2014/main" id="{6F5B3391-96A2-675B-CCE3-53FD79B06741}"/>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1</a:t>
              </a:r>
            </a:p>
          </p:txBody>
        </p:sp>
      </p:grpSp>
      <p:grpSp>
        <p:nvGrpSpPr>
          <p:cNvPr id="6" name="Group 5">
            <a:extLst>
              <a:ext uri="{FF2B5EF4-FFF2-40B4-BE49-F238E27FC236}">
                <a16:creationId xmlns:a16="http://schemas.microsoft.com/office/drawing/2014/main" id="{4D7F806C-D899-40FB-4E0C-0E13CB245480}"/>
              </a:ext>
            </a:extLst>
          </p:cNvPr>
          <p:cNvGrpSpPr/>
          <p:nvPr/>
        </p:nvGrpSpPr>
        <p:grpSpPr>
          <a:xfrm>
            <a:off x="7799122" y="3332868"/>
            <a:ext cx="418924" cy="419672"/>
            <a:chOff x="8187793" y="3332118"/>
            <a:chExt cx="418924" cy="419672"/>
          </a:xfrm>
        </p:grpSpPr>
        <p:sp>
          <p:nvSpPr>
            <p:cNvPr id="134" name="Freeform 133">
              <a:extLst>
                <a:ext uri="{FF2B5EF4-FFF2-40B4-BE49-F238E27FC236}">
                  <a16:creationId xmlns:a16="http://schemas.microsoft.com/office/drawing/2014/main" id="{8B76529D-0540-DC69-A1F2-B086DC7353AD}"/>
                </a:ext>
              </a:extLst>
            </p:cNvPr>
            <p:cNvSpPr/>
            <p:nvPr/>
          </p:nvSpPr>
          <p:spPr>
            <a:xfrm>
              <a:off x="8187793" y="3332118"/>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2" name="TextBox 141">
              <a:extLst>
                <a:ext uri="{FF2B5EF4-FFF2-40B4-BE49-F238E27FC236}">
                  <a16:creationId xmlns:a16="http://schemas.microsoft.com/office/drawing/2014/main" id="{FA15738A-E9CE-2949-5EE5-0F7F0214EBBD}"/>
                </a:ext>
              </a:extLst>
            </p:cNvPr>
            <p:cNvSpPr txBox="1"/>
            <p:nvPr/>
          </p:nvSpPr>
          <p:spPr>
            <a:xfrm>
              <a:off x="8227631"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3</a:t>
              </a:r>
            </a:p>
          </p:txBody>
        </p:sp>
      </p:grpSp>
      <p:grpSp>
        <p:nvGrpSpPr>
          <p:cNvPr id="4" name="Group 3">
            <a:extLst>
              <a:ext uri="{FF2B5EF4-FFF2-40B4-BE49-F238E27FC236}">
                <a16:creationId xmlns:a16="http://schemas.microsoft.com/office/drawing/2014/main" id="{C1130719-77CA-A476-4741-461200C1825B}"/>
              </a:ext>
            </a:extLst>
          </p:cNvPr>
          <p:cNvGrpSpPr/>
          <p:nvPr/>
        </p:nvGrpSpPr>
        <p:grpSpPr>
          <a:xfrm>
            <a:off x="8427509" y="3332868"/>
            <a:ext cx="473175" cy="419672"/>
            <a:chOff x="8816180" y="3332118"/>
            <a:chExt cx="473175" cy="419672"/>
          </a:xfrm>
        </p:grpSpPr>
        <p:sp>
          <p:nvSpPr>
            <p:cNvPr id="136" name="Freeform 135">
              <a:extLst>
                <a:ext uri="{FF2B5EF4-FFF2-40B4-BE49-F238E27FC236}">
                  <a16:creationId xmlns:a16="http://schemas.microsoft.com/office/drawing/2014/main" id="{0D9A0423-7C17-734B-A8EC-BA976D5C93FA}"/>
                </a:ext>
              </a:extLst>
            </p:cNvPr>
            <p:cNvSpPr/>
            <p:nvPr/>
          </p:nvSpPr>
          <p:spPr>
            <a:xfrm>
              <a:off x="8816180" y="3332118"/>
              <a:ext cx="473175" cy="419672"/>
            </a:xfrm>
            <a:custGeom>
              <a:avLst/>
              <a:gdLst>
                <a:gd name="connsiteX0" fmla="*/ 0 w 473175"/>
                <a:gd name="connsiteY0" fmla="*/ 0 h 419672"/>
                <a:gd name="connsiteX1" fmla="*/ 473176 w 473175"/>
                <a:gd name="connsiteY1" fmla="*/ 0 h 419672"/>
                <a:gd name="connsiteX2" fmla="*/ 473176 w 473175"/>
                <a:gd name="connsiteY2" fmla="*/ 419673 h 419672"/>
                <a:gd name="connsiteX3" fmla="*/ 0 w 473175"/>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73175" h="419672">
                  <a:moveTo>
                    <a:pt x="0" y="0"/>
                  </a:moveTo>
                  <a:lnTo>
                    <a:pt x="473176" y="0"/>
                  </a:lnTo>
                  <a:lnTo>
                    <a:pt x="473176" y="419673"/>
                  </a:lnTo>
                  <a:lnTo>
                    <a:pt x="0" y="419673"/>
                  </a:lnTo>
                  <a:close/>
                </a:path>
              </a:pathLst>
            </a:custGeom>
            <a:solidFill>
              <a:srgbClr val="80FF6C"/>
            </a:solidFill>
            <a:ln w="2093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3" name="TextBox 142">
              <a:extLst>
                <a:ext uri="{FF2B5EF4-FFF2-40B4-BE49-F238E27FC236}">
                  <a16:creationId xmlns:a16="http://schemas.microsoft.com/office/drawing/2014/main" id="{31ABC5C5-EC13-41EC-38E3-BFCF47CDAFC5}"/>
                </a:ext>
              </a:extLst>
            </p:cNvPr>
            <p:cNvSpPr txBox="1"/>
            <p:nvPr/>
          </p:nvSpPr>
          <p:spPr>
            <a:xfrm>
              <a:off x="8891405" y="3339274"/>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4</a:t>
              </a:r>
            </a:p>
          </p:txBody>
        </p:sp>
      </p:grpSp>
      <p:sp>
        <p:nvSpPr>
          <p:cNvPr id="2" name="Title 1">
            <a:extLst>
              <a:ext uri="{FF2B5EF4-FFF2-40B4-BE49-F238E27FC236}">
                <a16:creationId xmlns:a16="http://schemas.microsoft.com/office/drawing/2014/main" id="{E9CBEA3E-6E77-2B22-7179-1E0AE4CEA55E}"/>
              </a:ext>
            </a:extLst>
          </p:cNvPr>
          <p:cNvSpPr>
            <a:spLocks noGrp="1"/>
          </p:cNvSpPr>
          <p:nvPr>
            <p:ph type="title"/>
          </p:nvPr>
        </p:nvSpPr>
        <p:spPr>
          <a:xfrm>
            <a:off x="838200" y="184173"/>
            <a:ext cx="10515600" cy="1325563"/>
          </a:xfrm>
        </p:spPr>
        <p:txBody>
          <a:bodyPr/>
          <a:lstStyle/>
          <a:p>
            <a:r>
              <a:rPr lang="en-US" dirty="0"/>
              <a:t>Sequencer Overview</a:t>
            </a:r>
            <a:endParaRPr lang="en-US" dirty="0">
              <a:solidFill>
                <a:schemeClr val="accent6"/>
              </a:solidFill>
            </a:endParaRPr>
          </a:p>
        </p:txBody>
      </p:sp>
      <p:sp>
        <p:nvSpPr>
          <p:cNvPr id="3" name="TextBox 2">
            <a:extLst>
              <a:ext uri="{FF2B5EF4-FFF2-40B4-BE49-F238E27FC236}">
                <a16:creationId xmlns:a16="http://schemas.microsoft.com/office/drawing/2014/main" id="{D1F4B566-F7FC-5CC9-DC3A-A99627FC9311}"/>
              </a:ext>
            </a:extLst>
          </p:cNvPr>
          <p:cNvSpPr txBox="1"/>
          <p:nvPr/>
        </p:nvSpPr>
        <p:spPr>
          <a:xfrm>
            <a:off x="3894522" y="5364014"/>
            <a:ext cx="273786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Tommy, The Sequencer</a:t>
            </a:r>
          </a:p>
        </p:txBody>
      </p:sp>
      <p:grpSp>
        <p:nvGrpSpPr>
          <p:cNvPr id="17" name="Group 16">
            <a:extLst>
              <a:ext uri="{FF2B5EF4-FFF2-40B4-BE49-F238E27FC236}">
                <a16:creationId xmlns:a16="http://schemas.microsoft.com/office/drawing/2014/main" id="{B73C4447-1009-5408-4C71-C4DB804457FC}"/>
              </a:ext>
            </a:extLst>
          </p:cNvPr>
          <p:cNvGrpSpPr/>
          <p:nvPr/>
        </p:nvGrpSpPr>
        <p:grpSpPr>
          <a:xfrm>
            <a:off x="7025771" y="3336637"/>
            <a:ext cx="418924" cy="419672"/>
            <a:chOff x="6302631" y="3337852"/>
            <a:chExt cx="418924" cy="419672"/>
          </a:xfrm>
        </p:grpSpPr>
        <p:sp>
          <p:nvSpPr>
            <p:cNvPr id="19" name="Freeform 18">
              <a:extLst>
                <a:ext uri="{FF2B5EF4-FFF2-40B4-BE49-F238E27FC236}">
                  <a16:creationId xmlns:a16="http://schemas.microsoft.com/office/drawing/2014/main" id="{6681DEAD-EDF4-4B11-0CA4-ECB98FA59E63}"/>
                </a:ext>
              </a:extLst>
            </p:cNvPr>
            <p:cNvSpPr/>
            <p:nvPr/>
          </p:nvSpPr>
          <p:spPr>
            <a:xfrm>
              <a:off x="6302631" y="3337852"/>
              <a:ext cx="418924" cy="419672"/>
            </a:xfrm>
            <a:custGeom>
              <a:avLst/>
              <a:gdLst>
                <a:gd name="connsiteX0" fmla="*/ 0 w 418924"/>
                <a:gd name="connsiteY0" fmla="*/ 0 h 419672"/>
                <a:gd name="connsiteX1" fmla="*/ 418925 w 418924"/>
                <a:gd name="connsiteY1" fmla="*/ 0 h 419672"/>
                <a:gd name="connsiteX2" fmla="*/ 418925 w 418924"/>
                <a:gd name="connsiteY2" fmla="*/ 419673 h 419672"/>
                <a:gd name="connsiteX3" fmla="*/ 0 w 418924"/>
                <a:gd name="connsiteY3" fmla="*/ 419673 h 419672"/>
              </a:gdLst>
              <a:ahLst/>
              <a:cxnLst>
                <a:cxn ang="0">
                  <a:pos x="connsiteX0" y="connsiteY0"/>
                </a:cxn>
                <a:cxn ang="0">
                  <a:pos x="connsiteX1" y="connsiteY1"/>
                </a:cxn>
                <a:cxn ang="0">
                  <a:pos x="connsiteX2" y="connsiteY2"/>
                </a:cxn>
                <a:cxn ang="0">
                  <a:pos x="connsiteX3" y="connsiteY3"/>
                </a:cxn>
              </a:cxnLst>
              <a:rect l="l" t="t" r="r" b="b"/>
              <a:pathLst>
                <a:path w="418924" h="419672">
                  <a:moveTo>
                    <a:pt x="0" y="0"/>
                  </a:moveTo>
                  <a:lnTo>
                    <a:pt x="418925" y="0"/>
                  </a:lnTo>
                  <a:lnTo>
                    <a:pt x="418925" y="419673"/>
                  </a:lnTo>
                  <a:lnTo>
                    <a:pt x="0" y="419673"/>
                  </a:lnTo>
                  <a:close/>
                </a:path>
              </a:pathLst>
            </a:custGeom>
            <a:solidFill>
              <a:srgbClr val="80FF6C"/>
            </a:solidFill>
            <a:ln w="20955" cap="flat">
              <a:solidFill>
                <a:srgbClr val="000000"/>
              </a:solidFill>
              <a:custDash>
                <a:ds d="225000" sp="225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0" name="TextBox 19">
              <a:extLst>
                <a:ext uri="{FF2B5EF4-FFF2-40B4-BE49-F238E27FC236}">
                  <a16:creationId xmlns:a16="http://schemas.microsoft.com/office/drawing/2014/main" id="{0E30424F-BFA2-C321-3ADE-B4AFBB8B292F}"/>
                </a:ext>
              </a:extLst>
            </p:cNvPr>
            <p:cNvSpPr txBox="1"/>
            <p:nvPr/>
          </p:nvSpPr>
          <p:spPr>
            <a:xfrm>
              <a:off x="6355431" y="3357288"/>
              <a:ext cx="322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Aptos" panose="02110004020202020204"/>
                </a:rPr>
                <a:t>2</a:t>
              </a: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36198395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99C5-0E94-659D-EB50-AB35292D4133}"/>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01374AA2-FF9F-BF20-56AC-42B75D248B6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1E390A59-0100-E68C-C0CE-C528633D3AED}"/>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07E1014-18F7-B967-3B32-8686102EF2F0}"/>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78ED11E5-3F71-99CC-AFCA-CE4BFB058D87}"/>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grpSp>
        <p:nvGrpSpPr>
          <p:cNvPr id="25" name="Group 24">
            <a:extLst>
              <a:ext uri="{FF2B5EF4-FFF2-40B4-BE49-F238E27FC236}">
                <a16:creationId xmlns:a16="http://schemas.microsoft.com/office/drawing/2014/main" id="{2FBC8831-1190-26D4-CBD4-B6A3AD596DD2}"/>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8BE769-274C-E3F1-B48E-5C1CDAF6B5CA}"/>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12" name="TextBox 11">
                  <a:extLst>
                    <a:ext uri="{FF2B5EF4-FFF2-40B4-BE49-F238E27FC236}">
                      <a16:creationId xmlns:a16="http://schemas.microsoft.com/office/drawing/2014/main" id="{148BE769-274C-E3F1-B48E-5C1CDAF6B5CA}"/>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4"/>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CAC770-7604-824A-6863-51B8014FE24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13" name="TextBox 12">
                  <a:extLst>
                    <a:ext uri="{FF2B5EF4-FFF2-40B4-BE49-F238E27FC236}">
                      <a16:creationId xmlns:a16="http://schemas.microsoft.com/office/drawing/2014/main" id="{5ECAC770-7604-824A-6863-51B8014FE24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5"/>
                  <a:stretch>
                    <a:fillRect l="-21875" r="-18750" b="-20455"/>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96BD2101-4474-8D35-5CCD-EB8F27EDDEAE}"/>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3019798D-F679-AB4E-F652-FCB49B342FC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26" name="Group 25">
            <a:extLst>
              <a:ext uri="{FF2B5EF4-FFF2-40B4-BE49-F238E27FC236}">
                <a16:creationId xmlns:a16="http://schemas.microsoft.com/office/drawing/2014/main" id="{E76D9691-55B8-597D-BA04-F6FA3FA78DCE}"/>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980E24-3240-2147-7C3B-D4A9B2540442}"/>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9" name="TextBox 8">
                  <a:extLst>
                    <a:ext uri="{FF2B5EF4-FFF2-40B4-BE49-F238E27FC236}">
                      <a16:creationId xmlns:a16="http://schemas.microsoft.com/office/drawing/2014/main" id="{DA980E24-3240-2147-7C3B-D4A9B2540442}"/>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6"/>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DAE7CE4-10C9-A66E-5F22-3775326BE9A4}"/>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11" name="TextBox 10">
                  <a:extLst>
                    <a:ext uri="{FF2B5EF4-FFF2-40B4-BE49-F238E27FC236}">
                      <a16:creationId xmlns:a16="http://schemas.microsoft.com/office/drawing/2014/main" id="{0DAE7CE4-10C9-A66E-5F22-3775326BE9A4}"/>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7"/>
                  <a:stretch>
                    <a:fillRect l="-18421" r="-5263" b="-22727"/>
                  </a:stretch>
                </a:blipFill>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CBF1CEB8-EABB-85F0-182B-088F1B3560E4}"/>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9B443313-046B-E343-4579-4C9C5E300F83}"/>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7483B5C-27D0-6D07-AA1C-5C4F0AA52117}"/>
                  </a:ext>
                </a:extLst>
              </p:cNvPr>
              <p:cNvSpPr txBox="1"/>
              <p:nvPr/>
            </p:nvSpPr>
            <p:spPr>
              <a:xfrm>
                <a:off x="2594032" y="3894115"/>
                <a:ext cx="2599943"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 ?</m:t>
                      </m:r>
                    </m:oMath>
                  </m:oMathPara>
                </a14:m>
                <a:endParaRPr lang="en-US" dirty="0"/>
              </a:p>
            </p:txBody>
          </p:sp>
        </mc:Choice>
        <mc:Fallback xmlns="">
          <p:sp>
            <p:nvSpPr>
              <p:cNvPr id="27" name="TextBox 26">
                <a:extLst>
                  <a:ext uri="{FF2B5EF4-FFF2-40B4-BE49-F238E27FC236}">
                    <a16:creationId xmlns:a16="http://schemas.microsoft.com/office/drawing/2014/main" id="{D7483B5C-27D0-6D07-AA1C-5C4F0AA52117}"/>
                  </a:ext>
                </a:extLst>
              </p:cNvPr>
              <p:cNvSpPr txBox="1">
                <a:spLocks noRot="1" noChangeAspect="1" noMove="1" noResize="1" noEditPoints="1" noAdjustHandles="1" noChangeArrowheads="1" noChangeShapeType="1" noTextEdit="1"/>
              </p:cNvSpPr>
              <p:nvPr/>
            </p:nvSpPr>
            <p:spPr>
              <a:xfrm>
                <a:off x="2594032" y="3894115"/>
                <a:ext cx="2599943" cy="567271"/>
              </a:xfrm>
              <a:prstGeom prst="rect">
                <a:avLst/>
              </a:prstGeom>
              <a:blipFill>
                <a:blip r:embed="rId8"/>
                <a:stretch>
                  <a:fillRect l="-3415" r="-3902" b="-23913"/>
                </a:stretch>
              </a:blipFill>
            </p:spPr>
            <p:txBody>
              <a:bodyPr/>
              <a:lstStyle/>
              <a:p>
                <a:r>
                  <a:rPr lang="en-US">
                    <a:noFill/>
                  </a:rPr>
                  <a:t> </a:t>
                </a:r>
              </a:p>
            </p:txBody>
          </p:sp>
        </mc:Fallback>
      </mc:AlternateContent>
    </p:spTree>
    <p:extLst>
      <p:ext uri="{BB962C8B-B14F-4D97-AF65-F5344CB8AC3E}">
        <p14:creationId xmlns:p14="http://schemas.microsoft.com/office/powerpoint/2010/main" val="140660732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7"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539A-038B-0BC3-7879-CEC1E529B53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3B446A78-27CE-1F60-0C65-790E23CCC227}"/>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BE015D9F-644A-F444-8535-F0E9FA096D0F}"/>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6B6CB9BE-191B-2357-FEB6-BD237B90E9A1}"/>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D0199746-AE4C-5587-0E14-BE3328799A7B}"/>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B1183F-B913-106A-D30E-9F3C62F44F66}"/>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15B1183F-B913-106A-D30E-9F3C62F44F66}"/>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4"/>
                <a:stretch>
                  <a:fillRect l="-1014" b="-2173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6A05FCE0-2691-8921-BC80-428B8D957229}"/>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05B208-DE7C-6E0C-2E2F-0E3BD3508322}"/>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9405B208-DE7C-6E0C-2E2F-0E3BD3508322}"/>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5"/>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FF65306-E829-EE80-E8E6-5899A42C8FBA}"/>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6FF65306-E829-EE80-E8E6-5899A42C8FBA}"/>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6"/>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1210E87-11E8-A355-8F9E-040D892D08A3}"/>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073B39E0-744C-8C62-B94B-6AC88AD00348}"/>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AF9BF25B-D040-1B97-9320-9596E372CA96}"/>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A4187C2-2279-F67C-E78C-42B2438B1B90}"/>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EA4187C2-2279-F67C-E78C-42B2438B1B90}"/>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7"/>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49E5D24-D2C3-FF2E-C3CF-F423CC15B368}"/>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E49E5D24-D2C3-FF2E-C3CF-F423CC15B368}"/>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8"/>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ACC34DB-DD62-E10C-B6F2-822C96F1DD2B}"/>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C306CA7E-6048-3774-DD98-EE3985F5B70D}"/>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TextBox 1">
            <a:extLst>
              <a:ext uri="{FF2B5EF4-FFF2-40B4-BE49-F238E27FC236}">
                <a16:creationId xmlns:a16="http://schemas.microsoft.com/office/drawing/2014/main" id="{0EC98BD6-F606-D432-9368-25627D269689}"/>
              </a:ext>
            </a:extLst>
          </p:cNvPr>
          <p:cNvSpPr txBox="1"/>
          <p:nvPr/>
        </p:nvSpPr>
        <p:spPr>
          <a:xfrm>
            <a:off x="6676479" y="5444012"/>
            <a:ext cx="1992277" cy="369332"/>
          </a:xfrm>
          <a:prstGeom prst="rect">
            <a:avLst/>
          </a:prstGeom>
          <a:noFill/>
        </p:spPr>
        <p:txBody>
          <a:bodyPr wrap="none" rtlCol="0">
            <a:spAutoFit/>
          </a:bodyPr>
          <a:lstStyle/>
          <a:p>
            <a:r>
              <a:rPr lang="en-US" dirty="0">
                <a:solidFill>
                  <a:srgbClr val="FF0000"/>
                </a:solidFill>
              </a:rPr>
              <a:t>Clock Sync. Errors</a:t>
            </a:r>
          </a:p>
        </p:txBody>
      </p:sp>
      <p:sp>
        <p:nvSpPr>
          <p:cNvPr id="3" name="Right Arrow 2">
            <a:extLst>
              <a:ext uri="{FF2B5EF4-FFF2-40B4-BE49-F238E27FC236}">
                <a16:creationId xmlns:a16="http://schemas.microsoft.com/office/drawing/2014/main" id="{03BF6577-9B9D-55E1-2C4A-40D4DB6CD9EA}"/>
              </a:ext>
            </a:extLst>
          </p:cNvPr>
          <p:cNvSpPr/>
          <p:nvPr/>
        </p:nvSpPr>
        <p:spPr>
          <a:xfrm rot="14353615">
            <a:off x="6333027" y="4728814"/>
            <a:ext cx="982925" cy="387570"/>
          </a:xfrm>
          <a:custGeom>
            <a:avLst/>
            <a:gdLst>
              <a:gd name="csX0" fmla="*/ 0 w 982925"/>
              <a:gd name="csY0" fmla="*/ 96893 h 387570"/>
              <a:gd name="csX1" fmla="*/ 402461 w 982925"/>
              <a:gd name="csY1" fmla="*/ 96893 h 387570"/>
              <a:gd name="csX2" fmla="*/ 789140 w 982925"/>
              <a:gd name="csY2" fmla="*/ 96893 h 387570"/>
              <a:gd name="csX3" fmla="*/ 789140 w 982925"/>
              <a:gd name="csY3" fmla="*/ 0 h 387570"/>
              <a:gd name="csX4" fmla="*/ 982925 w 982925"/>
              <a:gd name="csY4" fmla="*/ 193785 h 387570"/>
              <a:gd name="csX5" fmla="*/ 789140 w 982925"/>
              <a:gd name="csY5" fmla="*/ 387570 h 387570"/>
              <a:gd name="csX6" fmla="*/ 789140 w 982925"/>
              <a:gd name="csY6" fmla="*/ 290678 h 387570"/>
              <a:gd name="csX7" fmla="*/ 394570 w 982925"/>
              <a:gd name="csY7" fmla="*/ 290678 h 387570"/>
              <a:gd name="csX8" fmla="*/ 0 w 982925"/>
              <a:gd name="csY8" fmla="*/ 290678 h 387570"/>
              <a:gd name="csX9" fmla="*/ 0 w 9829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2925" h="387570" fill="none" extrusionOk="0">
                <a:moveTo>
                  <a:pt x="0" y="96893"/>
                </a:moveTo>
                <a:cubicBezTo>
                  <a:pt x="151983" y="81191"/>
                  <a:pt x="268718" y="136407"/>
                  <a:pt x="402461" y="96893"/>
                </a:cubicBezTo>
                <a:cubicBezTo>
                  <a:pt x="536204" y="57379"/>
                  <a:pt x="704436" y="99657"/>
                  <a:pt x="789140" y="96893"/>
                </a:cubicBezTo>
                <a:cubicBezTo>
                  <a:pt x="787923" y="67594"/>
                  <a:pt x="791852" y="24936"/>
                  <a:pt x="789140" y="0"/>
                </a:cubicBezTo>
                <a:cubicBezTo>
                  <a:pt x="840788" y="37569"/>
                  <a:pt x="922187" y="163467"/>
                  <a:pt x="982925" y="193785"/>
                </a:cubicBezTo>
                <a:cubicBezTo>
                  <a:pt x="954915" y="257485"/>
                  <a:pt x="858105" y="281232"/>
                  <a:pt x="789140" y="387570"/>
                </a:cubicBezTo>
                <a:cubicBezTo>
                  <a:pt x="779560" y="350582"/>
                  <a:pt x="795077" y="338961"/>
                  <a:pt x="789140" y="290678"/>
                </a:cubicBezTo>
                <a:cubicBezTo>
                  <a:pt x="691634" y="295001"/>
                  <a:pt x="505506" y="244184"/>
                  <a:pt x="394570" y="290678"/>
                </a:cubicBezTo>
                <a:cubicBezTo>
                  <a:pt x="283634" y="337172"/>
                  <a:pt x="87860" y="286059"/>
                  <a:pt x="0" y="290678"/>
                </a:cubicBezTo>
                <a:cubicBezTo>
                  <a:pt x="-7216" y="210745"/>
                  <a:pt x="6629" y="192501"/>
                  <a:pt x="0" y="96893"/>
                </a:cubicBezTo>
                <a:close/>
              </a:path>
              <a:path w="982925" h="387570" stroke="0" extrusionOk="0">
                <a:moveTo>
                  <a:pt x="0" y="96893"/>
                </a:moveTo>
                <a:cubicBezTo>
                  <a:pt x="79428" y="58109"/>
                  <a:pt x="273787" y="138140"/>
                  <a:pt x="386679" y="96893"/>
                </a:cubicBezTo>
                <a:cubicBezTo>
                  <a:pt x="499571" y="55646"/>
                  <a:pt x="652610" y="135947"/>
                  <a:pt x="789140" y="96893"/>
                </a:cubicBezTo>
                <a:cubicBezTo>
                  <a:pt x="781621" y="72251"/>
                  <a:pt x="796933" y="36327"/>
                  <a:pt x="789140" y="0"/>
                </a:cubicBezTo>
                <a:cubicBezTo>
                  <a:pt x="848440" y="47354"/>
                  <a:pt x="893470" y="137270"/>
                  <a:pt x="982925" y="193785"/>
                </a:cubicBezTo>
                <a:cubicBezTo>
                  <a:pt x="920522" y="285299"/>
                  <a:pt x="821486" y="324737"/>
                  <a:pt x="789140" y="387570"/>
                </a:cubicBezTo>
                <a:cubicBezTo>
                  <a:pt x="779454" y="355534"/>
                  <a:pt x="793244" y="320497"/>
                  <a:pt x="789140" y="290678"/>
                </a:cubicBezTo>
                <a:cubicBezTo>
                  <a:pt x="674786" y="298381"/>
                  <a:pt x="490228" y="249966"/>
                  <a:pt x="410353" y="290678"/>
                </a:cubicBezTo>
                <a:cubicBezTo>
                  <a:pt x="330478" y="331390"/>
                  <a:pt x="155476" y="244737"/>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EF39F37D-26D4-80E0-F1E9-A1318A6AB0FA}"/>
              </a:ext>
            </a:extLst>
          </p:cNvPr>
          <p:cNvSpPr/>
          <p:nvPr/>
        </p:nvSpPr>
        <p:spPr>
          <a:xfrm rot="17802728">
            <a:off x="7530099" y="4662450"/>
            <a:ext cx="1049525" cy="387570"/>
          </a:xfrm>
          <a:custGeom>
            <a:avLst/>
            <a:gdLst>
              <a:gd name="csX0" fmla="*/ 0 w 1049525"/>
              <a:gd name="csY0" fmla="*/ 96893 h 387570"/>
              <a:gd name="csX1" fmla="*/ 436427 w 1049525"/>
              <a:gd name="csY1" fmla="*/ 96893 h 387570"/>
              <a:gd name="csX2" fmla="*/ 855740 w 1049525"/>
              <a:gd name="csY2" fmla="*/ 96893 h 387570"/>
              <a:gd name="csX3" fmla="*/ 855740 w 1049525"/>
              <a:gd name="csY3" fmla="*/ 0 h 387570"/>
              <a:gd name="csX4" fmla="*/ 1049525 w 1049525"/>
              <a:gd name="csY4" fmla="*/ 193785 h 387570"/>
              <a:gd name="csX5" fmla="*/ 855740 w 1049525"/>
              <a:gd name="csY5" fmla="*/ 387570 h 387570"/>
              <a:gd name="csX6" fmla="*/ 855740 w 1049525"/>
              <a:gd name="csY6" fmla="*/ 290678 h 387570"/>
              <a:gd name="csX7" fmla="*/ 427870 w 1049525"/>
              <a:gd name="csY7" fmla="*/ 290678 h 387570"/>
              <a:gd name="csX8" fmla="*/ 0 w 1049525"/>
              <a:gd name="csY8" fmla="*/ 290678 h 387570"/>
              <a:gd name="csX9" fmla="*/ 0 w 1049525"/>
              <a:gd name="csY9" fmla="*/ 96893 h 387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525" h="387570" fill="none" extrusionOk="0">
                <a:moveTo>
                  <a:pt x="0" y="96893"/>
                </a:moveTo>
                <a:cubicBezTo>
                  <a:pt x="151814" y="85260"/>
                  <a:pt x="239773" y="98700"/>
                  <a:pt x="436427" y="96893"/>
                </a:cubicBezTo>
                <a:cubicBezTo>
                  <a:pt x="633081" y="95086"/>
                  <a:pt x="767305" y="111570"/>
                  <a:pt x="855740" y="96893"/>
                </a:cubicBezTo>
                <a:cubicBezTo>
                  <a:pt x="854523" y="67594"/>
                  <a:pt x="858452" y="24936"/>
                  <a:pt x="855740" y="0"/>
                </a:cubicBezTo>
                <a:cubicBezTo>
                  <a:pt x="907388" y="37569"/>
                  <a:pt x="988787" y="163467"/>
                  <a:pt x="1049525" y="193785"/>
                </a:cubicBezTo>
                <a:cubicBezTo>
                  <a:pt x="1021515" y="257485"/>
                  <a:pt x="924705" y="281232"/>
                  <a:pt x="855740" y="387570"/>
                </a:cubicBezTo>
                <a:cubicBezTo>
                  <a:pt x="846160" y="350582"/>
                  <a:pt x="861677" y="338961"/>
                  <a:pt x="855740" y="290678"/>
                </a:cubicBezTo>
                <a:cubicBezTo>
                  <a:pt x="735564" y="318441"/>
                  <a:pt x="566024" y="254901"/>
                  <a:pt x="427870" y="290678"/>
                </a:cubicBezTo>
                <a:cubicBezTo>
                  <a:pt x="289716" y="326455"/>
                  <a:pt x="188238" y="279072"/>
                  <a:pt x="0" y="290678"/>
                </a:cubicBezTo>
                <a:cubicBezTo>
                  <a:pt x="-7216" y="210745"/>
                  <a:pt x="6629" y="192501"/>
                  <a:pt x="0" y="96893"/>
                </a:cubicBezTo>
                <a:close/>
              </a:path>
              <a:path w="1049525" h="387570" stroke="0" extrusionOk="0">
                <a:moveTo>
                  <a:pt x="0" y="96893"/>
                </a:moveTo>
                <a:cubicBezTo>
                  <a:pt x="198689" y="82674"/>
                  <a:pt x="330075" y="139720"/>
                  <a:pt x="419313" y="96893"/>
                </a:cubicBezTo>
                <a:cubicBezTo>
                  <a:pt x="508551" y="54066"/>
                  <a:pt x="677362" y="134206"/>
                  <a:pt x="855740" y="96893"/>
                </a:cubicBezTo>
                <a:cubicBezTo>
                  <a:pt x="848221" y="72251"/>
                  <a:pt x="863533" y="36327"/>
                  <a:pt x="855740" y="0"/>
                </a:cubicBezTo>
                <a:cubicBezTo>
                  <a:pt x="915040" y="47354"/>
                  <a:pt x="960070" y="137270"/>
                  <a:pt x="1049525" y="193785"/>
                </a:cubicBezTo>
                <a:cubicBezTo>
                  <a:pt x="987122" y="285299"/>
                  <a:pt x="888086" y="324737"/>
                  <a:pt x="855740" y="387570"/>
                </a:cubicBezTo>
                <a:cubicBezTo>
                  <a:pt x="846054" y="355534"/>
                  <a:pt x="859844" y="320497"/>
                  <a:pt x="855740" y="290678"/>
                </a:cubicBezTo>
                <a:cubicBezTo>
                  <a:pt x="702313" y="295841"/>
                  <a:pt x="617239" y="245851"/>
                  <a:pt x="444985" y="290678"/>
                </a:cubicBezTo>
                <a:cubicBezTo>
                  <a:pt x="272731" y="335505"/>
                  <a:pt x="220852" y="287491"/>
                  <a:pt x="0" y="290678"/>
                </a:cubicBezTo>
                <a:cubicBezTo>
                  <a:pt x="-16010" y="204335"/>
                  <a:pt x="6844" y="161706"/>
                  <a:pt x="0" y="96893"/>
                </a:cubicBezTo>
                <a:close/>
              </a:path>
            </a:pathLst>
          </a:custGeom>
          <a:solidFill>
            <a:schemeClr val="bg2">
              <a:lumMod val="75000"/>
            </a:schemeClr>
          </a:solidFill>
          <a:ln>
            <a:solidFill>
              <a:schemeClr val="bg2">
                <a:lumMod val="75000"/>
              </a:schemeClr>
            </a:solidFill>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7838530"/>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P spid="9" grpId="0" animBg="1"/>
      <p:bldP spid="9" grpId="1"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6F66-F18D-E38B-1A99-C9C5607A4F4F}"/>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67195C3-A1D8-0159-FF93-8913A6EC74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56FDDFCC-87FA-0003-E2B9-47689E868700}"/>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3AC21581-B7EE-43F2-86B2-FDE2D7BB7E7D}"/>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6DCB73EB-1FD9-612D-F294-745001FBA2B9}"/>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C46E953-1832-5FD3-3BA2-3B8C33481975}"/>
                  </a:ext>
                </a:extLst>
              </p:cNvPr>
              <p:cNvSpPr txBox="1"/>
              <p:nvPr/>
            </p:nvSpPr>
            <p:spPr>
              <a:xfrm>
                <a:off x="2594032"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8C46E953-1832-5FD3-3BA2-3B8C33481975}"/>
                  </a:ext>
                </a:extLst>
              </p:cNvPr>
              <p:cNvSpPr txBox="1">
                <a:spLocks noRot="1" noChangeAspect="1" noMove="1" noResize="1" noEditPoints="1" noAdjustHandles="1" noChangeArrowheads="1" noChangeShapeType="1" noTextEdit="1"/>
              </p:cNvSpPr>
              <p:nvPr/>
            </p:nvSpPr>
            <p:spPr>
              <a:xfrm>
                <a:off x="2594032"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6124197-0FA5-5AE6-2BA2-19A84FBF65EE}"/>
                  </a:ext>
                </a:extLst>
              </p:cNvPr>
              <p:cNvSpPr txBox="1"/>
              <p:nvPr/>
            </p:nvSpPr>
            <p:spPr>
              <a:xfrm>
                <a:off x="2539146"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E6124197-0FA5-5AE6-2BA2-19A84FBF65EE}"/>
                  </a:ext>
                </a:extLst>
              </p:cNvPr>
              <p:cNvSpPr txBox="1">
                <a:spLocks noRot="1" noChangeAspect="1" noMove="1" noResize="1" noEditPoints="1" noAdjustHandles="1" noChangeArrowheads="1" noChangeShapeType="1" noTextEdit="1"/>
              </p:cNvSpPr>
              <p:nvPr/>
            </p:nvSpPr>
            <p:spPr>
              <a:xfrm>
                <a:off x="2539146"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8828AB0-9652-F695-05DD-71EEA76DB4B3}"/>
                  </a:ext>
                </a:extLst>
              </p:cNvPr>
              <p:cNvSpPr txBox="1"/>
              <p:nvPr/>
            </p:nvSpPr>
            <p:spPr>
              <a:xfrm>
                <a:off x="4158542"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E8828AB0-9652-F695-05DD-71EEA76DB4B3}"/>
                  </a:ext>
                </a:extLst>
              </p:cNvPr>
              <p:cNvSpPr txBox="1">
                <a:spLocks noRot="1" noChangeAspect="1" noMove="1" noResize="1" noEditPoints="1" noAdjustHandles="1" noChangeArrowheads="1" noChangeShapeType="1" noTextEdit="1"/>
              </p:cNvSpPr>
              <p:nvPr/>
            </p:nvSpPr>
            <p:spPr>
              <a:xfrm>
                <a:off x="4158542"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53405D7-2E16-9F16-9608-A1E1A4F17BA7}"/>
                  </a:ext>
                </a:extLst>
              </p:cNvPr>
              <p:cNvSpPr txBox="1"/>
              <p:nvPr/>
            </p:nvSpPr>
            <p:spPr>
              <a:xfrm>
                <a:off x="6266808"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53405D7-2E16-9F16-9608-A1E1A4F17BA7}"/>
                  </a:ext>
                </a:extLst>
              </p:cNvPr>
              <p:cNvSpPr txBox="1">
                <a:spLocks noRot="1" noChangeAspect="1" noMove="1" noResize="1" noEditPoints="1" noAdjustHandles="1" noChangeArrowheads="1" noChangeShapeType="1" noTextEdit="1"/>
              </p:cNvSpPr>
              <p:nvPr/>
            </p:nvSpPr>
            <p:spPr>
              <a:xfrm>
                <a:off x="6266808" y="5058930"/>
                <a:ext cx="894604" cy="430887"/>
              </a:xfrm>
              <a:prstGeom prst="rect">
                <a:avLst/>
              </a:prstGeom>
              <a:blipFill>
                <a:blip r:embed="rId6"/>
                <a:stretch>
                  <a:fillRect l="-2817" t="-8571" r="-2817"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611F11-BBFE-8149-4B22-028B6622C879}"/>
                  </a:ext>
                </a:extLst>
              </p:cNvPr>
              <p:cNvSpPr txBox="1"/>
              <p:nvPr/>
            </p:nvSpPr>
            <p:spPr>
              <a:xfrm>
                <a:off x="3668597"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A3611F11-BBFE-8149-4B22-028B6622C879}"/>
                  </a:ext>
                </a:extLst>
              </p:cNvPr>
              <p:cNvSpPr txBox="1">
                <a:spLocks noRot="1" noChangeAspect="1" noMove="1" noResize="1" noEditPoints="1" noAdjustHandles="1" noChangeArrowheads="1" noChangeShapeType="1" noTextEdit="1"/>
              </p:cNvSpPr>
              <p:nvPr/>
            </p:nvSpPr>
            <p:spPr>
              <a:xfrm>
                <a:off x="3668597"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DC48E805-2D48-1E1C-40B4-2B9867673F8C}"/>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BF3C5C7-7E76-8909-73E4-08D3EC148C9C}"/>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7" name="TextBox 26">
                  <a:extLst>
                    <a:ext uri="{FF2B5EF4-FFF2-40B4-BE49-F238E27FC236}">
                      <a16:creationId xmlns:a16="http://schemas.microsoft.com/office/drawing/2014/main" id="{ABF3C5C7-7E76-8909-73E4-08D3EC148C9C}"/>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8"/>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A1EE13-C018-221E-8142-F244747C8A4F}"/>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28" name="TextBox 27">
                  <a:extLst>
                    <a:ext uri="{FF2B5EF4-FFF2-40B4-BE49-F238E27FC236}">
                      <a16:creationId xmlns:a16="http://schemas.microsoft.com/office/drawing/2014/main" id="{71A1EE13-C018-221E-8142-F244747C8A4F}"/>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9"/>
                  <a:stretch>
                    <a:fillRect l="-21875" r="-18750" b="-20455"/>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27E7B921-909F-7366-31BC-C67860892358}"/>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CB120D8E-7250-DCB2-D577-704DA1578907}"/>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1" name="Group 30">
            <a:extLst>
              <a:ext uri="{FF2B5EF4-FFF2-40B4-BE49-F238E27FC236}">
                <a16:creationId xmlns:a16="http://schemas.microsoft.com/office/drawing/2014/main" id="{CF2E3C76-481A-48ED-CF9F-897EB9AB1ADC}"/>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539DB03-80AE-0D0D-F324-19F5B4CF1D6E}"/>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2" name="TextBox 31">
                  <a:extLst>
                    <a:ext uri="{FF2B5EF4-FFF2-40B4-BE49-F238E27FC236}">
                      <a16:creationId xmlns:a16="http://schemas.microsoft.com/office/drawing/2014/main" id="{4539DB03-80AE-0D0D-F324-19F5B4CF1D6E}"/>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0"/>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6630BB4-1F1C-9EE9-B481-A02C236590CE}"/>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3" name="TextBox 32">
                  <a:extLst>
                    <a:ext uri="{FF2B5EF4-FFF2-40B4-BE49-F238E27FC236}">
                      <a16:creationId xmlns:a16="http://schemas.microsoft.com/office/drawing/2014/main" id="{B6630BB4-1F1C-9EE9-B481-A02C236590CE}"/>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1"/>
                  <a:stretch>
                    <a:fillRect l="-18421" r="-5263" b="-22727"/>
                  </a:stretch>
                </a:blipFill>
              </p:spPr>
              <p:txBody>
                <a:bodyPr/>
                <a:lstStyle/>
                <a:p>
                  <a:r>
                    <a:rPr lang="en-US">
                      <a:noFill/>
                    </a:rPr>
                    <a:t> </a:t>
                  </a:r>
                </a:p>
              </p:txBody>
            </p:sp>
          </mc:Fallback>
        </mc:AlternateContent>
        <p:sp>
          <p:nvSpPr>
            <p:cNvPr id="34" name="Rounded Rectangle 33">
              <a:extLst>
                <a:ext uri="{FF2B5EF4-FFF2-40B4-BE49-F238E27FC236}">
                  <a16:creationId xmlns:a16="http://schemas.microsoft.com/office/drawing/2014/main" id="{D56C90B5-C303-48C3-32AD-11CEE32F9AF6}"/>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5" name="TextBox 34">
              <a:extLst>
                <a:ext uri="{FF2B5EF4-FFF2-40B4-BE49-F238E27FC236}">
                  <a16:creationId xmlns:a16="http://schemas.microsoft.com/office/drawing/2014/main" id="{654A8E54-70A0-3815-FBAA-3035FC5C2C47}"/>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
        <p:nvSpPr>
          <p:cNvPr id="2" name="Oval 1">
            <a:extLst>
              <a:ext uri="{FF2B5EF4-FFF2-40B4-BE49-F238E27FC236}">
                <a16:creationId xmlns:a16="http://schemas.microsoft.com/office/drawing/2014/main" id="{DA62D176-C321-087C-9061-FB2567C8139E}"/>
              </a:ext>
            </a:extLst>
          </p:cNvPr>
          <p:cNvSpPr/>
          <p:nvPr/>
        </p:nvSpPr>
        <p:spPr>
          <a:xfrm>
            <a:off x="6559037" y="4993188"/>
            <a:ext cx="707592" cy="674170"/>
          </a:xfrm>
          <a:prstGeom prst="ellipse">
            <a:avLst/>
          </a:prstGeom>
          <a:noFill/>
          <a:ln>
            <a:solidFill>
              <a:schemeClr val="accent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9402133-FAA7-16D4-3758-35B1ADBC8E8F}"/>
              </a:ext>
            </a:extLst>
          </p:cNvPr>
          <p:cNvSpPr txBox="1"/>
          <p:nvPr/>
        </p:nvSpPr>
        <p:spPr>
          <a:xfrm>
            <a:off x="7303814" y="5191203"/>
            <a:ext cx="1191608" cy="369332"/>
          </a:xfrm>
          <a:prstGeom prst="rect">
            <a:avLst/>
          </a:prstGeom>
          <a:noFill/>
        </p:spPr>
        <p:txBody>
          <a:bodyPr wrap="none" rtlCol="0">
            <a:spAutoFit/>
          </a:bodyPr>
          <a:lstStyle/>
          <a:p>
            <a:r>
              <a:rPr lang="en-US" dirty="0">
                <a:solidFill>
                  <a:schemeClr val="accent6"/>
                </a:solidFill>
              </a:rPr>
              <a:t>estimated</a:t>
            </a:r>
          </a:p>
        </p:txBody>
      </p:sp>
    </p:spTree>
    <p:extLst>
      <p:ext uri="{BB962C8B-B14F-4D97-AF65-F5344CB8AC3E}">
        <p14:creationId xmlns:p14="http://schemas.microsoft.com/office/powerpoint/2010/main" val="405694996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2" grpId="0" animBg="1"/>
      <p:bldP spid="3"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09653-8FBD-C43A-1C77-2A9685B0B2D4}"/>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5F869D1C-3BD3-F431-D65D-1FF5664C1038}"/>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EFDB1166-588E-909A-0AF4-AA68E8B5AEA3}"/>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DA13871F-47B4-6475-3BFE-FB1B88F91E24}"/>
              </a:ext>
            </a:extLst>
          </p:cNvPr>
          <p:cNvSpPr/>
          <p:nvPr/>
        </p:nvSpPr>
        <p:spPr>
          <a:xfrm>
            <a:off x="3072853"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C8CD046-7BF3-AC43-0B28-51E2234E573C}"/>
              </a:ext>
            </a:extLst>
          </p:cNvPr>
          <p:cNvSpPr/>
          <p:nvPr/>
        </p:nvSpPr>
        <p:spPr>
          <a:xfrm>
            <a:off x="7331912" y="134389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671BDA0-FEFB-8C0A-763D-010FDA86275A}"/>
                  </a:ext>
                </a:extLst>
              </p:cNvPr>
              <p:cNvSpPr txBox="1"/>
              <p:nvPr/>
            </p:nvSpPr>
            <p:spPr>
              <a:xfrm>
                <a:off x="308886" y="3894115"/>
                <a:ext cx="6248314" cy="5672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r>
                            <a:rPr lang="en-US" sz="3200" b="0" i="1" smtClean="0">
                              <a:latin typeface="Cambria Math" panose="02040503050406030204" pitchFamily="18" charset="0"/>
                            </a:rPr>
                            <m: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𝑗</m:t>
                              </m:r>
                            </m:sub>
                          </m:sSub>
                        </m:e>
                      </m:d>
                    </m:oMath>
                  </m:oMathPara>
                </a14:m>
                <a:endParaRPr lang="en-US" dirty="0"/>
              </a:p>
            </p:txBody>
          </p:sp>
        </mc:Choice>
        <mc:Fallback xmlns="">
          <p:sp>
            <p:nvSpPr>
              <p:cNvPr id="4" name="TextBox 3">
                <a:extLst>
                  <a:ext uri="{FF2B5EF4-FFF2-40B4-BE49-F238E27FC236}">
                    <a16:creationId xmlns:a16="http://schemas.microsoft.com/office/drawing/2014/main" id="{3671BDA0-FEFB-8C0A-763D-010FDA86275A}"/>
                  </a:ext>
                </a:extLst>
              </p:cNvPr>
              <p:cNvSpPr txBox="1">
                <a:spLocks noRot="1" noChangeAspect="1" noMove="1" noResize="1" noEditPoints="1" noAdjustHandles="1" noChangeArrowheads="1" noChangeShapeType="1" noTextEdit="1"/>
              </p:cNvSpPr>
              <p:nvPr/>
            </p:nvSpPr>
            <p:spPr>
              <a:xfrm>
                <a:off x="308886" y="3894115"/>
                <a:ext cx="6248314" cy="567271"/>
              </a:xfrm>
              <a:prstGeom prst="rect">
                <a:avLst/>
              </a:prstGeom>
              <a:blipFill>
                <a:blip r:embed="rId3"/>
                <a:stretch>
                  <a:fillRect l="-101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16D328-E966-3C8B-DC4E-4A8AF584E5A4}"/>
                  </a:ext>
                </a:extLst>
              </p:cNvPr>
              <p:cNvSpPr txBox="1"/>
              <p:nvPr/>
            </p:nvSpPr>
            <p:spPr>
              <a:xfrm>
                <a:off x="254000" y="4472676"/>
                <a:ext cx="6495817" cy="57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&lt;</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𝑇</m:t>
                              </m:r>
                            </m:e>
                            <m:sub>
                              <m:r>
                                <a:rPr lang="en-US" sz="3200" b="0" i="1" smtClean="0">
                                  <a:solidFill>
                                    <a:srgbClr val="FF0000"/>
                                  </a:solidFill>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m:rPr>
                                  <m:sty m:val="p"/>
                                </m:rPr>
                                <a:rPr lang="en-US" sz="3200" b="0" i="1" smtClean="0">
                                  <a:solidFill>
                                    <a:srgbClr val="FF0000"/>
                                  </a:solidFill>
                                  <a:latin typeface="Cambria Math" panose="02040503050406030204" pitchFamily="18" charset="0"/>
                                </a:rPr>
                                <m:t>j</m:t>
                              </m:r>
                            </m:sub>
                          </m:sSub>
                          <m:r>
                            <a:rPr lang="en-US" sz="3200" b="0" i="1" smtClean="0">
                              <a:solidFill>
                                <a:schemeClr val="tx1"/>
                              </a:solidFill>
                              <a:latin typeface="Cambria Math" panose="02040503050406030204" pitchFamily="18" charset="0"/>
                            </a:rPr>
                            <m:t>−</m:t>
                          </m:r>
                          <m:r>
                            <a:rPr lang="en-US" sz="3200" b="0" i="1" smtClean="0">
                              <a:solidFill>
                                <a:srgbClr val="FF0000"/>
                              </a:solidFill>
                              <a:latin typeface="Cambria Math" panose="02040503050406030204" pitchFamily="18" charset="0"/>
                            </a:rPr>
                            <m:t> </m:t>
                          </m:r>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𝜃</m:t>
                              </m:r>
                            </m:e>
                            <m:sub>
                              <m:r>
                                <a:rPr lang="en-US" sz="3200" b="0" i="1" smtClean="0">
                                  <a:solidFill>
                                    <a:srgbClr val="FF0000"/>
                                  </a:solidFill>
                                  <a:latin typeface="Cambria Math" panose="02040503050406030204" pitchFamily="18" charset="0"/>
                                </a:rPr>
                                <m:t>𝑖</m:t>
                              </m:r>
                            </m:sub>
                          </m:sSub>
                          <m:r>
                            <a:rPr lang="en-US" sz="3200" b="0" i="1" smtClean="0">
                              <a:solidFill>
                                <a:schemeClr val="tx1"/>
                              </a:solidFill>
                              <a:latin typeface="Cambria Math" panose="02040503050406030204" pitchFamily="18" charset="0"/>
                            </a:rPr>
                            <m:t>&gt;</m:t>
                          </m:r>
                          <m:r>
                            <a:rPr lang="en-US" sz="3200" i="1">
                              <a:solidFill>
                                <a:schemeClr val="accent6"/>
                              </a:solidFill>
                              <a:latin typeface="Cambria Math" panose="02040503050406030204" pitchFamily="18" charset="0"/>
                            </a:rPr>
                            <m:t>𝑇</m:t>
                          </m:r>
                          <m:sSub>
                            <m:sSubPr>
                              <m:ctrlPr>
                                <a:rPr lang="en-US" sz="3200" i="1">
                                  <a:solidFill>
                                    <a:schemeClr val="accent6"/>
                                  </a:solidFill>
                                  <a:latin typeface="Cambria Math" panose="02040503050406030204" pitchFamily="18" charset="0"/>
                                </a:rPr>
                              </m:ctrlPr>
                            </m:sSubPr>
                            <m:e>
                              <m:r>
                                <a:rPr lang="en-US" sz="3200" i="1">
                                  <a:solidFill>
                                    <a:schemeClr val="accent6"/>
                                  </a:solidFill>
                                  <a:latin typeface="Cambria Math" panose="02040503050406030204" pitchFamily="18" charset="0"/>
                                </a:rPr>
                                <m:t>’</m:t>
                              </m:r>
                            </m:e>
                            <m:sub>
                              <m:r>
                                <a:rPr lang="en-US" sz="3200" i="1">
                                  <a:solidFill>
                                    <a:schemeClr val="accent6"/>
                                  </a:solidFill>
                                  <a:latin typeface="Cambria Math" panose="02040503050406030204" pitchFamily="18" charset="0"/>
                                </a:rPr>
                                <m:t>𝑖</m:t>
                              </m:r>
                            </m:sub>
                          </m:sSub>
                          <m:r>
                            <a:rPr lang="en-US" sz="3200" b="0" i="1" smtClean="0">
                              <a:solidFill>
                                <a:schemeClr val="accent6"/>
                              </a:solidFill>
                              <a:latin typeface="Cambria Math" panose="02040503050406030204" pitchFamily="18" charset="0"/>
                            </a:rPr>
                            <m:t> </m:t>
                          </m:r>
                          <m:r>
                            <a:rPr lang="en-US" sz="3200" b="0" i="1" smtClean="0">
                              <a:solidFill>
                                <a:schemeClr val="tx1"/>
                              </a:solidFill>
                              <a:latin typeface="Cambria Math" panose="02040503050406030204" pitchFamily="18" charset="0"/>
                            </a:rPr>
                            <m:t>−</m:t>
                          </m:r>
                          <m:r>
                            <a:rPr lang="en-US" sz="3200" b="0" i="1" smtClean="0">
                              <a:solidFill>
                                <a:schemeClr val="accent6"/>
                              </a:solidFill>
                              <a:latin typeface="Cambria Math" panose="02040503050406030204" pitchFamily="18" charset="0"/>
                            </a:rPr>
                            <m:t> </m:t>
                          </m:r>
                          <m:r>
                            <a:rPr lang="en-US" sz="3200" b="0" i="1" smtClean="0">
                              <a:solidFill>
                                <a:schemeClr val="accent6"/>
                              </a:solidFill>
                              <a:latin typeface="Cambria Math" panose="02040503050406030204" pitchFamily="18" charset="0"/>
                            </a:rPr>
                            <m:t>𝑇</m:t>
                          </m:r>
                          <m:sSub>
                            <m:sSubPr>
                              <m:ctrlPr>
                                <a:rPr lang="en-US" sz="3200" b="0" i="1" smtClean="0">
                                  <a:solidFill>
                                    <a:schemeClr val="accent6"/>
                                  </a:solidFill>
                                  <a:latin typeface="Cambria Math" panose="02040503050406030204" pitchFamily="18" charset="0"/>
                                </a:rPr>
                              </m:ctrlPr>
                            </m:sSubPr>
                            <m:e>
                              <m:r>
                                <a:rPr lang="en-US" sz="3200" b="0" i="1" smtClean="0">
                                  <a:solidFill>
                                    <a:schemeClr val="accent6"/>
                                  </a:solidFill>
                                  <a:latin typeface="Cambria Math" panose="02040503050406030204" pitchFamily="18" charset="0"/>
                                </a:rPr>
                                <m:t>’</m:t>
                              </m:r>
                            </m:e>
                            <m:sub>
                              <m:r>
                                <a:rPr lang="en-US" sz="3200" b="0" i="1" smtClean="0">
                                  <a:solidFill>
                                    <a:schemeClr val="accent6"/>
                                  </a:solidFill>
                                  <a:latin typeface="Cambria Math" panose="02040503050406030204" pitchFamily="18" charset="0"/>
                                </a:rPr>
                                <m:t>𝑗</m:t>
                              </m:r>
                            </m:sub>
                          </m:sSub>
                        </m:e>
                      </m:d>
                    </m:oMath>
                  </m:oMathPara>
                </a14:m>
                <a:endParaRPr lang="en-US" dirty="0"/>
              </a:p>
            </p:txBody>
          </p:sp>
        </mc:Choice>
        <mc:Fallback xmlns="">
          <p:sp>
            <p:nvSpPr>
              <p:cNvPr id="5" name="TextBox 4">
                <a:extLst>
                  <a:ext uri="{FF2B5EF4-FFF2-40B4-BE49-F238E27FC236}">
                    <a16:creationId xmlns:a16="http://schemas.microsoft.com/office/drawing/2014/main" id="{8516D328-E966-3C8B-DC4E-4A8AF584E5A4}"/>
                  </a:ext>
                </a:extLst>
              </p:cNvPr>
              <p:cNvSpPr txBox="1">
                <a:spLocks noRot="1" noChangeAspect="1" noMove="1" noResize="1" noEditPoints="1" noAdjustHandles="1" noChangeArrowheads="1" noChangeShapeType="1" noTextEdit="1"/>
              </p:cNvSpPr>
              <p:nvPr/>
            </p:nvSpPr>
            <p:spPr>
              <a:xfrm>
                <a:off x="254000" y="4472676"/>
                <a:ext cx="6495817" cy="573234"/>
              </a:xfrm>
              <a:prstGeom prst="rect">
                <a:avLst/>
              </a:prstGeom>
              <a:blipFill>
                <a:blip r:embed="rId4"/>
                <a:stretch>
                  <a:fillRect l="-1172" t="-217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F9A13B-D415-F12A-C1A8-D543E03DDB28}"/>
                  </a:ext>
                </a:extLst>
              </p:cNvPr>
              <p:cNvSpPr txBox="1"/>
              <p:nvPr/>
            </p:nvSpPr>
            <p:spPr>
              <a:xfrm>
                <a:off x="1873396" y="5057200"/>
                <a:ext cx="2003049" cy="465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𝜃</m:t>
                      </m:r>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6" name="TextBox 5">
                <a:extLst>
                  <a:ext uri="{FF2B5EF4-FFF2-40B4-BE49-F238E27FC236}">
                    <a16:creationId xmlns:a16="http://schemas.microsoft.com/office/drawing/2014/main" id="{9EF9A13B-D415-F12A-C1A8-D543E03DDB28}"/>
                  </a:ext>
                </a:extLst>
              </p:cNvPr>
              <p:cNvSpPr txBox="1">
                <a:spLocks noRot="1" noChangeAspect="1" noMove="1" noResize="1" noEditPoints="1" noAdjustHandles="1" noChangeArrowheads="1" noChangeShapeType="1" noTextEdit="1"/>
              </p:cNvSpPr>
              <p:nvPr/>
            </p:nvSpPr>
            <p:spPr>
              <a:xfrm>
                <a:off x="1873396" y="5057200"/>
                <a:ext cx="2003049" cy="465577"/>
              </a:xfrm>
              <a:prstGeom prst="rect">
                <a:avLst/>
              </a:prstGeom>
              <a:blipFill>
                <a:blip r:embed="rId5"/>
                <a:stretch>
                  <a:fillRect l="-3774" r="-629"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C44CB7C-98AD-A4B4-E478-E69C1AC28C26}"/>
                  </a:ext>
                </a:extLst>
              </p:cNvPr>
              <p:cNvSpPr txBox="1"/>
              <p:nvPr/>
            </p:nvSpPr>
            <p:spPr>
              <a:xfrm>
                <a:off x="3981662" y="5058930"/>
                <a:ext cx="89460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 </m:t>
                      </m:r>
                      <m:sSub>
                        <m:sSubPr>
                          <m:ctrlPr>
                            <a:rPr lang="en-US" sz="2800" b="0" i="1" smtClean="0">
                              <a:solidFill>
                                <a:schemeClr val="accent6"/>
                              </a:solidFill>
                              <a:latin typeface="Cambria Math" panose="02040503050406030204" pitchFamily="18" charset="0"/>
                              <a:ea typeface="Cambria Math" panose="02040503050406030204" pitchFamily="18" charset="0"/>
                            </a:rPr>
                          </m:ctrlPr>
                        </m:sSubPr>
                        <m:e>
                          <m:r>
                            <a:rPr lang="en-US" sz="2800" b="0" i="1" smtClean="0">
                              <a:solidFill>
                                <a:schemeClr val="accent6"/>
                              </a:solidFill>
                              <a:latin typeface="Cambria Math" panose="02040503050406030204" pitchFamily="18" charset="0"/>
                              <a:ea typeface="Cambria Math" panose="02040503050406030204" pitchFamily="18" charset="0"/>
                            </a:rPr>
                            <m:t>𝑓</m:t>
                          </m:r>
                        </m:e>
                        <m:sub>
                          <m:r>
                            <a:rPr lang="en-US" sz="2800" b="0" i="1" smtClean="0">
                              <a:solidFill>
                                <a:schemeClr val="accent6"/>
                              </a:solidFill>
                              <a:latin typeface="Cambria Math" panose="02040503050406030204" pitchFamily="18" charset="0"/>
                              <a:ea typeface="Cambria Math" panose="02040503050406030204" pitchFamily="18" charset="0"/>
                            </a:rPr>
                            <m:t>∆</m:t>
                          </m:r>
                          <m:r>
                            <a:rPr lang="en-US" sz="2800" b="0" i="1" smtClean="0">
                              <a:solidFill>
                                <a:schemeClr val="accent6"/>
                              </a:solidFill>
                              <a:latin typeface="Cambria Math" panose="02040503050406030204" pitchFamily="18" charset="0"/>
                              <a:ea typeface="Cambria Math" panose="02040503050406030204" pitchFamily="18" charset="0"/>
                            </a:rPr>
                            <m:t>𝜃</m:t>
                          </m:r>
                        </m:sub>
                      </m:sSub>
                    </m:oMath>
                  </m:oMathPara>
                </a14:m>
                <a:endParaRPr lang="en-US" dirty="0"/>
              </a:p>
            </p:txBody>
          </p:sp>
        </mc:Choice>
        <mc:Fallback xmlns="">
          <p:sp>
            <p:nvSpPr>
              <p:cNvPr id="7" name="TextBox 6">
                <a:extLst>
                  <a:ext uri="{FF2B5EF4-FFF2-40B4-BE49-F238E27FC236}">
                    <a16:creationId xmlns:a16="http://schemas.microsoft.com/office/drawing/2014/main" id="{7C44CB7C-98AD-A4B4-E478-E69C1AC28C26}"/>
                  </a:ext>
                </a:extLst>
              </p:cNvPr>
              <p:cNvSpPr txBox="1">
                <a:spLocks noRot="1" noChangeAspect="1" noMove="1" noResize="1" noEditPoints="1" noAdjustHandles="1" noChangeArrowheads="1" noChangeShapeType="1" noTextEdit="1"/>
              </p:cNvSpPr>
              <p:nvPr/>
            </p:nvSpPr>
            <p:spPr>
              <a:xfrm>
                <a:off x="3981662" y="5058930"/>
                <a:ext cx="894604" cy="430887"/>
              </a:xfrm>
              <a:prstGeom prst="rect">
                <a:avLst/>
              </a:prstGeom>
              <a:blipFill>
                <a:blip r:embed="rId6"/>
                <a:stretch>
                  <a:fillRect l="-2817" t="-8571" r="-4225"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8480FE-C218-20C4-084B-313296981C91}"/>
                  </a:ext>
                </a:extLst>
              </p:cNvPr>
              <p:cNvSpPr txBox="1"/>
              <p:nvPr/>
            </p:nvSpPr>
            <p:spPr>
              <a:xfrm>
                <a:off x="1383451" y="5489817"/>
                <a:ext cx="4284763" cy="1031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𝑃</m:t>
                      </m:r>
                      <m:d>
                        <m:dPr>
                          <m:ctrlPr>
                            <a:rPr lang="en-US" sz="2800" i="1">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&lt;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𝑗</m:t>
                              </m:r>
                            </m:sub>
                          </m:sSub>
                        </m:e>
                      </m:d>
                      <m:r>
                        <a:rPr lang="en-US" sz="2800" b="0" i="1" smtClean="0">
                          <a:solidFill>
                            <a:srgbClr val="FF0000"/>
                          </a:solidFill>
                          <a:latin typeface="Cambria Math" panose="02040503050406030204" pitchFamily="18" charset="0"/>
                        </a:rPr>
                        <m:t> </m:t>
                      </m:r>
                      <m:r>
                        <a:rPr lang="en-US" sz="2800" b="0" i="1" smtClean="0">
                          <a:solidFill>
                            <a:schemeClr val="tx1"/>
                          </a:solidFill>
                          <a:latin typeface="Cambria Math" panose="02040503050406030204" pitchFamily="18" charset="0"/>
                        </a:rPr>
                        <m:t>= </m:t>
                      </m:r>
                      <m:nary>
                        <m:naryPr>
                          <m:ctrlPr>
                            <a:rPr lang="en-US" sz="2800" b="0" i="1" smtClean="0">
                              <a:solidFill>
                                <a:schemeClr val="tx1"/>
                              </a:solidFill>
                              <a:latin typeface="Cambria Math" panose="02040503050406030204" pitchFamily="18" charset="0"/>
                            </a:rPr>
                          </m:ctrlPr>
                        </m:naryPr>
                        <m:sub>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𝑖</m:t>
                              </m:r>
                            </m:sub>
                          </m:sSub>
                          <m:r>
                            <a:rPr lang="en-US" sz="2800" i="1">
                              <a:latin typeface="Cambria Math" panose="02040503050406030204" pitchFamily="18" charset="0"/>
                            </a:rPr>
                            <m:t>−</m:t>
                          </m:r>
                          <m:r>
                            <a:rPr lang="en-US" sz="2800" i="1">
                              <a:solidFill>
                                <a:schemeClr val="accent6"/>
                              </a:solidFill>
                              <a:latin typeface="Cambria Math" panose="02040503050406030204" pitchFamily="18" charset="0"/>
                            </a:rPr>
                            <m:t>𝑇</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panose="02040503050406030204" pitchFamily="18" charset="0"/>
                                </a:rPr>
                                <m:t>’</m:t>
                              </m:r>
                            </m:e>
                            <m:sub>
                              <m:r>
                                <a:rPr lang="en-US" sz="2800" i="1">
                                  <a:solidFill>
                                    <a:schemeClr val="accent6"/>
                                  </a:solidFill>
                                  <a:latin typeface="Cambria Math" panose="02040503050406030204" pitchFamily="18" charset="0"/>
                                </a:rPr>
                                <m:t>𝑗</m:t>
                              </m:r>
                            </m:sub>
                          </m:sSub>
                        </m:sub>
                        <m:sup>
                          <m:r>
                            <a:rPr lang="en-US" sz="2800" i="1" smtClean="0">
                              <a:solidFill>
                                <a:schemeClr val="tx1"/>
                              </a:solidFill>
                              <a:latin typeface="Cambria Math" panose="02040503050406030204" pitchFamily="18" charset="0"/>
                              <a:ea typeface="Cambria Math" panose="02040503050406030204" pitchFamily="18" charset="0"/>
                            </a:rPr>
                            <m:t>∞</m:t>
                          </m:r>
                        </m:sup>
                        <m:e>
                          <m:sSub>
                            <m:sSubPr>
                              <m:ctrlPr>
                                <a:rPr lang="en-US" sz="2800" i="1">
                                  <a:solidFill>
                                    <a:schemeClr val="accent6"/>
                                  </a:solidFill>
                                  <a:latin typeface="Cambria Math" panose="02040503050406030204" pitchFamily="18" charset="0"/>
                                  <a:ea typeface="Cambria Math" panose="02040503050406030204" pitchFamily="18" charset="0"/>
                                </a:rPr>
                              </m:ctrlPr>
                            </m:sSubPr>
                            <m:e>
                              <m:r>
                                <a:rPr lang="en-US" sz="2800" i="1">
                                  <a:solidFill>
                                    <a:schemeClr val="accent6"/>
                                  </a:solidFill>
                                  <a:latin typeface="Cambria Math" panose="02040503050406030204" pitchFamily="18" charset="0"/>
                                  <a:ea typeface="Cambria Math" panose="02040503050406030204" pitchFamily="18" charset="0"/>
                                </a:rPr>
                                <m:t>𝑓</m:t>
                              </m:r>
                            </m:e>
                            <m:sub>
                              <m:r>
                                <a:rPr lang="en-US" sz="2800" i="1">
                                  <a:solidFill>
                                    <a:schemeClr val="accent6"/>
                                  </a:solidFill>
                                  <a:latin typeface="Cambria Math" panose="02040503050406030204" pitchFamily="18" charset="0"/>
                                  <a:ea typeface="Cambria Math" panose="02040503050406030204" pitchFamily="18" charset="0"/>
                                </a:rPr>
                                <m:t>∆</m:t>
                              </m:r>
                              <m:r>
                                <a:rPr lang="en-US" sz="2800" i="1">
                                  <a:solidFill>
                                    <a:schemeClr val="accent6"/>
                                  </a:solidFill>
                                  <a:latin typeface="Cambria Math" panose="02040503050406030204" pitchFamily="18" charset="0"/>
                                  <a:ea typeface="Cambria Math" panose="02040503050406030204" pitchFamily="18" charset="0"/>
                                </a:rPr>
                                <m:t>𝜃</m:t>
                              </m:r>
                            </m:sub>
                          </m:sSub>
                          <m:r>
                            <a:rPr lang="en-US" sz="2800" b="0" i="1" smtClean="0">
                              <a:solidFill>
                                <a:schemeClr val="accent6"/>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d</m:t>
                          </m:r>
                          <m:r>
                            <a:rPr lang="en-US" sz="2800" i="1">
                              <a:solidFill>
                                <a:schemeClr val="tx1"/>
                              </a:solidFill>
                              <a:latin typeface="Cambria Math" panose="02040503050406030204" pitchFamily="18" charset="0"/>
                              <a:ea typeface="Cambria Math" panose="02040503050406030204" pitchFamily="18" charset="0"/>
                            </a:rPr>
                            <m:t>∆</m:t>
                          </m:r>
                        </m:e>
                      </m:nary>
                    </m:oMath>
                  </m:oMathPara>
                </a14:m>
                <a:endParaRPr lang="en-US" dirty="0"/>
              </a:p>
            </p:txBody>
          </p:sp>
        </mc:Choice>
        <mc:Fallback xmlns="">
          <p:sp>
            <p:nvSpPr>
              <p:cNvPr id="8" name="TextBox 7">
                <a:extLst>
                  <a:ext uri="{FF2B5EF4-FFF2-40B4-BE49-F238E27FC236}">
                    <a16:creationId xmlns:a16="http://schemas.microsoft.com/office/drawing/2014/main" id="{EE8480FE-C218-20C4-084B-313296981C91}"/>
                  </a:ext>
                </a:extLst>
              </p:cNvPr>
              <p:cNvSpPr txBox="1">
                <a:spLocks noRot="1" noChangeAspect="1" noMove="1" noResize="1" noEditPoints="1" noAdjustHandles="1" noChangeArrowheads="1" noChangeShapeType="1" noTextEdit="1"/>
              </p:cNvSpPr>
              <p:nvPr/>
            </p:nvSpPr>
            <p:spPr>
              <a:xfrm>
                <a:off x="1383451" y="5489817"/>
                <a:ext cx="4284763" cy="1031436"/>
              </a:xfrm>
              <a:prstGeom prst="rect">
                <a:avLst/>
              </a:prstGeom>
              <a:blipFill>
                <a:blip r:embed="rId7"/>
                <a:stretch>
                  <a:fillRect l="-1475" t="-174390" r="-1475" b="-240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4EBFFD7-74BA-3D33-046F-81093C662482}"/>
                  </a:ext>
                </a:extLst>
              </p:cNvPr>
              <p:cNvSpPr txBox="1"/>
              <p:nvPr/>
            </p:nvSpPr>
            <p:spPr>
              <a:xfrm>
                <a:off x="7114870" y="4280852"/>
                <a:ext cx="4194050" cy="557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i="1" smtClean="0">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𝑖</m:t>
                          </m:r>
                        </m:sub>
                      </m:sSub>
                      <m:r>
                        <a:rPr lang="en-US" sz="2800" i="1" dirty="0" smtClean="0">
                          <a:solidFill>
                            <a:srgbClr val="FF0000"/>
                          </a:solidFill>
                          <a:latin typeface="Cambria Math" panose="02040503050406030204" pitchFamily="18" charset="0"/>
                        </a:rPr>
                        <m:t>,</m:t>
                      </m:r>
                      <m:r>
                        <a:rPr lang="en-US" sz="2800" b="0" i="1" dirty="0" smtClean="0">
                          <a:solidFill>
                            <a:srgbClr val="FF0000"/>
                          </a:solidFill>
                          <a:latin typeface="Cambria Math" panose="02040503050406030204" pitchFamily="18" charset="0"/>
                        </a:rPr>
                        <m:t> </m:t>
                      </m:r>
                      <m:sSub>
                        <m:sSubPr>
                          <m:ctrlPr>
                            <a:rPr lang="en-US" sz="2800" b="0" i="1" dirty="0" smtClean="0">
                              <a:solidFill>
                                <a:srgbClr val="FF0000"/>
                              </a:solidFill>
                              <a:latin typeface="Cambria Math" panose="02040503050406030204" pitchFamily="18" charset="0"/>
                              <a:ea typeface="Cambria Math" panose="02040503050406030204" pitchFamily="18" charset="0"/>
                            </a:rPr>
                          </m:ctrlPr>
                        </m:sSubPr>
                        <m:e>
                          <m:r>
                            <a:rPr lang="en-US" sz="2800" i="1">
                              <a:solidFill>
                                <a:srgbClr val="FF0000"/>
                              </a:solidFill>
                              <a:latin typeface="Cambria Math" panose="02040503050406030204" pitchFamily="18" charset="0"/>
                              <a:ea typeface="Cambria Math" panose="02040503050406030204" pitchFamily="18" charset="0"/>
                            </a:rPr>
                            <m:t>𝜃</m:t>
                          </m:r>
                        </m:e>
                        <m:sub>
                          <m:r>
                            <a:rPr lang="en-US" sz="2800" b="0" i="1" smtClean="0">
                              <a:solidFill>
                                <a:srgbClr val="FF0000"/>
                              </a:solidFill>
                              <a:latin typeface="Cambria Math" panose="02040503050406030204" pitchFamily="18" charset="0"/>
                              <a:ea typeface="Cambria Math" panose="02040503050406030204" pitchFamily="18" charset="0"/>
                            </a:rPr>
                            <m:t>𝑗</m:t>
                          </m:r>
                        </m:sub>
                      </m:sSub>
                      <m:r>
                        <m:rPr>
                          <m:nor/>
                        </m:rPr>
                        <a:rPr lang="en-US" sz="2800" b="0" i="0" smtClean="0">
                          <a:solidFill>
                            <a:srgbClr val="FF0000"/>
                          </a:solidFill>
                          <a:latin typeface="Cambria Math" panose="02040503050406030204" pitchFamily="18" charset="0"/>
                          <a:ea typeface="Cambria Math" panose="02040503050406030204" pitchFamily="18" charset="0"/>
                        </a:rPr>
                        <m:t> </m:t>
                      </m:r>
                      <m:r>
                        <m:rPr>
                          <m:nor/>
                        </m:rPr>
                        <a:rPr lang="en-US" sz="2800" dirty="0"/>
                        <m:t>normally</m:t>
                      </m:r>
                      <m:r>
                        <m:rPr>
                          <m:nor/>
                        </m:rPr>
                        <a:rPr lang="en-US" sz="2800" dirty="0"/>
                        <m:t> </m:t>
                      </m:r>
                      <m:r>
                        <m:rPr>
                          <m:nor/>
                        </m:rPr>
                        <a:rPr lang="en-US" sz="2800" dirty="0"/>
                        <m:t>distributed</m:t>
                      </m:r>
                    </m:oMath>
                  </m:oMathPara>
                </a14:m>
                <a:endParaRPr/>
              </a:p>
            </p:txBody>
          </p:sp>
        </mc:Choice>
        <mc:Fallback xmlns="">
          <p:sp>
            <p:nvSpPr>
              <p:cNvPr id="10" name="TextBox 9">
                <a:extLst>
                  <a:ext uri="{FF2B5EF4-FFF2-40B4-BE49-F238E27FC236}">
                    <a16:creationId xmlns:a16="http://schemas.microsoft.com/office/drawing/2014/main" id="{14EBFFD7-74BA-3D33-046F-81093C662482}"/>
                  </a:ext>
                </a:extLst>
              </p:cNvPr>
              <p:cNvSpPr txBox="1">
                <a:spLocks noRot="1" noChangeAspect="1" noMove="1" noResize="1" noEditPoints="1" noAdjustHandles="1" noChangeArrowheads="1" noChangeShapeType="1" noTextEdit="1"/>
              </p:cNvSpPr>
              <p:nvPr/>
            </p:nvSpPr>
            <p:spPr>
              <a:xfrm>
                <a:off x="7114870" y="4280852"/>
                <a:ext cx="4194050" cy="557910"/>
              </a:xfrm>
              <a:prstGeom prst="rect">
                <a:avLst/>
              </a:prstGeom>
              <a:blipFill>
                <a:blip r:embed="rId8"/>
                <a:stretch>
                  <a:fillRect t="-6522" r="-3625" b="-21739"/>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243E0871-AE85-36C5-EDF1-380031657BD7}"/>
              </a:ext>
            </a:extLst>
          </p:cNvPr>
          <p:cNvGrpSpPr/>
          <p:nvPr/>
        </p:nvGrpSpPr>
        <p:grpSpPr>
          <a:xfrm>
            <a:off x="6278880" y="5057200"/>
            <a:ext cx="5684799" cy="1464053"/>
            <a:chOff x="6278880" y="5057200"/>
            <a:chExt cx="5684799" cy="1464053"/>
          </a:xfrm>
        </p:grpSpPr>
        <p:sp>
          <p:nvSpPr>
            <p:cNvPr id="23" name="Rectangle 22">
              <a:extLst>
                <a:ext uri="{FF2B5EF4-FFF2-40B4-BE49-F238E27FC236}">
                  <a16:creationId xmlns:a16="http://schemas.microsoft.com/office/drawing/2014/main" id="{FF9FA160-4419-F51B-065E-B0BFCA62F6E6}"/>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D81647-5C3F-8D94-716B-3F6B029D356E}"/>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17" name="TextBox 16">
                  <a:extLst>
                    <a:ext uri="{FF2B5EF4-FFF2-40B4-BE49-F238E27FC236}">
                      <a16:creationId xmlns:a16="http://schemas.microsoft.com/office/drawing/2014/main" id="{7AD81647-5C3F-8D94-716B-3F6B029D356E}"/>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9"/>
                  <a:stretch>
                    <a:fillRect l="-686" r="-3432"/>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DBB4728D-7D4E-9362-C795-215F44FAE9E8}"/>
              </a:ext>
            </a:extLst>
          </p:cNvPr>
          <p:cNvGrpSpPr/>
          <p:nvPr/>
        </p:nvGrpSpPr>
        <p:grpSpPr>
          <a:xfrm>
            <a:off x="254000" y="2387950"/>
            <a:ext cx="8269403" cy="729817"/>
            <a:chOff x="254000" y="2387950"/>
            <a:chExt cx="8269403" cy="729817"/>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4B1AD8F-124B-CCFD-67CD-1BE6F5DEC906}"/>
                    </a:ext>
                  </a:extLst>
                </p:cNvPr>
                <p:cNvSpPr txBox="1"/>
                <p:nvPr/>
              </p:nvSpPr>
              <p:spPr>
                <a:xfrm>
                  <a:off x="3431834" y="2471913"/>
                  <a:ext cx="416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a:rPr lang="en-US" sz="3200" i="1" dirty="0">
                                <a:solidFill>
                                  <a:srgbClr val="FF0000"/>
                                </a:solidFill>
                                <a:latin typeface="Cambria Math" panose="02040503050406030204" pitchFamily="18" charset="0"/>
                              </a:rPr>
                              <m:t>𝑖</m:t>
                            </m:r>
                          </m:sub>
                        </m:sSub>
                      </m:oMath>
                    </m:oMathPara>
                  </a14:m>
                  <a:endParaRPr lang="en-US" sz="3200" dirty="0">
                    <a:solidFill>
                      <a:srgbClr val="FF0000"/>
                    </a:solidFill>
                  </a:endParaRPr>
                </a:p>
              </p:txBody>
            </p:sp>
          </mc:Choice>
          <mc:Fallback xmlns="">
            <p:sp>
              <p:nvSpPr>
                <p:cNvPr id="29" name="TextBox 28">
                  <a:extLst>
                    <a:ext uri="{FF2B5EF4-FFF2-40B4-BE49-F238E27FC236}">
                      <a16:creationId xmlns:a16="http://schemas.microsoft.com/office/drawing/2014/main" id="{94B1AD8F-124B-CCFD-67CD-1BE6F5DEC906}"/>
                    </a:ext>
                  </a:extLst>
                </p:cNvPr>
                <p:cNvSpPr txBox="1">
                  <a:spLocks noRot="1" noChangeAspect="1" noMove="1" noResize="1" noEditPoints="1" noAdjustHandles="1" noChangeArrowheads="1" noChangeShapeType="1" noTextEdit="1"/>
                </p:cNvSpPr>
                <p:nvPr/>
              </p:nvSpPr>
              <p:spPr>
                <a:xfrm>
                  <a:off x="3431834" y="2471913"/>
                  <a:ext cx="416076" cy="492443"/>
                </a:xfrm>
                <a:prstGeom prst="rect">
                  <a:avLst/>
                </a:prstGeom>
                <a:blipFill>
                  <a:blip r:embed="rId10"/>
                  <a:stretch>
                    <a:fillRect l="-21212" r="-12121"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363231-B022-5FD9-8FB8-DD2470C3203D}"/>
                    </a:ext>
                  </a:extLst>
                </p:cNvPr>
                <p:cNvSpPr txBox="1"/>
                <p:nvPr/>
              </p:nvSpPr>
              <p:spPr>
                <a:xfrm>
                  <a:off x="7856544" y="2471913"/>
                  <a:ext cx="392993" cy="537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dirty="0" smtClean="0">
                                <a:solidFill>
                                  <a:srgbClr val="FF0000"/>
                                </a:solidFill>
                                <a:latin typeface="Cambria Math" panose="02040503050406030204" pitchFamily="18" charset="0"/>
                              </a:rPr>
                            </m:ctrlPr>
                          </m:sSubPr>
                          <m:e>
                            <m:r>
                              <a:rPr lang="en-US" sz="3200" i="1" dirty="0">
                                <a:solidFill>
                                  <a:srgbClr val="FF0000"/>
                                </a:solidFill>
                                <a:latin typeface="Cambria Math" panose="02040503050406030204" pitchFamily="18" charset="0"/>
                              </a:rPr>
                              <m:t>𝑇</m:t>
                            </m:r>
                          </m:e>
                          <m:sub>
                            <m:r>
                              <m:rPr>
                                <m:sty m:val="p"/>
                              </m:rPr>
                              <a:rPr lang="en-US" sz="3200" b="0" i="1" dirty="0" smtClean="0">
                                <a:solidFill>
                                  <a:srgbClr val="FF0000"/>
                                </a:solidFill>
                                <a:latin typeface="Cambria Math" panose="02040503050406030204" pitchFamily="18" charset="0"/>
                              </a:rPr>
                              <m:t>j</m:t>
                            </m:r>
                          </m:sub>
                        </m:sSub>
                      </m:oMath>
                    </m:oMathPara>
                  </a14:m>
                  <a:endParaRPr lang="en-US" sz="3200" dirty="0">
                    <a:solidFill>
                      <a:srgbClr val="FF0000"/>
                    </a:solidFill>
                  </a:endParaRPr>
                </a:p>
              </p:txBody>
            </p:sp>
          </mc:Choice>
          <mc:Fallback xmlns="">
            <p:sp>
              <p:nvSpPr>
                <p:cNvPr id="30" name="TextBox 29">
                  <a:extLst>
                    <a:ext uri="{FF2B5EF4-FFF2-40B4-BE49-F238E27FC236}">
                      <a16:creationId xmlns:a16="http://schemas.microsoft.com/office/drawing/2014/main" id="{A6363231-B022-5FD9-8FB8-DD2470C3203D}"/>
                    </a:ext>
                  </a:extLst>
                </p:cNvPr>
                <p:cNvSpPr txBox="1">
                  <a:spLocks noRot="1" noChangeAspect="1" noMove="1" noResize="1" noEditPoints="1" noAdjustHandles="1" noChangeArrowheads="1" noChangeShapeType="1" noTextEdit="1"/>
                </p:cNvSpPr>
                <p:nvPr/>
              </p:nvSpPr>
              <p:spPr>
                <a:xfrm>
                  <a:off x="7856544" y="2471913"/>
                  <a:ext cx="392993" cy="537968"/>
                </a:xfrm>
                <a:prstGeom prst="rect">
                  <a:avLst/>
                </a:prstGeom>
                <a:blipFill>
                  <a:blip r:embed="rId11"/>
                  <a:stretch>
                    <a:fillRect l="-21875" r="-18750" b="-20455"/>
                  </a:stretch>
                </a:blipFill>
              </p:spPr>
              <p:txBody>
                <a:bodyPr/>
                <a:lstStyle/>
                <a:p>
                  <a:r>
                    <a:rPr lang="en-US">
                      <a:noFill/>
                    </a:rPr>
                    <a:t> </a:t>
                  </a:r>
                </a:p>
              </p:txBody>
            </p:sp>
          </mc:Fallback>
        </mc:AlternateContent>
        <p:sp>
          <p:nvSpPr>
            <p:cNvPr id="31" name="Rounded Rectangle 30">
              <a:extLst>
                <a:ext uri="{FF2B5EF4-FFF2-40B4-BE49-F238E27FC236}">
                  <a16:creationId xmlns:a16="http://schemas.microsoft.com/office/drawing/2014/main" id="{00D07F6F-D4DA-3562-41F3-094CA99B1020}"/>
                </a:ext>
              </a:extLst>
            </p:cNvPr>
            <p:cNvSpPr/>
            <p:nvPr/>
          </p:nvSpPr>
          <p:spPr>
            <a:xfrm>
              <a:off x="254000" y="2387950"/>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C4A75C46-C3D5-E429-C377-37D403BF3272}"/>
                </a:ext>
              </a:extLst>
            </p:cNvPr>
            <p:cNvSpPr txBox="1"/>
            <p:nvPr/>
          </p:nvSpPr>
          <p:spPr>
            <a:xfrm>
              <a:off x="436917" y="2531356"/>
              <a:ext cx="1981200" cy="373556"/>
            </a:xfrm>
            <a:prstGeom prst="rect">
              <a:avLst/>
            </a:prstGeom>
            <a:noFill/>
          </p:spPr>
          <p:txBody>
            <a:bodyPr wrap="square" rtlCol="0">
              <a:spAutoFit/>
            </a:bodyPr>
            <a:lstStyle/>
            <a:p>
              <a:r>
                <a:rPr lang="en-US" dirty="0">
                  <a:solidFill>
                    <a:srgbClr val="FF0000"/>
                  </a:solidFill>
                </a:rPr>
                <a:t>True Values</a:t>
              </a:r>
            </a:p>
          </p:txBody>
        </p:sp>
      </p:grpSp>
      <p:grpSp>
        <p:nvGrpSpPr>
          <p:cNvPr id="33" name="Group 32">
            <a:extLst>
              <a:ext uri="{FF2B5EF4-FFF2-40B4-BE49-F238E27FC236}">
                <a16:creationId xmlns:a16="http://schemas.microsoft.com/office/drawing/2014/main" id="{80B7347F-B0A7-7D22-4CD2-6090EA4EF264}"/>
              </a:ext>
            </a:extLst>
          </p:cNvPr>
          <p:cNvGrpSpPr/>
          <p:nvPr/>
        </p:nvGrpSpPr>
        <p:grpSpPr>
          <a:xfrm>
            <a:off x="3039517" y="3164298"/>
            <a:ext cx="8269403" cy="729817"/>
            <a:chOff x="3039517" y="3164298"/>
            <a:chExt cx="8269403" cy="729817"/>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EB037AA-F445-A295-7BC6-BE59E83DD24B}"/>
                    </a:ext>
                  </a:extLst>
                </p:cNvPr>
                <p:cNvSpPr txBox="1"/>
                <p:nvPr/>
              </p:nvSpPr>
              <p:spPr>
                <a:xfrm>
                  <a:off x="3431834" y="3222738"/>
                  <a:ext cx="473527" cy="4927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a:rPr lang="en-US" sz="3200" b="0" i="1" smtClean="0">
                                <a:solidFill>
                                  <a:schemeClr val="accent6"/>
                                </a:solidFill>
                                <a:latin typeface="Cambria Math" panose="02040503050406030204" pitchFamily="18" charset="0"/>
                              </a:rPr>
                              <m:t>𝑖</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4" name="TextBox 33">
                  <a:extLst>
                    <a:ext uri="{FF2B5EF4-FFF2-40B4-BE49-F238E27FC236}">
                      <a16:creationId xmlns:a16="http://schemas.microsoft.com/office/drawing/2014/main" id="{0EB037AA-F445-A295-7BC6-BE59E83DD24B}"/>
                    </a:ext>
                  </a:extLst>
                </p:cNvPr>
                <p:cNvSpPr txBox="1">
                  <a:spLocks noRot="1" noChangeAspect="1" noMove="1" noResize="1" noEditPoints="1" noAdjustHandles="1" noChangeArrowheads="1" noChangeShapeType="1" noTextEdit="1"/>
                </p:cNvSpPr>
                <p:nvPr/>
              </p:nvSpPr>
              <p:spPr>
                <a:xfrm>
                  <a:off x="3431834" y="3222738"/>
                  <a:ext cx="473527" cy="492764"/>
                </a:xfrm>
                <a:prstGeom prst="rect">
                  <a:avLst/>
                </a:prstGeom>
                <a:blipFill>
                  <a:blip r:embed="rId12"/>
                  <a:stretch>
                    <a:fillRect l="-18421" r="-5263"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A82927F-23CF-18C0-CC7D-1EC09EBE66CA}"/>
                    </a:ext>
                  </a:extLst>
                </p:cNvPr>
                <p:cNvSpPr txBox="1"/>
                <p:nvPr/>
              </p:nvSpPr>
              <p:spPr>
                <a:xfrm>
                  <a:off x="7827818" y="3164299"/>
                  <a:ext cx="473528" cy="554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3200" b="0" i="1" smtClean="0">
                                <a:solidFill>
                                  <a:schemeClr val="accent6"/>
                                </a:solidFill>
                                <a:latin typeface="Cambria Math" panose="02040503050406030204" pitchFamily="18" charset="0"/>
                              </a:rPr>
                            </m:ctrlPr>
                          </m:sSubSupPr>
                          <m:e>
                            <m:r>
                              <a:rPr lang="en-US" sz="3200" b="0" i="1" smtClean="0">
                                <a:solidFill>
                                  <a:schemeClr val="accent6"/>
                                </a:solidFill>
                                <a:latin typeface="Cambria Math" panose="02040503050406030204" pitchFamily="18" charset="0"/>
                              </a:rPr>
                              <m:t>𝑇</m:t>
                            </m:r>
                          </m:e>
                          <m:sub>
                            <m:r>
                              <m:rPr>
                                <m:sty m:val="p"/>
                              </m:rPr>
                              <a:rPr lang="en-US" sz="3200" b="0" i="1" smtClean="0">
                                <a:solidFill>
                                  <a:schemeClr val="accent6"/>
                                </a:solidFill>
                                <a:latin typeface="Cambria Math" panose="02040503050406030204" pitchFamily="18" charset="0"/>
                              </a:rPr>
                              <m:t>j</m:t>
                            </m:r>
                          </m:sub>
                          <m:sup>
                            <m:r>
                              <a:rPr lang="en-US" sz="3200" b="0" i="1" smtClean="0">
                                <a:solidFill>
                                  <a:schemeClr val="accent6"/>
                                </a:solidFill>
                                <a:latin typeface="Cambria Math" panose="02040503050406030204" pitchFamily="18" charset="0"/>
                              </a:rPr>
                              <m:t>′</m:t>
                            </m:r>
                          </m:sup>
                        </m:sSubSup>
                      </m:oMath>
                    </m:oMathPara>
                  </a14:m>
                  <a:endParaRPr lang="en-US" sz="3200" dirty="0">
                    <a:solidFill>
                      <a:schemeClr val="accent6"/>
                    </a:solidFill>
                  </a:endParaRPr>
                </a:p>
              </p:txBody>
            </p:sp>
          </mc:Choice>
          <mc:Fallback xmlns="">
            <p:sp>
              <p:nvSpPr>
                <p:cNvPr id="35" name="TextBox 34">
                  <a:extLst>
                    <a:ext uri="{FF2B5EF4-FFF2-40B4-BE49-F238E27FC236}">
                      <a16:creationId xmlns:a16="http://schemas.microsoft.com/office/drawing/2014/main" id="{1A82927F-23CF-18C0-CC7D-1EC09EBE66CA}"/>
                    </a:ext>
                  </a:extLst>
                </p:cNvPr>
                <p:cNvSpPr txBox="1">
                  <a:spLocks noRot="1" noChangeAspect="1" noMove="1" noResize="1" noEditPoints="1" noAdjustHandles="1" noChangeArrowheads="1" noChangeShapeType="1" noTextEdit="1"/>
                </p:cNvSpPr>
                <p:nvPr/>
              </p:nvSpPr>
              <p:spPr>
                <a:xfrm>
                  <a:off x="7827818" y="3164299"/>
                  <a:ext cx="473528" cy="554447"/>
                </a:xfrm>
                <a:prstGeom prst="rect">
                  <a:avLst/>
                </a:prstGeom>
                <a:blipFill>
                  <a:blip r:embed="rId13"/>
                  <a:stretch>
                    <a:fillRect l="-18421" r="-5263" b="-22727"/>
                  </a:stretch>
                </a:blipFill>
              </p:spPr>
              <p:txBody>
                <a:bodyPr/>
                <a:lstStyle/>
                <a:p>
                  <a:r>
                    <a:rPr lang="en-US">
                      <a:noFill/>
                    </a:rPr>
                    <a:t> </a:t>
                  </a:r>
                </a:p>
              </p:txBody>
            </p:sp>
          </mc:Fallback>
        </mc:AlternateContent>
        <p:sp>
          <p:nvSpPr>
            <p:cNvPr id="36" name="Rounded Rectangle 35">
              <a:extLst>
                <a:ext uri="{FF2B5EF4-FFF2-40B4-BE49-F238E27FC236}">
                  <a16:creationId xmlns:a16="http://schemas.microsoft.com/office/drawing/2014/main" id="{B280D934-BDB8-576D-1FA9-04C1CC88A145}"/>
                </a:ext>
              </a:extLst>
            </p:cNvPr>
            <p:cNvSpPr/>
            <p:nvPr/>
          </p:nvSpPr>
          <p:spPr>
            <a:xfrm>
              <a:off x="3039517" y="3164298"/>
              <a:ext cx="8269403" cy="729817"/>
            </a:xfrm>
            <a:custGeom>
              <a:avLst/>
              <a:gdLst>
                <a:gd name="csX0" fmla="*/ 0 w 8269403"/>
                <a:gd name="csY0" fmla="*/ 121639 h 729817"/>
                <a:gd name="csX1" fmla="*/ 121639 w 8269403"/>
                <a:gd name="csY1" fmla="*/ 0 h 729817"/>
                <a:gd name="csX2" fmla="*/ 855456 w 8269403"/>
                <a:gd name="csY2" fmla="*/ 0 h 729817"/>
                <a:gd name="csX3" fmla="*/ 1348490 w 8269403"/>
                <a:gd name="csY3" fmla="*/ 0 h 729817"/>
                <a:gd name="csX4" fmla="*/ 1761262 w 8269403"/>
                <a:gd name="csY4" fmla="*/ 0 h 729817"/>
                <a:gd name="csX5" fmla="*/ 2414818 w 8269403"/>
                <a:gd name="csY5" fmla="*/ 0 h 729817"/>
                <a:gd name="csX6" fmla="*/ 2907851 w 8269403"/>
                <a:gd name="csY6" fmla="*/ 0 h 729817"/>
                <a:gd name="csX7" fmla="*/ 3641668 w 8269403"/>
                <a:gd name="csY7" fmla="*/ 0 h 729817"/>
                <a:gd name="csX8" fmla="*/ 4054440 w 8269403"/>
                <a:gd name="csY8" fmla="*/ 0 h 729817"/>
                <a:gd name="csX9" fmla="*/ 4788257 w 8269403"/>
                <a:gd name="csY9" fmla="*/ 0 h 729817"/>
                <a:gd name="csX10" fmla="*/ 5120768 w 8269403"/>
                <a:gd name="csY10" fmla="*/ 0 h 729817"/>
                <a:gd name="csX11" fmla="*/ 5694063 w 8269403"/>
                <a:gd name="csY11" fmla="*/ 0 h 729817"/>
                <a:gd name="csX12" fmla="*/ 6267358 w 8269403"/>
                <a:gd name="csY12" fmla="*/ 0 h 729817"/>
                <a:gd name="csX13" fmla="*/ 6760391 w 8269403"/>
                <a:gd name="csY13" fmla="*/ 0 h 729817"/>
                <a:gd name="csX14" fmla="*/ 7494208 w 8269403"/>
                <a:gd name="csY14" fmla="*/ 0 h 729817"/>
                <a:gd name="csX15" fmla="*/ 8147764 w 8269403"/>
                <a:gd name="csY15" fmla="*/ 0 h 729817"/>
                <a:gd name="csX16" fmla="*/ 8269403 w 8269403"/>
                <a:gd name="csY16" fmla="*/ 121639 h 729817"/>
                <a:gd name="csX17" fmla="*/ 8269403 w 8269403"/>
                <a:gd name="csY17" fmla="*/ 608178 h 729817"/>
                <a:gd name="csX18" fmla="*/ 8147764 w 8269403"/>
                <a:gd name="csY18" fmla="*/ 729817 h 729817"/>
                <a:gd name="csX19" fmla="*/ 7815253 w 8269403"/>
                <a:gd name="csY19" fmla="*/ 729817 h 729817"/>
                <a:gd name="csX20" fmla="*/ 7081436 w 8269403"/>
                <a:gd name="csY20" fmla="*/ 729817 h 729817"/>
                <a:gd name="csX21" fmla="*/ 6508141 w 8269403"/>
                <a:gd name="csY21" fmla="*/ 729817 h 729817"/>
                <a:gd name="csX22" fmla="*/ 6095369 w 8269403"/>
                <a:gd name="csY22" fmla="*/ 729817 h 729817"/>
                <a:gd name="csX23" fmla="*/ 5522075 w 8269403"/>
                <a:gd name="csY23" fmla="*/ 729817 h 729817"/>
                <a:gd name="csX24" fmla="*/ 5189564 w 8269403"/>
                <a:gd name="csY24" fmla="*/ 729817 h 729817"/>
                <a:gd name="csX25" fmla="*/ 4857053 w 8269403"/>
                <a:gd name="csY25" fmla="*/ 729817 h 729817"/>
                <a:gd name="csX26" fmla="*/ 4283758 w 8269403"/>
                <a:gd name="csY26" fmla="*/ 729817 h 729817"/>
                <a:gd name="csX27" fmla="*/ 3870986 w 8269403"/>
                <a:gd name="csY27" fmla="*/ 729817 h 729817"/>
                <a:gd name="csX28" fmla="*/ 3217430 w 8269403"/>
                <a:gd name="csY28" fmla="*/ 729817 h 729817"/>
                <a:gd name="csX29" fmla="*/ 2804658 w 8269403"/>
                <a:gd name="csY29" fmla="*/ 729817 h 729817"/>
                <a:gd name="csX30" fmla="*/ 2151102 w 8269403"/>
                <a:gd name="csY30" fmla="*/ 729817 h 729817"/>
                <a:gd name="csX31" fmla="*/ 1818591 w 8269403"/>
                <a:gd name="csY31" fmla="*/ 729817 h 729817"/>
                <a:gd name="csX32" fmla="*/ 1165035 w 8269403"/>
                <a:gd name="csY32" fmla="*/ 729817 h 729817"/>
                <a:gd name="csX33" fmla="*/ 752263 w 8269403"/>
                <a:gd name="csY33" fmla="*/ 729817 h 729817"/>
                <a:gd name="csX34" fmla="*/ 121639 w 8269403"/>
                <a:gd name="csY34" fmla="*/ 729817 h 729817"/>
                <a:gd name="csX35" fmla="*/ 0 w 8269403"/>
                <a:gd name="csY35" fmla="*/ 608178 h 729817"/>
                <a:gd name="csX36" fmla="*/ 0 w 8269403"/>
                <a:gd name="csY36" fmla="*/ 121639 h 7298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269403" h="729817" extrusionOk="0">
                  <a:moveTo>
                    <a:pt x="0" y="121639"/>
                  </a:moveTo>
                  <a:cubicBezTo>
                    <a:pt x="-8406" y="49275"/>
                    <a:pt x="38859" y="5855"/>
                    <a:pt x="121639" y="0"/>
                  </a:cubicBezTo>
                  <a:cubicBezTo>
                    <a:pt x="437677" y="-46211"/>
                    <a:pt x="625076" y="69700"/>
                    <a:pt x="855456" y="0"/>
                  </a:cubicBezTo>
                  <a:cubicBezTo>
                    <a:pt x="1085836" y="-69700"/>
                    <a:pt x="1204532" y="29692"/>
                    <a:pt x="1348490" y="0"/>
                  </a:cubicBezTo>
                  <a:cubicBezTo>
                    <a:pt x="1492448" y="-29692"/>
                    <a:pt x="1595085" y="21670"/>
                    <a:pt x="1761262" y="0"/>
                  </a:cubicBezTo>
                  <a:cubicBezTo>
                    <a:pt x="1927439" y="-21670"/>
                    <a:pt x="2252648" y="58068"/>
                    <a:pt x="2414818" y="0"/>
                  </a:cubicBezTo>
                  <a:cubicBezTo>
                    <a:pt x="2576988" y="-58068"/>
                    <a:pt x="2763993" y="54713"/>
                    <a:pt x="2907851" y="0"/>
                  </a:cubicBezTo>
                  <a:cubicBezTo>
                    <a:pt x="3051709" y="-54713"/>
                    <a:pt x="3348208" y="3785"/>
                    <a:pt x="3641668" y="0"/>
                  </a:cubicBezTo>
                  <a:cubicBezTo>
                    <a:pt x="3935128" y="-3785"/>
                    <a:pt x="3852672" y="24519"/>
                    <a:pt x="4054440" y="0"/>
                  </a:cubicBezTo>
                  <a:cubicBezTo>
                    <a:pt x="4256208" y="-24519"/>
                    <a:pt x="4613294" y="86007"/>
                    <a:pt x="4788257" y="0"/>
                  </a:cubicBezTo>
                  <a:cubicBezTo>
                    <a:pt x="4963220" y="-86007"/>
                    <a:pt x="5031727" y="33630"/>
                    <a:pt x="5120768" y="0"/>
                  </a:cubicBezTo>
                  <a:cubicBezTo>
                    <a:pt x="5209809" y="-33630"/>
                    <a:pt x="5545094" y="21298"/>
                    <a:pt x="5694063" y="0"/>
                  </a:cubicBezTo>
                  <a:cubicBezTo>
                    <a:pt x="5843033" y="-21298"/>
                    <a:pt x="6052073" y="50985"/>
                    <a:pt x="6267358" y="0"/>
                  </a:cubicBezTo>
                  <a:cubicBezTo>
                    <a:pt x="6482643" y="-50985"/>
                    <a:pt x="6558619" y="7118"/>
                    <a:pt x="6760391" y="0"/>
                  </a:cubicBezTo>
                  <a:cubicBezTo>
                    <a:pt x="6962163" y="-7118"/>
                    <a:pt x="7138238" y="76723"/>
                    <a:pt x="7494208" y="0"/>
                  </a:cubicBezTo>
                  <a:cubicBezTo>
                    <a:pt x="7850178" y="-76723"/>
                    <a:pt x="7904130" y="53807"/>
                    <a:pt x="8147764" y="0"/>
                  </a:cubicBezTo>
                  <a:cubicBezTo>
                    <a:pt x="8201124" y="2269"/>
                    <a:pt x="8254412" y="44116"/>
                    <a:pt x="8269403" y="121639"/>
                  </a:cubicBezTo>
                  <a:cubicBezTo>
                    <a:pt x="8285771" y="259100"/>
                    <a:pt x="8247608" y="504825"/>
                    <a:pt x="8269403" y="608178"/>
                  </a:cubicBezTo>
                  <a:cubicBezTo>
                    <a:pt x="8267527" y="669713"/>
                    <a:pt x="8232291" y="726293"/>
                    <a:pt x="8147764" y="729817"/>
                  </a:cubicBezTo>
                  <a:cubicBezTo>
                    <a:pt x="8027142" y="745907"/>
                    <a:pt x="7926330" y="702759"/>
                    <a:pt x="7815253" y="729817"/>
                  </a:cubicBezTo>
                  <a:cubicBezTo>
                    <a:pt x="7704176" y="756875"/>
                    <a:pt x="7401528" y="698256"/>
                    <a:pt x="7081436" y="729817"/>
                  </a:cubicBezTo>
                  <a:cubicBezTo>
                    <a:pt x="6761344" y="761378"/>
                    <a:pt x="6669542" y="712630"/>
                    <a:pt x="6508141" y="729817"/>
                  </a:cubicBezTo>
                  <a:cubicBezTo>
                    <a:pt x="6346740" y="747004"/>
                    <a:pt x="6233521" y="702022"/>
                    <a:pt x="6095369" y="729817"/>
                  </a:cubicBezTo>
                  <a:cubicBezTo>
                    <a:pt x="5957217" y="757612"/>
                    <a:pt x="5720720" y="690757"/>
                    <a:pt x="5522075" y="729817"/>
                  </a:cubicBezTo>
                  <a:cubicBezTo>
                    <a:pt x="5323430" y="768877"/>
                    <a:pt x="5290786" y="712554"/>
                    <a:pt x="5189564" y="729817"/>
                  </a:cubicBezTo>
                  <a:cubicBezTo>
                    <a:pt x="5088342" y="747080"/>
                    <a:pt x="4942142" y="712328"/>
                    <a:pt x="4857053" y="729817"/>
                  </a:cubicBezTo>
                  <a:cubicBezTo>
                    <a:pt x="4771964" y="747306"/>
                    <a:pt x="4543521" y="679971"/>
                    <a:pt x="4283758" y="729817"/>
                  </a:cubicBezTo>
                  <a:cubicBezTo>
                    <a:pt x="4023995" y="779663"/>
                    <a:pt x="3965587" y="718106"/>
                    <a:pt x="3870986" y="729817"/>
                  </a:cubicBezTo>
                  <a:cubicBezTo>
                    <a:pt x="3776385" y="741528"/>
                    <a:pt x="3432970" y="704718"/>
                    <a:pt x="3217430" y="729817"/>
                  </a:cubicBezTo>
                  <a:cubicBezTo>
                    <a:pt x="3001890" y="754916"/>
                    <a:pt x="2953005" y="709120"/>
                    <a:pt x="2804658" y="729817"/>
                  </a:cubicBezTo>
                  <a:cubicBezTo>
                    <a:pt x="2656311" y="750514"/>
                    <a:pt x="2314293" y="689833"/>
                    <a:pt x="2151102" y="729817"/>
                  </a:cubicBezTo>
                  <a:cubicBezTo>
                    <a:pt x="1987911" y="769801"/>
                    <a:pt x="1897050" y="720797"/>
                    <a:pt x="1818591" y="729817"/>
                  </a:cubicBezTo>
                  <a:cubicBezTo>
                    <a:pt x="1740132" y="738837"/>
                    <a:pt x="1358189" y="670997"/>
                    <a:pt x="1165035" y="729817"/>
                  </a:cubicBezTo>
                  <a:cubicBezTo>
                    <a:pt x="971881" y="788637"/>
                    <a:pt x="914852" y="708637"/>
                    <a:pt x="752263" y="729817"/>
                  </a:cubicBezTo>
                  <a:cubicBezTo>
                    <a:pt x="589674" y="750997"/>
                    <a:pt x="346982" y="694673"/>
                    <a:pt x="121639" y="729817"/>
                  </a:cubicBezTo>
                  <a:cubicBezTo>
                    <a:pt x="57399" y="716992"/>
                    <a:pt x="-13572" y="674920"/>
                    <a:pt x="0" y="608178"/>
                  </a:cubicBezTo>
                  <a:cubicBezTo>
                    <a:pt x="-28541" y="386355"/>
                    <a:pt x="30528" y="259968"/>
                    <a:pt x="0" y="121639"/>
                  </a:cubicBezTo>
                  <a:close/>
                </a:path>
              </a:pathLst>
            </a:custGeom>
            <a:noFill/>
            <a:ln>
              <a:solidFill>
                <a:schemeClr val="accent6"/>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E2DBE604-7EBA-DD75-6B98-29C5BA8C53DC}"/>
                </a:ext>
              </a:extLst>
            </p:cNvPr>
            <p:cNvSpPr txBox="1"/>
            <p:nvPr/>
          </p:nvSpPr>
          <p:spPr>
            <a:xfrm>
              <a:off x="9327720" y="3342428"/>
              <a:ext cx="1981200" cy="373556"/>
            </a:xfrm>
            <a:prstGeom prst="rect">
              <a:avLst/>
            </a:prstGeom>
            <a:noFill/>
          </p:spPr>
          <p:txBody>
            <a:bodyPr wrap="square" rtlCol="0">
              <a:spAutoFit/>
            </a:bodyPr>
            <a:lstStyle/>
            <a:p>
              <a:r>
                <a:rPr lang="en-US" dirty="0">
                  <a:solidFill>
                    <a:schemeClr val="accent6"/>
                  </a:solidFill>
                </a:rPr>
                <a:t>Observed Values</a:t>
              </a:r>
            </a:p>
          </p:txBody>
        </p:sp>
      </p:grpSp>
    </p:spTree>
    <p:extLst>
      <p:ext uri="{BB962C8B-B14F-4D97-AF65-F5344CB8AC3E}">
        <p14:creationId xmlns:p14="http://schemas.microsoft.com/office/powerpoint/2010/main" val="226848629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0536-51FC-8757-8016-A665A2C4016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4ADCF90-5E75-F266-5254-6D3125F46BD9}"/>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2BF7CFEF-376C-ABC2-6C05-C7B297748785}"/>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725FEC66-3E0A-7E64-893B-5F0760C4D61E}"/>
              </a:ext>
            </a:extLst>
          </p:cNvPr>
          <p:cNvSpPr/>
          <p:nvPr/>
        </p:nvSpPr>
        <p:spPr>
          <a:xfrm>
            <a:off x="1596371" y="162427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C2F801F7-2503-A7AD-7E80-686A572DB40B}"/>
              </a:ext>
            </a:extLst>
          </p:cNvPr>
          <p:cNvSpPr/>
          <p:nvPr/>
        </p:nvSpPr>
        <p:spPr>
          <a:xfrm>
            <a:off x="1596370" y="2812047"/>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CE795454-60AF-CF1D-39BF-DB33211D7E12}"/>
              </a:ext>
            </a:extLst>
          </p:cNvPr>
          <p:cNvSpPr/>
          <p:nvPr/>
        </p:nvSpPr>
        <p:spPr>
          <a:xfrm>
            <a:off x="1596369" y="3999823"/>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grpSp>
        <p:nvGrpSpPr>
          <p:cNvPr id="3" name="Group 2">
            <a:extLst>
              <a:ext uri="{FF2B5EF4-FFF2-40B4-BE49-F238E27FC236}">
                <a16:creationId xmlns:a16="http://schemas.microsoft.com/office/drawing/2014/main" id="{DFB9EC2F-AB8A-4C4B-8284-A9D7FF9E7DAB}"/>
              </a:ext>
            </a:extLst>
          </p:cNvPr>
          <p:cNvGrpSpPr/>
          <p:nvPr/>
        </p:nvGrpSpPr>
        <p:grpSpPr>
          <a:xfrm>
            <a:off x="3590670" y="1846758"/>
            <a:ext cx="5684799" cy="1464053"/>
            <a:chOff x="6278880" y="5057200"/>
            <a:chExt cx="5684799" cy="1464053"/>
          </a:xfrm>
        </p:grpSpPr>
        <p:sp>
          <p:nvSpPr>
            <p:cNvPr id="4" name="Rectangle 3">
              <a:extLst>
                <a:ext uri="{FF2B5EF4-FFF2-40B4-BE49-F238E27FC236}">
                  <a16:creationId xmlns:a16="http://schemas.microsoft.com/office/drawing/2014/main" id="{2DB99705-E404-83FE-1166-7D491288D662}"/>
                </a:ext>
              </a:extLst>
            </p:cNvPr>
            <p:cNvSpPr/>
            <p:nvPr/>
          </p:nvSpPr>
          <p:spPr>
            <a:xfrm>
              <a:off x="6278880" y="5057200"/>
              <a:ext cx="5684799" cy="146405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274683-6986-A74E-4D4A-9AEE97C47627}"/>
                    </a:ext>
                  </a:extLst>
                </p:cNvPr>
                <p:cNvSpPr txBox="1"/>
                <p:nvPr/>
              </p:nvSpPr>
              <p:spPr>
                <a:xfrm>
                  <a:off x="6434601" y="5170739"/>
                  <a:ext cx="5529078" cy="1230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up/>
                            </m:sSubSup>
                            <m:r>
                              <a:rPr lang="en-US" sz="2400" i="1">
                                <a:latin typeface="Cambria Math" panose="02040503050406030204" pitchFamily="18" charset="0"/>
                              </a:rPr>
                              <m:t>&lt;</m:t>
                            </m:r>
                            <m:sSubSup>
                              <m:sSubSupPr>
                                <m:ctrlPr>
                                  <a:rPr lang="en-US" sz="2400" i="1" smtClean="0">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𝑗</m:t>
                                </m:r>
                              </m:sub>
                              <m:sup/>
                            </m:sSubSup>
                          </m:e>
                        </m:d>
                        <m:r>
                          <a:rPr lang="en-US" sz="2400" i="1">
                            <a:latin typeface="Cambria Math" panose="02040503050406030204" pitchFamily="18" charset="0"/>
                          </a:rPr>
                          <m:t>=</m:t>
                        </m:r>
                        <m:r>
                          <m:rPr>
                            <m:sty m:val="p"/>
                          </m:rPr>
                          <a:rPr lang="en-US" sz="2400" i="0">
                            <a:latin typeface="Cambria Math" panose="02040503050406030204" pitchFamily="18" charset="0"/>
                          </a:rPr>
                          <m:t>Φ</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𝑗</m:t>
                                    </m:r>
                                  </m:sub>
                                </m:sSub>
                                <m:r>
                                  <a:rPr lang="en-US" sz="2400" i="1">
                                    <a:latin typeface="Cambria Math" panose="02040503050406030204" pitchFamily="18" charset="0"/>
                                  </a:rPr>
                                  <m:t>−</m:t>
                                </m:r>
                                <m:sSub>
                                  <m:sSubPr>
                                    <m:ctrlPr>
                                      <a:rPr lang="en-US" sz="2400" i="1" smtClean="0">
                                        <a:solidFill>
                                          <a:schemeClr val="accent6"/>
                                        </a:solidFill>
                                        <a:latin typeface="Cambria Math" panose="02040503050406030204" pitchFamily="18" charset="0"/>
                                      </a:rPr>
                                    </m:ctrlPr>
                                  </m:sSubPr>
                                  <m:e>
                                    <m:r>
                                      <a:rPr lang="en-US" sz="2400" i="1">
                                        <a:solidFill>
                                          <a:schemeClr val="accent6"/>
                                        </a:solidFill>
                                        <a:latin typeface="Cambria Math" panose="02040503050406030204" pitchFamily="18" charset="0"/>
                                      </a:rPr>
                                      <m:t>𝑇</m:t>
                                    </m:r>
                                    <m:r>
                                      <a:rPr lang="en-US" sz="2400" b="0" i="1" smtClean="0">
                                        <a:solidFill>
                                          <a:schemeClr val="accent6"/>
                                        </a:solidFill>
                                        <a:latin typeface="Cambria Math" panose="02040503050406030204" pitchFamily="18" charset="0"/>
                                      </a:rPr>
                                      <m:t>’</m:t>
                                    </m:r>
                                  </m:e>
                                  <m:sub>
                                    <m:r>
                                      <a:rPr lang="en-US" sz="2400" i="1">
                                        <a:solidFill>
                                          <a:schemeClr val="accent6"/>
                                        </a:solidFill>
                                        <a:latin typeface="Cambria Math" panose="02040503050406030204" pitchFamily="18" charset="0"/>
                                      </a:rPr>
                                      <m:t>𝑖</m:t>
                                    </m:r>
                                  </m:sub>
                                </m:sSub>
                                <m:r>
                                  <a:rPr lang="en-US" sz="2400" i="1">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𝑗</m:t>
                                        </m:r>
                                      </m:sub>
                                    </m:sSub>
                                  </m:e>
                                </m:d>
                              </m:num>
                              <m:den>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𝑖</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𝑗</m:t>
                                        </m:r>
                                      </m:sub>
                                      <m:sup>
                                        <m:r>
                                          <a:rPr lang="en-US" sz="2400" i="1">
                                            <a:latin typeface="Cambria Math" panose="02040503050406030204" pitchFamily="18" charset="0"/>
                                          </a:rPr>
                                          <m:t>2</m:t>
                                        </m:r>
                                      </m:sup>
                                    </m:sSubSup>
                                  </m:e>
                                </m:rad>
                              </m:den>
                            </m:f>
                          </m:e>
                        </m:d>
                      </m:oMath>
                    </m:oMathPara>
                  </a14:m>
                  <a:endParaRPr/>
                </a:p>
              </p:txBody>
            </p:sp>
          </mc:Choice>
          <mc:Fallback xmlns="">
            <p:sp>
              <p:nvSpPr>
                <p:cNvPr id="5" name="TextBox 4">
                  <a:extLst>
                    <a:ext uri="{FF2B5EF4-FFF2-40B4-BE49-F238E27FC236}">
                      <a16:creationId xmlns:a16="http://schemas.microsoft.com/office/drawing/2014/main" id="{46274683-6986-A74E-4D4A-9AEE97C47627}"/>
                    </a:ext>
                  </a:extLst>
                </p:cNvPr>
                <p:cNvSpPr txBox="1">
                  <a:spLocks noRot="1" noChangeAspect="1" noMove="1" noResize="1" noEditPoints="1" noAdjustHandles="1" noChangeArrowheads="1" noChangeShapeType="1" noTextEdit="1"/>
                </p:cNvSpPr>
                <p:nvPr/>
              </p:nvSpPr>
              <p:spPr>
                <a:xfrm>
                  <a:off x="6434601" y="5170739"/>
                  <a:ext cx="5529078" cy="1230080"/>
                </a:xfrm>
                <a:prstGeom prst="rect">
                  <a:avLst/>
                </a:prstGeom>
                <a:blipFill>
                  <a:blip r:embed="rId3"/>
                  <a:stretch>
                    <a:fillRect l="-917" r="-3440"/>
                  </a:stretch>
                </a:blipFill>
              </p:spPr>
              <p:txBody>
                <a:bodyPr/>
                <a:lstStyle/>
                <a:p>
                  <a:r>
                    <a:rPr lang="en-US">
                      <a:noFill/>
                    </a:rPr>
                    <a:t> </a:t>
                  </a:r>
                </a:p>
              </p:txBody>
            </p:sp>
          </mc:Fallback>
        </mc:AlternateContent>
      </p:grpSp>
    </p:spTree>
    <p:extLst>
      <p:ext uri="{BB962C8B-B14F-4D97-AF65-F5344CB8AC3E}">
        <p14:creationId xmlns:p14="http://schemas.microsoft.com/office/powerpoint/2010/main" val="170561982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16DA-46F4-FC44-495F-83024AC4340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EA8E38F6-5C18-191C-9107-81A15BF25B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3B26F944-3B9F-2EF8-DF79-84950969D780}"/>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20D9A57D-992D-07B3-4D8D-FBCB9EC90D32}"/>
              </a:ext>
            </a:extLst>
          </p:cNvPr>
          <p:cNvSpPr/>
          <p:nvPr/>
        </p:nvSpPr>
        <p:spPr>
          <a:xfrm>
            <a:off x="3224910" y="2876240"/>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EECA02CA-8077-33DB-C7C5-AD40AB941F75}"/>
              </a:ext>
            </a:extLst>
          </p:cNvPr>
          <p:cNvSpPr/>
          <p:nvPr/>
        </p:nvSpPr>
        <p:spPr>
          <a:xfrm>
            <a:off x="5470102" y="189299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1FDDC5A6-4292-49AE-D5FF-CA19D963D3C3}"/>
              </a:ext>
            </a:extLst>
          </p:cNvPr>
          <p:cNvSpPr/>
          <p:nvPr/>
        </p:nvSpPr>
        <p:spPr>
          <a:xfrm>
            <a:off x="7053315" y="3583247"/>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7E8EA1AE-8F97-CF1C-3BDE-A8865E42191C}"/>
              </a:ext>
            </a:extLst>
          </p:cNvPr>
          <p:cNvSpPr/>
          <p:nvPr/>
        </p:nvSpPr>
        <p:spPr>
          <a:xfrm rot="20185536">
            <a:off x="4436467" y="25367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CC60C383-228D-8C55-A107-AA46C6071BA8}"/>
              </a:ext>
            </a:extLst>
          </p:cNvPr>
          <p:cNvSpPr/>
          <p:nvPr/>
        </p:nvSpPr>
        <p:spPr>
          <a:xfrm rot="3221364">
            <a:off x="6547870" y="304457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DD26C82A-FD3E-962A-4287-88780F685FB6}"/>
              </a:ext>
            </a:extLst>
          </p:cNvPr>
          <p:cNvSpPr/>
          <p:nvPr/>
        </p:nvSpPr>
        <p:spPr>
          <a:xfrm rot="11578444">
            <a:off x="5132698" y="3611787"/>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36556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23"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1F45-69ED-C944-8A5D-8A68257F8D55}"/>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B146F8C-C0E8-66E0-BFED-F96DEAAE917D}"/>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D46F1E9E-4ACB-70D9-E63B-DBCDD6A87D28}"/>
              </a:ext>
            </a:extLst>
          </p:cNvPr>
          <p:cNvPicPr>
            <a:picLocks noChangeAspect="1"/>
          </p:cNvPicPr>
          <p:nvPr/>
        </p:nvPicPr>
        <p:blipFill>
          <a:blip r:embed="rId2"/>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7267EEB-1C77-8EC5-A816-B34B766B770B}"/>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4D608EB2-26A8-475D-7DC7-EBFC5E8A7326}"/>
              </a:ext>
            </a:extLst>
          </p:cNvPr>
          <p:cNvSpPr/>
          <p:nvPr/>
        </p:nvSpPr>
        <p:spPr>
          <a:xfrm>
            <a:off x="2661752" y="1738745"/>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913F0326-66EA-F3CF-0ABB-7211D3B57650}"/>
              </a:ext>
            </a:extLst>
          </p:cNvPr>
          <p:cNvSpPr/>
          <p:nvPr/>
        </p:nvSpPr>
        <p:spPr>
          <a:xfrm>
            <a:off x="4244965" y="3429000"/>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C0BB4192-0CD1-A665-6222-2B6560048FD4}"/>
              </a:ext>
            </a:extLst>
          </p:cNvPr>
          <p:cNvSpPr/>
          <p:nvPr/>
        </p:nvSpPr>
        <p:spPr>
          <a:xfrm rot="20185536">
            <a:off x="1628117" y="23825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1C9DEDDF-D6F9-F026-489E-6E92B7E64956}"/>
              </a:ext>
            </a:extLst>
          </p:cNvPr>
          <p:cNvSpPr/>
          <p:nvPr/>
        </p:nvSpPr>
        <p:spPr>
          <a:xfrm rot="3221364">
            <a:off x="3739520" y="2890324"/>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a:extLst>
              <a:ext uri="{FF2B5EF4-FFF2-40B4-BE49-F238E27FC236}">
                <a16:creationId xmlns:a16="http://schemas.microsoft.com/office/drawing/2014/main" id="{C19D0BCC-DD8C-1D7F-4D97-E58CB75FC4BE}"/>
              </a:ext>
            </a:extLst>
          </p:cNvPr>
          <p:cNvSpPr/>
          <p:nvPr/>
        </p:nvSpPr>
        <p:spPr>
          <a:xfrm rot="11578444">
            <a:off x="2324348" y="3457540"/>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solidFill>
            <a:srgbClr val="FF0000"/>
          </a:solidFill>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385D930-BC02-9AA7-1F43-C4B915D63BE4}"/>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4A946EFA-9C8D-3C02-2B16-5394BD0C43C1}"/>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smtClean="0">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12" name="Rounded Rectangle 11">
                <a:extLst>
                  <a:ext uri="{FF2B5EF4-FFF2-40B4-BE49-F238E27FC236}">
                    <a16:creationId xmlns:a16="http://schemas.microsoft.com/office/drawing/2014/main" id="{4A946EFA-9C8D-3C02-2B16-5394BD0C43C1}"/>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3"/>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593530393"/>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E25F-3ED8-E9C7-44CD-0F53831688A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E3AA86A-FFE1-D3C5-EDB3-44914B7479D6}"/>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7DEAC065-7753-5AE2-E956-E480DDC73B47}"/>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18" name="Oval 17">
            <a:extLst>
              <a:ext uri="{FF2B5EF4-FFF2-40B4-BE49-F238E27FC236}">
                <a16:creationId xmlns:a16="http://schemas.microsoft.com/office/drawing/2014/main" id="{02C07C2B-C786-A5D2-3952-F9A54DDAB2AE}"/>
              </a:ext>
            </a:extLst>
          </p:cNvPr>
          <p:cNvSpPr/>
          <p:nvPr/>
        </p:nvSpPr>
        <p:spPr>
          <a:xfrm>
            <a:off x="416560" y="2721993"/>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solidFill>
                  <a:sysClr val="windowText" lastClr="000000"/>
                </a:solidFill>
              </a:rPr>
              <a:t>i</a:t>
            </a:r>
            <a:endParaRPr lang="en-US" dirty="0">
              <a:solidFill>
                <a:sysClr val="windowText" lastClr="000000"/>
              </a:solidFill>
            </a:endParaRPr>
          </a:p>
        </p:txBody>
      </p:sp>
      <p:sp>
        <p:nvSpPr>
          <p:cNvPr id="19" name="Oval 18">
            <a:extLst>
              <a:ext uri="{FF2B5EF4-FFF2-40B4-BE49-F238E27FC236}">
                <a16:creationId xmlns:a16="http://schemas.microsoft.com/office/drawing/2014/main" id="{B7DE34CF-45E5-A393-9D41-5D7107AB6C0F}"/>
              </a:ext>
            </a:extLst>
          </p:cNvPr>
          <p:cNvSpPr/>
          <p:nvPr/>
        </p:nvSpPr>
        <p:spPr>
          <a:xfrm>
            <a:off x="2433589" y="273627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j</a:t>
            </a:r>
            <a:endParaRPr lang="en-US" dirty="0">
              <a:solidFill>
                <a:sysClr val="windowText" lastClr="000000"/>
              </a:solidFill>
            </a:endParaRPr>
          </a:p>
        </p:txBody>
      </p:sp>
      <p:sp>
        <p:nvSpPr>
          <p:cNvPr id="2" name="Oval 1">
            <a:extLst>
              <a:ext uri="{FF2B5EF4-FFF2-40B4-BE49-F238E27FC236}">
                <a16:creationId xmlns:a16="http://schemas.microsoft.com/office/drawing/2014/main" id="{EABA7DCB-E2EF-D157-0BA4-D4376942228B}"/>
              </a:ext>
            </a:extLst>
          </p:cNvPr>
          <p:cNvSpPr/>
          <p:nvPr/>
        </p:nvSpPr>
        <p:spPr>
          <a:xfrm>
            <a:off x="4531024" y="2782661"/>
            <a:ext cx="1191491" cy="99752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ysClr val="windowText" lastClr="000000"/>
                </a:solidFill>
              </a:rPr>
              <a:t>k</a:t>
            </a:r>
            <a:endParaRPr lang="en-US" dirty="0">
              <a:solidFill>
                <a:sysClr val="windowText" lastClr="000000"/>
              </a:solidFill>
            </a:endParaRPr>
          </a:p>
        </p:txBody>
      </p:sp>
      <p:sp>
        <p:nvSpPr>
          <p:cNvPr id="3" name="Right Arrow 2">
            <a:extLst>
              <a:ext uri="{FF2B5EF4-FFF2-40B4-BE49-F238E27FC236}">
                <a16:creationId xmlns:a16="http://schemas.microsoft.com/office/drawing/2014/main" id="{AB714990-E6F0-6FE7-0CB1-077A58D2A519}"/>
              </a:ext>
            </a:extLst>
          </p:cNvPr>
          <p:cNvSpPr/>
          <p:nvPr/>
        </p:nvSpPr>
        <p:spPr>
          <a:xfrm rot="21467272">
            <a:off x="1606759" y="3014143"/>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129488B-2EAD-A1F4-C4CD-108CA31A6BD3}"/>
              </a:ext>
            </a:extLst>
          </p:cNvPr>
          <p:cNvSpPr/>
          <p:nvPr/>
        </p:nvSpPr>
        <p:spPr>
          <a:xfrm rot="8007">
            <a:off x="3685349" y="3049101"/>
            <a:ext cx="785406" cy="464649"/>
          </a:xfrm>
          <a:custGeom>
            <a:avLst/>
            <a:gdLst>
              <a:gd name="csX0" fmla="*/ 0 w 785406"/>
              <a:gd name="csY0" fmla="*/ 197058 h 464649"/>
              <a:gd name="csX1" fmla="*/ 582931 w 785406"/>
              <a:gd name="csY1" fmla="*/ 197058 h 464649"/>
              <a:gd name="csX2" fmla="*/ 582931 w 785406"/>
              <a:gd name="csY2" fmla="*/ 0 h 464649"/>
              <a:gd name="csX3" fmla="*/ 785406 w 785406"/>
              <a:gd name="csY3" fmla="*/ 232325 h 464649"/>
              <a:gd name="csX4" fmla="*/ 582931 w 785406"/>
              <a:gd name="csY4" fmla="*/ 464649 h 464649"/>
              <a:gd name="csX5" fmla="*/ 582931 w 785406"/>
              <a:gd name="csY5" fmla="*/ 267591 h 464649"/>
              <a:gd name="csX6" fmla="*/ 0 w 785406"/>
              <a:gd name="csY6" fmla="*/ 267591 h 464649"/>
              <a:gd name="csX7" fmla="*/ 0 w 785406"/>
              <a:gd name="csY7" fmla="*/ 197058 h 464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406" h="464649" fill="none" extrusionOk="0">
                <a:moveTo>
                  <a:pt x="0" y="197058"/>
                </a:moveTo>
                <a:cubicBezTo>
                  <a:pt x="240925" y="137101"/>
                  <a:pt x="323205" y="209291"/>
                  <a:pt x="582931" y="197058"/>
                </a:cubicBezTo>
                <a:cubicBezTo>
                  <a:pt x="573142" y="119539"/>
                  <a:pt x="597434" y="78814"/>
                  <a:pt x="582931" y="0"/>
                </a:cubicBezTo>
                <a:cubicBezTo>
                  <a:pt x="629906" y="51530"/>
                  <a:pt x="679400" y="158831"/>
                  <a:pt x="785406" y="232325"/>
                </a:cubicBezTo>
                <a:cubicBezTo>
                  <a:pt x="720094" y="349291"/>
                  <a:pt x="672404" y="357824"/>
                  <a:pt x="582931" y="464649"/>
                </a:cubicBezTo>
                <a:cubicBezTo>
                  <a:pt x="574907" y="398805"/>
                  <a:pt x="589299" y="330240"/>
                  <a:pt x="582931" y="267591"/>
                </a:cubicBezTo>
                <a:cubicBezTo>
                  <a:pt x="334449" y="321247"/>
                  <a:pt x="240017" y="264272"/>
                  <a:pt x="0" y="267591"/>
                </a:cubicBezTo>
                <a:cubicBezTo>
                  <a:pt x="-4556" y="237950"/>
                  <a:pt x="3596" y="213456"/>
                  <a:pt x="0" y="197058"/>
                </a:cubicBezTo>
                <a:close/>
              </a:path>
              <a:path w="785406" h="464649" stroke="0" extrusionOk="0">
                <a:moveTo>
                  <a:pt x="0" y="197058"/>
                </a:moveTo>
                <a:cubicBezTo>
                  <a:pt x="269171" y="146981"/>
                  <a:pt x="295181" y="231192"/>
                  <a:pt x="582931" y="197058"/>
                </a:cubicBezTo>
                <a:cubicBezTo>
                  <a:pt x="578478" y="141635"/>
                  <a:pt x="583316" y="81855"/>
                  <a:pt x="582931" y="0"/>
                </a:cubicBezTo>
                <a:cubicBezTo>
                  <a:pt x="695833" y="92531"/>
                  <a:pt x="717200" y="163920"/>
                  <a:pt x="785406" y="232325"/>
                </a:cubicBezTo>
                <a:cubicBezTo>
                  <a:pt x="713874" y="324766"/>
                  <a:pt x="669575" y="348811"/>
                  <a:pt x="582931" y="464649"/>
                </a:cubicBezTo>
                <a:cubicBezTo>
                  <a:pt x="569082" y="403705"/>
                  <a:pt x="586580" y="335179"/>
                  <a:pt x="582931" y="267591"/>
                </a:cubicBezTo>
                <a:cubicBezTo>
                  <a:pt x="367625" y="304044"/>
                  <a:pt x="134825" y="241381"/>
                  <a:pt x="0" y="267591"/>
                </a:cubicBezTo>
                <a:cubicBezTo>
                  <a:pt x="-2869" y="235571"/>
                  <a:pt x="6181" y="226437"/>
                  <a:pt x="0" y="197058"/>
                </a:cubicBezTo>
                <a:close/>
              </a:path>
            </a:pathLst>
          </a:custGeom>
          <a:ln>
            <a:extLst>
              <a:ext uri="{C807C97D-BFC1-408E-A445-0C87EB9F89A2}">
                <ask:lineSketchStyleProps xmlns:ask="http://schemas.microsoft.com/office/drawing/2018/sketchyshapes" sd="1219033472">
                  <a:prstGeom prst="rightArrow">
                    <a:avLst>
                      <a:gd name="adj1" fmla="val 15180"/>
                      <a:gd name="adj2" fmla="val 43576"/>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85B700D-3EFA-E9E9-8A68-E6AB96E0BE82}"/>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4DD3B718-2269-A929-1814-8F0B44DDFA94}"/>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76552720"/>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28449-70FF-6CB3-D78A-064F0ACA7EF8}"/>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556002F-245E-BDBA-F1F6-70C7556986C0}"/>
              </a:ext>
            </a:extLst>
          </p:cNvPr>
          <p:cNvSpPr/>
          <p:nvPr/>
        </p:nvSpPr>
        <p:spPr>
          <a:xfrm>
            <a:off x="3590670" y="43099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8" name="Picture 77">
            <a:extLst>
              <a:ext uri="{FF2B5EF4-FFF2-40B4-BE49-F238E27FC236}">
                <a16:creationId xmlns:a16="http://schemas.microsoft.com/office/drawing/2014/main" id="{0941E4A6-36F3-617B-B6C2-A6388CC450E1}"/>
              </a:ext>
            </a:extLst>
          </p:cNvPr>
          <p:cNvPicPr>
            <a:picLocks noChangeAspect="1"/>
          </p:cNvPicPr>
          <p:nvPr/>
        </p:nvPicPr>
        <p:blipFill>
          <a:blip r:embed="rId3"/>
          <a:stretch>
            <a:fillRect/>
          </a:stretch>
        </p:blipFill>
        <p:spPr>
          <a:xfrm>
            <a:off x="3668599" y="541524"/>
            <a:ext cx="4099180" cy="709304"/>
          </a:xfrm>
          <a:custGeom>
            <a:avLst/>
            <a:gdLst>
              <a:gd name="connsiteX0" fmla="*/ -1 w 2304087"/>
              <a:gd name="connsiteY0" fmla="*/ -1 h 398689"/>
              <a:gd name="connsiteX1" fmla="*/ 2304087 w 2304087"/>
              <a:gd name="connsiteY1" fmla="*/ -1 h 398689"/>
              <a:gd name="connsiteX2" fmla="*/ 2304087 w 2304087"/>
              <a:gd name="connsiteY2" fmla="*/ 398689 h 398689"/>
              <a:gd name="connsiteX3" fmla="*/ -1 w 2304087"/>
              <a:gd name="connsiteY3" fmla="*/ 398689 h 398689"/>
            </a:gdLst>
            <a:ahLst/>
            <a:cxnLst>
              <a:cxn ang="0">
                <a:pos x="connsiteX0" y="connsiteY0"/>
              </a:cxn>
              <a:cxn ang="0">
                <a:pos x="connsiteX1" y="connsiteY1"/>
              </a:cxn>
              <a:cxn ang="0">
                <a:pos x="connsiteX2" y="connsiteY2"/>
              </a:cxn>
              <a:cxn ang="0">
                <a:pos x="connsiteX3" y="connsiteY3"/>
              </a:cxn>
            </a:cxnLst>
            <a:rect l="l" t="t" r="r" b="b"/>
            <a:pathLst>
              <a:path w="2304087" h="398689">
                <a:moveTo>
                  <a:pt x="-1" y="-1"/>
                </a:moveTo>
                <a:lnTo>
                  <a:pt x="2304087" y="-1"/>
                </a:lnTo>
                <a:lnTo>
                  <a:pt x="2304087" y="398689"/>
                </a:lnTo>
                <a:lnTo>
                  <a:pt x="-1" y="398689"/>
                </a:lnTo>
                <a:close/>
              </a:path>
            </a:pathLst>
          </a:custGeom>
        </p:spPr>
      </p:pic>
      <p:sp>
        <p:nvSpPr>
          <p:cNvPr id="5" name="Rounded Rectangle 4">
            <a:extLst>
              <a:ext uri="{FF2B5EF4-FFF2-40B4-BE49-F238E27FC236}">
                <a16:creationId xmlns:a16="http://schemas.microsoft.com/office/drawing/2014/main" id="{F8A1AED6-495A-7A89-6514-F4817E61FCE2}"/>
              </a:ext>
            </a:extLst>
          </p:cNvPr>
          <p:cNvSpPr/>
          <p:nvPr/>
        </p:nvSpPr>
        <p:spPr>
          <a:xfrm>
            <a:off x="6319520" y="3693829"/>
            <a:ext cx="5360517" cy="912901"/>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No cycles ever!</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8D863609-EFEE-4E6C-6722-CC2947B8A1EF}"/>
                  </a:ext>
                </a:extLst>
              </p:cNvPr>
              <p:cNvSpPr/>
              <p:nvPr/>
            </p:nvSpPr>
            <p:spPr>
              <a:xfrm>
                <a:off x="6319520" y="2255433"/>
                <a:ext cx="5455920" cy="139660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err="1">
                    <a:solidFill>
                      <a:schemeClr val="tx1"/>
                    </a:solidFill>
                  </a:rPr>
                  <a:t>i</a:t>
                </a:r>
                <a:r>
                  <a:rPr lang="en-US" sz="3600" dirty="0">
                    <a:solidFill>
                      <a:schemeClr val="tx1"/>
                    </a:solidFill>
                  </a:rPr>
                  <a:t>, </a:t>
                </a:r>
                <a14:m>
                  <m:oMath xmlns:m="http://schemas.openxmlformats.org/officeDocument/2006/math">
                    <m:r>
                      <a:rPr lang="en-US" sz="3600" i="1">
                        <a:solidFill>
                          <a:schemeClr val="tx1"/>
                        </a:solidFill>
                        <a:latin typeface="Cambria Math" panose="02040503050406030204" pitchFamily="18" charset="0"/>
                        <a:ea typeface="Cambria Math" panose="02040503050406030204" pitchFamily="18" charset="0"/>
                      </a:rPr>
                      <m:t>𝜃</m:t>
                    </m:r>
                  </m:oMath>
                </a14:m>
                <a:r>
                  <a:rPr lang="en-US" sz="3600" baseline="-25000" dirty="0">
                    <a:solidFill>
                      <a:schemeClr val="tx1"/>
                    </a:solidFill>
                  </a:rPr>
                  <a:t>j</a:t>
                </a:r>
                <a:r>
                  <a:rPr lang="en-US" sz="3600" dirty="0">
                    <a:solidFill>
                      <a:schemeClr val="tx1"/>
                    </a:solidFill>
                  </a:rPr>
                  <a:t> normally distributed</a:t>
                </a:r>
              </a:p>
            </p:txBody>
          </p:sp>
        </mc:Choice>
        <mc:Fallback xmlns="">
          <p:sp>
            <p:nvSpPr>
              <p:cNvPr id="6" name="Rounded Rectangle 5">
                <a:extLst>
                  <a:ext uri="{FF2B5EF4-FFF2-40B4-BE49-F238E27FC236}">
                    <a16:creationId xmlns:a16="http://schemas.microsoft.com/office/drawing/2014/main" id="{4DD3B718-2269-A929-1814-8F0B44DDFA94}"/>
                  </a:ext>
                </a:extLst>
              </p:cNvPr>
              <p:cNvSpPr>
                <a:spLocks noRot="1" noChangeAspect="1" noMove="1" noResize="1" noEditPoints="1" noAdjustHandles="1" noChangeArrowheads="1" noChangeShapeType="1" noTextEdit="1"/>
              </p:cNvSpPr>
              <p:nvPr/>
            </p:nvSpPr>
            <p:spPr>
              <a:xfrm>
                <a:off x="6319520" y="2255433"/>
                <a:ext cx="5455920" cy="1396607"/>
              </a:xfrm>
              <a:prstGeom prst="roundRect">
                <a:avLst/>
              </a:prstGeom>
              <a:blipFill>
                <a:blip r:embed="rId4"/>
                <a:stretch>
                  <a:fillRect/>
                </a:stretch>
              </a:blipFill>
              <a:ln>
                <a:noFill/>
              </a:ln>
            </p:spPr>
            <p:txBody>
              <a:bodyPr/>
              <a:lstStyle/>
              <a:p>
                <a:r>
                  <a:rPr lang="en-US">
                    <a:noFill/>
                  </a:rPr>
                  <a:t> </a:t>
                </a:r>
              </a:p>
            </p:txBody>
          </p:sp>
        </mc:Fallback>
      </mc:AlternateContent>
      <p:sp>
        <p:nvSpPr>
          <p:cNvPr id="4" name="Multiply 3">
            <a:extLst>
              <a:ext uri="{FF2B5EF4-FFF2-40B4-BE49-F238E27FC236}">
                <a16:creationId xmlns:a16="http://schemas.microsoft.com/office/drawing/2014/main" id="{2D645BA7-DC01-F698-280B-69CFF566B119}"/>
              </a:ext>
            </a:extLst>
          </p:cNvPr>
          <p:cNvSpPr/>
          <p:nvPr/>
        </p:nvSpPr>
        <p:spPr>
          <a:xfrm>
            <a:off x="6593840" y="1727200"/>
            <a:ext cx="4450080" cy="3403600"/>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C524F8-0FDE-11F6-1322-2D7F9C6219E5}"/>
              </a:ext>
            </a:extLst>
          </p:cNvPr>
          <p:cNvSpPr txBox="1"/>
          <p:nvPr/>
        </p:nvSpPr>
        <p:spPr>
          <a:xfrm>
            <a:off x="416561" y="2456285"/>
            <a:ext cx="5171440" cy="1323439"/>
          </a:xfrm>
          <a:prstGeom prst="rect">
            <a:avLst/>
          </a:prstGeom>
          <a:noFill/>
        </p:spPr>
        <p:txBody>
          <a:bodyPr wrap="square" rtlCol="0">
            <a:spAutoFit/>
          </a:bodyPr>
          <a:lstStyle/>
          <a:p>
            <a:r>
              <a:rPr lang="en-US" sz="4000" dirty="0"/>
              <a:t>In practice, cycles are present.</a:t>
            </a:r>
          </a:p>
        </p:txBody>
      </p:sp>
      <p:sp>
        <p:nvSpPr>
          <p:cNvPr id="8" name="TextBox 7">
            <a:extLst>
              <a:ext uri="{FF2B5EF4-FFF2-40B4-BE49-F238E27FC236}">
                <a16:creationId xmlns:a16="http://schemas.microsoft.com/office/drawing/2014/main" id="{3A128657-113C-B517-9604-CE5643865473}"/>
              </a:ext>
            </a:extLst>
          </p:cNvPr>
          <p:cNvSpPr txBox="1"/>
          <p:nvPr/>
        </p:nvSpPr>
        <p:spPr>
          <a:xfrm>
            <a:off x="416560" y="3779724"/>
            <a:ext cx="5171440" cy="707886"/>
          </a:xfrm>
          <a:prstGeom prst="rect">
            <a:avLst/>
          </a:prstGeom>
          <a:noFill/>
        </p:spPr>
        <p:txBody>
          <a:bodyPr wrap="square" rtlCol="0">
            <a:spAutoFit/>
          </a:bodyPr>
          <a:lstStyle/>
          <a:p>
            <a:r>
              <a:rPr lang="en-US" sz="4000" dirty="0"/>
              <a:t>What do we do then?</a:t>
            </a:r>
          </a:p>
        </p:txBody>
      </p:sp>
    </p:spTree>
    <p:extLst>
      <p:ext uri="{BB962C8B-B14F-4D97-AF65-F5344CB8AC3E}">
        <p14:creationId xmlns:p14="http://schemas.microsoft.com/office/powerpoint/2010/main" val="403900566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BADF-3F6B-4BBF-11D5-02472ABBFC0A}"/>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B7700E5B-D164-841F-A593-68FCB78A23E0}"/>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2952EAE9-DFD9-DA9B-98E6-3995ED01DECD}"/>
              </a:ext>
            </a:extLst>
          </p:cNvPr>
          <p:cNvSpPr txBox="1"/>
          <p:nvPr/>
        </p:nvSpPr>
        <p:spPr>
          <a:xfrm>
            <a:off x="786510" y="1899920"/>
            <a:ext cx="9759570"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t>Ranking problem in social choice theory</a:t>
            </a:r>
          </a:p>
          <a:p>
            <a:pPr marL="457200" indent="-457200">
              <a:buFont typeface="Arial" panose="020B0604020202020204" pitchFamily="34" charset="0"/>
              <a:buChar char="•"/>
            </a:pPr>
            <a:r>
              <a:rPr lang="en-US" sz="3200" dirty="0"/>
              <a:t>Given votes from an electorate, find an election winner</a:t>
            </a:r>
          </a:p>
          <a:p>
            <a:pPr marL="457200" indent="-457200">
              <a:buFont typeface="Arial" panose="020B0604020202020204" pitchFamily="34" charset="0"/>
              <a:buChar char="•"/>
            </a:pPr>
            <a:r>
              <a:rPr lang="en-US" sz="3200" dirty="0"/>
              <a:t>Votes show pairwise preferences i.e., A candidate preferred over B candidate</a:t>
            </a:r>
          </a:p>
          <a:p>
            <a:pPr marL="457200" indent="-457200">
              <a:buFont typeface="Arial" panose="020B0604020202020204" pitchFamily="34" charset="0"/>
              <a:buChar char="•"/>
            </a:pPr>
            <a:r>
              <a:rPr lang="en-US" sz="3200" dirty="0"/>
              <a:t>Find the winner candidate that wins majority of votes/pairwise preferences</a:t>
            </a:r>
          </a:p>
        </p:txBody>
      </p:sp>
    </p:spTree>
    <p:extLst>
      <p:ext uri="{BB962C8B-B14F-4D97-AF65-F5344CB8AC3E}">
        <p14:creationId xmlns:p14="http://schemas.microsoft.com/office/powerpoint/2010/main" val="133285157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8DE4E-A945-FDA5-8A6D-28F9473E4C36}"/>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E962311-7E1B-11EE-3AFB-DBB650EF1610}"/>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BB7AE708-5523-BF0B-3963-247282E33E81}"/>
              </a:ext>
            </a:extLst>
          </p:cNvPr>
          <p:cNvSpPr txBox="1"/>
          <p:nvPr/>
        </p:nvSpPr>
        <p:spPr>
          <a:xfrm>
            <a:off x="786510" y="1899920"/>
            <a:ext cx="9759570" cy="3046988"/>
          </a:xfrm>
          <a:prstGeom prst="rect">
            <a:avLst/>
          </a:prstGeom>
          <a:noFill/>
        </p:spPr>
        <p:txBody>
          <a:bodyPr wrap="square" rtlCol="0">
            <a:spAutoFit/>
          </a:bodyPr>
          <a:lstStyle/>
          <a:p>
            <a:pPr marL="457200" indent="-457200">
              <a:buFont typeface="Arial" panose="020B0604020202020204" pitchFamily="34" charset="0"/>
              <a:buChar char="•"/>
            </a:pPr>
            <a:r>
              <a:rPr lang="en-US" sz="3200" dirty="0"/>
              <a:t>Ranking problem in social choice theory</a:t>
            </a:r>
          </a:p>
          <a:p>
            <a:pPr marL="457200" indent="-457200">
              <a:buFont typeface="Arial" panose="020B0604020202020204" pitchFamily="34" charset="0"/>
              <a:buChar char="•"/>
            </a:pPr>
            <a:r>
              <a:rPr lang="en-US" sz="3200" dirty="0"/>
              <a:t>Can lead to cycles</a:t>
            </a:r>
          </a:p>
          <a:p>
            <a:pPr marL="457200" indent="-457200">
              <a:buFont typeface="Arial" panose="020B0604020202020204" pitchFamily="34" charset="0"/>
              <a:buChar char="•"/>
            </a:pPr>
            <a:r>
              <a:rPr lang="en-US" sz="3200" dirty="0"/>
              <a:t>A wins over B by 51% of votes</a:t>
            </a:r>
          </a:p>
          <a:p>
            <a:pPr marL="457200" indent="-457200">
              <a:buFont typeface="Arial" panose="020B0604020202020204" pitchFamily="34" charset="0"/>
              <a:buChar char="•"/>
            </a:pPr>
            <a:r>
              <a:rPr lang="en-US" sz="3200" dirty="0"/>
              <a:t>B wins over C by 51% of votes</a:t>
            </a:r>
          </a:p>
          <a:p>
            <a:pPr marL="457200" indent="-457200">
              <a:buFont typeface="Arial" panose="020B0604020202020204" pitchFamily="34" charset="0"/>
              <a:buChar char="•"/>
            </a:pPr>
            <a:r>
              <a:rPr lang="en-US" sz="3200" dirty="0"/>
              <a:t>C wins over A by 51% of votes</a:t>
            </a:r>
          </a:p>
          <a:p>
            <a:pPr marL="457200" indent="-457200">
              <a:buFont typeface="Arial" panose="020B0604020202020204" pitchFamily="34" charset="0"/>
              <a:buChar char="•"/>
            </a:pPr>
            <a:r>
              <a:rPr lang="en-US" sz="3200" dirty="0"/>
              <a:t>Well studied problem</a:t>
            </a:r>
          </a:p>
        </p:txBody>
      </p:sp>
    </p:spTree>
    <p:extLst>
      <p:ext uri="{BB962C8B-B14F-4D97-AF65-F5344CB8AC3E}">
        <p14:creationId xmlns:p14="http://schemas.microsoft.com/office/powerpoint/2010/main" val="100375437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B774C-5690-2354-E173-83A5D7E07B81}"/>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D3889EBE-F36A-347B-7FCA-9F166D4DAA6C}"/>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3DDE5BF7-F553-9CF8-8BCE-79BA2FC7526E}"/>
              </a:ext>
            </a:extLst>
          </p:cNvPr>
          <p:cNvSpPr txBox="1"/>
          <p:nvPr/>
        </p:nvSpPr>
        <p:spPr>
          <a:xfrm>
            <a:off x="786510" y="1899920"/>
            <a:ext cx="9759570" cy="2554545"/>
          </a:xfrm>
          <a:prstGeom prst="rect">
            <a:avLst/>
          </a:prstGeom>
          <a:noFill/>
        </p:spPr>
        <p:txBody>
          <a:bodyPr wrap="square" rtlCol="0">
            <a:spAutoFit/>
          </a:bodyPr>
          <a:lstStyle/>
          <a:p>
            <a:pPr marL="457200" indent="-457200">
              <a:buFont typeface="Arial" panose="020B0604020202020204" pitchFamily="34" charset="0"/>
              <a:buChar char="•"/>
            </a:pPr>
            <a:r>
              <a:rPr lang="en-US" sz="3200" dirty="0"/>
              <a:t>If no cycles forms, the winner exists</a:t>
            </a:r>
          </a:p>
          <a:p>
            <a:pPr marL="457200" indent="-457200">
              <a:buFont typeface="Arial" panose="020B0604020202020204" pitchFamily="34" charset="0"/>
              <a:buChar char="•"/>
            </a:pPr>
            <a:r>
              <a:rPr lang="en-US" sz="3200" dirty="0"/>
              <a:t>If cycle(s) form, no clear winner</a:t>
            </a:r>
          </a:p>
          <a:p>
            <a:pPr marL="457200" indent="-457200">
              <a:buFont typeface="Arial" panose="020B0604020202020204" pitchFamily="34" charset="0"/>
              <a:buChar char="•"/>
            </a:pPr>
            <a:r>
              <a:rPr lang="en-US" sz="3200" dirty="0"/>
              <a:t>Smith set: Smallest set of candidates who individually win over all the candidates not in the set</a:t>
            </a:r>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192142399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A9811-03EF-FA51-56E5-EBB4F6954200}"/>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CE90AE6D-5ADA-72DB-1C18-7908E43FBF83}"/>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27DA48C0-7A8E-4EF5-A859-4BA0244FDC64}"/>
              </a:ext>
            </a:extLst>
          </p:cNvPr>
          <p:cNvSpPr txBox="1"/>
          <p:nvPr/>
        </p:nvSpPr>
        <p:spPr>
          <a:xfrm>
            <a:off x="786510" y="1899920"/>
            <a:ext cx="9759570"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t>Find the smith set of events</a:t>
            </a:r>
          </a:p>
          <a:p>
            <a:pPr marL="457200" indent="-457200">
              <a:buFont typeface="Arial" panose="020B0604020202020204" pitchFamily="34" charset="0"/>
              <a:buChar char="•"/>
            </a:pPr>
            <a:r>
              <a:rPr lang="en-US" sz="3200" dirty="0"/>
              <a:t>emit that batch of events</a:t>
            </a:r>
          </a:p>
          <a:p>
            <a:pPr marL="457200" indent="-457200">
              <a:buFont typeface="Arial" panose="020B0604020202020204" pitchFamily="34" charset="0"/>
              <a:buChar char="•"/>
            </a:pPr>
            <a:r>
              <a:rPr lang="en-US" sz="3200" dirty="0"/>
              <a:t>Repeat for the remaining events</a:t>
            </a:r>
          </a:p>
          <a:p>
            <a:pPr marL="457200" indent="-457200">
              <a:buFont typeface="Arial" panose="020B0604020202020204" pitchFamily="34" charset="0"/>
              <a:buChar char="•"/>
            </a:pPr>
            <a:endParaRPr lang="en-US" sz="3200" dirty="0"/>
          </a:p>
        </p:txBody>
      </p:sp>
      <p:sp>
        <p:nvSpPr>
          <p:cNvPr id="3" name="TextBox 2">
            <a:extLst>
              <a:ext uri="{FF2B5EF4-FFF2-40B4-BE49-F238E27FC236}">
                <a16:creationId xmlns:a16="http://schemas.microsoft.com/office/drawing/2014/main" id="{0B7BFE6C-0F03-97D4-0474-39D518662083}"/>
              </a:ext>
            </a:extLst>
          </p:cNvPr>
          <p:cNvSpPr txBox="1"/>
          <p:nvPr/>
        </p:nvSpPr>
        <p:spPr>
          <a:xfrm>
            <a:off x="786510" y="3962023"/>
            <a:ext cx="9759570" cy="2062103"/>
          </a:xfrm>
          <a:prstGeom prst="rect">
            <a:avLst/>
          </a:prstGeom>
          <a:noFill/>
        </p:spPr>
        <p:txBody>
          <a:bodyPr wrap="square" rtlCol="0">
            <a:spAutoFit/>
          </a:bodyPr>
          <a:lstStyle/>
          <a:p>
            <a:pPr marL="457200" indent="-457200">
              <a:buFont typeface="Arial" panose="020B0604020202020204" pitchFamily="34" charset="0"/>
              <a:buChar char="•"/>
            </a:pPr>
            <a:r>
              <a:rPr lang="en-US" sz="3200" dirty="0"/>
              <a:t>Forsaking total order for partial order</a:t>
            </a:r>
          </a:p>
          <a:p>
            <a:pPr marL="457200" indent="-457200">
              <a:buFont typeface="Arial" panose="020B0604020202020204" pitchFamily="34" charset="0"/>
              <a:buChar char="•"/>
            </a:pPr>
            <a:r>
              <a:rPr lang="en-US" sz="3200" dirty="0"/>
              <a:t>The downstream application can decide how to deal with events that are left unordered </a:t>
            </a:r>
            <a:r>
              <a:rPr lang="en-US" sz="3200" dirty="0" err="1"/>
              <a:t>w.r.t.</a:t>
            </a:r>
            <a:r>
              <a:rPr lang="en-US" sz="3200" dirty="0"/>
              <a:t> each other</a:t>
            </a:r>
          </a:p>
          <a:p>
            <a:pPr marL="457200" indent="-457200">
              <a:buFont typeface="Arial" panose="020B0604020202020204" pitchFamily="34" charset="0"/>
              <a:buChar char="•"/>
            </a:pPr>
            <a:endParaRPr lang="en-US" sz="3200" dirty="0"/>
          </a:p>
        </p:txBody>
      </p:sp>
      <p:sp>
        <p:nvSpPr>
          <p:cNvPr id="4" name="Oval 3">
            <a:extLst>
              <a:ext uri="{FF2B5EF4-FFF2-40B4-BE49-F238E27FC236}">
                <a16:creationId xmlns:a16="http://schemas.microsoft.com/office/drawing/2014/main" id="{6636598F-A4D2-52EB-CD18-25412D0779D2}"/>
              </a:ext>
            </a:extLst>
          </p:cNvPr>
          <p:cNvSpPr/>
          <p:nvPr/>
        </p:nvSpPr>
        <p:spPr>
          <a:xfrm>
            <a:off x="5209252"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Tree>
    <p:extLst>
      <p:ext uri="{BB962C8B-B14F-4D97-AF65-F5344CB8AC3E}">
        <p14:creationId xmlns:p14="http://schemas.microsoft.com/office/powerpoint/2010/main" val="102814688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3E66-9551-7C18-48C3-AC53394D1168}"/>
            </a:ext>
          </a:extLst>
        </p:cNvPr>
        <p:cNvGrpSpPr/>
        <p:nvPr/>
      </p:nvGrpSpPr>
      <p:grpSpPr>
        <a:xfrm>
          <a:off x="0" y="0"/>
          <a:ext cx="0" cy="0"/>
          <a:chOff x="0" y="0"/>
          <a:chExt cx="0" cy="0"/>
        </a:xfrm>
      </p:grpSpPr>
      <p:sp>
        <p:nvSpPr>
          <p:cNvPr id="79" name="Oval 78">
            <a:extLst>
              <a:ext uri="{FF2B5EF4-FFF2-40B4-BE49-F238E27FC236}">
                <a16:creationId xmlns:a16="http://schemas.microsoft.com/office/drawing/2014/main" id="{4EF97961-9FB7-2E41-63E1-DEF38344F750}"/>
              </a:ext>
            </a:extLst>
          </p:cNvPr>
          <p:cNvSpPr/>
          <p:nvPr/>
        </p:nvSpPr>
        <p:spPr>
          <a:xfrm>
            <a:off x="786510"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Social Choice Theory</a:t>
            </a:r>
          </a:p>
        </p:txBody>
      </p:sp>
      <p:sp>
        <p:nvSpPr>
          <p:cNvPr id="2" name="TextBox 1">
            <a:extLst>
              <a:ext uri="{FF2B5EF4-FFF2-40B4-BE49-F238E27FC236}">
                <a16:creationId xmlns:a16="http://schemas.microsoft.com/office/drawing/2014/main" id="{4F65D9B4-E493-8515-FAF0-4D0F58985CFB}"/>
              </a:ext>
            </a:extLst>
          </p:cNvPr>
          <p:cNvSpPr txBox="1"/>
          <p:nvPr/>
        </p:nvSpPr>
        <p:spPr>
          <a:xfrm>
            <a:off x="7327826" y="1466287"/>
            <a:ext cx="5180657" cy="1692771"/>
          </a:xfrm>
          <a:prstGeom prst="rect">
            <a:avLst/>
          </a:prstGeom>
          <a:noFill/>
        </p:spPr>
        <p:txBody>
          <a:bodyPr wrap="square" rtlCol="0">
            <a:spAutoFit/>
          </a:bodyPr>
          <a:lstStyle/>
          <a:p>
            <a:pPr marL="457200" indent="-457200">
              <a:buFont typeface="Arial" panose="020B0604020202020204" pitchFamily="34" charset="0"/>
              <a:buChar char="•"/>
            </a:pPr>
            <a:r>
              <a:rPr lang="en-US" sz="2400" dirty="0"/>
              <a:t>Find the smith set of events</a:t>
            </a:r>
          </a:p>
          <a:p>
            <a:pPr marL="457200" indent="-457200">
              <a:buFont typeface="Arial" panose="020B0604020202020204" pitchFamily="34" charset="0"/>
              <a:buChar char="•"/>
            </a:pPr>
            <a:r>
              <a:rPr lang="en-US" sz="2400" dirty="0"/>
              <a:t>emit that batch of events</a:t>
            </a:r>
          </a:p>
          <a:p>
            <a:pPr marL="457200" indent="-457200">
              <a:buFont typeface="Arial" panose="020B0604020202020204" pitchFamily="34" charset="0"/>
              <a:buChar char="•"/>
            </a:pPr>
            <a:r>
              <a:rPr lang="en-US" sz="2400" dirty="0"/>
              <a:t>Repeat for the remaining events</a:t>
            </a:r>
          </a:p>
          <a:p>
            <a:pPr marL="457200" indent="-457200">
              <a:buFont typeface="Arial" panose="020B0604020202020204" pitchFamily="34" charset="0"/>
              <a:buChar char="•"/>
            </a:pPr>
            <a:endParaRPr lang="en-US" sz="3200" dirty="0"/>
          </a:p>
        </p:txBody>
      </p:sp>
      <p:sp>
        <p:nvSpPr>
          <p:cNvPr id="4" name="Oval 3">
            <a:extLst>
              <a:ext uri="{FF2B5EF4-FFF2-40B4-BE49-F238E27FC236}">
                <a16:creationId xmlns:a16="http://schemas.microsoft.com/office/drawing/2014/main" id="{6C3C6740-91A8-A586-121A-72EF75512F33}"/>
              </a:ext>
            </a:extLst>
          </p:cNvPr>
          <p:cNvSpPr/>
          <p:nvPr/>
        </p:nvSpPr>
        <p:spPr>
          <a:xfrm>
            <a:off x="5209252" y="471631"/>
            <a:ext cx="4237148" cy="912900"/>
          </a:xfrm>
          <a:prstGeom prst="ellipse">
            <a:avLst/>
          </a:prstGeom>
          <a:solidFill>
            <a:schemeClr val="accent3">
              <a:lumMod val="60000"/>
              <a:lumOff val="40000"/>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Aptos" panose="02110004020202020204"/>
                <a:ea typeface="+mn-ea"/>
                <a:cs typeface="+mn-cs"/>
              </a:rPr>
              <a:t>Fair Ordering</a:t>
            </a:r>
          </a:p>
        </p:txBody>
      </p:sp>
      <p:sp>
        <p:nvSpPr>
          <p:cNvPr id="5" name="TextBox 4">
            <a:extLst>
              <a:ext uri="{FF2B5EF4-FFF2-40B4-BE49-F238E27FC236}">
                <a16:creationId xmlns:a16="http://schemas.microsoft.com/office/drawing/2014/main" id="{5FD77D0A-A81C-CB49-3A0C-76DD0AC32DDC}"/>
              </a:ext>
            </a:extLst>
          </p:cNvPr>
          <p:cNvSpPr txBox="1"/>
          <p:nvPr/>
        </p:nvSpPr>
        <p:spPr>
          <a:xfrm>
            <a:off x="1135301" y="2667891"/>
            <a:ext cx="9759570" cy="2554545"/>
          </a:xfrm>
          <a:prstGeom prst="rect">
            <a:avLst/>
          </a:prstGeom>
          <a:noFill/>
        </p:spPr>
        <p:txBody>
          <a:bodyPr wrap="square" rtlCol="0">
            <a:spAutoFit/>
          </a:bodyPr>
          <a:lstStyle/>
          <a:p>
            <a:pPr marL="457200" indent="-457200">
              <a:buFont typeface="Arial" panose="020B0604020202020204" pitchFamily="34" charset="0"/>
              <a:buChar char="•"/>
            </a:pPr>
            <a:r>
              <a:rPr lang="en-US" sz="3200" dirty="0"/>
              <a:t>Create the likely-happened-before graph 𝒢</a:t>
            </a:r>
          </a:p>
          <a:p>
            <a:pPr marL="457200" indent="-457200">
              <a:buFont typeface="Arial" panose="020B0604020202020204" pitchFamily="34" charset="0"/>
              <a:buChar char="•"/>
            </a:pPr>
            <a:r>
              <a:rPr lang="en-US" sz="3200" dirty="0"/>
              <a:t>Do a Strongly Connected Components (SCC) decomposition, 𝒢 </a:t>
            </a:r>
            <a:r>
              <a:rPr lang="en-US" sz="3200" dirty="0">
                <a:sym typeface="Wingdings" pitchFamily="2" charset="2"/>
              </a:rPr>
              <a:t> </a:t>
            </a:r>
            <a:r>
              <a:rPr lang="en-US" sz="3200" dirty="0"/>
              <a:t>𝒢’</a:t>
            </a:r>
          </a:p>
          <a:p>
            <a:pPr marL="457200" indent="-457200">
              <a:buFont typeface="Arial" panose="020B0604020202020204" pitchFamily="34" charset="0"/>
              <a:buChar char="•"/>
            </a:pPr>
            <a:r>
              <a:rPr lang="en-US" sz="3200" dirty="0"/>
              <a:t>Find topological ordering of 𝒢’</a:t>
            </a:r>
          </a:p>
          <a:p>
            <a:pPr marL="457200" indent="-457200">
              <a:buFont typeface="Arial" panose="020B0604020202020204" pitchFamily="34" charset="0"/>
              <a:buChar char="•"/>
            </a:pPr>
            <a:r>
              <a:rPr lang="en-US" sz="3200" dirty="0"/>
              <a:t>Emit each super-node in 𝒢’ in the topological order</a:t>
            </a:r>
          </a:p>
        </p:txBody>
      </p:sp>
    </p:spTree>
    <p:extLst>
      <p:ext uri="{BB962C8B-B14F-4D97-AF65-F5344CB8AC3E}">
        <p14:creationId xmlns:p14="http://schemas.microsoft.com/office/powerpoint/2010/main" val="328888751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C91BF-7967-08C0-7251-D54CB72826E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A9B09B9-A782-C735-07F6-40DD140FD938}"/>
              </a:ext>
            </a:extLst>
          </p:cNvPr>
          <p:cNvSpPr/>
          <p:nvPr/>
        </p:nvSpPr>
        <p:spPr>
          <a:xfrm>
            <a:off x="-141402" y="-179109"/>
            <a:ext cx="12443381" cy="714551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343958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508C5-434D-CF49-4636-8C84C44F2E10}"/>
              </a:ext>
            </a:extLst>
          </p:cNvPr>
          <p:cNvSpPr>
            <a:spLocks noGrp="1"/>
          </p:cNvSpPr>
          <p:nvPr>
            <p:ph type="title"/>
          </p:nvPr>
        </p:nvSpPr>
        <p:spPr/>
        <p:txBody>
          <a:bodyPr/>
          <a:lstStyle/>
          <a:p>
            <a:r>
              <a:rPr lang="en-US" dirty="0"/>
              <a:t>Ordering in an online setting</a:t>
            </a:r>
          </a:p>
        </p:txBody>
      </p:sp>
      <p:sp>
        <p:nvSpPr>
          <p:cNvPr id="3" name="Content Placeholder 2">
            <a:extLst>
              <a:ext uri="{FF2B5EF4-FFF2-40B4-BE49-F238E27FC236}">
                <a16:creationId xmlns:a16="http://schemas.microsoft.com/office/drawing/2014/main" id="{45387D4D-831E-396C-AB43-F3772F67D8DB}"/>
              </a:ext>
            </a:extLst>
          </p:cNvPr>
          <p:cNvSpPr>
            <a:spLocks noGrp="1"/>
          </p:cNvSpPr>
          <p:nvPr>
            <p:ph idx="1"/>
          </p:nvPr>
        </p:nvSpPr>
        <p:spPr/>
        <p:txBody>
          <a:bodyPr/>
          <a:lstStyle/>
          <a:p>
            <a:r>
              <a:rPr lang="en-US" dirty="0"/>
              <a:t>Events/messages arrive in a stream</a:t>
            </a:r>
          </a:p>
          <a:p>
            <a:r>
              <a:rPr lang="en-US" dirty="0"/>
              <a:t>Information of all future events may not be available</a:t>
            </a:r>
          </a:p>
        </p:txBody>
      </p:sp>
      <p:sp>
        <p:nvSpPr>
          <p:cNvPr id="4" name="Oval 3">
            <a:extLst>
              <a:ext uri="{FF2B5EF4-FFF2-40B4-BE49-F238E27FC236}">
                <a16:creationId xmlns:a16="http://schemas.microsoft.com/office/drawing/2014/main" id="{B5E30364-4DEE-E9CF-989A-CD09E767C112}"/>
              </a:ext>
            </a:extLst>
          </p:cNvPr>
          <p:cNvSpPr/>
          <p:nvPr/>
        </p:nvSpPr>
        <p:spPr>
          <a:xfrm>
            <a:off x="4433839" y="325275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FF0000"/>
                </a:solidFill>
              </a:rPr>
              <a:t>t</a:t>
            </a:r>
            <a:endParaRPr lang="en-US" dirty="0">
              <a:solidFill>
                <a:srgbClr val="FF0000"/>
              </a:solidFill>
            </a:endParaRPr>
          </a:p>
        </p:txBody>
      </p:sp>
      <p:sp>
        <p:nvSpPr>
          <p:cNvPr id="5" name="TextBox 4">
            <a:extLst>
              <a:ext uri="{FF2B5EF4-FFF2-40B4-BE49-F238E27FC236}">
                <a16:creationId xmlns:a16="http://schemas.microsoft.com/office/drawing/2014/main" id="{3980EFFD-2DC6-131A-CF64-E2181974EB30}"/>
              </a:ext>
            </a:extLst>
          </p:cNvPr>
          <p:cNvSpPr txBox="1"/>
          <p:nvPr/>
        </p:nvSpPr>
        <p:spPr>
          <a:xfrm>
            <a:off x="914399" y="3252751"/>
            <a:ext cx="1876989" cy="461665"/>
          </a:xfrm>
          <a:prstGeom prst="rect">
            <a:avLst/>
          </a:prstGeom>
          <a:solidFill>
            <a:schemeClr val="accent6">
              <a:lumMod val="60000"/>
              <a:lumOff val="40000"/>
            </a:schemeClr>
          </a:solidFill>
        </p:spPr>
        <p:txBody>
          <a:bodyPr wrap="none" rtlCol="0">
            <a:spAutoFit/>
          </a:bodyPr>
          <a:lstStyle/>
          <a:p>
            <a:r>
              <a:rPr lang="en-US" sz="2400" dirty="0"/>
              <a:t>Event arrives</a:t>
            </a:r>
          </a:p>
        </p:txBody>
      </p:sp>
      <p:sp>
        <p:nvSpPr>
          <p:cNvPr id="6" name="TextBox 5">
            <a:extLst>
              <a:ext uri="{FF2B5EF4-FFF2-40B4-BE49-F238E27FC236}">
                <a16:creationId xmlns:a16="http://schemas.microsoft.com/office/drawing/2014/main" id="{4C7BB467-C299-FF1A-0F44-8D244F54122E}"/>
              </a:ext>
            </a:extLst>
          </p:cNvPr>
          <p:cNvSpPr txBox="1"/>
          <p:nvPr/>
        </p:nvSpPr>
        <p:spPr>
          <a:xfrm>
            <a:off x="914399" y="3770461"/>
            <a:ext cx="2676630" cy="461665"/>
          </a:xfrm>
          <a:prstGeom prst="rect">
            <a:avLst/>
          </a:prstGeom>
          <a:solidFill>
            <a:schemeClr val="accent6">
              <a:lumMod val="60000"/>
              <a:lumOff val="40000"/>
            </a:schemeClr>
          </a:solidFill>
        </p:spPr>
        <p:txBody>
          <a:bodyPr wrap="none" rtlCol="0">
            <a:spAutoFit/>
          </a:bodyPr>
          <a:lstStyle/>
          <a:p>
            <a:r>
              <a:rPr lang="en-US" sz="2400" dirty="0"/>
              <a:t>Find stable frontier</a:t>
            </a:r>
          </a:p>
        </p:txBody>
      </p:sp>
      <p:sp>
        <p:nvSpPr>
          <p:cNvPr id="7" name="Down Arrow 6">
            <a:extLst>
              <a:ext uri="{FF2B5EF4-FFF2-40B4-BE49-F238E27FC236}">
                <a16:creationId xmlns:a16="http://schemas.microsoft.com/office/drawing/2014/main" id="{6850CA63-41A9-2552-E428-3ADBBB0140A2}"/>
              </a:ext>
            </a:extLst>
          </p:cNvPr>
          <p:cNvSpPr/>
          <p:nvPr/>
        </p:nvSpPr>
        <p:spPr>
          <a:xfrm>
            <a:off x="2601798" y="4232126"/>
            <a:ext cx="263950" cy="909416"/>
          </a:xfrm>
          <a:custGeom>
            <a:avLst/>
            <a:gdLst>
              <a:gd name="csX0" fmla="*/ 0 w 263950"/>
              <a:gd name="csY0" fmla="*/ 777441 h 909416"/>
              <a:gd name="csX1" fmla="*/ 65988 w 263950"/>
              <a:gd name="csY1" fmla="*/ 777441 h 909416"/>
              <a:gd name="csX2" fmla="*/ 65988 w 263950"/>
              <a:gd name="csY2" fmla="*/ 388721 h 909416"/>
              <a:gd name="csX3" fmla="*/ 65988 w 263950"/>
              <a:gd name="csY3" fmla="*/ 0 h 909416"/>
              <a:gd name="csX4" fmla="*/ 197963 w 263950"/>
              <a:gd name="csY4" fmla="*/ 0 h 909416"/>
              <a:gd name="csX5" fmla="*/ 197963 w 263950"/>
              <a:gd name="csY5" fmla="*/ 365397 h 909416"/>
              <a:gd name="csX6" fmla="*/ 197963 w 263950"/>
              <a:gd name="csY6" fmla="*/ 777441 h 909416"/>
              <a:gd name="csX7" fmla="*/ 263950 w 263950"/>
              <a:gd name="csY7" fmla="*/ 777441 h 909416"/>
              <a:gd name="csX8" fmla="*/ 131975 w 263950"/>
              <a:gd name="csY8" fmla="*/ 909416 h 909416"/>
              <a:gd name="csX9" fmla="*/ 0 w 263950"/>
              <a:gd name="csY9" fmla="*/ 777441 h 909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3950" h="909416" fill="none" extrusionOk="0">
                <a:moveTo>
                  <a:pt x="0" y="777441"/>
                </a:moveTo>
                <a:cubicBezTo>
                  <a:pt x="23963" y="773871"/>
                  <a:pt x="49775" y="779275"/>
                  <a:pt x="65988" y="777441"/>
                </a:cubicBezTo>
                <a:cubicBezTo>
                  <a:pt x="43260" y="618683"/>
                  <a:pt x="83265" y="545731"/>
                  <a:pt x="65988" y="388721"/>
                </a:cubicBezTo>
                <a:cubicBezTo>
                  <a:pt x="48711" y="231711"/>
                  <a:pt x="89724" y="125822"/>
                  <a:pt x="65988" y="0"/>
                </a:cubicBezTo>
                <a:cubicBezTo>
                  <a:pt x="111112" y="-10357"/>
                  <a:pt x="154116" y="9559"/>
                  <a:pt x="197963" y="0"/>
                </a:cubicBezTo>
                <a:cubicBezTo>
                  <a:pt x="199739" y="95002"/>
                  <a:pt x="166460" y="247980"/>
                  <a:pt x="197963" y="365397"/>
                </a:cubicBezTo>
                <a:cubicBezTo>
                  <a:pt x="229466" y="482814"/>
                  <a:pt x="184585" y="639104"/>
                  <a:pt x="197963" y="777441"/>
                </a:cubicBezTo>
                <a:cubicBezTo>
                  <a:pt x="216433" y="773894"/>
                  <a:pt x="244136" y="777863"/>
                  <a:pt x="263950" y="777441"/>
                </a:cubicBezTo>
                <a:cubicBezTo>
                  <a:pt x="207356" y="851264"/>
                  <a:pt x="172507" y="846321"/>
                  <a:pt x="131975" y="909416"/>
                </a:cubicBezTo>
                <a:cubicBezTo>
                  <a:pt x="54623" y="861620"/>
                  <a:pt x="72031" y="828134"/>
                  <a:pt x="0" y="777441"/>
                </a:cubicBezTo>
                <a:close/>
              </a:path>
              <a:path w="263950" h="909416" stroke="0" extrusionOk="0">
                <a:moveTo>
                  <a:pt x="0" y="777441"/>
                </a:moveTo>
                <a:cubicBezTo>
                  <a:pt x="30708" y="776362"/>
                  <a:pt x="40543" y="782881"/>
                  <a:pt x="65988" y="777441"/>
                </a:cubicBezTo>
                <a:cubicBezTo>
                  <a:pt x="41001" y="638118"/>
                  <a:pt x="104123" y="506884"/>
                  <a:pt x="65988" y="412044"/>
                </a:cubicBezTo>
                <a:cubicBezTo>
                  <a:pt x="27853" y="317204"/>
                  <a:pt x="105284" y="133867"/>
                  <a:pt x="65988" y="0"/>
                </a:cubicBezTo>
                <a:cubicBezTo>
                  <a:pt x="110159" y="-13958"/>
                  <a:pt x="158046" y="3239"/>
                  <a:pt x="197963" y="0"/>
                </a:cubicBezTo>
                <a:cubicBezTo>
                  <a:pt x="236806" y="111943"/>
                  <a:pt x="186640" y="302690"/>
                  <a:pt x="197963" y="380946"/>
                </a:cubicBezTo>
                <a:cubicBezTo>
                  <a:pt x="209286" y="459202"/>
                  <a:pt x="174402" y="626077"/>
                  <a:pt x="197963" y="777441"/>
                </a:cubicBezTo>
                <a:cubicBezTo>
                  <a:pt x="219613" y="775855"/>
                  <a:pt x="236343" y="784375"/>
                  <a:pt x="263950" y="777441"/>
                </a:cubicBezTo>
                <a:cubicBezTo>
                  <a:pt x="225588" y="842847"/>
                  <a:pt x="164840" y="852525"/>
                  <a:pt x="131975" y="909416"/>
                </a:cubicBezTo>
                <a:cubicBezTo>
                  <a:pt x="64998" y="848799"/>
                  <a:pt x="78900" y="829011"/>
                  <a:pt x="0" y="777441"/>
                </a:cubicBezTo>
                <a:close/>
              </a:path>
            </a:pathLst>
          </a:custGeom>
          <a:solidFill>
            <a:srgbClr val="7030A0"/>
          </a:solidFill>
          <a:ln>
            <a:solidFill>
              <a:schemeClr val="tx1"/>
            </a:solidFill>
            <a:extLst>
              <a:ext uri="{C807C97D-BFC1-408E-A445-0C87EB9F89A2}">
                <ask:lineSketchStyleProps xmlns:ask="http://schemas.microsoft.com/office/drawing/2018/sketchyshapes" sd="1219033472">
                  <a:prstGeom prst="down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ECAEC36-9B96-1889-F9DD-E39AD770821B}"/>
              </a:ext>
            </a:extLst>
          </p:cNvPr>
          <p:cNvSpPr txBox="1"/>
          <p:nvPr/>
        </p:nvSpPr>
        <p:spPr>
          <a:xfrm>
            <a:off x="1924638" y="5276479"/>
            <a:ext cx="6289479" cy="461665"/>
          </a:xfrm>
          <a:prstGeom prst="rect">
            <a:avLst/>
          </a:prstGeom>
          <a:solidFill>
            <a:schemeClr val="accent6">
              <a:lumMod val="60000"/>
              <a:lumOff val="40000"/>
            </a:schemeClr>
          </a:solidFill>
        </p:spPr>
        <p:txBody>
          <a:bodyPr wrap="none" rtlCol="0">
            <a:spAutoFit/>
          </a:bodyPr>
          <a:lstStyle/>
          <a:p>
            <a:r>
              <a:rPr lang="en-US" sz="2400" dirty="0"/>
              <a:t>All timestamps </a:t>
            </a:r>
            <a:r>
              <a:rPr lang="en-US" sz="2400" dirty="0">
                <a:solidFill>
                  <a:srgbClr val="FF0000"/>
                </a:solidFill>
              </a:rPr>
              <a:t>t’</a:t>
            </a:r>
            <a:r>
              <a:rPr lang="en-US" sz="2400" dirty="0"/>
              <a:t> for which </a:t>
            </a:r>
            <a:r>
              <a:rPr lang="en-US" sz="2400" dirty="0">
                <a:solidFill>
                  <a:srgbClr val="FF0000"/>
                </a:solidFill>
              </a:rPr>
              <a:t>P(T’ &lt; T) </a:t>
            </a:r>
            <a:r>
              <a:rPr lang="en-US" sz="2400" dirty="0"/>
              <a:t>is very high</a:t>
            </a:r>
          </a:p>
        </p:txBody>
      </p:sp>
      <p:sp>
        <p:nvSpPr>
          <p:cNvPr id="9" name="TextBox 8">
            <a:extLst>
              <a:ext uri="{FF2B5EF4-FFF2-40B4-BE49-F238E27FC236}">
                <a16:creationId xmlns:a16="http://schemas.microsoft.com/office/drawing/2014/main" id="{8BF6895D-0B58-CD85-378C-DA0BFA882647}"/>
              </a:ext>
            </a:extLst>
          </p:cNvPr>
          <p:cNvSpPr txBox="1"/>
          <p:nvPr/>
        </p:nvSpPr>
        <p:spPr>
          <a:xfrm>
            <a:off x="1924638" y="5782766"/>
            <a:ext cx="4557081" cy="461665"/>
          </a:xfrm>
          <a:prstGeom prst="rect">
            <a:avLst/>
          </a:prstGeom>
          <a:solidFill>
            <a:schemeClr val="accent6">
              <a:lumMod val="60000"/>
              <a:lumOff val="40000"/>
            </a:schemeClr>
          </a:solidFill>
        </p:spPr>
        <p:txBody>
          <a:bodyPr wrap="none" rtlCol="0">
            <a:spAutoFit/>
          </a:bodyPr>
          <a:lstStyle/>
          <a:p>
            <a:r>
              <a:rPr lang="en-US" sz="2400" dirty="0"/>
              <a:t>One frontier per client calculated</a:t>
            </a:r>
          </a:p>
        </p:txBody>
      </p:sp>
    </p:spTree>
    <p:extLst>
      <p:ext uri="{BB962C8B-B14F-4D97-AF65-F5344CB8AC3E}">
        <p14:creationId xmlns:p14="http://schemas.microsoft.com/office/powerpoint/2010/main" val="27687214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animBg="1"/>
      <p:bldP spid="9"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E9DC7-B73D-15A3-2C65-40CE11017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7D421-070A-7969-0A54-490686C7C69E}"/>
              </a:ext>
            </a:extLst>
          </p:cNvPr>
          <p:cNvSpPr>
            <a:spLocks noGrp="1"/>
          </p:cNvSpPr>
          <p:nvPr>
            <p:ph type="title"/>
          </p:nvPr>
        </p:nvSpPr>
        <p:spPr/>
        <p:txBody>
          <a:bodyPr/>
          <a:lstStyle/>
          <a:p>
            <a:r>
              <a:rPr lang="en-US" dirty="0"/>
              <a:t>Ordering in an online setting</a:t>
            </a:r>
          </a:p>
        </p:txBody>
      </p:sp>
      <p:sp>
        <p:nvSpPr>
          <p:cNvPr id="3" name="Content Placeholder 2">
            <a:extLst>
              <a:ext uri="{FF2B5EF4-FFF2-40B4-BE49-F238E27FC236}">
                <a16:creationId xmlns:a16="http://schemas.microsoft.com/office/drawing/2014/main" id="{7A44D57A-81EA-38A9-516D-2496BE9AB456}"/>
              </a:ext>
            </a:extLst>
          </p:cNvPr>
          <p:cNvSpPr>
            <a:spLocks noGrp="1"/>
          </p:cNvSpPr>
          <p:nvPr>
            <p:ph idx="1"/>
          </p:nvPr>
        </p:nvSpPr>
        <p:spPr/>
        <p:txBody>
          <a:bodyPr/>
          <a:lstStyle/>
          <a:p>
            <a:r>
              <a:rPr lang="en-US" dirty="0"/>
              <a:t>Events/messages arrive in a stream</a:t>
            </a:r>
          </a:p>
          <a:p>
            <a:r>
              <a:rPr lang="en-US" dirty="0"/>
              <a:t>Information of all future events may not be available</a:t>
            </a:r>
          </a:p>
        </p:txBody>
      </p:sp>
      <p:sp>
        <p:nvSpPr>
          <p:cNvPr id="4" name="Oval 3">
            <a:extLst>
              <a:ext uri="{FF2B5EF4-FFF2-40B4-BE49-F238E27FC236}">
                <a16:creationId xmlns:a16="http://schemas.microsoft.com/office/drawing/2014/main" id="{82B6CFDC-F079-9B49-103E-89EDE3081F1F}"/>
              </a:ext>
            </a:extLst>
          </p:cNvPr>
          <p:cNvSpPr/>
          <p:nvPr/>
        </p:nvSpPr>
        <p:spPr>
          <a:xfrm>
            <a:off x="4433839" y="325275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FF0000"/>
                </a:solidFill>
              </a:rPr>
              <a:t>t</a:t>
            </a:r>
            <a:endParaRPr lang="en-US" dirty="0">
              <a:solidFill>
                <a:srgbClr val="FF0000"/>
              </a:solidFill>
            </a:endParaRPr>
          </a:p>
        </p:txBody>
      </p:sp>
      <p:sp>
        <p:nvSpPr>
          <p:cNvPr id="5" name="TextBox 4">
            <a:extLst>
              <a:ext uri="{FF2B5EF4-FFF2-40B4-BE49-F238E27FC236}">
                <a16:creationId xmlns:a16="http://schemas.microsoft.com/office/drawing/2014/main" id="{EE1CEA4F-048F-15C8-1459-8CEEFE4369C0}"/>
              </a:ext>
            </a:extLst>
          </p:cNvPr>
          <p:cNvSpPr txBox="1"/>
          <p:nvPr/>
        </p:nvSpPr>
        <p:spPr>
          <a:xfrm>
            <a:off x="914399" y="3252751"/>
            <a:ext cx="1876989" cy="461665"/>
          </a:xfrm>
          <a:prstGeom prst="rect">
            <a:avLst/>
          </a:prstGeom>
          <a:solidFill>
            <a:schemeClr val="accent6">
              <a:lumMod val="60000"/>
              <a:lumOff val="40000"/>
            </a:schemeClr>
          </a:solidFill>
        </p:spPr>
        <p:txBody>
          <a:bodyPr wrap="none" rtlCol="0">
            <a:spAutoFit/>
          </a:bodyPr>
          <a:lstStyle/>
          <a:p>
            <a:r>
              <a:rPr lang="en-US" sz="2400" dirty="0"/>
              <a:t>Event arrives</a:t>
            </a:r>
          </a:p>
        </p:txBody>
      </p:sp>
      <p:sp>
        <p:nvSpPr>
          <p:cNvPr id="6" name="TextBox 5">
            <a:extLst>
              <a:ext uri="{FF2B5EF4-FFF2-40B4-BE49-F238E27FC236}">
                <a16:creationId xmlns:a16="http://schemas.microsoft.com/office/drawing/2014/main" id="{902708DB-FB7F-BD62-EEEF-BF8B0E69FA47}"/>
              </a:ext>
            </a:extLst>
          </p:cNvPr>
          <p:cNvSpPr txBox="1"/>
          <p:nvPr/>
        </p:nvSpPr>
        <p:spPr>
          <a:xfrm>
            <a:off x="914399" y="3770461"/>
            <a:ext cx="2676630" cy="461665"/>
          </a:xfrm>
          <a:prstGeom prst="rect">
            <a:avLst/>
          </a:prstGeom>
          <a:solidFill>
            <a:schemeClr val="accent6">
              <a:lumMod val="60000"/>
              <a:lumOff val="40000"/>
            </a:schemeClr>
          </a:solidFill>
        </p:spPr>
        <p:txBody>
          <a:bodyPr wrap="none" rtlCol="0">
            <a:spAutoFit/>
          </a:bodyPr>
          <a:lstStyle/>
          <a:p>
            <a:r>
              <a:rPr lang="en-US" sz="2400" dirty="0"/>
              <a:t>Find stable frontier</a:t>
            </a:r>
          </a:p>
        </p:txBody>
      </p:sp>
      <p:sp>
        <p:nvSpPr>
          <p:cNvPr id="7" name="Down Arrow 6">
            <a:extLst>
              <a:ext uri="{FF2B5EF4-FFF2-40B4-BE49-F238E27FC236}">
                <a16:creationId xmlns:a16="http://schemas.microsoft.com/office/drawing/2014/main" id="{A53AAB15-4C87-368E-190C-75E9349DDD48}"/>
              </a:ext>
            </a:extLst>
          </p:cNvPr>
          <p:cNvSpPr/>
          <p:nvPr/>
        </p:nvSpPr>
        <p:spPr>
          <a:xfrm>
            <a:off x="2601798" y="4232126"/>
            <a:ext cx="263950" cy="909416"/>
          </a:xfrm>
          <a:custGeom>
            <a:avLst/>
            <a:gdLst>
              <a:gd name="csX0" fmla="*/ 0 w 263950"/>
              <a:gd name="csY0" fmla="*/ 777441 h 909416"/>
              <a:gd name="csX1" fmla="*/ 65988 w 263950"/>
              <a:gd name="csY1" fmla="*/ 777441 h 909416"/>
              <a:gd name="csX2" fmla="*/ 65988 w 263950"/>
              <a:gd name="csY2" fmla="*/ 388721 h 909416"/>
              <a:gd name="csX3" fmla="*/ 65988 w 263950"/>
              <a:gd name="csY3" fmla="*/ 0 h 909416"/>
              <a:gd name="csX4" fmla="*/ 197963 w 263950"/>
              <a:gd name="csY4" fmla="*/ 0 h 909416"/>
              <a:gd name="csX5" fmla="*/ 197963 w 263950"/>
              <a:gd name="csY5" fmla="*/ 365397 h 909416"/>
              <a:gd name="csX6" fmla="*/ 197963 w 263950"/>
              <a:gd name="csY6" fmla="*/ 777441 h 909416"/>
              <a:gd name="csX7" fmla="*/ 263950 w 263950"/>
              <a:gd name="csY7" fmla="*/ 777441 h 909416"/>
              <a:gd name="csX8" fmla="*/ 131975 w 263950"/>
              <a:gd name="csY8" fmla="*/ 909416 h 909416"/>
              <a:gd name="csX9" fmla="*/ 0 w 263950"/>
              <a:gd name="csY9" fmla="*/ 777441 h 909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3950" h="909416" fill="none" extrusionOk="0">
                <a:moveTo>
                  <a:pt x="0" y="777441"/>
                </a:moveTo>
                <a:cubicBezTo>
                  <a:pt x="23963" y="773871"/>
                  <a:pt x="49775" y="779275"/>
                  <a:pt x="65988" y="777441"/>
                </a:cubicBezTo>
                <a:cubicBezTo>
                  <a:pt x="43260" y="618683"/>
                  <a:pt x="83265" y="545731"/>
                  <a:pt x="65988" y="388721"/>
                </a:cubicBezTo>
                <a:cubicBezTo>
                  <a:pt x="48711" y="231711"/>
                  <a:pt x="89724" y="125822"/>
                  <a:pt x="65988" y="0"/>
                </a:cubicBezTo>
                <a:cubicBezTo>
                  <a:pt x="111112" y="-10357"/>
                  <a:pt x="154116" y="9559"/>
                  <a:pt x="197963" y="0"/>
                </a:cubicBezTo>
                <a:cubicBezTo>
                  <a:pt x="199739" y="95002"/>
                  <a:pt x="166460" y="247980"/>
                  <a:pt x="197963" y="365397"/>
                </a:cubicBezTo>
                <a:cubicBezTo>
                  <a:pt x="229466" y="482814"/>
                  <a:pt x="184585" y="639104"/>
                  <a:pt x="197963" y="777441"/>
                </a:cubicBezTo>
                <a:cubicBezTo>
                  <a:pt x="216433" y="773894"/>
                  <a:pt x="244136" y="777863"/>
                  <a:pt x="263950" y="777441"/>
                </a:cubicBezTo>
                <a:cubicBezTo>
                  <a:pt x="207356" y="851264"/>
                  <a:pt x="172507" y="846321"/>
                  <a:pt x="131975" y="909416"/>
                </a:cubicBezTo>
                <a:cubicBezTo>
                  <a:pt x="54623" y="861620"/>
                  <a:pt x="72031" y="828134"/>
                  <a:pt x="0" y="777441"/>
                </a:cubicBezTo>
                <a:close/>
              </a:path>
              <a:path w="263950" h="909416" stroke="0" extrusionOk="0">
                <a:moveTo>
                  <a:pt x="0" y="777441"/>
                </a:moveTo>
                <a:cubicBezTo>
                  <a:pt x="30708" y="776362"/>
                  <a:pt x="40543" y="782881"/>
                  <a:pt x="65988" y="777441"/>
                </a:cubicBezTo>
                <a:cubicBezTo>
                  <a:pt x="41001" y="638118"/>
                  <a:pt x="104123" y="506884"/>
                  <a:pt x="65988" y="412044"/>
                </a:cubicBezTo>
                <a:cubicBezTo>
                  <a:pt x="27853" y="317204"/>
                  <a:pt x="105284" y="133867"/>
                  <a:pt x="65988" y="0"/>
                </a:cubicBezTo>
                <a:cubicBezTo>
                  <a:pt x="110159" y="-13958"/>
                  <a:pt x="158046" y="3239"/>
                  <a:pt x="197963" y="0"/>
                </a:cubicBezTo>
                <a:cubicBezTo>
                  <a:pt x="236806" y="111943"/>
                  <a:pt x="186640" y="302690"/>
                  <a:pt x="197963" y="380946"/>
                </a:cubicBezTo>
                <a:cubicBezTo>
                  <a:pt x="209286" y="459202"/>
                  <a:pt x="174402" y="626077"/>
                  <a:pt x="197963" y="777441"/>
                </a:cubicBezTo>
                <a:cubicBezTo>
                  <a:pt x="219613" y="775855"/>
                  <a:pt x="236343" y="784375"/>
                  <a:pt x="263950" y="777441"/>
                </a:cubicBezTo>
                <a:cubicBezTo>
                  <a:pt x="225588" y="842847"/>
                  <a:pt x="164840" y="852525"/>
                  <a:pt x="131975" y="909416"/>
                </a:cubicBezTo>
                <a:cubicBezTo>
                  <a:pt x="64998" y="848799"/>
                  <a:pt x="78900" y="829011"/>
                  <a:pt x="0" y="777441"/>
                </a:cubicBezTo>
                <a:close/>
              </a:path>
            </a:pathLst>
          </a:custGeom>
          <a:solidFill>
            <a:srgbClr val="7030A0"/>
          </a:solidFill>
          <a:ln>
            <a:solidFill>
              <a:schemeClr val="tx1"/>
            </a:solidFill>
            <a:extLst>
              <a:ext uri="{C807C97D-BFC1-408E-A445-0C87EB9F89A2}">
                <ask:lineSketchStyleProps xmlns:ask="http://schemas.microsoft.com/office/drawing/2018/sketchyshapes" sd="1219033472">
                  <a:prstGeom prst="down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2AC00D0-F601-310C-5718-2996C140E74C}"/>
              </a:ext>
            </a:extLst>
          </p:cNvPr>
          <p:cNvSpPr txBox="1"/>
          <p:nvPr/>
        </p:nvSpPr>
        <p:spPr>
          <a:xfrm>
            <a:off x="1924638" y="5276479"/>
            <a:ext cx="6289479" cy="461665"/>
          </a:xfrm>
          <a:prstGeom prst="rect">
            <a:avLst/>
          </a:prstGeom>
          <a:solidFill>
            <a:schemeClr val="accent6">
              <a:lumMod val="60000"/>
              <a:lumOff val="40000"/>
            </a:schemeClr>
          </a:solidFill>
        </p:spPr>
        <p:txBody>
          <a:bodyPr wrap="none" rtlCol="0">
            <a:spAutoFit/>
          </a:bodyPr>
          <a:lstStyle/>
          <a:p>
            <a:r>
              <a:rPr lang="en-US" sz="2400" dirty="0"/>
              <a:t>All timestamps </a:t>
            </a:r>
            <a:r>
              <a:rPr lang="en-US" sz="2400" dirty="0">
                <a:solidFill>
                  <a:srgbClr val="FF0000"/>
                </a:solidFill>
              </a:rPr>
              <a:t>t’</a:t>
            </a:r>
            <a:r>
              <a:rPr lang="en-US" sz="2400" dirty="0"/>
              <a:t> for which </a:t>
            </a:r>
            <a:r>
              <a:rPr lang="en-US" sz="2400" dirty="0">
                <a:solidFill>
                  <a:srgbClr val="FF0000"/>
                </a:solidFill>
              </a:rPr>
              <a:t>P(T’ &lt; T) </a:t>
            </a:r>
            <a:r>
              <a:rPr lang="en-US" sz="2400" dirty="0"/>
              <a:t>is very high</a:t>
            </a:r>
          </a:p>
        </p:txBody>
      </p:sp>
      <p:sp>
        <p:nvSpPr>
          <p:cNvPr id="9" name="TextBox 8">
            <a:extLst>
              <a:ext uri="{FF2B5EF4-FFF2-40B4-BE49-F238E27FC236}">
                <a16:creationId xmlns:a16="http://schemas.microsoft.com/office/drawing/2014/main" id="{D6B3693C-BDB2-FB76-C591-AD563C1F19AE}"/>
              </a:ext>
            </a:extLst>
          </p:cNvPr>
          <p:cNvSpPr txBox="1"/>
          <p:nvPr/>
        </p:nvSpPr>
        <p:spPr>
          <a:xfrm>
            <a:off x="1924638" y="5782766"/>
            <a:ext cx="4557081" cy="461665"/>
          </a:xfrm>
          <a:prstGeom prst="rect">
            <a:avLst/>
          </a:prstGeom>
          <a:solidFill>
            <a:schemeClr val="accent6">
              <a:lumMod val="60000"/>
              <a:lumOff val="40000"/>
            </a:schemeClr>
          </a:solidFill>
        </p:spPr>
        <p:txBody>
          <a:bodyPr wrap="none" rtlCol="0">
            <a:spAutoFit/>
          </a:bodyPr>
          <a:lstStyle/>
          <a:p>
            <a:r>
              <a:rPr lang="en-US" sz="2400" dirty="0"/>
              <a:t>One frontier per client calculated</a:t>
            </a:r>
          </a:p>
        </p:txBody>
      </p:sp>
    </p:spTree>
    <p:extLst>
      <p:ext uri="{BB962C8B-B14F-4D97-AF65-F5344CB8AC3E}">
        <p14:creationId xmlns:p14="http://schemas.microsoft.com/office/powerpoint/2010/main" val="17480584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xit" presetSubtype="10" fill="hold" grpId="0" nodeType="withEffect">
                                  <p:stCondLst>
                                    <p:cond delay="0"/>
                                  </p:stCondLst>
                                  <p:childTnLst>
                                    <p:animEffect transition="out" filter="blinds(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par>
                                <p:cTn id="11" presetID="3" presetClass="exit" presetSubtype="10" fill="hold" grpId="0" nodeType="withEffect">
                                  <p:stCondLst>
                                    <p:cond delay="0"/>
                                  </p:stCondLst>
                                  <p:childTnLst>
                                    <p:animEffect transition="out" filter="blinds(horizontal)">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E960C-9C03-F30D-C5F0-EB0AA01AF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AF966-92D5-D211-7652-6E7CA3081327}"/>
              </a:ext>
            </a:extLst>
          </p:cNvPr>
          <p:cNvSpPr>
            <a:spLocks noGrp="1"/>
          </p:cNvSpPr>
          <p:nvPr>
            <p:ph type="title"/>
          </p:nvPr>
        </p:nvSpPr>
        <p:spPr/>
        <p:txBody>
          <a:bodyPr/>
          <a:lstStyle/>
          <a:p>
            <a:r>
              <a:rPr lang="en-US" dirty="0"/>
              <a:t>Ordering in an online setting</a:t>
            </a:r>
          </a:p>
        </p:txBody>
      </p:sp>
      <p:sp>
        <p:nvSpPr>
          <p:cNvPr id="3" name="Content Placeholder 2">
            <a:extLst>
              <a:ext uri="{FF2B5EF4-FFF2-40B4-BE49-F238E27FC236}">
                <a16:creationId xmlns:a16="http://schemas.microsoft.com/office/drawing/2014/main" id="{E44ADA44-EE44-4B9C-42F5-9572EAD11517}"/>
              </a:ext>
            </a:extLst>
          </p:cNvPr>
          <p:cNvSpPr>
            <a:spLocks noGrp="1"/>
          </p:cNvSpPr>
          <p:nvPr>
            <p:ph idx="1"/>
          </p:nvPr>
        </p:nvSpPr>
        <p:spPr/>
        <p:txBody>
          <a:bodyPr/>
          <a:lstStyle/>
          <a:p>
            <a:r>
              <a:rPr lang="en-US" dirty="0"/>
              <a:t>Events/messages arrive in a stream</a:t>
            </a:r>
          </a:p>
          <a:p>
            <a:r>
              <a:rPr lang="en-US" dirty="0"/>
              <a:t>Information of all future events may not be available</a:t>
            </a:r>
          </a:p>
        </p:txBody>
      </p:sp>
      <p:sp>
        <p:nvSpPr>
          <p:cNvPr id="4" name="Oval 3">
            <a:extLst>
              <a:ext uri="{FF2B5EF4-FFF2-40B4-BE49-F238E27FC236}">
                <a16:creationId xmlns:a16="http://schemas.microsoft.com/office/drawing/2014/main" id="{5245942D-11EF-6F4B-962D-BB57D962A22A}"/>
              </a:ext>
            </a:extLst>
          </p:cNvPr>
          <p:cNvSpPr/>
          <p:nvPr/>
        </p:nvSpPr>
        <p:spPr>
          <a:xfrm>
            <a:off x="4433839" y="325275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FF0000"/>
                </a:solidFill>
              </a:rPr>
              <a:t>t</a:t>
            </a:r>
            <a:endParaRPr lang="en-US" dirty="0">
              <a:solidFill>
                <a:srgbClr val="FF0000"/>
              </a:solidFill>
            </a:endParaRPr>
          </a:p>
        </p:txBody>
      </p:sp>
      <p:sp>
        <p:nvSpPr>
          <p:cNvPr id="5" name="TextBox 4">
            <a:extLst>
              <a:ext uri="{FF2B5EF4-FFF2-40B4-BE49-F238E27FC236}">
                <a16:creationId xmlns:a16="http://schemas.microsoft.com/office/drawing/2014/main" id="{2D59BCE7-8FBA-E2F7-E782-52382062C42C}"/>
              </a:ext>
            </a:extLst>
          </p:cNvPr>
          <p:cNvSpPr txBox="1"/>
          <p:nvPr/>
        </p:nvSpPr>
        <p:spPr>
          <a:xfrm>
            <a:off x="914399" y="3252751"/>
            <a:ext cx="1876989" cy="461665"/>
          </a:xfrm>
          <a:prstGeom prst="rect">
            <a:avLst/>
          </a:prstGeom>
          <a:solidFill>
            <a:schemeClr val="accent6">
              <a:lumMod val="60000"/>
              <a:lumOff val="40000"/>
            </a:schemeClr>
          </a:solidFill>
        </p:spPr>
        <p:txBody>
          <a:bodyPr wrap="none" rtlCol="0">
            <a:spAutoFit/>
          </a:bodyPr>
          <a:lstStyle/>
          <a:p>
            <a:r>
              <a:rPr lang="en-US" sz="2400" dirty="0"/>
              <a:t>Event arrives</a:t>
            </a:r>
          </a:p>
        </p:txBody>
      </p:sp>
      <p:sp>
        <p:nvSpPr>
          <p:cNvPr id="6" name="TextBox 5">
            <a:extLst>
              <a:ext uri="{FF2B5EF4-FFF2-40B4-BE49-F238E27FC236}">
                <a16:creationId xmlns:a16="http://schemas.microsoft.com/office/drawing/2014/main" id="{F384EBA3-EC75-F59A-8A32-778B0F7C8E5A}"/>
              </a:ext>
            </a:extLst>
          </p:cNvPr>
          <p:cNvSpPr txBox="1"/>
          <p:nvPr/>
        </p:nvSpPr>
        <p:spPr>
          <a:xfrm>
            <a:off x="914399" y="3770461"/>
            <a:ext cx="2676630" cy="461665"/>
          </a:xfrm>
          <a:prstGeom prst="rect">
            <a:avLst/>
          </a:prstGeom>
          <a:solidFill>
            <a:schemeClr val="accent6">
              <a:lumMod val="60000"/>
              <a:lumOff val="40000"/>
            </a:schemeClr>
          </a:solidFill>
        </p:spPr>
        <p:txBody>
          <a:bodyPr wrap="none" rtlCol="0">
            <a:spAutoFit/>
          </a:bodyPr>
          <a:lstStyle/>
          <a:p>
            <a:r>
              <a:rPr lang="en-US" sz="2400" dirty="0"/>
              <a:t>Find stable frontier</a:t>
            </a:r>
          </a:p>
        </p:txBody>
      </p:sp>
      <p:sp>
        <p:nvSpPr>
          <p:cNvPr id="9" name="Oval 8">
            <a:extLst>
              <a:ext uri="{FF2B5EF4-FFF2-40B4-BE49-F238E27FC236}">
                <a16:creationId xmlns:a16="http://schemas.microsoft.com/office/drawing/2014/main" id="{683BEFDC-8621-CF8A-2D31-94C21BE7071D}"/>
              </a:ext>
            </a:extLst>
          </p:cNvPr>
          <p:cNvSpPr/>
          <p:nvPr/>
        </p:nvSpPr>
        <p:spPr>
          <a:xfrm>
            <a:off x="5859518" y="3234598"/>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FF0000"/>
                </a:solidFill>
              </a:rPr>
              <a:t>t</a:t>
            </a:r>
            <a:r>
              <a:rPr lang="en-US" sz="5400" baseline="-25000" dirty="0">
                <a:solidFill>
                  <a:srgbClr val="FF0000"/>
                </a:solidFill>
              </a:rPr>
              <a:t>1</a:t>
            </a:r>
            <a:endParaRPr lang="en-US" baseline="-25000" dirty="0">
              <a:solidFill>
                <a:srgbClr val="FF0000"/>
              </a:solidFill>
            </a:endParaRPr>
          </a:p>
        </p:txBody>
      </p:sp>
      <p:sp>
        <p:nvSpPr>
          <p:cNvPr id="10" name="Oval 9">
            <a:extLst>
              <a:ext uri="{FF2B5EF4-FFF2-40B4-BE49-F238E27FC236}">
                <a16:creationId xmlns:a16="http://schemas.microsoft.com/office/drawing/2014/main" id="{F50EDF23-04EA-414A-CD45-5BD3D55F9D0D}"/>
              </a:ext>
            </a:extLst>
          </p:cNvPr>
          <p:cNvSpPr/>
          <p:nvPr/>
        </p:nvSpPr>
        <p:spPr>
          <a:xfrm>
            <a:off x="7180980" y="321565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FF0000"/>
                </a:solidFill>
              </a:rPr>
              <a:t>t</a:t>
            </a:r>
            <a:r>
              <a:rPr lang="en-US" sz="5400" baseline="-25000" dirty="0">
                <a:solidFill>
                  <a:srgbClr val="FF0000"/>
                </a:solidFill>
              </a:rPr>
              <a:t>2</a:t>
            </a:r>
            <a:endParaRPr lang="en-US" baseline="-25000" dirty="0">
              <a:solidFill>
                <a:srgbClr val="FF0000"/>
              </a:solidFill>
            </a:endParaRPr>
          </a:p>
        </p:txBody>
      </p:sp>
      <p:sp>
        <p:nvSpPr>
          <p:cNvPr id="11" name="Rectangle 10">
            <a:extLst>
              <a:ext uri="{FF2B5EF4-FFF2-40B4-BE49-F238E27FC236}">
                <a16:creationId xmlns:a16="http://schemas.microsoft.com/office/drawing/2014/main" id="{4C13E38D-EAF2-22F0-6560-8766BA57315A}"/>
              </a:ext>
            </a:extLst>
          </p:cNvPr>
          <p:cNvSpPr/>
          <p:nvPr/>
        </p:nvSpPr>
        <p:spPr>
          <a:xfrm>
            <a:off x="4386080" y="3081473"/>
            <a:ext cx="4138366" cy="1244599"/>
          </a:xfrm>
          <a:custGeom>
            <a:avLst/>
            <a:gdLst>
              <a:gd name="csX0" fmla="*/ 0 w 4138366"/>
              <a:gd name="csY0" fmla="*/ 0 h 1244599"/>
              <a:gd name="csX1" fmla="*/ 549811 w 4138366"/>
              <a:gd name="csY1" fmla="*/ 0 h 1244599"/>
              <a:gd name="csX2" fmla="*/ 1016856 w 4138366"/>
              <a:gd name="csY2" fmla="*/ 0 h 1244599"/>
              <a:gd name="csX3" fmla="*/ 1690818 w 4138366"/>
              <a:gd name="csY3" fmla="*/ 0 h 1244599"/>
              <a:gd name="csX4" fmla="*/ 2240630 w 4138366"/>
              <a:gd name="csY4" fmla="*/ 0 h 1244599"/>
              <a:gd name="csX5" fmla="*/ 2790441 w 4138366"/>
              <a:gd name="csY5" fmla="*/ 0 h 1244599"/>
              <a:gd name="csX6" fmla="*/ 3464404 w 4138366"/>
              <a:gd name="csY6" fmla="*/ 0 h 1244599"/>
              <a:gd name="csX7" fmla="*/ 4138366 w 4138366"/>
              <a:gd name="csY7" fmla="*/ 0 h 1244599"/>
              <a:gd name="csX8" fmla="*/ 4138366 w 4138366"/>
              <a:gd name="csY8" fmla="*/ 439758 h 1244599"/>
              <a:gd name="csX9" fmla="*/ 4138366 w 4138366"/>
              <a:gd name="csY9" fmla="*/ 829733 h 1244599"/>
              <a:gd name="csX10" fmla="*/ 4138366 w 4138366"/>
              <a:gd name="csY10" fmla="*/ 1244599 h 1244599"/>
              <a:gd name="csX11" fmla="*/ 3547171 w 4138366"/>
              <a:gd name="csY11" fmla="*/ 1244599 h 1244599"/>
              <a:gd name="csX12" fmla="*/ 2997359 w 4138366"/>
              <a:gd name="csY12" fmla="*/ 1244599 h 1244599"/>
              <a:gd name="csX13" fmla="*/ 2323397 w 4138366"/>
              <a:gd name="csY13" fmla="*/ 1244599 h 1244599"/>
              <a:gd name="csX14" fmla="*/ 1649434 w 4138366"/>
              <a:gd name="csY14" fmla="*/ 1244599 h 1244599"/>
              <a:gd name="csX15" fmla="*/ 1141007 w 4138366"/>
              <a:gd name="csY15" fmla="*/ 1244599 h 1244599"/>
              <a:gd name="csX16" fmla="*/ 549811 w 4138366"/>
              <a:gd name="csY16" fmla="*/ 1244599 h 1244599"/>
              <a:gd name="csX17" fmla="*/ 0 w 4138366"/>
              <a:gd name="csY17" fmla="*/ 1244599 h 1244599"/>
              <a:gd name="csX18" fmla="*/ 0 w 4138366"/>
              <a:gd name="csY18" fmla="*/ 829733 h 1244599"/>
              <a:gd name="csX19" fmla="*/ 0 w 4138366"/>
              <a:gd name="csY19" fmla="*/ 439758 h 1244599"/>
              <a:gd name="csX20" fmla="*/ 0 w 4138366"/>
              <a:gd name="csY20" fmla="*/ 0 h 124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38366" h="1244599" extrusionOk="0">
                <a:moveTo>
                  <a:pt x="0" y="0"/>
                </a:moveTo>
                <a:cubicBezTo>
                  <a:pt x="219922" y="-12441"/>
                  <a:pt x="352390" y="4255"/>
                  <a:pt x="549811" y="0"/>
                </a:cubicBezTo>
                <a:cubicBezTo>
                  <a:pt x="747232" y="-4255"/>
                  <a:pt x="871239" y="55014"/>
                  <a:pt x="1016856" y="0"/>
                </a:cubicBezTo>
                <a:cubicBezTo>
                  <a:pt x="1162474" y="-55014"/>
                  <a:pt x="1493965" y="52076"/>
                  <a:pt x="1690818" y="0"/>
                </a:cubicBezTo>
                <a:cubicBezTo>
                  <a:pt x="1887671" y="-52076"/>
                  <a:pt x="1970927" y="1468"/>
                  <a:pt x="2240630" y="0"/>
                </a:cubicBezTo>
                <a:cubicBezTo>
                  <a:pt x="2510333" y="-1468"/>
                  <a:pt x="2557950" y="40003"/>
                  <a:pt x="2790441" y="0"/>
                </a:cubicBezTo>
                <a:cubicBezTo>
                  <a:pt x="3022932" y="-40003"/>
                  <a:pt x="3310088" y="21670"/>
                  <a:pt x="3464404" y="0"/>
                </a:cubicBezTo>
                <a:cubicBezTo>
                  <a:pt x="3618720" y="-21670"/>
                  <a:pt x="3833490" y="6855"/>
                  <a:pt x="4138366" y="0"/>
                </a:cubicBezTo>
                <a:cubicBezTo>
                  <a:pt x="4169204" y="113775"/>
                  <a:pt x="4120083" y="288260"/>
                  <a:pt x="4138366" y="439758"/>
                </a:cubicBezTo>
                <a:cubicBezTo>
                  <a:pt x="4156649" y="591256"/>
                  <a:pt x="4104574" y="666338"/>
                  <a:pt x="4138366" y="829733"/>
                </a:cubicBezTo>
                <a:cubicBezTo>
                  <a:pt x="4172158" y="993128"/>
                  <a:pt x="4122996" y="1056083"/>
                  <a:pt x="4138366" y="1244599"/>
                </a:cubicBezTo>
                <a:cubicBezTo>
                  <a:pt x="3968187" y="1259628"/>
                  <a:pt x="3810306" y="1183542"/>
                  <a:pt x="3547171" y="1244599"/>
                </a:cubicBezTo>
                <a:cubicBezTo>
                  <a:pt x="3284037" y="1305656"/>
                  <a:pt x="3263691" y="1193063"/>
                  <a:pt x="2997359" y="1244599"/>
                </a:cubicBezTo>
                <a:cubicBezTo>
                  <a:pt x="2731027" y="1296135"/>
                  <a:pt x="2583703" y="1185339"/>
                  <a:pt x="2323397" y="1244599"/>
                </a:cubicBezTo>
                <a:cubicBezTo>
                  <a:pt x="2063091" y="1303859"/>
                  <a:pt x="1967551" y="1176492"/>
                  <a:pt x="1649434" y="1244599"/>
                </a:cubicBezTo>
                <a:cubicBezTo>
                  <a:pt x="1331317" y="1312706"/>
                  <a:pt x="1353086" y="1227684"/>
                  <a:pt x="1141007" y="1244599"/>
                </a:cubicBezTo>
                <a:cubicBezTo>
                  <a:pt x="928928" y="1261514"/>
                  <a:pt x="714111" y="1201875"/>
                  <a:pt x="549811" y="1244599"/>
                </a:cubicBezTo>
                <a:cubicBezTo>
                  <a:pt x="385511" y="1287323"/>
                  <a:pt x="210227" y="1239838"/>
                  <a:pt x="0" y="1244599"/>
                </a:cubicBezTo>
                <a:cubicBezTo>
                  <a:pt x="-45796" y="1053775"/>
                  <a:pt x="35421" y="942792"/>
                  <a:pt x="0" y="829733"/>
                </a:cubicBezTo>
                <a:cubicBezTo>
                  <a:pt x="-35421" y="716674"/>
                  <a:pt x="26161" y="626812"/>
                  <a:pt x="0" y="439758"/>
                </a:cubicBezTo>
                <a:cubicBezTo>
                  <a:pt x="-26161" y="252705"/>
                  <a:pt x="19426" y="187179"/>
                  <a:pt x="0" y="0"/>
                </a:cubicBezTo>
                <a:close/>
              </a:path>
            </a:pathLst>
          </a:custGeom>
          <a:noFill/>
          <a:ln w="82550">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D9CDD1E-8E7D-8273-9B23-AAC05389A4DB}"/>
              </a:ext>
            </a:extLst>
          </p:cNvPr>
          <p:cNvSpPr txBox="1"/>
          <p:nvPr/>
        </p:nvSpPr>
        <p:spPr>
          <a:xfrm>
            <a:off x="914399" y="4367063"/>
            <a:ext cx="4512967" cy="461665"/>
          </a:xfrm>
          <a:prstGeom prst="rect">
            <a:avLst/>
          </a:prstGeom>
          <a:solidFill>
            <a:schemeClr val="accent6">
              <a:lumMod val="60000"/>
              <a:lumOff val="40000"/>
            </a:schemeClr>
          </a:solidFill>
        </p:spPr>
        <p:txBody>
          <a:bodyPr wrap="none" rtlCol="0">
            <a:spAutoFit/>
          </a:bodyPr>
          <a:lstStyle/>
          <a:p>
            <a:r>
              <a:rPr lang="en-US" sz="2400" dirty="0"/>
              <a:t>Wait for events under the frontier</a:t>
            </a:r>
          </a:p>
        </p:txBody>
      </p:sp>
      <p:sp>
        <p:nvSpPr>
          <p:cNvPr id="13" name="TextBox 12">
            <a:extLst>
              <a:ext uri="{FF2B5EF4-FFF2-40B4-BE49-F238E27FC236}">
                <a16:creationId xmlns:a16="http://schemas.microsoft.com/office/drawing/2014/main" id="{495F146C-5810-3252-5A38-EF86F0852B9A}"/>
              </a:ext>
            </a:extLst>
          </p:cNvPr>
          <p:cNvSpPr txBox="1"/>
          <p:nvPr/>
        </p:nvSpPr>
        <p:spPr>
          <a:xfrm>
            <a:off x="914399" y="5504961"/>
            <a:ext cx="5975225" cy="461665"/>
          </a:xfrm>
          <a:prstGeom prst="rect">
            <a:avLst/>
          </a:prstGeom>
          <a:solidFill>
            <a:schemeClr val="accent6">
              <a:lumMod val="60000"/>
              <a:lumOff val="40000"/>
            </a:schemeClr>
          </a:solidFill>
        </p:spPr>
        <p:txBody>
          <a:bodyPr wrap="none" rtlCol="0">
            <a:spAutoFit/>
          </a:bodyPr>
          <a:lstStyle/>
          <a:p>
            <a:r>
              <a:rPr lang="en-US" sz="2400" dirty="0"/>
              <a:t>Computer fair ordering of the current events</a:t>
            </a:r>
          </a:p>
        </p:txBody>
      </p:sp>
      <p:sp>
        <p:nvSpPr>
          <p:cNvPr id="14" name="TextBox 13">
            <a:extLst>
              <a:ext uri="{FF2B5EF4-FFF2-40B4-BE49-F238E27FC236}">
                <a16:creationId xmlns:a16="http://schemas.microsoft.com/office/drawing/2014/main" id="{AF832B14-68DA-396F-4B01-BD56A281AC6D}"/>
              </a:ext>
            </a:extLst>
          </p:cNvPr>
          <p:cNvSpPr txBox="1"/>
          <p:nvPr/>
        </p:nvSpPr>
        <p:spPr>
          <a:xfrm>
            <a:off x="914399" y="4910709"/>
            <a:ext cx="6008568" cy="461665"/>
          </a:xfrm>
          <a:prstGeom prst="rect">
            <a:avLst/>
          </a:prstGeom>
          <a:solidFill>
            <a:schemeClr val="accent6">
              <a:lumMod val="60000"/>
              <a:lumOff val="40000"/>
            </a:schemeClr>
          </a:solidFill>
        </p:spPr>
        <p:txBody>
          <a:bodyPr wrap="none" rtlCol="0">
            <a:spAutoFit/>
          </a:bodyPr>
          <a:lstStyle/>
          <a:p>
            <a:r>
              <a:rPr lang="en-US" sz="2400" dirty="0"/>
              <a:t>If new events received, repeat last two </a:t>
            </a:r>
            <a:r>
              <a:rPr lang="en-US" sz="2400" dirty="0" err="1"/>
              <a:t>setps</a:t>
            </a:r>
            <a:endParaRPr lang="en-US" sz="2400" dirty="0"/>
          </a:p>
        </p:txBody>
      </p:sp>
    </p:spTree>
    <p:extLst>
      <p:ext uri="{BB962C8B-B14F-4D97-AF65-F5344CB8AC3E}">
        <p14:creationId xmlns:p14="http://schemas.microsoft.com/office/powerpoint/2010/main" val="16186831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2" presetClass="entr" presetSubtype="2"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 calcmode="lin" valueType="num">
                                      <p:cBhvr additive="base">
                                        <p:cTn id="9" dur="500" fill="hold"/>
                                        <p:tgtEl>
                                          <p:spTgt spid="9"/>
                                        </p:tgtEl>
                                        <p:attrNameLst>
                                          <p:attrName>ppt_x</p:attrName>
                                        </p:attrNameLst>
                                      </p:cBhvr>
                                      <p:tavLst>
                                        <p:tav tm="0">
                                          <p:val>
                                            <p:strVal val="1+#ppt_w/2"/>
                                          </p:val>
                                        </p:tav>
                                        <p:tav tm="100000">
                                          <p:val>
                                            <p:strVal val="#ppt_x"/>
                                          </p:val>
                                        </p:tav>
                                      </p:tavLst>
                                    </p:anim>
                                    <p:anim calcmode="lin" valueType="num">
                                      <p:cBhvr additive="base">
                                        <p:cTn id="1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1+#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71ABD-BC63-BD55-4E79-65AB5FA3A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1CFE3-9E45-735D-AF7E-4FDCE6A58720}"/>
              </a:ext>
            </a:extLst>
          </p:cNvPr>
          <p:cNvSpPr>
            <a:spLocks noGrp="1"/>
          </p:cNvSpPr>
          <p:nvPr>
            <p:ph type="title"/>
          </p:nvPr>
        </p:nvSpPr>
        <p:spPr/>
        <p:txBody>
          <a:bodyPr/>
          <a:lstStyle/>
          <a:p>
            <a:r>
              <a:rPr lang="en-US" dirty="0"/>
              <a:t>Ordering in an online setting</a:t>
            </a:r>
          </a:p>
        </p:txBody>
      </p:sp>
      <p:sp>
        <p:nvSpPr>
          <p:cNvPr id="3" name="Content Placeholder 2">
            <a:extLst>
              <a:ext uri="{FF2B5EF4-FFF2-40B4-BE49-F238E27FC236}">
                <a16:creationId xmlns:a16="http://schemas.microsoft.com/office/drawing/2014/main" id="{41910D32-8585-736A-D044-B7368BA50DF5}"/>
              </a:ext>
            </a:extLst>
          </p:cNvPr>
          <p:cNvSpPr>
            <a:spLocks noGrp="1"/>
          </p:cNvSpPr>
          <p:nvPr>
            <p:ph idx="1"/>
          </p:nvPr>
        </p:nvSpPr>
        <p:spPr/>
        <p:txBody>
          <a:bodyPr/>
          <a:lstStyle/>
          <a:p>
            <a:r>
              <a:rPr lang="en-US" dirty="0"/>
              <a:t>Events/messages arrive in a stream</a:t>
            </a:r>
          </a:p>
          <a:p>
            <a:r>
              <a:rPr lang="en-US" dirty="0"/>
              <a:t>Information of all future events may not be available</a:t>
            </a:r>
          </a:p>
        </p:txBody>
      </p:sp>
      <p:sp>
        <p:nvSpPr>
          <p:cNvPr id="4" name="Oval 3">
            <a:extLst>
              <a:ext uri="{FF2B5EF4-FFF2-40B4-BE49-F238E27FC236}">
                <a16:creationId xmlns:a16="http://schemas.microsoft.com/office/drawing/2014/main" id="{469E3061-89EF-75DE-6AE3-E222F51569E3}"/>
              </a:ext>
            </a:extLst>
          </p:cNvPr>
          <p:cNvSpPr/>
          <p:nvPr/>
        </p:nvSpPr>
        <p:spPr>
          <a:xfrm>
            <a:off x="4433839" y="3252751"/>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FF0000"/>
                </a:solidFill>
              </a:rPr>
              <a:t>t</a:t>
            </a:r>
            <a:endParaRPr lang="en-US" dirty="0">
              <a:solidFill>
                <a:srgbClr val="FF0000"/>
              </a:solidFill>
            </a:endParaRPr>
          </a:p>
        </p:txBody>
      </p:sp>
      <p:sp>
        <p:nvSpPr>
          <p:cNvPr id="5" name="TextBox 4">
            <a:extLst>
              <a:ext uri="{FF2B5EF4-FFF2-40B4-BE49-F238E27FC236}">
                <a16:creationId xmlns:a16="http://schemas.microsoft.com/office/drawing/2014/main" id="{408C40C8-E2BF-E44C-4967-186CE9F3DAEF}"/>
              </a:ext>
            </a:extLst>
          </p:cNvPr>
          <p:cNvSpPr txBox="1"/>
          <p:nvPr/>
        </p:nvSpPr>
        <p:spPr>
          <a:xfrm>
            <a:off x="914399" y="3252751"/>
            <a:ext cx="1876989" cy="461665"/>
          </a:xfrm>
          <a:prstGeom prst="rect">
            <a:avLst/>
          </a:prstGeom>
          <a:solidFill>
            <a:schemeClr val="accent6">
              <a:lumMod val="60000"/>
              <a:lumOff val="40000"/>
            </a:schemeClr>
          </a:solidFill>
        </p:spPr>
        <p:txBody>
          <a:bodyPr wrap="none" rtlCol="0">
            <a:spAutoFit/>
          </a:bodyPr>
          <a:lstStyle/>
          <a:p>
            <a:r>
              <a:rPr lang="en-US" sz="2400" dirty="0"/>
              <a:t>Event arrives</a:t>
            </a:r>
          </a:p>
        </p:txBody>
      </p:sp>
      <p:sp>
        <p:nvSpPr>
          <p:cNvPr id="6" name="TextBox 5">
            <a:extLst>
              <a:ext uri="{FF2B5EF4-FFF2-40B4-BE49-F238E27FC236}">
                <a16:creationId xmlns:a16="http://schemas.microsoft.com/office/drawing/2014/main" id="{1A6C7134-E37A-564D-9177-E6DD033BFF1A}"/>
              </a:ext>
            </a:extLst>
          </p:cNvPr>
          <p:cNvSpPr txBox="1"/>
          <p:nvPr/>
        </p:nvSpPr>
        <p:spPr>
          <a:xfrm>
            <a:off x="914399" y="3770461"/>
            <a:ext cx="2676630" cy="461665"/>
          </a:xfrm>
          <a:prstGeom prst="rect">
            <a:avLst/>
          </a:prstGeom>
          <a:solidFill>
            <a:schemeClr val="accent6">
              <a:lumMod val="60000"/>
              <a:lumOff val="40000"/>
            </a:schemeClr>
          </a:solidFill>
        </p:spPr>
        <p:txBody>
          <a:bodyPr wrap="none" rtlCol="0">
            <a:spAutoFit/>
          </a:bodyPr>
          <a:lstStyle/>
          <a:p>
            <a:r>
              <a:rPr lang="en-US" sz="2400" dirty="0"/>
              <a:t>Find stable frontier</a:t>
            </a:r>
          </a:p>
        </p:txBody>
      </p:sp>
      <p:sp>
        <p:nvSpPr>
          <p:cNvPr id="9" name="Oval 8">
            <a:extLst>
              <a:ext uri="{FF2B5EF4-FFF2-40B4-BE49-F238E27FC236}">
                <a16:creationId xmlns:a16="http://schemas.microsoft.com/office/drawing/2014/main" id="{FE68C9BC-2901-A936-416F-628A5ABBAF20}"/>
              </a:ext>
            </a:extLst>
          </p:cNvPr>
          <p:cNvSpPr/>
          <p:nvPr/>
        </p:nvSpPr>
        <p:spPr>
          <a:xfrm>
            <a:off x="5859518" y="3234598"/>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FF0000"/>
                </a:solidFill>
              </a:rPr>
              <a:t>t</a:t>
            </a:r>
            <a:r>
              <a:rPr lang="en-US" sz="5400" baseline="-25000" dirty="0">
                <a:solidFill>
                  <a:srgbClr val="FF0000"/>
                </a:solidFill>
              </a:rPr>
              <a:t>1</a:t>
            </a:r>
            <a:endParaRPr lang="en-US" baseline="-25000" dirty="0">
              <a:solidFill>
                <a:srgbClr val="FF0000"/>
              </a:solidFill>
            </a:endParaRPr>
          </a:p>
        </p:txBody>
      </p:sp>
      <p:sp>
        <p:nvSpPr>
          <p:cNvPr id="10" name="Oval 9">
            <a:extLst>
              <a:ext uri="{FF2B5EF4-FFF2-40B4-BE49-F238E27FC236}">
                <a16:creationId xmlns:a16="http://schemas.microsoft.com/office/drawing/2014/main" id="{71B929E5-F1DC-944B-11B7-26399EF490C5}"/>
              </a:ext>
            </a:extLst>
          </p:cNvPr>
          <p:cNvSpPr/>
          <p:nvPr/>
        </p:nvSpPr>
        <p:spPr>
          <a:xfrm>
            <a:off x="7180980" y="3215652"/>
            <a:ext cx="1191491" cy="997528"/>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FF0000"/>
                </a:solidFill>
              </a:rPr>
              <a:t>t</a:t>
            </a:r>
            <a:r>
              <a:rPr lang="en-US" sz="5400" baseline="-25000" dirty="0">
                <a:solidFill>
                  <a:srgbClr val="FF0000"/>
                </a:solidFill>
              </a:rPr>
              <a:t>2</a:t>
            </a:r>
            <a:endParaRPr lang="en-US" baseline="-25000" dirty="0">
              <a:solidFill>
                <a:srgbClr val="FF0000"/>
              </a:solidFill>
            </a:endParaRPr>
          </a:p>
        </p:txBody>
      </p:sp>
      <p:sp>
        <p:nvSpPr>
          <p:cNvPr id="11" name="Rectangle 10">
            <a:extLst>
              <a:ext uri="{FF2B5EF4-FFF2-40B4-BE49-F238E27FC236}">
                <a16:creationId xmlns:a16="http://schemas.microsoft.com/office/drawing/2014/main" id="{D679DD06-498B-A33D-082A-270D931F5565}"/>
              </a:ext>
            </a:extLst>
          </p:cNvPr>
          <p:cNvSpPr/>
          <p:nvPr/>
        </p:nvSpPr>
        <p:spPr>
          <a:xfrm>
            <a:off x="4386080" y="3081473"/>
            <a:ext cx="4138366" cy="1244599"/>
          </a:xfrm>
          <a:custGeom>
            <a:avLst/>
            <a:gdLst>
              <a:gd name="csX0" fmla="*/ 0 w 4138366"/>
              <a:gd name="csY0" fmla="*/ 0 h 1244599"/>
              <a:gd name="csX1" fmla="*/ 549811 w 4138366"/>
              <a:gd name="csY1" fmla="*/ 0 h 1244599"/>
              <a:gd name="csX2" fmla="*/ 1016856 w 4138366"/>
              <a:gd name="csY2" fmla="*/ 0 h 1244599"/>
              <a:gd name="csX3" fmla="*/ 1690818 w 4138366"/>
              <a:gd name="csY3" fmla="*/ 0 h 1244599"/>
              <a:gd name="csX4" fmla="*/ 2240630 w 4138366"/>
              <a:gd name="csY4" fmla="*/ 0 h 1244599"/>
              <a:gd name="csX5" fmla="*/ 2790441 w 4138366"/>
              <a:gd name="csY5" fmla="*/ 0 h 1244599"/>
              <a:gd name="csX6" fmla="*/ 3464404 w 4138366"/>
              <a:gd name="csY6" fmla="*/ 0 h 1244599"/>
              <a:gd name="csX7" fmla="*/ 4138366 w 4138366"/>
              <a:gd name="csY7" fmla="*/ 0 h 1244599"/>
              <a:gd name="csX8" fmla="*/ 4138366 w 4138366"/>
              <a:gd name="csY8" fmla="*/ 439758 h 1244599"/>
              <a:gd name="csX9" fmla="*/ 4138366 w 4138366"/>
              <a:gd name="csY9" fmla="*/ 829733 h 1244599"/>
              <a:gd name="csX10" fmla="*/ 4138366 w 4138366"/>
              <a:gd name="csY10" fmla="*/ 1244599 h 1244599"/>
              <a:gd name="csX11" fmla="*/ 3547171 w 4138366"/>
              <a:gd name="csY11" fmla="*/ 1244599 h 1244599"/>
              <a:gd name="csX12" fmla="*/ 2997359 w 4138366"/>
              <a:gd name="csY12" fmla="*/ 1244599 h 1244599"/>
              <a:gd name="csX13" fmla="*/ 2323397 w 4138366"/>
              <a:gd name="csY13" fmla="*/ 1244599 h 1244599"/>
              <a:gd name="csX14" fmla="*/ 1649434 w 4138366"/>
              <a:gd name="csY14" fmla="*/ 1244599 h 1244599"/>
              <a:gd name="csX15" fmla="*/ 1141007 w 4138366"/>
              <a:gd name="csY15" fmla="*/ 1244599 h 1244599"/>
              <a:gd name="csX16" fmla="*/ 549811 w 4138366"/>
              <a:gd name="csY16" fmla="*/ 1244599 h 1244599"/>
              <a:gd name="csX17" fmla="*/ 0 w 4138366"/>
              <a:gd name="csY17" fmla="*/ 1244599 h 1244599"/>
              <a:gd name="csX18" fmla="*/ 0 w 4138366"/>
              <a:gd name="csY18" fmla="*/ 829733 h 1244599"/>
              <a:gd name="csX19" fmla="*/ 0 w 4138366"/>
              <a:gd name="csY19" fmla="*/ 439758 h 1244599"/>
              <a:gd name="csX20" fmla="*/ 0 w 4138366"/>
              <a:gd name="csY20" fmla="*/ 0 h 124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38366" h="1244599" extrusionOk="0">
                <a:moveTo>
                  <a:pt x="0" y="0"/>
                </a:moveTo>
                <a:cubicBezTo>
                  <a:pt x="219922" y="-12441"/>
                  <a:pt x="352390" y="4255"/>
                  <a:pt x="549811" y="0"/>
                </a:cubicBezTo>
                <a:cubicBezTo>
                  <a:pt x="747232" y="-4255"/>
                  <a:pt x="871239" y="55014"/>
                  <a:pt x="1016856" y="0"/>
                </a:cubicBezTo>
                <a:cubicBezTo>
                  <a:pt x="1162474" y="-55014"/>
                  <a:pt x="1493965" y="52076"/>
                  <a:pt x="1690818" y="0"/>
                </a:cubicBezTo>
                <a:cubicBezTo>
                  <a:pt x="1887671" y="-52076"/>
                  <a:pt x="1970927" y="1468"/>
                  <a:pt x="2240630" y="0"/>
                </a:cubicBezTo>
                <a:cubicBezTo>
                  <a:pt x="2510333" y="-1468"/>
                  <a:pt x="2557950" y="40003"/>
                  <a:pt x="2790441" y="0"/>
                </a:cubicBezTo>
                <a:cubicBezTo>
                  <a:pt x="3022932" y="-40003"/>
                  <a:pt x="3310088" y="21670"/>
                  <a:pt x="3464404" y="0"/>
                </a:cubicBezTo>
                <a:cubicBezTo>
                  <a:pt x="3618720" y="-21670"/>
                  <a:pt x="3833490" y="6855"/>
                  <a:pt x="4138366" y="0"/>
                </a:cubicBezTo>
                <a:cubicBezTo>
                  <a:pt x="4169204" y="113775"/>
                  <a:pt x="4120083" y="288260"/>
                  <a:pt x="4138366" y="439758"/>
                </a:cubicBezTo>
                <a:cubicBezTo>
                  <a:pt x="4156649" y="591256"/>
                  <a:pt x="4104574" y="666338"/>
                  <a:pt x="4138366" y="829733"/>
                </a:cubicBezTo>
                <a:cubicBezTo>
                  <a:pt x="4172158" y="993128"/>
                  <a:pt x="4122996" y="1056083"/>
                  <a:pt x="4138366" y="1244599"/>
                </a:cubicBezTo>
                <a:cubicBezTo>
                  <a:pt x="3968187" y="1259628"/>
                  <a:pt x="3810306" y="1183542"/>
                  <a:pt x="3547171" y="1244599"/>
                </a:cubicBezTo>
                <a:cubicBezTo>
                  <a:pt x="3284037" y="1305656"/>
                  <a:pt x="3263691" y="1193063"/>
                  <a:pt x="2997359" y="1244599"/>
                </a:cubicBezTo>
                <a:cubicBezTo>
                  <a:pt x="2731027" y="1296135"/>
                  <a:pt x="2583703" y="1185339"/>
                  <a:pt x="2323397" y="1244599"/>
                </a:cubicBezTo>
                <a:cubicBezTo>
                  <a:pt x="2063091" y="1303859"/>
                  <a:pt x="1967551" y="1176492"/>
                  <a:pt x="1649434" y="1244599"/>
                </a:cubicBezTo>
                <a:cubicBezTo>
                  <a:pt x="1331317" y="1312706"/>
                  <a:pt x="1353086" y="1227684"/>
                  <a:pt x="1141007" y="1244599"/>
                </a:cubicBezTo>
                <a:cubicBezTo>
                  <a:pt x="928928" y="1261514"/>
                  <a:pt x="714111" y="1201875"/>
                  <a:pt x="549811" y="1244599"/>
                </a:cubicBezTo>
                <a:cubicBezTo>
                  <a:pt x="385511" y="1287323"/>
                  <a:pt x="210227" y="1239838"/>
                  <a:pt x="0" y="1244599"/>
                </a:cubicBezTo>
                <a:cubicBezTo>
                  <a:pt x="-45796" y="1053775"/>
                  <a:pt x="35421" y="942792"/>
                  <a:pt x="0" y="829733"/>
                </a:cubicBezTo>
                <a:cubicBezTo>
                  <a:pt x="-35421" y="716674"/>
                  <a:pt x="26161" y="626812"/>
                  <a:pt x="0" y="439758"/>
                </a:cubicBezTo>
                <a:cubicBezTo>
                  <a:pt x="-26161" y="252705"/>
                  <a:pt x="19426" y="187179"/>
                  <a:pt x="0" y="0"/>
                </a:cubicBezTo>
                <a:close/>
              </a:path>
            </a:pathLst>
          </a:custGeom>
          <a:noFill/>
          <a:ln w="82550">
            <a:solidFill>
              <a:srgbClr val="7030A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15626C-457A-FBC4-3793-CEBCF03B766D}"/>
              </a:ext>
            </a:extLst>
          </p:cNvPr>
          <p:cNvSpPr txBox="1"/>
          <p:nvPr/>
        </p:nvSpPr>
        <p:spPr>
          <a:xfrm>
            <a:off x="914399" y="6123033"/>
            <a:ext cx="792205" cy="461665"/>
          </a:xfrm>
          <a:prstGeom prst="rect">
            <a:avLst/>
          </a:prstGeom>
          <a:solidFill>
            <a:schemeClr val="accent6">
              <a:lumMod val="60000"/>
              <a:lumOff val="40000"/>
            </a:schemeClr>
          </a:solidFill>
        </p:spPr>
        <p:txBody>
          <a:bodyPr wrap="none" rtlCol="0">
            <a:spAutoFit/>
          </a:bodyPr>
          <a:lstStyle/>
          <a:p>
            <a:r>
              <a:rPr lang="en-US" sz="2400" dirty="0"/>
              <a:t>Emit</a:t>
            </a:r>
          </a:p>
        </p:txBody>
      </p:sp>
      <p:sp>
        <p:nvSpPr>
          <p:cNvPr id="8" name="TextBox 7">
            <a:extLst>
              <a:ext uri="{FF2B5EF4-FFF2-40B4-BE49-F238E27FC236}">
                <a16:creationId xmlns:a16="http://schemas.microsoft.com/office/drawing/2014/main" id="{7C272CC7-5172-704C-1DBD-C0D09EA408E8}"/>
              </a:ext>
            </a:extLst>
          </p:cNvPr>
          <p:cNvSpPr txBox="1"/>
          <p:nvPr/>
        </p:nvSpPr>
        <p:spPr>
          <a:xfrm>
            <a:off x="1852894" y="6112150"/>
            <a:ext cx="1127745" cy="461665"/>
          </a:xfrm>
          <a:prstGeom prst="rect">
            <a:avLst/>
          </a:prstGeom>
          <a:solidFill>
            <a:schemeClr val="accent6">
              <a:lumMod val="60000"/>
              <a:lumOff val="40000"/>
            </a:schemeClr>
          </a:solidFill>
        </p:spPr>
        <p:txBody>
          <a:bodyPr wrap="none" rtlCol="0">
            <a:spAutoFit/>
          </a:bodyPr>
          <a:lstStyle/>
          <a:p>
            <a:r>
              <a:rPr lang="en-US" sz="2400" dirty="0"/>
              <a:t>Repeat</a:t>
            </a:r>
          </a:p>
        </p:txBody>
      </p:sp>
      <p:sp>
        <p:nvSpPr>
          <p:cNvPr id="15" name="TextBox 14">
            <a:extLst>
              <a:ext uri="{FF2B5EF4-FFF2-40B4-BE49-F238E27FC236}">
                <a16:creationId xmlns:a16="http://schemas.microsoft.com/office/drawing/2014/main" id="{DDF7DAE6-9F46-A5FB-55DD-497427504A93}"/>
              </a:ext>
            </a:extLst>
          </p:cNvPr>
          <p:cNvSpPr txBox="1"/>
          <p:nvPr/>
        </p:nvSpPr>
        <p:spPr>
          <a:xfrm>
            <a:off x="914399" y="4367063"/>
            <a:ext cx="4512967" cy="461665"/>
          </a:xfrm>
          <a:prstGeom prst="rect">
            <a:avLst/>
          </a:prstGeom>
          <a:solidFill>
            <a:schemeClr val="accent6">
              <a:lumMod val="60000"/>
              <a:lumOff val="40000"/>
            </a:schemeClr>
          </a:solidFill>
        </p:spPr>
        <p:txBody>
          <a:bodyPr wrap="none" rtlCol="0">
            <a:spAutoFit/>
          </a:bodyPr>
          <a:lstStyle/>
          <a:p>
            <a:r>
              <a:rPr lang="en-US" sz="2400" dirty="0"/>
              <a:t>Wait for events under the frontier</a:t>
            </a:r>
          </a:p>
        </p:txBody>
      </p:sp>
      <p:sp>
        <p:nvSpPr>
          <p:cNvPr id="16" name="TextBox 15">
            <a:extLst>
              <a:ext uri="{FF2B5EF4-FFF2-40B4-BE49-F238E27FC236}">
                <a16:creationId xmlns:a16="http://schemas.microsoft.com/office/drawing/2014/main" id="{9BF73A2D-B48D-FB95-4CAE-C61E00C013E3}"/>
              </a:ext>
            </a:extLst>
          </p:cNvPr>
          <p:cNvSpPr txBox="1"/>
          <p:nvPr/>
        </p:nvSpPr>
        <p:spPr>
          <a:xfrm>
            <a:off x="914399" y="5504961"/>
            <a:ext cx="5975225" cy="461665"/>
          </a:xfrm>
          <a:prstGeom prst="rect">
            <a:avLst/>
          </a:prstGeom>
          <a:solidFill>
            <a:schemeClr val="accent6">
              <a:lumMod val="60000"/>
              <a:lumOff val="40000"/>
            </a:schemeClr>
          </a:solidFill>
        </p:spPr>
        <p:txBody>
          <a:bodyPr wrap="none" rtlCol="0">
            <a:spAutoFit/>
          </a:bodyPr>
          <a:lstStyle/>
          <a:p>
            <a:r>
              <a:rPr lang="en-US" sz="2400" dirty="0"/>
              <a:t>Computer fair ordering of the current events</a:t>
            </a:r>
          </a:p>
        </p:txBody>
      </p:sp>
      <p:sp>
        <p:nvSpPr>
          <p:cNvPr id="17" name="TextBox 16">
            <a:extLst>
              <a:ext uri="{FF2B5EF4-FFF2-40B4-BE49-F238E27FC236}">
                <a16:creationId xmlns:a16="http://schemas.microsoft.com/office/drawing/2014/main" id="{94D13EDD-387C-38A3-B79C-F0D37E27E45B}"/>
              </a:ext>
            </a:extLst>
          </p:cNvPr>
          <p:cNvSpPr txBox="1"/>
          <p:nvPr/>
        </p:nvSpPr>
        <p:spPr>
          <a:xfrm>
            <a:off x="914399" y="4910709"/>
            <a:ext cx="6008568" cy="461665"/>
          </a:xfrm>
          <a:prstGeom prst="rect">
            <a:avLst/>
          </a:prstGeom>
          <a:solidFill>
            <a:schemeClr val="accent6">
              <a:lumMod val="60000"/>
              <a:lumOff val="40000"/>
            </a:schemeClr>
          </a:solidFill>
        </p:spPr>
        <p:txBody>
          <a:bodyPr wrap="none" rtlCol="0">
            <a:spAutoFit/>
          </a:bodyPr>
          <a:lstStyle/>
          <a:p>
            <a:r>
              <a:rPr lang="en-US" sz="2400" dirty="0"/>
              <a:t>If new events received, repeat last two </a:t>
            </a:r>
            <a:r>
              <a:rPr lang="en-US" sz="2400" dirty="0" err="1"/>
              <a:t>setps</a:t>
            </a:r>
            <a:endParaRPr lang="en-US" sz="2400" dirty="0"/>
          </a:p>
        </p:txBody>
      </p:sp>
    </p:spTree>
    <p:extLst>
      <p:ext uri="{BB962C8B-B14F-4D97-AF65-F5344CB8AC3E}">
        <p14:creationId xmlns:p14="http://schemas.microsoft.com/office/powerpoint/2010/main" val="6692749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grpId="0" nodeType="withEffect">
                                  <p:stCondLst>
                                    <p:cond delay="0"/>
                                  </p:stCondLst>
                                  <p:childTnLst>
                                    <p:animMotion origin="layout" path="M 4.16667E-6 1.48148E-6 L -0.03047 0.03403 C -0.03672 0.04167 -0.04623 0.04583 -0.05625 0.04583 C -0.06758 0.04583 -0.0767 0.04167 -0.08295 0.03403 L -0.11329 1.48148E-6 " pathEditMode="relative" rAng="0" ptsTypes="AAAAA">
                                      <p:cBhvr>
                                        <p:cTn id="6" dur="2000" fill="hold"/>
                                        <p:tgtEl>
                                          <p:spTgt spid="9"/>
                                        </p:tgtEl>
                                        <p:attrNameLst>
                                          <p:attrName>ppt_x</p:attrName>
                                          <p:attrName>ppt_y</p:attrName>
                                        </p:attrNameLst>
                                      </p:cBhvr>
                                      <p:rCtr x="-5664" y="2292"/>
                                    </p:animMotion>
                                  </p:childTnLst>
                                </p:cTn>
                              </p:par>
                              <p:par>
                                <p:cTn id="7" presetID="37" presetClass="path" presetSubtype="0" accel="50000" decel="50000" fill="hold" grpId="0" nodeType="withEffect">
                                  <p:stCondLst>
                                    <p:cond delay="0"/>
                                  </p:stCondLst>
                                  <p:childTnLst>
                                    <p:animMotion origin="layout" path="M 0.00365 -0.00254 L 0.03529 0.03542 C 0.0418 0.04399 0.0517 0.04862 0.06211 0.04862 C 0.07383 0.04862 0.08334 0.04399 0.08985 0.03542 L 0.12162 -0.00254 " pathEditMode="relative" rAng="0" ptsTypes="AAAAA">
                                      <p:cBhvr>
                                        <p:cTn id="8" dur="2000" fill="hold"/>
                                        <p:tgtEl>
                                          <p:spTgt spid="4"/>
                                        </p:tgtEl>
                                        <p:attrNameLst>
                                          <p:attrName>ppt_x</p:attrName>
                                          <p:attrName>ppt_y</p:attrName>
                                        </p:attrNameLst>
                                      </p:cBhvr>
                                      <p:rCtr x="5898" y="2546"/>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grpId="1" nodeType="clickEffect">
                                  <p:stCondLst>
                                    <p:cond delay="0"/>
                                  </p:stCondLst>
                                  <p:childTnLst>
                                    <p:anim calcmode="lin" valueType="num">
                                      <p:cBhvr additive="base">
                                        <p:cTn id="16" dur="500"/>
                                        <p:tgtEl>
                                          <p:spTgt spid="4"/>
                                        </p:tgtEl>
                                        <p:attrNameLst>
                                          <p:attrName>ppt_x</p:attrName>
                                        </p:attrNameLst>
                                      </p:cBhvr>
                                      <p:tavLst>
                                        <p:tav tm="0">
                                          <p:val>
                                            <p:strVal val="ppt_x"/>
                                          </p:val>
                                        </p:tav>
                                        <p:tav tm="100000">
                                          <p:val>
                                            <p:strVal val="0-ppt_w/2"/>
                                          </p:val>
                                        </p:tav>
                                      </p:tavLst>
                                    </p:anim>
                                    <p:anim calcmode="lin" valueType="num">
                                      <p:cBhvr additive="base">
                                        <p:cTn id="17" dur="500"/>
                                        <p:tgtEl>
                                          <p:spTgt spid="4"/>
                                        </p:tgtEl>
                                        <p:attrNameLst>
                                          <p:attrName>ppt_y</p:attrName>
                                        </p:attrNameLst>
                                      </p:cBhvr>
                                      <p:tavLst>
                                        <p:tav tm="0">
                                          <p:val>
                                            <p:strVal val="ppt_y"/>
                                          </p:val>
                                        </p:tav>
                                        <p:tav tm="100000">
                                          <p:val>
                                            <p:strVal val="ppt_y"/>
                                          </p:val>
                                        </p:tav>
                                      </p:tavLst>
                                    </p:anim>
                                    <p:set>
                                      <p:cBhvr>
                                        <p:cTn id="18" dur="1" fill="hold">
                                          <p:stCondLst>
                                            <p:cond delay="499"/>
                                          </p:stCondLst>
                                        </p:cTn>
                                        <p:tgtEl>
                                          <p:spTgt spid="4"/>
                                        </p:tgtEl>
                                        <p:attrNameLst>
                                          <p:attrName>style.visibility</p:attrName>
                                        </p:attrNameLst>
                                      </p:cBhvr>
                                      <p:to>
                                        <p:strVal val="hidden"/>
                                      </p:to>
                                    </p:set>
                                  </p:childTnLst>
                                </p:cTn>
                              </p:par>
                              <p:par>
                                <p:cTn id="19" presetID="2" presetClass="exit" presetSubtype="8" fill="hold" grpId="1" nodeType="withEffect">
                                  <p:stCondLst>
                                    <p:cond delay="0"/>
                                  </p:stCondLst>
                                  <p:childTnLst>
                                    <p:anim calcmode="lin" valueType="num">
                                      <p:cBhvr additive="base">
                                        <p:cTn id="20" dur="500"/>
                                        <p:tgtEl>
                                          <p:spTgt spid="9"/>
                                        </p:tgtEl>
                                        <p:attrNameLst>
                                          <p:attrName>ppt_x</p:attrName>
                                        </p:attrNameLst>
                                      </p:cBhvr>
                                      <p:tavLst>
                                        <p:tav tm="0">
                                          <p:val>
                                            <p:strVal val="ppt_x"/>
                                          </p:val>
                                        </p:tav>
                                        <p:tav tm="100000">
                                          <p:val>
                                            <p:strVal val="0-ppt_w/2"/>
                                          </p:val>
                                        </p:tav>
                                      </p:tavLst>
                                    </p:anim>
                                    <p:anim calcmode="lin" valueType="num">
                                      <p:cBhvr additive="base">
                                        <p:cTn id="21" dur="500"/>
                                        <p:tgtEl>
                                          <p:spTgt spid="9"/>
                                        </p:tgtEl>
                                        <p:attrNameLst>
                                          <p:attrName>ppt_y</p:attrName>
                                        </p:attrNameLst>
                                      </p:cBhvr>
                                      <p:tavLst>
                                        <p:tav tm="0">
                                          <p:val>
                                            <p:strVal val="ppt_y"/>
                                          </p:val>
                                        </p:tav>
                                        <p:tav tm="100000">
                                          <p:val>
                                            <p:strVal val="ppt_y"/>
                                          </p:val>
                                        </p:tav>
                                      </p:tavLst>
                                    </p:anim>
                                    <p:set>
                                      <p:cBhvr>
                                        <p:cTn id="22" dur="1" fill="hold">
                                          <p:stCondLst>
                                            <p:cond delay="499"/>
                                          </p:stCondLst>
                                        </p:cTn>
                                        <p:tgtEl>
                                          <p:spTgt spid="9"/>
                                        </p:tgtEl>
                                        <p:attrNameLst>
                                          <p:attrName>style.visibility</p:attrName>
                                        </p:attrNameLst>
                                      </p:cBhvr>
                                      <p:to>
                                        <p:strVal val="hidden"/>
                                      </p:to>
                                    </p:set>
                                  </p:childTnLst>
                                </p:cTn>
                              </p:par>
                              <p:par>
                                <p:cTn id="23" presetID="2" presetClass="exit" presetSubtype="8" fill="hold" grpId="0" nodeType="withEffect">
                                  <p:stCondLst>
                                    <p:cond delay="0"/>
                                  </p:stCondLst>
                                  <p:childTnLst>
                                    <p:anim calcmode="lin" valueType="num">
                                      <p:cBhvr additive="base">
                                        <p:cTn id="24" dur="500"/>
                                        <p:tgtEl>
                                          <p:spTgt spid="10"/>
                                        </p:tgtEl>
                                        <p:attrNameLst>
                                          <p:attrName>ppt_x</p:attrName>
                                        </p:attrNameLst>
                                      </p:cBhvr>
                                      <p:tavLst>
                                        <p:tav tm="0">
                                          <p:val>
                                            <p:strVal val="ppt_x"/>
                                          </p:val>
                                        </p:tav>
                                        <p:tav tm="100000">
                                          <p:val>
                                            <p:strVal val="0-ppt_w/2"/>
                                          </p:val>
                                        </p:tav>
                                      </p:tavLst>
                                    </p:anim>
                                    <p:anim calcmode="lin" valueType="num">
                                      <p:cBhvr additive="base">
                                        <p:cTn id="25" dur="500"/>
                                        <p:tgtEl>
                                          <p:spTgt spid="10"/>
                                        </p:tgtEl>
                                        <p:attrNameLst>
                                          <p:attrName>ppt_y</p:attrName>
                                        </p:attrNameLst>
                                      </p:cBhvr>
                                      <p:tavLst>
                                        <p:tav tm="0">
                                          <p:val>
                                            <p:strVal val="ppt_y"/>
                                          </p:val>
                                        </p:tav>
                                        <p:tav tm="100000">
                                          <p:val>
                                            <p:strVal val="ppt_y"/>
                                          </p:val>
                                        </p:tav>
                                      </p:tavLst>
                                    </p:anim>
                                    <p:set>
                                      <p:cBhvr>
                                        <p:cTn id="26" dur="1" fill="hold">
                                          <p:stCondLst>
                                            <p:cond delay="499"/>
                                          </p:stCondLst>
                                        </p:cTn>
                                        <p:tgtEl>
                                          <p:spTgt spid="10"/>
                                        </p:tgtEl>
                                        <p:attrNameLst>
                                          <p:attrName>style.visibility</p:attrName>
                                        </p:attrNameLst>
                                      </p:cBhvr>
                                      <p:to>
                                        <p:strVal val="hidden"/>
                                      </p:to>
                                    </p:set>
                                  </p:childTnLst>
                                </p:cTn>
                              </p:par>
                              <p:par>
                                <p:cTn id="27" presetID="2" presetClass="exit" presetSubtype="8" fill="hold" grpId="0" nodeType="withEffect">
                                  <p:stCondLst>
                                    <p:cond delay="0"/>
                                  </p:stCondLst>
                                  <p:childTnLst>
                                    <p:anim calcmode="lin" valueType="num">
                                      <p:cBhvr additive="base">
                                        <p:cTn id="28" dur="500"/>
                                        <p:tgtEl>
                                          <p:spTgt spid="11"/>
                                        </p:tgtEl>
                                        <p:attrNameLst>
                                          <p:attrName>ppt_x</p:attrName>
                                        </p:attrNameLst>
                                      </p:cBhvr>
                                      <p:tavLst>
                                        <p:tav tm="0">
                                          <p:val>
                                            <p:strVal val="ppt_x"/>
                                          </p:val>
                                        </p:tav>
                                        <p:tav tm="100000">
                                          <p:val>
                                            <p:strVal val="0-ppt_w/2"/>
                                          </p:val>
                                        </p:tav>
                                      </p:tavLst>
                                    </p:anim>
                                    <p:anim calcmode="lin" valueType="num">
                                      <p:cBhvr additive="base">
                                        <p:cTn id="29" dur="500"/>
                                        <p:tgtEl>
                                          <p:spTgt spid="11"/>
                                        </p:tgtEl>
                                        <p:attrNameLst>
                                          <p:attrName>ppt_y</p:attrName>
                                        </p:attrNameLst>
                                      </p:cBhvr>
                                      <p:tavLst>
                                        <p:tav tm="0">
                                          <p:val>
                                            <p:strVal val="ppt_y"/>
                                          </p:val>
                                        </p:tav>
                                        <p:tav tm="100000">
                                          <p:val>
                                            <p:strVal val="ppt_y"/>
                                          </p:val>
                                        </p:tav>
                                      </p:tavLst>
                                    </p:anim>
                                    <p:set>
                                      <p:cBhvr>
                                        <p:cTn id="30" dur="1" fill="hold">
                                          <p:stCondLst>
                                            <p:cond delay="499"/>
                                          </p:stCondLst>
                                        </p:cTn>
                                        <p:tgtEl>
                                          <p:spTgt spid="1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9" grpId="0" animBg="1"/>
      <p:bldP spid="9" grpId="1" animBg="1"/>
      <p:bldP spid="10" grpId="0" animBg="1"/>
      <p:bldP spid="11" grpId="0" animBg="1"/>
      <p:bldP spid="7" grpId="0" animBg="1"/>
      <p:bldP spid="8"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Shape 413">
          <a:extLst>
            <a:ext uri="{FF2B5EF4-FFF2-40B4-BE49-F238E27FC236}">
              <a16:creationId xmlns:a16="http://schemas.microsoft.com/office/drawing/2014/main" id="{45BDC08B-420F-55D1-2676-E70270E2A98B}"/>
            </a:ext>
          </a:extLst>
        </p:cNvPr>
        <p:cNvGrpSpPr/>
        <p:nvPr/>
      </p:nvGrpSpPr>
      <p:grpSpPr>
        <a:xfrm>
          <a:off x="0" y="0"/>
          <a:ext cx="0" cy="0"/>
          <a:chOff x="0" y="0"/>
          <a:chExt cx="0" cy="0"/>
        </a:xfrm>
      </p:grpSpPr>
      <p:sp>
        <p:nvSpPr>
          <p:cNvPr id="419" name="Freeform: Shape 418">
            <a:extLst>
              <a:ext uri="{FF2B5EF4-FFF2-40B4-BE49-F238E27FC236}">
                <a16:creationId xmlns:a16="http://schemas.microsoft.com/office/drawing/2014/main" id="{8F641E44-1744-D20C-E8C9-3D63122B9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1" name="Freeform: Shape 420">
            <a:extLst>
              <a:ext uri="{FF2B5EF4-FFF2-40B4-BE49-F238E27FC236}">
                <a16:creationId xmlns:a16="http://schemas.microsoft.com/office/drawing/2014/main" id="{DEC8A7A8-7E05-9E00-0AE6-17C8F0E69A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4" name="Google Shape;414;p36">
            <a:extLst>
              <a:ext uri="{FF2B5EF4-FFF2-40B4-BE49-F238E27FC236}">
                <a16:creationId xmlns:a16="http://schemas.microsoft.com/office/drawing/2014/main" id="{C783B411-76D9-5EAF-0D9D-DF509142C7C1}"/>
              </a:ext>
            </a:extLst>
          </p:cNvPr>
          <p:cNvSpPr txBox="1">
            <a:spLocks noGrp="1"/>
          </p:cNvSpPr>
          <p:nvPr>
            <p:ph type="title"/>
          </p:nvPr>
        </p:nvSpPr>
        <p:spPr>
          <a:xfrm>
            <a:off x="2555631" y="1441938"/>
            <a:ext cx="7080738" cy="3974124"/>
          </a:xfrm>
        </p:spPr>
        <p:txBody>
          <a:bodyPr spcFirstLastPara="1" vert="horz" lIns="91440" tIns="45720" rIns="91440" bIns="45720" rtlCol="0" anchor="ctr" anchorCtr="0">
            <a:normAutofit/>
          </a:bodyPr>
          <a:lstStyle/>
          <a:p>
            <a:pPr algn="ctr">
              <a:spcBef>
                <a:spcPct val="0"/>
              </a:spcBef>
            </a:pPr>
            <a:r>
              <a:rPr lang="en-US" sz="5400">
                <a:solidFill>
                  <a:schemeClr val="bg1">
                    <a:lumMod val="95000"/>
                    <a:lumOff val="5000"/>
                  </a:schemeClr>
                </a:solidFill>
              </a:rPr>
              <a:t>Evaluation</a:t>
            </a:r>
          </a:p>
        </p:txBody>
      </p:sp>
    </p:spTree>
    <p:extLst>
      <p:ext uri="{BB962C8B-B14F-4D97-AF65-F5344CB8AC3E}">
        <p14:creationId xmlns:p14="http://schemas.microsoft.com/office/powerpoint/2010/main" val="3252482718"/>
      </p:ext>
    </p:extLst>
  </p:cSld>
  <p:clrMapOvr>
    <a:overrideClrMapping bg1="dk1" tx1="lt1" bg2="dk2" tx2="lt2" accent1="accent1" accent2="accent2" accent3="accent3" accent4="accent4" accent5="accent5" accent6="accent6" hlink="hlink" folHlink="folHlink"/>
  </p:clrMapOvr>
  <p:transition spd="med">
    <p:push dir="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8DED1-D649-8359-EEC8-B428BE564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BBB5B-9B81-9DDD-7599-A460E6E34D5A}"/>
              </a:ext>
            </a:extLst>
          </p:cNvPr>
          <p:cNvSpPr>
            <a:spLocks noGrp="1"/>
          </p:cNvSpPr>
          <p:nvPr>
            <p:ph type="title"/>
          </p:nvPr>
        </p:nvSpPr>
        <p:spPr/>
        <p:txBody>
          <a:bodyPr/>
          <a:lstStyle/>
          <a:p>
            <a:r>
              <a:rPr lang="en-US" dirty="0"/>
              <a:t>Setup</a:t>
            </a:r>
          </a:p>
        </p:txBody>
      </p:sp>
      <p:sp>
        <p:nvSpPr>
          <p:cNvPr id="13" name="Content Placeholder 12">
            <a:extLst>
              <a:ext uri="{FF2B5EF4-FFF2-40B4-BE49-F238E27FC236}">
                <a16:creationId xmlns:a16="http://schemas.microsoft.com/office/drawing/2014/main" id="{93CBB30E-A873-85E4-1264-AE4BF3235E51}"/>
              </a:ext>
            </a:extLst>
          </p:cNvPr>
          <p:cNvSpPr>
            <a:spLocks noGrp="1"/>
          </p:cNvSpPr>
          <p:nvPr>
            <p:ph idx="1"/>
          </p:nvPr>
        </p:nvSpPr>
        <p:spPr>
          <a:xfrm>
            <a:off x="838200" y="1304418"/>
            <a:ext cx="10515600" cy="4351338"/>
          </a:xfrm>
        </p:spPr>
        <p:txBody>
          <a:bodyPr/>
          <a:lstStyle/>
          <a:p>
            <a:r>
              <a:rPr lang="en-US" dirty="0"/>
              <a:t>Ground truth does not exist in the real world</a:t>
            </a:r>
          </a:p>
          <a:p>
            <a:pPr lvl="1"/>
            <a:r>
              <a:rPr lang="en-US" dirty="0"/>
              <a:t>No perfect clock synchronization</a:t>
            </a:r>
          </a:p>
          <a:p>
            <a:pPr lvl="1"/>
            <a:r>
              <a:rPr lang="en-US" dirty="0"/>
              <a:t>Cannot know in what order events were generated across clients</a:t>
            </a:r>
          </a:p>
          <a:p>
            <a:r>
              <a:rPr lang="en-US" dirty="0"/>
              <a:t>We resort to simulations as we can construct a ground truth there</a:t>
            </a:r>
          </a:p>
          <a:p>
            <a:pPr lvl="1"/>
            <a:r>
              <a:rPr lang="en-US" dirty="0"/>
              <a:t>NS3 simulation</a:t>
            </a:r>
          </a:p>
          <a:p>
            <a:pPr lvl="1"/>
            <a:r>
              <a:rPr lang="en-US" dirty="0"/>
              <a:t>Clients send events to a server which finds probabilistic fair ordering</a:t>
            </a:r>
          </a:p>
          <a:p>
            <a:pPr lvl="1"/>
            <a:r>
              <a:rPr lang="en-US" dirty="0"/>
              <a:t>Clients are fed with a schedule to generate events at specific “simulator” timestamps</a:t>
            </a:r>
          </a:p>
          <a:p>
            <a:pPr lvl="1"/>
            <a:r>
              <a:rPr lang="en-US" dirty="0"/>
              <a:t>Latencies of the links are sampled from a separate data-center simulation</a:t>
            </a:r>
          </a:p>
          <a:p>
            <a:r>
              <a:rPr lang="en-US" dirty="0">
                <a:solidFill>
                  <a:prstClr val="black"/>
                </a:solidFill>
              </a:rPr>
              <a:t>Baseline solution for ordering events:</a:t>
            </a:r>
            <a:endParaRPr lang="en-US" dirty="0"/>
          </a:p>
          <a:p>
            <a:pPr lvl="1"/>
            <a:endParaRPr lang="en-US" dirty="0"/>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57F5684-7E71-EEE5-670B-76C08C3D8D62}"/>
                  </a:ext>
                </a:extLst>
              </p:cNvPr>
              <p:cNvSpPr txBox="1"/>
              <p:nvPr/>
            </p:nvSpPr>
            <p:spPr>
              <a:xfrm>
                <a:off x="1291517" y="5453927"/>
                <a:ext cx="11717473"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Create an uncertainty interval (</a:t>
                </a:r>
                <a14:m>
                  <m:oMath xmlns:m="http://schemas.openxmlformats.org/officeDocument/2006/math">
                    <m:r>
                      <a:rPr lang="en-US" sz="2800" b="0" i="1" smtClean="0">
                        <a:latin typeface="Cambria Math" panose="02040503050406030204" pitchFamily="18" charset="0"/>
                      </a:rPr>
                      <m:t>±3</m:t>
                    </m:r>
                    <m:r>
                      <a:rPr lang="en-US" sz="2800" b="0" i="1" smtClean="0">
                        <a:latin typeface="Cambria Math" panose="02040503050406030204" pitchFamily="18" charset="0"/>
                      </a:rPr>
                      <m:t>𝜎</m:t>
                    </m:r>
                  </m:oMath>
                </a14:m>
                <a:r>
                  <a:rPr lang="en-US" sz="2800" dirty="0"/>
                  <a:t>) around each observed </a:t>
                </a:r>
                <a:r>
                  <a:rPr lang="en-US" sz="2800" dirty="0" err="1"/>
                  <a:t>ts</a:t>
                </a:r>
                <a:endParaRPr lang="en-US" sz="2800" dirty="0"/>
              </a:p>
              <a:p>
                <a:pPr marL="285750" indent="-285750">
                  <a:buFont typeface="Arial" panose="020B0604020202020204" pitchFamily="34" charset="0"/>
                  <a:buChar char="•"/>
                </a:pPr>
                <a:r>
                  <a:rPr lang="en-US" sz="2800" dirty="0"/>
                  <a:t>Order events based on the intervals</a:t>
                </a:r>
              </a:p>
            </p:txBody>
          </p:sp>
        </mc:Choice>
        <mc:Fallback>
          <p:sp>
            <p:nvSpPr>
              <p:cNvPr id="18" name="TextBox 17">
                <a:extLst>
                  <a:ext uri="{FF2B5EF4-FFF2-40B4-BE49-F238E27FC236}">
                    <a16:creationId xmlns:a16="http://schemas.microsoft.com/office/drawing/2014/main" id="{057F5684-7E71-EEE5-670B-76C08C3D8D62}"/>
                  </a:ext>
                </a:extLst>
              </p:cNvPr>
              <p:cNvSpPr txBox="1">
                <a:spLocks noRot="1" noChangeAspect="1" noMove="1" noResize="1" noEditPoints="1" noAdjustHandles="1" noChangeArrowheads="1" noChangeShapeType="1" noTextEdit="1"/>
              </p:cNvSpPr>
              <p:nvPr/>
            </p:nvSpPr>
            <p:spPr>
              <a:xfrm>
                <a:off x="1291517" y="5453927"/>
                <a:ext cx="11717473" cy="954107"/>
              </a:xfrm>
              <a:prstGeom prst="rect">
                <a:avLst/>
              </a:prstGeom>
              <a:blipFill>
                <a:blip r:embed="rId2"/>
                <a:stretch>
                  <a:fillRect l="-866" t="-6579" b="-17105"/>
                </a:stretch>
              </a:blipFill>
            </p:spPr>
            <p:txBody>
              <a:bodyPr/>
              <a:lstStyle/>
              <a:p>
                <a:r>
                  <a:rPr lang="en-US">
                    <a:noFill/>
                  </a:rPr>
                  <a:t> </a:t>
                </a:r>
              </a:p>
            </p:txBody>
          </p:sp>
        </mc:Fallback>
      </mc:AlternateContent>
    </p:spTree>
    <p:extLst>
      <p:ext uri="{BB962C8B-B14F-4D97-AF65-F5344CB8AC3E}">
        <p14:creationId xmlns:p14="http://schemas.microsoft.com/office/powerpoint/2010/main" val="1101850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P spid="18"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DF4D9-448E-A747-5399-777BF04E9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DFB57D-EF3B-6DA3-DB33-DBD9176FF8C3}"/>
              </a:ext>
            </a:extLst>
          </p:cNvPr>
          <p:cNvSpPr>
            <a:spLocks noGrp="1"/>
          </p:cNvSpPr>
          <p:nvPr>
            <p:ph type="title"/>
          </p:nvPr>
        </p:nvSpPr>
        <p:spPr/>
        <p:txBody>
          <a:bodyPr/>
          <a:lstStyle/>
          <a:p>
            <a:r>
              <a:rPr lang="en-US" dirty="0"/>
              <a:t>Fairness</a:t>
            </a:r>
          </a:p>
        </p:txBody>
      </p:sp>
      <p:pic>
        <p:nvPicPr>
          <p:cNvPr id="4" name="Picture 3">
            <a:extLst>
              <a:ext uri="{FF2B5EF4-FFF2-40B4-BE49-F238E27FC236}">
                <a16:creationId xmlns:a16="http://schemas.microsoft.com/office/drawing/2014/main" id="{FEB57B77-C03D-C46F-4DC8-0EBDB00743DC}"/>
              </a:ext>
            </a:extLst>
          </p:cNvPr>
          <p:cNvPicPr>
            <a:picLocks noChangeAspect="1"/>
          </p:cNvPicPr>
          <p:nvPr/>
        </p:nvPicPr>
        <p:blipFill>
          <a:blip r:embed="rId2"/>
          <a:stretch>
            <a:fillRect/>
          </a:stretch>
        </p:blipFill>
        <p:spPr>
          <a:xfrm>
            <a:off x="1467439" y="1557780"/>
            <a:ext cx="7315200" cy="4572000"/>
          </a:xfrm>
          <a:prstGeom prst="rect">
            <a:avLst/>
          </a:prstGeom>
        </p:spPr>
      </p:pic>
      <p:sp>
        <p:nvSpPr>
          <p:cNvPr id="5" name="Rectangle 4">
            <a:extLst>
              <a:ext uri="{FF2B5EF4-FFF2-40B4-BE49-F238E27FC236}">
                <a16:creationId xmlns:a16="http://schemas.microsoft.com/office/drawing/2014/main" id="{3A7F3333-0303-A63F-B0FB-AEA6E16C2F70}"/>
              </a:ext>
            </a:extLst>
          </p:cNvPr>
          <p:cNvSpPr/>
          <p:nvPr/>
        </p:nvSpPr>
        <p:spPr>
          <a:xfrm>
            <a:off x="2950590" y="1913640"/>
            <a:ext cx="5928300" cy="3091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E32CC0B1-98A8-2F37-D643-67F1F0A4211E}"/>
              </a:ext>
            </a:extLst>
          </p:cNvPr>
          <p:cNvSpPr/>
          <p:nvPr/>
        </p:nvSpPr>
        <p:spPr>
          <a:xfrm>
            <a:off x="2243132" y="2883343"/>
            <a:ext cx="1414915" cy="567889"/>
          </a:xfrm>
          <a:custGeom>
            <a:avLst/>
            <a:gdLst>
              <a:gd name="csX0" fmla="*/ 0 w 1414915"/>
              <a:gd name="csY0" fmla="*/ 141972 h 567889"/>
              <a:gd name="csX1" fmla="*/ 576795 w 1414915"/>
              <a:gd name="csY1" fmla="*/ 141972 h 567889"/>
              <a:gd name="csX2" fmla="*/ 1130971 w 1414915"/>
              <a:gd name="csY2" fmla="*/ 141972 h 567889"/>
              <a:gd name="csX3" fmla="*/ 1130971 w 1414915"/>
              <a:gd name="csY3" fmla="*/ 0 h 567889"/>
              <a:gd name="csX4" fmla="*/ 1414915 w 1414915"/>
              <a:gd name="csY4" fmla="*/ 283945 h 567889"/>
              <a:gd name="csX5" fmla="*/ 1130971 w 1414915"/>
              <a:gd name="csY5" fmla="*/ 567889 h 567889"/>
              <a:gd name="csX6" fmla="*/ 1130971 w 1414915"/>
              <a:gd name="csY6" fmla="*/ 425917 h 567889"/>
              <a:gd name="csX7" fmla="*/ 565486 w 1414915"/>
              <a:gd name="csY7" fmla="*/ 425917 h 567889"/>
              <a:gd name="csX8" fmla="*/ 0 w 1414915"/>
              <a:gd name="csY8" fmla="*/ 425917 h 567889"/>
              <a:gd name="csX9" fmla="*/ 0 w 1414915"/>
              <a:gd name="csY9" fmla="*/ 141972 h 567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14915" h="567889" fill="none" extrusionOk="0">
                <a:moveTo>
                  <a:pt x="0" y="141972"/>
                </a:moveTo>
                <a:cubicBezTo>
                  <a:pt x="275817" y="80751"/>
                  <a:pt x="365042" y="184444"/>
                  <a:pt x="576795" y="141972"/>
                </a:cubicBezTo>
                <a:cubicBezTo>
                  <a:pt x="788548" y="99500"/>
                  <a:pt x="911003" y="175769"/>
                  <a:pt x="1130971" y="141972"/>
                </a:cubicBezTo>
                <a:cubicBezTo>
                  <a:pt x="1124252" y="106743"/>
                  <a:pt x="1132844" y="30730"/>
                  <a:pt x="1130971" y="0"/>
                </a:cubicBezTo>
                <a:cubicBezTo>
                  <a:pt x="1266927" y="72973"/>
                  <a:pt x="1279056" y="186504"/>
                  <a:pt x="1414915" y="283945"/>
                </a:cubicBezTo>
                <a:cubicBezTo>
                  <a:pt x="1339925" y="385079"/>
                  <a:pt x="1200231" y="446234"/>
                  <a:pt x="1130971" y="567889"/>
                </a:cubicBezTo>
                <a:cubicBezTo>
                  <a:pt x="1129559" y="501250"/>
                  <a:pt x="1147515" y="488702"/>
                  <a:pt x="1130971" y="425917"/>
                </a:cubicBezTo>
                <a:cubicBezTo>
                  <a:pt x="908344" y="461252"/>
                  <a:pt x="759670" y="415285"/>
                  <a:pt x="565486" y="425917"/>
                </a:cubicBezTo>
                <a:cubicBezTo>
                  <a:pt x="371302" y="436549"/>
                  <a:pt x="277010" y="401746"/>
                  <a:pt x="0" y="425917"/>
                </a:cubicBezTo>
                <a:cubicBezTo>
                  <a:pt x="-22450" y="324267"/>
                  <a:pt x="6115" y="271210"/>
                  <a:pt x="0" y="141972"/>
                </a:cubicBezTo>
                <a:close/>
              </a:path>
              <a:path w="1414915" h="567889" stroke="0" extrusionOk="0">
                <a:moveTo>
                  <a:pt x="0" y="141972"/>
                </a:moveTo>
                <a:cubicBezTo>
                  <a:pt x="124711" y="92751"/>
                  <a:pt x="308611" y="187565"/>
                  <a:pt x="554176" y="141972"/>
                </a:cubicBezTo>
                <a:cubicBezTo>
                  <a:pt x="799741" y="96379"/>
                  <a:pt x="994485" y="198452"/>
                  <a:pt x="1130971" y="141972"/>
                </a:cubicBezTo>
                <a:cubicBezTo>
                  <a:pt x="1114956" y="91036"/>
                  <a:pt x="1136319" y="28407"/>
                  <a:pt x="1130971" y="0"/>
                </a:cubicBezTo>
                <a:cubicBezTo>
                  <a:pt x="1246082" y="55876"/>
                  <a:pt x="1274508" y="185078"/>
                  <a:pt x="1414915" y="283945"/>
                </a:cubicBezTo>
                <a:cubicBezTo>
                  <a:pt x="1340724" y="403334"/>
                  <a:pt x="1234255" y="423124"/>
                  <a:pt x="1130971" y="567889"/>
                </a:cubicBezTo>
                <a:cubicBezTo>
                  <a:pt x="1115997" y="531085"/>
                  <a:pt x="1141248" y="469288"/>
                  <a:pt x="1130971" y="425917"/>
                </a:cubicBezTo>
                <a:cubicBezTo>
                  <a:pt x="862224" y="430515"/>
                  <a:pt x="856738" y="379084"/>
                  <a:pt x="588105" y="425917"/>
                </a:cubicBezTo>
                <a:cubicBezTo>
                  <a:pt x="319472" y="472750"/>
                  <a:pt x="223429" y="417197"/>
                  <a:pt x="0" y="425917"/>
                </a:cubicBezTo>
                <a:cubicBezTo>
                  <a:pt x="-32811" y="354011"/>
                  <a:pt x="22250" y="232663"/>
                  <a:pt x="0" y="141972"/>
                </a:cubicBezTo>
                <a:close/>
              </a:path>
            </a:pathLst>
          </a:custGeom>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3F1ED17-53E8-B032-4E9C-D08B1B594968}"/>
              </a:ext>
            </a:extLst>
          </p:cNvPr>
          <p:cNvSpPr txBox="1"/>
          <p:nvPr/>
        </p:nvSpPr>
        <p:spPr>
          <a:xfrm>
            <a:off x="3754298" y="2476675"/>
            <a:ext cx="813288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For each correctly ordered pair of events </a:t>
            </a:r>
            <a:r>
              <a:rPr lang="en-US" sz="2400" dirty="0">
                <a:sym typeface="Wingdings" pitchFamily="2" charset="2"/>
              </a:rPr>
              <a:t> +1 score</a:t>
            </a:r>
          </a:p>
          <a:p>
            <a:pPr marL="285750" indent="-285750">
              <a:buFont typeface="Arial" panose="020B0604020202020204" pitchFamily="34" charset="0"/>
              <a:buChar char="•"/>
            </a:pPr>
            <a:r>
              <a:rPr lang="en-US" sz="2400" dirty="0">
                <a:sym typeface="Wingdings" pitchFamily="2" charset="2"/>
              </a:rPr>
              <a:t>For each incorrect  -1 score</a:t>
            </a:r>
          </a:p>
          <a:p>
            <a:pPr marL="285750" indent="-285750">
              <a:buFont typeface="Arial" panose="020B0604020202020204" pitchFamily="34" charset="0"/>
              <a:buChar char="•"/>
            </a:pPr>
            <a:r>
              <a:rPr lang="en-US" sz="2400" dirty="0">
                <a:sym typeface="Wingdings" pitchFamily="2" charset="2"/>
              </a:rPr>
              <a:t>For a pair left unordered  +0 score</a:t>
            </a:r>
          </a:p>
          <a:p>
            <a:pPr marL="285750" indent="-285750">
              <a:buFont typeface="Arial" panose="020B0604020202020204" pitchFamily="34" charset="0"/>
              <a:buChar char="•"/>
            </a:pPr>
            <a:r>
              <a:rPr lang="en-US" sz="2400" dirty="0">
                <a:sym typeface="Wingdings" pitchFamily="2" charset="2"/>
              </a:rPr>
              <a:t>Normalize by total number of pairs</a:t>
            </a:r>
            <a:endParaRPr lang="en-US" sz="2400" dirty="0"/>
          </a:p>
        </p:txBody>
      </p:sp>
    </p:spTree>
    <p:extLst>
      <p:ext uri="{BB962C8B-B14F-4D97-AF65-F5344CB8AC3E}">
        <p14:creationId xmlns:p14="http://schemas.microsoft.com/office/powerpoint/2010/main" val="61078689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1ECE-818C-751E-B19A-D1AE75BAB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918C1-A0C7-2FBA-DD57-29813819769A}"/>
              </a:ext>
            </a:extLst>
          </p:cNvPr>
          <p:cNvSpPr>
            <a:spLocks noGrp="1"/>
          </p:cNvSpPr>
          <p:nvPr>
            <p:ph type="title"/>
          </p:nvPr>
        </p:nvSpPr>
        <p:spPr/>
        <p:txBody>
          <a:bodyPr/>
          <a:lstStyle/>
          <a:p>
            <a:r>
              <a:rPr lang="en-US" dirty="0"/>
              <a:t>Fairness</a:t>
            </a:r>
          </a:p>
        </p:txBody>
      </p:sp>
      <p:pic>
        <p:nvPicPr>
          <p:cNvPr id="4" name="Picture 3">
            <a:extLst>
              <a:ext uri="{FF2B5EF4-FFF2-40B4-BE49-F238E27FC236}">
                <a16:creationId xmlns:a16="http://schemas.microsoft.com/office/drawing/2014/main" id="{1B72DBB2-46EA-4686-0B10-CA711031953B}"/>
              </a:ext>
            </a:extLst>
          </p:cNvPr>
          <p:cNvPicPr>
            <a:picLocks noChangeAspect="1"/>
          </p:cNvPicPr>
          <p:nvPr/>
        </p:nvPicPr>
        <p:blipFill>
          <a:blip r:embed="rId2"/>
          <a:stretch>
            <a:fillRect/>
          </a:stretch>
        </p:blipFill>
        <p:spPr>
          <a:xfrm>
            <a:off x="1467439" y="1557780"/>
            <a:ext cx="7315200" cy="4572000"/>
          </a:xfrm>
          <a:prstGeom prst="rect">
            <a:avLst/>
          </a:prstGeom>
        </p:spPr>
      </p:pic>
      <p:sp>
        <p:nvSpPr>
          <p:cNvPr id="5" name="Rectangle 4">
            <a:extLst>
              <a:ext uri="{FF2B5EF4-FFF2-40B4-BE49-F238E27FC236}">
                <a16:creationId xmlns:a16="http://schemas.microsoft.com/office/drawing/2014/main" id="{6BD29A2F-3693-6AC6-1408-ABC88EE140E6}"/>
              </a:ext>
            </a:extLst>
          </p:cNvPr>
          <p:cNvSpPr/>
          <p:nvPr/>
        </p:nvSpPr>
        <p:spPr>
          <a:xfrm>
            <a:off x="2993385" y="1949458"/>
            <a:ext cx="1107275" cy="3091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443B865-10F3-1090-5B05-A68398F8C7A0}"/>
              </a:ext>
            </a:extLst>
          </p:cNvPr>
          <p:cNvSpPr/>
          <p:nvPr/>
        </p:nvSpPr>
        <p:spPr>
          <a:xfrm>
            <a:off x="4278965" y="1949458"/>
            <a:ext cx="1107275" cy="30919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7626E22-1062-BB4A-FB27-497C5B923929}"/>
              </a:ext>
            </a:extLst>
          </p:cNvPr>
          <p:cNvSpPr/>
          <p:nvPr/>
        </p:nvSpPr>
        <p:spPr>
          <a:xfrm>
            <a:off x="3884031" y="2144206"/>
            <a:ext cx="1107275" cy="22041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BEF7892-EB21-3A3F-FAC2-A34A0D118E20}"/>
              </a:ext>
            </a:extLst>
          </p:cNvPr>
          <p:cNvSpPr/>
          <p:nvPr/>
        </p:nvSpPr>
        <p:spPr>
          <a:xfrm>
            <a:off x="3810374" y="4477732"/>
            <a:ext cx="1107275" cy="5374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CAF6AF-4A40-CA3C-7683-1A7645D186A8}"/>
              </a:ext>
            </a:extLst>
          </p:cNvPr>
          <p:cNvSpPr/>
          <p:nvPr/>
        </p:nvSpPr>
        <p:spPr>
          <a:xfrm>
            <a:off x="5010907" y="1949459"/>
            <a:ext cx="3331815" cy="2038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9AC9855-C878-2751-C3EE-206996885457}"/>
              </a:ext>
            </a:extLst>
          </p:cNvPr>
          <p:cNvSpPr/>
          <p:nvPr/>
        </p:nvSpPr>
        <p:spPr>
          <a:xfrm>
            <a:off x="4034673" y="4273282"/>
            <a:ext cx="253720" cy="2639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6FF0C6-02BC-85E3-7FCA-7CBB73A8AB82}"/>
              </a:ext>
            </a:extLst>
          </p:cNvPr>
          <p:cNvSpPr/>
          <p:nvPr/>
        </p:nvSpPr>
        <p:spPr>
          <a:xfrm>
            <a:off x="4044407" y="1949458"/>
            <a:ext cx="253720" cy="19474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499E22F-28A0-E98E-918B-8E3C63438D68}"/>
              </a:ext>
            </a:extLst>
          </p:cNvPr>
          <p:cNvSpPr/>
          <p:nvPr/>
        </p:nvSpPr>
        <p:spPr>
          <a:xfrm>
            <a:off x="4729899" y="2968499"/>
            <a:ext cx="1152053" cy="2038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5959823"/>
      </p:ext>
    </p:extLst>
  </p:cSld>
  <p:clrMapOvr>
    <a:masterClrMapping/>
  </p:clrMapOvr>
  <p:transition spd="me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1378-C1EC-FD89-F218-65853AE6B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6BEA0-13E4-6CC8-AA7C-D122463A7654}"/>
              </a:ext>
            </a:extLst>
          </p:cNvPr>
          <p:cNvSpPr>
            <a:spLocks noGrp="1"/>
          </p:cNvSpPr>
          <p:nvPr>
            <p:ph type="title"/>
          </p:nvPr>
        </p:nvSpPr>
        <p:spPr/>
        <p:txBody>
          <a:bodyPr/>
          <a:lstStyle/>
          <a:p>
            <a:r>
              <a:rPr lang="en-US" dirty="0"/>
              <a:t>Fairness</a:t>
            </a:r>
          </a:p>
        </p:txBody>
      </p:sp>
      <p:pic>
        <p:nvPicPr>
          <p:cNvPr id="4" name="Picture 3">
            <a:extLst>
              <a:ext uri="{FF2B5EF4-FFF2-40B4-BE49-F238E27FC236}">
                <a16:creationId xmlns:a16="http://schemas.microsoft.com/office/drawing/2014/main" id="{5F193A02-F4FB-1570-3462-3E133899E3A8}"/>
              </a:ext>
            </a:extLst>
          </p:cNvPr>
          <p:cNvPicPr>
            <a:picLocks noChangeAspect="1"/>
          </p:cNvPicPr>
          <p:nvPr/>
        </p:nvPicPr>
        <p:blipFill>
          <a:blip r:embed="rId2"/>
          <a:stretch>
            <a:fillRect/>
          </a:stretch>
        </p:blipFill>
        <p:spPr>
          <a:xfrm>
            <a:off x="1467439" y="1557780"/>
            <a:ext cx="7315200" cy="4572000"/>
          </a:xfrm>
          <a:prstGeom prst="rect">
            <a:avLst/>
          </a:prstGeom>
        </p:spPr>
      </p:pic>
      <p:sp>
        <p:nvSpPr>
          <p:cNvPr id="6" name="TextBox 5">
            <a:extLst>
              <a:ext uri="{FF2B5EF4-FFF2-40B4-BE49-F238E27FC236}">
                <a16:creationId xmlns:a16="http://schemas.microsoft.com/office/drawing/2014/main" id="{5AEBE131-898D-D0C1-EBC4-A9AC5474776D}"/>
              </a:ext>
            </a:extLst>
          </p:cNvPr>
          <p:cNvSpPr txBox="1"/>
          <p:nvPr/>
        </p:nvSpPr>
        <p:spPr>
          <a:xfrm>
            <a:off x="5375635" y="883599"/>
            <a:ext cx="5978165" cy="2400657"/>
          </a:xfrm>
          <a:prstGeom prst="rect">
            <a:avLst/>
          </a:prstGeom>
          <a:solidFill>
            <a:schemeClr val="bg1"/>
          </a:solidFill>
          <a:ln w="19050">
            <a:solidFill>
              <a:srgbClr val="7030A0"/>
            </a:solidFill>
          </a:ln>
        </p:spPr>
        <p:txBody>
          <a:bodyPr wrap="square" rtlCol="0">
            <a:spAutoFit/>
          </a:bodyPr>
          <a:lstStyle/>
          <a:p>
            <a:pPr marL="285750" indent="-285750">
              <a:buFont typeface="Arial" panose="020B0604020202020204" pitchFamily="34" charset="0"/>
              <a:buChar char="•"/>
            </a:pPr>
            <a:r>
              <a:rPr lang="en-US" sz="3000" dirty="0"/>
              <a:t>We further evaluate fairness by sweeping several parameters</a:t>
            </a:r>
          </a:p>
          <a:p>
            <a:pPr marL="742950" lvl="1" indent="-285750">
              <a:buFont typeface="Arial" panose="020B0604020202020204" pitchFamily="34" charset="0"/>
              <a:buChar char="•"/>
            </a:pPr>
            <a:r>
              <a:rPr lang="en-US" sz="3000" dirty="0"/>
              <a:t>Number of messages, number of clients, clock errors, clock synchronization probes, etc.</a:t>
            </a:r>
          </a:p>
        </p:txBody>
      </p:sp>
    </p:spTree>
    <p:extLst>
      <p:ext uri="{BB962C8B-B14F-4D97-AF65-F5344CB8AC3E}">
        <p14:creationId xmlns:p14="http://schemas.microsoft.com/office/powerpoint/2010/main" val="39756490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C16B-7C32-CA58-FB7D-7B9FB5B8AA73}"/>
              </a:ext>
            </a:extLst>
          </p:cNvPr>
          <p:cNvSpPr>
            <a:spLocks noGrp="1"/>
          </p:cNvSpPr>
          <p:nvPr>
            <p:ph type="title"/>
          </p:nvPr>
        </p:nvSpPr>
        <p:spPr/>
        <p:txBody>
          <a:bodyPr/>
          <a:lstStyle/>
          <a:p>
            <a:r>
              <a:rPr lang="en-US" dirty="0"/>
              <a:t>Remarks</a:t>
            </a:r>
          </a:p>
        </p:txBody>
      </p:sp>
      <p:sp>
        <p:nvSpPr>
          <p:cNvPr id="3" name="Content Placeholder 2">
            <a:extLst>
              <a:ext uri="{FF2B5EF4-FFF2-40B4-BE49-F238E27FC236}">
                <a16:creationId xmlns:a16="http://schemas.microsoft.com/office/drawing/2014/main" id="{F2C09C77-ABE5-CA2D-DF83-E06EAE53465E}"/>
              </a:ext>
            </a:extLst>
          </p:cNvPr>
          <p:cNvSpPr>
            <a:spLocks noGrp="1"/>
          </p:cNvSpPr>
          <p:nvPr>
            <p:ph idx="1"/>
          </p:nvPr>
        </p:nvSpPr>
        <p:spPr>
          <a:xfrm>
            <a:off x="838199" y="1825624"/>
            <a:ext cx="10860465" cy="4518615"/>
          </a:xfrm>
        </p:spPr>
        <p:txBody>
          <a:bodyPr>
            <a:normAutofit lnSpcReduction="10000"/>
          </a:bodyPr>
          <a:lstStyle/>
          <a:p>
            <a:r>
              <a:rPr lang="en-US" dirty="0"/>
              <a:t>Probabilistic fair ordering can be achieved by modeling time as a random variable</a:t>
            </a:r>
          </a:p>
          <a:p>
            <a:r>
              <a:rPr lang="en-US" dirty="0"/>
              <a:t>Tools from social choice theory helpful in dealing with intransitivity induced by the probabilistic comparisons</a:t>
            </a:r>
          </a:p>
          <a:p>
            <a:r>
              <a:rPr lang="en-US" dirty="0"/>
              <a:t>Useful when the clock synchronization accuracy is not sufficient for an application</a:t>
            </a:r>
          </a:p>
          <a:p>
            <a:r>
              <a:rPr lang="en-US" dirty="0"/>
              <a:t>It has many more use cases other than achieving latency fairness in competitive systems</a:t>
            </a:r>
          </a:p>
          <a:p>
            <a:pPr lvl="1"/>
            <a:r>
              <a:rPr lang="en-US" dirty="0"/>
              <a:t>Scaling timestamped packet capture systems</a:t>
            </a:r>
          </a:p>
          <a:p>
            <a:pPr lvl="1"/>
            <a:r>
              <a:rPr lang="en-US" dirty="0"/>
              <a:t>Devising hypothesis from imperfect observability data for debugging</a:t>
            </a:r>
          </a:p>
          <a:p>
            <a:pPr lvl="1"/>
            <a:r>
              <a:rPr lang="en-US" dirty="0"/>
              <a:t>Better arbitrage finding in financial exchanges</a:t>
            </a:r>
          </a:p>
        </p:txBody>
      </p:sp>
      <p:sp>
        <p:nvSpPr>
          <p:cNvPr id="4" name="Rectangle 3">
            <a:extLst>
              <a:ext uri="{FF2B5EF4-FFF2-40B4-BE49-F238E27FC236}">
                <a16:creationId xmlns:a16="http://schemas.microsoft.com/office/drawing/2014/main" id="{E449F8C2-5969-0E7F-D5AB-3EA6E6336DE2}"/>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0177BC3-11DE-CAD6-B985-E09386ABEB0B}"/>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6136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31394-348C-5BCA-9525-876B54B822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5DC828-E014-B4D7-D838-607C7C9D732E}"/>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7F1C6A54-C74E-C55F-07C3-4F41A336113B}"/>
              </a:ext>
            </a:extLst>
          </p:cNvPr>
          <p:cNvSpPr/>
          <p:nvPr/>
        </p:nvSpPr>
        <p:spPr>
          <a:xfrm>
            <a:off x="-160256" y="-169682"/>
            <a:ext cx="12490516" cy="721150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628155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A1F2-0A12-3296-CD23-832F3117A1EE}"/>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0A8A5E5E-FFFA-F84F-8C5F-4DDA5A4A2B3C}"/>
              </a:ext>
            </a:extLst>
          </p:cNvPr>
          <p:cNvSpPr/>
          <p:nvPr/>
        </p:nvSpPr>
        <p:spPr>
          <a:xfrm rot="16200000">
            <a:off x="8170505" y="1124325"/>
            <a:ext cx="45719" cy="4748172"/>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5F457370-FF61-49C8-CE0E-5123DF80084F}"/>
              </a:ext>
            </a:extLst>
          </p:cNvPr>
          <p:cNvPicPr>
            <a:picLocks noChangeAspect="1"/>
          </p:cNvPicPr>
          <p:nvPr/>
        </p:nvPicPr>
        <p:blipFill>
          <a:blip r:embed="rId3"/>
          <a:stretch>
            <a:fillRect/>
          </a:stretch>
        </p:blipFill>
        <p:spPr>
          <a:xfrm>
            <a:off x="1041006" y="1283720"/>
            <a:ext cx="9948215" cy="2145280"/>
          </a:xfrm>
          <a:prstGeom prst="rect">
            <a:avLst/>
          </a:prstGeom>
        </p:spPr>
      </p:pic>
      <p:sp>
        <p:nvSpPr>
          <p:cNvPr id="18" name="Rectangle 17">
            <a:extLst>
              <a:ext uri="{FF2B5EF4-FFF2-40B4-BE49-F238E27FC236}">
                <a16:creationId xmlns:a16="http://schemas.microsoft.com/office/drawing/2014/main" id="{0CC5B157-F84E-274A-A9EA-50206283AABA}"/>
              </a:ext>
            </a:extLst>
          </p:cNvPr>
          <p:cNvSpPr/>
          <p:nvPr/>
        </p:nvSpPr>
        <p:spPr>
          <a:xfrm rot="16200000">
            <a:off x="3421012" y="1214037"/>
            <a:ext cx="45719" cy="456874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C0109FB-FF27-A8A3-8FF9-40681B10C528}"/>
              </a:ext>
            </a:extLst>
          </p:cNvPr>
          <p:cNvSpPr txBox="1"/>
          <p:nvPr/>
        </p:nvSpPr>
        <p:spPr>
          <a:xfrm>
            <a:off x="-210844" y="694172"/>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Onyx</a:t>
            </a:r>
          </a:p>
        </p:txBody>
      </p:sp>
      <p:sp>
        <p:nvSpPr>
          <p:cNvPr id="20" name="TextBox 19">
            <a:extLst>
              <a:ext uri="{FF2B5EF4-FFF2-40B4-BE49-F238E27FC236}">
                <a16:creationId xmlns:a16="http://schemas.microsoft.com/office/drawing/2014/main" id="{65167AF0-D7E5-D0D9-AA9A-63F3A5EA3D45}"/>
              </a:ext>
            </a:extLst>
          </p:cNvPr>
          <p:cNvSpPr txBox="1"/>
          <p:nvPr/>
        </p:nvSpPr>
        <p:spPr>
          <a:xfrm>
            <a:off x="7433045" y="5569553"/>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Tommy</a:t>
            </a:r>
          </a:p>
        </p:txBody>
      </p:sp>
      <p:pic>
        <p:nvPicPr>
          <p:cNvPr id="25" name="Picture 24">
            <a:extLst>
              <a:ext uri="{FF2B5EF4-FFF2-40B4-BE49-F238E27FC236}">
                <a16:creationId xmlns:a16="http://schemas.microsoft.com/office/drawing/2014/main" id="{00413A26-814D-B5AC-4728-512ABCB5605E}"/>
              </a:ext>
            </a:extLst>
          </p:cNvPr>
          <p:cNvPicPr>
            <a:picLocks noChangeAspect="1"/>
          </p:cNvPicPr>
          <p:nvPr/>
        </p:nvPicPr>
        <p:blipFill>
          <a:blip r:embed="rId4"/>
          <a:stretch>
            <a:fillRect/>
          </a:stretch>
        </p:blipFill>
        <p:spPr>
          <a:xfrm>
            <a:off x="681675" y="3850326"/>
            <a:ext cx="10417835" cy="1719227"/>
          </a:xfrm>
          <a:prstGeom prst="rect">
            <a:avLst/>
          </a:prstGeom>
        </p:spPr>
      </p:pic>
    </p:spTree>
    <p:extLst>
      <p:ext uri="{BB962C8B-B14F-4D97-AF65-F5344CB8AC3E}">
        <p14:creationId xmlns:p14="http://schemas.microsoft.com/office/powerpoint/2010/main" val="3467006167"/>
      </p:ext>
    </p:extLst>
  </p:cSld>
  <p:clrMapOvr>
    <a:masterClrMapping/>
  </p:clrMapOvr>
  <mc:AlternateContent xmlns:mc="http://schemas.openxmlformats.org/markup-compatibility/2006">
    <mc:Choice xmlns:p159="http://schemas.microsoft.com/office/powerpoint/2015/09/main" Requires="p159">
      <p:transition>
        <p159:morph option="byWord"/>
      </p:transition>
    </mc:Choice>
    <mc:Fallback>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1F0CF-2BC9-73ED-4881-8F26D75E7D43}"/>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B0D79BFC-9E9E-97C5-0304-DCB27B4F7963}"/>
              </a:ext>
            </a:extLst>
          </p:cNvPr>
          <p:cNvSpPr/>
          <p:nvPr/>
        </p:nvSpPr>
        <p:spPr>
          <a:xfrm rot="10800000">
            <a:off x="5839190" y="3279532"/>
            <a:ext cx="92910" cy="2417074"/>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5932BF11-CAE0-C36E-47A8-A25EE8E5C7A8}"/>
              </a:ext>
            </a:extLst>
          </p:cNvPr>
          <p:cNvSpPr/>
          <p:nvPr/>
        </p:nvSpPr>
        <p:spPr>
          <a:xfrm>
            <a:off x="5839191" y="1258618"/>
            <a:ext cx="92911" cy="1928644"/>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DDAA3DFB-7E14-ADAA-646E-10E4E62F4810}"/>
              </a:ext>
            </a:extLst>
          </p:cNvPr>
          <p:cNvSpPr txBox="1"/>
          <p:nvPr/>
        </p:nvSpPr>
        <p:spPr>
          <a:xfrm>
            <a:off x="640346" y="775281"/>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Onyx</a:t>
            </a:r>
          </a:p>
        </p:txBody>
      </p:sp>
      <p:sp>
        <p:nvSpPr>
          <p:cNvPr id="20" name="TextBox 19">
            <a:extLst>
              <a:ext uri="{FF2B5EF4-FFF2-40B4-BE49-F238E27FC236}">
                <a16:creationId xmlns:a16="http://schemas.microsoft.com/office/drawing/2014/main" id="{5D848454-6E7B-3AC9-09B6-9BE1BB1EEADA}"/>
              </a:ext>
            </a:extLst>
          </p:cNvPr>
          <p:cNvSpPr txBox="1"/>
          <p:nvPr/>
        </p:nvSpPr>
        <p:spPr>
          <a:xfrm>
            <a:off x="6497624" y="5034455"/>
            <a:ext cx="3872835"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Tommy</a:t>
            </a:r>
          </a:p>
        </p:txBody>
      </p:sp>
      <p:sp>
        <p:nvSpPr>
          <p:cNvPr id="2" name="Rectangle 1">
            <a:extLst>
              <a:ext uri="{FF2B5EF4-FFF2-40B4-BE49-F238E27FC236}">
                <a16:creationId xmlns:a16="http://schemas.microsoft.com/office/drawing/2014/main" id="{D09E5F00-40DE-5DA0-BA1F-7A6300E71AA8}"/>
              </a:ext>
            </a:extLst>
          </p:cNvPr>
          <p:cNvSpPr/>
          <p:nvPr/>
        </p:nvSpPr>
        <p:spPr>
          <a:xfrm>
            <a:off x="221532" y="1698611"/>
            <a:ext cx="4985480" cy="4348516"/>
          </a:xfrm>
          <a:custGeom>
            <a:avLst/>
            <a:gdLst>
              <a:gd name="csX0" fmla="*/ 0 w 4985480"/>
              <a:gd name="csY0" fmla="*/ 0 h 4348516"/>
              <a:gd name="csX1" fmla="*/ 504087 w 4985480"/>
              <a:gd name="csY1" fmla="*/ 0 h 4348516"/>
              <a:gd name="csX2" fmla="*/ 1107884 w 4985480"/>
              <a:gd name="csY2" fmla="*/ 0 h 4348516"/>
              <a:gd name="csX3" fmla="*/ 1562117 w 4985480"/>
              <a:gd name="csY3" fmla="*/ 0 h 4348516"/>
              <a:gd name="csX4" fmla="*/ 2116059 w 4985480"/>
              <a:gd name="csY4" fmla="*/ 0 h 4348516"/>
              <a:gd name="csX5" fmla="*/ 2719856 w 4985480"/>
              <a:gd name="csY5" fmla="*/ 0 h 4348516"/>
              <a:gd name="csX6" fmla="*/ 3124234 w 4985480"/>
              <a:gd name="csY6" fmla="*/ 0 h 4348516"/>
              <a:gd name="csX7" fmla="*/ 3528612 w 4985480"/>
              <a:gd name="csY7" fmla="*/ 0 h 4348516"/>
              <a:gd name="csX8" fmla="*/ 4182264 w 4985480"/>
              <a:gd name="csY8" fmla="*/ 0 h 4348516"/>
              <a:gd name="csX9" fmla="*/ 4985480 w 4985480"/>
              <a:gd name="csY9" fmla="*/ 0 h 4348516"/>
              <a:gd name="csX10" fmla="*/ 4985480 w 4985480"/>
              <a:gd name="csY10" fmla="*/ 413109 h 4348516"/>
              <a:gd name="csX11" fmla="*/ 4985480 w 4985480"/>
              <a:gd name="csY11" fmla="*/ 913188 h 4348516"/>
              <a:gd name="csX12" fmla="*/ 4985480 w 4985480"/>
              <a:gd name="csY12" fmla="*/ 1500238 h 4348516"/>
              <a:gd name="csX13" fmla="*/ 4985480 w 4985480"/>
              <a:gd name="csY13" fmla="*/ 1956832 h 4348516"/>
              <a:gd name="csX14" fmla="*/ 4985480 w 4985480"/>
              <a:gd name="csY14" fmla="*/ 2500397 h 4348516"/>
              <a:gd name="csX15" fmla="*/ 4985480 w 4985480"/>
              <a:gd name="csY15" fmla="*/ 2913506 h 4348516"/>
              <a:gd name="csX16" fmla="*/ 4985480 w 4985480"/>
              <a:gd name="csY16" fmla="*/ 3544041 h 4348516"/>
              <a:gd name="csX17" fmla="*/ 4985480 w 4985480"/>
              <a:gd name="csY17" fmla="*/ 4348516 h 4348516"/>
              <a:gd name="csX18" fmla="*/ 4331828 w 4985480"/>
              <a:gd name="csY18" fmla="*/ 4348516 h 4348516"/>
              <a:gd name="csX19" fmla="*/ 3728031 w 4985480"/>
              <a:gd name="csY19" fmla="*/ 4348516 h 4348516"/>
              <a:gd name="csX20" fmla="*/ 3273799 w 4985480"/>
              <a:gd name="csY20" fmla="*/ 4348516 h 4348516"/>
              <a:gd name="csX21" fmla="*/ 2620147 w 4985480"/>
              <a:gd name="csY21" fmla="*/ 4348516 h 4348516"/>
              <a:gd name="csX22" fmla="*/ 2066204 w 4985480"/>
              <a:gd name="csY22" fmla="*/ 4348516 h 4348516"/>
              <a:gd name="csX23" fmla="*/ 1661827 w 4985480"/>
              <a:gd name="csY23" fmla="*/ 4348516 h 4348516"/>
              <a:gd name="csX24" fmla="*/ 1107884 w 4985480"/>
              <a:gd name="csY24" fmla="*/ 4348516 h 4348516"/>
              <a:gd name="csX25" fmla="*/ 603797 w 4985480"/>
              <a:gd name="csY25" fmla="*/ 4348516 h 4348516"/>
              <a:gd name="csX26" fmla="*/ 0 w 4985480"/>
              <a:gd name="csY26" fmla="*/ 4348516 h 4348516"/>
              <a:gd name="csX27" fmla="*/ 0 w 4985480"/>
              <a:gd name="csY27" fmla="*/ 3848437 h 4348516"/>
              <a:gd name="csX28" fmla="*/ 0 w 4985480"/>
              <a:gd name="csY28" fmla="*/ 3217902 h 4348516"/>
              <a:gd name="csX29" fmla="*/ 0 w 4985480"/>
              <a:gd name="csY29" fmla="*/ 2630852 h 4348516"/>
              <a:gd name="csX30" fmla="*/ 0 w 4985480"/>
              <a:gd name="csY30" fmla="*/ 2130773 h 4348516"/>
              <a:gd name="csX31" fmla="*/ 0 w 4985480"/>
              <a:gd name="csY31" fmla="*/ 1717664 h 4348516"/>
              <a:gd name="csX32" fmla="*/ 0 w 4985480"/>
              <a:gd name="csY32" fmla="*/ 1217584 h 4348516"/>
              <a:gd name="csX33" fmla="*/ 0 w 4985480"/>
              <a:gd name="csY33" fmla="*/ 630535 h 4348516"/>
              <a:gd name="csX34" fmla="*/ 0 w 4985480"/>
              <a:gd name="csY34" fmla="*/ 0 h 43485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985480" h="4348516" fill="none" extrusionOk="0">
                <a:moveTo>
                  <a:pt x="0" y="0"/>
                </a:moveTo>
                <a:cubicBezTo>
                  <a:pt x="187089" y="-9851"/>
                  <a:pt x="270751" y="50644"/>
                  <a:pt x="504087" y="0"/>
                </a:cubicBezTo>
                <a:cubicBezTo>
                  <a:pt x="737423" y="-50644"/>
                  <a:pt x="852797" y="55888"/>
                  <a:pt x="1107884" y="0"/>
                </a:cubicBezTo>
                <a:cubicBezTo>
                  <a:pt x="1362971" y="-55888"/>
                  <a:pt x="1431419" y="21487"/>
                  <a:pt x="1562117" y="0"/>
                </a:cubicBezTo>
                <a:cubicBezTo>
                  <a:pt x="1692815" y="-21487"/>
                  <a:pt x="1869217" y="36693"/>
                  <a:pt x="2116059" y="0"/>
                </a:cubicBezTo>
                <a:cubicBezTo>
                  <a:pt x="2362901" y="-36693"/>
                  <a:pt x="2585664" y="8514"/>
                  <a:pt x="2719856" y="0"/>
                </a:cubicBezTo>
                <a:cubicBezTo>
                  <a:pt x="2854048" y="-8514"/>
                  <a:pt x="2971355" y="8718"/>
                  <a:pt x="3124234" y="0"/>
                </a:cubicBezTo>
                <a:cubicBezTo>
                  <a:pt x="3277113" y="-8718"/>
                  <a:pt x="3434347" y="22023"/>
                  <a:pt x="3528612" y="0"/>
                </a:cubicBezTo>
                <a:cubicBezTo>
                  <a:pt x="3622877" y="-22023"/>
                  <a:pt x="4006497" y="64557"/>
                  <a:pt x="4182264" y="0"/>
                </a:cubicBezTo>
                <a:cubicBezTo>
                  <a:pt x="4358031" y="-64557"/>
                  <a:pt x="4712300" y="59519"/>
                  <a:pt x="4985480" y="0"/>
                </a:cubicBezTo>
                <a:cubicBezTo>
                  <a:pt x="5032312" y="175617"/>
                  <a:pt x="4959818" y="229192"/>
                  <a:pt x="4985480" y="413109"/>
                </a:cubicBezTo>
                <a:cubicBezTo>
                  <a:pt x="5011142" y="597026"/>
                  <a:pt x="4962181" y="798703"/>
                  <a:pt x="4985480" y="913188"/>
                </a:cubicBezTo>
                <a:cubicBezTo>
                  <a:pt x="5008779" y="1027673"/>
                  <a:pt x="4957536" y="1365867"/>
                  <a:pt x="4985480" y="1500238"/>
                </a:cubicBezTo>
                <a:cubicBezTo>
                  <a:pt x="5013424" y="1634609"/>
                  <a:pt x="4940424" y="1844089"/>
                  <a:pt x="4985480" y="1956832"/>
                </a:cubicBezTo>
                <a:cubicBezTo>
                  <a:pt x="5030536" y="2069575"/>
                  <a:pt x="4961915" y="2256712"/>
                  <a:pt x="4985480" y="2500397"/>
                </a:cubicBezTo>
                <a:cubicBezTo>
                  <a:pt x="5009045" y="2744082"/>
                  <a:pt x="4945152" y="2789744"/>
                  <a:pt x="4985480" y="2913506"/>
                </a:cubicBezTo>
                <a:cubicBezTo>
                  <a:pt x="5025808" y="3037268"/>
                  <a:pt x="4912505" y="3356741"/>
                  <a:pt x="4985480" y="3544041"/>
                </a:cubicBezTo>
                <a:cubicBezTo>
                  <a:pt x="5058455" y="3731342"/>
                  <a:pt x="4892356" y="4141284"/>
                  <a:pt x="4985480" y="4348516"/>
                </a:cubicBezTo>
                <a:cubicBezTo>
                  <a:pt x="4675059" y="4389475"/>
                  <a:pt x="4514491" y="4333524"/>
                  <a:pt x="4331828" y="4348516"/>
                </a:cubicBezTo>
                <a:cubicBezTo>
                  <a:pt x="4149165" y="4363508"/>
                  <a:pt x="3910642" y="4344045"/>
                  <a:pt x="3728031" y="4348516"/>
                </a:cubicBezTo>
                <a:cubicBezTo>
                  <a:pt x="3545420" y="4352987"/>
                  <a:pt x="3416248" y="4304081"/>
                  <a:pt x="3273799" y="4348516"/>
                </a:cubicBezTo>
                <a:cubicBezTo>
                  <a:pt x="3131350" y="4392951"/>
                  <a:pt x="2759022" y="4285872"/>
                  <a:pt x="2620147" y="4348516"/>
                </a:cubicBezTo>
                <a:cubicBezTo>
                  <a:pt x="2481272" y="4411160"/>
                  <a:pt x="2201495" y="4316212"/>
                  <a:pt x="2066204" y="4348516"/>
                </a:cubicBezTo>
                <a:cubicBezTo>
                  <a:pt x="1930913" y="4380820"/>
                  <a:pt x="1759514" y="4312601"/>
                  <a:pt x="1661827" y="4348516"/>
                </a:cubicBezTo>
                <a:cubicBezTo>
                  <a:pt x="1564140" y="4384431"/>
                  <a:pt x="1302811" y="4284923"/>
                  <a:pt x="1107884" y="4348516"/>
                </a:cubicBezTo>
                <a:cubicBezTo>
                  <a:pt x="912957" y="4412109"/>
                  <a:pt x="767750" y="4301704"/>
                  <a:pt x="603797" y="4348516"/>
                </a:cubicBezTo>
                <a:cubicBezTo>
                  <a:pt x="439844" y="4395328"/>
                  <a:pt x="167520" y="4287670"/>
                  <a:pt x="0" y="4348516"/>
                </a:cubicBezTo>
                <a:cubicBezTo>
                  <a:pt x="-41518" y="4178277"/>
                  <a:pt x="8714" y="3959031"/>
                  <a:pt x="0" y="3848437"/>
                </a:cubicBezTo>
                <a:cubicBezTo>
                  <a:pt x="-8714" y="3737843"/>
                  <a:pt x="37059" y="3527869"/>
                  <a:pt x="0" y="3217902"/>
                </a:cubicBezTo>
                <a:cubicBezTo>
                  <a:pt x="-37059" y="2907936"/>
                  <a:pt x="49182" y="2855336"/>
                  <a:pt x="0" y="2630852"/>
                </a:cubicBezTo>
                <a:cubicBezTo>
                  <a:pt x="-49182" y="2406368"/>
                  <a:pt x="42029" y="2290014"/>
                  <a:pt x="0" y="2130773"/>
                </a:cubicBezTo>
                <a:cubicBezTo>
                  <a:pt x="-42029" y="1971532"/>
                  <a:pt x="19453" y="1886319"/>
                  <a:pt x="0" y="1717664"/>
                </a:cubicBezTo>
                <a:cubicBezTo>
                  <a:pt x="-19453" y="1549009"/>
                  <a:pt x="3227" y="1407184"/>
                  <a:pt x="0" y="1217584"/>
                </a:cubicBezTo>
                <a:cubicBezTo>
                  <a:pt x="-3227" y="1027984"/>
                  <a:pt x="24507" y="854238"/>
                  <a:pt x="0" y="630535"/>
                </a:cubicBezTo>
                <a:cubicBezTo>
                  <a:pt x="-24507" y="406832"/>
                  <a:pt x="69122" y="233969"/>
                  <a:pt x="0" y="0"/>
                </a:cubicBezTo>
                <a:close/>
              </a:path>
              <a:path w="4985480" h="4348516" stroke="0" extrusionOk="0">
                <a:moveTo>
                  <a:pt x="0" y="0"/>
                </a:moveTo>
                <a:cubicBezTo>
                  <a:pt x="225887" y="-1090"/>
                  <a:pt x="316858" y="31479"/>
                  <a:pt x="504087" y="0"/>
                </a:cubicBezTo>
                <a:cubicBezTo>
                  <a:pt x="691316" y="-31479"/>
                  <a:pt x="810689" y="26815"/>
                  <a:pt x="908465" y="0"/>
                </a:cubicBezTo>
                <a:cubicBezTo>
                  <a:pt x="1006241" y="-26815"/>
                  <a:pt x="1416728" y="74956"/>
                  <a:pt x="1562117" y="0"/>
                </a:cubicBezTo>
                <a:cubicBezTo>
                  <a:pt x="1707506" y="-74956"/>
                  <a:pt x="1898301" y="43496"/>
                  <a:pt x="2066204" y="0"/>
                </a:cubicBezTo>
                <a:cubicBezTo>
                  <a:pt x="2234107" y="-43496"/>
                  <a:pt x="2457136" y="4578"/>
                  <a:pt x="2570292" y="0"/>
                </a:cubicBezTo>
                <a:cubicBezTo>
                  <a:pt x="2683448" y="-4578"/>
                  <a:pt x="3038308" y="4759"/>
                  <a:pt x="3223944" y="0"/>
                </a:cubicBezTo>
                <a:cubicBezTo>
                  <a:pt x="3409580" y="-4759"/>
                  <a:pt x="3505684" y="52743"/>
                  <a:pt x="3678176" y="0"/>
                </a:cubicBezTo>
                <a:cubicBezTo>
                  <a:pt x="3850668" y="-52743"/>
                  <a:pt x="4196411" y="20067"/>
                  <a:pt x="4331828" y="0"/>
                </a:cubicBezTo>
                <a:cubicBezTo>
                  <a:pt x="4467245" y="-20067"/>
                  <a:pt x="4788206" y="30446"/>
                  <a:pt x="4985480" y="0"/>
                </a:cubicBezTo>
                <a:cubicBezTo>
                  <a:pt x="4996635" y="220358"/>
                  <a:pt x="4962302" y="353080"/>
                  <a:pt x="4985480" y="543565"/>
                </a:cubicBezTo>
                <a:cubicBezTo>
                  <a:pt x="5008658" y="734051"/>
                  <a:pt x="4955076" y="861336"/>
                  <a:pt x="4985480" y="1087129"/>
                </a:cubicBezTo>
                <a:cubicBezTo>
                  <a:pt x="5015884" y="1312922"/>
                  <a:pt x="4933332" y="1430944"/>
                  <a:pt x="4985480" y="1674179"/>
                </a:cubicBezTo>
                <a:cubicBezTo>
                  <a:pt x="5037628" y="1917414"/>
                  <a:pt x="4939812" y="1948683"/>
                  <a:pt x="4985480" y="2087288"/>
                </a:cubicBezTo>
                <a:cubicBezTo>
                  <a:pt x="5031148" y="2225893"/>
                  <a:pt x="4955769" y="2509370"/>
                  <a:pt x="4985480" y="2630852"/>
                </a:cubicBezTo>
                <a:cubicBezTo>
                  <a:pt x="5015191" y="2752334"/>
                  <a:pt x="4954564" y="2971128"/>
                  <a:pt x="4985480" y="3174417"/>
                </a:cubicBezTo>
                <a:cubicBezTo>
                  <a:pt x="5016396" y="3377706"/>
                  <a:pt x="4949383" y="3584710"/>
                  <a:pt x="4985480" y="3717981"/>
                </a:cubicBezTo>
                <a:cubicBezTo>
                  <a:pt x="5021577" y="3851252"/>
                  <a:pt x="4945763" y="4063605"/>
                  <a:pt x="4985480" y="4348516"/>
                </a:cubicBezTo>
                <a:cubicBezTo>
                  <a:pt x="4780613" y="4408412"/>
                  <a:pt x="4614423" y="4322074"/>
                  <a:pt x="4381683" y="4348516"/>
                </a:cubicBezTo>
                <a:cubicBezTo>
                  <a:pt x="4148943" y="4374958"/>
                  <a:pt x="4107800" y="4322280"/>
                  <a:pt x="3977305" y="4348516"/>
                </a:cubicBezTo>
                <a:cubicBezTo>
                  <a:pt x="3846810" y="4374752"/>
                  <a:pt x="3676915" y="4300020"/>
                  <a:pt x="3523073" y="4348516"/>
                </a:cubicBezTo>
                <a:cubicBezTo>
                  <a:pt x="3369231" y="4397012"/>
                  <a:pt x="3111696" y="4339136"/>
                  <a:pt x="2869421" y="4348516"/>
                </a:cubicBezTo>
                <a:cubicBezTo>
                  <a:pt x="2627146" y="4357896"/>
                  <a:pt x="2496164" y="4296875"/>
                  <a:pt x="2315478" y="4348516"/>
                </a:cubicBezTo>
                <a:cubicBezTo>
                  <a:pt x="2134792" y="4400157"/>
                  <a:pt x="2056999" y="4319912"/>
                  <a:pt x="1861246" y="4348516"/>
                </a:cubicBezTo>
                <a:cubicBezTo>
                  <a:pt x="1665493" y="4377120"/>
                  <a:pt x="1515596" y="4283618"/>
                  <a:pt x="1307304" y="4348516"/>
                </a:cubicBezTo>
                <a:cubicBezTo>
                  <a:pt x="1099012" y="4413414"/>
                  <a:pt x="1049784" y="4326601"/>
                  <a:pt x="902926" y="4348516"/>
                </a:cubicBezTo>
                <a:cubicBezTo>
                  <a:pt x="756068" y="4370431"/>
                  <a:pt x="680260" y="4341204"/>
                  <a:pt x="498548" y="4348516"/>
                </a:cubicBezTo>
                <a:cubicBezTo>
                  <a:pt x="316836" y="4355828"/>
                  <a:pt x="100710" y="4310856"/>
                  <a:pt x="0" y="4348516"/>
                </a:cubicBezTo>
                <a:cubicBezTo>
                  <a:pt x="-18276" y="4143531"/>
                  <a:pt x="28251" y="4055958"/>
                  <a:pt x="0" y="3891922"/>
                </a:cubicBezTo>
                <a:cubicBezTo>
                  <a:pt x="-28251" y="3727886"/>
                  <a:pt x="3503" y="3575702"/>
                  <a:pt x="0" y="3261387"/>
                </a:cubicBezTo>
                <a:cubicBezTo>
                  <a:pt x="-3503" y="2947072"/>
                  <a:pt x="38246" y="3004841"/>
                  <a:pt x="0" y="2761308"/>
                </a:cubicBezTo>
                <a:cubicBezTo>
                  <a:pt x="-38246" y="2517775"/>
                  <a:pt x="23650" y="2554237"/>
                  <a:pt x="0" y="2348199"/>
                </a:cubicBezTo>
                <a:cubicBezTo>
                  <a:pt x="-23650" y="2142161"/>
                  <a:pt x="6970" y="1888278"/>
                  <a:pt x="0" y="1761149"/>
                </a:cubicBezTo>
                <a:cubicBezTo>
                  <a:pt x="-6970" y="1634020"/>
                  <a:pt x="39273" y="1499599"/>
                  <a:pt x="0" y="1304555"/>
                </a:cubicBezTo>
                <a:cubicBezTo>
                  <a:pt x="-39273" y="1109511"/>
                  <a:pt x="37131" y="986326"/>
                  <a:pt x="0" y="717505"/>
                </a:cubicBezTo>
                <a:cubicBezTo>
                  <a:pt x="-37131" y="448684"/>
                  <a:pt x="17527" y="163196"/>
                  <a:pt x="0" y="0"/>
                </a:cubicBezTo>
                <a:close/>
              </a:path>
            </a:pathLst>
          </a:custGeom>
          <a:solidFill>
            <a:srgbClr val="7030A0"/>
          </a:solidFill>
          <a:ln w="508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Achieving latency fairness in a cloud financial exchange</a:t>
            </a:r>
          </a:p>
          <a:p>
            <a:pPr algn="ctr"/>
            <a:r>
              <a:rPr lang="en-US" sz="2800" dirty="0"/>
              <a:t>+</a:t>
            </a:r>
          </a:p>
          <a:p>
            <a:pPr algn="ctr"/>
            <a:r>
              <a:rPr lang="en-US" sz="2800" dirty="0"/>
              <a:t>Achieving high performance while retaining latency fairness</a:t>
            </a:r>
          </a:p>
        </p:txBody>
      </p:sp>
      <p:sp>
        <p:nvSpPr>
          <p:cNvPr id="3" name="Rectangle 2">
            <a:extLst>
              <a:ext uri="{FF2B5EF4-FFF2-40B4-BE49-F238E27FC236}">
                <a16:creationId xmlns:a16="http://schemas.microsoft.com/office/drawing/2014/main" id="{0D91D2DB-0397-5348-8589-51C8E04EED84}"/>
              </a:ext>
            </a:extLst>
          </p:cNvPr>
          <p:cNvSpPr/>
          <p:nvPr/>
        </p:nvSpPr>
        <p:spPr>
          <a:xfrm>
            <a:off x="6579476" y="962887"/>
            <a:ext cx="4278350" cy="4071568"/>
          </a:xfrm>
          <a:custGeom>
            <a:avLst/>
            <a:gdLst>
              <a:gd name="csX0" fmla="*/ 0 w 4278350"/>
              <a:gd name="csY0" fmla="*/ 0 h 4071568"/>
              <a:gd name="csX1" fmla="*/ 406443 w 4278350"/>
              <a:gd name="csY1" fmla="*/ 0 h 4071568"/>
              <a:gd name="csX2" fmla="*/ 984021 w 4278350"/>
              <a:gd name="csY2" fmla="*/ 0 h 4071568"/>
              <a:gd name="csX3" fmla="*/ 1476031 w 4278350"/>
              <a:gd name="csY3" fmla="*/ 0 h 4071568"/>
              <a:gd name="csX4" fmla="*/ 2010825 w 4278350"/>
              <a:gd name="csY4" fmla="*/ 0 h 4071568"/>
              <a:gd name="csX5" fmla="*/ 2631185 w 4278350"/>
              <a:gd name="csY5" fmla="*/ 0 h 4071568"/>
              <a:gd name="csX6" fmla="*/ 3080412 w 4278350"/>
              <a:gd name="csY6" fmla="*/ 0 h 4071568"/>
              <a:gd name="csX7" fmla="*/ 3657989 w 4278350"/>
              <a:gd name="csY7" fmla="*/ 0 h 4071568"/>
              <a:gd name="csX8" fmla="*/ 4278350 w 4278350"/>
              <a:gd name="csY8" fmla="*/ 0 h 4071568"/>
              <a:gd name="csX9" fmla="*/ 4278350 w 4278350"/>
              <a:gd name="csY9" fmla="*/ 581653 h 4071568"/>
              <a:gd name="csX10" fmla="*/ 4278350 w 4278350"/>
              <a:gd name="csY10" fmla="*/ 1163305 h 4071568"/>
              <a:gd name="csX11" fmla="*/ 4278350 w 4278350"/>
              <a:gd name="csY11" fmla="*/ 1663526 h 4071568"/>
              <a:gd name="csX12" fmla="*/ 4278350 w 4278350"/>
              <a:gd name="csY12" fmla="*/ 2326610 h 4071568"/>
              <a:gd name="csX13" fmla="*/ 4278350 w 4278350"/>
              <a:gd name="csY13" fmla="*/ 2908263 h 4071568"/>
              <a:gd name="csX14" fmla="*/ 4278350 w 4278350"/>
              <a:gd name="csY14" fmla="*/ 3571347 h 4071568"/>
              <a:gd name="csX15" fmla="*/ 4278350 w 4278350"/>
              <a:gd name="csY15" fmla="*/ 4071568 h 4071568"/>
              <a:gd name="csX16" fmla="*/ 3786340 w 4278350"/>
              <a:gd name="csY16" fmla="*/ 4071568 h 4071568"/>
              <a:gd name="csX17" fmla="*/ 3294330 w 4278350"/>
              <a:gd name="csY17" fmla="*/ 4071568 h 4071568"/>
              <a:gd name="csX18" fmla="*/ 2716752 w 4278350"/>
              <a:gd name="csY18" fmla="*/ 4071568 h 4071568"/>
              <a:gd name="csX19" fmla="*/ 2181959 w 4278350"/>
              <a:gd name="csY19" fmla="*/ 4071568 h 4071568"/>
              <a:gd name="csX20" fmla="*/ 1561598 w 4278350"/>
              <a:gd name="csY20" fmla="*/ 4071568 h 4071568"/>
              <a:gd name="csX21" fmla="*/ 941237 w 4278350"/>
              <a:gd name="csY21" fmla="*/ 4071568 h 4071568"/>
              <a:gd name="csX22" fmla="*/ 0 w 4278350"/>
              <a:gd name="csY22" fmla="*/ 4071568 h 4071568"/>
              <a:gd name="csX23" fmla="*/ 0 w 4278350"/>
              <a:gd name="csY23" fmla="*/ 3449200 h 4071568"/>
              <a:gd name="csX24" fmla="*/ 0 w 4278350"/>
              <a:gd name="csY24" fmla="*/ 2826831 h 4071568"/>
              <a:gd name="csX25" fmla="*/ 0 w 4278350"/>
              <a:gd name="csY25" fmla="*/ 2245179 h 4071568"/>
              <a:gd name="csX26" fmla="*/ 0 w 4278350"/>
              <a:gd name="csY26" fmla="*/ 1663526 h 4071568"/>
              <a:gd name="csX27" fmla="*/ 0 w 4278350"/>
              <a:gd name="csY27" fmla="*/ 1081874 h 4071568"/>
              <a:gd name="csX28" fmla="*/ 0 w 4278350"/>
              <a:gd name="csY28" fmla="*/ 622368 h 4071568"/>
              <a:gd name="csX29" fmla="*/ 0 w 4278350"/>
              <a:gd name="csY29" fmla="*/ 0 h 4071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278350" h="4071568" fill="none" extrusionOk="0">
                <a:moveTo>
                  <a:pt x="0" y="0"/>
                </a:moveTo>
                <a:cubicBezTo>
                  <a:pt x="190564" y="-46449"/>
                  <a:pt x="212798" y="7765"/>
                  <a:pt x="406443" y="0"/>
                </a:cubicBezTo>
                <a:cubicBezTo>
                  <a:pt x="600088" y="-7765"/>
                  <a:pt x="807548" y="19642"/>
                  <a:pt x="984021" y="0"/>
                </a:cubicBezTo>
                <a:cubicBezTo>
                  <a:pt x="1160494" y="-19642"/>
                  <a:pt x="1264400" y="50432"/>
                  <a:pt x="1476031" y="0"/>
                </a:cubicBezTo>
                <a:cubicBezTo>
                  <a:pt x="1687662" y="-50432"/>
                  <a:pt x="1746464" y="21060"/>
                  <a:pt x="2010825" y="0"/>
                </a:cubicBezTo>
                <a:cubicBezTo>
                  <a:pt x="2275186" y="-21060"/>
                  <a:pt x="2459651" y="59304"/>
                  <a:pt x="2631185" y="0"/>
                </a:cubicBezTo>
                <a:cubicBezTo>
                  <a:pt x="2802719" y="-59304"/>
                  <a:pt x="2882276" y="1405"/>
                  <a:pt x="3080412" y="0"/>
                </a:cubicBezTo>
                <a:cubicBezTo>
                  <a:pt x="3278548" y="-1405"/>
                  <a:pt x="3461320" y="46258"/>
                  <a:pt x="3657989" y="0"/>
                </a:cubicBezTo>
                <a:cubicBezTo>
                  <a:pt x="3854658" y="-46258"/>
                  <a:pt x="3999840" y="15215"/>
                  <a:pt x="4278350" y="0"/>
                </a:cubicBezTo>
                <a:cubicBezTo>
                  <a:pt x="4347425" y="265135"/>
                  <a:pt x="4248272" y="411274"/>
                  <a:pt x="4278350" y="581653"/>
                </a:cubicBezTo>
                <a:cubicBezTo>
                  <a:pt x="4308428" y="752032"/>
                  <a:pt x="4257195" y="1008985"/>
                  <a:pt x="4278350" y="1163305"/>
                </a:cubicBezTo>
                <a:cubicBezTo>
                  <a:pt x="4299505" y="1317625"/>
                  <a:pt x="4234635" y="1516945"/>
                  <a:pt x="4278350" y="1663526"/>
                </a:cubicBezTo>
                <a:cubicBezTo>
                  <a:pt x="4322065" y="1810107"/>
                  <a:pt x="4267122" y="2087022"/>
                  <a:pt x="4278350" y="2326610"/>
                </a:cubicBezTo>
                <a:cubicBezTo>
                  <a:pt x="4289578" y="2566198"/>
                  <a:pt x="4240941" y="2631652"/>
                  <a:pt x="4278350" y="2908263"/>
                </a:cubicBezTo>
                <a:cubicBezTo>
                  <a:pt x="4315759" y="3184874"/>
                  <a:pt x="4206442" y="3351263"/>
                  <a:pt x="4278350" y="3571347"/>
                </a:cubicBezTo>
                <a:cubicBezTo>
                  <a:pt x="4350258" y="3791431"/>
                  <a:pt x="4258410" y="3944857"/>
                  <a:pt x="4278350" y="4071568"/>
                </a:cubicBezTo>
                <a:cubicBezTo>
                  <a:pt x="4135729" y="4111175"/>
                  <a:pt x="4031983" y="4018143"/>
                  <a:pt x="3786340" y="4071568"/>
                </a:cubicBezTo>
                <a:cubicBezTo>
                  <a:pt x="3540697" y="4124993"/>
                  <a:pt x="3523818" y="4051418"/>
                  <a:pt x="3294330" y="4071568"/>
                </a:cubicBezTo>
                <a:cubicBezTo>
                  <a:pt x="3064842" y="4091718"/>
                  <a:pt x="2968188" y="4007750"/>
                  <a:pt x="2716752" y="4071568"/>
                </a:cubicBezTo>
                <a:cubicBezTo>
                  <a:pt x="2465316" y="4135386"/>
                  <a:pt x="2434263" y="4037607"/>
                  <a:pt x="2181959" y="4071568"/>
                </a:cubicBezTo>
                <a:cubicBezTo>
                  <a:pt x="1929655" y="4105529"/>
                  <a:pt x="1849905" y="4070002"/>
                  <a:pt x="1561598" y="4071568"/>
                </a:cubicBezTo>
                <a:cubicBezTo>
                  <a:pt x="1273291" y="4073134"/>
                  <a:pt x="1189453" y="4016141"/>
                  <a:pt x="941237" y="4071568"/>
                </a:cubicBezTo>
                <a:cubicBezTo>
                  <a:pt x="693021" y="4126995"/>
                  <a:pt x="424406" y="4009224"/>
                  <a:pt x="0" y="4071568"/>
                </a:cubicBezTo>
                <a:cubicBezTo>
                  <a:pt x="-13571" y="3763138"/>
                  <a:pt x="40335" y="3732407"/>
                  <a:pt x="0" y="3449200"/>
                </a:cubicBezTo>
                <a:cubicBezTo>
                  <a:pt x="-40335" y="3165993"/>
                  <a:pt x="33818" y="3027061"/>
                  <a:pt x="0" y="2826831"/>
                </a:cubicBezTo>
                <a:cubicBezTo>
                  <a:pt x="-33818" y="2626601"/>
                  <a:pt x="33945" y="2477741"/>
                  <a:pt x="0" y="2245179"/>
                </a:cubicBezTo>
                <a:cubicBezTo>
                  <a:pt x="-33945" y="2012617"/>
                  <a:pt x="19742" y="1894038"/>
                  <a:pt x="0" y="1663526"/>
                </a:cubicBezTo>
                <a:cubicBezTo>
                  <a:pt x="-19742" y="1433014"/>
                  <a:pt x="21615" y="1303028"/>
                  <a:pt x="0" y="1081874"/>
                </a:cubicBezTo>
                <a:cubicBezTo>
                  <a:pt x="-21615" y="860720"/>
                  <a:pt x="26965" y="718481"/>
                  <a:pt x="0" y="622368"/>
                </a:cubicBezTo>
                <a:cubicBezTo>
                  <a:pt x="-26965" y="526255"/>
                  <a:pt x="65079" y="178779"/>
                  <a:pt x="0" y="0"/>
                </a:cubicBezTo>
                <a:close/>
              </a:path>
              <a:path w="4278350" h="4071568" stroke="0" extrusionOk="0">
                <a:moveTo>
                  <a:pt x="0" y="0"/>
                </a:moveTo>
                <a:cubicBezTo>
                  <a:pt x="150435" y="-53832"/>
                  <a:pt x="261761" y="41544"/>
                  <a:pt x="492010" y="0"/>
                </a:cubicBezTo>
                <a:cubicBezTo>
                  <a:pt x="722259" y="-41544"/>
                  <a:pt x="786025" y="6707"/>
                  <a:pt x="898454" y="0"/>
                </a:cubicBezTo>
                <a:cubicBezTo>
                  <a:pt x="1010883" y="-6707"/>
                  <a:pt x="1363618" y="52728"/>
                  <a:pt x="1518814" y="0"/>
                </a:cubicBezTo>
                <a:cubicBezTo>
                  <a:pt x="1674010" y="-52728"/>
                  <a:pt x="1848399" y="3334"/>
                  <a:pt x="2010825" y="0"/>
                </a:cubicBezTo>
                <a:cubicBezTo>
                  <a:pt x="2173251" y="-3334"/>
                  <a:pt x="2362274" y="34649"/>
                  <a:pt x="2502835" y="0"/>
                </a:cubicBezTo>
                <a:cubicBezTo>
                  <a:pt x="2643396" y="-34649"/>
                  <a:pt x="2954766" y="71632"/>
                  <a:pt x="3123196" y="0"/>
                </a:cubicBezTo>
                <a:cubicBezTo>
                  <a:pt x="3291626" y="-71632"/>
                  <a:pt x="3396480" y="8317"/>
                  <a:pt x="3572422" y="0"/>
                </a:cubicBezTo>
                <a:cubicBezTo>
                  <a:pt x="3748364" y="-8317"/>
                  <a:pt x="4057245" y="5233"/>
                  <a:pt x="4278350" y="0"/>
                </a:cubicBezTo>
                <a:cubicBezTo>
                  <a:pt x="4351325" y="179201"/>
                  <a:pt x="4226710" y="360802"/>
                  <a:pt x="4278350" y="663084"/>
                </a:cubicBezTo>
                <a:cubicBezTo>
                  <a:pt x="4329990" y="965366"/>
                  <a:pt x="4265258" y="938625"/>
                  <a:pt x="4278350" y="1163305"/>
                </a:cubicBezTo>
                <a:cubicBezTo>
                  <a:pt x="4291442" y="1387985"/>
                  <a:pt x="4224838" y="1628036"/>
                  <a:pt x="4278350" y="1744958"/>
                </a:cubicBezTo>
                <a:cubicBezTo>
                  <a:pt x="4331862" y="1861880"/>
                  <a:pt x="4260391" y="2074918"/>
                  <a:pt x="4278350" y="2367326"/>
                </a:cubicBezTo>
                <a:cubicBezTo>
                  <a:pt x="4296309" y="2659734"/>
                  <a:pt x="4254594" y="2690089"/>
                  <a:pt x="4278350" y="2826831"/>
                </a:cubicBezTo>
                <a:cubicBezTo>
                  <a:pt x="4302106" y="2963573"/>
                  <a:pt x="4275778" y="3228066"/>
                  <a:pt x="4278350" y="3408484"/>
                </a:cubicBezTo>
                <a:cubicBezTo>
                  <a:pt x="4280922" y="3588902"/>
                  <a:pt x="4206809" y="3853200"/>
                  <a:pt x="4278350" y="4071568"/>
                </a:cubicBezTo>
                <a:cubicBezTo>
                  <a:pt x="4162307" y="4112310"/>
                  <a:pt x="3872799" y="4071209"/>
                  <a:pt x="3743556" y="4071568"/>
                </a:cubicBezTo>
                <a:cubicBezTo>
                  <a:pt x="3614313" y="4071927"/>
                  <a:pt x="3364148" y="4057515"/>
                  <a:pt x="3123196" y="4071568"/>
                </a:cubicBezTo>
                <a:cubicBezTo>
                  <a:pt x="2882244" y="4085621"/>
                  <a:pt x="2763961" y="4041686"/>
                  <a:pt x="2588402" y="4071568"/>
                </a:cubicBezTo>
                <a:cubicBezTo>
                  <a:pt x="2412843" y="4101450"/>
                  <a:pt x="2296969" y="4044011"/>
                  <a:pt x="2181959" y="4071568"/>
                </a:cubicBezTo>
                <a:cubicBezTo>
                  <a:pt x="2066949" y="4099125"/>
                  <a:pt x="1921521" y="4044606"/>
                  <a:pt x="1732732" y="4071568"/>
                </a:cubicBezTo>
                <a:cubicBezTo>
                  <a:pt x="1543943" y="4098530"/>
                  <a:pt x="1311915" y="4054395"/>
                  <a:pt x="1112371" y="4071568"/>
                </a:cubicBezTo>
                <a:cubicBezTo>
                  <a:pt x="912827" y="4088741"/>
                  <a:pt x="790848" y="4065610"/>
                  <a:pt x="577577" y="4071568"/>
                </a:cubicBezTo>
                <a:cubicBezTo>
                  <a:pt x="364306" y="4077526"/>
                  <a:pt x="240523" y="4032939"/>
                  <a:pt x="0" y="4071568"/>
                </a:cubicBezTo>
                <a:cubicBezTo>
                  <a:pt x="-10435" y="3929956"/>
                  <a:pt x="43031" y="3705369"/>
                  <a:pt x="0" y="3489915"/>
                </a:cubicBezTo>
                <a:cubicBezTo>
                  <a:pt x="-43031" y="3274461"/>
                  <a:pt x="39530" y="3176774"/>
                  <a:pt x="0" y="3030410"/>
                </a:cubicBezTo>
                <a:cubicBezTo>
                  <a:pt x="-39530" y="2884047"/>
                  <a:pt x="22659" y="2778666"/>
                  <a:pt x="0" y="2570904"/>
                </a:cubicBezTo>
                <a:cubicBezTo>
                  <a:pt x="-22659" y="2363142"/>
                  <a:pt x="20630" y="2174520"/>
                  <a:pt x="0" y="1948536"/>
                </a:cubicBezTo>
                <a:cubicBezTo>
                  <a:pt x="-20630" y="1722552"/>
                  <a:pt x="39940" y="1677537"/>
                  <a:pt x="0" y="1448315"/>
                </a:cubicBezTo>
                <a:cubicBezTo>
                  <a:pt x="-39940" y="1219093"/>
                  <a:pt x="39972" y="1008305"/>
                  <a:pt x="0" y="785231"/>
                </a:cubicBezTo>
                <a:cubicBezTo>
                  <a:pt x="-39972" y="562157"/>
                  <a:pt x="22171" y="298748"/>
                  <a:pt x="0" y="0"/>
                </a:cubicBezTo>
                <a:close/>
              </a:path>
            </a:pathLst>
          </a:custGeom>
          <a:solidFill>
            <a:srgbClr val="7030A0"/>
          </a:solidFill>
          <a:ln w="508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Achieving latency fairness probabilistically </a:t>
            </a:r>
            <a:br>
              <a:rPr lang="en-US" sz="2800" dirty="0"/>
            </a:br>
            <a:r>
              <a:rPr lang="en-US" sz="2800" dirty="0"/>
              <a:t>(inbound direction)</a:t>
            </a:r>
          </a:p>
        </p:txBody>
      </p:sp>
    </p:spTree>
    <p:extLst>
      <p:ext uri="{BB962C8B-B14F-4D97-AF65-F5344CB8AC3E}">
        <p14:creationId xmlns:p14="http://schemas.microsoft.com/office/powerpoint/2010/main" val="4177998852"/>
      </p:ext>
    </p:extLst>
  </p:cSld>
  <p:clrMapOvr>
    <a:masterClrMapping/>
  </p:clrMapOvr>
  <mc:AlternateContent xmlns:mc="http://schemas.openxmlformats.org/markup-compatibility/2006">
    <mc:Choice xmlns:p159="http://schemas.microsoft.com/office/powerpoint/2015/09/main" Requires="p159">
      <p:transition spd="med">
        <p159:morph option="byWord"/>
      </p:transition>
    </mc:Choice>
    <mc:Fallback>
      <p:transition spd="med">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0C2D0-2DA8-B072-DC7E-088E70737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E947E-FD00-9546-9D12-95B23BF1F483}"/>
              </a:ext>
            </a:extLst>
          </p:cNvPr>
          <p:cNvSpPr>
            <a:spLocks noGrp="1"/>
          </p:cNvSpPr>
          <p:nvPr>
            <p:ph type="title"/>
          </p:nvPr>
        </p:nvSpPr>
        <p:spPr/>
        <p:txBody>
          <a:bodyPr/>
          <a:lstStyle/>
          <a:p>
            <a:r>
              <a:rPr lang="en-US" dirty="0"/>
              <a:t>Future Work</a:t>
            </a:r>
          </a:p>
        </p:txBody>
      </p:sp>
      <p:sp>
        <p:nvSpPr>
          <p:cNvPr id="4" name="Rectangle 3">
            <a:extLst>
              <a:ext uri="{FF2B5EF4-FFF2-40B4-BE49-F238E27FC236}">
                <a16:creationId xmlns:a16="http://schemas.microsoft.com/office/drawing/2014/main" id="{13CCAE97-54FB-876F-917C-E88978A2BFD1}"/>
              </a:ext>
            </a:extLst>
          </p:cNvPr>
          <p:cNvSpPr/>
          <p:nvPr/>
        </p:nvSpPr>
        <p:spPr>
          <a:xfrm rot="16200000">
            <a:off x="2522582" y="-387076"/>
            <a:ext cx="68673" cy="324639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4538364-9BD8-D74F-9956-714D3B9BBC65}"/>
              </a:ext>
            </a:extLst>
          </p:cNvPr>
          <p:cNvSpPr/>
          <p:nvPr/>
        </p:nvSpPr>
        <p:spPr>
          <a:xfrm rot="16200000">
            <a:off x="2522581" y="-318404"/>
            <a:ext cx="68674" cy="324639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41CE5B6E-34CD-E211-2138-B954EFDB0DB3}"/>
              </a:ext>
            </a:extLst>
          </p:cNvPr>
          <p:cNvSpPr/>
          <p:nvPr/>
        </p:nvSpPr>
        <p:spPr>
          <a:xfrm>
            <a:off x="933724" y="1690688"/>
            <a:ext cx="9907102" cy="1307036"/>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Real world deployment of Tommy</a:t>
            </a:r>
            <a:br>
              <a:rPr lang="en-US" sz="2800" dirty="0"/>
            </a:br>
            <a:r>
              <a:rPr lang="en-US" sz="2200" dirty="0"/>
              <a:t>Studying performance and devising mechanisms for scalability</a:t>
            </a:r>
          </a:p>
        </p:txBody>
      </p:sp>
      <p:sp>
        <p:nvSpPr>
          <p:cNvPr id="9" name="Rounded Rectangle 8">
            <a:extLst>
              <a:ext uri="{FF2B5EF4-FFF2-40B4-BE49-F238E27FC236}">
                <a16:creationId xmlns:a16="http://schemas.microsoft.com/office/drawing/2014/main" id="{A8647562-6A77-088F-CDF7-779BBBC26061}"/>
              </a:ext>
            </a:extLst>
          </p:cNvPr>
          <p:cNvSpPr/>
          <p:nvPr/>
        </p:nvSpPr>
        <p:spPr>
          <a:xfrm>
            <a:off x="933724" y="3016251"/>
            <a:ext cx="8295118" cy="1307036"/>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Theoretical treatment of Tommy</a:t>
            </a:r>
          </a:p>
          <a:p>
            <a:r>
              <a:rPr lang="en-US" sz="2200" dirty="0"/>
              <a:t>Efficiency of online mechanism (regret bounds etc.)</a:t>
            </a:r>
          </a:p>
          <a:p>
            <a:r>
              <a:rPr lang="en-US" sz="2200" dirty="0"/>
              <a:t>Extending partial order to total order by balancing out unfairness</a:t>
            </a:r>
          </a:p>
        </p:txBody>
      </p:sp>
      <p:sp>
        <p:nvSpPr>
          <p:cNvPr id="10" name="Rounded Rectangle 9">
            <a:extLst>
              <a:ext uri="{FF2B5EF4-FFF2-40B4-BE49-F238E27FC236}">
                <a16:creationId xmlns:a16="http://schemas.microsoft.com/office/drawing/2014/main" id="{23E37102-A452-20EA-8F23-6D7B47A39DB4}"/>
              </a:ext>
            </a:extLst>
          </p:cNvPr>
          <p:cNvSpPr/>
          <p:nvPr/>
        </p:nvSpPr>
        <p:spPr>
          <a:xfrm>
            <a:off x="933724" y="4349182"/>
            <a:ext cx="9303786" cy="130703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Building systems atop Tommy</a:t>
            </a:r>
            <a:br>
              <a:rPr lang="en-US" sz="2800" dirty="0"/>
            </a:br>
            <a:r>
              <a:rPr lang="en-US" sz="2200" dirty="0"/>
              <a:t>Timestamped packet capture, observability, finding arbitrage opportunities</a:t>
            </a:r>
          </a:p>
        </p:txBody>
      </p:sp>
      <p:sp>
        <p:nvSpPr>
          <p:cNvPr id="12" name="Rounded Rectangle 11">
            <a:extLst>
              <a:ext uri="{FF2B5EF4-FFF2-40B4-BE49-F238E27FC236}">
                <a16:creationId xmlns:a16="http://schemas.microsoft.com/office/drawing/2014/main" id="{D1776E54-84AB-9687-D240-6CCECB58F848}"/>
              </a:ext>
            </a:extLst>
          </p:cNvPr>
          <p:cNvSpPr/>
          <p:nvPr/>
        </p:nvSpPr>
        <p:spPr>
          <a:xfrm>
            <a:off x="933723" y="5682113"/>
            <a:ext cx="7079061" cy="935503"/>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Expanding trust models for Onyx and Tommy</a:t>
            </a:r>
          </a:p>
        </p:txBody>
      </p:sp>
      <p:sp>
        <p:nvSpPr>
          <p:cNvPr id="13" name="Rounded Rectangle 12">
            <a:extLst>
              <a:ext uri="{FF2B5EF4-FFF2-40B4-BE49-F238E27FC236}">
                <a16:creationId xmlns:a16="http://schemas.microsoft.com/office/drawing/2014/main" id="{0020EF64-D07C-BEE8-E49C-191EF39EFA1C}"/>
              </a:ext>
            </a:extLst>
          </p:cNvPr>
          <p:cNvSpPr/>
          <p:nvPr/>
        </p:nvSpPr>
        <p:spPr>
          <a:xfrm>
            <a:off x="5081283" y="420355"/>
            <a:ext cx="3341567" cy="1181840"/>
          </a:xfrm>
          <a:prstGeom prst="round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800" dirty="0">
                <a:solidFill>
                  <a:schemeClr val="tx1"/>
                </a:solidFill>
              </a:rPr>
              <a:t>Thank you!</a:t>
            </a:r>
            <a:endParaRPr lang="en-US" sz="4000" dirty="0">
              <a:solidFill>
                <a:schemeClr val="tx1"/>
              </a:solidFill>
            </a:endParaRPr>
          </a:p>
        </p:txBody>
      </p:sp>
    </p:spTree>
    <p:extLst>
      <p:ext uri="{BB962C8B-B14F-4D97-AF65-F5344CB8AC3E}">
        <p14:creationId xmlns:p14="http://schemas.microsoft.com/office/powerpoint/2010/main" val="1143571987"/>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3.xml><?xml version="1.0" encoding="utf-8"?>
<p:tagLst xmlns:a="http://schemas.openxmlformats.org/drawingml/2006/main" xmlns:r="http://schemas.openxmlformats.org/officeDocument/2006/relationships" xmlns:p="http://schemas.openxmlformats.org/presentationml/2006/main">
  <p:tag name="NAME" val="CustomIcon"/>
</p:tagLst>
</file>

<file path=ppt/tags/tag4.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5.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6.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7.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8.xml><?xml version="1.0" encoding="utf-8"?>
<p:tagLst xmlns:a="http://schemas.openxmlformats.org/drawingml/2006/main" xmlns:r="http://schemas.openxmlformats.org/officeDocument/2006/relationships" xmlns:p="http://schemas.openxmlformats.org/presentationml/2006/main">
  <p:tag name="NAME" val="TitleTrackerAlpha"/>
</p:tagLst>
</file>

<file path=ppt/tags/tag9.xml><?xml version="1.0" encoding="utf-8"?>
<p:tagLst xmlns:a="http://schemas.openxmlformats.org/drawingml/2006/main" xmlns:r="http://schemas.openxmlformats.org/officeDocument/2006/relationships" xmlns:p="http://schemas.openxmlformats.org/presentationml/2006/main">
  <p:tag name="NAME" val="Body1"/>
</p:tagLst>
</file>

<file path=ppt/tags/tag10.xml><?xml version="1.0" encoding="utf-8"?>
<p:tagLst xmlns:a="http://schemas.openxmlformats.org/drawingml/2006/main" xmlns:r="http://schemas.openxmlformats.org/officeDocument/2006/relationships" xmlns:p="http://schemas.openxmlformats.org/presentationml/2006/main">
  <p:tag name="NAME" val="Body1"/>
</p:tagLst>
</file>

<file path=ppt/tags/tag11.xml><?xml version="1.0" encoding="utf-8"?>
<p:tagLst xmlns:a="http://schemas.openxmlformats.org/drawingml/2006/main" xmlns:r="http://schemas.openxmlformats.org/officeDocument/2006/relationships" xmlns:p="http://schemas.openxmlformats.org/presentationml/2006/main">
  <p:tag name="NAME" val="Body1"/>
</p:tagLst>
</file>

<file path=ppt/tags/tag12.xml><?xml version="1.0" encoding="utf-8"?>
<p:tagLst xmlns:a="http://schemas.openxmlformats.org/drawingml/2006/main" xmlns:r="http://schemas.openxmlformats.org/officeDocument/2006/relationships" xmlns:p="http://schemas.openxmlformats.org/presentationml/2006/main">
  <p:tag name="NAME" val="Body1"/>
</p:tagLst>
</file>

<file path=ppt/tags/tag13.xml><?xml version="1.0" encoding="utf-8"?>
<p:tagLst xmlns:a="http://schemas.openxmlformats.org/drawingml/2006/main" xmlns:r="http://schemas.openxmlformats.org/officeDocument/2006/relationships" xmlns:p="http://schemas.openxmlformats.org/presentationml/2006/main">
  <p:tag name="NAME" val="Body1"/>
</p:tagLst>
</file>

<file path=ppt/tags/tag14.xml><?xml version="1.0" encoding="utf-8"?>
<p:tagLst xmlns:a="http://schemas.openxmlformats.org/drawingml/2006/main" xmlns:r="http://schemas.openxmlformats.org/officeDocument/2006/relationships" xmlns:p="http://schemas.openxmlformats.org/presentationml/2006/main">
  <p:tag name="NAME" val="Body1"/>
</p:tagLst>
</file>

<file path=ppt/tags/tag15.xml><?xml version="1.0" encoding="utf-8"?>
<p:tagLst xmlns:a="http://schemas.openxmlformats.org/drawingml/2006/main" xmlns:r="http://schemas.openxmlformats.org/officeDocument/2006/relationships" xmlns:p="http://schemas.openxmlformats.org/presentationml/2006/main">
  <p:tag name="NAME" val="Body1"/>
</p:tagLst>
</file>

<file path=ppt/tags/tag16.xml><?xml version="1.0" encoding="utf-8"?>
<p:tagLst xmlns:a="http://schemas.openxmlformats.org/drawingml/2006/main" xmlns:r="http://schemas.openxmlformats.org/officeDocument/2006/relationships" xmlns:p="http://schemas.openxmlformats.org/presentationml/2006/main">
  <p:tag name="NAME" val="CustomIcon"/>
</p:tagLst>
</file>

<file path=ppt/tags/tag17.xml><?xml version="1.0" encoding="utf-8"?>
<p:tagLst xmlns:a="http://schemas.openxmlformats.org/drawingml/2006/main" xmlns:r="http://schemas.openxmlformats.org/officeDocument/2006/relationships" xmlns:p="http://schemas.openxmlformats.org/presentationml/2006/main">
  <p:tag name="NAME" val="CustomIcon"/>
</p:tagLst>
</file>

<file path=ppt/tags/tag18.xml><?xml version="1.0" encoding="utf-8"?>
<p:tagLst xmlns:a="http://schemas.openxmlformats.org/drawingml/2006/main" xmlns:r="http://schemas.openxmlformats.org/officeDocument/2006/relationships" xmlns:p="http://schemas.openxmlformats.org/presentationml/2006/main">
  <p:tag name="NAME" val="CustomIcon"/>
</p:tagLst>
</file>

<file path=ppt/tags/tag19.xml><?xml version="1.0" encoding="utf-8"?>
<p:tagLst xmlns:a="http://schemas.openxmlformats.org/drawingml/2006/main" xmlns:r="http://schemas.openxmlformats.org/officeDocument/2006/relationships" xmlns:p="http://schemas.openxmlformats.org/presentationml/2006/main">
  <p:tag name="NAME" val="CustomIcon"/>
</p:tagLst>
</file>

<file path=ppt/tags/tag20.xml><?xml version="1.0" encoding="utf-8"?>
<p:tagLst xmlns:a="http://schemas.openxmlformats.org/drawingml/2006/main" xmlns:r="http://schemas.openxmlformats.org/officeDocument/2006/relationships" xmlns:p="http://schemas.openxmlformats.org/presentationml/2006/main">
  <p:tag name="NAME" val="CustomIcon"/>
</p:tagLst>
</file>

<file path=ppt/tags/tag21.xml><?xml version="1.0" encoding="utf-8"?>
<p:tagLst xmlns:a="http://schemas.openxmlformats.org/drawingml/2006/main" xmlns:r="http://schemas.openxmlformats.org/officeDocument/2006/relationships" xmlns:p="http://schemas.openxmlformats.org/presentationml/2006/main">
  <p:tag name="NAME" val="Body1"/>
</p:tagLst>
</file>

<file path=ppt/tags/tag22.xml><?xml version="1.0" encoding="utf-8"?>
<p:tagLst xmlns:a="http://schemas.openxmlformats.org/drawingml/2006/main" xmlns:r="http://schemas.openxmlformats.org/officeDocument/2006/relationships" xmlns:p="http://schemas.openxmlformats.org/presentationml/2006/main">
  <p:tag name="NAME" val="Body1"/>
</p:tagLst>
</file>

<file path=ppt/tags/tag23.xml><?xml version="1.0" encoding="utf-8"?>
<p:tagLst xmlns:a="http://schemas.openxmlformats.org/drawingml/2006/main" xmlns:r="http://schemas.openxmlformats.org/officeDocument/2006/relationships" xmlns:p="http://schemas.openxmlformats.org/presentationml/2006/main">
  <p:tag name="NAME" val="Body1"/>
</p:tagLst>
</file>

<file path=ppt/tags/tag24.xml><?xml version="1.0" encoding="utf-8"?>
<p:tagLst xmlns:a="http://schemas.openxmlformats.org/drawingml/2006/main" xmlns:r="http://schemas.openxmlformats.org/officeDocument/2006/relationships" xmlns:p="http://schemas.openxmlformats.org/presentationml/2006/main">
  <p:tag name="NAME" val="Body1"/>
</p:tagLst>
</file>

<file path=ppt/tags/tag25.xml><?xml version="1.0" encoding="utf-8"?>
<p:tagLst xmlns:a="http://schemas.openxmlformats.org/drawingml/2006/main" xmlns:r="http://schemas.openxmlformats.org/officeDocument/2006/relationships" xmlns:p="http://schemas.openxmlformats.org/presentationml/2006/main">
  <p:tag name="NAME" val="Body1"/>
</p:tagLst>
</file>

<file path=ppt/tags/tag26.xml><?xml version="1.0" encoding="utf-8"?>
<p:tagLst xmlns:a="http://schemas.openxmlformats.org/drawingml/2006/main" xmlns:r="http://schemas.openxmlformats.org/officeDocument/2006/relationships" xmlns:p="http://schemas.openxmlformats.org/presentationml/2006/main">
  <p:tag name="NAME" val="Body1"/>
</p:tagLst>
</file>

<file path=ppt/tags/tag27.xml><?xml version="1.0" encoding="utf-8"?>
<p:tagLst xmlns:a="http://schemas.openxmlformats.org/drawingml/2006/main" xmlns:r="http://schemas.openxmlformats.org/officeDocument/2006/relationships" xmlns:p="http://schemas.openxmlformats.org/presentationml/2006/main">
  <p:tag name="NAME" val="Body1"/>
</p:tagLst>
</file>

<file path=ppt/tags/tag28.xml><?xml version="1.0" encoding="utf-8"?>
<p:tagLst xmlns:a="http://schemas.openxmlformats.org/drawingml/2006/main" xmlns:r="http://schemas.openxmlformats.org/officeDocument/2006/relationships" xmlns:p="http://schemas.openxmlformats.org/presentationml/2006/main">
  <p:tag name="NAME" val="Body1"/>
</p:tagLst>
</file>

<file path=ppt/tags/tag29.xml><?xml version="1.0" encoding="utf-8"?>
<p:tagLst xmlns:a="http://schemas.openxmlformats.org/drawingml/2006/main" xmlns:r="http://schemas.openxmlformats.org/officeDocument/2006/relationships" xmlns:p="http://schemas.openxmlformats.org/presentationml/2006/main">
  <p:tag name="NAME" val="Body1"/>
</p:tagLst>
</file>

<file path=ppt/tags/tag30.xml><?xml version="1.0" encoding="utf-8"?>
<p:tagLst xmlns:a="http://schemas.openxmlformats.org/drawingml/2006/main" xmlns:r="http://schemas.openxmlformats.org/officeDocument/2006/relationships" xmlns:p="http://schemas.openxmlformats.org/presentationml/2006/main">
  <p:tag name="NAME" val="Body1"/>
</p:tagLst>
</file>

<file path=ppt/tags/tag31.xml><?xml version="1.0" encoding="utf-8"?>
<p:tagLst xmlns:a="http://schemas.openxmlformats.org/drawingml/2006/main" xmlns:r="http://schemas.openxmlformats.org/officeDocument/2006/relationships" xmlns:p="http://schemas.openxmlformats.org/presentationml/2006/main">
  <p:tag name="NAME" val="Body1"/>
</p:tagLst>
</file>

<file path=ppt/tags/tag32.xml><?xml version="1.0" encoding="utf-8"?>
<p:tagLst xmlns:a="http://schemas.openxmlformats.org/drawingml/2006/main" xmlns:r="http://schemas.openxmlformats.org/officeDocument/2006/relationships" xmlns:p="http://schemas.openxmlformats.org/presentationml/2006/main">
  <p:tag name="NAME" val="Body1"/>
</p:tagLst>
</file>

<file path=ppt/tags/tag33.xml><?xml version="1.0" encoding="utf-8"?>
<p:tagLst xmlns:a="http://schemas.openxmlformats.org/drawingml/2006/main" xmlns:r="http://schemas.openxmlformats.org/officeDocument/2006/relationships" xmlns:p="http://schemas.openxmlformats.org/presentationml/2006/main">
  <p:tag name="NAME" val="Body1"/>
</p:tagLst>
</file>

<file path=ppt/tags/tag34.xml><?xml version="1.0" encoding="utf-8"?>
<p:tagLst xmlns:a="http://schemas.openxmlformats.org/drawingml/2006/main" xmlns:r="http://schemas.openxmlformats.org/officeDocument/2006/relationships" xmlns:p="http://schemas.openxmlformats.org/presentationml/2006/main">
  <p:tag name="NAME" val="Body1"/>
</p:tagLst>
</file>

<file path=ppt/tags/tag35.xml><?xml version="1.0" encoding="utf-8"?>
<p:tagLst xmlns:a="http://schemas.openxmlformats.org/drawingml/2006/main" xmlns:r="http://schemas.openxmlformats.org/officeDocument/2006/relationships" xmlns:p="http://schemas.openxmlformats.org/presentationml/2006/main">
  <p:tag name="NAME" val="Body1"/>
</p:tagLst>
</file>

<file path=ppt/tags/tag36.xml><?xml version="1.0" encoding="utf-8"?>
<p:tagLst xmlns:a="http://schemas.openxmlformats.org/drawingml/2006/main" xmlns:r="http://schemas.openxmlformats.org/officeDocument/2006/relationships" xmlns:p="http://schemas.openxmlformats.org/presentationml/2006/main">
  <p:tag name="NAME" val="Body1"/>
</p:tagLst>
</file>

<file path=ppt/tags/tag37.xml><?xml version="1.0" encoding="utf-8"?>
<p:tagLst xmlns:a="http://schemas.openxmlformats.org/drawingml/2006/main" xmlns:r="http://schemas.openxmlformats.org/officeDocument/2006/relationships" xmlns:p="http://schemas.openxmlformats.org/presentationml/2006/main">
  <p:tag name="NAME" val="Body1"/>
</p:tagLst>
</file>

<file path=ppt/tags/tag38.xml><?xml version="1.0" encoding="utf-8"?>
<p:tagLst xmlns:a="http://schemas.openxmlformats.org/drawingml/2006/main" xmlns:r="http://schemas.openxmlformats.org/officeDocument/2006/relationships" xmlns:p="http://schemas.openxmlformats.org/presentationml/2006/main">
  <p:tag name="NAME" val="Body1"/>
</p:tagLst>
</file>

<file path=ppt/tags/tag39.xml><?xml version="1.0" encoding="utf-8"?>
<p:tagLst xmlns:a="http://schemas.openxmlformats.org/drawingml/2006/main" xmlns:r="http://schemas.openxmlformats.org/officeDocument/2006/relationships" xmlns:p="http://schemas.openxmlformats.org/presentationml/2006/main">
  <p:tag name="NAME" val="Body1"/>
</p:tagLst>
</file>

<file path=ppt/tags/tag40.xml><?xml version="1.0" encoding="utf-8"?>
<p:tagLst xmlns:a="http://schemas.openxmlformats.org/drawingml/2006/main" xmlns:r="http://schemas.openxmlformats.org/officeDocument/2006/relationships" xmlns:p="http://schemas.openxmlformats.org/presentationml/2006/main">
  <p:tag name="NAME" val="Body1"/>
</p:tagLst>
</file>

<file path=ppt/tags/tag41.xml><?xml version="1.0" encoding="utf-8"?>
<p:tagLst xmlns:a="http://schemas.openxmlformats.org/drawingml/2006/main" xmlns:r="http://schemas.openxmlformats.org/officeDocument/2006/relationships" xmlns:p="http://schemas.openxmlformats.org/presentationml/2006/main">
  <p:tag name="NAME" val="Body1"/>
</p:tagLst>
</file>

<file path=ppt/tags/tag42.xml><?xml version="1.0" encoding="utf-8"?>
<p:tagLst xmlns:a="http://schemas.openxmlformats.org/drawingml/2006/main" xmlns:r="http://schemas.openxmlformats.org/officeDocument/2006/relationships" xmlns:p="http://schemas.openxmlformats.org/presentationml/2006/main">
  <p:tag name="NAME" val="Body1"/>
</p:tagLst>
</file>

<file path=ppt/tags/tag43.xml><?xml version="1.0" encoding="utf-8"?>
<p:tagLst xmlns:a="http://schemas.openxmlformats.org/drawingml/2006/main" xmlns:r="http://schemas.openxmlformats.org/officeDocument/2006/relationships" xmlns:p="http://schemas.openxmlformats.org/presentationml/2006/main">
  <p:tag name="NAME" val="Body1"/>
</p:tagLst>
</file>

<file path=ppt/tags/tag44.xml><?xml version="1.0" encoding="utf-8"?>
<p:tagLst xmlns:a="http://schemas.openxmlformats.org/drawingml/2006/main" xmlns:r="http://schemas.openxmlformats.org/officeDocument/2006/relationships" xmlns:p="http://schemas.openxmlformats.org/presentationml/2006/main">
  <p:tag name="NAME" val="Body1"/>
</p:tagLst>
</file>

<file path=ppt/tags/tag45.xml><?xml version="1.0" encoding="utf-8"?>
<p:tagLst xmlns:a="http://schemas.openxmlformats.org/drawingml/2006/main" xmlns:r="http://schemas.openxmlformats.org/officeDocument/2006/relationships" xmlns:p="http://schemas.openxmlformats.org/presentationml/2006/main">
  <p:tag name="NAME" val="Body1"/>
</p:tagLst>
</file>

<file path=ppt/tags/tag46.xml><?xml version="1.0" encoding="utf-8"?>
<p:tagLst xmlns:a="http://schemas.openxmlformats.org/drawingml/2006/main" xmlns:r="http://schemas.openxmlformats.org/officeDocument/2006/relationships" xmlns:p="http://schemas.openxmlformats.org/presentationml/2006/main">
  <p:tag name="NAME" val="Body1"/>
</p:tagLst>
</file>

<file path=ppt/tags/tag47.xml><?xml version="1.0" encoding="utf-8"?>
<p:tagLst xmlns:a="http://schemas.openxmlformats.org/drawingml/2006/main" xmlns:r="http://schemas.openxmlformats.org/officeDocument/2006/relationships" xmlns:p="http://schemas.openxmlformats.org/presentationml/2006/main">
  <p:tag name="NAME" val="Body1"/>
</p:tagLst>
</file>

<file path=ppt/tags/tag48.xml><?xml version="1.0" encoding="utf-8"?>
<p:tagLst xmlns:a="http://schemas.openxmlformats.org/drawingml/2006/main" xmlns:r="http://schemas.openxmlformats.org/officeDocument/2006/relationships" xmlns:p="http://schemas.openxmlformats.org/presentationml/2006/main">
  <p:tag name="NAME" val="Body1"/>
</p:tagLst>
</file>

<file path=ppt/tags/tag49.xml><?xml version="1.0" encoding="utf-8"?>
<p:tagLst xmlns:a="http://schemas.openxmlformats.org/drawingml/2006/main" xmlns:r="http://schemas.openxmlformats.org/officeDocument/2006/relationships" xmlns:p="http://schemas.openxmlformats.org/presentationml/2006/main">
  <p:tag name="NAME" val="Body1"/>
</p:tagLst>
</file>

<file path=ppt/tags/tag50.xml><?xml version="1.0" encoding="utf-8"?>
<p:tagLst xmlns:a="http://schemas.openxmlformats.org/drawingml/2006/main" xmlns:r="http://schemas.openxmlformats.org/officeDocument/2006/relationships" xmlns:p="http://schemas.openxmlformats.org/presentationml/2006/main">
  <p:tag name="NAME" val="Body1"/>
</p:tagLst>
</file>

<file path=ppt/tags/tag51.xml><?xml version="1.0" encoding="utf-8"?>
<p:tagLst xmlns:a="http://schemas.openxmlformats.org/drawingml/2006/main" xmlns:r="http://schemas.openxmlformats.org/officeDocument/2006/relationships" xmlns:p="http://schemas.openxmlformats.org/presentationml/2006/main">
  <p:tag name="NAME" val="Body1"/>
</p:tagLst>
</file>

<file path=ppt/tags/tag52.xml><?xml version="1.0" encoding="utf-8"?>
<p:tagLst xmlns:a="http://schemas.openxmlformats.org/drawingml/2006/main" xmlns:r="http://schemas.openxmlformats.org/officeDocument/2006/relationships" xmlns:p="http://schemas.openxmlformats.org/presentationml/2006/main">
  <p:tag name="NAME" val="Body1"/>
</p:tagLst>
</file>

<file path=ppt/tags/tag53.xml><?xml version="1.0" encoding="utf-8"?>
<p:tagLst xmlns:a="http://schemas.openxmlformats.org/drawingml/2006/main" xmlns:r="http://schemas.openxmlformats.org/officeDocument/2006/relationships" xmlns:p="http://schemas.openxmlformats.org/presentationml/2006/main">
  <p:tag name="NAME" val="Body1"/>
</p:tagLst>
</file>

<file path=ppt/tags/tag54.xml><?xml version="1.0" encoding="utf-8"?>
<p:tagLst xmlns:a="http://schemas.openxmlformats.org/drawingml/2006/main" xmlns:r="http://schemas.openxmlformats.org/officeDocument/2006/relationships" xmlns:p="http://schemas.openxmlformats.org/presentationml/2006/main">
  <p:tag name="NAME" val="Body1"/>
</p:tagLst>
</file>

<file path=ppt/tags/tag55.xml><?xml version="1.0" encoding="utf-8"?>
<p:tagLst xmlns:a="http://schemas.openxmlformats.org/drawingml/2006/main" xmlns:r="http://schemas.openxmlformats.org/officeDocument/2006/relationships" xmlns:p="http://schemas.openxmlformats.org/presentationml/2006/main">
  <p:tag name="NAME" val="Body1"/>
</p:tagLst>
</file>

<file path=ppt/tags/tag56.xml><?xml version="1.0" encoding="utf-8"?>
<p:tagLst xmlns:a="http://schemas.openxmlformats.org/drawingml/2006/main" xmlns:r="http://schemas.openxmlformats.org/officeDocument/2006/relationships" xmlns:p="http://schemas.openxmlformats.org/presentationml/2006/main">
  <p:tag name="NAME" val="Body1"/>
</p:tagLst>
</file>

<file path=ppt/tags/tag57.xml><?xml version="1.0" encoding="utf-8"?>
<p:tagLst xmlns:a="http://schemas.openxmlformats.org/drawingml/2006/main" xmlns:r="http://schemas.openxmlformats.org/officeDocument/2006/relationships" xmlns:p="http://schemas.openxmlformats.org/presentationml/2006/main">
  <p:tag name="NAME" val="Body1"/>
</p:tagLst>
</file>

<file path=ppt/tags/tag58.xml><?xml version="1.0" encoding="utf-8"?>
<p:tagLst xmlns:a="http://schemas.openxmlformats.org/drawingml/2006/main" xmlns:r="http://schemas.openxmlformats.org/officeDocument/2006/relationships" xmlns:p="http://schemas.openxmlformats.org/presentationml/2006/main">
  <p:tag name="NAME" val="Body1"/>
</p:tagLst>
</file>

<file path=ppt/tags/tag59.xml><?xml version="1.0" encoding="utf-8"?>
<p:tagLst xmlns:a="http://schemas.openxmlformats.org/drawingml/2006/main" xmlns:r="http://schemas.openxmlformats.org/officeDocument/2006/relationships" xmlns:p="http://schemas.openxmlformats.org/presentationml/2006/main">
  <p:tag name="NAME" val="Body1"/>
</p:tagLst>
</file>

<file path=ppt/tags/tag60.xml><?xml version="1.0" encoding="utf-8"?>
<p:tagLst xmlns:a="http://schemas.openxmlformats.org/drawingml/2006/main" xmlns:r="http://schemas.openxmlformats.org/officeDocument/2006/relationships" xmlns:p="http://schemas.openxmlformats.org/presentationml/2006/main">
  <p:tag name="NAME" val="Body1"/>
</p:tagLst>
</file>

<file path=ppt/tags/tag61.xml><?xml version="1.0" encoding="utf-8"?>
<p:tagLst xmlns:a="http://schemas.openxmlformats.org/drawingml/2006/main" xmlns:r="http://schemas.openxmlformats.org/officeDocument/2006/relationships" xmlns:p="http://schemas.openxmlformats.org/presentationml/2006/main">
  <p:tag name="NAME" val="Body1"/>
</p:tagLst>
</file>

<file path=ppt/tags/tag62.xml><?xml version="1.0" encoding="utf-8"?>
<p:tagLst xmlns:a="http://schemas.openxmlformats.org/drawingml/2006/main" xmlns:r="http://schemas.openxmlformats.org/officeDocument/2006/relationships" xmlns:p="http://schemas.openxmlformats.org/presentationml/2006/main">
  <p:tag name="NAME" val="Body1"/>
</p:tagLst>
</file>

<file path=ppt/tags/tag63.xml><?xml version="1.0" encoding="utf-8"?>
<p:tagLst xmlns:a="http://schemas.openxmlformats.org/drawingml/2006/main" xmlns:r="http://schemas.openxmlformats.org/officeDocument/2006/relationships" xmlns:p="http://schemas.openxmlformats.org/presentationml/2006/main">
  <p:tag name="NAME" val="Body1"/>
</p:tagLst>
</file>

<file path=ppt/tags/tag64.xml><?xml version="1.0" encoding="utf-8"?>
<p:tagLst xmlns:a="http://schemas.openxmlformats.org/drawingml/2006/main" xmlns:r="http://schemas.openxmlformats.org/officeDocument/2006/relationships" xmlns:p="http://schemas.openxmlformats.org/presentationml/2006/main">
  <p:tag name="NAME" val="Body1"/>
</p:tagLst>
</file>

<file path=ppt/tags/tag65.xml><?xml version="1.0" encoding="utf-8"?>
<p:tagLst xmlns:a="http://schemas.openxmlformats.org/drawingml/2006/main" xmlns:r="http://schemas.openxmlformats.org/officeDocument/2006/relationships" xmlns:p="http://schemas.openxmlformats.org/presentationml/2006/main">
  <p:tag name="NAME" val="Body1"/>
</p:tagLst>
</file>

<file path=ppt/tags/tag66.xml><?xml version="1.0" encoding="utf-8"?>
<p:tagLst xmlns:a="http://schemas.openxmlformats.org/drawingml/2006/main" xmlns:r="http://schemas.openxmlformats.org/officeDocument/2006/relationships" xmlns:p="http://schemas.openxmlformats.org/presentationml/2006/main">
  <p:tag name="NAME" val="Body1"/>
</p:tagLst>
</file>

<file path=ppt/tags/tag67.xml><?xml version="1.0" encoding="utf-8"?>
<p:tagLst xmlns:a="http://schemas.openxmlformats.org/drawingml/2006/main" xmlns:r="http://schemas.openxmlformats.org/officeDocument/2006/relationships" xmlns:p="http://schemas.openxmlformats.org/presentationml/2006/main">
  <p:tag name="NAME" val="Body1"/>
</p:tagLst>
</file>

<file path=ppt/tags/tag68.xml><?xml version="1.0" encoding="utf-8"?>
<p:tagLst xmlns:a="http://schemas.openxmlformats.org/drawingml/2006/main" xmlns:r="http://schemas.openxmlformats.org/officeDocument/2006/relationships" xmlns:p="http://schemas.openxmlformats.org/presentationml/2006/main">
  <p:tag name="NAME" val="Body1"/>
</p:tagLst>
</file>

<file path=ppt/tags/tag69.xml><?xml version="1.0" encoding="utf-8"?>
<p:tagLst xmlns:a="http://schemas.openxmlformats.org/drawingml/2006/main" xmlns:r="http://schemas.openxmlformats.org/officeDocument/2006/relationships" xmlns:p="http://schemas.openxmlformats.org/presentationml/2006/main">
  <p:tag name="NAME" val="Body1"/>
</p:tagLst>
</file>

<file path=ppt/tags/tag70.xml><?xml version="1.0" encoding="utf-8"?>
<p:tagLst xmlns:a="http://schemas.openxmlformats.org/drawingml/2006/main" xmlns:r="http://schemas.openxmlformats.org/officeDocument/2006/relationships" xmlns:p="http://schemas.openxmlformats.org/presentationml/2006/main">
  <p:tag name="NAME" val="Body1"/>
</p:tagLst>
</file>

<file path=ppt/tags/tag71.xml><?xml version="1.0" encoding="utf-8"?>
<p:tagLst xmlns:a="http://schemas.openxmlformats.org/drawingml/2006/main" xmlns:r="http://schemas.openxmlformats.org/officeDocument/2006/relationships" xmlns:p="http://schemas.openxmlformats.org/presentationml/2006/main">
  <p:tag name="NAME" val="Body1"/>
</p:tagLst>
</file>

<file path=ppt/tags/tag72.xml><?xml version="1.0" encoding="utf-8"?>
<p:tagLst xmlns:a="http://schemas.openxmlformats.org/drawingml/2006/main" xmlns:r="http://schemas.openxmlformats.org/officeDocument/2006/relationships" xmlns:p="http://schemas.openxmlformats.org/presentationml/2006/main">
  <p:tag name="NAME" val="Body1"/>
</p:tagLst>
</file>

<file path=ppt/tags/tag73.xml><?xml version="1.0" encoding="utf-8"?>
<p:tagLst xmlns:a="http://schemas.openxmlformats.org/drawingml/2006/main" xmlns:r="http://schemas.openxmlformats.org/officeDocument/2006/relationships" xmlns:p="http://schemas.openxmlformats.org/presentationml/2006/main">
  <p:tag name="NAME" val="Body1"/>
</p:tagLst>
</file>

<file path=ppt/tags/tag74.xml><?xml version="1.0" encoding="utf-8"?>
<p:tagLst xmlns:a="http://schemas.openxmlformats.org/drawingml/2006/main" xmlns:r="http://schemas.openxmlformats.org/officeDocument/2006/relationships" xmlns:p="http://schemas.openxmlformats.org/presentationml/2006/main">
  <p:tag name="NAME" val="Body1"/>
</p:tagLst>
</file>

<file path=ppt/tags/tag75.xml><?xml version="1.0" encoding="utf-8"?>
<p:tagLst xmlns:a="http://schemas.openxmlformats.org/drawingml/2006/main" xmlns:r="http://schemas.openxmlformats.org/officeDocument/2006/relationships" xmlns:p="http://schemas.openxmlformats.org/presentationml/2006/main">
  <p:tag name="NAME" val="Body1"/>
</p:tagLst>
</file>

<file path=ppt/tags/tag76.xml><?xml version="1.0" encoding="utf-8"?>
<p:tagLst xmlns:a="http://schemas.openxmlformats.org/drawingml/2006/main" xmlns:r="http://schemas.openxmlformats.org/officeDocument/2006/relationships" xmlns:p="http://schemas.openxmlformats.org/presentationml/2006/main">
  <p:tag name="NAME" val="Body1"/>
</p:tagLst>
</file>

<file path=ppt/tags/tag77.xml><?xml version="1.0" encoding="utf-8"?>
<p:tagLst xmlns:a="http://schemas.openxmlformats.org/drawingml/2006/main" xmlns:r="http://schemas.openxmlformats.org/officeDocument/2006/relationships" xmlns:p="http://schemas.openxmlformats.org/presentationml/2006/main">
  <p:tag name="NAME" val="Body1"/>
</p:tagLst>
</file>

<file path=ppt/tags/tag78.xml><?xml version="1.0" encoding="utf-8"?>
<p:tagLst xmlns:a="http://schemas.openxmlformats.org/drawingml/2006/main" xmlns:r="http://schemas.openxmlformats.org/officeDocument/2006/relationships" xmlns:p="http://schemas.openxmlformats.org/presentationml/2006/main">
  <p:tag name="NAME" val="Body1"/>
</p:tagLst>
</file>

<file path=ppt/tags/tag79.xml><?xml version="1.0" encoding="utf-8"?>
<p:tagLst xmlns:a="http://schemas.openxmlformats.org/drawingml/2006/main" xmlns:r="http://schemas.openxmlformats.org/officeDocument/2006/relationships" xmlns:p="http://schemas.openxmlformats.org/presentationml/2006/main">
  <p:tag name="NAME" val="Body1"/>
</p:tagLst>
</file>

<file path=ppt/tags/tag80.xml><?xml version="1.0" encoding="utf-8"?>
<p:tagLst xmlns:a="http://schemas.openxmlformats.org/drawingml/2006/main" xmlns:r="http://schemas.openxmlformats.org/officeDocument/2006/relationships" xmlns:p="http://schemas.openxmlformats.org/presentationml/2006/main">
  <p:tag name="NAME" val="Body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1930</TotalTime>
  <Words>5978</Words>
  <Application>Microsoft Macintosh PowerPoint</Application>
  <PresentationFormat>Widescreen</PresentationFormat>
  <Paragraphs>1564</Paragraphs>
  <Slides>159</Slides>
  <Notes>122</Notes>
  <HiddenSlides>2</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159</vt:i4>
      </vt:variant>
    </vt:vector>
  </HeadingPairs>
  <TitlesOfParts>
    <vt:vector size="169" baseType="lpstr">
      <vt:lpstr>Aptos</vt:lpstr>
      <vt:lpstr>Aptos Display</vt:lpstr>
      <vt:lpstr>Arial</vt:lpstr>
      <vt:lpstr>Calibri</vt:lpstr>
      <vt:lpstr>Cambria Math</vt:lpstr>
      <vt:lpstr>Times New Roman</vt:lpstr>
      <vt:lpstr>Wingdings</vt:lpstr>
      <vt:lpstr>Office Theme</vt:lpstr>
      <vt:lpstr>1_Office Theme</vt:lpstr>
      <vt:lpstr>think-cell Slide</vt:lpstr>
      <vt:lpstr>Latency Fairness On  Commodity Networking  Infrastructure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 Support For Scalable And High-Performance Cloud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Primer On Financial Exchanges</vt:lpstr>
      <vt:lpstr>PowerPoint Presentation</vt:lpstr>
      <vt:lpstr>Benefits of Public Cloud for Financial Exchanges</vt:lpstr>
      <vt:lpstr>Public Cloud Exhibits High Latency &amp; Variance</vt:lpstr>
      <vt:lpstr>PowerPoint Presentation</vt:lpstr>
      <vt:lpstr>Onyx: Scalable Cloud Financial Exchange</vt:lpstr>
      <vt:lpstr>Onyx</vt:lpstr>
      <vt:lpstr>Onyx</vt:lpstr>
      <vt:lpstr>Fairness1</vt:lpstr>
      <vt:lpstr>Fairness1</vt:lpstr>
      <vt:lpstr>Fairness1</vt:lpstr>
      <vt:lpstr>Fairness1</vt:lpstr>
      <vt:lpstr>Fairness1</vt:lpstr>
      <vt:lpstr>Fairness1</vt:lpstr>
      <vt:lpstr>Fairness1</vt:lpstr>
      <vt:lpstr>Fairness1</vt:lpstr>
      <vt:lpstr>Fairness1</vt:lpstr>
      <vt:lpstr>Fairness1</vt:lpstr>
      <vt:lpstr>Fairness1</vt:lpstr>
      <vt:lpstr>Fairness In Practice</vt:lpstr>
      <vt:lpstr>Fairness In Practice</vt:lpstr>
      <vt:lpstr>Fairness In Practice</vt:lpstr>
      <vt:lpstr>Fairness In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 Order Queue</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Limit Order Queue Preserves Fairness</vt:lpstr>
      <vt:lpstr>Evaluation</vt:lpstr>
      <vt:lpstr>Multicast Service</vt:lpstr>
      <vt:lpstr>Multicast Service</vt:lpstr>
      <vt:lpstr>Delivery Fairness</vt:lpstr>
      <vt:lpstr>Delivery Fairness</vt:lpstr>
      <vt:lpstr>Limit Order Queue Gracefully Handles Bursts</vt:lpstr>
      <vt:lpstr>Remarks</vt:lpstr>
      <vt:lpstr>PowerPoint Presentation</vt:lpstr>
      <vt:lpstr>Probabilistic Fair Order of Events</vt:lpstr>
      <vt:lpstr>A Financial Market</vt:lpstr>
      <vt:lpstr>A Financial Market</vt:lpstr>
      <vt:lpstr>A Financial Market</vt:lpstr>
      <vt:lpstr>A Financial Market</vt:lpstr>
      <vt:lpstr>A Financial 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Sequencer Overview</vt:lpstr>
      <vt:lpstr>Sequencer Overview</vt:lpstr>
      <vt:lpstr>Sequencer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Ordering in an online setting</vt:lpstr>
      <vt:lpstr>Ordering in an online setting</vt:lpstr>
      <vt:lpstr>Ordering in an online setting</vt:lpstr>
      <vt:lpstr>Ordering in an online setting</vt:lpstr>
      <vt:lpstr>Evaluation</vt:lpstr>
      <vt:lpstr>Setup</vt:lpstr>
      <vt:lpstr>Fairness</vt:lpstr>
      <vt:lpstr>Fairness</vt:lpstr>
      <vt:lpstr>Fairness</vt:lpstr>
      <vt:lpstr>Remarks</vt:lpstr>
      <vt:lpstr>PowerPoint Presentation</vt:lpstr>
      <vt:lpstr>PowerPoint Presentation</vt:lpstr>
      <vt:lpstr>PowerPoint Presentation</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Haseeb Ashfaq</dc:creator>
  <cp:lastModifiedBy>Haseeb Ashfaq</cp:lastModifiedBy>
  <cp:revision>264</cp:revision>
  <dcterms:created xsi:type="dcterms:W3CDTF">2026-04-04T21:04:51Z</dcterms:created>
  <dcterms:modified xsi:type="dcterms:W3CDTF">2026-04-06T18:05:12Z</dcterms:modified>
</cp:coreProperties>
</file>