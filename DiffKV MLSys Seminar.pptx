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66" r:id="rId4"/>
    <p:sldId id="258" r:id="rId5"/>
    <p:sldId id="260" r:id="rId6"/>
    <p:sldId id="259" r:id="rId7"/>
    <p:sldId id="261" r:id="rId8"/>
    <p:sldId id="262" r:id="rId9"/>
    <p:sldId id="263" r:id="rId10"/>
    <p:sldId id="264" r:id="rId11"/>
    <p:sldId id="265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366"/>
    <p:restoredTop sz="90337"/>
  </p:normalViewPr>
  <p:slideViewPr>
    <p:cSldViewPr snapToGrid="0">
      <p:cViewPr varScale="1">
        <p:scale>
          <a:sx n="138" d="100"/>
          <a:sy n="138" d="100"/>
        </p:scale>
        <p:origin x="184" y="2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7D52132-C82D-D24C-BF9E-97BFD0CBCB7B}" type="datetimeFigureOut">
              <a:rPr lang="en-US" smtClean="0"/>
              <a:t>11/4/25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8EAFA4-A826-D24A-8948-D0B39EB9DE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06965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top of line programmable switch has 10s of MBs of SRAM.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8EAFA4-A826-D24A-8948-D0B39EB9DE35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1507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2B1E3-10A7-B07B-88B1-3CA27F461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68688F-3DDB-9541-BCCB-2E42768F55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952A98-F55D-63E8-FD86-3F09DDD036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top of line programmable switch has 10s of MBs of SRAM.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8C9F60-446A-E043-D442-B87F43B3BB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8EAFA4-A826-D24A-8948-D0B39EB9DE3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158627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3DC4C8-2E5F-0F5E-D42B-2BAF7612D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B0398A8-BB85-B721-DB13-454902BF0B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4C0E25-629A-E40A-A3A5-F8144F944E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top of line programmable switch has 10s of MBs of SRAM.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D2A250-26C0-DA0A-CADA-C7DEA5AAB1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8EAFA4-A826-D24A-8948-D0B39EB9DE3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222199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C20401-F724-9D24-67CD-A1A822C52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37A58F-A97C-2682-084D-EC1BB3A9AD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E71D23-48A9-A97A-E8A2-D5F29AC294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top of line programmable switch has 10s of MBs of SRAM.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EFFA51-3E40-8A92-E413-7816A7E741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8EAFA4-A826-D24A-8948-D0B39EB9DE35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007841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classes, high precision, low precision, prune</a:t>
            </a:r>
            <a:br>
              <a:rPr lang="en-US" dirty="0"/>
            </a:br>
            <a:r>
              <a:rPr lang="en-US" dirty="0"/>
              <a:t>How are positions handled, I thought position information is baked into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8EAFA4-A826-D24A-8948-D0B39EB9DE35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61532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spread is the standard deviation calculated across requests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8EAFA4-A826-D24A-8948-D0B39EB9DE35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43885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Shouldn’t it be 1/N. it should be I guess.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8EAFA4-A826-D24A-8948-D0B39EB9DE35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224777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D0D58D-0843-116D-165F-865F4E2BE4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D4AF86-9CF0-46C8-9BCB-616C73FB8E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8B20D2-0DF0-9395-7C10-C03FEC6766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Shouldn’t it be 1/N. it should be I guess.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8A0008-9EFE-90DD-1F95-28841529A8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8EAFA4-A826-D24A-8948-D0B39EB9DE35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40710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631AE-1C44-16F2-4ED5-47C403A517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835A466-0304-364A-6508-6CB66CE82D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BEDDBD-BAFB-4872-9196-99F6860E5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FFA131-D767-5343-9D7F-0DC28C83C572}" type="datetimeFigureOut">
              <a:rPr lang="en-US" smtClean="0"/>
              <a:t>11/4/25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F30D0A-928B-0E23-3BFA-5BA9654775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0BAC45-234C-4C31-5426-E3C907B9B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D3089-8F85-154B-96F6-95BBF9335D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0771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46E791-E828-A5B7-9EDB-46F02B9C87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DF6765-15E0-C6BB-AF14-6B58916EA9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ED6402-0E1C-D5FB-CF06-11CC4AD2F7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FFA131-D767-5343-9D7F-0DC28C83C572}" type="datetimeFigureOut">
              <a:rPr lang="en-US" smtClean="0"/>
              <a:t>11/4/25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D5E71B-AC85-B24C-09C6-955F360486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C41F08-89DA-F10E-B961-11BBAC5523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D3089-8F85-154B-96F6-95BBF9335D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6903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0D2B2A-B154-DCF7-BD21-3A75A335D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5B29C3-1448-70D0-2A22-E431825AE1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1BFFA3-5550-7CCD-0C8E-2361B2C42C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FFA131-D767-5343-9D7F-0DC28C83C572}" type="datetimeFigureOut">
              <a:rPr lang="en-US" smtClean="0"/>
              <a:t>11/4/25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B83FD8-65A8-C2C1-E7E1-364A7F61F5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9B4928-F8A0-10DA-CA22-68231E7F03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D3089-8F85-154B-96F6-95BBF9335D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06981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B41C67-861C-00FA-6BC0-B0D2FBB121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3DA8D8-B0D6-8932-9A58-04BA6BB224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51C9D5-7005-B972-DCD3-8C382799F6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086406-2752-F62D-A7BE-7BB415C88F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FFA131-D767-5343-9D7F-0DC28C83C572}" type="datetimeFigureOut">
              <a:rPr lang="en-US" smtClean="0"/>
              <a:t>11/4/25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85F9AD-503E-8B26-3C53-1F214A210B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ECEFB1-DE72-E24F-6ED2-ED7C303D7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D3089-8F85-154B-96F6-95BBF9335D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9739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3CB819-6EC1-5C23-D288-5C58253435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3130ED-3DA8-B779-8340-F07E08AD4B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28A6DA-2941-CA46-FD27-037E0A82D0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AC7D21B-21B9-8B17-88FF-8FFF0BEC7D0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E0DD5CE-6BDB-EE73-272B-D8E0F41835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5664C43-AD61-9DEF-51D3-E1B5008C18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FFA131-D767-5343-9D7F-0DC28C83C572}" type="datetimeFigureOut">
              <a:rPr lang="en-US" smtClean="0"/>
              <a:t>11/4/25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92F7F4B-D88D-4AEF-1313-3754ED905C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D394750-47F6-6FB3-6915-3D8E55146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D3089-8F85-154B-96F6-95BBF9335D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3454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E7DA5E-7EFA-05CD-D688-3195AB7F99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F5C9250-3B7F-554D-4197-70E130E23F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FFA131-D767-5343-9D7F-0DC28C83C572}" type="datetimeFigureOut">
              <a:rPr lang="en-US" smtClean="0"/>
              <a:t>11/4/25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C1EBB9B-0D7C-36CA-DF4B-D1CC434D67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0BE985-806A-72C7-3EEC-E500A0423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D3089-8F85-154B-96F6-95BBF9335D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94791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03248B5-4281-CF52-51F9-80C5148FC3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FFA131-D767-5343-9D7F-0DC28C83C572}" type="datetimeFigureOut">
              <a:rPr lang="en-US" smtClean="0"/>
              <a:t>11/4/25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676B837-1F12-47C5-4A7A-4D9CE30B1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3985F4-DC9D-E50C-6E29-F7E33F031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D3089-8F85-154B-96F6-95BBF9335D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9750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B066DB-4AC3-5BA1-FDCD-CF5D7A8F7E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4BA517-C5F6-5422-63D2-867DEAB3E0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6A84CBE-467D-C09F-624E-EC7E5F70AA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B42B6F-CE8E-833D-DBEB-34138F9B78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FFA131-D767-5343-9D7F-0DC28C83C572}" type="datetimeFigureOut">
              <a:rPr lang="en-US" smtClean="0"/>
              <a:t>11/4/25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E50C8C-3914-76CC-88E1-9A3A5B112E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54B0D1-B3C9-7B73-7418-E8C91743F2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D3089-8F85-154B-96F6-95BBF9335D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57203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791B4C-D507-952B-4360-82384895C0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952CDC0-C8EE-E6C9-D835-97991C13BBB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0E0BC0C-1351-57D2-E72F-1037CB9A5F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A37882-9A71-CFD5-E888-61FE96AEF1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FFA131-D767-5343-9D7F-0DC28C83C572}" type="datetimeFigureOut">
              <a:rPr lang="en-US" smtClean="0"/>
              <a:t>11/4/25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374654-7AD4-B1BE-F0BD-FC0D99CAEC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6BCB87-215D-21CC-7173-289BF3708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D3089-8F85-154B-96F6-95BBF9335D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99529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A45565-BAD6-7268-4945-0E0DC74A7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8A1091F-AB80-6278-FDAC-364C312BC9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83790C-E3DF-5ACE-F2B9-BAE4ED2D8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FFA131-D767-5343-9D7F-0DC28C83C572}" type="datetimeFigureOut">
              <a:rPr lang="en-US" smtClean="0"/>
              <a:t>11/4/25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22EE43-761C-3B78-2B91-5B245999E0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407D54-3C7C-715C-DEBB-75F0A1247C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D3089-8F85-154B-96F6-95BBF9335D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49194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7B28B0E-7F68-7E8F-9FC7-F137B9FF874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2E4B898-75E7-EF52-ED98-CDCD510B8F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776195-66D9-A83E-D112-2ECE2B4187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FFA131-D767-5343-9D7F-0DC28C83C572}" type="datetimeFigureOut">
              <a:rPr lang="en-US" smtClean="0"/>
              <a:t>11/4/25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F97597-136B-93D2-BE30-E32DDE2EAA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5CA597-07E8-DE0E-3410-C3B98151BD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D3089-8F85-154B-96F6-95BBF9335D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52082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3EE264-30AB-C279-9BB9-BFFC2DB253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F821C2-98B1-2E98-72C1-293D286BBC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B14AE4-D8FA-61CA-2EAD-E36824A6F1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FFA131-D767-5343-9D7F-0DC28C83C572}" type="datetimeFigureOut">
              <a:rPr lang="en-US" smtClean="0"/>
              <a:t>11/4/25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7385BE-A7E8-BC57-2590-0622CCCEAD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238357-F7D6-7148-F79B-6258625022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51D3089-8F85-154B-96F6-95BBF9335D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44618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gi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gi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gi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gif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DC16633-F3D3-3EDE-728B-EC8F844641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442547"/>
            <a:ext cx="9144000" cy="1655762"/>
          </a:xfrm>
        </p:spPr>
        <p:txBody>
          <a:bodyPr/>
          <a:lstStyle/>
          <a:p>
            <a:r>
              <a:rPr lang="en-US" dirty="0"/>
              <a:t>SOSP’25</a:t>
            </a:r>
          </a:p>
        </p:txBody>
      </p:sp>
      <p:pic>
        <p:nvPicPr>
          <p:cNvPr id="7" name="Picture 6" descr="A close up of a card&#10;&#10;AI-generated content may be incorrect.">
            <a:extLst>
              <a:ext uri="{FF2B5EF4-FFF2-40B4-BE49-F238E27FC236}">
                <a16:creationId xmlns:a16="http://schemas.microsoft.com/office/drawing/2014/main" id="{244ACB6E-98F9-1552-AF6D-617FFD3642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0557" y="1440873"/>
            <a:ext cx="8422462" cy="2477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6178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3928B3-63B5-DC6F-3377-8F14F672C8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KV Cache Compression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1BD3F7-38CA-5BA3-5924-810010366E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Fine grained</a:t>
            </a:r>
          </a:p>
          <a:p>
            <a:r>
              <a:rPr lang="en-US" dirty="0"/>
              <a:t>On-GPU memory management for low overhead</a:t>
            </a:r>
          </a:p>
        </p:txBody>
      </p:sp>
      <p:pic>
        <p:nvPicPr>
          <p:cNvPr id="5" name="Picture 4" descr="A diagram of a number&#10;&#10;AI-generated content may be incorrect.">
            <a:extLst>
              <a:ext uri="{FF2B5EF4-FFF2-40B4-BE49-F238E27FC236}">
                <a16:creationId xmlns:a16="http://schemas.microsoft.com/office/drawing/2014/main" id="{A533A69A-4CE1-83F4-5650-46F106641D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146" y="1395979"/>
            <a:ext cx="8238836" cy="521062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A8DF4E1-7270-E5A5-3EEF-58B9D60BD407}"/>
              </a:ext>
            </a:extLst>
          </p:cNvPr>
          <p:cNvSpPr txBox="1"/>
          <p:nvPr/>
        </p:nvSpPr>
        <p:spPr>
          <a:xfrm>
            <a:off x="8915400" y="520516"/>
            <a:ext cx="243840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800" dirty="0"/>
              <a:t>Keys and Values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800" dirty="0"/>
              <a:t>Tokens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800" dirty="0"/>
              <a:t>Per-head</a:t>
            </a:r>
          </a:p>
        </p:txBody>
      </p:sp>
    </p:spTree>
    <p:extLst>
      <p:ext uri="{BB962C8B-B14F-4D97-AF65-F5344CB8AC3E}">
        <p14:creationId xmlns:p14="http://schemas.microsoft.com/office/powerpoint/2010/main" val="1974257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4F4F1D-12E9-C7F1-002E-193D7F9A01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6E6BF-1196-6DBD-9FCB-015DDCA68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KV Cache Compression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A3E6C5-4FAE-9B29-927E-12A70D7304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Fine grained</a:t>
            </a:r>
          </a:p>
          <a:p>
            <a:r>
              <a:rPr lang="en-US" dirty="0"/>
              <a:t>On-GPU memory management for low overhead</a:t>
            </a:r>
          </a:p>
          <a:p>
            <a:pPr lvl="1"/>
            <a:r>
              <a:rPr lang="en-US" dirty="0"/>
              <a:t>New data-structures on GPU that allow parallel (across heads) KV compaction</a:t>
            </a:r>
          </a:p>
        </p:txBody>
      </p:sp>
    </p:spTree>
    <p:extLst>
      <p:ext uri="{BB962C8B-B14F-4D97-AF65-F5344CB8AC3E}">
        <p14:creationId xmlns:p14="http://schemas.microsoft.com/office/powerpoint/2010/main" val="33462140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354845-CEEA-C1B1-7BE5-EDFBE8073E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 -- transformer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7A9E3AB-580D-C436-06FA-FAF961C220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9273" y="1690687"/>
            <a:ext cx="9051636" cy="4016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24608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2A6B0F-4CB8-095B-9349-B73CEFE874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1225A5-70B9-9D50-F870-3476B65989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 -- transformer</a:t>
            </a:r>
          </a:p>
        </p:txBody>
      </p:sp>
      <p:pic>
        <p:nvPicPr>
          <p:cNvPr id="7" name="Picture 6" descr="A diagram of a clustering diagram&#10;&#10;AI-generated content may be incorrect.">
            <a:extLst>
              <a:ext uri="{FF2B5EF4-FFF2-40B4-BE49-F238E27FC236}">
                <a16:creationId xmlns:a16="http://schemas.microsoft.com/office/drawing/2014/main" id="{A031A24B-46F8-77F3-CDEB-7A50A2C88E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2326" y="1690688"/>
            <a:ext cx="9116292" cy="4045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67565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ABF8E7-8DF6-A5A3-3A79-386A1898E0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4B9620-138C-5029-23D5-958CAA66F0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 -- KV Cache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EE2D058-790F-F55A-58D3-380BB30C98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9418" y="1690688"/>
            <a:ext cx="8285017" cy="4297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41438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C5A84B-1488-5A13-D866-6C7A0FB6A7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87B37B-1B17-B57A-BCE8-211F5FAB7C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 -- KV Cache</a:t>
            </a:r>
          </a:p>
        </p:txBody>
      </p:sp>
      <p:pic>
        <p:nvPicPr>
          <p:cNvPr id="5" name="Picture 4" descr="A diagram of a computer process&#10;&#10;AI-generated content may be incorrect.">
            <a:extLst>
              <a:ext uri="{FF2B5EF4-FFF2-40B4-BE49-F238E27FC236}">
                <a16:creationId xmlns:a16="http://schemas.microsoft.com/office/drawing/2014/main" id="{36712490-4AD6-BB34-0BDF-2DE59854C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9273" y="1969654"/>
            <a:ext cx="8644148" cy="367376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AAC656B-4D6E-C91E-E5D3-D7AEE9F976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365" y="1969654"/>
            <a:ext cx="7486509" cy="38145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9796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83128E-58F7-A3FD-B5DA-583D46D104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F18765-73A3-288A-C3C9-FCE66F3078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 -- KV Cache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0E7A85-42ED-A951-B07D-94FDD400CE6F}"/>
              </a:ext>
            </a:extLst>
          </p:cNvPr>
          <p:cNvSpPr txBox="1"/>
          <p:nvPr/>
        </p:nvSpPr>
        <p:spPr>
          <a:xfrm>
            <a:off x="923636" y="1847273"/>
            <a:ext cx="997527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In Llama3-70B, every token takes up to ~2.5MB in the KV cache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4k tokens (the max output size) will take around 10.5 GB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This cache is </a:t>
            </a:r>
            <a:r>
              <a:rPr lang="en-US" sz="2400" dirty="0">
                <a:solidFill>
                  <a:srgbClr val="FF0000"/>
                </a:solidFill>
              </a:rPr>
              <a:t>huge</a:t>
            </a:r>
            <a:r>
              <a:rPr lang="en-US" sz="2400" dirty="0"/>
              <a:t>!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9D7BD99-7E18-EF46-54FA-5BC9278FB1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7017" y="3047602"/>
            <a:ext cx="4988431" cy="3241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1670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44016C-A8A5-C7F0-991C-7B76B0750A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F66F3-B7CB-D7ED-287E-BFA715C576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 -- KV Cache </a:t>
            </a:r>
            <a:r>
              <a:rPr lang="en-US" dirty="0">
                <a:solidFill>
                  <a:srgbClr val="FF0000"/>
                </a:solidFill>
              </a:rPr>
              <a:t>Naïve Allocation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44B6AF2-BD5C-2042-9B15-D06A41F62C41}"/>
              </a:ext>
            </a:extLst>
          </p:cNvPr>
          <p:cNvSpPr txBox="1"/>
          <p:nvPr/>
        </p:nvSpPr>
        <p:spPr>
          <a:xfrm>
            <a:off x="838200" y="1893455"/>
            <a:ext cx="977438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For each incoming request, allocate memory equal to what would be needed for the maximum sequence length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Because standard attention computation requires all K and V to be present in memory in contiguous chunks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Wastes huge amount of memory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Fragmentation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Some estimates say almost 80% memory goes unused</a:t>
            </a:r>
          </a:p>
        </p:txBody>
      </p:sp>
    </p:spTree>
    <p:extLst>
      <p:ext uri="{BB962C8B-B14F-4D97-AF65-F5344CB8AC3E}">
        <p14:creationId xmlns:p14="http://schemas.microsoft.com/office/powerpoint/2010/main" val="28433704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486EAA-DBBE-BFEF-1833-99A3DCAB7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502F06-1DEC-0187-2BF9-28020B4476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 -- KV Cache </a:t>
            </a:r>
            <a:r>
              <a:rPr lang="en-US" dirty="0">
                <a:solidFill>
                  <a:srgbClr val="FF0000"/>
                </a:solidFill>
              </a:rPr>
              <a:t>Paged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1605E6-A9FF-1610-2D16-022528C7F340}"/>
              </a:ext>
            </a:extLst>
          </p:cNvPr>
          <p:cNvSpPr txBox="1"/>
          <p:nvPr/>
        </p:nvSpPr>
        <p:spPr>
          <a:xfrm>
            <a:off x="838200" y="1893455"/>
            <a:ext cx="977438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PagedAttention</a:t>
            </a:r>
            <a:r>
              <a:rPr lang="en-US" dirty="0"/>
              <a:t>, a new attention computation mechanism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Does not require all KV to be present in a single (contiguous) chunk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Can work with KV present in several chunks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Computes block/chunk wise attention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This allows KV cache to be stored in non-contiguous memory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OS-virtual-memory like paging is introduced to the KV cache</a:t>
            </a:r>
          </a:p>
        </p:txBody>
      </p:sp>
    </p:spTree>
    <p:extLst>
      <p:ext uri="{BB962C8B-B14F-4D97-AF65-F5344CB8AC3E}">
        <p14:creationId xmlns:p14="http://schemas.microsoft.com/office/powerpoint/2010/main" val="31143861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17B522-217F-DA8A-43A9-0E1B5FB9A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1791E-339F-645A-BBEC-5ED342AB0E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 -- KV Cache </a:t>
            </a:r>
            <a:r>
              <a:rPr lang="en-US" dirty="0">
                <a:solidFill>
                  <a:srgbClr val="FF0000"/>
                </a:solidFill>
              </a:rPr>
              <a:t>Pruning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1EE5B15-072C-BF07-C4F0-6DA3E1535F48}"/>
              </a:ext>
            </a:extLst>
          </p:cNvPr>
          <p:cNvSpPr txBox="1"/>
          <p:nvPr/>
        </p:nvSpPr>
        <p:spPr>
          <a:xfrm>
            <a:off x="838200" y="1893455"/>
            <a:ext cx="97743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 attention scores of tokens to find critical and non-critical tokens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Drop non-critical tokens’ KV and suffer a little bit in the output</a:t>
            </a:r>
          </a:p>
        </p:txBody>
      </p:sp>
    </p:spTree>
    <p:extLst>
      <p:ext uri="{BB962C8B-B14F-4D97-AF65-F5344CB8AC3E}">
        <p14:creationId xmlns:p14="http://schemas.microsoft.com/office/powerpoint/2010/main" val="9690761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728511-F11C-53C4-A71E-12D7829613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Case for Differentiation – Keys and Values</a:t>
            </a:r>
          </a:p>
        </p:txBody>
      </p:sp>
      <p:pic>
        <p:nvPicPr>
          <p:cNvPr id="5" name="Content Placeholder 4" descr="A mathematical equations and formulas&#10;&#10;AI-generated content may be incorrect.">
            <a:extLst>
              <a:ext uri="{FF2B5EF4-FFF2-40B4-BE49-F238E27FC236}">
                <a16:creationId xmlns:a16="http://schemas.microsoft.com/office/drawing/2014/main" id="{03EDFB27-0EF0-B27F-E128-63FD5FA5F7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51188" y="1690688"/>
            <a:ext cx="6301684" cy="2594811"/>
          </a:xfr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BFD64FD-7BC5-26FA-B81C-6212F7D1D036}"/>
              </a:ext>
            </a:extLst>
          </p:cNvPr>
          <p:cNvSpPr txBox="1"/>
          <p:nvPr/>
        </p:nvSpPr>
        <p:spPr>
          <a:xfrm>
            <a:off x="1208809" y="4844146"/>
            <a:ext cx="97743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Keys affect all tokens, Values affect respective tokens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So, keys have higher significance than values</a:t>
            </a:r>
          </a:p>
        </p:txBody>
      </p:sp>
    </p:spTree>
    <p:extLst>
      <p:ext uri="{BB962C8B-B14F-4D97-AF65-F5344CB8AC3E}">
        <p14:creationId xmlns:p14="http://schemas.microsoft.com/office/powerpoint/2010/main" val="8069910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797F36-D5F7-9D26-020C-C9C1EC6B38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7EDA19-95F7-4F36-534D-84190E959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Case for Differentiation – Keys and Values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C4AFC87-C03F-CA25-A87A-7C4F5ECE977F}"/>
              </a:ext>
            </a:extLst>
          </p:cNvPr>
          <p:cNvSpPr txBox="1"/>
          <p:nvPr/>
        </p:nvSpPr>
        <p:spPr>
          <a:xfrm>
            <a:off x="1208809" y="5003297"/>
            <a:ext cx="977438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Value vectors’ magnitudes span a shorter range of values than the overall attention scores’ values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So value vectors don’t need a huge range – can be quantized aggressively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Empirically, K8V4 (K4V2) outperform K4V8(K2V4)</a:t>
            </a:r>
          </a:p>
        </p:txBody>
      </p:sp>
      <p:pic>
        <p:nvPicPr>
          <p:cNvPr id="8" name="Content Placeholder 7" descr="A graph with different colored lines&#10;&#10;AI-generated content may be incorrect.">
            <a:extLst>
              <a:ext uri="{FF2B5EF4-FFF2-40B4-BE49-F238E27FC236}">
                <a16:creationId xmlns:a16="http://schemas.microsoft.com/office/drawing/2014/main" id="{207E7758-372A-2CBD-296B-3DE2B6DFE35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82981" y="1254538"/>
            <a:ext cx="6120091" cy="3589608"/>
          </a:xfrm>
        </p:spPr>
      </p:pic>
    </p:spTree>
    <p:extLst>
      <p:ext uri="{BB962C8B-B14F-4D97-AF65-F5344CB8AC3E}">
        <p14:creationId xmlns:p14="http://schemas.microsoft.com/office/powerpoint/2010/main" val="40365994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E671C7-5C53-E760-2F91-04B8D6EB1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BAA4E9-1D43-E44D-1A42-2E04B9278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Case for Differentiation – Tokens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C5236F-DB3C-96F6-E213-B69BD503FA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6"/>
            <a:ext cx="10515600" cy="1093066"/>
          </a:xfrm>
        </p:spPr>
        <p:txBody>
          <a:bodyPr/>
          <a:lstStyle/>
          <a:p>
            <a:r>
              <a:rPr lang="en-US" dirty="0"/>
              <a:t>Some tokens contribute more to the output than other tokens</a:t>
            </a:r>
          </a:p>
          <a:p>
            <a:pPr lvl="1"/>
            <a:r>
              <a:rPr lang="en-US" dirty="0"/>
              <a:t>Relative to the attention scores of tokens</a:t>
            </a:r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85A9B0D-B392-8289-0C2F-37448C6C8B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2327" y="2746632"/>
            <a:ext cx="8811491" cy="3746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54455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C7D207-4A9C-BC0B-5459-22322965A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DAC893-AC99-444F-D09A-B5D0C73FEE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Case for Differentiation – Heads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A4596A2-208B-1803-0B66-831CBE0A72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6"/>
            <a:ext cx="10807460" cy="1603374"/>
          </a:xfrm>
        </p:spPr>
        <p:txBody>
          <a:bodyPr>
            <a:normAutofit lnSpcReduction="10000"/>
          </a:bodyPr>
          <a:lstStyle/>
          <a:p>
            <a:r>
              <a:rPr lang="en-US" dirty="0"/>
              <a:t>LLMs exhibit dynamic sparsity patterns that vary across both attention heads and requests</a:t>
            </a:r>
          </a:p>
          <a:p>
            <a:r>
              <a:rPr lang="en-US" dirty="0"/>
              <a:t>Number of critical tokens vary across heads as well across requests for the same head</a:t>
            </a:r>
          </a:p>
          <a:p>
            <a:endParaRPr lang="en-US" dirty="0"/>
          </a:p>
        </p:txBody>
      </p:sp>
      <p:pic>
        <p:nvPicPr>
          <p:cNvPr id="5" name="Picture 4" descr="A graph of a number of critical tokens&#10;&#10;AI-generated content may be incorrect.">
            <a:extLst>
              <a:ext uri="{FF2B5EF4-FFF2-40B4-BE49-F238E27FC236}">
                <a16:creationId xmlns:a16="http://schemas.microsoft.com/office/drawing/2014/main" id="{348767D5-8C68-8483-3681-8588AF49AD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7382" y="2627313"/>
            <a:ext cx="6592455" cy="3645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05038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DD4A05-C9A2-E493-1AEB-7203DB24C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KV Compression Policy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F96F01-FDFD-DE0E-CCBD-470EA97AB9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Keys use higher precision than values</a:t>
            </a:r>
          </a:p>
          <a:p>
            <a:pPr lvl="1"/>
            <a:r>
              <a:rPr lang="en-US" dirty="0"/>
              <a:t>K8V4 or K4V2</a:t>
            </a:r>
          </a:p>
          <a:p>
            <a:r>
              <a:rPr lang="en-US" dirty="0"/>
              <a:t>Each token’s significance is calculated and classified as, (</a:t>
            </a:r>
            <a:r>
              <a:rPr lang="en-US" dirty="0" err="1"/>
              <a:t>i</a:t>
            </a:r>
            <a:r>
              <a:rPr lang="en-US" dirty="0"/>
              <a:t>) most significant, (ii) moderately significant or (iii) least significant</a:t>
            </a:r>
          </a:p>
          <a:p>
            <a:pPr lvl="1"/>
            <a:r>
              <a:rPr lang="en-US" dirty="0"/>
              <a:t>Most significant use K8V4</a:t>
            </a:r>
          </a:p>
          <a:p>
            <a:pPr lvl="1"/>
            <a:r>
              <a:rPr lang="en-US" dirty="0"/>
              <a:t>Moderately significant use K4V2</a:t>
            </a:r>
          </a:p>
          <a:p>
            <a:pPr lvl="1"/>
            <a:r>
              <a:rPr lang="en-US" dirty="0"/>
              <a:t>Least significant are dropped</a:t>
            </a:r>
          </a:p>
          <a:p>
            <a:r>
              <a:rPr lang="en-US" dirty="0"/>
              <a:t>Each head is allowed to determine its memory requirements dynamically (i.e., the memory management unit is designed to allow that)</a:t>
            </a:r>
          </a:p>
        </p:txBody>
      </p:sp>
    </p:spTree>
    <p:extLst>
      <p:ext uri="{BB962C8B-B14F-4D97-AF65-F5344CB8AC3E}">
        <p14:creationId xmlns:p14="http://schemas.microsoft.com/office/powerpoint/2010/main" val="38810485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1BE18D-140E-999E-311C-7A60D42D3F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DC037-93F1-5A74-6C11-C7E1B66533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KV Compression Policy – Prompt Phase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80EE5A-5F4A-4354-6367-92F1A922E9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K and V is calculated for all tokens in the prompt</a:t>
            </a:r>
          </a:p>
          <a:p>
            <a:r>
              <a:rPr lang="en-US" dirty="0"/>
              <a:t>Significance is calculated for each token</a:t>
            </a:r>
          </a:p>
          <a:p>
            <a:pPr lvl="1"/>
            <a:r>
              <a:rPr lang="en-US" dirty="0"/>
              <a:t>Average the attention scores it receives from the subsequent tokens</a:t>
            </a:r>
          </a:p>
          <a:p>
            <a:r>
              <a:rPr lang="en-US" dirty="0"/>
              <a:t>Compare significance score of </a:t>
            </a:r>
            <a:r>
              <a:rPr lang="en-US" dirty="0" err="1"/>
              <a:t>i-th</a:t>
            </a:r>
            <a:r>
              <a:rPr lang="en-US" dirty="0"/>
              <a:t> token to the theoretical average 1/</a:t>
            </a:r>
            <a:r>
              <a:rPr lang="en-US" dirty="0" err="1"/>
              <a:t>i</a:t>
            </a:r>
            <a:r>
              <a:rPr lang="en-US" dirty="0"/>
              <a:t>. </a:t>
            </a:r>
          </a:p>
          <a:p>
            <a:r>
              <a:rPr lang="en-US" dirty="0"/>
              <a:t>If score exceeds h/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>
                <a:sym typeface="Wingdings" pitchFamily="2" charset="2"/>
              </a:rPr>
              <a:t> high precision</a:t>
            </a:r>
          </a:p>
          <a:p>
            <a:r>
              <a:rPr lang="en-US" dirty="0">
                <a:sym typeface="Wingdings" pitchFamily="2" charset="2"/>
              </a:rPr>
              <a:t>If score exceed l/</a:t>
            </a:r>
            <a:r>
              <a:rPr lang="en-US" dirty="0" err="1">
                <a:sym typeface="Wingdings" pitchFamily="2" charset="2"/>
              </a:rPr>
              <a:t>i</a:t>
            </a:r>
            <a:r>
              <a:rPr lang="en-US" dirty="0">
                <a:sym typeface="Wingdings" pitchFamily="2" charset="2"/>
              </a:rPr>
              <a:t>  low precision</a:t>
            </a:r>
          </a:p>
          <a:p>
            <a:r>
              <a:rPr lang="en-US" dirty="0">
                <a:sym typeface="Wingdings" pitchFamily="2" charset="2"/>
              </a:rPr>
              <a:t>Otherwise  drop the token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37271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97ED65-7842-BFBB-E640-DC9A42E9E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D5C4E7-1D7C-C233-152C-9A938DF396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KV Compression Policy – Generation Phase</a:t>
            </a:r>
          </a:p>
        </p:txBody>
      </p:sp>
      <p:pic>
        <p:nvPicPr>
          <p:cNvPr id="5" name="Content Placeholder 4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84F6BFC5-0B3D-2ECE-4AF0-9F9CB13C222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196105" y="1690688"/>
            <a:ext cx="4599062" cy="4351338"/>
          </a:xfrm>
        </p:spPr>
      </p:pic>
    </p:spTree>
    <p:extLst>
      <p:ext uri="{BB962C8B-B14F-4D97-AF65-F5344CB8AC3E}">
        <p14:creationId xmlns:p14="http://schemas.microsoft.com/office/powerpoint/2010/main" val="34400600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D63FA4-2B91-DF31-7403-235D666B45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Management -- Challenges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10B4F9-5478-1105-6E89-FD2C58F596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Differentiation at varying levels does not lend us the simplicity of having uniform memory pages</a:t>
            </a:r>
            <a:br>
              <a:rPr lang="en-US" dirty="0"/>
            </a:br>
            <a:endParaRPr lang="en-US" dirty="0"/>
          </a:p>
          <a:p>
            <a:r>
              <a:rPr lang="en-US" dirty="0"/>
              <a:t>Rule of thumb for simplicity: you should be able to calculate index of a word/item given the address of a page and size of words</a:t>
            </a:r>
          </a:p>
          <a:p>
            <a:pPr lvl="1"/>
            <a:r>
              <a:rPr lang="en-US" dirty="0"/>
              <a:t>Mixing varying size words in a single page takes away that simplicity</a:t>
            </a:r>
            <a:br>
              <a:rPr lang="en-US" dirty="0"/>
            </a:br>
            <a:endParaRPr lang="en-US" dirty="0"/>
          </a:p>
          <a:p>
            <a:r>
              <a:rPr lang="en-US" dirty="0"/>
              <a:t>How about we pad K4V2 to behave like K8V2 </a:t>
            </a:r>
            <a:r>
              <a:rPr lang="en-US" dirty="0">
                <a:sym typeface="Wingdings" pitchFamily="2" charset="2"/>
              </a:rPr>
              <a:t> memory wastage</a:t>
            </a:r>
            <a:br>
              <a:rPr lang="en-US" dirty="0">
                <a:sym typeface="Wingdings" pitchFamily="2" charset="2"/>
              </a:rPr>
            </a:br>
            <a:endParaRPr lang="en-US" dirty="0">
              <a:sym typeface="Wingdings" pitchFamily="2" charset="2"/>
            </a:endParaRPr>
          </a:p>
          <a:p>
            <a:r>
              <a:rPr lang="en-US" dirty="0">
                <a:sym typeface="Wingdings" pitchFamily="2" charset="2"/>
              </a:rPr>
              <a:t>Memory management metadata increases as we have several levels of precisions, potentially different precision for different heads</a:t>
            </a:r>
          </a:p>
        </p:txBody>
      </p:sp>
    </p:spTree>
    <p:extLst>
      <p:ext uri="{BB962C8B-B14F-4D97-AF65-F5344CB8AC3E}">
        <p14:creationId xmlns:p14="http://schemas.microsoft.com/office/powerpoint/2010/main" val="37631856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ACCBB-5637-A694-66C1-AECF6FFF92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87A654-E941-F541-8B65-4449F1225C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Management --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EEEC5B-51D8-49CB-5147-03B43D40BC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>
              <a:sym typeface="Wingdings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11223467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246</TotalTime>
  <Words>730</Words>
  <Application>Microsoft Macintosh PowerPoint</Application>
  <PresentationFormat>Widescreen</PresentationFormat>
  <Paragraphs>88</Paragraphs>
  <Slides>20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Aptos</vt:lpstr>
      <vt:lpstr>Aptos Display</vt:lpstr>
      <vt:lpstr>Arial</vt:lpstr>
      <vt:lpstr>Wingdings</vt:lpstr>
      <vt:lpstr>Office Theme</vt:lpstr>
      <vt:lpstr>PowerPoint Presentation</vt:lpstr>
      <vt:lpstr>KV Cache Compression</vt:lpstr>
      <vt:lpstr>KV Cache Compression</vt:lpstr>
      <vt:lpstr>Background -- transformer</vt:lpstr>
      <vt:lpstr>Background -- transformer</vt:lpstr>
      <vt:lpstr>Background -- KV Cache</vt:lpstr>
      <vt:lpstr>Background -- KV Cache</vt:lpstr>
      <vt:lpstr>Background -- KV Cache</vt:lpstr>
      <vt:lpstr>Background -- KV Cache Naïve Allocation</vt:lpstr>
      <vt:lpstr>Background -- KV Cache Paged</vt:lpstr>
      <vt:lpstr>Background -- KV Cache Pruning</vt:lpstr>
      <vt:lpstr>Case for Differentiation – Keys and Values</vt:lpstr>
      <vt:lpstr>Case for Differentiation – Keys and Values</vt:lpstr>
      <vt:lpstr>Case for Differentiation – Tokens</vt:lpstr>
      <vt:lpstr>Case for Differentiation – Heads</vt:lpstr>
      <vt:lpstr>KV Compression Policy</vt:lpstr>
      <vt:lpstr>KV Compression Policy – Prompt Phase</vt:lpstr>
      <vt:lpstr>KV Compression Policy – Generation Phase</vt:lpstr>
      <vt:lpstr>Memory Management -- Challenges</vt:lpstr>
      <vt:lpstr>Memory Management -- Design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Muhammad Haseeb</dc:creator>
  <cp:lastModifiedBy>Muhammad Haseeb</cp:lastModifiedBy>
  <cp:revision>67</cp:revision>
  <dcterms:created xsi:type="dcterms:W3CDTF">2025-11-04T18:22:01Z</dcterms:created>
  <dcterms:modified xsi:type="dcterms:W3CDTF">2025-11-04T22:28:05Z</dcterms:modified>
</cp:coreProperties>
</file>