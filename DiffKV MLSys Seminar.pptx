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6" r:id="rId4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0337"/>
  </p:normalViewPr>
  <p:slideViewPr>
    <p:cSldViewPr snapToGrid="0">
      <p:cViewPr varScale="1">
        <p:scale>
          <a:sx n="141" d="100"/>
          <a:sy n="141" d="100"/>
        </p:scale>
        <p:origin x="1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D52132-C82D-D24C-BF9E-97BFD0CBCB7B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EAFA4-A826-D24A-8948-D0B39EB9D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696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50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2B1E3-10A7-B07B-88B1-3CA27F46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8688F-3DDB-9541-BCCB-2E42768F5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52A98-F55D-63E8-FD86-3F09DDD03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9F60-446A-E043-D442-B87F43B3B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5862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DC4C8-2E5F-0F5E-D42B-2BAF7612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398A8-BB85-B721-DB13-454902BF0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C0E25-629A-E40A-A3A5-F8144F944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2A250-26C0-DA0A-CADA-C7DEA5AAB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1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20401-F724-9D24-67CD-A1A822C52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37A58F-A97C-2682-084D-EC1BB3A9A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E71D23-48A9-A97A-E8A2-D5F29AC294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 of line programmable switch has 10s of MBs of SRAM.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FFA51-3E40-8A92-E413-7816A7E741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78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classes, high precision, low precision, prune</a:t>
            </a:r>
            <a:br>
              <a:rPr lang="en-US" dirty="0"/>
            </a:br>
            <a:r>
              <a:rPr lang="en-US" dirty="0"/>
              <a:t>How are positions handled, I thought position information is baked into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spread is the standard deviation calculated across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8EAFA4-A826-D24A-8948-D0B39EB9DE3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38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631AE-1C44-16F2-4ED5-47C403A51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35A466-0304-364A-6508-6CB66CE82D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EDDBD-BAFB-4872-9196-99F6860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F30D0A-928B-0E23-3BFA-5BA965477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0BAC45-234C-4C31-5426-E3C907B9B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07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6E791-E828-A5B7-9EDB-46F02B9C8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6765-15E0-C6BB-AF14-6B58916EA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D6402-0E1C-D5FB-CF06-11CC4AD2F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5E71B-AC85-B24C-09C6-955F36048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1F08-89DA-F10E-B961-11BBAC552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90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D2B2A-B154-DCF7-BD21-3A75A335D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5B29C3-1448-70D0-2A22-E431825AE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BFFA3-5550-7CCD-0C8E-2361B2C42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83FD8-65A8-C2C1-E7E1-364A7F61F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B4928-F8A0-10DA-CA22-68231E7F0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698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41C67-861C-00FA-6BC0-B0D2FBB12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DA8D8-B0D6-8932-9A58-04BA6BB224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1C9D5-7005-B972-DCD3-8C382799F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86406-2752-F62D-A7BE-7BB415C88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5F9AD-503E-8B26-3C53-1F214A210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CEFB1-DE72-E24F-6ED2-ED7C303D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3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CB819-6EC1-5C23-D288-5C5825343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130ED-3DA8-B779-8340-F07E08AD4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28A6DA-2941-CA46-FD27-037E0A82D0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C7D21B-21B9-8B17-88FF-8FFF0BEC7D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0DD5CE-6BDB-EE73-272B-D8E0F41835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664C43-AD61-9DEF-51D3-E1B5008C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F7F4B-D88D-4AEF-1313-3754ED90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94750-47F6-6FB3-6915-3D8E5514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5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7DA5E-7EFA-05CD-D688-3195AB7F9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5C9250-3B7F-554D-4197-70E130E2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EBB9B-0D7C-36CA-DF4B-D1CC434D6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BE985-806A-72C7-3EEC-E500A0423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479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3248B5-4281-CF52-51F9-80C5148FC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76B837-1F12-47C5-4A7A-4D9CE30B1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985F4-DC9D-E50C-6E29-F7E33F03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5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66DB-4AC3-5BA1-FDCD-CF5D7A8F7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BA517-C5F6-5422-63D2-867DEAB3E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A84CBE-467D-C09F-624E-EC7E5F70A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42B6F-CE8E-833D-DBEB-34138F9B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50C8C-3914-76CC-88E1-9A3A5B112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54B0D1-B3C9-7B73-7418-E8C91743F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91B4C-D507-952B-4360-82384895C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52CDC0-C8EE-E6C9-D835-97991C13B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0BC0C-1351-57D2-E72F-1037CB9A5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A37882-9A71-CFD5-E888-61FE96AE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74654-7AD4-B1BE-F0BD-FC0D99CAE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6BCB87-215D-21CC-7173-289BF3708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52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5565-BAD6-7268-4945-0E0DC74A7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A1091F-AB80-6278-FDAC-364C312BC9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3790C-E3DF-5ACE-F2B9-BAE4ED2D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2EE43-761C-3B78-2B91-5B245999E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07D54-3C7C-715C-DEBB-75F0A1247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91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28B0E-7F68-7E8F-9FC7-F137B9FF8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E4B898-75E7-EF52-ED98-CDCD510B8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76195-66D9-A83E-D112-2ECE2B41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97597-136B-93D2-BE30-E32DDE2EA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CA597-07E8-DE0E-3410-C3B98151B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208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3EE264-30AB-C279-9BB9-BFFC2DB25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821C2-98B1-2E98-72C1-293D286BB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14AE4-D8FA-61CA-2EAD-E36824A6F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A131-D767-5343-9D7F-0DC28C83C572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7385BE-A7E8-BC57-2590-0622CCCEA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38357-F7D6-7148-F79B-625862502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D3089-8F85-154B-96F6-95BBF9335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46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C16633-F3D3-3EDE-728B-EC8F84464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42547"/>
            <a:ext cx="9144000" cy="1655762"/>
          </a:xfrm>
        </p:spPr>
        <p:txBody>
          <a:bodyPr/>
          <a:lstStyle/>
          <a:p>
            <a:r>
              <a:rPr lang="en-US" dirty="0"/>
              <a:t>SOSP’25</a:t>
            </a:r>
          </a:p>
        </p:txBody>
      </p:sp>
      <p:pic>
        <p:nvPicPr>
          <p:cNvPr id="7" name="Picture 6" descr="A close up of a card&#10;&#10;AI-generated content may be incorrect.">
            <a:extLst>
              <a:ext uri="{FF2B5EF4-FFF2-40B4-BE49-F238E27FC236}">
                <a16:creationId xmlns:a16="http://schemas.microsoft.com/office/drawing/2014/main" id="{244ACB6E-98F9-1552-AF6D-617FFD364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57" y="1440873"/>
            <a:ext cx="8422462" cy="247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28B3-63B5-DC6F-3377-8F14F672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BD3F7-38CA-5BA3-5924-8100103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</p:txBody>
      </p:sp>
      <p:pic>
        <p:nvPicPr>
          <p:cNvPr id="5" name="Picture 4" descr="A diagram of a number&#10;&#10;AI-generated content may be incorrect.">
            <a:extLst>
              <a:ext uri="{FF2B5EF4-FFF2-40B4-BE49-F238E27FC236}">
                <a16:creationId xmlns:a16="http://schemas.microsoft.com/office/drawing/2014/main" id="{A533A69A-4CE1-83F4-5650-46F106641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46" y="1395979"/>
            <a:ext cx="8238836" cy="5210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8DF4E1-7270-E5A5-3EEF-58B9D60BD407}"/>
              </a:ext>
            </a:extLst>
          </p:cNvPr>
          <p:cNvSpPr txBox="1"/>
          <p:nvPr/>
        </p:nvSpPr>
        <p:spPr>
          <a:xfrm>
            <a:off x="8915400" y="520516"/>
            <a:ext cx="2438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Keys and Values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Tokens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Per-head</a:t>
            </a:r>
          </a:p>
        </p:txBody>
      </p:sp>
    </p:spTree>
    <p:extLst>
      <p:ext uri="{BB962C8B-B14F-4D97-AF65-F5344CB8AC3E}">
        <p14:creationId xmlns:p14="http://schemas.microsoft.com/office/powerpoint/2010/main" val="197425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F4F1D-12E9-C7F1-002E-193D7F9A0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6E6BF-1196-6DBD-9FCB-015DDCA68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 Cache Compression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3E6C5-4FAE-9B29-927E-12A70D730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Fine grained</a:t>
            </a:r>
          </a:p>
          <a:p>
            <a:r>
              <a:rPr lang="en-US" dirty="0"/>
              <a:t>On-GPU memory management for low overhead</a:t>
            </a:r>
          </a:p>
          <a:p>
            <a:pPr lvl="1"/>
            <a:r>
              <a:rPr lang="en-US" dirty="0"/>
              <a:t>New data-structures on GPU that allow parallel (across heads) KV compaction</a:t>
            </a:r>
          </a:p>
        </p:txBody>
      </p:sp>
    </p:spTree>
    <p:extLst>
      <p:ext uri="{BB962C8B-B14F-4D97-AF65-F5344CB8AC3E}">
        <p14:creationId xmlns:p14="http://schemas.microsoft.com/office/powerpoint/2010/main" val="3346214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54845-CEEA-C1B1-7BE5-EDFBE8073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A9E3AB-580D-C436-06FA-FAF961C22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690687"/>
            <a:ext cx="9051636" cy="4016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460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6B0F-4CB8-095B-9349-B73CEFE87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25A5-70B9-9D50-F870-3476B6598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transformer</a:t>
            </a:r>
          </a:p>
        </p:txBody>
      </p:sp>
      <p:pic>
        <p:nvPicPr>
          <p:cNvPr id="7" name="Picture 6" descr="A diagram of a clustering diagram&#10;&#10;AI-generated content may be incorrect.">
            <a:extLst>
              <a:ext uri="{FF2B5EF4-FFF2-40B4-BE49-F238E27FC236}">
                <a16:creationId xmlns:a16="http://schemas.microsoft.com/office/drawing/2014/main" id="{A031A24B-46F8-77F3-CDEB-7A50A2C88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326" y="1690688"/>
            <a:ext cx="9116292" cy="4045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75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BF8E7-8DF6-A5A3-3A79-386A1898E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B9620-138C-5029-23D5-958CAA66F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E2D058-790F-F55A-58D3-380BB30C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18" y="1690688"/>
            <a:ext cx="8285017" cy="4297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14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A84B-1488-5A13-D866-6C7A0FB6A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B37B-1B17-B57A-BCE8-211F5FAB7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pic>
        <p:nvPicPr>
          <p:cNvPr id="5" name="Picture 4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36712490-4AD6-BB34-0BDF-2DE59854C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73" y="1969654"/>
            <a:ext cx="8644148" cy="36737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AC656B-4D6E-C91E-E5D3-D7AEE9F97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365" y="1969654"/>
            <a:ext cx="7486509" cy="38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79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128E-58F7-A3FD-B5DA-583D46D10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18765-73A3-288A-C3C9-FCE66F30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0E7A85-42ED-A951-B07D-94FDD400CE6F}"/>
              </a:ext>
            </a:extLst>
          </p:cNvPr>
          <p:cNvSpPr txBox="1"/>
          <p:nvPr/>
        </p:nvSpPr>
        <p:spPr>
          <a:xfrm>
            <a:off x="923636" y="1847273"/>
            <a:ext cx="99752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Llama3-70B, every token takes up to ~2.5MB in the KV cache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4k tokens (the max output size) will take around 10.5 GB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cache is </a:t>
            </a:r>
            <a:r>
              <a:rPr lang="en-US" sz="2400" dirty="0">
                <a:solidFill>
                  <a:srgbClr val="FF0000"/>
                </a:solidFill>
              </a:rPr>
              <a:t>huge</a:t>
            </a:r>
            <a:r>
              <a:rPr lang="en-US" sz="2400" dirty="0"/>
              <a:t>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D7BD99-7E18-EF46-54FA-5BC9278FB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017" y="3047602"/>
            <a:ext cx="4988431" cy="324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7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016C-A8A5-C7F0-991C-7B76B07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F66F3-B7CB-D7ED-287E-BFA715C5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Naïve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4B6AF2-BD5C-2042-9B15-D06A41F62C41}"/>
              </a:ext>
            </a:extLst>
          </p:cNvPr>
          <p:cNvSpPr txBox="1"/>
          <p:nvPr/>
        </p:nvSpPr>
        <p:spPr>
          <a:xfrm>
            <a:off x="838200" y="1893455"/>
            <a:ext cx="97743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each incoming request, allocate memory equal to what would be needed for the maximum sequence length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Because standard attention computation requires all K and V to be present in memory in contiguous chunks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Wastes huge amount of memory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Fragmentation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Some estimates say almost 80% memory goes unused</a:t>
            </a:r>
          </a:p>
        </p:txBody>
      </p:sp>
    </p:spTree>
    <p:extLst>
      <p:ext uri="{BB962C8B-B14F-4D97-AF65-F5344CB8AC3E}">
        <p14:creationId xmlns:p14="http://schemas.microsoft.com/office/powerpoint/2010/main" val="2843370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86EAA-DBBE-BFEF-1833-99A3DCAB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02F06-1DEC-0187-2BF9-28020B447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Paged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1605E6-A9FF-1610-2D16-022528C7F340}"/>
              </a:ext>
            </a:extLst>
          </p:cNvPr>
          <p:cNvSpPr txBox="1"/>
          <p:nvPr/>
        </p:nvSpPr>
        <p:spPr>
          <a:xfrm>
            <a:off x="838200" y="1893455"/>
            <a:ext cx="97743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PagedAttention</a:t>
            </a:r>
            <a:r>
              <a:rPr lang="en-US" dirty="0"/>
              <a:t>, a new attention computation mechanism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Does not require all KV to be present in a single (contiguous) chunk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 work with KV present in several chunks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Computes block/chunk wise attention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allows KV cache to be stored in non-contiguous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OS-virtual-memory like paging is introduced to the KV cache</a:t>
            </a:r>
          </a:p>
        </p:txBody>
      </p:sp>
    </p:spTree>
    <p:extLst>
      <p:ext uri="{BB962C8B-B14F-4D97-AF65-F5344CB8AC3E}">
        <p14:creationId xmlns:p14="http://schemas.microsoft.com/office/powerpoint/2010/main" val="3114386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B522-217F-DA8A-43A9-0E1B5FB9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791E-339F-645A-BBEC-5ED342AB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-- KV Cache </a:t>
            </a:r>
            <a:r>
              <a:rPr lang="en-US" dirty="0">
                <a:solidFill>
                  <a:srgbClr val="FF0000"/>
                </a:solidFill>
              </a:rPr>
              <a:t>Pruning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EE5B15-072C-BF07-C4F0-6DA3E1535F48}"/>
              </a:ext>
            </a:extLst>
          </p:cNvPr>
          <p:cNvSpPr txBox="1"/>
          <p:nvPr/>
        </p:nvSpPr>
        <p:spPr>
          <a:xfrm>
            <a:off x="838200" y="1893455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attention scores of tokens to find critical and non-critical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Drop non-critical tokens’ KV and suffer a little bit in the output</a:t>
            </a:r>
          </a:p>
        </p:txBody>
      </p:sp>
    </p:spTree>
    <p:extLst>
      <p:ext uri="{BB962C8B-B14F-4D97-AF65-F5344CB8AC3E}">
        <p14:creationId xmlns:p14="http://schemas.microsoft.com/office/powerpoint/2010/main" val="96907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28511-F11C-53C4-A71E-12D78296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pic>
        <p:nvPicPr>
          <p:cNvPr id="5" name="Content Placeholder 4" descr="A mathematical equations and formulas&#10;&#10;AI-generated content may be incorrect.">
            <a:extLst>
              <a:ext uri="{FF2B5EF4-FFF2-40B4-BE49-F238E27FC236}">
                <a16:creationId xmlns:a16="http://schemas.microsoft.com/office/drawing/2014/main" id="{03EDFB27-0EF0-B27F-E128-63FD5FA5F7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1188" y="1690688"/>
            <a:ext cx="6301684" cy="2594811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FD64FD-7BC5-26FA-B81C-6212F7D1D036}"/>
              </a:ext>
            </a:extLst>
          </p:cNvPr>
          <p:cNvSpPr txBox="1"/>
          <p:nvPr/>
        </p:nvSpPr>
        <p:spPr>
          <a:xfrm>
            <a:off x="1208809" y="4844146"/>
            <a:ext cx="9774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Keys affect all tokens, Values affect respective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So, keys have higher significance than values</a:t>
            </a:r>
          </a:p>
        </p:txBody>
      </p:sp>
    </p:spTree>
    <p:extLst>
      <p:ext uri="{BB962C8B-B14F-4D97-AF65-F5344CB8AC3E}">
        <p14:creationId xmlns:p14="http://schemas.microsoft.com/office/powerpoint/2010/main" val="80699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7F36-D5F7-9D26-020C-C9C1EC6B3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EDA19-95F7-4F36-534D-84190E959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Keys and Values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4AFC87-C03F-CA25-A87A-7C4F5ECE977F}"/>
              </a:ext>
            </a:extLst>
          </p:cNvPr>
          <p:cNvSpPr txBox="1"/>
          <p:nvPr/>
        </p:nvSpPr>
        <p:spPr>
          <a:xfrm>
            <a:off x="1208809" y="5003297"/>
            <a:ext cx="97743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vectors’ magnitudes span a shorter range of values than the overall attention scores’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value vectors don’t need a huge range – can be quantized aggressively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Empirically, K8V4 (K4V2) outperform K4V8(K2V4)</a:t>
            </a:r>
          </a:p>
        </p:txBody>
      </p:sp>
      <p:pic>
        <p:nvPicPr>
          <p:cNvPr id="8" name="Content Placeholder 7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207E7758-372A-2CBD-296B-3DE2B6DFE3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2981" y="1254538"/>
            <a:ext cx="6120091" cy="3589608"/>
          </a:xfrm>
        </p:spPr>
      </p:pic>
    </p:spTree>
    <p:extLst>
      <p:ext uri="{BB962C8B-B14F-4D97-AF65-F5344CB8AC3E}">
        <p14:creationId xmlns:p14="http://schemas.microsoft.com/office/powerpoint/2010/main" val="4036599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71C7-5C53-E760-2F91-04B8D6EB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AA4E9-1D43-E44D-1A42-2E04B9278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Tokens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C5236F-DB3C-96F6-E213-B69BD503F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093066"/>
          </a:xfrm>
        </p:spPr>
        <p:txBody>
          <a:bodyPr/>
          <a:lstStyle/>
          <a:p>
            <a:r>
              <a:rPr lang="en-US" dirty="0"/>
              <a:t>Some tokens contribute more to the output than other tokens</a:t>
            </a:r>
          </a:p>
          <a:p>
            <a:pPr lvl="1"/>
            <a:r>
              <a:rPr lang="en-US" dirty="0"/>
              <a:t>Relative to the attention scores of tokens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5A9B0D-B392-8289-0C2F-37448C6C8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327" y="2746632"/>
            <a:ext cx="8811491" cy="374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4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D207-4A9C-BC0B-5459-22322965A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AC893-AC99-444F-D09A-B5D0C73FE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for Differentiation – Heads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596A2-208B-1803-0B66-831CBE0A7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807460" cy="160337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LLMs exhibit dynamic sparsity patterns that vary across both attention heads and requests</a:t>
            </a:r>
          </a:p>
          <a:p>
            <a:r>
              <a:rPr lang="en-US" dirty="0"/>
              <a:t>Number of critical tokens vary across heads as well across requests for the same head</a:t>
            </a:r>
          </a:p>
          <a:p>
            <a:endParaRPr lang="en-US" dirty="0"/>
          </a:p>
        </p:txBody>
      </p:sp>
      <p:pic>
        <p:nvPicPr>
          <p:cNvPr id="5" name="Picture 4" descr="A graph of a number of critical tokens&#10;&#10;AI-generated content may be incorrect.">
            <a:extLst>
              <a:ext uri="{FF2B5EF4-FFF2-40B4-BE49-F238E27FC236}">
                <a16:creationId xmlns:a16="http://schemas.microsoft.com/office/drawing/2014/main" id="{348767D5-8C68-8483-3681-8588AF49A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382" y="2627313"/>
            <a:ext cx="6592455" cy="364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50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455</Words>
  <Application>Microsoft Macintosh PowerPoint</Application>
  <PresentationFormat>Widescreen</PresentationFormat>
  <Paragraphs>60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KV Cache Compression</vt:lpstr>
      <vt:lpstr>KV Cache Compression</vt:lpstr>
      <vt:lpstr>Background -- transformer</vt:lpstr>
      <vt:lpstr>Background -- transformer</vt:lpstr>
      <vt:lpstr>Background -- KV Cache</vt:lpstr>
      <vt:lpstr>Background -- KV Cache</vt:lpstr>
      <vt:lpstr>Background -- KV Cache</vt:lpstr>
      <vt:lpstr>Background -- KV Cache Naïve Allocation</vt:lpstr>
      <vt:lpstr>Background -- KV Cache Paged</vt:lpstr>
      <vt:lpstr>Background -- KV Cache Pruning</vt:lpstr>
      <vt:lpstr>Case for Differentiation – Keys and Values</vt:lpstr>
      <vt:lpstr>Case for Differentiation – Keys and Values</vt:lpstr>
      <vt:lpstr>Case for Differentiation – Tokens</vt:lpstr>
      <vt:lpstr>Case for Differentiation – Heads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56</cp:revision>
  <dcterms:created xsi:type="dcterms:W3CDTF">2025-11-04T18:22:01Z</dcterms:created>
  <dcterms:modified xsi:type="dcterms:W3CDTF">2025-11-04T20:38:56Z</dcterms:modified>
</cp:coreProperties>
</file>