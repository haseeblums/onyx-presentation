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45"/>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11" r:id="rId66"/>
    <p:sldId id="314" r:id="rId67"/>
    <p:sldId id="1892" r:id="rId68"/>
    <p:sldId id="1893" r:id="rId69"/>
    <p:sldId id="1895" r:id="rId70"/>
    <p:sldId id="1894" r:id="rId71"/>
    <p:sldId id="1897" r:id="rId72"/>
    <p:sldId id="1898" r:id="rId73"/>
    <p:sldId id="1899" r:id="rId74"/>
    <p:sldId id="1900" r:id="rId75"/>
    <p:sldId id="1901" r:id="rId76"/>
    <p:sldId id="1902" r:id="rId77"/>
    <p:sldId id="1903" r:id="rId78"/>
    <p:sldId id="1904" r:id="rId79"/>
    <p:sldId id="1905" r:id="rId80"/>
    <p:sldId id="1906" r:id="rId81"/>
    <p:sldId id="335" r:id="rId82"/>
    <p:sldId id="1907" r:id="rId83"/>
    <p:sldId id="1908" r:id="rId84"/>
    <p:sldId id="1909" r:id="rId85"/>
    <p:sldId id="1910" r:id="rId86"/>
    <p:sldId id="350" r:id="rId87"/>
    <p:sldId id="359" r:id="rId88"/>
    <p:sldId id="427" r:id="rId89"/>
    <p:sldId id="360" r:id="rId90"/>
    <p:sldId id="428" r:id="rId91"/>
    <p:sldId id="353" r:id="rId92"/>
    <p:sldId id="432" r:id="rId93"/>
    <p:sldId id="1856" r:id="rId94"/>
    <p:sldId id="1857" r:id="rId95"/>
    <p:sldId id="351" r:id="rId96"/>
    <p:sldId id="352" r:id="rId97"/>
    <p:sldId id="1858" r:id="rId98"/>
    <p:sldId id="354" r:id="rId99"/>
    <p:sldId id="355" r:id="rId100"/>
    <p:sldId id="1859" r:id="rId101"/>
    <p:sldId id="357" r:id="rId102"/>
    <p:sldId id="358" r:id="rId103"/>
    <p:sldId id="1860" r:id="rId104"/>
    <p:sldId id="1861" r:id="rId105"/>
    <p:sldId id="393" r:id="rId106"/>
    <p:sldId id="1862" r:id="rId107"/>
    <p:sldId id="402" r:id="rId108"/>
    <p:sldId id="1863" r:id="rId109"/>
    <p:sldId id="1864" r:id="rId110"/>
    <p:sldId id="415" r:id="rId111"/>
    <p:sldId id="340" r:id="rId112"/>
    <p:sldId id="1865" r:id="rId113"/>
    <p:sldId id="1866" r:id="rId114"/>
    <p:sldId id="1867" r:id="rId115"/>
    <p:sldId id="412" r:id="rId116"/>
    <p:sldId id="1868" r:id="rId117"/>
    <p:sldId id="1869" r:id="rId118"/>
    <p:sldId id="413" r:id="rId119"/>
    <p:sldId id="1870" r:id="rId120"/>
    <p:sldId id="1871" r:id="rId121"/>
    <p:sldId id="1872" r:id="rId122"/>
    <p:sldId id="419" r:id="rId123"/>
    <p:sldId id="1914" r:id="rId124"/>
    <p:sldId id="1873" r:id="rId125"/>
    <p:sldId id="421" r:id="rId126"/>
    <p:sldId id="1878" r:id="rId127"/>
    <p:sldId id="1879" r:id="rId128"/>
    <p:sldId id="1874" r:id="rId129"/>
    <p:sldId id="1875" r:id="rId130"/>
    <p:sldId id="1876" r:id="rId131"/>
    <p:sldId id="1877" r:id="rId132"/>
    <p:sldId id="1912" r:id="rId133"/>
    <p:sldId id="1913" r:id="rId134"/>
    <p:sldId id="1880" r:id="rId135"/>
    <p:sldId id="1881" r:id="rId136"/>
    <p:sldId id="1882" r:id="rId137"/>
    <p:sldId id="1883" r:id="rId138"/>
    <p:sldId id="1884" r:id="rId139"/>
    <p:sldId id="1885" r:id="rId140"/>
    <p:sldId id="1887" r:id="rId141"/>
    <p:sldId id="1886" r:id="rId142"/>
    <p:sldId id="1888" r:id="rId143"/>
    <p:sldId id="1890" r:id="rId1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49E"/>
    <a:srgbClr val="FF27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880"/>
    <p:restoredTop sz="91073"/>
  </p:normalViewPr>
  <p:slideViewPr>
    <p:cSldViewPr snapToGrid="0">
      <p:cViewPr varScale="1">
        <p:scale>
          <a:sx n="126" d="100"/>
          <a:sy n="126" d="100"/>
        </p:scale>
        <p:origin x="200" y="5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tableStyles" Target="tableStyles.xml"/><Relationship Id="rId5" Type="http://schemas.openxmlformats.org/officeDocument/2006/relationships/slide" Target="slides/slide3.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presProps" Target="presProp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AE790628-03D3-29EB-20BC-3CF52E5B6D6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D87E7F08-E737-A2DE-01BB-2B7A563AC5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748F7E9-1FB0-D3BB-2E07-0345548133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2242891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93</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94</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95</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97</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98</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99</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101</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103</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105</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108</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110</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140</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141</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notesSlide" Target="../notesSlides/notesSlide68.xml"/><Relationship Id="rId1" Type="http://schemas.openxmlformats.org/officeDocument/2006/relationships/slideLayout" Target="../slideLayouts/slideLayout23.xml"/><Relationship Id="rId5" Type="http://schemas.openxmlformats.org/officeDocument/2006/relationships/image" Target="../media/image15.png"/><Relationship Id="rId4" Type="http://schemas.openxmlformats.org/officeDocument/2006/relationships/image" Target="../media/image16.png"/></Relationships>
</file>

<file path=ppt/slides/_rels/slide8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74.xml"/><Relationship Id="rId1" Type="http://schemas.openxmlformats.org/officeDocument/2006/relationships/slideLayout" Target="../slideLayouts/slideLayout23.xml"/></Relationships>
</file>

<file path=ppt/slides/_rels/slide91.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3.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76.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9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77.xml"/><Relationship Id="rId1" Type="http://schemas.openxmlformats.org/officeDocument/2006/relationships/slideLayout" Target="../slideLayouts/slideLayout13.xml"/></Relationships>
</file>

<file path=ppt/slides/_rels/slide95.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78.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96.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97.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79.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98.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80.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2.xml"/><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3.xml"/><Relationship Id="rId1" Type="http://schemas.openxmlformats.org/officeDocument/2006/relationships/slideLayout" Target="../slideLayouts/slideLayout13.xml"/></Relationships>
</file>

<file path=ppt/slides/_rels/slide10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4.xml"/><Relationship Id="rId1" Type="http://schemas.openxmlformats.org/officeDocument/2006/relationships/slideLayout" Target="../slideLayouts/slideLayout13.xml"/></Relationships>
</file>

<file path=ppt/slides/_rels/slide10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5.xml"/><Relationship Id="rId1" Type="http://schemas.openxmlformats.org/officeDocument/2006/relationships/slideLayout" Target="../slideLayouts/slideLayout13.xml"/></Relationships>
</file>

<file path=ppt/slides/_rels/slide10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6.xml"/><Relationship Id="rId1" Type="http://schemas.openxmlformats.org/officeDocument/2006/relationships/slideLayout" Target="../slideLayouts/slideLayout13.xml"/></Relationships>
</file>

<file path=ppt/slides/_rels/slide10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07.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13.xml"/></Relationships>
</file>

<file path=ppt/slides/_rels/slide108.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87.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09.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3.png"/><Relationship Id="rId5" Type="http://schemas.openxmlformats.org/officeDocument/2006/relationships/image" Target="../media/image32.svg"/><Relationship Id="rId4" Type="http://schemas.openxmlformats.org/officeDocument/2006/relationships/image" Target="../media/image31.svg"/></Relationships>
</file>

<file path=ppt/slides/_rels/slide110.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88.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11.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3.png"/><Relationship Id="rId7" Type="http://schemas.openxmlformats.org/officeDocument/2006/relationships/image" Target="../media/image35.png"/><Relationship Id="rId2" Type="http://schemas.openxmlformats.org/officeDocument/2006/relationships/notesSlide" Target="../notesSlides/notesSlide89.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12.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notesSlide" Target="../notesSlides/notesSlide90.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13.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14.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1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1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91.xml"/><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92.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1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93.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4.xml"/></Relationships>
</file>

<file path=ppt/slides/_rels/slide134.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2.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C62B6B2D-E5B8-0AF3-AF6F-2ECCF3BA2481}"/>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76248C2B-DA48-754B-B2D8-95E700858197}"/>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3539430"/>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Sequencer waits for at least one message from each MP</a:t>
            </a:r>
          </a:p>
          <a:p>
            <a:pPr marL="285750" indent="-285750">
              <a:buFont typeface="Arial" panose="020B0604020202020204" pitchFamily="34" charset="0"/>
              <a:buChar char="•"/>
            </a:pPr>
            <a:r>
              <a:rPr lang="en-US" sz="2800" dirty="0"/>
              <a:t>It sorts the orders by timestamps, emits them and waits again</a:t>
            </a:r>
          </a:p>
          <a:p>
            <a:pPr marL="285750" indent="-285750">
              <a:buFont typeface="Arial" panose="020B0604020202020204" pitchFamily="34" charset="0"/>
              <a:buChar char="•"/>
            </a:pPr>
            <a:r>
              <a:rPr lang="en-US" sz="2800" dirty="0"/>
              <a:t>It achieves the same effect of a synchronous network</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5527127-FA1E-E8B5-D397-0D1083F4D001}"/>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Still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13">
          <a:extLst>
            <a:ext uri="{FF2B5EF4-FFF2-40B4-BE49-F238E27FC236}">
              <a16:creationId xmlns:a16="http://schemas.microsoft.com/office/drawing/2014/main" id="{D463325E-CA8B-B66B-1CE7-601E7959AEF5}"/>
            </a:ext>
          </a:extLst>
        </p:cNvPr>
        <p:cNvGrpSpPr/>
        <p:nvPr/>
      </p:nvGrpSpPr>
      <p:grpSpPr>
        <a:xfrm>
          <a:off x="0" y="0"/>
          <a:ext cx="0" cy="0"/>
          <a:chOff x="0" y="0"/>
          <a:chExt cx="0" cy="0"/>
        </a:xfrm>
      </p:grpSpPr>
      <p:sp>
        <p:nvSpPr>
          <p:cNvPr id="414" name="Google Shape;414;p36">
            <a:extLst>
              <a:ext uri="{FF2B5EF4-FFF2-40B4-BE49-F238E27FC236}">
                <a16:creationId xmlns:a16="http://schemas.microsoft.com/office/drawing/2014/main" id="{F4069B77-3C55-0051-371E-B6C21D5667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 action window</a:t>
            </a:r>
            <a:endParaRPr dirty="0"/>
          </a:p>
        </p:txBody>
      </p:sp>
      <p:sp>
        <p:nvSpPr>
          <p:cNvPr id="415" name="Google Shape;415;p36">
            <a:extLst>
              <a:ext uri="{FF2B5EF4-FFF2-40B4-BE49-F238E27FC236}">
                <a16:creationId xmlns:a16="http://schemas.microsoft.com/office/drawing/2014/main" id="{25697C35-86F1-410F-875C-AD5A9A6A69E5}"/>
              </a:ext>
            </a:extLst>
          </p:cNvPr>
          <p:cNvSpPr txBox="1">
            <a:spLocks noGrp="1"/>
          </p:cNvSpPr>
          <p:nvPr>
            <p:ph type="body" idx="1"/>
          </p:nvPr>
        </p:nvSpPr>
        <p:spPr>
          <a:xfrm>
            <a:off x="415601" y="1185899"/>
            <a:ext cx="11423009" cy="1440687"/>
          </a:xfrm>
          <a:prstGeom prst="rect">
            <a:avLst/>
          </a:prstGeom>
        </p:spPr>
        <p:txBody>
          <a:bodyPr spcFirstLastPara="1" wrap="square" lIns="121900" tIns="121900" rIns="121900" bIns="121900" anchor="t" anchorCtr="0">
            <a:normAutofit/>
          </a:bodyPr>
          <a:lstStyle/>
          <a:p>
            <a:pPr>
              <a:buChar char="-"/>
            </a:pPr>
            <a:r>
              <a:rPr lang="en-US" dirty="0"/>
              <a:t>Let’s define an action window </a:t>
            </a:r>
            <a:r>
              <a:rPr lang="en-US" b="1" i="1" dirty="0"/>
              <a:t>w </a:t>
            </a:r>
            <a:r>
              <a:rPr lang="en-US" dirty="0"/>
              <a:t>that defines the maximum number of price levels above (below) the mid-price that a bid (ask) order can belong to</a:t>
            </a:r>
          </a:p>
        </p:txBody>
      </p:sp>
      <p:pic>
        <p:nvPicPr>
          <p:cNvPr id="3" name="Picture 2">
            <a:extLst>
              <a:ext uri="{FF2B5EF4-FFF2-40B4-BE49-F238E27FC236}">
                <a16:creationId xmlns:a16="http://schemas.microsoft.com/office/drawing/2014/main" id="{BA82D93D-6A33-0796-1A7B-AE5CEEB7DFD6}"/>
              </a:ext>
            </a:extLst>
          </p:cNvPr>
          <p:cNvPicPr>
            <a:picLocks noChangeAspect="1"/>
          </p:cNvPicPr>
          <p:nvPr/>
        </p:nvPicPr>
        <p:blipFill>
          <a:blip r:embed="rId3"/>
          <a:stretch>
            <a:fillRect/>
          </a:stretch>
        </p:blipFill>
        <p:spPr>
          <a:xfrm>
            <a:off x="1821804" y="2043173"/>
            <a:ext cx="7399867" cy="3302000"/>
          </a:xfrm>
          <a:prstGeom prst="rect">
            <a:avLst/>
          </a:prstGeom>
        </p:spPr>
      </p:pic>
      <p:sp>
        <p:nvSpPr>
          <p:cNvPr id="4" name="Google Shape;415;p36">
            <a:extLst>
              <a:ext uri="{FF2B5EF4-FFF2-40B4-BE49-F238E27FC236}">
                <a16:creationId xmlns:a16="http://schemas.microsoft.com/office/drawing/2014/main" id="{1C66287C-3F9C-F004-A5B7-25B22772A5B3}"/>
              </a:ext>
            </a:extLst>
          </p:cNvPr>
          <p:cNvSpPr txBox="1">
            <a:spLocks/>
          </p:cNvSpPr>
          <p:nvPr/>
        </p:nvSpPr>
        <p:spPr>
          <a:xfrm>
            <a:off x="558170" y="5187170"/>
            <a:ext cx="11423009" cy="1688417"/>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a:buFont typeface="Arial"/>
              <a:buChar char="-"/>
            </a:pPr>
            <a:r>
              <a:rPr lang="en-US" sz="2400" dirty="0"/>
              <a:t>With </a:t>
            </a:r>
            <a:r>
              <a:rPr lang="en-US" sz="2400" b="1" i="1" dirty="0"/>
              <a:t>w</a:t>
            </a:r>
            <a:r>
              <a:rPr lang="en-US" sz="2400" dirty="0"/>
              <a:t> = 0, any new bid orders has a maximum price equal to the mid-price </a:t>
            </a:r>
          </a:p>
          <a:p>
            <a:pPr>
              <a:buFont typeface="Arial"/>
              <a:buChar char="-"/>
            </a:pPr>
            <a:r>
              <a:rPr lang="en-US" sz="2400" b="1" i="1" dirty="0"/>
              <a:t>w </a:t>
            </a:r>
            <a:r>
              <a:rPr lang="en-US" sz="2400" dirty="0"/>
              <a:t>is a parameter that can be set by the exchange operator</a:t>
            </a:r>
          </a:p>
          <a:p>
            <a:pPr lvl="1">
              <a:buFont typeface="Arial"/>
              <a:buChar char="-"/>
            </a:pPr>
            <a:r>
              <a:rPr lang="en-US" sz="2000" dirty="0"/>
              <a:t>Reflects irrationality tolerance</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5137047B-CDA3-0119-7A66-98F101FFA305}"/>
                  </a:ext>
                </a:extLst>
              </p:cNvPr>
              <p:cNvSpPr/>
              <p:nvPr/>
            </p:nvSpPr>
            <p:spPr>
              <a:xfrm>
                <a:off x="9142939" y="3429000"/>
                <a:ext cx="2454514" cy="1326383"/>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b="1" i="1" dirty="0"/>
                  <a:t>p </a:t>
                </a:r>
                <a14:m>
                  <m:oMath xmlns:m="http://schemas.openxmlformats.org/officeDocument/2006/math">
                    <m:r>
                      <a:rPr lang="en-US" sz="4800" b="1" i="1">
                        <a:latin typeface="Cambria Math" panose="02040503050406030204" pitchFamily="18" charset="0"/>
                        <a:ea typeface="Cambria Math" panose="02040503050406030204" pitchFamily="18" charset="0"/>
                      </a:rPr>
                      <m:t>±</m:t>
                    </m:r>
                  </m:oMath>
                </a14:m>
                <a:r>
                  <a:rPr lang="en-US" sz="4800" b="1" i="1" dirty="0"/>
                  <a:t> w</a:t>
                </a:r>
                <a:endParaRPr lang="en-US" sz="4800" dirty="0"/>
              </a:p>
            </p:txBody>
          </p:sp>
        </mc:Choice>
        <mc:Fallback xmlns="">
          <p:sp>
            <p:nvSpPr>
              <p:cNvPr id="6" name="Rounded Rectangle 5">
                <a:extLst>
                  <a:ext uri="{FF2B5EF4-FFF2-40B4-BE49-F238E27FC236}">
                    <a16:creationId xmlns:a16="http://schemas.microsoft.com/office/drawing/2014/main" id="{5137047B-CDA3-0119-7A66-98F101FFA305}"/>
                  </a:ext>
                </a:extLst>
              </p:cNvPr>
              <p:cNvSpPr>
                <a:spLocks noRot="1" noChangeAspect="1" noMove="1" noResize="1" noEditPoints="1" noAdjustHandles="1" noChangeArrowheads="1" noChangeShapeType="1" noTextEdit="1"/>
              </p:cNvSpPr>
              <p:nvPr/>
            </p:nvSpPr>
            <p:spPr>
              <a:xfrm>
                <a:off x="9142939" y="3429000"/>
                <a:ext cx="2454514" cy="1326383"/>
              </a:xfrm>
              <a:prstGeom prst="roundRect">
                <a:avLst/>
              </a:prstGeom>
              <a:blipFill>
                <a:blip r:embed="rId4"/>
                <a:stretch>
                  <a:fillRect b="-5714"/>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ounded Rectangle 6">
                <a:extLst>
                  <a:ext uri="{FF2B5EF4-FFF2-40B4-BE49-F238E27FC236}">
                    <a16:creationId xmlns:a16="http://schemas.microsoft.com/office/drawing/2014/main" id="{93A6B951-6CDE-64E9-D608-1453718AD4E6}"/>
                  </a:ext>
                </a:extLst>
              </p:cNvPr>
              <p:cNvSpPr/>
              <p:nvPr/>
            </p:nvSpPr>
            <p:spPr>
              <a:xfrm>
                <a:off x="9142939" y="2703008"/>
                <a:ext cx="2454514" cy="9470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Critical if price </a:t>
                </a:r>
                <a14:m>
                  <m:oMath xmlns:m="http://schemas.openxmlformats.org/officeDocument/2006/math">
                    <m:r>
                      <a:rPr lang="en-US" sz="3200" b="1" i="1" smtClean="0">
                        <a:latin typeface="Cambria Math" panose="02040503050406030204" pitchFamily="18" charset="0"/>
                        <a:ea typeface="Cambria Math" panose="02040503050406030204" pitchFamily="18" charset="0"/>
                      </a:rPr>
                      <m:t>∈</m:t>
                    </m:r>
                  </m:oMath>
                </a14:m>
                <a:r>
                  <a:rPr lang="en-US" sz="3200" b="1" i="1" dirty="0"/>
                  <a:t>  </a:t>
                </a:r>
                <a:endParaRPr lang="en-US" sz="3200" dirty="0"/>
              </a:p>
            </p:txBody>
          </p:sp>
        </mc:Choice>
        <mc:Fallback xmlns="">
          <p:sp>
            <p:nvSpPr>
              <p:cNvPr id="7" name="Rounded Rectangle 6">
                <a:extLst>
                  <a:ext uri="{FF2B5EF4-FFF2-40B4-BE49-F238E27FC236}">
                    <a16:creationId xmlns:a16="http://schemas.microsoft.com/office/drawing/2014/main" id="{93A6B951-6CDE-64E9-D608-1453718AD4E6}"/>
                  </a:ext>
                </a:extLst>
              </p:cNvPr>
              <p:cNvSpPr>
                <a:spLocks noRot="1" noChangeAspect="1" noMove="1" noResize="1" noEditPoints="1" noAdjustHandles="1" noChangeArrowheads="1" noChangeShapeType="1" noTextEdit="1"/>
              </p:cNvSpPr>
              <p:nvPr/>
            </p:nvSpPr>
            <p:spPr>
              <a:xfrm>
                <a:off x="9142939" y="2703008"/>
                <a:ext cx="2454514" cy="947048"/>
              </a:xfrm>
              <a:prstGeom prst="roundRect">
                <a:avLst/>
              </a:prstGeom>
              <a:blipFill>
                <a:blip r:embed="rId5"/>
                <a:stretch>
                  <a:fillRect t="-13158" b="-27632"/>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119557381"/>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220390" y="4305058"/>
            <a:ext cx="11751219" cy="1815882"/>
          </a:xfrm>
          <a:prstGeom prst="rect">
            <a:avLst/>
          </a:prstGeom>
          <a:noFill/>
        </p:spPr>
        <p:txBody>
          <a:bodyPr wrap="square" rtlCol="0">
            <a:spAutoFit/>
          </a:bodyPr>
          <a:lstStyle/>
          <a:p>
            <a:pPr marL="457200" indent="-457200">
              <a:buFont typeface="Arial" panose="020B0604020202020204" pitchFamily="34" charset="0"/>
              <a:buChar char="•"/>
            </a:pPr>
            <a:r>
              <a:rPr lang="en-US" sz="2800" dirty="0"/>
              <a:t>There is a problem</a:t>
            </a:r>
          </a:p>
          <a:p>
            <a:pPr marL="457200" indent="-457200">
              <a:buFont typeface="Arial" panose="020B0604020202020204" pitchFamily="34" charset="0"/>
              <a:buChar char="•"/>
            </a:pPr>
            <a:r>
              <a:rPr lang="en-US" sz="2800" dirty="0"/>
              <a:t>Criticality definition dependent on the mid-price but mid-price can move</a:t>
            </a:r>
          </a:p>
          <a:p>
            <a:pPr marL="457200" indent="-457200">
              <a:buFont typeface="Arial" panose="020B0604020202020204" pitchFamily="34" charset="0"/>
              <a:buChar char="•"/>
            </a:pPr>
            <a:r>
              <a:rPr lang="en-US" sz="2800" dirty="0"/>
              <a:t>Orders can co-reside but one was generated after the mid-price changed</a:t>
            </a:r>
          </a:p>
          <a:p>
            <a:pPr marL="457200" indent="-457200">
              <a:buFont typeface="Arial" panose="020B0604020202020204" pitchFamily="34" charset="0"/>
              <a:buChar char="•"/>
            </a:pPr>
            <a:r>
              <a:rPr lang="en-US" sz="28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A59F3483-C2C3-5146-ECB7-5F29016060AB}"/>
              </a:ext>
            </a:extLst>
          </p:cNvPr>
          <p:cNvSpPr txBox="1"/>
          <p:nvPr/>
        </p:nvSpPr>
        <p:spPr>
          <a:xfrm>
            <a:off x="786510" y="1899920"/>
            <a:ext cx="9759570" cy="584775"/>
          </a:xfrm>
          <a:prstGeom prst="rect">
            <a:avLst/>
          </a:prstGeom>
          <a:noFill/>
        </p:spPr>
        <p:txBody>
          <a:bodyPr wrap="square" rtlCol="0">
            <a:spAutoFit/>
          </a:bodyPr>
          <a:lstStyle/>
          <a:p>
            <a:pPr marL="457200" indent="-457200">
              <a:buFont typeface="Arial" panose="020B0604020202020204" pitchFamily="34" charset="0"/>
              <a:buChar char="•"/>
            </a:pPr>
            <a:r>
              <a:rPr lang="en-US" sz="3200" dirty="0"/>
              <a:t>Intransitivity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5" name="TextBox 4">
            <a:extLst>
              <a:ext uri="{FF2B5EF4-FFF2-40B4-BE49-F238E27FC236}">
                <a16:creationId xmlns:a16="http://schemas.microsoft.com/office/drawing/2014/main" id="{092F98D2-66C4-B08C-5B6C-53E460CE4D06}"/>
              </a:ext>
            </a:extLst>
          </p:cNvPr>
          <p:cNvSpPr txBox="1"/>
          <p:nvPr/>
        </p:nvSpPr>
        <p:spPr>
          <a:xfrm>
            <a:off x="5547360" y="2644170"/>
            <a:ext cx="3616960" cy="1569660"/>
          </a:xfrm>
          <a:prstGeom prst="rect">
            <a:avLst/>
          </a:prstGeom>
          <a:noFill/>
        </p:spPr>
        <p:txBody>
          <a:bodyPr wrap="square" rtlCol="0">
            <a:spAutoFit/>
          </a:bodyPr>
          <a:lstStyle/>
          <a:p>
            <a:pPr marL="457200" indent="-457200">
              <a:buFont typeface="Arial" panose="020B0604020202020204" pitchFamily="34" charset="0"/>
              <a:buChar char="•"/>
            </a:pPr>
            <a:r>
              <a:rPr lang="en-US" sz="3200" dirty="0"/>
              <a:t>A wins over B</a:t>
            </a:r>
          </a:p>
          <a:p>
            <a:pPr marL="457200" indent="-457200">
              <a:buFont typeface="Arial" panose="020B0604020202020204" pitchFamily="34" charset="0"/>
              <a:buChar char="•"/>
            </a:pPr>
            <a:r>
              <a:rPr lang="en-US" sz="3200" dirty="0"/>
              <a:t>B wins over C</a:t>
            </a:r>
          </a:p>
          <a:p>
            <a:pPr marL="457200" indent="-457200">
              <a:buFont typeface="Arial" panose="020B0604020202020204" pitchFamily="34" charset="0"/>
              <a:buChar char="•"/>
            </a:pPr>
            <a:r>
              <a:rPr lang="en-US" sz="3200" dirty="0"/>
              <a:t>C wins over A</a:t>
            </a:r>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43C36298-8C94-D201-27B0-7BF152D0322E}"/>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B4B1F4F-AB95-C6D1-931E-5E59074F2D43}"/>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but their difference will always fall in a relatively small range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21ADB6C0-0677-20DF-DD4A-7A1CC4732F04}"/>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21ADB6C0-0677-20DF-DD4A-7A1CC4732F0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but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31394-348C-5BCA-9525-876B54B822C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85DC828-E014-B4D7-D838-607C7C9D732E}"/>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7F1C6A54-C74E-C55F-07C3-4F41A336113B}"/>
              </a:ext>
            </a:extLst>
          </p:cNvPr>
          <p:cNvSpPr/>
          <p:nvPr/>
        </p:nvSpPr>
        <p:spPr>
          <a:xfrm>
            <a:off x="-160256" y="-169682"/>
            <a:ext cx="12490516" cy="721150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628155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3218</TotalTime>
  <Words>4829</Words>
  <Application>Microsoft Macintosh PowerPoint</Application>
  <PresentationFormat>Widescreen</PresentationFormat>
  <Paragraphs>1185</Paragraphs>
  <Slides>142</Slides>
  <Notes>103</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142</vt:i4>
      </vt:variant>
    </vt:vector>
  </HeadingPairs>
  <TitlesOfParts>
    <vt:vector size="152"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 – action window</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Computation Optimization</vt:lpstr>
      <vt:lpstr>Computation Optimization</vt:lpstr>
      <vt:lpstr>Evaluation</vt:lpstr>
      <vt:lpstr>Setup</vt:lpstr>
      <vt:lpstr>Fairness</vt:lpstr>
      <vt:lpstr>Fairness</vt:lpstr>
      <vt:lpstr>Fairness</vt:lpstr>
      <vt:lpstr>Remarks</vt:lpstr>
      <vt:lpstr>PowerPoint Presentation</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351</cp:revision>
  <dcterms:created xsi:type="dcterms:W3CDTF">2026-04-04T21:04:51Z</dcterms:created>
  <dcterms:modified xsi:type="dcterms:W3CDTF">2026-04-07T19:26:44Z</dcterms:modified>
</cp:coreProperties>
</file>