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4"/>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10" r:id="rId108"/>
    <p:sldId id="350" r:id="rId109"/>
    <p:sldId id="359" r:id="rId110"/>
    <p:sldId id="427" r:id="rId111"/>
    <p:sldId id="360" r:id="rId112"/>
    <p:sldId id="428" r:id="rId113"/>
    <p:sldId id="353" r:id="rId114"/>
    <p:sldId id="432" r:id="rId115"/>
    <p:sldId id="1856" r:id="rId116"/>
    <p:sldId id="1857" r:id="rId117"/>
    <p:sldId id="351" r:id="rId118"/>
    <p:sldId id="352" r:id="rId119"/>
    <p:sldId id="1858" r:id="rId120"/>
    <p:sldId id="354" r:id="rId121"/>
    <p:sldId id="355" r:id="rId122"/>
    <p:sldId id="1859" r:id="rId123"/>
    <p:sldId id="357" r:id="rId124"/>
    <p:sldId id="358" r:id="rId125"/>
    <p:sldId id="1860" r:id="rId126"/>
    <p:sldId id="1861" r:id="rId127"/>
    <p:sldId id="393" r:id="rId128"/>
    <p:sldId id="1862" r:id="rId129"/>
    <p:sldId id="402" r:id="rId130"/>
    <p:sldId id="1864" r:id="rId131"/>
    <p:sldId id="415" r:id="rId132"/>
    <p:sldId id="340" r:id="rId133"/>
    <p:sldId id="1865" r:id="rId134"/>
    <p:sldId id="1866" r:id="rId135"/>
    <p:sldId id="1867" r:id="rId136"/>
    <p:sldId id="1868" r:id="rId137"/>
    <p:sldId id="1869" r:id="rId138"/>
    <p:sldId id="413" r:id="rId139"/>
    <p:sldId id="1870" r:id="rId140"/>
    <p:sldId id="1936" r:id="rId141"/>
    <p:sldId id="1872" r:id="rId142"/>
    <p:sldId id="419" r:id="rId143"/>
    <p:sldId id="1914" r:id="rId144"/>
    <p:sldId id="1937" r:id="rId145"/>
    <p:sldId id="1873" r:id="rId146"/>
    <p:sldId id="1953" r:id="rId147"/>
    <p:sldId id="1952" r:id="rId148"/>
    <p:sldId id="1939" r:id="rId149"/>
    <p:sldId id="1941" r:id="rId150"/>
    <p:sldId id="1942" r:id="rId151"/>
    <p:sldId id="1954" r:id="rId152"/>
    <p:sldId id="1944" r:id="rId153"/>
    <p:sldId id="1945" r:id="rId154"/>
    <p:sldId id="1946" r:id="rId155"/>
    <p:sldId id="1879" r:id="rId156"/>
    <p:sldId id="1874" r:id="rId157"/>
    <p:sldId id="1876" r:id="rId158"/>
    <p:sldId id="1877" r:id="rId159"/>
    <p:sldId id="1912" r:id="rId160"/>
    <p:sldId id="1935" r:id="rId161"/>
    <p:sldId id="1913" r:id="rId162"/>
    <p:sldId id="1880" r:id="rId163"/>
    <p:sldId id="1881" r:id="rId164"/>
    <p:sldId id="1956" r:id="rId165"/>
    <p:sldId id="1955" r:id="rId166"/>
    <p:sldId id="1882" r:id="rId167"/>
    <p:sldId id="1883" r:id="rId168"/>
    <p:sldId id="1884" r:id="rId169"/>
    <p:sldId id="1885" r:id="rId170"/>
    <p:sldId id="1886" r:id="rId171"/>
    <p:sldId id="1888" r:id="rId172"/>
    <p:sldId id="1890" r:id="rId1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789"/>
    <p:restoredTop sz="90196"/>
  </p:normalViewPr>
  <p:slideViewPr>
    <p:cSldViewPr snapToGrid="0">
      <p:cViewPr varScale="1">
        <p:scale>
          <a:sx n="107" d="100"/>
          <a:sy n="107" d="100"/>
        </p:scale>
        <p:origin x="184" y="4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theme" Target="theme/theme1.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tableStyles" Target="tableStyle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notesMaster" Target="notesMasters/notesMaster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presProps" Target="presProps.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viewProps" Target="viewProps.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We will design the queue so that fairness is not always violated.</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Alternative proposal, not analyzed financially,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 slide, explicitly diverges from </a:t>
            </a:r>
            <a:r>
              <a:rPr lang="en-US" dirty="0" err="1"/>
              <a:t>countinous</a:t>
            </a:r>
            <a:r>
              <a:rPr lang="en-US" dirty="0"/>
              <a:t> price time matching</a:t>
            </a:r>
          </a:p>
          <a:p>
            <a:pPr marL="0" lvl="0" indent="0" algn="l" rtl="0">
              <a:spcBef>
                <a:spcPts val="0"/>
              </a:spcBef>
              <a:spcAft>
                <a:spcPts val="0"/>
              </a:spcAft>
              <a:buNone/>
            </a:pPr>
            <a:r>
              <a:rPr lang="en-US" dirty="0"/>
              <a:t>Other proposals are also not equal</a:t>
            </a:r>
          </a:p>
          <a:p>
            <a:pPr marL="0" lvl="0" indent="0" algn="l" rtl="0">
              <a:spcBef>
                <a:spcPts val="0"/>
              </a:spcBef>
              <a:spcAft>
                <a:spcPts val="0"/>
              </a:spcAft>
              <a:buNone/>
            </a:pPr>
            <a:r>
              <a:rPr lang="en-US" dirty="0"/>
              <a:t>More analysis is future work</a:t>
            </a: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115</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158</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169</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170</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4/10/26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6.xml"/><Relationship Id="rId1" Type="http://schemas.openxmlformats.org/officeDocument/2006/relationships/slideLayout" Target="../slideLayouts/slideLayout23.xml"/></Relationships>
</file>

<file path=ppt/slides/_rels/slide11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7.xml"/><Relationship Id="rId1" Type="http://schemas.openxmlformats.org/officeDocument/2006/relationships/slideLayout" Target="../slideLayouts/slideLayout2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98.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0.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8.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19.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1.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0.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svg"/></Relationships>
</file>

<file path=ppt/slides/_rels/slide131.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0.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2.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4.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4.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5.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4.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3.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avenues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In practice: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2308324"/>
          </a:xfrm>
          <a:prstGeom prst="rect">
            <a:avLst/>
          </a:prstGeom>
          <a:noFill/>
        </p:spPr>
        <p:txBody>
          <a:bodyPr wrap="square" rtlCol="0">
            <a:spAutoFit/>
          </a:bodyPr>
          <a:lstStyle/>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simultaneously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373748" y="1964484"/>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239003" y="4179455"/>
            <a:ext cx="3080035" cy="2246769"/>
          </a:xfrm>
          <a:prstGeom prst="rect">
            <a:avLst/>
          </a:prstGeom>
          <a:noFill/>
        </p:spPr>
        <p:txBody>
          <a:bodyPr wrap="square">
            <a:spAutoFit/>
          </a:bodyPr>
          <a:lstStyle/>
          <a:p>
            <a:r>
              <a:rPr lang="en-US" sz="2000" dirty="0"/>
              <a:t>All action is assumed</a:t>
            </a:r>
            <a:br>
              <a:rPr lang="en-US" sz="2000" dirty="0"/>
            </a:br>
            <a:r>
              <a:rPr lang="en-US" sz="2000" dirty="0"/>
              <a:t>to happen inside the action window.</a:t>
            </a:r>
            <a:br>
              <a:rPr lang="en-US" sz="2000" dirty="0"/>
            </a:br>
            <a:br>
              <a:rPr lang="en-US" sz="2000" dirty="0"/>
            </a:br>
            <a:r>
              <a:rPr lang="en-US" sz="2000" dirty="0"/>
              <a:t>no order should be admitted by the exchange that violates that</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525922" y="4739938"/>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7724391" y="4733491"/>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162567" y="5922871"/>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167571" y="4544943"/>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 (latency fairness)</a:t>
            </a:r>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3301074" y="2252553"/>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ts</a:t>
            </a:r>
            <a:endParaRPr lang="en-US" sz="44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277378" y="2252552"/>
            <a:ext cx="184053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0" y="2252553"/>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09"/>
            <a:ext cx="11360800" cy="2767963"/>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a:t>
            </a:r>
          </a:p>
          <a:p>
            <a:pPr>
              <a:buFont typeface="Arial" panose="020B0604020202020204" pitchFamily="34" charset="0"/>
              <a:buChar char="-"/>
            </a:pPr>
            <a:r>
              <a:rPr lang="en-US" sz="2400" dirty="0"/>
              <a:t>Maintains fairness under some strict assumptions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356968"/>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 and high performance can be achieved</a:t>
            </a:r>
            <a:br>
              <a:rPr lang="en-US" sz="3200" dirty="0"/>
            </a:b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6" name="TextBox 5">
            <a:extLst>
              <a:ext uri="{FF2B5EF4-FFF2-40B4-BE49-F238E27FC236}">
                <a16:creationId xmlns:a16="http://schemas.microsoft.com/office/drawing/2014/main" id="{91F0FF32-83E7-F41A-AC18-4DC57DF7B571}"/>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animBg="1"/>
      <p:bldP spid="6"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0415E19B-5579-0E33-7BD4-316340DD4FDF}"/>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049A406D-6B53-CFD2-2BED-52778003691D}"/>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
        <p:nvSpPr>
          <p:cNvPr id="2" name="TextBox 1">
            <a:extLst>
              <a:ext uri="{FF2B5EF4-FFF2-40B4-BE49-F238E27FC236}">
                <a16:creationId xmlns:a16="http://schemas.microsoft.com/office/drawing/2014/main" id="{CA07172C-F5CF-61D0-6ED3-0FE8860D1383}"/>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90509F48-6AAB-57AE-1763-1869131FC1D7}"/>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13A00EB6-D5F6-1B12-6ED2-BDB0188A31BC}"/>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57882DA7-B078-FA5F-FEC6-F1440FB374E4}"/>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5995367" y="307224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workload</a:t>
            </a:r>
          </a:p>
          <a:p>
            <a:pPr algn="ctr"/>
            <a:endParaRPr lang="en-US" sz="2400" dirty="0"/>
          </a:p>
          <a:p>
            <a:pPr algn="ctr"/>
            <a:endParaRPr lang="en-US" sz="2400" dirty="0"/>
          </a:p>
          <a:p>
            <a:pPr algn="ctr"/>
            <a:r>
              <a:rPr lang="en-US" sz="2400" dirty="0"/>
              <a:t> </a:t>
            </a:r>
            <a:br>
              <a:rPr lang="en-US" sz="2400" dirty="0"/>
            </a:br>
            <a:endParaRPr lang="en-US" sz="2400" dirty="0"/>
          </a:p>
        </p:txBody>
      </p:sp>
      <p:sp>
        <p:nvSpPr>
          <p:cNvPr id="4" name="Can 3">
            <a:extLst>
              <a:ext uri="{FF2B5EF4-FFF2-40B4-BE49-F238E27FC236}">
                <a16:creationId xmlns:a16="http://schemas.microsoft.com/office/drawing/2014/main" id="{D4AC3C0C-8CB7-AFF7-4A26-3F30E09F8D5B}"/>
              </a:ext>
            </a:extLst>
          </p:cNvPr>
          <p:cNvSpPr/>
          <p:nvPr/>
        </p:nvSpPr>
        <p:spPr>
          <a:xfrm>
            <a:off x="6177147"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Can 9">
            <a:extLst>
              <a:ext uri="{FF2B5EF4-FFF2-40B4-BE49-F238E27FC236}">
                <a16:creationId xmlns:a16="http://schemas.microsoft.com/office/drawing/2014/main" id="{C9E3726E-98E3-1C47-A58A-750E731A0894}"/>
              </a:ext>
            </a:extLst>
          </p:cNvPr>
          <p:cNvSpPr/>
          <p:nvPr/>
        </p:nvSpPr>
        <p:spPr>
          <a:xfrm>
            <a:off x="7151865"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Can 24">
            <a:extLst>
              <a:ext uri="{FF2B5EF4-FFF2-40B4-BE49-F238E27FC236}">
                <a16:creationId xmlns:a16="http://schemas.microsoft.com/office/drawing/2014/main" id="{6F13C645-09E7-6E0C-7C1B-4F353F053539}"/>
              </a:ext>
            </a:extLst>
          </p:cNvPr>
          <p:cNvSpPr/>
          <p:nvPr/>
        </p:nvSpPr>
        <p:spPr>
          <a:xfrm>
            <a:off x="9133623" y="4467414"/>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C3451F33-DD52-AE2F-E1CE-370BDF34BFD2}"/>
              </a:ext>
            </a:extLst>
          </p:cNvPr>
          <p:cNvCxnSpPr>
            <a:cxnSpLocks/>
          </p:cNvCxnSpPr>
          <p:nvPr/>
        </p:nvCxnSpPr>
        <p:spPr>
          <a:xfrm>
            <a:off x="7998372" y="4652229"/>
            <a:ext cx="998483"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30" name="Can 29">
            <a:extLst>
              <a:ext uri="{FF2B5EF4-FFF2-40B4-BE49-F238E27FC236}">
                <a16:creationId xmlns:a16="http://schemas.microsoft.com/office/drawing/2014/main" id="{A179F07D-211F-1EA0-6ECF-CCE45718446A}"/>
              </a:ext>
            </a:extLst>
          </p:cNvPr>
          <p:cNvSpPr/>
          <p:nvPr/>
        </p:nvSpPr>
        <p:spPr>
          <a:xfrm>
            <a:off x="6853340" y="3967702"/>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Can 30">
            <a:extLst>
              <a:ext uri="{FF2B5EF4-FFF2-40B4-BE49-F238E27FC236}">
                <a16:creationId xmlns:a16="http://schemas.microsoft.com/office/drawing/2014/main" id="{C9352A81-68F7-4E3F-4E09-C33EAC0DF351}"/>
              </a:ext>
            </a:extLst>
          </p:cNvPr>
          <p:cNvSpPr/>
          <p:nvPr/>
        </p:nvSpPr>
        <p:spPr>
          <a:xfrm>
            <a:off x="7808847" y="3981746"/>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Can 31">
            <a:extLst>
              <a:ext uri="{FF2B5EF4-FFF2-40B4-BE49-F238E27FC236}">
                <a16:creationId xmlns:a16="http://schemas.microsoft.com/office/drawing/2014/main" id="{EAC90C60-1149-7524-06C7-4D36FDDF50BC}"/>
              </a:ext>
            </a:extLst>
          </p:cNvPr>
          <p:cNvSpPr/>
          <p:nvPr/>
        </p:nvSpPr>
        <p:spPr>
          <a:xfrm>
            <a:off x="8856345" y="3979215"/>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3" name="Straight Connector 32">
            <a:extLst>
              <a:ext uri="{FF2B5EF4-FFF2-40B4-BE49-F238E27FC236}">
                <a16:creationId xmlns:a16="http://schemas.microsoft.com/office/drawing/2014/main" id="{E805770E-7836-2D17-135A-D5511ADCA82D}"/>
              </a:ext>
            </a:extLst>
          </p:cNvPr>
          <p:cNvCxnSpPr>
            <a:cxnSpLocks/>
          </p:cNvCxnSpPr>
          <p:nvPr/>
        </p:nvCxnSpPr>
        <p:spPr>
          <a:xfrm>
            <a:off x="8277101" y="413217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F93A123C-DC89-DBE0-06B5-E31CB93CE89B}"/>
              </a:ext>
            </a:extLst>
          </p:cNvPr>
          <p:cNvCxnSpPr>
            <a:stCxn id="4" idx="1"/>
            <a:endCxn id="30" idx="3"/>
          </p:cNvCxnSpPr>
          <p:nvPr/>
        </p:nvCxnSpPr>
        <p:spPr>
          <a:xfrm flipV="1">
            <a:off x="6556197" y="4273617"/>
            <a:ext cx="486668"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D5E113E2-B6AA-F143-D307-F310D47BFD13}"/>
              </a:ext>
            </a:extLst>
          </p:cNvPr>
          <p:cNvCxnSpPr>
            <a:cxnSpLocks/>
            <a:stCxn id="10" idx="1"/>
            <a:endCxn id="30" idx="3"/>
          </p:cNvCxnSpPr>
          <p:nvPr/>
        </p:nvCxnSpPr>
        <p:spPr>
          <a:xfrm flipH="1" flipV="1">
            <a:off x="7042865" y="4273617"/>
            <a:ext cx="488050"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1358F2-5B82-D216-5605-51701B323F56}"/>
              </a:ext>
            </a:extLst>
          </p:cNvPr>
          <p:cNvCxnSpPr>
            <a:cxnSpLocks/>
            <a:stCxn id="25" idx="1"/>
            <a:endCxn id="32" idx="3"/>
          </p:cNvCxnSpPr>
          <p:nvPr/>
        </p:nvCxnSpPr>
        <p:spPr>
          <a:xfrm flipH="1" flipV="1">
            <a:off x="9045870" y="4285130"/>
            <a:ext cx="466803" cy="18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4B34A51B-16F2-6982-B3AB-409C81E4D014}"/>
              </a:ext>
            </a:extLst>
          </p:cNvPr>
          <p:cNvCxnSpPr>
            <a:cxnSpLocks/>
          </p:cNvCxnSpPr>
          <p:nvPr/>
        </p:nvCxnSpPr>
        <p:spPr>
          <a:xfrm>
            <a:off x="7315179" y="412975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46" name="Oval 45">
            <a:extLst>
              <a:ext uri="{FF2B5EF4-FFF2-40B4-BE49-F238E27FC236}">
                <a16:creationId xmlns:a16="http://schemas.microsoft.com/office/drawing/2014/main" id="{B541DAF5-55D6-A751-E0FC-510DCBCE8F1A}"/>
              </a:ext>
            </a:extLst>
          </p:cNvPr>
          <p:cNvSpPr/>
          <p:nvPr/>
        </p:nvSpPr>
        <p:spPr>
          <a:xfrm>
            <a:off x="7789121" y="3439124"/>
            <a:ext cx="398775" cy="305915"/>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 name="Straight Connector 46">
            <a:extLst>
              <a:ext uri="{FF2B5EF4-FFF2-40B4-BE49-F238E27FC236}">
                <a16:creationId xmlns:a16="http://schemas.microsoft.com/office/drawing/2014/main" id="{F2B79FF0-54A9-D178-CA90-D9315F305897}"/>
              </a:ext>
            </a:extLst>
          </p:cNvPr>
          <p:cNvCxnSpPr>
            <a:cxnSpLocks/>
            <a:stCxn id="30" idx="4"/>
            <a:endCxn id="46" idx="4"/>
          </p:cNvCxnSpPr>
          <p:nvPr/>
        </p:nvCxnSpPr>
        <p:spPr>
          <a:xfrm flipV="1">
            <a:off x="7232390" y="3745039"/>
            <a:ext cx="756119" cy="375621"/>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E822386-639D-B398-CAA4-734E78DA935C}"/>
              </a:ext>
            </a:extLst>
          </p:cNvPr>
          <p:cNvCxnSpPr>
            <a:cxnSpLocks/>
            <a:stCxn id="31" idx="0"/>
            <a:endCxn id="46" idx="4"/>
          </p:cNvCxnSpPr>
          <p:nvPr/>
        </p:nvCxnSpPr>
        <p:spPr>
          <a:xfrm flipH="1" flipV="1">
            <a:off x="7988509" y="3745039"/>
            <a:ext cx="9863" cy="236707"/>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325E2C3-6790-0FA5-B710-D1FF5EE95A2F}"/>
              </a:ext>
            </a:extLst>
          </p:cNvPr>
          <p:cNvCxnSpPr>
            <a:cxnSpLocks/>
            <a:stCxn id="32" idx="2"/>
            <a:endCxn id="46" idx="4"/>
          </p:cNvCxnSpPr>
          <p:nvPr/>
        </p:nvCxnSpPr>
        <p:spPr>
          <a:xfrm flipH="1" flipV="1">
            <a:off x="7988509" y="3745039"/>
            <a:ext cx="867836" cy="387134"/>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41"/>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47"/>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0"/>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4" grpId="0" animBg="1"/>
      <p:bldP spid="10" grpId="0" animBg="1"/>
      <p:bldP spid="25" grpId="0" animBg="1"/>
      <p:bldP spid="30" grpId="0" animBg="1"/>
      <p:bldP spid="31" grpId="0" animBg="1"/>
      <p:bldP spid="32" grpId="0" animBg="1"/>
      <p:bldP spid="46" grpId="0" animBg="1"/>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6720</TotalTime>
  <Words>6681</Words>
  <Application>Microsoft Macintosh PowerPoint</Application>
  <PresentationFormat>Widescreen</PresentationFormat>
  <Paragraphs>1691</Paragraphs>
  <Slides>171</Slides>
  <Notes>134</Notes>
  <HiddenSlides>4</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171</vt:i4>
      </vt:variant>
    </vt:vector>
  </HeadingPairs>
  <TitlesOfParts>
    <vt:vector size="180"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642</cp:revision>
  <dcterms:created xsi:type="dcterms:W3CDTF">2026-04-04T21:04:51Z</dcterms:created>
  <dcterms:modified xsi:type="dcterms:W3CDTF">2026-04-10T19:14:12Z</dcterms:modified>
</cp:coreProperties>
</file>