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9"/>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05" r:id="rId102"/>
    <p:sldId id="1906" r:id="rId103"/>
    <p:sldId id="1934" r:id="rId104"/>
    <p:sldId id="1957" r:id="rId105"/>
    <p:sldId id="1959" r:id="rId106"/>
    <p:sldId id="1958" r:id="rId107"/>
    <p:sldId id="1915" r:id="rId108"/>
    <p:sldId id="1907" r:id="rId109"/>
    <p:sldId id="1908" r:id="rId110"/>
    <p:sldId id="1909" r:id="rId111"/>
    <p:sldId id="1910" r:id="rId112"/>
    <p:sldId id="350" r:id="rId113"/>
    <p:sldId id="359" r:id="rId114"/>
    <p:sldId id="427" r:id="rId115"/>
    <p:sldId id="360" r:id="rId116"/>
    <p:sldId id="428" r:id="rId117"/>
    <p:sldId id="353" r:id="rId118"/>
    <p:sldId id="432" r:id="rId119"/>
    <p:sldId id="1856" r:id="rId120"/>
    <p:sldId id="1857" r:id="rId121"/>
    <p:sldId id="351" r:id="rId122"/>
    <p:sldId id="352" r:id="rId123"/>
    <p:sldId id="1858" r:id="rId124"/>
    <p:sldId id="354" r:id="rId125"/>
    <p:sldId id="355" r:id="rId126"/>
    <p:sldId id="1859" r:id="rId127"/>
    <p:sldId id="357" r:id="rId128"/>
    <p:sldId id="358" r:id="rId129"/>
    <p:sldId id="1860" r:id="rId130"/>
    <p:sldId id="1861" r:id="rId131"/>
    <p:sldId id="393" r:id="rId132"/>
    <p:sldId id="1862" r:id="rId133"/>
    <p:sldId id="402" r:id="rId134"/>
    <p:sldId id="1864" r:id="rId135"/>
    <p:sldId id="415" r:id="rId136"/>
    <p:sldId id="340" r:id="rId137"/>
    <p:sldId id="1865" r:id="rId138"/>
    <p:sldId id="1866" r:id="rId139"/>
    <p:sldId id="1867" r:id="rId140"/>
    <p:sldId id="412" r:id="rId141"/>
    <p:sldId id="1868" r:id="rId142"/>
    <p:sldId id="1869" r:id="rId143"/>
    <p:sldId id="413" r:id="rId144"/>
    <p:sldId id="1870" r:id="rId145"/>
    <p:sldId id="1936" r:id="rId146"/>
    <p:sldId id="1872" r:id="rId147"/>
    <p:sldId id="419" r:id="rId148"/>
    <p:sldId id="1914" r:id="rId149"/>
    <p:sldId id="1937" r:id="rId150"/>
    <p:sldId id="1873" r:id="rId151"/>
    <p:sldId id="1953" r:id="rId152"/>
    <p:sldId id="1952" r:id="rId153"/>
    <p:sldId id="1939" r:id="rId154"/>
    <p:sldId id="1941" r:id="rId155"/>
    <p:sldId id="1942" r:id="rId156"/>
    <p:sldId id="1954" r:id="rId157"/>
    <p:sldId id="1944" r:id="rId158"/>
    <p:sldId id="1945" r:id="rId159"/>
    <p:sldId id="1946" r:id="rId160"/>
    <p:sldId id="1879" r:id="rId161"/>
    <p:sldId id="1874" r:id="rId162"/>
    <p:sldId id="1876" r:id="rId163"/>
    <p:sldId id="1877" r:id="rId164"/>
    <p:sldId id="1912" r:id="rId165"/>
    <p:sldId id="1935" r:id="rId166"/>
    <p:sldId id="1913" r:id="rId167"/>
    <p:sldId id="1880" r:id="rId168"/>
    <p:sldId id="1881" r:id="rId169"/>
    <p:sldId id="1956" r:id="rId170"/>
    <p:sldId id="1955" r:id="rId171"/>
    <p:sldId id="1882" r:id="rId172"/>
    <p:sldId id="1883" r:id="rId173"/>
    <p:sldId id="1884" r:id="rId174"/>
    <p:sldId id="1885" r:id="rId175"/>
    <p:sldId id="1886" r:id="rId176"/>
    <p:sldId id="1888" r:id="rId177"/>
    <p:sldId id="1890" r:id="rId17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902"/>
    <p:restoredTop sz="91046"/>
  </p:normalViewPr>
  <p:slideViewPr>
    <p:cSldViewPr snapToGrid="0">
      <p:cViewPr varScale="1">
        <p:scale>
          <a:sx n="108" d="100"/>
          <a:sy n="108" d="100"/>
        </p:scale>
        <p:origin x="208" y="4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viewProps" Target="viewProps.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82" Type="http://schemas.openxmlformats.org/officeDocument/2006/relationships/theme" Target="theme/theme1.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slide" Target="slides/slide175.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183" Type="http://schemas.openxmlformats.org/officeDocument/2006/relationships/tableStyles" Target="tableStyles.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slide" Target="slides/slide176.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notesMaster" Target="notesMasters/notesMaster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presProps" Target="presProps.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2A2364-F04A-3D94-671B-A379C7DA96A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3A8123-5514-CE0B-5D8A-4EFE860571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800CFAB-D3AC-1A0E-34BF-D534EEAF2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5519938"/>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762E644-E074-CE05-0A03-B668EE041E6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AB52CB7-83A8-19FE-7CC3-03051FE78F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0393CB0-B1AE-A04D-F068-08C1F76B28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28787480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85B9DC0-AF7C-3BAE-1881-AF86DFC6976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B908A56-73F3-D0EB-80BF-7985CD119F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B8BEDD6-EC29-460D-5CFC-67FEF61ADA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20228773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Majority of trades are speed races, i.e., it happens in rounds. And fairness is definitely preserved in speed races. But in some contrived cases where some orders are delayed enough that they arrive at the exchange after some rounds, we think there might be an issue. </a:t>
            </a: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158</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159</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163</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174</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175</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4/9/26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5.emf"/><Relationship Id="rId7" Type="http://schemas.openxmlformats.org/officeDocument/2006/relationships/image" Target="../media/image15.png"/><Relationship Id="rId2" Type="http://schemas.openxmlformats.org/officeDocument/2006/relationships/notesSlide" Target="../notesSlides/notesSlide90.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s>
</file>

<file path=ppt/slides/_rels/slide10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1.xml"/><Relationship Id="rId1" Type="http://schemas.openxmlformats.org/officeDocument/2006/relationships/slideLayout" Target="../slideLayouts/slideLayout24.xml"/></Relationships>
</file>

<file path=ppt/slides/_rels/slide10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4.xml"/></Relationships>
</file>

<file path=ppt/slides/_rels/slide115.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4.xml"/></Relationships>
</file>

<file path=ppt/slides/_rels/slide116.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100.xml"/><Relationship Id="rId1" Type="http://schemas.openxmlformats.org/officeDocument/2006/relationships/slideLayout" Target="../slideLayouts/slideLayout23.xml"/></Relationships>
</file>

<file path=ppt/slides/_rels/slide117.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101.xml"/><Relationship Id="rId1" Type="http://schemas.openxmlformats.org/officeDocument/2006/relationships/slideLayout" Target="../slideLayouts/slideLayout2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120.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04.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2.xml.rels><?xml version="1.0" encoding="UTF-8" standalone="yes"?>
<Relationships xmlns="http://schemas.openxmlformats.org/package/2006/relationships"><Relationship Id="rId3" Type="http://schemas.openxmlformats.org/officeDocument/2006/relationships/image" Target="../media/image30.svg"/><Relationship Id="rId7" Type="http://schemas.openxmlformats.org/officeDocument/2006/relationships/image" Target="../media/image33.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4.svg"/><Relationship Id="rId5" Type="http://schemas.openxmlformats.org/officeDocument/2006/relationships/image" Target="../media/image32.svg"/><Relationship Id="rId4" Type="http://schemas.openxmlformats.org/officeDocument/2006/relationships/image" Target="../media/image31.svg"/></Relationships>
</file>

<file path=ppt/slides/_rels/slide123.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05.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4.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9.svg"/><Relationship Id="rId7" Type="http://schemas.openxmlformats.org/officeDocument/2006/relationships/image" Target="../media/image34.svg"/><Relationship Id="rId2" Type="http://schemas.openxmlformats.org/officeDocument/2006/relationships/notesSlide" Target="../notesSlides/notesSlide106.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1.xml"/><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2.xml"/><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34.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13.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svg"/></Relationships>
</file>

<file path=ppt/slides/_rels/slide135.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36.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9.png"/><Relationship Id="rId7" Type="http://schemas.openxmlformats.org/officeDocument/2006/relationships/image" Target="../media/image35.png"/><Relationship Id="rId2" Type="http://schemas.openxmlformats.org/officeDocument/2006/relationships/notesSlide" Target="../notesSlides/notesSlide115.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7.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9.png"/><Relationship Id="rId7" Type="http://schemas.openxmlformats.org/officeDocument/2006/relationships/image" Target="../media/image34.png"/><Relationship Id="rId2" Type="http://schemas.openxmlformats.org/officeDocument/2006/relationships/notesSlide" Target="../notesSlides/notesSlide116.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8.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9.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4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8.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9.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5.xml"/><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4.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2" Type="http://schemas.openxmlformats.org/officeDocument/2006/relationships/image" Target="../media/image40.svg"/><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7.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1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192817" y="4628748"/>
            <a:ext cx="987766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400" dirty="0">
                <a:highlight>
                  <a:srgbClr val="00FF00"/>
                </a:highlight>
              </a:rPr>
              <a:t>RRPS dynamically adjusts parent-child relationships after each message</a:t>
            </a:r>
          </a:p>
          <a:p>
            <a:pPr marL="342900" indent="-342900">
              <a:buFont typeface="Arial" panose="020B0604020202020204" pitchFamily="34" charset="0"/>
              <a:buChar char="•"/>
            </a:pPr>
            <a:r>
              <a:rPr lang="en-US" sz="2400" dirty="0">
                <a:highlight>
                  <a:srgbClr val="00FF00"/>
                </a:highlight>
              </a:rPr>
              <a:t>No link is used for a consecutive sequence of messages</a:t>
            </a:r>
          </a:p>
          <a:p>
            <a:pPr marL="342900" indent="-342900">
              <a:buFont typeface="Arial" panose="020B0604020202020204" pitchFamily="34" charset="0"/>
              <a:buChar char="•"/>
            </a:pPr>
            <a:r>
              <a:rPr lang="en-US" sz="2400" dirty="0">
                <a:highlight>
                  <a:srgbClr val="00FF00"/>
                </a:highlight>
              </a:rPr>
              <a:t>Latency spike is only able to affect a small number of messages</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4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400" dirty="0">
                <a:highlight>
                  <a:srgbClr val="00FF00"/>
                </a:highlight>
              </a:rPr>
              <a:t>If one parent is a straggler, some other parent may be healthy</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A trader/MPs VM can also show straggler behavior</a:t>
            </a:r>
          </a:p>
          <a:p>
            <a:pPr marL="342900" indent="-342900">
              <a:buFont typeface="Arial" panose="020B0604020202020204" pitchFamily="34" charset="0"/>
              <a:buChar char="•"/>
            </a:pPr>
            <a:r>
              <a:rPr lang="en-US" sz="24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400" dirty="0">
                <a:highlight>
                  <a:srgbClr val="00FF00"/>
                </a:highlight>
              </a:rPr>
              <a:t>An MP is able to receive messages on time</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Tries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Separates rounds of trading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FF08F5D7-199C-64D2-67DC-C322E45DBCA6}"/>
              </a:ext>
            </a:extLst>
          </p:cNvPr>
          <p:cNvSpPr/>
          <p:nvPr/>
        </p:nvSpPr>
        <p:spPr>
          <a:xfrm>
            <a:off x="4405397" y="288010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69C1B7AB-68FA-9AED-9A12-D8490CCAA419}"/>
              </a:ext>
            </a:extLst>
          </p:cNvPr>
          <p:cNvSpPr txBox="1"/>
          <p:nvPr/>
        </p:nvSpPr>
        <p:spPr>
          <a:xfrm>
            <a:off x="6987513" y="2006295"/>
            <a:ext cx="4654909"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Every time mid price changes, mid-price ID is incremented</a:t>
            </a:r>
            <a:br>
              <a:rPr lang="en-US" sz="2400" dirty="0"/>
            </a:br>
            <a:endParaRPr lang="en-US" sz="2400" dirty="0"/>
          </a:p>
          <a:p>
            <a:pPr marL="285750" indent="-285750">
              <a:buFont typeface="Arial" panose="020B0604020202020204" pitchFamily="34" charset="0"/>
              <a:buChar char="•"/>
            </a:pPr>
            <a:r>
              <a:rPr lang="en-US" sz="2400" dirty="0"/>
              <a:t>All MPs learn about it </a:t>
            </a:r>
            <a:r>
              <a:rPr lang="en-US" sz="2400" dirty="0" err="1"/>
              <a:t>simultaneosuly</a:t>
            </a:r>
            <a:r>
              <a:rPr lang="en-US" sz="2400" dirty="0"/>
              <a:t> (using outbound fairness mechanisms</a:t>
            </a:r>
          </a:p>
        </p:txBody>
      </p:sp>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7" name="Oval 6">
            <a:extLst>
              <a:ext uri="{FF2B5EF4-FFF2-40B4-BE49-F238E27FC236}">
                <a16:creationId xmlns:a16="http://schemas.microsoft.com/office/drawing/2014/main" id="{5A187B39-4A54-01FC-437D-8596BFA3138F}"/>
              </a:ext>
            </a:extLst>
          </p:cNvPr>
          <p:cNvSpPr/>
          <p:nvPr/>
        </p:nvSpPr>
        <p:spPr>
          <a:xfrm>
            <a:off x="4732854" y="291265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E34FE3-C61D-9E77-2C0B-E14BF17259D2}"/>
                  </a:ext>
                </a:extLst>
              </p:cNvPr>
              <p:cNvSpPr txBox="1"/>
              <p:nvPr/>
            </p:nvSpPr>
            <p:spPr>
              <a:xfrm>
                <a:off x="2532993" y="3185435"/>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532993" y="3185435"/>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FC85CA4-9A34-7B27-28F6-F8CEA820610F}"/>
              </a:ext>
            </a:extLst>
          </p:cNvPr>
          <p:cNvSpPr/>
          <p:nvPr/>
        </p:nvSpPr>
        <p:spPr>
          <a:xfrm>
            <a:off x="3181816" y="294271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3"/>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323439"/>
          </a:xfrm>
          <a:prstGeom prst="rect">
            <a:avLst/>
          </a:prstGeom>
          <a:noFill/>
        </p:spPr>
        <p:txBody>
          <a:bodyPr wrap="square">
            <a:spAutoFit/>
          </a:bodyPr>
          <a:lstStyle/>
          <a:p>
            <a:r>
              <a:rPr lang="en-US" sz="2000" dirty="0"/>
              <a:t>For a fixed mid-price, 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B8AFB7F-8E42-B4B2-450F-5B2DF8B06A46}"/>
              </a:ext>
            </a:extLst>
          </p:cNvPr>
          <p:cNvSpPr/>
          <p:nvPr/>
        </p:nvSpPr>
        <p:spPr>
          <a:xfrm>
            <a:off x="2199861" y="302758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FD8A95B2-2BB5-D260-8D7B-3A9EE5B24E1D}"/>
                  </a:ext>
                </a:extLst>
              </p:cNvPr>
              <p:cNvSpPr txBox="1"/>
              <p:nvPr/>
            </p:nvSpPr>
            <p:spPr>
              <a:xfrm>
                <a:off x="-673389" y="3357398"/>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22" name="TextBox 21">
                <a:extLst>
                  <a:ext uri="{FF2B5EF4-FFF2-40B4-BE49-F238E27FC236}">
                    <a16:creationId xmlns:a16="http://schemas.microsoft.com/office/drawing/2014/main" id="{FD8A95B2-2BB5-D260-8D7B-3A9EE5B24E1D}"/>
                  </a:ext>
                </a:extLst>
              </p:cNvPr>
              <p:cNvSpPr txBox="1">
                <a:spLocks noRot="1" noChangeAspect="1" noMove="1" noResize="1" noEditPoints="1" noAdjustHandles="1" noChangeArrowheads="1" noChangeShapeType="1" noTextEdit="1"/>
              </p:cNvSpPr>
              <p:nvPr/>
            </p:nvSpPr>
            <p:spPr>
              <a:xfrm>
                <a:off x="-673389" y="3357398"/>
                <a:ext cx="5545882" cy="615553"/>
              </a:xfrm>
              <a:prstGeom prst="rect">
                <a:avLst/>
              </a:prstGeom>
              <a:blipFill>
                <a:blip r:embed="rId7"/>
                <a:stretch>
                  <a:fillRect t="-8163"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2EFDC4C0-17ED-7932-3334-242115842E0B}"/>
              </a:ext>
            </a:extLst>
          </p:cNvPr>
          <p:cNvSpPr/>
          <p:nvPr/>
        </p:nvSpPr>
        <p:spPr>
          <a:xfrm>
            <a:off x="648823" y="3057638"/>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70EADF17-C056-61A5-0559-7525B1D98E8D}"/>
              </a:ext>
            </a:extLst>
          </p:cNvPr>
          <p:cNvSpPr txBox="1"/>
          <p:nvPr/>
        </p:nvSpPr>
        <p:spPr>
          <a:xfrm>
            <a:off x="179568" y="4974718"/>
            <a:ext cx="3938343"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D37841-57F6-D520-394A-5431A00BA85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C31050-E352-BF30-FB37-8D5E718A58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A9B4C79C-5C6C-81BD-7757-F6B76179317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CAD64933-C64C-23EF-6412-8EA84D7E5A54}"/>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0520890-FCC2-59B0-6FD7-102368D3EE64}"/>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7555419B-24DB-EEAA-D574-65A802153C50}"/>
                  </a:ext>
                </a:extLst>
              </p:cNvPr>
              <p:cNvSpPr txBox="1"/>
              <p:nvPr/>
            </p:nvSpPr>
            <p:spPr>
              <a:xfrm>
                <a:off x="1943015" y="34580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7555419B-24DB-EEAA-D574-65A802153C50}"/>
                  </a:ext>
                </a:extLst>
              </p:cNvPr>
              <p:cNvSpPr txBox="1">
                <a:spLocks noRot="1" noChangeAspect="1" noMove="1" noResize="1" noEditPoints="1" noAdjustHandles="1" noChangeArrowheads="1" noChangeShapeType="1" noTextEdit="1"/>
              </p:cNvSpPr>
              <p:nvPr/>
            </p:nvSpPr>
            <p:spPr>
              <a:xfrm>
                <a:off x="1943015" y="3458066"/>
                <a:ext cx="6135806" cy="615553"/>
              </a:xfrm>
              <a:prstGeom prst="rect">
                <a:avLst/>
              </a:prstGeom>
              <a:blipFill>
                <a:blip r:embed="rId3"/>
                <a:stretch>
                  <a:fillRect t="-10204"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3596A1-997F-FF90-8669-1349898530C8}"/>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8D187986-A904-5B11-516A-78483D1EB5EC}"/>
              </a:ext>
            </a:extLst>
          </p:cNvPr>
          <p:cNvSpPr txBox="1"/>
          <p:nvPr/>
        </p:nvSpPr>
        <p:spPr>
          <a:xfrm>
            <a:off x="1448356" y="4883630"/>
            <a:ext cx="874667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p:txBody>
      </p:sp>
    </p:spTree>
    <p:extLst>
      <p:ext uri="{BB962C8B-B14F-4D97-AF65-F5344CB8AC3E}">
        <p14:creationId xmlns:p14="http://schemas.microsoft.com/office/powerpoint/2010/main" val="29738966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810312-2209-ADA2-D945-95484F9E7AB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5D7CE4B-085D-0791-C065-8945A091724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7F4A888-523A-85BC-4CD1-2D32315868A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E85D9986-35CE-EB8C-576B-47D8D02083B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52FFFA7-660B-6035-F185-77BF48E0DEDA}"/>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811181A6-22B2-FF81-5F9D-C3E0698979C8}"/>
                  </a:ext>
                </a:extLst>
              </p:cNvPr>
              <p:cNvSpPr txBox="1"/>
              <p:nvPr/>
            </p:nvSpPr>
            <p:spPr>
              <a:xfrm>
                <a:off x="2437673" y="3429000"/>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811181A6-22B2-FF81-5F9D-C3E0698979C8}"/>
                  </a:ext>
                </a:extLst>
              </p:cNvPr>
              <p:cNvSpPr txBox="1">
                <a:spLocks noRot="1" noChangeAspect="1" noMove="1" noResize="1" noEditPoints="1" noAdjustHandles="1" noChangeArrowheads="1" noChangeShapeType="1" noTextEdit="1"/>
              </p:cNvSpPr>
              <p:nvPr/>
            </p:nvSpPr>
            <p:spPr>
              <a:xfrm>
                <a:off x="2437673" y="3429000"/>
                <a:ext cx="6135806"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2642E3-F2E6-154B-E916-A1C589D92445}"/>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61D5D305-038B-F804-DF45-99B3E2630606}"/>
              </a:ext>
            </a:extLst>
          </p:cNvPr>
          <p:cNvSpPr txBox="1"/>
          <p:nvPr/>
        </p:nvSpPr>
        <p:spPr>
          <a:xfrm>
            <a:off x="1448356" y="4883630"/>
            <a:ext cx="8746677"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 in each category, preserve timestamp based ordering</a:t>
            </a:r>
          </a:p>
          <a:p>
            <a:pPr marL="285750" indent="-285750">
              <a:buFont typeface="Arial" panose="020B0604020202020204" pitchFamily="34" charset="0"/>
              <a:buChar char="•"/>
            </a:pPr>
            <a:endParaRPr lang="en-US" sz="2400" dirty="0"/>
          </a:p>
        </p:txBody>
      </p:sp>
      <p:sp>
        <p:nvSpPr>
          <p:cNvPr id="5" name="Oval 4">
            <a:extLst>
              <a:ext uri="{FF2B5EF4-FFF2-40B4-BE49-F238E27FC236}">
                <a16:creationId xmlns:a16="http://schemas.microsoft.com/office/drawing/2014/main" id="{BB861A7A-699A-106D-7BEE-DEA96CC60ED0}"/>
              </a:ext>
            </a:extLst>
          </p:cNvPr>
          <p:cNvSpPr/>
          <p:nvPr/>
        </p:nvSpPr>
        <p:spPr>
          <a:xfrm>
            <a:off x="6425484" y="3098705"/>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2041933133"/>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4F3F7AE8-4391-1C78-9BB0-B1379CE149A4}"/>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3D6925F3-7CB8-5C77-61F4-719BEF0AA40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9EF95C84-A000-0801-8538-21C59B96070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99D386DF-F5F9-015F-641C-9955BCE2C9B3}"/>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846B54D-B92A-88FA-667C-850EB6E809AC}"/>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A5463A52-E3DD-03FA-C110-ADC5E2253FE0}"/>
                  </a:ext>
                </a:extLst>
              </p:cNvPr>
              <p:cNvSpPr txBox="1"/>
              <p:nvPr/>
            </p:nvSpPr>
            <p:spPr>
              <a:xfrm>
                <a:off x="2437673" y="3429000"/>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A5463A52-E3DD-03FA-C110-ADC5E2253FE0}"/>
                  </a:ext>
                </a:extLst>
              </p:cNvPr>
              <p:cNvSpPr txBox="1">
                <a:spLocks noRot="1" noChangeAspect="1" noMove="1" noResize="1" noEditPoints="1" noAdjustHandles="1" noChangeArrowheads="1" noChangeShapeType="1" noTextEdit="1"/>
              </p:cNvSpPr>
              <p:nvPr/>
            </p:nvSpPr>
            <p:spPr>
              <a:xfrm>
                <a:off x="2437673" y="3429000"/>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86480FFD-4C78-4AB8-FB7C-C51E4F86DF04}"/>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1FDF9C3F-6C5F-7DC8-1386-D23EEC8A76C7}"/>
              </a:ext>
            </a:extLst>
          </p:cNvPr>
          <p:cNvSpPr txBox="1"/>
          <p:nvPr/>
        </p:nvSpPr>
        <p:spPr>
          <a:xfrm>
            <a:off x="1448357" y="4883630"/>
            <a:ext cx="7125122"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endParaRPr lang="en-US" sz="2400" dirty="0"/>
          </a:p>
        </p:txBody>
      </p:sp>
    </p:spTree>
    <p:extLst>
      <p:ext uri="{BB962C8B-B14F-4D97-AF65-F5344CB8AC3E}">
        <p14:creationId xmlns:p14="http://schemas.microsoft.com/office/powerpoint/2010/main" val="524449433"/>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build="p"/>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
        <p:nvSpPr>
          <p:cNvPr id="3" name="Rounded Rectangle 2">
            <a:extLst>
              <a:ext uri="{FF2B5EF4-FFF2-40B4-BE49-F238E27FC236}">
                <a16:creationId xmlns:a16="http://schemas.microsoft.com/office/drawing/2014/main" id="{EE3F07AC-482D-112C-095A-23942DF1379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
        <p:nvSpPr>
          <p:cNvPr id="3" name="Rounded Rectangle 2">
            <a:extLst>
              <a:ext uri="{FF2B5EF4-FFF2-40B4-BE49-F238E27FC236}">
                <a16:creationId xmlns:a16="http://schemas.microsoft.com/office/drawing/2014/main" id="{2CE0093C-5B25-8C18-A7D6-70F465D7B4A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
        <p:nvSpPr>
          <p:cNvPr id="9" name="Rounded Rectangle 8">
            <a:extLst>
              <a:ext uri="{FF2B5EF4-FFF2-40B4-BE49-F238E27FC236}">
                <a16:creationId xmlns:a16="http://schemas.microsoft.com/office/drawing/2014/main" id="{F474F005-ED43-8D21-26E0-415DDAD694C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Rounded Rectangle 7">
            <a:extLst>
              <a:ext uri="{FF2B5EF4-FFF2-40B4-BE49-F238E27FC236}">
                <a16:creationId xmlns:a16="http://schemas.microsoft.com/office/drawing/2014/main" id="{47245149-74B2-DDF4-1906-C03A47EA76B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lowering the latency for matched orders, preserving fairness in each round.</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6190827" y="334438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topology </a:t>
            </a:r>
            <a:br>
              <a:rPr lang="en-US" sz="2400" dirty="0"/>
            </a:br>
            <a:r>
              <a:rPr lang="en-US" sz="2400" dirty="0"/>
              <a:t>+</a:t>
            </a:r>
            <a:br>
              <a:rPr lang="en-US" sz="2400" dirty="0"/>
            </a:br>
            <a:r>
              <a:rPr lang="en-US" sz="2400" dirty="0"/>
              <a:t>data center wide workload</a:t>
            </a:r>
          </a:p>
        </p:txBody>
      </p:sp>
      <p:sp>
        <p:nvSpPr>
          <p:cNvPr id="24" name="TextBox 23">
            <a:extLst>
              <a:ext uri="{FF2B5EF4-FFF2-40B4-BE49-F238E27FC236}">
                <a16:creationId xmlns:a16="http://schemas.microsoft.com/office/drawing/2014/main" id="{51889CE2-34E8-A4A2-379B-790FD82F42C8}"/>
              </a:ext>
            </a:extLst>
          </p:cNvPr>
          <p:cNvSpPr txBox="1"/>
          <p:nvPr/>
        </p:nvSpPr>
        <p:spPr>
          <a:xfrm>
            <a:off x="6179377" y="3352902"/>
            <a:ext cx="2094997" cy="369332"/>
          </a:xfrm>
          <a:prstGeom prst="rect">
            <a:avLst/>
          </a:prstGeom>
          <a:noFill/>
        </p:spPr>
        <p:txBody>
          <a:bodyPr wrap="none" rtlCol="0">
            <a:spAutoFit/>
          </a:bodyPr>
          <a:lstStyle/>
          <a:p>
            <a:r>
              <a:rPr lang="en-US" dirty="0"/>
              <a:t>Another Simulation</a:t>
            </a:r>
          </a:p>
        </p:txBody>
      </p: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24" grpId="0"/>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6067</TotalTime>
  <Words>6762</Words>
  <Application>Microsoft Macintosh PowerPoint</Application>
  <PresentationFormat>Widescreen</PresentationFormat>
  <Paragraphs>1729</Paragraphs>
  <Slides>176</Slides>
  <Notes>138</Notes>
  <HiddenSlides>8</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176</vt:i4>
      </vt:variant>
    </vt:vector>
  </HeadingPairs>
  <TitlesOfParts>
    <vt:vector size="185"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546</cp:revision>
  <dcterms:created xsi:type="dcterms:W3CDTF">2026-04-04T21:04:51Z</dcterms:created>
  <dcterms:modified xsi:type="dcterms:W3CDTF">2026-04-09T19:33:11Z</dcterms:modified>
</cp:coreProperties>
</file>