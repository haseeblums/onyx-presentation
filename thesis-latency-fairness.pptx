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59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60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61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62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63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02"/>
  </p:notesMasterIdLst>
  <p:sldIdLst>
    <p:sldId id="256" r:id="rId3"/>
    <p:sldId id="257" r:id="rId4"/>
    <p:sldId id="258" r:id="rId5"/>
    <p:sldId id="260" r:id="rId6"/>
    <p:sldId id="262" r:id="rId7"/>
    <p:sldId id="263" r:id="rId8"/>
    <p:sldId id="264" r:id="rId9"/>
    <p:sldId id="265" r:id="rId10"/>
    <p:sldId id="266" r:id="rId11"/>
    <p:sldId id="277" r:id="rId12"/>
    <p:sldId id="267" r:id="rId13"/>
    <p:sldId id="268" r:id="rId14"/>
    <p:sldId id="278" r:id="rId15"/>
    <p:sldId id="279" r:id="rId16"/>
    <p:sldId id="280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81" r:id="rId25"/>
    <p:sldId id="282" r:id="rId26"/>
    <p:sldId id="294" r:id="rId27"/>
    <p:sldId id="376" r:id="rId28"/>
    <p:sldId id="377" r:id="rId29"/>
    <p:sldId id="378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  <p:sldId id="411" r:id="rId39"/>
    <p:sldId id="390" r:id="rId40"/>
    <p:sldId id="424" r:id="rId41"/>
    <p:sldId id="420" r:id="rId42"/>
    <p:sldId id="409" r:id="rId43"/>
    <p:sldId id="423" r:id="rId44"/>
    <p:sldId id="425" r:id="rId45"/>
    <p:sldId id="414" r:id="rId46"/>
    <p:sldId id="416" r:id="rId47"/>
    <p:sldId id="391" r:id="rId48"/>
    <p:sldId id="408" r:id="rId49"/>
    <p:sldId id="394" r:id="rId50"/>
    <p:sldId id="395" r:id="rId51"/>
    <p:sldId id="396" r:id="rId52"/>
    <p:sldId id="397" r:id="rId53"/>
    <p:sldId id="398" r:id="rId54"/>
    <p:sldId id="399" r:id="rId55"/>
    <p:sldId id="400" r:id="rId56"/>
    <p:sldId id="401" r:id="rId57"/>
    <p:sldId id="403" r:id="rId58"/>
    <p:sldId id="404" r:id="rId59"/>
    <p:sldId id="405" r:id="rId60"/>
    <p:sldId id="410" r:id="rId61"/>
    <p:sldId id="407" r:id="rId62"/>
    <p:sldId id="312" r:id="rId63"/>
    <p:sldId id="1852" r:id="rId64"/>
    <p:sldId id="1853" r:id="rId65"/>
    <p:sldId id="314" r:id="rId66"/>
    <p:sldId id="417" r:id="rId67"/>
    <p:sldId id="418" r:id="rId68"/>
    <p:sldId id="318" r:id="rId69"/>
    <p:sldId id="320" r:id="rId70"/>
    <p:sldId id="321" r:id="rId71"/>
    <p:sldId id="322" r:id="rId72"/>
    <p:sldId id="324" r:id="rId73"/>
    <p:sldId id="325" r:id="rId74"/>
    <p:sldId id="326" r:id="rId75"/>
    <p:sldId id="328" r:id="rId76"/>
    <p:sldId id="329" r:id="rId77"/>
    <p:sldId id="1854" r:id="rId78"/>
    <p:sldId id="429" r:id="rId79"/>
    <p:sldId id="363" r:id="rId80"/>
    <p:sldId id="364" r:id="rId81"/>
    <p:sldId id="365" r:id="rId82"/>
    <p:sldId id="366" r:id="rId83"/>
    <p:sldId id="367" r:id="rId84"/>
    <p:sldId id="368" r:id="rId85"/>
    <p:sldId id="369" r:id="rId86"/>
    <p:sldId id="370" r:id="rId87"/>
    <p:sldId id="371" r:id="rId88"/>
    <p:sldId id="373" r:id="rId89"/>
    <p:sldId id="372" r:id="rId90"/>
    <p:sldId id="374" r:id="rId91"/>
    <p:sldId id="375" r:id="rId92"/>
    <p:sldId id="350" r:id="rId93"/>
    <p:sldId id="359" r:id="rId94"/>
    <p:sldId id="427" r:id="rId95"/>
    <p:sldId id="360" r:id="rId96"/>
    <p:sldId id="428" r:id="rId97"/>
    <p:sldId id="431" r:id="rId98"/>
    <p:sldId id="353" r:id="rId99"/>
    <p:sldId id="361" r:id="rId100"/>
    <p:sldId id="432" r:id="rId10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63"/>
    <p:restoredTop sz="91073"/>
  </p:normalViewPr>
  <p:slideViewPr>
    <p:cSldViewPr snapToGrid="0">
      <p:cViewPr varScale="1">
        <p:scale>
          <a:sx n="135" d="100"/>
          <a:sy n="135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C193F0-260F-4751-A737-E1FF503D57AB}" type="doc">
      <dgm:prSet loTypeId="urn:microsoft.com/office/officeart/2005/8/layout/list1" loCatId="icon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E56D008-5F82-4D13-AD48-BDFC48C7BBA4}">
      <dgm:prSet custT="1"/>
      <dgm:spPr/>
      <dgm:t>
        <a:bodyPr/>
        <a:lstStyle/>
        <a:p>
          <a:r>
            <a:rPr lang="en-US" sz="2400" dirty="0"/>
            <a:t>An order submission service which effectively handles bursty traffic while maintaining fairness of competition among the participants</a:t>
          </a:r>
        </a:p>
      </dgm:t>
    </dgm:pt>
    <dgm:pt modelId="{BF393C9E-8F0D-4752-BE3F-88032991DDA5}" type="parTrans" cxnId="{775D4170-49DB-4CF3-AEE9-D6E69D62B6FB}">
      <dgm:prSet/>
      <dgm:spPr/>
      <dgm:t>
        <a:bodyPr/>
        <a:lstStyle/>
        <a:p>
          <a:endParaRPr lang="en-US"/>
        </a:p>
      </dgm:t>
    </dgm:pt>
    <dgm:pt modelId="{45BA05AD-D4F1-45E3-A9BC-199371EC6E7D}" type="sibTrans" cxnId="{775D4170-49DB-4CF3-AEE9-D6E69D62B6FB}">
      <dgm:prSet/>
      <dgm:spPr/>
      <dgm:t>
        <a:bodyPr/>
        <a:lstStyle/>
        <a:p>
          <a:endParaRPr lang="en-US"/>
        </a:p>
      </dgm:t>
    </dgm:pt>
    <dgm:pt modelId="{C8510ED0-B9A9-4CAF-BE13-85B66A901392}">
      <dgm:prSet/>
      <dgm:spPr/>
      <dgm:t>
        <a:bodyPr/>
        <a:lstStyle/>
        <a:p>
          <a:r>
            <a:rPr lang="en-US" dirty="0"/>
            <a:t>Prototyped on AWS and GCP</a:t>
          </a:r>
        </a:p>
      </dgm:t>
    </dgm:pt>
    <dgm:pt modelId="{3029BDC9-A449-42F0-9B60-71F962DFCC7E}" type="parTrans" cxnId="{A85AFC6B-F495-4B14-B140-758F7D2F2CFC}">
      <dgm:prSet/>
      <dgm:spPr/>
      <dgm:t>
        <a:bodyPr/>
        <a:lstStyle/>
        <a:p>
          <a:endParaRPr lang="en-US"/>
        </a:p>
      </dgm:t>
    </dgm:pt>
    <dgm:pt modelId="{72DB009F-C5F0-4D9C-AAE0-EEC4822A3623}" type="sibTrans" cxnId="{A85AFC6B-F495-4B14-B140-758F7D2F2CFC}">
      <dgm:prSet/>
      <dgm:spPr/>
      <dgm:t>
        <a:bodyPr/>
        <a:lstStyle/>
        <a:p>
          <a:endParaRPr lang="en-US"/>
        </a:p>
      </dgm:t>
    </dgm:pt>
    <dgm:pt modelId="{2D353E8A-2426-4D87-A117-A232975F7A4F}">
      <dgm:prSet custT="1"/>
      <dgm:spPr/>
      <dgm:t>
        <a:bodyPr/>
        <a:lstStyle/>
        <a:p>
          <a:r>
            <a:rPr lang="en-US" sz="2400" dirty="0"/>
            <a:t>Multicast service that disseminates market data to 1000 participants, each receiving a message within 1-microsecond of each other</a:t>
          </a:r>
        </a:p>
      </dgm:t>
    </dgm:pt>
    <dgm:pt modelId="{6E72DBE8-C572-4A0A-AFF6-99D979B7C60A}" type="sibTrans" cxnId="{9D7275ED-CFC4-4A11-9CE2-F4192110F3B4}">
      <dgm:prSet/>
      <dgm:spPr/>
      <dgm:t>
        <a:bodyPr/>
        <a:lstStyle/>
        <a:p>
          <a:endParaRPr lang="en-US"/>
        </a:p>
      </dgm:t>
    </dgm:pt>
    <dgm:pt modelId="{64107B4A-258F-4DC2-8A81-2F08E2BA5E35}" type="parTrans" cxnId="{9D7275ED-CFC4-4A11-9CE2-F4192110F3B4}">
      <dgm:prSet/>
      <dgm:spPr/>
      <dgm:t>
        <a:bodyPr/>
        <a:lstStyle/>
        <a:p>
          <a:endParaRPr lang="en-US"/>
        </a:p>
      </dgm:t>
    </dgm:pt>
    <dgm:pt modelId="{6A0511E4-EF99-E14F-AE2C-A81BD688921C}" type="pres">
      <dgm:prSet presAssocID="{85C193F0-260F-4751-A737-E1FF503D57AB}" presName="linear" presStyleCnt="0">
        <dgm:presLayoutVars>
          <dgm:dir/>
          <dgm:animLvl val="lvl"/>
          <dgm:resizeHandles val="exact"/>
        </dgm:presLayoutVars>
      </dgm:prSet>
      <dgm:spPr/>
    </dgm:pt>
    <dgm:pt modelId="{B9885A88-7130-124C-838F-BC2B6343F506}" type="pres">
      <dgm:prSet presAssocID="{2D353E8A-2426-4D87-A117-A232975F7A4F}" presName="parentLin" presStyleCnt="0"/>
      <dgm:spPr/>
    </dgm:pt>
    <dgm:pt modelId="{45E4A3AF-0F8D-494A-A0E6-D9C938EF77AE}" type="pres">
      <dgm:prSet presAssocID="{2D353E8A-2426-4D87-A117-A232975F7A4F}" presName="parentLeftMargin" presStyleLbl="node1" presStyleIdx="0" presStyleCnt="3"/>
      <dgm:spPr/>
    </dgm:pt>
    <dgm:pt modelId="{382E76DE-0916-BF4F-940E-5CCE6068F0CC}" type="pres">
      <dgm:prSet presAssocID="{2D353E8A-2426-4D87-A117-A232975F7A4F}" presName="parentText" presStyleLbl="node1" presStyleIdx="0" presStyleCnt="3" custScaleX="101512" custScaleY="215690" custLinFactNeighborX="-12431" custLinFactNeighborY="-60902">
        <dgm:presLayoutVars>
          <dgm:chMax val="0"/>
          <dgm:bulletEnabled val="1"/>
        </dgm:presLayoutVars>
      </dgm:prSet>
      <dgm:spPr/>
    </dgm:pt>
    <dgm:pt modelId="{E540DFA1-6CD7-8F44-B52B-3BA262999A8F}" type="pres">
      <dgm:prSet presAssocID="{2D353E8A-2426-4D87-A117-A232975F7A4F}" presName="negativeSpace" presStyleCnt="0"/>
      <dgm:spPr/>
    </dgm:pt>
    <dgm:pt modelId="{1B8A2073-DDFC-A945-965F-34F057A13413}" type="pres">
      <dgm:prSet presAssocID="{2D353E8A-2426-4D87-A117-A232975F7A4F}" presName="childText" presStyleLbl="conFgAcc1" presStyleIdx="0" presStyleCnt="3" custLinFactY="-57067" custLinFactNeighborY="-100000">
        <dgm:presLayoutVars>
          <dgm:bulletEnabled val="1"/>
        </dgm:presLayoutVars>
      </dgm:prSet>
      <dgm:spPr/>
    </dgm:pt>
    <dgm:pt modelId="{65711CED-26E8-7B4E-9B17-1C90497EBA03}" type="pres">
      <dgm:prSet presAssocID="{6E72DBE8-C572-4A0A-AFF6-99D979B7C60A}" presName="spaceBetweenRectangles" presStyleCnt="0"/>
      <dgm:spPr/>
    </dgm:pt>
    <dgm:pt modelId="{8569FE4D-76C4-8144-8A7B-A1F6FDC9EAC9}" type="pres">
      <dgm:prSet presAssocID="{BE56D008-5F82-4D13-AD48-BDFC48C7BBA4}" presName="parentLin" presStyleCnt="0"/>
      <dgm:spPr/>
    </dgm:pt>
    <dgm:pt modelId="{3F4AC45D-EB8C-724C-A2FC-07E66F5EB5B4}" type="pres">
      <dgm:prSet presAssocID="{BE56D008-5F82-4D13-AD48-BDFC48C7BBA4}" presName="parentLeftMargin" presStyleLbl="node1" presStyleIdx="0" presStyleCnt="3"/>
      <dgm:spPr/>
    </dgm:pt>
    <dgm:pt modelId="{EC6F2A64-226F-F043-A736-0E712AA93A63}" type="pres">
      <dgm:prSet presAssocID="{BE56D008-5F82-4D13-AD48-BDFC48C7BBA4}" presName="parentText" presStyleLbl="node1" presStyleIdx="1" presStyleCnt="3" custScaleX="105401" custScaleY="242224" custLinFactX="19556" custLinFactNeighborX="100000" custLinFactNeighborY="-53440">
        <dgm:presLayoutVars>
          <dgm:chMax val="0"/>
          <dgm:bulletEnabled val="1"/>
        </dgm:presLayoutVars>
      </dgm:prSet>
      <dgm:spPr/>
    </dgm:pt>
    <dgm:pt modelId="{88F01646-B055-7649-B360-0B87ED227990}" type="pres">
      <dgm:prSet presAssocID="{BE56D008-5F82-4D13-AD48-BDFC48C7BBA4}" presName="negativeSpace" presStyleCnt="0"/>
      <dgm:spPr/>
    </dgm:pt>
    <dgm:pt modelId="{E1F2A502-4B18-4E44-9443-18DEF06AC982}" type="pres">
      <dgm:prSet presAssocID="{BE56D008-5F82-4D13-AD48-BDFC48C7BBA4}" presName="childText" presStyleLbl="conFgAcc1" presStyleIdx="1" presStyleCnt="3" custLinFactY="-40598" custLinFactNeighborY="-100000">
        <dgm:presLayoutVars>
          <dgm:bulletEnabled val="1"/>
        </dgm:presLayoutVars>
      </dgm:prSet>
      <dgm:spPr/>
    </dgm:pt>
    <dgm:pt modelId="{FE75E647-941B-4E4E-BDE4-62DAFC55B8DB}" type="pres">
      <dgm:prSet presAssocID="{45BA05AD-D4F1-45E3-A9BC-199371EC6E7D}" presName="spaceBetweenRectangles" presStyleCnt="0"/>
      <dgm:spPr/>
    </dgm:pt>
    <dgm:pt modelId="{1F40D43A-044E-9548-B5DB-A01EECCFC114}" type="pres">
      <dgm:prSet presAssocID="{C8510ED0-B9A9-4CAF-BE13-85B66A901392}" presName="parentLin" presStyleCnt="0"/>
      <dgm:spPr/>
    </dgm:pt>
    <dgm:pt modelId="{B94783D4-254C-024E-9562-481FE0200C40}" type="pres">
      <dgm:prSet presAssocID="{C8510ED0-B9A9-4CAF-BE13-85B66A901392}" presName="parentLeftMargin" presStyleLbl="node1" presStyleIdx="1" presStyleCnt="3"/>
      <dgm:spPr/>
    </dgm:pt>
    <dgm:pt modelId="{F71D5DF7-3038-2041-8621-DF8C046A658D}" type="pres">
      <dgm:prSet presAssocID="{C8510ED0-B9A9-4CAF-BE13-85B66A901392}" presName="parentText" presStyleLbl="node1" presStyleIdx="2" presStyleCnt="3" custLinFactNeighborX="-49723" custLinFactNeighborY="-31770">
        <dgm:presLayoutVars>
          <dgm:chMax val="0"/>
          <dgm:bulletEnabled val="1"/>
        </dgm:presLayoutVars>
      </dgm:prSet>
      <dgm:spPr/>
    </dgm:pt>
    <dgm:pt modelId="{BA184240-21C1-6048-AC76-A6622EE238EA}" type="pres">
      <dgm:prSet presAssocID="{C8510ED0-B9A9-4CAF-BE13-85B66A901392}" presName="negativeSpace" presStyleCnt="0"/>
      <dgm:spPr/>
    </dgm:pt>
    <dgm:pt modelId="{6853193F-8754-5547-B915-A85C1FD214C5}" type="pres">
      <dgm:prSet presAssocID="{C8510ED0-B9A9-4CAF-BE13-85B66A901392}" presName="childText" presStyleLbl="conFgAcc1" presStyleIdx="2" presStyleCnt="3" custLinFactNeighborX="-414" custLinFactNeighborY="-28240">
        <dgm:presLayoutVars>
          <dgm:bulletEnabled val="1"/>
        </dgm:presLayoutVars>
      </dgm:prSet>
      <dgm:spPr/>
    </dgm:pt>
  </dgm:ptLst>
  <dgm:cxnLst>
    <dgm:cxn modelId="{4A7AE70A-D133-F844-A8EF-B84A3EA07776}" type="presOf" srcId="{C8510ED0-B9A9-4CAF-BE13-85B66A901392}" destId="{B94783D4-254C-024E-9562-481FE0200C40}" srcOrd="0" destOrd="0" presId="urn:microsoft.com/office/officeart/2005/8/layout/list1"/>
    <dgm:cxn modelId="{CB4F2A1D-F965-B24B-8FD9-C54B87309FB8}" type="presOf" srcId="{BE56D008-5F82-4D13-AD48-BDFC48C7BBA4}" destId="{EC6F2A64-226F-F043-A736-0E712AA93A63}" srcOrd="1" destOrd="0" presId="urn:microsoft.com/office/officeart/2005/8/layout/list1"/>
    <dgm:cxn modelId="{C4125A25-191C-5D43-9B30-6D7D1DC6593C}" type="presOf" srcId="{2D353E8A-2426-4D87-A117-A232975F7A4F}" destId="{45E4A3AF-0F8D-494A-A0E6-D9C938EF77AE}" srcOrd="0" destOrd="0" presId="urn:microsoft.com/office/officeart/2005/8/layout/list1"/>
    <dgm:cxn modelId="{3294CD6A-3844-DE4D-A030-FCDDE70CE8CC}" type="presOf" srcId="{2D353E8A-2426-4D87-A117-A232975F7A4F}" destId="{382E76DE-0916-BF4F-940E-5CCE6068F0CC}" srcOrd="1" destOrd="0" presId="urn:microsoft.com/office/officeart/2005/8/layout/list1"/>
    <dgm:cxn modelId="{A85AFC6B-F495-4B14-B140-758F7D2F2CFC}" srcId="{85C193F0-260F-4751-A737-E1FF503D57AB}" destId="{C8510ED0-B9A9-4CAF-BE13-85B66A901392}" srcOrd="2" destOrd="0" parTransId="{3029BDC9-A449-42F0-9B60-71F962DFCC7E}" sibTransId="{72DB009F-C5F0-4D9C-AAE0-EEC4822A3623}"/>
    <dgm:cxn modelId="{775D4170-49DB-4CF3-AEE9-D6E69D62B6FB}" srcId="{85C193F0-260F-4751-A737-E1FF503D57AB}" destId="{BE56D008-5F82-4D13-AD48-BDFC48C7BBA4}" srcOrd="1" destOrd="0" parTransId="{BF393C9E-8F0D-4752-BE3F-88032991DDA5}" sibTransId="{45BA05AD-D4F1-45E3-A9BC-199371EC6E7D}"/>
    <dgm:cxn modelId="{2A661A89-6EE3-AE49-83E8-CF2FBEF37ECE}" type="presOf" srcId="{85C193F0-260F-4751-A737-E1FF503D57AB}" destId="{6A0511E4-EF99-E14F-AE2C-A81BD688921C}" srcOrd="0" destOrd="0" presId="urn:microsoft.com/office/officeart/2005/8/layout/list1"/>
    <dgm:cxn modelId="{33FC08A3-A38A-0F43-BFC6-4B58272013C3}" type="presOf" srcId="{BE56D008-5F82-4D13-AD48-BDFC48C7BBA4}" destId="{3F4AC45D-EB8C-724C-A2FC-07E66F5EB5B4}" srcOrd="0" destOrd="0" presId="urn:microsoft.com/office/officeart/2005/8/layout/list1"/>
    <dgm:cxn modelId="{E64A4FB5-99A4-634F-902D-7C5825D37174}" type="presOf" srcId="{C8510ED0-B9A9-4CAF-BE13-85B66A901392}" destId="{F71D5DF7-3038-2041-8621-DF8C046A658D}" srcOrd="1" destOrd="0" presId="urn:microsoft.com/office/officeart/2005/8/layout/list1"/>
    <dgm:cxn modelId="{9D7275ED-CFC4-4A11-9CE2-F4192110F3B4}" srcId="{85C193F0-260F-4751-A737-E1FF503D57AB}" destId="{2D353E8A-2426-4D87-A117-A232975F7A4F}" srcOrd="0" destOrd="0" parTransId="{64107B4A-258F-4DC2-8A81-2F08E2BA5E35}" sibTransId="{6E72DBE8-C572-4A0A-AFF6-99D979B7C60A}"/>
    <dgm:cxn modelId="{8C376CF9-ED40-4047-9D2C-287D0FF580F7}" type="presParOf" srcId="{6A0511E4-EF99-E14F-AE2C-A81BD688921C}" destId="{B9885A88-7130-124C-838F-BC2B6343F506}" srcOrd="0" destOrd="0" presId="urn:microsoft.com/office/officeart/2005/8/layout/list1"/>
    <dgm:cxn modelId="{B6552006-28DC-BF41-BE70-2ABA9F596B6E}" type="presParOf" srcId="{B9885A88-7130-124C-838F-BC2B6343F506}" destId="{45E4A3AF-0F8D-494A-A0E6-D9C938EF77AE}" srcOrd="0" destOrd="0" presId="urn:microsoft.com/office/officeart/2005/8/layout/list1"/>
    <dgm:cxn modelId="{17AE23AC-2C3E-B24A-847C-E9CDEFC1D50B}" type="presParOf" srcId="{B9885A88-7130-124C-838F-BC2B6343F506}" destId="{382E76DE-0916-BF4F-940E-5CCE6068F0CC}" srcOrd="1" destOrd="0" presId="urn:microsoft.com/office/officeart/2005/8/layout/list1"/>
    <dgm:cxn modelId="{0D9683BB-7F3A-F848-9CCA-8517D525B085}" type="presParOf" srcId="{6A0511E4-EF99-E14F-AE2C-A81BD688921C}" destId="{E540DFA1-6CD7-8F44-B52B-3BA262999A8F}" srcOrd="1" destOrd="0" presId="urn:microsoft.com/office/officeart/2005/8/layout/list1"/>
    <dgm:cxn modelId="{86CD785A-C3A3-574B-858D-0945FF19C83E}" type="presParOf" srcId="{6A0511E4-EF99-E14F-AE2C-A81BD688921C}" destId="{1B8A2073-DDFC-A945-965F-34F057A13413}" srcOrd="2" destOrd="0" presId="urn:microsoft.com/office/officeart/2005/8/layout/list1"/>
    <dgm:cxn modelId="{7573C76F-7CBB-CE45-B564-5767A160EEB9}" type="presParOf" srcId="{6A0511E4-EF99-E14F-AE2C-A81BD688921C}" destId="{65711CED-26E8-7B4E-9B17-1C90497EBA03}" srcOrd="3" destOrd="0" presId="urn:microsoft.com/office/officeart/2005/8/layout/list1"/>
    <dgm:cxn modelId="{4E38AB4A-1FA4-0749-A072-78097136997D}" type="presParOf" srcId="{6A0511E4-EF99-E14F-AE2C-A81BD688921C}" destId="{8569FE4D-76C4-8144-8A7B-A1F6FDC9EAC9}" srcOrd="4" destOrd="0" presId="urn:microsoft.com/office/officeart/2005/8/layout/list1"/>
    <dgm:cxn modelId="{A6935315-B74B-FB45-B68D-35C50A8FD087}" type="presParOf" srcId="{8569FE4D-76C4-8144-8A7B-A1F6FDC9EAC9}" destId="{3F4AC45D-EB8C-724C-A2FC-07E66F5EB5B4}" srcOrd="0" destOrd="0" presId="urn:microsoft.com/office/officeart/2005/8/layout/list1"/>
    <dgm:cxn modelId="{460BDF6F-E8C3-4842-812E-A04B6D658787}" type="presParOf" srcId="{8569FE4D-76C4-8144-8A7B-A1F6FDC9EAC9}" destId="{EC6F2A64-226F-F043-A736-0E712AA93A63}" srcOrd="1" destOrd="0" presId="urn:microsoft.com/office/officeart/2005/8/layout/list1"/>
    <dgm:cxn modelId="{97A93D8D-EB6D-C94D-BB94-09035ACE096C}" type="presParOf" srcId="{6A0511E4-EF99-E14F-AE2C-A81BD688921C}" destId="{88F01646-B055-7649-B360-0B87ED227990}" srcOrd="5" destOrd="0" presId="urn:microsoft.com/office/officeart/2005/8/layout/list1"/>
    <dgm:cxn modelId="{5F186514-4B03-8B4B-AC04-AD1E556B25FB}" type="presParOf" srcId="{6A0511E4-EF99-E14F-AE2C-A81BD688921C}" destId="{E1F2A502-4B18-4E44-9443-18DEF06AC982}" srcOrd="6" destOrd="0" presId="urn:microsoft.com/office/officeart/2005/8/layout/list1"/>
    <dgm:cxn modelId="{2846FD41-885C-4B42-8F42-B8279C167E33}" type="presParOf" srcId="{6A0511E4-EF99-E14F-AE2C-A81BD688921C}" destId="{FE75E647-941B-4E4E-BDE4-62DAFC55B8DB}" srcOrd="7" destOrd="0" presId="urn:microsoft.com/office/officeart/2005/8/layout/list1"/>
    <dgm:cxn modelId="{E9790DB0-7CB0-9647-BBBF-1863BBB682C4}" type="presParOf" srcId="{6A0511E4-EF99-E14F-AE2C-A81BD688921C}" destId="{1F40D43A-044E-9548-B5DB-A01EECCFC114}" srcOrd="8" destOrd="0" presId="urn:microsoft.com/office/officeart/2005/8/layout/list1"/>
    <dgm:cxn modelId="{A98A54F4-4673-E542-B5FF-977905020AEA}" type="presParOf" srcId="{1F40D43A-044E-9548-B5DB-A01EECCFC114}" destId="{B94783D4-254C-024E-9562-481FE0200C40}" srcOrd="0" destOrd="0" presId="urn:microsoft.com/office/officeart/2005/8/layout/list1"/>
    <dgm:cxn modelId="{3AF91C03-DDC8-D641-A4AD-F4AE723314C9}" type="presParOf" srcId="{1F40D43A-044E-9548-B5DB-A01EECCFC114}" destId="{F71D5DF7-3038-2041-8621-DF8C046A658D}" srcOrd="1" destOrd="0" presId="urn:microsoft.com/office/officeart/2005/8/layout/list1"/>
    <dgm:cxn modelId="{32FFCB4D-E358-4D46-AAAE-7784082C1C56}" type="presParOf" srcId="{6A0511E4-EF99-E14F-AE2C-A81BD688921C}" destId="{BA184240-21C1-6048-AC76-A6622EE238EA}" srcOrd="9" destOrd="0" presId="urn:microsoft.com/office/officeart/2005/8/layout/list1"/>
    <dgm:cxn modelId="{E974F214-E6BF-2F42-B6E0-EC1EE3BE0A65}" type="presParOf" srcId="{6A0511E4-EF99-E14F-AE2C-A81BD688921C}" destId="{6853193F-8754-5547-B915-A85C1FD214C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591EB5DA-D456-4719-81F1-C9231B02DA00}">
      <dgm:prSet/>
      <dgm:spPr/>
      <dgm:t>
        <a:bodyPr/>
        <a:lstStyle/>
        <a:p>
          <a:r>
            <a:rPr lang="en-US" dirty="0"/>
            <a:t>Scheduling Policy</a:t>
          </a:r>
        </a:p>
      </dgm:t>
    </dgm:pt>
    <dgm:pt modelId="{14B7D9CF-7179-4D94-8FB1-1DB0C5FB1C1C}" type="parTrans" cxnId="{CADF82A8-156F-47FA-985E-F78E405FCE4E}">
      <dgm:prSet/>
      <dgm:spPr/>
      <dgm:t>
        <a:bodyPr/>
        <a:lstStyle/>
        <a:p>
          <a:endParaRPr lang="en-US"/>
        </a:p>
      </dgm:t>
    </dgm:pt>
    <dgm:pt modelId="{8625C99A-FC32-46B2-B1C6-A58489CFDD88}" type="sibTrans" cxnId="{CADF82A8-156F-47FA-985E-F78E405FCE4E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2"/>
      <dgm:spPr/>
    </dgm:pt>
    <dgm:pt modelId="{0F137DB1-E140-1244-B54D-691FDAD50DEA}" type="pres">
      <dgm:prSet presAssocID="{620C197B-8959-4715-B44A-475E0E427332}" presName="text" presStyleLbl="fgAcc0" presStyleIdx="0" presStyleCnt="2" custScaleX="65157" custScaleY="47747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  <dgm:pt modelId="{261EBC69-D250-184B-B07F-4A04A924D2FD}" type="pres">
      <dgm:prSet presAssocID="{591EB5DA-D456-4719-81F1-C9231B02DA00}" presName="hierRoot1" presStyleCnt="0"/>
      <dgm:spPr/>
    </dgm:pt>
    <dgm:pt modelId="{5BE3205E-7013-7541-B0F7-3934FBC36E68}" type="pres">
      <dgm:prSet presAssocID="{591EB5DA-D456-4719-81F1-C9231B02DA00}" presName="composite" presStyleCnt="0"/>
      <dgm:spPr/>
    </dgm:pt>
    <dgm:pt modelId="{5787790F-D557-A44E-8EB2-AB272599E82D}" type="pres">
      <dgm:prSet presAssocID="{591EB5DA-D456-4719-81F1-C9231B02DA00}" presName="background" presStyleLbl="node0" presStyleIdx="1" presStyleCnt="2"/>
      <dgm:spPr/>
    </dgm:pt>
    <dgm:pt modelId="{C384D89C-DE2A-D74A-B4F0-9B134018EC1D}" type="pres">
      <dgm:prSet presAssocID="{591EB5DA-D456-4719-81F1-C9231B02DA00}" presName="text" presStyleLbl="fgAcc0" presStyleIdx="1" presStyleCnt="2" custScaleX="63261" custScaleY="47565">
        <dgm:presLayoutVars>
          <dgm:chPref val="3"/>
        </dgm:presLayoutVars>
      </dgm:prSet>
      <dgm:spPr/>
    </dgm:pt>
    <dgm:pt modelId="{66A372F0-CFD0-2F4E-BEED-456CD7A9471A}" type="pres">
      <dgm:prSet presAssocID="{591EB5DA-D456-4719-81F1-C9231B02DA00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DF82A8-156F-47FA-985E-F78E405FCE4E}" srcId="{D5898AC0-2D08-439C-A183-85DC385DF673}" destId="{591EB5DA-D456-4719-81F1-C9231B02DA00}" srcOrd="1" destOrd="0" parTransId="{14B7D9CF-7179-4D94-8FB1-1DB0C5FB1C1C}" sibTransId="{8625C99A-FC32-46B2-B1C6-A58489CFDD88}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C1B1CCE5-A5A1-4640-B620-1F0859F0F7F4}" type="presOf" srcId="{591EB5DA-D456-4719-81F1-C9231B02DA00}" destId="{C384D89C-DE2A-D74A-B4F0-9B134018EC1D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  <dgm:cxn modelId="{FFCC0A55-D795-3340-97AD-67134B0CFB4E}" type="presParOf" srcId="{806EB9D5-5515-B246-B245-AAC8A1EAA5BC}" destId="{261EBC69-D250-184B-B07F-4A04A924D2FD}" srcOrd="1" destOrd="0" presId="urn:microsoft.com/office/officeart/2005/8/layout/hierarchy1"/>
    <dgm:cxn modelId="{565BF7E4-AEF5-AE4C-8B83-45DEDD18BCA4}" type="presParOf" srcId="{261EBC69-D250-184B-B07F-4A04A924D2FD}" destId="{5BE3205E-7013-7541-B0F7-3934FBC36E68}" srcOrd="0" destOrd="0" presId="urn:microsoft.com/office/officeart/2005/8/layout/hierarchy1"/>
    <dgm:cxn modelId="{B2EE9FAD-C5EB-2042-A506-46B74DF56309}" type="presParOf" srcId="{5BE3205E-7013-7541-B0F7-3934FBC36E68}" destId="{5787790F-D557-A44E-8EB2-AB272599E82D}" srcOrd="0" destOrd="0" presId="urn:microsoft.com/office/officeart/2005/8/layout/hierarchy1"/>
    <dgm:cxn modelId="{1C205091-D87D-6B46-AE2B-34CD1BE691CA}" type="presParOf" srcId="{5BE3205E-7013-7541-B0F7-3934FBC36E68}" destId="{C384D89C-DE2A-D74A-B4F0-9B134018EC1D}" srcOrd="1" destOrd="0" presId="urn:microsoft.com/office/officeart/2005/8/layout/hierarchy1"/>
    <dgm:cxn modelId="{6F087824-345E-384C-A4D6-F104979D84F6}" type="presParOf" srcId="{261EBC69-D250-184B-B07F-4A04A924D2FD}" destId="{66A372F0-CFD0-2F4E-BEED-456CD7A947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591EB5DA-D456-4719-81F1-C9231B02DA00}">
      <dgm:prSet/>
      <dgm:spPr/>
      <dgm:t>
        <a:bodyPr/>
        <a:lstStyle/>
        <a:p>
          <a:r>
            <a:rPr lang="en-US" dirty="0"/>
            <a:t>Scheduling Policy</a:t>
          </a:r>
        </a:p>
      </dgm:t>
    </dgm:pt>
    <dgm:pt modelId="{14B7D9CF-7179-4D94-8FB1-1DB0C5FB1C1C}" type="parTrans" cxnId="{CADF82A8-156F-47FA-985E-F78E405FCE4E}">
      <dgm:prSet/>
      <dgm:spPr/>
      <dgm:t>
        <a:bodyPr/>
        <a:lstStyle/>
        <a:p>
          <a:endParaRPr lang="en-US"/>
        </a:p>
      </dgm:t>
    </dgm:pt>
    <dgm:pt modelId="{8625C99A-FC32-46B2-B1C6-A58489CFDD88}" type="sibTrans" cxnId="{CADF82A8-156F-47FA-985E-F78E405FCE4E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2"/>
      <dgm:spPr/>
    </dgm:pt>
    <dgm:pt modelId="{0F137DB1-E140-1244-B54D-691FDAD50DEA}" type="pres">
      <dgm:prSet presAssocID="{620C197B-8959-4715-B44A-475E0E427332}" presName="text" presStyleLbl="fgAcc0" presStyleIdx="0" presStyleCnt="2" custScaleX="65157" custScaleY="47747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  <dgm:pt modelId="{261EBC69-D250-184B-B07F-4A04A924D2FD}" type="pres">
      <dgm:prSet presAssocID="{591EB5DA-D456-4719-81F1-C9231B02DA00}" presName="hierRoot1" presStyleCnt="0"/>
      <dgm:spPr/>
    </dgm:pt>
    <dgm:pt modelId="{5BE3205E-7013-7541-B0F7-3934FBC36E68}" type="pres">
      <dgm:prSet presAssocID="{591EB5DA-D456-4719-81F1-C9231B02DA00}" presName="composite" presStyleCnt="0"/>
      <dgm:spPr/>
    </dgm:pt>
    <dgm:pt modelId="{5787790F-D557-A44E-8EB2-AB272599E82D}" type="pres">
      <dgm:prSet presAssocID="{591EB5DA-D456-4719-81F1-C9231B02DA00}" presName="background" presStyleLbl="node0" presStyleIdx="1" presStyleCnt="2"/>
      <dgm:spPr/>
    </dgm:pt>
    <dgm:pt modelId="{C384D89C-DE2A-D74A-B4F0-9B134018EC1D}" type="pres">
      <dgm:prSet presAssocID="{591EB5DA-D456-4719-81F1-C9231B02DA00}" presName="text" presStyleLbl="fgAcc0" presStyleIdx="1" presStyleCnt="2" custScaleX="63261" custScaleY="47565">
        <dgm:presLayoutVars>
          <dgm:chPref val="3"/>
        </dgm:presLayoutVars>
      </dgm:prSet>
      <dgm:spPr/>
    </dgm:pt>
    <dgm:pt modelId="{66A372F0-CFD0-2F4E-BEED-456CD7A9471A}" type="pres">
      <dgm:prSet presAssocID="{591EB5DA-D456-4719-81F1-C9231B02DA00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DF82A8-156F-47FA-985E-F78E405FCE4E}" srcId="{D5898AC0-2D08-439C-A183-85DC385DF673}" destId="{591EB5DA-D456-4719-81F1-C9231B02DA00}" srcOrd="1" destOrd="0" parTransId="{14B7D9CF-7179-4D94-8FB1-1DB0C5FB1C1C}" sibTransId="{8625C99A-FC32-46B2-B1C6-A58489CFDD88}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C1B1CCE5-A5A1-4640-B620-1F0859F0F7F4}" type="presOf" srcId="{591EB5DA-D456-4719-81F1-C9231B02DA00}" destId="{C384D89C-DE2A-D74A-B4F0-9B134018EC1D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  <dgm:cxn modelId="{FFCC0A55-D795-3340-97AD-67134B0CFB4E}" type="presParOf" srcId="{806EB9D5-5515-B246-B245-AAC8A1EAA5BC}" destId="{261EBC69-D250-184B-B07F-4A04A924D2FD}" srcOrd="1" destOrd="0" presId="urn:microsoft.com/office/officeart/2005/8/layout/hierarchy1"/>
    <dgm:cxn modelId="{565BF7E4-AEF5-AE4C-8B83-45DEDD18BCA4}" type="presParOf" srcId="{261EBC69-D250-184B-B07F-4A04A924D2FD}" destId="{5BE3205E-7013-7541-B0F7-3934FBC36E68}" srcOrd="0" destOrd="0" presId="urn:microsoft.com/office/officeart/2005/8/layout/hierarchy1"/>
    <dgm:cxn modelId="{B2EE9FAD-C5EB-2042-A506-46B74DF56309}" type="presParOf" srcId="{5BE3205E-7013-7541-B0F7-3934FBC36E68}" destId="{5787790F-D557-A44E-8EB2-AB272599E82D}" srcOrd="0" destOrd="0" presId="urn:microsoft.com/office/officeart/2005/8/layout/hierarchy1"/>
    <dgm:cxn modelId="{1C205091-D87D-6B46-AE2B-34CD1BE691CA}" type="presParOf" srcId="{5BE3205E-7013-7541-B0F7-3934FBC36E68}" destId="{C384D89C-DE2A-D74A-B4F0-9B134018EC1D}" srcOrd="1" destOrd="0" presId="urn:microsoft.com/office/officeart/2005/8/layout/hierarchy1"/>
    <dgm:cxn modelId="{6F087824-345E-384C-A4D6-F104979D84F6}" type="presParOf" srcId="{261EBC69-D250-184B-B07F-4A04A924D2FD}" destId="{66A372F0-CFD0-2F4E-BEED-456CD7A947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591EB5DA-D456-4719-81F1-C9231B02DA00}">
      <dgm:prSet/>
      <dgm:spPr/>
      <dgm:t>
        <a:bodyPr/>
        <a:lstStyle/>
        <a:p>
          <a:r>
            <a:rPr lang="en-US" dirty="0"/>
            <a:t>Scheduling Policy</a:t>
          </a:r>
        </a:p>
      </dgm:t>
    </dgm:pt>
    <dgm:pt modelId="{14B7D9CF-7179-4D94-8FB1-1DB0C5FB1C1C}" type="parTrans" cxnId="{CADF82A8-156F-47FA-985E-F78E405FCE4E}">
      <dgm:prSet/>
      <dgm:spPr/>
      <dgm:t>
        <a:bodyPr/>
        <a:lstStyle/>
        <a:p>
          <a:endParaRPr lang="en-US"/>
        </a:p>
      </dgm:t>
    </dgm:pt>
    <dgm:pt modelId="{8625C99A-FC32-46B2-B1C6-A58489CFDD88}" type="sibTrans" cxnId="{CADF82A8-156F-47FA-985E-F78E405FCE4E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2"/>
      <dgm:spPr/>
    </dgm:pt>
    <dgm:pt modelId="{0F137DB1-E140-1244-B54D-691FDAD50DEA}" type="pres">
      <dgm:prSet presAssocID="{620C197B-8959-4715-B44A-475E0E427332}" presName="text" presStyleLbl="fgAcc0" presStyleIdx="0" presStyleCnt="2" custScaleX="65157" custScaleY="47747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  <dgm:pt modelId="{261EBC69-D250-184B-B07F-4A04A924D2FD}" type="pres">
      <dgm:prSet presAssocID="{591EB5DA-D456-4719-81F1-C9231B02DA00}" presName="hierRoot1" presStyleCnt="0"/>
      <dgm:spPr/>
    </dgm:pt>
    <dgm:pt modelId="{5BE3205E-7013-7541-B0F7-3934FBC36E68}" type="pres">
      <dgm:prSet presAssocID="{591EB5DA-D456-4719-81F1-C9231B02DA00}" presName="composite" presStyleCnt="0"/>
      <dgm:spPr/>
    </dgm:pt>
    <dgm:pt modelId="{5787790F-D557-A44E-8EB2-AB272599E82D}" type="pres">
      <dgm:prSet presAssocID="{591EB5DA-D456-4719-81F1-C9231B02DA00}" presName="background" presStyleLbl="node0" presStyleIdx="1" presStyleCnt="2"/>
      <dgm:spPr/>
    </dgm:pt>
    <dgm:pt modelId="{C384D89C-DE2A-D74A-B4F0-9B134018EC1D}" type="pres">
      <dgm:prSet presAssocID="{591EB5DA-D456-4719-81F1-C9231B02DA00}" presName="text" presStyleLbl="fgAcc0" presStyleIdx="1" presStyleCnt="2" custScaleX="63261" custScaleY="47565">
        <dgm:presLayoutVars>
          <dgm:chPref val="3"/>
        </dgm:presLayoutVars>
      </dgm:prSet>
      <dgm:spPr/>
    </dgm:pt>
    <dgm:pt modelId="{66A372F0-CFD0-2F4E-BEED-456CD7A9471A}" type="pres">
      <dgm:prSet presAssocID="{591EB5DA-D456-4719-81F1-C9231B02DA00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DF82A8-156F-47FA-985E-F78E405FCE4E}" srcId="{D5898AC0-2D08-439C-A183-85DC385DF673}" destId="{591EB5DA-D456-4719-81F1-C9231B02DA00}" srcOrd="1" destOrd="0" parTransId="{14B7D9CF-7179-4D94-8FB1-1DB0C5FB1C1C}" sibTransId="{8625C99A-FC32-46B2-B1C6-A58489CFDD88}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C1B1CCE5-A5A1-4640-B620-1F0859F0F7F4}" type="presOf" srcId="{591EB5DA-D456-4719-81F1-C9231B02DA00}" destId="{C384D89C-DE2A-D74A-B4F0-9B134018EC1D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  <dgm:cxn modelId="{FFCC0A55-D795-3340-97AD-67134B0CFB4E}" type="presParOf" srcId="{806EB9D5-5515-B246-B245-AAC8A1EAA5BC}" destId="{261EBC69-D250-184B-B07F-4A04A924D2FD}" srcOrd="1" destOrd="0" presId="urn:microsoft.com/office/officeart/2005/8/layout/hierarchy1"/>
    <dgm:cxn modelId="{565BF7E4-AEF5-AE4C-8B83-45DEDD18BCA4}" type="presParOf" srcId="{261EBC69-D250-184B-B07F-4A04A924D2FD}" destId="{5BE3205E-7013-7541-B0F7-3934FBC36E68}" srcOrd="0" destOrd="0" presId="urn:microsoft.com/office/officeart/2005/8/layout/hierarchy1"/>
    <dgm:cxn modelId="{B2EE9FAD-C5EB-2042-A506-46B74DF56309}" type="presParOf" srcId="{5BE3205E-7013-7541-B0F7-3934FBC36E68}" destId="{5787790F-D557-A44E-8EB2-AB272599E82D}" srcOrd="0" destOrd="0" presId="urn:microsoft.com/office/officeart/2005/8/layout/hierarchy1"/>
    <dgm:cxn modelId="{1C205091-D87D-6B46-AE2B-34CD1BE691CA}" type="presParOf" srcId="{5BE3205E-7013-7541-B0F7-3934FBC36E68}" destId="{C384D89C-DE2A-D74A-B4F0-9B134018EC1D}" srcOrd="1" destOrd="0" presId="urn:microsoft.com/office/officeart/2005/8/layout/hierarchy1"/>
    <dgm:cxn modelId="{6F087824-345E-384C-A4D6-F104979D84F6}" type="presParOf" srcId="{261EBC69-D250-184B-B07F-4A04A924D2FD}" destId="{66A372F0-CFD0-2F4E-BEED-456CD7A947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5898AC0-2D08-439C-A183-85DC385DF673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20C197B-8959-4715-B44A-475E0E427332}">
      <dgm:prSet/>
      <dgm:spPr/>
      <dgm:t>
        <a:bodyPr/>
        <a:lstStyle/>
        <a:p>
          <a:r>
            <a:rPr lang="en-US" dirty="0"/>
            <a:t>A sequencer</a:t>
          </a:r>
        </a:p>
      </dgm:t>
    </dgm:pt>
    <dgm:pt modelId="{8CEFA0F6-4CA0-46FD-B072-D696CC30482F}" type="parTrans" cxnId="{59BEACEA-E8C1-4D64-8259-FDB189F50767}">
      <dgm:prSet/>
      <dgm:spPr/>
      <dgm:t>
        <a:bodyPr/>
        <a:lstStyle/>
        <a:p>
          <a:endParaRPr lang="en-US"/>
        </a:p>
      </dgm:t>
    </dgm:pt>
    <dgm:pt modelId="{EC4C8EB8-4020-482D-A43D-745F569D3892}" type="sibTrans" cxnId="{59BEACEA-E8C1-4D64-8259-FDB189F50767}">
      <dgm:prSet/>
      <dgm:spPr/>
      <dgm:t>
        <a:bodyPr/>
        <a:lstStyle/>
        <a:p>
          <a:endParaRPr lang="en-US"/>
        </a:p>
      </dgm:t>
    </dgm:pt>
    <dgm:pt modelId="{806EB9D5-5515-B246-B245-AAC8A1EAA5BC}" type="pres">
      <dgm:prSet presAssocID="{D5898AC0-2D08-439C-A183-85DC385DF67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7B835E-8232-694B-8CA3-EDAAA7976AA5}" type="pres">
      <dgm:prSet presAssocID="{620C197B-8959-4715-B44A-475E0E427332}" presName="hierRoot1" presStyleCnt="0"/>
      <dgm:spPr/>
    </dgm:pt>
    <dgm:pt modelId="{90F6FF3A-AF44-D143-94E6-FF7B4A6B3486}" type="pres">
      <dgm:prSet presAssocID="{620C197B-8959-4715-B44A-475E0E427332}" presName="composite" presStyleCnt="0"/>
      <dgm:spPr/>
    </dgm:pt>
    <dgm:pt modelId="{FA5A891E-1476-D94F-A1AF-CCB7E72C1AF5}" type="pres">
      <dgm:prSet presAssocID="{620C197B-8959-4715-B44A-475E0E427332}" presName="background" presStyleLbl="node0" presStyleIdx="0" presStyleCnt="1"/>
      <dgm:spPr/>
    </dgm:pt>
    <dgm:pt modelId="{0F137DB1-E140-1244-B54D-691FDAD50DEA}" type="pres">
      <dgm:prSet presAssocID="{620C197B-8959-4715-B44A-475E0E427332}" presName="text" presStyleLbl="fgAcc0" presStyleIdx="0" presStyleCnt="1" custScaleX="100403" custScaleY="13270" custLinFactNeighborX="1383" custLinFactNeighborY="3234">
        <dgm:presLayoutVars>
          <dgm:chPref val="3"/>
        </dgm:presLayoutVars>
      </dgm:prSet>
      <dgm:spPr/>
    </dgm:pt>
    <dgm:pt modelId="{EF6C8EBF-03DF-9441-B57E-225A94CC1F90}" type="pres">
      <dgm:prSet presAssocID="{620C197B-8959-4715-B44A-475E0E427332}" presName="hierChild2" presStyleCnt="0"/>
      <dgm:spPr/>
    </dgm:pt>
  </dgm:ptLst>
  <dgm:cxnLst>
    <dgm:cxn modelId="{F50FE152-B40A-A24D-B358-9D4827D6F1D3}" type="presOf" srcId="{620C197B-8959-4715-B44A-475E0E427332}" destId="{0F137DB1-E140-1244-B54D-691FDAD50DEA}" srcOrd="0" destOrd="0" presId="urn:microsoft.com/office/officeart/2005/8/layout/hierarchy1"/>
    <dgm:cxn modelId="{CA7573CF-01C9-814B-8E00-D0276852FABF}" type="presOf" srcId="{D5898AC0-2D08-439C-A183-85DC385DF673}" destId="{806EB9D5-5515-B246-B245-AAC8A1EAA5BC}" srcOrd="0" destOrd="0" presId="urn:microsoft.com/office/officeart/2005/8/layout/hierarchy1"/>
    <dgm:cxn modelId="{59BEACEA-E8C1-4D64-8259-FDB189F50767}" srcId="{D5898AC0-2D08-439C-A183-85DC385DF673}" destId="{620C197B-8959-4715-B44A-475E0E427332}" srcOrd="0" destOrd="0" parTransId="{8CEFA0F6-4CA0-46FD-B072-D696CC30482F}" sibTransId="{EC4C8EB8-4020-482D-A43D-745F569D3892}"/>
    <dgm:cxn modelId="{17EDCF41-D354-F746-9B7D-3F8AF995963D}" type="presParOf" srcId="{806EB9D5-5515-B246-B245-AAC8A1EAA5BC}" destId="{D97B835E-8232-694B-8CA3-EDAAA7976AA5}" srcOrd="0" destOrd="0" presId="urn:microsoft.com/office/officeart/2005/8/layout/hierarchy1"/>
    <dgm:cxn modelId="{A4BF74C8-3849-C24E-BB45-08E6919B97A1}" type="presParOf" srcId="{D97B835E-8232-694B-8CA3-EDAAA7976AA5}" destId="{90F6FF3A-AF44-D143-94E6-FF7B4A6B3486}" srcOrd="0" destOrd="0" presId="urn:microsoft.com/office/officeart/2005/8/layout/hierarchy1"/>
    <dgm:cxn modelId="{60A0D589-4464-3F45-9D9C-0088A3B79E52}" type="presParOf" srcId="{90F6FF3A-AF44-D143-94E6-FF7B4A6B3486}" destId="{FA5A891E-1476-D94F-A1AF-CCB7E72C1AF5}" srcOrd="0" destOrd="0" presId="urn:microsoft.com/office/officeart/2005/8/layout/hierarchy1"/>
    <dgm:cxn modelId="{2D6601DB-FC6E-B548-9C95-CDDDFA1F039B}" type="presParOf" srcId="{90F6FF3A-AF44-D143-94E6-FF7B4A6B3486}" destId="{0F137DB1-E140-1244-B54D-691FDAD50DEA}" srcOrd="1" destOrd="0" presId="urn:microsoft.com/office/officeart/2005/8/layout/hierarchy1"/>
    <dgm:cxn modelId="{D7CE6763-C107-834C-813E-A5CE22A4FE8C}" type="presParOf" srcId="{D97B835E-8232-694B-8CA3-EDAAA7976AA5}" destId="{EF6C8EBF-03DF-9441-B57E-225A94CC1F9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8A2073-DDFC-A945-965F-34F057A13413}">
      <dsp:nvSpPr>
        <dsp:cNvPr id="0" name=""/>
        <dsp:cNvSpPr/>
      </dsp:nvSpPr>
      <dsp:spPr>
        <a:xfrm>
          <a:off x="0" y="1144956"/>
          <a:ext cx="6790149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2E76DE-0916-BF4F-940E-5CCE6068F0CC}">
      <dsp:nvSpPr>
        <dsp:cNvPr id="0" name=""/>
        <dsp:cNvSpPr/>
      </dsp:nvSpPr>
      <dsp:spPr>
        <a:xfrm>
          <a:off x="297303" y="0"/>
          <a:ext cx="4824971" cy="171913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656" tIns="0" rIns="17965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Multicast service that disseminates market data to 1000 participants, each receiving a message within 1-microsecond of each other</a:t>
          </a:r>
        </a:p>
      </dsp:txBody>
      <dsp:txXfrm>
        <a:off x="381224" y="83921"/>
        <a:ext cx="4657129" cy="1551293"/>
      </dsp:txXfrm>
    </dsp:sp>
    <dsp:sp modelId="{E1F2A502-4B18-4E44-9443-18DEF06AC982}">
      <dsp:nvSpPr>
        <dsp:cNvPr id="0" name=""/>
        <dsp:cNvSpPr/>
      </dsp:nvSpPr>
      <dsp:spPr>
        <a:xfrm>
          <a:off x="0" y="3615314"/>
          <a:ext cx="6790149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6F2A64-226F-F043-A736-0E712AA93A63}">
      <dsp:nvSpPr>
        <dsp:cNvPr id="0" name=""/>
        <dsp:cNvSpPr/>
      </dsp:nvSpPr>
      <dsp:spPr>
        <a:xfrm>
          <a:off x="1608531" y="2079302"/>
          <a:ext cx="5009819" cy="1930622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656" tIns="0" rIns="17965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 order submission service which effectively handles bursty traffic while maintaining fairness of competition among the participants</a:t>
          </a:r>
        </a:p>
      </dsp:txBody>
      <dsp:txXfrm>
        <a:off x="1702776" y="2173547"/>
        <a:ext cx="4821329" cy="1742132"/>
      </dsp:txXfrm>
    </dsp:sp>
    <dsp:sp modelId="{6853193F-8754-5547-B915-A85C1FD214C5}">
      <dsp:nvSpPr>
        <dsp:cNvPr id="0" name=""/>
        <dsp:cNvSpPr/>
      </dsp:nvSpPr>
      <dsp:spPr>
        <a:xfrm>
          <a:off x="0" y="5149520"/>
          <a:ext cx="6790149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1D5DF7-3038-2041-8621-DF8C046A658D}">
      <dsp:nvSpPr>
        <dsp:cNvPr id="0" name=""/>
        <dsp:cNvSpPr/>
      </dsp:nvSpPr>
      <dsp:spPr>
        <a:xfrm>
          <a:off x="170694" y="4610323"/>
          <a:ext cx="4753104" cy="797039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9656" tIns="0" rIns="17965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Prototyped on AWS and GCP</a:t>
          </a:r>
        </a:p>
      </dsp:txBody>
      <dsp:txXfrm>
        <a:off x="209602" y="4649231"/>
        <a:ext cx="4675288" cy="7192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24" y="741663"/>
          <a:ext cx="4573702" cy="21282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783270" y="1482611"/>
          <a:ext cx="4573702" cy="2128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Sequencer</a:t>
          </a:r>
        </a:p>
      </dsp:txBody>
      <dsp:txXfrm>
        <a:off x="845605" y="1544946"/>
        <a:ext cx="4449032" cy="2003599"/>
      </dsp:txXfrm>
    </dsp:sp>
    <dsp:sp modelId="{5787790F-D557-A44E-8EB2-AB272599E82D}">
      <dsp:nvSpPr>
        <dsp:cNvPr id="0" name=""/>
        <dsp:cNvSpPr/>
      </dsp:nvSpPr>
      <dsp:spPr>
        <a:xfrm>
          <a:off x="6136917" y="741663"/>
          <a:ext cx="4440612" cy="21201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84D89C-DE2A-D74A-B4F0-9B134018EC1D}">
      <dsp:nvSpPr>
        <dsp:cNvPr id="0" name=""/>
        <dsp:cNvSpPr/>
      </dsp:nvSpPr>
      <dsp:spPr>
        <a:xfrm>
          <a:off x="6916863" y="1482611"/>
          <a:ext cx="4440612" cy="21201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Scheduling Policy</a:t>
          </a:r>
        </a:p>
      </dsp:txBody>
      <dsp:txXfrm>
        <a:off x="6978960" y="1544708"/>
        <a:ext cx="4316418" cy="19959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24" y="741663"/>
          <a:ext cx="4573702" cy="21282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783270" y="1482611"/>
          <a:ext cx="4573702" cy="2128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Sequencer</a:t>
          </a:r>
        </a:p>
      </dsp:txBody>
      <dsp:txXfrm>
        <a:off x="845605" y="1544946"/>
        <a:ext cx="4449032" cy="2003599"/>
      </dsp:txXfrm>
    </dsp:sp>
    <dsp:sp modelId="{5787790F-D557-A44E-8EB2-AB272599E82D}">
      <dsp:nvSpPr>
        <dsp:cNvPr id="0" name=""/>
        <dsp:cNvSpPr/>
      </dsp:nvSpPr>
      <dsp:spPr>
        <a:xfrm>
          <a:off x="6136917" y="741663"/>
          <a:ext cx="4440612" cy="21201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84D89C-DE2A-D74A-B4F0-9B134018EC1D}">
      <dsp:nvSpPr>
        <dsp:cNvPr id="0" name=""/>
        <dsp:cNvSpPr/>
      </dsp:nvSpPr>
      <dsp:spPr>
        <a:xfrm>
          <a:off x="6916863" y="1482611"/>
          <a:ext cx="4440612" cy="21201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Scheduling Policy</a:t>
          </a:r>
        </a:p>
      </dsp:txBody>
      <dsp:txXfrm>
        <a:off x="6978960" y="1544708"/>
        <a:ext cx="4316418" cy="199596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24" y="741663"/>
          <a:ext cx="4573702" cy="212826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783270" y="1482611"/>
          <a:ext cx="4573702" cy="21282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Sequencer</a:t>
          </a:r>
        </a:p>
      </dsp:txBody>
      <dsp:txXfrm>
        <a:off x="845605" y="1544946"/>
        <a:ext cx="4449032" cy="2003599"/>
      </dsp:txXfrm>
    </dsp:sp>
    <dsp:sp modelId="{5787790F-D557-A44E-8EB2-AB272599E82D}">
      <dsp:nvSpPr>
        <dsp:cNvPr id="0" name=""/>
        <dsp:cNvSpPr/>
      </dsp:nvSpPr>
      <dsp:spPr>
        <a:xfrm>
          <a:off x="6136917" y="741663"/>
          <a:ext cx="4440612" cy="212015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84D89C-DE2A-D74A-B4F0-9B134018EC1D}">
      <dsp:nvSpPr>
        <dsp:cNvPr id="0" name=""/>
        <dsp:cNvSpPr/>
      </dsp:nvSpPr>
      <dsp:spPr>
        <a:xfrm>
          <a:off x="6916863" y="1482611"/>
          <a:ext cx="4440612" cy="212015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600" kern="1200" dirty="0"/>
            <a:t>Scheduling Policy</a:t>
          </a:r>
        </a:p>
      </dsp:txBody>
      <dsp:txXfrm>
        <a:off x="6978960" y="1544708"/>
        <a:ext cx="4316418" cy="19959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A891E-1476-D94F-A1AF-CCB7E72C1AF5}">
      <dsp:nvSpPr>
        <dsp:cNvPr id="0" name=""/>
        <dsp:cNvSpPr/>
      </dsp:nvSpPr>
      <dsp:spPr>
        <a:xfrm>
          <a:off x="3333" y="1418787"/>
          <a:ext cx="10225824" cy="8582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137DB1-E140-1244-B54D-691FDAD50DEA}">
      <dsp:nvSpPr>
        <dsp:cNvPr id="0" name=""/>
        <dsp:cNvSpPr/>
      </dsp:nvSpPr>
      <dsp:spPr>
        <a:xfrm>
          <a:off x="1134975" y="2493847"/>
          <a:ext cx="10225824" cy="8582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A sequencer</a:t>
          </a:r>
        </a:p>
      </dsp:txBody>
      <dsp:txXfrm>
        <a:off x="1160111" y="2518983"/>
        <a:ext cx="10175552" cy="807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9E14C-4B77-9345-AC7C-9D930EA32606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2936D-68DF-C34D-84E6-1FDAB4C19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95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having latency fairness can lead to unwanted unfair competition, users may not 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64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022B6-65E5-2318-A990-AB7A74085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04C8E-9FAA-628F-EEE8-3287CB0C2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909A3B-0482-FAD7-8EE6-6B9B53012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having latency fairness can lead to unwanted unfair competition, users may not come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521CFE-92B1-DEE7-1D5B-857FC63DB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90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20C4-A110-B0A6-0D9A-CE3A6308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DBF13-DD74-7F87-98C0-ABF5A2C38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3F68D-BD19-D82B-D8E0-30DD9CB52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DFB2A-B417-97F6-CCA7-A8732C82F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46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89F7-A5F1-AF50-0FA1-105CD333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1DA64-C8D1-D27D-D5AD-A3D98887D8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48389-62D1-C105-6B56-F55383D3E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BCC38-694B-6B20-BD21-9386BBD0D7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45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600EC-9AA9-ED24-DA66-4B56DBFC5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89F1B-9E14-F5A4-1DD3-8DC017DCC3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DAE91-2671-8816-9265-487C57D65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89BE7-D39F-23CF-8119-82EEBFF9D0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30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E749F-93F4-125D-E541-5C8E5D71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E8ED6-5EF4-400A-E2C0-A86C94EA1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42344-12F8-A6E3-2055-816BE7BE0C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698C9-EE8C-96FE-DB9A-291287ECE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8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C2CA-C3D1-4544-C530-3E0E4B16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B5B33-CA3F-127D-6DFB-1EB8594F41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E87660-E55D-2941-AC3A-CFFCC09F0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41A67-3764-B3AC-C3B6-CF07C3AA1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0362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736C-0546-B22A-0E51-1D915737B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078BB-E7DD-46A3-D395-D7BDB922F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C43F81-E12F-2D3E-CEA3-AF077DE43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289EC-035D-A8E2-D0A8-2F238B5E4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41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C320-3B7C-09A2-200E-DDE80E604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1510F-3905-EBE7-9101-24FE30B00D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4B288-7A7F-1742-9508-E1818D7C2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A9963-7D3E-BFD2-CBBF-4C55CB1C0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639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D48C-35CA-7315-A026-635A7512D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B97AD3-4CFE-1DF7-96D2-E8556A50B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037D92-5B95-DFA8-FD38-FE9B904A92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06B6A-45E8-6852-5DE7-618D9747D8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48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86912-8D16-E435-5C22-A90E748F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D73EF-5AEE-8EC9-A6E8-0C4466DBF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519F4-B304-570C-296F-C835E1C20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CC44C-E247-7DEB-CCC9-15D1BC0DB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50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EB3D0-1E06-2B88-0153-4E2E2529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E9168E-EC7C-4EFA-A948-1BD168CCBB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747B9B-C5F9-E2C8-787A-B00209079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68103-71FA-E1EA-1C35-91C986073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15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5D0F-F53A-8FBF-64D9-A67F2836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39AA8-66B5-E374-EBF1-749B2DECA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470EBD-83E0-7813-FE78-35AED5F19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5C3C6-ACAD-032E-F56A-3AE71677C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17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0D004-F083-99D8-B51B-26F7BB56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93473-C5E7-E48E-6384-B5787AE669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3F9A3-8AFA-6B23-FB16-C842D8772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53653-B344-DA14-85BC-D91CE5F14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17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7636F-99F3-0DC5-A507-7E83BFEDB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43FC3-1AEE-D5F6-EFC1-1FB63E1E7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85305-B62C-CFF8-0023-F74A0F6B5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DE75D-A6E9-4B4A-CDC0-25B19525E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740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FC0A0-A527-AB60-C375-2279D78A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07C0F-F044-9CA5-A27E-65D99F2FB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F7997C-22A7-1852-BBC8-13B00A027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74653-F9AE-2D0D-E56F-42C68A086C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5566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0CADE-31CB-CFD5-187D-FB90C4A8D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CD94A-62E9-D64F-AC91-A9FD3919F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4ADE3-3668-9E50-6FFE-F7B456C15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C9549-C470-86BC-1EE8-67C3AB749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D2936D-68DF-C34D-84E6-1FDAB4C19BC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66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6E3F121B-B2EC-A8DC-FF10-A1FEFAD48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B5ADD324-26F1-2DA8-0C9D-9EF3B4026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2B078746-65C1-A222-FCAE-A0224FA5E9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87370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09C80A5-A9A0-5592-D782-AA72A57E3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4CB70A6E-38AF-6012-6B66-3D2A33722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332D20F5-71C8-DC49-919B-2F202EAAF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72907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8CDFDF8-0685-498A-8AEB-5F4EFEF15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9827B912-96F1-C80F-0415-CB1D35FDBA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5166CC31-3D8C-434D-2456-06772ECCD3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0904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6406F462-5F96-0B6F-DA67-BDA4E177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F855BC8A-1995-B0C9-66EA-A58BF06E1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E0B025B2-3B1E-9A50-F184-7FFD7080B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93031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BCFC4AF-8CFE-723C-734F-22CB624C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A73504D7-663C-9908-640D-A70E12A2F8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03F42BEE-563D-FB62-B79A-13674B136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8124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77389B7F-69A9-79A4-0469-C8DDF739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A17CBF0D-CADA-EB8E-7853-71C449FAD1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C862463D-3669-B860-D0D5-E576B25E1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028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7739029-D541-14C3-A3D3-DC6F6AF3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9272EFBB-E4A9-E4BF-C783-0DB3C0A355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F2CD8091-CF0F-4B7F-2D04-201D7B8044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51339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5D976B2-80F9-DCFC-E145-A84D232F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A9108BC8-5BAE-C236-FC63-0BC79F59F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F1437CA7-2900-21EC-64A1-211908BA8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6994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6E4C337B-D9F6-81ED-B34E-7289417E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63B63FF8-2458-0939-80A5-71BB7049B8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F1E46847-886A-5A01-F7EE-4136B5F805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422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966BB8D6-F2EE-0BC8-07A1-24BF2F54F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2245C3B6-8C9F-F8A0-8C8B-0AD73B7DF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2B667CA1-2EE3-B466-F8FA-D3EA1470F2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84405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62A3E145-60A0-906B-F309-968DB3934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3CD801E4-2A6B-1ED8-25B8-B1DA3B825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3BBFAFAA-30BE-11F5-4DAE-5B78D186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2025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F46528C7-7184-8D22-54F2-0C2FC7AE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642588CC-C717-2F4E-6B1F-B90BFE45E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A049AED3-38BA-A4CF-9731-DBBBAC3485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Price time priority algorithm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51672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6DA0EDF3-595E-6D98-05C3-24AC4CA5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92d2458f9_0_62:notes">
            <a:extLst>
              <a:ext uri="{FF2B5EF4-FFF2-40B4-BE49-F238E27FC236}">
                <a16:creationId xmlns:a16="http://schemas.microsoft.com/office/drawing/2014/main" id="{B80C2E72-5336-A1A7-956B-B651E49B3D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92d2458f9_0_62:notes">
            <a:extLst>
              <a:ext uri="{FF2B5EF4-FFF2-40B4-BE49-F238E27FC236}">
                <a16:creationId xmlns:a16="http://schemas.microsoft.com/office/drawing/2014/main" id="{E60A6744-F705-8205-223B-F794D5111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32793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CF9320B8-BE5D-CD3B-639E-2B00B15F0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092d2458f9_0_0:notes">
            <a:extLst>
              <a:ext uri="{FF2B5EF4-FFF2-40B4-BE49-F238E27FC236}">
                <a16:creationId xmlns:a16="http://schemas.microsoft.com/office/drawing/2014/main" id="{A3189C31-0E68-24E5-3A07-4544204670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092d2458f9_0_0:notes">
            <a:extLst>
              <a:ext uri="{FF2B5EF4-FFF2-40B4-BE49-F238E27FC236}">
                <a16:creationId xmlns:a16="http://schemas.microsoft.com/office/drawing/2014/main" id="{DC93FAA8-0F10-3563-C5C4-AAF2216C6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1760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replace </a:t>
            </a:r>
            <a:r>
              <a:rPr lang="en-US" dirty="0" err="1"/>
              <a:t>png</a:t>
            </a:r>
            <a:r>
              <a:rPr lang="en-US" dirty="0"/>
              <a:t> with pdf, somehow adding pdf is making it too heavy for </a:t>
            </a:r>
            <a:r>
              <a:rPr lang="en-US" dirty="0" err="1"/>
              <a:t>powerpoint</a:t>
            </a:r>
            <a:r>
              <a:rPr lang="en-US" dirty="0"/>
              <a:t> to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A9493B-55D8-874A-9DCB-2503F8885D5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1054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16DCC82-8A87-B6E0-D37F-18A25DD86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C1B73974-CB96-D06B-24D6-FCE230062A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D03C7707-3C00-8240-10FF-004B8382C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3671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AB2FE54-A703-16E7-1399-389C88A2B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076B11D6-2BD2-4B01-F530-05742AD59E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BF8BD569-71A2-99DF-E28F-8FD007E25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06686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85693181-C99A-C505-C78E-1BB018A2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C0EA0158-6E15-5BAD-AACF-0FB123395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9E31BF72-0A71-98AE-C954-BACDF87B1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63798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F590B108-7C49-09A3-F1C3-21B022799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8DCD5B32-E7ED-2CF2-E508-7055BA9F91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FCDC0B48-46C9-1DEB-2B5A-5E29A2629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869625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9B63EEA-188C-3FBD-A6AB-AD231212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147FE3A1-08C6-CBC6-A113-84D0D66F3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9445D650-A345-C963-00EF-95575214F1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9535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FF32DC1A-5BA2-BFF9-251B-1FCBD4D51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9BBD1CBB-FB28-4A98-5319-E682657AE1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EE4A1228-A0C5-7EFB-A0A8-A136573E5D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25281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1B40030-FF82-D44D-8AB0-1471A764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CF1AD595-01E9-677E-9BBF-FE463F354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A9265B3D-9447-C8B0-A329-260C4DF164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8941088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7D263C0-B2AE-D4DC-3339-0307A3D6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5711F022-5464-CA69-309B-AF6B320B25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BB453350-433D-9CE3-EC0E-59D16EFF0B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88832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F52AE5C-4370-CDE3-2C2D-7C9C267C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B917B074-2FFA-8CAD-85A7-3DF6D4803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4B802C45-B481-8C36-4EA1-F06305CAA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22760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E2702E0-93CF-C67D-63B5-10828F39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05F67FE3-528E-F7B4-1B8D-F107F31AB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076BF2AD-B214-EB27-6121-96C5D175E7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802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C737D177-B4D9-4121-79EE-1605B8ED9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0C9DA06C-69C7-F3AE-701A-3BBC9A5EC6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8B0FE4B7-554E-9811-4EDA-5798C51CD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78441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C34E2C1-3216-5C4A-AE8C-C19AB1132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CC90433C-B072-4459-829E-BA18D4D315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4ECA09C9-E966-99F4-9D69-8CA3AB1AD2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499368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43524569-6A97-910C-16AA-4C1D554A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F92ED0B0-00F7-5660-27DA-C9BC9997B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DEFB5040-A5E2-59AE-5A1B-4E507717F6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34631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35D3B0A3-A85D-5543-62CC-87B8F596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A6D27378-8447-52C5-891B-D8F264D79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39B32425-EB16-3F81-AA83-5C7DCA71E4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98593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0695A024-1E95-3BE5-4C67-140609504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94CCE9F5-2DB0-4159-4840-A48A97909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77E834D1-E1F3-7E45-C1B9-D48F725E9C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81548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AFCB15DB-E194-7A39-9EDF-B996F705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20EA0530-69D4-8F9C-A0C5-53F2846FF1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F3790B7F-E138-B516-8EE8-D6E8137D4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300162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cannot</a:t>
            </a:r>
            <a:r>
              <a:rPr lang="zh-CN" altLang="en-US" dirty="0"/>
              <a:t> </a:t>
            </a:r>
            <a:r>
              <a:rPr lang="en-US" altLang="zh-CN" dirty="0"/>
              <a:t>control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arrival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messages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receiver.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messages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arrive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receivers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unpredictable</a:t>
            </a:r>
            <a:r>
              <a:rPr lang="zh-CN" altLang="en-US" dirty="0"/>
              <a:t> </a:t>
            </a:r>
            <a:r>
              <a:rPr lang="en-US" altLang="zh-CN" dirty="0"/>
              <a:t>times.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since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receivers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sharing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timeline,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receiver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hold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messages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message</a:t>
            </a:r>
            <a:r>
              <a:rPr lang="zh-CN" altLang="en-US" dirty="0"/>
              <a:t> </a:t>
            </a:r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EF7A7-27AB-6E4C-AB55-71A628D244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8335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45E815E-9F83-4208-CBFD-FAB1AD23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2482B5E2-D71B-75B1-A260-B41FBC1A39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B545BED2-ECDE-F1FB-A952-6FE45A3A0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107341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BDB20845-AA84-8D22-7748-7B8A0CD9E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FEFF847C-31ED-237F-2F46-929698359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81D16309-9F22-D5B6-4597-E2267424F9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7980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77C69D56-CC56-301F-1B18-91750643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946A1CDD-1BA6-54FE-1BCD-351460B8A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3F1A3A01-8787-AF83-FE47-B157C299B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160996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5862FAC1-06B6-6A16-35EF-40812FA11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2C108320-4E67-8FC7-AAF6-04628EBA3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6C6A1508-CE20-ABDD-4DDD-A259FBC390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2128359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F46C178-FAF7-8390-48E3-E9768541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3024B01F-77C7-E70E-C412-A64F10D248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11004435-AD49-13B0-37E5-513FA542A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906353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873BDC74-D698-CD0A-B18E-E96A87DC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529553DA-735C-C51E-B75C-93F8B320E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7316889A-118B-20E6-20D1-666A43520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98048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6958E952-A444-6BC1-10E3-5C59C743D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61DA9D3A-129F-1125-C680-6A644545D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2C03AE36-8BAE-71EC-C5C1-B2614494FB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03351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E61EA46-4348-31E5-4C5F-95F9661DF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6BB1376E-9E05-A19B-188F-195D749BDB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DA524E29-F30F-DFE9-E98E-15CF43765C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980520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F551EE8F-E95B-7F79-CC89-45D8AD719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E7036F56-8685-C8E9-6C7B-22A125891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A8D53E4C-FD09-352E-3F22-FF5F3AC53F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Results all for GCP, except AWS TGW</a:t>
            </a:r>
            <a:br>
              <a:rPr lang="en-US" dirty="0"/>
            </a:br>
            <a:br>
              <a:rPr lang="en-US" dirty="0"/>
            </a:br>
            <a:r>
              <a:rPr lang="en" dirty="0"/>
              <a:t>&gt;50 % lower latency than the latency provided by AWS TGW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094852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3401630F-EF53-F3B2-BA07-5B5672442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7853A060-0555-8589-BA7E-71504ABD99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32DA8930-C5E5-7B45-65E4-99FC9A3B1E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508423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E4AA083B-E2E2-66D1-72B7-92C15A3FF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FEA4771E-AA55-E464-1676-A61BEB162E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13EDEF8A-738D-907F-DE01-767B3ADC0A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7594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186F7E96-0B97-3874-28A1-C3319D1E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FEAC5363-8224-DD84-8AF3-960F2013FB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05667ACB-3D96-9F08-B2DF-032F2C4589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777411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D000D10F-848D-690B-FDD9-49D382AAE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90F343D0-60F5-FB16-2D09-4D6A66F49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808AD56A-5170-7D67-9F68-DABBAB6863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666346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>
          <a:extLst>
            <a:ext uri="{FF2B5EF4-FFF2-40B4-BE49-F238E27FC236}">
              <a16:creationId xmlns:a16="http://schemas.microsoft.com/office/drawing/2014/main" id="{51A7CDDD-4D4B-C139-DED2-A9E95D68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92d2458f9_0_41:notes">
            <a:extLst>
              <a:ext uri="{FF2B5EF4-FFF2-40B4-BE49-F238E27FC236}">
                <a16:creationId xmlns:a16="http://schemas.microsoft.com/office/drawing/2014/main" id="{33CAE20D-542E-5965-9D17-775D6DE9EA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92d2458f9_0_41:notes">
            <a:extLst>
              <a:ext uri="{FF2B5EF4-FFF2-40B4-BE49-F238E27FC236}">
                <a16:creationId xmlns:a16="http://schemas.microsoft.com/office/drawing/2014/main" id="{BB5F8555-6CA4-0C6B-7118-EFF7993CA0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49397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A8466929-A9BD-B906-9740-28EDEA9CC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A797E122-BAD1-332F-1053-6E4B5C1B0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F35DB71D-33A4-CA58-A9B2-79C67B7878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If queues are filled with older and newer orders and we simply prioritize the orders with price closer to the mid-price, it may violate fairness. Perhaps another order in some other queue would have moved mid-price in favor of the order being de-prioritized if everything was FIFO.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302505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FC51F348-08DF-6F64-A176-0B9B3BE8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246CAFF1-AD31-B28A-3CAC-DB81820480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54085358-8DF5-5BB8-A55E-5052CFFEA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337748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C5A25532-197A-CEE0-3B34-C51B9E7AE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36CBE5C4-18CE-4CEB-7C31-4545CCE85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630F70E5-3169-DE5A-8901-E48A77754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57290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2999D88A-FBA4-327F-3368-5DB70BF8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17200082-E141-14E2-AF7D-288D1042E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000BBC74-C772-008B-0D31-0A0D3FB143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Input sequence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218196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78EC421F-4948-92B5-A060-7ED2960E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427BB44B-5C27-C1ED-4E1A-18FBC517A0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268CD405-DA4D-D4BA-C2BA-3989E43DA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43024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8C630629-CE26-3575-36A2-A4AAA114D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D779308D-3A09-93ED-DFE8-0C56455CD3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B84A7A0D-9E15-537B-F7BB-8035141D5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165482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6A72F045-CCFF-F4B2-1D62-F5E85946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A50F8FB3-CD8B-D23C-BFC8-20EBEBB634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9628D851-126A-2B82-A369-3214177AC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454096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1E5D8F42-FDE5-776F-CDED-0C643B4F7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C0B85183-6010-FE8C-EADE-A1375C8826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3C4A11A0-7460-ACC9-D915-82F1C18DD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9032956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8D9418AB-69A3-91CE-E21B-BCA88ADED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7AD21553-55D9-AD23-633C-5E0B47ACA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A6C68183-25C1-EFC4-5503-4C43344FC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470370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2DFAE7FA-B1E0-A91A-9ABD-13D38BF03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9BF6E192-3ECB-4723-BA79-716AE319B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DE5A3205-3D92-3ED5-85CB-93286AC0F6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267311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96F9D58B-28CA-489E-68F8-B7F208B78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D83B2256-A3E3-C2EE-3CB8-E6776FEA0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C08823B9-997A-6F9B-49A2-A42322F3D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Details in the paper how the function is designed to preserve the fairness while increasing 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620984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B210FAD7-574B-786F-32D3-DD27ED8D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A363C776-0DA6-E579-AEEC-A4D6A637EF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D712B6D9-39BA-9E4F-44E0-0221E18FAC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Details in the paper how the function is designed to preserve the fairness while increasing 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078684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CCA00969-27D2-6858-9B58-A3F6A3A44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5EB0BD48-610E-8CE6-694D-54EF9824D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E3D63F7C-B162-B262-F466-BE59AEF2A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Details in the paper how the function is designed to preserve the fairness while increasing 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010038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7A7536A2-A4EC-5DF7-811C-E086FB591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A132A876-C477-3684-7735-4BA29504F5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55E36694-6B18-6C50-C9F0-A389785FF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Details in the paper how the function is designed to preserve the fairness while increasing performance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407451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58D49325-DBE0-09DB-7D96-6A5E0DC3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96dc1af9c_0_161:notes">
            <a:extLst>
              <a:ext uri="{FF2B5EF4-FFF2-40B4-BE49-F238E27FC236}">
                <a16:creationId xmlns:a16="http://schemas.microsoft.com/office/drawing/2014/main" id="{F2BD9B0C-99BB-E6F9-BE02-979BCB4BAB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096dc1af9c_0_161:notes">
            <a:extLst>
              <a:ext uri="{FF2B5EF4-FFF2-40B4-BE49-F238E27FC236}">
                <a16:creationId xmlns:a16="http://schemas.microsoft.com/office/drawing/2014/main" id="{3B9A1A02-F38F-0BAA-C1D0-E4BAB28A0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236261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2EC99D79-0533-202F-5D8F-961DAC080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9AD48E00-FD9E-79C9-4DE4-6FB6AD4254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2A0FAD95-D5FF-81D1-BA1B-B64CE0BEE6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Order matched per second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113158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3EDC5A67-2ACF-15FB-63A7-6E5C97BD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096dc1af9c_0_161:notes">
            <a:extLst>
              <a:ext uri="{FF2B5EF4-FFF2-40B4-BE49-F238E27FC236}">
                <a16:creationId xmlns:a16="http://schemas.microsoft.com/office/drawing/2014/main" id="{EB43E55D-C9F5-EBA4-DE57-8C2CC8A7C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096dc1af9c_0_161:notes">
            <a:extLst>
              <a:ext uri="{FF2B5EF4-FFF2-40B4-BE49-F238E27FC236}">
                <a16:creationId xmlns:a16="http://schemas.microsoft.com/office/drawing/2014/main" id="{E00A59AB-987B-AF88-FD9D-1AB9DF172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462136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>
          <a:extLst>
            <a:ext uri="{FF2B5EF4-FFF2-40B4-BE49-F238E27FC236}">
              <a16:creationId xmlns:a16="http://schemas.microsoft.com/office/drawing/2014/main" id="{CBD42CBD-B143-94B9-B5DC-DC78D3334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096dc1af9c_0_143:notes">
            <a:extLst>
              <a:ext uri="{FF2B5EF4-FFF2-40B4-BE49-F238E27FC236}">
                <a16:creationId xmlns:a16="http://schemas.microsoft.com/office/drawing/2014/main" id="{F7C14042-1FB9-0B14-5834-BD7AD8A15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096dc1af9c_0_143:notes">
            <a:extLst>
              <a:ext uri="{FF2B5EF4-FFF2-40B4-BE49-F238E27FC236}">
                <a16:creationId xmlns:a16="http://schemas.microsoft.com/office/drawing/2014/main" id="{568391AA-0D33-6CDA-8C52-F4F7359D68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 all orders match </a:t>
            </a:r>
            <a:r>
              <a:rPr lang="en-US" dirty="0" err="1"/>
              <a:t>immidiately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4032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9232F-6866-C467-C19F-34F75D805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77CA47-BDC6-4647-49B0-5358FF0E4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4AEA8-F1C0-00F2-7C22-F11BEEF30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A1231-2F02-CE3F-906C-1659FF45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5591-E1F4-D134-3ED2-3F462C8D6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6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5294B-B8B9-A871-3A00-C77EB3E24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EB7C-1549-DE03-65EC-2EE368604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E7176-85A7-0D24-8184-F699E633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4BF1D-67D8-2281-686D-AF0061F5C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32D01-6C0E-43FD-E04C-46901E03E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256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DB81-50A0-51D4-BC74-9607C7A9F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CA24D-7451-A31E-C574-E87CFA434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2BB10-28AD-4C19-CB26-142CB8869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870A0-3F7A-B96C-A995-88CE4B3E7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B23E8-12C6-706C-6C92-0725BB343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893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7E459-D084-52AC-6116-2CBBC3622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B8156-4298-8078-2EF4-064DB846E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5B4E-DEBF-8CD9-AB7E-BE088C86B2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85E6E-C076-55BC-ACC7-D885909AE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014C5-C9DA-C2E5-47CD-B44EA324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C1A98-3AA2-6107-98A1-45E45FD1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785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51E6-0460-738A-8A28-6EC056BF6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6E4E7-2BB7-99AA-9127-E92045DF1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06493-52E4-CE01-BE54-ECD611CBD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DD6F15-9C8C-DB7F-B913-BF57AEED7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265FB-C60F-EB4E-1989-9039A934E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5197B4-79EB-69E0-C5C8-AE3C66B3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83F0A4-9169-0219-CD20-74BEC57A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11ECF-C8E6-BC81-FC36-B0789EEC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47F2-D554-3D97-153C-319E5D07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3918F-676A-C15F-9BBE-073F6ADA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CA4C0-116B-3B8D-63F0-02AB46700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E5503C-D9BA-0C50-DA18-282280DBA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53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BC6982-2604-8CDB-98BD-544112049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036E79-B1DB-E888-A5BC-81FC63C4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2AD5A-F837-C7C2-1329-1080C00AC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8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FDC1B-3684-40AC-714B-FC8889F1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5B665-A056-561D-E982-0193F267E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DA867-1F67-4E0A-C8A1-B3F447AC1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A3151-5DE0-BDB6-96E3-E443CA55D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AB6DF-34D8-CC58-BE71-6596F41F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E2ADC-8D68-C9CB-436E-375F997E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0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E22E6-210B-E06D-2AED-8C2B3106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91B08B-1FC6-BB18-3FA0-5EB597838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D7BD5-F088-0216-7878-A8040FF92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F195F-059F-3F93-A048-2C2FF214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B888F6-BE37-F6A5-6779-F0FA8CAB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0FB356-3F52-0F76-C5A0-CFAC5BA2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D2557-DB1E-2548-FCAE-33143F7D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7E6AA-E563-9655-3665-36C7A1000D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32E69-889D-FD49-A4BB-3E7DAEEC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AFA8E-751D-207F-4CE5-85FB48D3E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291E4-7DA5-131F-1694-22C89608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7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B8BCC1-7A54-2E32-7BAF-EF5C3405C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7F8EF-A45E-8D91-8979-64445B67D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60C1E-5545-9EF7-40CC-9291F86D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E4002-9283-1F4C-A40A-752C4DF2EDD0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12ED2-6501-97C8-9F8C-011A87FA8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7E1AC-A1D2-EB0B-201F-28BD2093A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7079B-D8A8-4C4F-BE5B-5250A28F9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9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0E38F-804B-355A-6B24-9808EA4B7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8D870F-3C54-2F21-BA4A-0E2674FEB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95634-60D7-5F36-E36F-4F47C875E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49AF9-2BC5-1E7B-9FE9-AD4CA04AD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DFC67-7A45-0D2C-ECE6-F17FFE36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A5B8B-C691-3548-0D27-FB4D83BAD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DED34-5A15-2839-DD64-C395195BF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917E1-1300-5F65-C3BB-DFB72E8A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EE00B-45FB-54E9-2634-208A68287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D971C-3102-5983-1AB1-4ED26EA5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00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3A449-D0C7-5791-340E-58E359E96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C9534-D3CC-3EA9-86B3-87F10E9FD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E370E-D9D3-A78E-4851-ABA42241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FC65C-869F-CB3D-DE4C-FBE3042F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6BA1E-C67F-6F5D-1196-9C93E56F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316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60486-41BD-D29F-3448-9578AE07A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F5BD9-2BD8-97C3-2577-1C544D42A7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1449D-3B5F-F89D-05FF-2DE193E7B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CBAE4-D338-8E01-BDA6-EB37C5A9A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D388E-D193-944A-5520-4E9DDFEC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1CB16-02AD-0B0D-0804-51B53E69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83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BD92-5E2F-6E93-B4A2-0E0A5690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4640B-3C85-BAF5-17C5-C96EB03CCB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20B3-E53B-E6C8-1061-C1C518F19B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CD208-E460-0DEC-DD33-ED16831DA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CE2FB9-0569-0ABA-FA77-6C955C2D7E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FD9EDD-DA62-FA09-5CDF-8005D5213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1F064-9F1E-8919-D941-0F1059ABE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F124D-657F-DCD5-81A3-5AA337C5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16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D6C26-059F-7F83-662A-C775EEDB5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9A508A-D3AF-3E43-E951-76161492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50C86-1F79-5D62-ED53-2BC184BE8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B9DF-B0BB-73C5-A2DE-1F1234FE6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33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338F67-5AEA-F14A-D386-EA7599BF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E7CA59-BE6B-C7D4-B8C5-91B22CAF3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A4E58-9229-25CD-8651-1FB863E22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5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5A976-B03F-F03D-22D7-27BB890C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FE671-F707-869A-8332-AAC8F4CA8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11610-E1C8-0136-D891-C3C0A8AEC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95989-5D26-662E-6A94-468C11370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D0CE9-468A-0AD4-684D-2376F2D0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85989-3375-7934-7D8A-4F6AF917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865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86D14-FE76-AC70-30D8-4DBF8F5F9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3B7B5F-EA18-9868-DFFD-EAAA6BA81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7EDFF-4E43-5F5B-B675-1F652AC4D5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8E092-71F9-78F6-616C-DC70A072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0DBEF1-8B89-3126-0D28-A01202C2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3E7C3-0D47-B303-8159-B0DEB7C6B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94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81008-1A33-061F-FD1F-6DC6C9734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C5739-D576-528C-C6E9-AD012ADF04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E3E4A-8229-FF55-BE4B-177829658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B395E-1C15-E39E-F001-E3ECF407A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3CC53-EAFF-696B-2A0D-86F501B5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16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53BA54-1BE2-D2AD-25D2-A1A2202A5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B7175-F2AE-6107-5BB0-788502BF5B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BB788-FEB6-2615-B6B9-BC1EECAE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3FE62-3F9E-BAF6-7933-8DDA4918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D5B18-7F83-597D-27C3-4A40F8D18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3725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285855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3606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5EEC2F-5AE0-D0BB-92B8-06A5DFCE9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1772F-F4FC-79FA-79D4-15AE7F900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578BE-F40A-25B8-5064-6E9D64D44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76E4002-9283-1F4C-A40A-752C4DF2EDD0}" type="datetimeFigureOut">
              <a:rPr lang="en-US" smtClean="0"/>
              <a:pPr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41DE4-57AA-A96E-21B4-BDCCE208BD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0332-BBB2-30E2-C6F2-026DDB302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C77079B-D8A8-4C4F-BE5B-5250A28F91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9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E6BB8E-79F5-9293-44C1-733E5E31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D753C-C910-0266-96A0-51DD1BD58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FA11B-AAB3-1B0B-BA50-A1B36CE8A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638E0-472D-D649-AD00-050E9BA3484C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F6049-4EF7-B8D5-409A-96390F1E92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44DA2-0CBF-6678-E7BC-EFEAB9388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0FA99-C6D4-C943-8FA9-F1521C0FF3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80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3.xml"/></Relationships>
</file>

<file path=ppt/slides/_rels/slide62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image" Target="../media/image8.emf"/><Relationship Id="rId16" Type="http://schemas.openxmlformats.org/officeDocument/2006/relationships/tags" Target="../tags/tag16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5" Type="http://schemas.openxmlformats.org/officeDocument/2006/relationships/tags" Target="../tags/tag5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image" Target="../media/image9.svg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oleObject" Target="../embeddings/oleObject1.bin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slideLayout" Target="../slideLayouts/slideLayout13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61" Type="http://schemas.openxmlformats.org/officeDocument/2006/relationships/tags" Target="../tags/tag61.xml"/><Relationship Id="rId82" Type="http://schemas.openxmlformats.org/officeDocument/2006/relationships/notesSlide" Target="../notesSlides/notesSlide5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1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3.sv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6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6.xml"/><Relationship Id="rId9" Type="http://schemas.openxmlformats.org/officeDocument/2006/relationships/image" Target="../media/image14.svg"/><Relationship Id="rId14" Type="http://schemas.openxmlformats.org/officeDocument/2006/relationships/image" Target="../media/image18.sv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7.xml"/><Relationship Id="rId9" Type="http://schemas.openxmlformats.org/officeDocument/2006/relationships/image" Target="../media/image14.svg"/><Relationship Id="rId14" Type="http://schemas.openxmlformats.org/officeDocument/2006/relationships/image" Target="../media/image18.sv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8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8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8.xml"/><Relationship Id="rId9" Type="http://schemas.openxmlformats.org/officeDocument/2006/relationships/image" Target="../media/image14.svg"/><Relationship Id="rId14" Type="http://schemas.openxmlformats.org/officeDocument/2006/relationships/image" Target="../media/image18.sv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9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9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9.xml"/><Relationship Id="rId9" Type="http://schemas.openxmlformats.org/officeDocument/2006/relationships/image" Target="../media/image14.svg"/><Relationship Id="rId14" Type="http://schemas.openxmlformats.org/officeDocument/2006/relationships/image" Target="../media/image18.sv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10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10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0.xml"/><Relationship Id="rId9" Type="http://schemas.openxmlformats.org/officeDocument/2006/relationships/image" Target="../media/image14.svg"/><Relationship Id="rId14" Type="http://schemas.openxmlformats.org/officeDocument/2006/relationships/image" Target="../media/image18.sv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11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8.svg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sv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12.xml"/><Relationship Id="rId11" Type="http://schemas.openxmlformats.org/officeDocument/2006/relationships/image" Target="../media/image15.svg"/><Relationship Id="rId5" Type="http://schemas.openxmlformats.org/officeDocument/2006/relationships/diagramQuickStyle" Target="../diagrams/quickStyle12.xml"/><Relationship Id="rId10" Type="http://schemas.openxmlformats.org/officeDocument/2006/relationships/image" Target="../media/image13.svg"/><Relationship Id="rId4" Type="http://schemas.openxmlformats.org/officeDocument/2006/relationships/diagramLayout" Target="../diagrams/layout12.xml"/><Relationship Id="rId9" Type="http://schemas.openxmlformats.org/officeDocument/2006/relationships/image" Target="../media/image14.svg"/><Relationship Id="rId14" Type="http://schemas.openxmlformats.org/officeDocument/2006/relationships/image" Target="../media/image18.sv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3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4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0F84E-F0FF-85E6-6A8C-57FD40BF4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60" y="766763"/>
            <a:ext cx="5811520" cy="2387600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Fairness On </a:t>
            </a:r>
            <a:b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Commodity Networking </a:t>
            </a:r>
            <a:b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D88BF-0073-1951-4F02-254298021936}"/>
              </a:ext>
            </a:extLst>
          </p:cNvPr>
          <p:cNvSpPr txBox="1"/>
          <p:nvPr/>
        </p:nvSpPr>
        <p:spPr>
          <a:xfrm>
            <a:off x="7691120" y="1830924"/>
            <a:ext cx="45008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 Thesis Defense</a:t>
            </a:r>
            <a:b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Haseeb</a:t>
            </a:r>
            <a:b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(alias: Haseeb Ashfaq)</a:t>
            </a:r>
            <a:endParaRPr lang="en-US" sz="2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5DCD39-C27B-8984-DE5E-CF75C6C593EB}"/>
              </a:ext>
            </a:extLst>
          </p:cNvPr>
          <p:cNvSpPr/>
          <p:nvPr/>
        </p:nvSpPr>
        <p:spPr>
          <a:xfrm>
            <a:off x="7493000" y="1756957"/>
            <a:ext cx="116840" cy="157918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B36658-B17B-D180-7A14-E4A8398E8458}"/>
              </a:ext>
            </a:extLst>
          </p:cNvPr>
          <p:cNvSpPr txBox="1"/>
          <p:nvPr/>
        </p:nvSpPr>
        <p:spPr>
          <a:xfrm>
            <a:off x="772160" y="3911600"/>
            <a:ext cx="454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Advisor: Anirudh Sivaraman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13F56-690F-6EA0-C787-345441CB11CA}"/>
              </a:ext>
            </a:extLst>
          </p:cNvPr>
          <p:cNvSpPr txBox="1"/>
          <p:nvPr/>
        </p:nvSpPr>
        <p:spPr>
          <a:xfrm>
            <a:off x="772160" y="4500880"/>
            <a:ext cx="980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Committee: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Anirudh Sivaraman, Aurojit Panda, Radhika Mittal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Lakshminarayanan Subramanian,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Jinyang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686E8A-4E57-7D85-C33A-84E8BAF7982A}"/>
              </a:ext>
            </a:extLst>
          </p:cNvPr>
          <p:cNvSpPr txBox="1"/>
          <p:nvPr/>
        </p:nvSpPr>
        <p:spPr>
          <a:xfrm>
            <a:off x="7691120" y="3884054"/>
            <a:ext cx="4135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Department</a:t>
            </a:r>
            <a:b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York University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4BB7B2-4B5D-8F7F-5F23-385114A329F5}"/>
              </a:ext>
            </a:extLst>
          </p:cNvPr>
          <p:cNvSpPr/>
          <p:nvPr/>
        </p:nvSpPr>
        <p:spPr>
          <a:xfrm>
            <a:off x="7495540" y="3521858"/>
            <a:ext cx="116840" cy="1579185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16052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D18F4229-C9B6-4487-A584-667F7C25FA64}"/>
              </a:ext>
            </a:extLst>
          </p:cNvPr>
          <p:cNvSpPr txBox="1">
            <a:spLocks/>
          </p:cNvSpPr>
          <p:nvPr/>
        </p:nvSpPr>
        <p:spPr>
          <a:xfrm>
            <a:off x="3190240" y="2006283"/>
            <a:ext cx="581152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Fairness On </a:t>
            </a:r>
            <a:b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Commodity Networking </a:t>
            </a:r>
            <a:b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CD66FE-DC43-757E-6948-05C58364ECFF}"/>
              </a:ext>
            </a:extLst>
          </p:cNvPr>
          <p:cNvSpPr/>
          <p:nvPr/>
        </p:nvSpPr>
        <p:spPr>
          <a:xfrm>
            <a:off x="3017520" y="1570633"/>
            <a:ext cx="45719" cy="154848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1B4587-6474-87E6-7EF6-C8CAFD6C5C41}"/>
              </a:ext>
            </a:extLst>
          </p:cNvPr>
          <p:cNvSpPr/>
          <p:nvPr/>
        </p:nvSpPr>
        <p:spPr>
          <a:xfrm>
            <a:off x="8422640" y="2814698"/>
            <a:ext cx="53340" cy="169634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356B41-3E9C-A4BC-664F-CCA480C0A1C8}"/>
              </a:ext>
            </a:extLst>
          </p:cNvPr>
          <p:cNvSpPr txBox="1"/>
          <p:nvPr/>
        </p:nvSpPr>
        <p:spPr>
          <a:xfrm>
            <a:off x="3190240" y="1652340"/>
            <a:ext cx="3677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Achieve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305DDE-6A86-84D6-428B-A6B48FB37A03}"/>
              </a:ext>
            </a:extLst>
          </p:cNvPr>
          <p:cNvSpPr txBox="1"/>
          <p:nvPr/>
        </p:nvSpPr>
        <p:spPr>
          <a:xfrm>
            <a:off x="5994400" y="3357880"/>
            <a:ext cx="6807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41221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7EF22-9C4F-4708-95F5-AC1003B1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7B9327D-73A0-7490-618E-334A9F9DB0B7}"/>
              </a:ext>
            </a:extLst>
          </p:cNvPr>
          <p:cNvSpPr txBox="1">
            <a:spLocks/>
          </p:cNvSpPr>
          <p:nvPr/>
        </p:nvSpPr>
        <p:spPr>
          <a:xfrm>
            <a:off x="760549" y="-305842"/>
            <a:ext cx="581152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Fairness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8D9987-F4A3-3D6C-FDED-327FC12FE715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27C1E5-E704-6387-68B5-7635850AFD8E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874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AA5B3-712F-6E9A-8E97-5DCC437E4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D549D387-2FAB-8B19-C677-E1367435A065}"/>
              </a:ext>
            </a:extLst>
          </p:cNvPr>
          <p:cNvSpPr txBox="1">
            <a:spLocks/>
          </p:cNvSpPr>
          <p:nvPr/>
        </p:nvSpPr>
        <p:spPr>
          <a:xfrm>
            <a:off x="760549" y="-305842"/>
            <a:ext cx="581152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Fairness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057AAD-A7DE-0803-D929-98D54BAD6D27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4F7254-0CD1-F421-6C43-A847C1E8C362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755810-7970-2604-2BA0-463C072C41F0}"/>
              </a:ext>
            </a:extLst>
          </p:cNvPr>
          <p:cNvSpPr/>
          <p:nvPr/>
        </p:nvSpPr>
        <p:spPr>
          <a:xfrm>
            <a:off x="6183088" y="1737555"/>
            <a:ext cx="901337" cy="88827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796716-0AE6-68E2-8E60-4E43236E5939}"/>
              </a:ext>
            </a:extLst>
          </p:cNvPr>
          <p:cNvSpPr txBox="1"/>
          <p:nvPr/>
        </p:nvSpPr>
        <p:spPr>
          <a:xfrm>
            <a:off x="5844534" y="1201782"/>
            <a:ext cx="11897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707975-C4BE-D24A-3CC2-BA67BA13EECE}"/>
              </a:ext>
            </a:extLst>
          </p:cNvPr>
          <p:cNvSpPr/>
          <p:nvPr/>
        </p:nvSpPr>
        <p:spPr>
          <a:xfrm>
            <a:off x="4236720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1FF857-36DC-8591-7049-277522B60D84}"/>
              </a:ext>
            </a:extLst>
          </p:cNvPr>
          <p:cNvSpPr txBox="1"/>
          <p:nvPr/>
        </p:nvSpPr>
        <p:spPr>
          <a:xfrm>
            <a:off x="4007479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C71D5C-193F-3D78-BAF2-25F30A656584}"/>
              </a:ext>
            </a:extLst>
          </p:cNvPr>
          <p:cNvSpPr/>
          <p:nvPr/>
        </p:nvSpPr>
        <p:spPr>
          <a:xfrm>
            <a:off x="5645331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C26A6F-236C-06F2-6937-9D660F60EE5A}"/>
              </a:ext>
            </a:extLst>
          </p:cNvPr>
          <p:cNvSpPr/>
          <p:nvPr/>
        </p:nvSpPr>
        <p:spPr>
          <a:xfrm>
            <a:off x="7990540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070B3DE-C544-43D5-DFE3-D8A2FA526217}"/>
              </a:ext>
            </a:extLst>
          </p:cNvPr>
          <p:cNvCxnSpPr/>
          <p:nvPr/>
        </p:nvCxnSpPr>
        <p:spPr>
          <a:xfrm>
            <a:off x="6772550" y="4820194"/>
            <a:ext cx="921473" cy="0"/>
          </a:xfrm>
          <a:prstGeom prst="line">
            <a:avLst/>
          </a:prstGeom>
          <a:ln w="73025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54E6A77-61EA-8C76-C1EE-AF3D94B56FC8}"/>
              </a:ext>
            </a:extLst>
          </p:cNvPr>
          <p:cNvSpPr txBox="1"/>
          <p:nvPr/>
        </p:nvSpPr>
        <p:spPr>
          <a:xfrm>
            <a:off x="5620421" y="5274843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0FA2BA-178F-04BA-4587-5FCB3BAADE52}"/>
              </a:ext>
            </a:extLst>
          </p:cNvPr>
          <p:cNvSpPr txBox="1"/>
          <p:nvPr/>
        </p:nvSpPr>
        <p:spPr>
          <a:xfrm>
            <a:off x="7674812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57F088-C59F-A5E4-16C6-C407A20D19EB}"/>
              </a:ext>
            </a:extLst>
          </p:cNvPr>
          <p:cNvCxnSpPr>
            <a:cxnSpLocks/>
          </p:cNvCxnSpPr>
          <p:nvPr/>
        </p:nvCxnSpPr>
        <p:spPr>
          <a:xfrm flipH="1">
            <a:off x="4898571" y="2625829"/>
            <a:ext cx="164809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365D5B6-F420-9EE7-C38D-BCA65796EDC3}"/>
              </a:ext>
            </a:extLst>
          </p:cNvPr>
          <p:cNvSpPr txBox="1"/>
          <p:nvPr/>
        </p:nvSpPr>
        <p:spPr>
          <a:xfrm>
            <a:off x="3816350" y="2924970"/>
            <a:ext cx="20281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x</a:t>
            </a:r>
          </a:p>
        </p:txBody>
      </p:sp>
    </p:spTree>
    <p:extLst>
      <p:ext uri="{BB962C8B-B14F-4D97-AF65-F5344CB8AC3E}">
        <p14:creationId xmlns:p14="http://schemas.microsoft.com/office/powerpoint/2010/main" val="3495473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1755E-C173-8AC6-CCB7-88CA41F8B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0A204BAD-2AE3-2BEB-4251-CED19E078723}"/>
              </a:ext>
            </a:extLst>
          </p:cNvPr>
          <p:cNvSpPr txBox="1">
            <a:spLocks/>
          </p:cNvSpPr>
          <p:nvPr/>
        </p:nvSpPr>
        <p:spPr>
          <a:xfrm>
            <a:off x="760549" y="-305842"/>
            <a:ext cx="581152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Fairness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EAA05D-721A-B81E-D08A-B8C7A54AB48D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2DB8AC-0D90-0E62-F236-97523C8E511B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BA6EE3-80B4-7C7C-1A75-FDCAC047CF81}"/>
              </a:ext>
            </a:extLst>
          </p:cNvPr>
          <p:cNvSpPr/>
          <p:nvPr/>
        </p:nvSpPr>
        <p:spPr>
          <a:xfrm>
            <a:off x="6183088" y="1737555"/>
            <a:ext cx="901337" cy="88827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3B216C-8C98-A33D-0B07-A8F00229337B}"/>
              </a:ext>
            </a:extLst>
          </p:cNvPr>
          <p:cNvSpPr txBox="1"/>
          <p:nvPr/>
        </p:nvSpPr>
        <p:spPr>
          <a:xfrm>
            <a:off x="5844534" y="1201782"/>
            <a:ext cx="11897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A15F72-1E09-B5EF-D994-3884138E4974}"/>
              </a:ext>
            </a:extLst>
          </p:cNvPr>
          <p:cNvSpPr/>
          <p:nvPr/>
        </p:nvSpPr>
        <p:spPr>
          <a:xfrm>
            <a:off x="4236720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76A8F01-4F4E-FD58-407B-486E14DB92D5}"/>
              </a:ext>
            </a:extLst>
          </p:cNvPr>
          <p:cNvSpPr/>
          <p:nvPr/>
        </p:nvSpPr>
        <p:spPr>
          <a:xfrm>
            <a:off x="5645331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D6B3EC0-216F-51C5-48E9-5B7D8EF9D662}"/>
              </a:ext>
            </a:extLst>
          </p:cNvPr>
          <p:cNvSpPr/>
          <p:nvPr/>
        </p:nvSpPr>
        <p:spPr>
          <a:xfrm>
            <a:off x="7990540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37B989-4F63-9656-1096-6E4DC99977A6}"/>
              </a:ext>
            </a:extLst>
          </p:cNvPr>
          <p:cNvCxnSpPr/>
          <p:nvPr/>
        </p:nvCxnSpPr>
        <p:spPr>
          <a:xfrm>
            <a:off x="6772550" y="4820194"/>
            <a:ext cx="921473" cy="0"/>
          </a:xfrm>
          <a:prstGeom prst="line">
            <a:avLst/>
          </a:prstGeom>
          <a:ln w="73025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46326F-B42F-09AC-29F7-05609C09F5DC}"/>
              </a:ext>
            </a:extLst>
          </p:cNvPr>
          <p:cNvCxnSpPr>
            <a:cxnSpLocks/>
          </p:cNvCxnSpPr>
          <p:nvPr/>
        </p:nvCxnSpPr>
        <p:spPr>
          <a:xfrm flipH="1">
            <a:off x="4898571" y="2625829"/>
            <a:ext cx="164809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0017D1-AF53-F59D-E0BF-82AD02E5705A}"/>
              </a:ext>
            </a:extLst>
          </p:cNvPr>
          <p:cNvSpPr txBox="1"/>
          <p:nvPr/>
        </p:nvSpPr>
        <p:spPr>
          <a:xfrm>
            <a:off x="3816350" y="2924970"/>
            <a:ext cx="20281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x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82A26D-9AD0-F761-DD5F-1B6F1A0FB528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 flipH="1">
            <a:off x="6096000" y="2625829"/>
            <a:ext cx="53775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49E8D3C-F351-9100-FF50-FB750F36D49B}"/>
              </a:ext>
            </a:extLst>
          </p:cNvPr>
          <p:cNvCxnSpPr>
            <a:cxnSpLocks/>
            <a:stCxn id="2" idx="4"/>
            <a:endCxn id="10" idx="0"/>
          </p:cNvCxnSpPr>
          <p:nvPr/>
        </p:nvCxnSpPr>
        <p:spPr>
          <a:xfrm>
            <a:off x="6633757" y="2625829"/>
            <a:ext cx="1807452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DD44FF-CE97-2CB1-9C9D-896046234F7B}"/>
              </a:ext>
            </a:extLst>
          </p:cNvPr>
          <p:cNvSpPr txBox="1"/>
          <p:nvPr/>
        </p:nvSpPr>
        <p:spPr>
          <a:xfrm>
            <a:off x="5962244" y="3351539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108A5D-E1CA-683A-2BFF-9C7FB884DFA4}"/>
              </a:ext>
            </a:extLst>
          </p:cNvPr>
          <p:cNvSpPr txBox="1"/>
          <p:nvPr/>
        </p:nvSpPr>
        <p:spPr>
          <a:xfrm>
            <a:off x="7231651" y="3351539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91C58C-24F7-1099-CC70-0D8346E614DA}"/>
              </a:ext>
            </a:extLst>
          </p:cNvPr>
          <p:cNvSpPr txBox="1"/>
          <p:nvPr/>
        </p:nvSpPr>
        <p:spPr>
          <a:xfrm>
            <a:off x="4007479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E4AA79-253F-0A70-F589-4CB54928CDB3}"/>
              </a:ext>
            </a:extLst>
          </p:cNvPr>
          <p:cNvSpPr txBox="1"/>
          <p:nvPr/>
        </p:nvSpPr>
        <p:spPr>
          <a:xfrm>
            <a:off x="5620421" y="5274843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9094E4-F048-C5EE-41E2-6258F9F01387}"/>
              </a:ext>
            </a:extLst>
          </p:cNvPr>
          <p:cNvSpPr txBox="1"/>
          <p:nvPr/>
        </p:nvSpPr>
        <p:spPr>
          <a:xfrm>
            <a:off x="7674812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086061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61B84-C3D2-0512-F238-F96AAFC68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9A92299-5C6B-2398-C237-A0BF53310FEE}"/>
              </a:ext>
            </a:extLst>
          </p:cNvPr>
          <p:cNvSpPr txBox="1">
            <a:spLocks/>
          </p:cNvSpPr>
          <p:nvPr/>
        </p:nvSpPr>
        <p:spPr>
          <a:xfrm>
            <a:off x="760549" y="-305842"/>
            <a:ext cx="581152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Fairness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B9B97A-CDEE-A98E-3709-B0D4FE4B63B4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A324CB-1C92-04A0-9C3E-668334A78F8F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2FE237-FC45-F917-9B03-7B96BE775EF7}"/>
              </a:ext>
            </a:extLst>
          </p:cNvPr>
          <p:cNvSpPr/>
          <p:nvPr/>
        </p:nvSpPr>
        <p:spPr>
          <a:xfrm>
            <a:off x="8497572" y="1737555"/>
            <a:ext cx="901337" cy="88827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31760F-3F11-E61A-220F-2D9D5F24420C}"/>
              </a:ext>
            </a:extLst>
          </p:cNvPr>
          <p:cNvSpPr txBox="1"/>
          <p:nvPr/>
        </p:nvSpPr>
        <p:spPr>
          <a:xfrm>
            <a:off x="8159018" y="1201782"/>
            <a:ext cx="11897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8A4293-5A06-EB17-6909-2373990365BD}"/>
              </a:ext>
            </a:extLst>
          </p:cNvPr>
          <p:cNvSpPr/>
          <p:nvPr/>
        </p:nvSpPr>
        <p:spPr>
          <a:xfrm>
            <a:off x="6551204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7B0007-8C67-8F7C-D173-D267BE3BFEEE}"/>
              </a:ext>
            </a:extLst>
          </p:cNvPr>
          <p:cNvSpPr/>
          <p:nvPr/>
        </p:nvSpPr>
        <p:spPr>
          <a:xfrm>
            <a:off x="7959815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E5BAF8-3640-C46F-75E6-136B6ADA553B}"/>
              </a:ext>
            </a:extLst>
          </p:cNvPr>
          <p:cNvSpPr/>
          <p:nvPr/>
        </p:nvSpPr>
        <p:spPr>
          <a:xfrm>
            <a:off x="10305024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DF2E18-22EB-5F6C-8F04-D8757765A5A5}"/>
              </a:ext>
            </a:extLst>
          </p:cNvPr>
          <p:cNvCxnSpPr/>
          <p:nvPr/>
        </p:nvCxnSpPr>
        <p:spPr>
          <a:xfrm>
            <a:off x="9087034" y="4820194"/>
            <a:ext cx="921473" cy="0"/>
          </a:xfrm>
          <a:prstGeom prst="line">
            <a:avLst/>
          </a:prstGeom>
          <a:ln w="73025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8213D92-E999-BBC4-4870-BE36D2EDF770}"/>
              </a:ext>
            </a:extLst>
          </p:cNvPr>
          <p:cNvCxnSpPr>
            <a:cxnSpLocks/>
          </p:cNvCxnSpPr>
          <p:nvPr/>
        </p:nvCxnSpPr>
        <p:spPr>
          <a:xfrm flipH="1">
            <a:off x="7213055" y="2625829"/>
            <a:ext cx="164809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4CFB281-93FC-0337-C42C-E88DE9BB1BA9}"/>
              </a:ext>
            </a:extLst>
          </p:cNvPr>
          <p:cNvSpPr txBox="1"/>
          <p:nvPr/>
        </p:nvSpPr>
        <p:spPr>
          <a:xfrm>
            <a:off x="6130834" y="2924970"/>
            <a:ext cx="20281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x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34301D-D908-2577-872B-C83EF70465A9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 flipH="1">
            <a:off x="8410484" y="2625829"/>
            <a:ext cx="53775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A45D0F6-BFD4-413A-D431-C887B69E4E7A}"/>
              </a:ext>
            </a:extLst>
          </p:cNvPr>
          <p:cNvCxnSpPr>
            <a:cxnSpLocks/>
            <a:stCxn id="2" idx="4"/>
            <a:endCxn id="10" idx="0"/>
          </p:cNvCxnSpPr>
          <p:nvPr/>
        </p:nvCxnSpPr>
        <p:spPr>
          <a:xfrm>
            <a:off x="8948241" y="2625829"/>
            <a:ext cx="1807452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D328095-C878-8ED9-2CE4-292AD231B837}"/>
              </a:ext>
            </a:extLst>
          </p:cNvPr>
          <p:cNvSpPr txBox="1"/>
          <p:nvPr/>
        </p:nvSpPr>
        <p:spPr>
          <a:xfrm>
            <a:off x="8276728" y="3351539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BDBEB0-F1ED-B7E0-F43B-CFF2B3EFFB99}"/>
              </a:ext>
            </a:extLst>
          </p:cNvPr>
          <p:cNvSpPr txBox="1"/>
          <p:nvPr/>
        </p:nvSpPr>
        <p:spPr>
          <a:xfrm>
            <a:off x="9546135" y="3351539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28D4E7-7A82-9381-29DD-B2E25638C142}"/>
              </a:ext>
            </a:extLst>
          </p:cNvPr>
          <p:cNvSpPr txBox="1"/>
          <p:nvPr/>
        </p:nvSpPr>
        <p:spPr>
          <a:xfrm>
            <a:off x="6321963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A5D318-D663-0502-66E3-6CB49CD6075E}"/>
              </a:ext>
            </a:extLst>
          </p:cNvPr>
          <p:cNvSpPr txBox="1"/>
          <p:nvPr/>
        </p:nvSpPr>
        <p:spPr>
          <a:xfrm>
            <a:off x="7934905" y="5274843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164C9E-2226-D901-5F8F-0A41F92D7613}"/>
              </a:ext>
            </a:extLst>
          </p:cNvPr>
          <p:cNvSpPr txBox="1"/>
          <p:nvPr/>
        </p:nvSpPr>
        <p:spPr>
          <a:xfrm>
            <a:off x="9989296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433049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E90AC-5F90-3894-F518-C43A70CDD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67727AF2-4F5C-A202-DE9B-C416D8F490C1}"/>
              </a:ext>
            </a:extLst>
          </p:cNvPr>
          <p:cNvSpPr txBox="1">
            <a:spLocks/>
          </p:cNvSpPr>
          <p:nvPr/>
        </p:nvSpPr>
        <p:spPr>
          <a:xfrm>
            <a:off x="760549" y="-305842"/>
            <a:ext cx="581152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Fairness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F89CE2-E7C5-4B87-54D7-7EA7735D1D63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0C3388-5524-C488-48F2-B17650679A49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C447D92-04E5-ABD6-30AB-7B96AA9286B0}"/>
              </a:ext>
            </a:extLst>
          </p:cNvPr>
          <p:cNvSpPr/>
          <p:nvPr/>
        </p:nvSpPr>
        <p:spPr>
          <a:xfrm>
            <a:off x="8497572" y="1737555"/>
            <a:ext cx="901337" cy="88827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B8993-2AA7-14EF-D794-B3F1683049A1}"/>
              </a:ext>
            </a:extLst>
          </p:cNvPr>
          <p:cNvSpPr txBox="1"/>
          <p:nvPr/>
        </p:nvSpPr>
        <p:spPr>
          <a:xfrm>
            <a:off x="8159018" y="1201782"/>
            <a:ext cx="11897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F38C70-114C-BBD5-C5E0-5B4B24D3A083}"/>
              </a:ext>
            </a:extLst>
          </p:cNvPr>
          <p:cNvSpPr/>
          <p:nvPr/>
        </p:nvSpPr>
        <p:spPr>
          <a:xfrm>
            <a:off x="6551204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08D0C6-204D-B5EF-53A0-6E3AF05A649E}"/>
              </a:ext>
            </a:extLst>
          </p:cNvPr>
          <p:cNvSpPr/>
          <p:nvPr/>
        </p:nvSpPr>
        <p:spPr>
          <a:xfrm>
            <a:off x="7959815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492C4A-8D93-3B31-0806-2032050D884A}"/>
              </a:ext>
            </a:extLst>
          </p:cNvPr>
          <p:cNvSpPr/>
          <p:nvPr/>
        </p:nvSpPr>
        <p:spPr>
          <a:xfrm>
            <a:off x="10305024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E826D9-4C82-0FD8-BC95-3B5269866D49}"/>
              </a:ext>
            </a:extLst>
          </p:cNvPr>
          <p:cNvCxnSpPr/>
          <p:nvPr/>
        </p:nvCxnSpPr>
        <p:spPr>
          <a:xfrm>
            <a:off x="9087034" y="4820194"/>
            <a:ext cx="921473" cy="0"/>
          </a:xfrm>
          <a:prstGeom prst="line">
            <a:avLst/>
          </a:prstGeom>
          <a:ln w="73025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712ABB-41CC-604E-41E0-3B7B839E971D}"/>
              </a:ext>
            </a:extLst>
          </p:cNvPr>
          <p:cNvCxnSpPr>
            <a:cxnSpLocks/>
          </p:cNvCxnSpPr>
          <p:nvPr/>
        </p:nvCxnSpPr>
        <p:spPr>
          <a:xfrm flipH="1">
            <a:off x="7213055" y="2625829"/>
            <a:ext cx="164809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5C86ED-DCFD-9B90-3297-6BE9FC63E922}"/>
              </a:ext>
            </a:extLst>
          </p:cNvPr>
          <p:cNvSpPr txBox="1"/>
          <p:nvPr/>
        </p:nvSpPr>
        <p:spPr>
          <a:xfrm>
            <a:off x="6130834" y="2924970"/>
            <a:ext cx="20281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x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F9B1823-2EC1-1508-3152-71575FB19E43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 flipH="1">
            <a:off x="8410484" y="2625829"/>
            <a:ext cx="53775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25E116-50E3-046C-317D-138A1C399C9B}"/>
              </a:ext>
            </a:extLst>
          </p:cNvPr>
          <p:cNvCxnSpPr>
            <a:cxnSpLocks/>
            <a:stCxn id="2" idx="4"/>
            <a:endCxn id="10" idx="0"/>
          </p:cNvCxnSpPr>
          <p:nvPr/>
        </p:nvCxnSpPr>
        <p:spPr>
          <a:xfrm>
            <a:off x="8948241" y="2625829"/>
            <a:ext cx="1807452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F14C3CB-9347-F813-B9B2-32B6A9A477B1}"/>
              </a:ext>
            </a:extLst>
          </p:cNvPr>
          <p:cNvSpPr txBox="1"/>
          <p:nvPr/>
        </p:nvSpPr>
        <p:spPr>
          <a:xfrm>
            <a:off x="8276728" y="3351539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E30447-0495-35A7-1FF7-53CB7E824849}"/>
              </a:ext>
            </a:extLst>
          </p:cNvPr>
          <p:cNvSpPr txBox="1"/>
          <p:nvPr/>
        </p:nvSpPr>
        <p:spPr>
          <a:xfrm>
            <a:off x="9546135" y="3351539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D10E4F-278A-F361-E7B6-8B02D12E2AA2}"/>
              </a:ext>
            </a:extLst>
          </p:cNvPr>
          <p:cNvSpPr txBox="1"/>
          <p:nvPr/>
        </p:nvSpPr>
        <p:spPr>
          <a:xfrm>
            <a:off x="6321963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A8396D4-A697-F022-22A8-6F5C4DB2659A}"/>
              </a:ext>
            </a:extLst>
          </p:cNvPr>
          <p:cNvSpPr txBox="1"/>
          <p:nvPr/>
        </p:nvSpPr>
        <p:spPr>
          <a:xfrm>
            <a:off x="7934905" y="5274843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B3F969-99E1-DB2C-D2BF-AE9B19F2AA11}"/>
              </a:ext>
            </a:extLst>
          </p:cNvPr>
          <p:cNvSpPr txBox="1"/>
          <p:nvPr/>
        </p:nvSpPr>
        <p:spPr>
          <a:xfrm>
            <a:off x="9989296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BC61E1-FB7D-3901-DA55-0912562B0D9E}"/>
              </a:ext>
            </a:extLst>
          </p:cNvPr>
          <p:cNvSpPr txBox="1"/>
          <p:nvPr/>
        </p:nvSpPr>
        <p:spPr>
          <a:xfrm>
            <a:off x="760549" y="2659042"/>
            <a:ext cx="50957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for competitive systems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financial exchanges, ad exchanges.</a:t>
            </a:r>
          </a:p>
        </p:txBody>
      </p:sp>
    </p:spTree>
    <p:extLst>
      <p:ext uri="{BB962C8B-B14F-4D97-AF65-F5344CB8AC3E}">
        <p14:creationId xmlns:p14="http://schemas.microsoft.com/office/powerpoint/2010/main" val="4252485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B61D3-F707-60BE-A582-D834BDC0D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EBCB744-E077-AA56-DD2E-5781D3DAD1D2}"/>
              </a:ext>
            </a:extLst>
          </p:cNvPr>
          <p:cNvSpPr txBox="1">
            <a:spLocks/>
          </p:cNvSpPr>
          <p:nvPr/>
        </p:nvSpPr>
        <p:spPr>
          <a:xfrm>
            <a:off x="760549" y="-305842"/>
            <a:ext cx="581152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Latency Fairness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AAC567-73B0-AF7E-8CA6-E22EB49EE7E6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3927F1-53D0-B5A4-674F-2ED2D5D03FEC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4A45410-7D22-70EE-437F-98D1500F8BA0}"/>
              </a:ext>
            </a:extLst>
          </p:cNvPr>
          <p:cNvSpPr/>
          <p:nvPr/>
        </p:nvSpPr>
        <p:spPr>
          <a:xfrm>
            <a:off x="8497572" y="1737555"/>
            <a:ext cx="901337" cy="88827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DC1E3-9137-3E58-5286-C90629581A63}"/>
              </a:ext>
            </a:extLst>
          </p:cNvPr>
          <p:cNvSpPr txBox="1"/>
          <p:nvPr/>
        </p:nvSpPr>
        <p:spPr>
          <a:xfrm>
            <a:off x="8159018" y="1201782"/>
            <a:ext cx="11897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ECC147A-4F95-5F2E-93D5-691C3BE90F2A}"/>
              </a:ext>
            </a:extLst>
          </p:cNvPr>
          <p:cNvSpPr/>
          <p:nvPr/>
        </p:nvSpPr>
        <p:spPr>
          <a:xfrm>
            <a:off x="6551204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BEA846-AE53-8609-C025-4510011CBCB2}"/>
              </a:ext>
            </a:extLst>
          </p:cNvPr>
          <p:cNvSpPr/>
          <p:nvPr/>
        </p:nvSpPr>
        <p:spPr>
          <a:xfrm>
            <a:off x="7959815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F1BE27-2C18-8206-6DAB-42731654ECFD}"/>
              </a:ext>
            </a:extLst>
          </p:cNvPr>
          <p:cNvSpPr/>
          <p:nvPr/>
        </p:nvSpPr>
        <p:spPr>
          <a:xfrm>
            <a:off x="10305024" y="4332106"/>
            <a:ext cx="901337" cy="88827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942988-0894-8864-7954-8771B374B017}"/>
              </a:ext>
            </a:extLst>
          </p:cNvPr>
          <p:cNvCxnSpPr/>
          <p:nvPr/>
        </p:nvCxnSpPr>
        <p:spPr>
          <a:xfrm>
            <a:off x="9087034" y="4820194"/>
            <a:ext cx="921473" cy="0"/>
          </a:xfrm>
          <a:prstGeom prst="line">
            <a:avLst/>
          </a:prstGeom>
          <a:ln w="73025">
            <a:solidFill>
              <a:srgbClr val="7030A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496BBA-646B-4176-C17D-B3EFD77D7D8A}"/>
              </a:ext>
            </a:extLst>
          </p:cNvPr>
          <p:cNvCxnSpPr>
            <a:cxnSpLocks/>
          </p:cNvCxnSpPr>
          <p:nvPr/>
        </p:nvCxnSpPr>
        <p:spPr>
          <a:xfrm flipH="1">
            <a:off x="7213055" y="2625829"/>
            <a:ext cx="164809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2DEA32D-A6B5-7CC2-3BA5-9F5E719139FB}"/>
              </a:ext>
            </a:extLst>
          </p:cNvPr>
          <p:cNvSpPr txBox="1"/>
          <p:nvPr/>
        </p:nvSpPr>
        <p:spPr>
          <a:xfrm>
            <a:off x="6130834" y="2924970"/>
            <a:ext cx="202818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= x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B2342E-40B7-0A82-A93E-A632BF277510}"/>
              </a:ext>
            </a:extLst>
          </p:cNvPr>
          <p:cNvCxnSpPr>
            <a:cxnSpLocks/>
            <a:stCxn id="2" idx="4"/>
            <a:endCxn id="5" idx="0"/>
          </p:cNvCxnSpPr>
          <p:nvPr/>
        </p:nvCxnSpPr>
        <p:spPr>
          <a:xfrm flipH="1">
            <a:off x="8410484" y="2625829"/>
            <a:ext cx="537757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09A8FF-C9D4-DBCD-32DF-4DAD0A8607EE}"/>
              </a:ext>
            </a:extLst>
          </p:cNvPr>
          <p:cNvCxnSpPr>
            <a:cxnSpLocks/>
            <a:stCxn id="2" idx="4"/>
            <a:endCxn id="10" idx="0"/>
          </p:cNvCxnSpPr>
          <p:nvPr/>
        </p:nvCxnSpPr>
        <p:spPr>
          <a:xfrm>
            <a:off x="8948241" y="2625829"/>
            <a:ext cx="1807452" cy="1706277"/>
          </a:xfrm>
          <a:prstGeom prst="line">
            <a:avLst/>
          </a:prstGeom>
          <a:ln w="730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ECDF1BC-9E96-E20F-FE19-44E5F2F3271B}"/>
              </a:ext>
            </a:extLst>
          </p:cNvPr>
          <p:cNvSpPr txBox="1"/>
          <p:nvPr/>
        </p:nvSpPr>
        <p:spPr>
          <a:xfrm>
            <a:off x="8276728" y="3351539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DD467F-AFFD-AFEE-1408-5C56457843C3}"/>
              </a:ext>
            </a:extLst>
          </p:cNvPr>
          <p:cNvSpPr txBox="1"/>
          <p:nvPr/>
        </p:nvSpPr>
        <p:spPr>
          <a:xfrm>
            <a:off x="9546135" y="3351539"/>
            <a:ext cx="3770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C469F5-EDC6-88C3-4CA0-33B5E8271007}"/>
              </a:ext>
            </a:extLst>
          </p:cNvPr>
          <p:cNvSpPr txBox="1"/>
          <p:nvPr/>
        </p:nvSpPr>
        <p:spPr>
          <a:xfrm>
            <a:off x="6321963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A42736-3A77-D627-3E20-DAD995CB3D21}"/>
              </a:ext>
            </a:extLst>
          </p:cNvPr>
          <p:cNvSpPr txBox="1"/>
          <p:nvPr/>
        </p:nvSpPr>
        <p:spPr>
          <a:xfrm>
            <a:off x="7934905" y="5274843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018B42-98D2-E24F-F87D-57F4D8CB6179}"/>
              </a:ext>
            </a:extLst>
          </p:cNvPr>
          <p:cNvSpPr txBox="1"/>
          <p:nvPr/>
        </p:nvSpPr>
        <p:spPr>
          <a:xfrm>
            <a:off x="9989296" y="5238604"/>
            <a:ext cx="15327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65EC44-72EE-0640-21EC-23D33EBE9683}"/>
              </a:ext>
            </a:extLst>
          </p:cNvPr>
          <p:cNvSpPr txBox="1"/>
          <p:nvPr/>
        </p:nvSpPr>
        <p:spPr>
          <a:xfrm>
            <a:off x="760549" y="2659042"/>
            <a:ext cx="50957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for competitive systems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financial exchanges, ad exchanges.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2BDDD35-1ADE-1229-9118-E765CEB0C347}"/>
              </a:ext>
            </a:extLst>
          </p:cNvPr>
          <p:cNvSpPr/>
          <p:nvPr/>
        </p:nvSpPr>
        <p:spPr>
          <a:xfrm>
            <a:off x="2436518" y="2599598"/>
            <a:ext cx="3624649" cy="725710"/>
          </a:xfrm>
          <a:custGeom>
            <a:avLst/>
            <a:gdLst>
              <a:gd name="csX0" fmla="*/ 0 w 3624649"/>
              <a:gd name="csY0" fmla="*/ 362855 h 725710"/>
              <a:gd name="csX1" fmla="*/ 1812325 w 3624649"/>
              <a:gd name="csY1" fmla="*/ 0 h 725710"/>
              <a:gd name="csX2" fmla="*/ 3624650 w 3624649"/>
              <a:gd name="csY2" fmla="*/ 362855 h 725710"/>
              <a:gd name="csX3" fmla="*/ 1812325 w 3624649"/>
              <a:gd name="csY3" fmla="*/ 725710 h 725710"/>
              <a:gd name="csX4" fmla="*/ 0 w 3624649"/>
              <a:gd name="csY4" fmla="*/ 362855 h 7257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624649" h="725710" extrusionOk="0">
                <a:moveTo>
                  <a:pt x="0" y="362855"/>
                </a:moveTo>
                <a:cubicBezTo>
                  <a:pt x="-115163" y="91421"/>
                  <a:pt x="660948" y="56469"/>
                  <a:pt x="1812325" y="0"/>
                </a:cubicBezTo>
                <a:cubicBezTo>
                  <a:pt x="2834112" y="4393"/>
                  <a:pt x="3594571" y="163412"/>
                  <a:pt x="3624650" y="362855"/>
                </a:cubicBezTo>
                <a:cubicBezTo>
                  <a:pt x="3570103" y="616522"/>
                  <a:pt x="2802006" y="787829"/>
                  <a:pt x="1812325" y="725710"/>
                </a:cubicBezTo>
                <a:cubicBezTo>
                  <a:pt x="806512" y="723032"/>
                  <a:pt x="17732" y="571726"/>
                  <a:pt x="0" y="362855"/>
                </a:cubicBezTo>
                <a:close/>
              </a:path>
            </a:pathLst>
          </a:custGeom>
          <a:noFill/>
          <a:ln w="698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B3D87A-E58E-0F06-296E-E9B7F56BCC87}"/>
              </a:ext>
            </a:extLst>
          </p:cNvPr>
          <p:cNvSpPr txBox="1"/>
          <p:nvPr/>
        </p:nvSpPr>
        <p:spPr>
          <a:xfrm>
            <a:off x="3459289" y="3589382"/>
            <a:ext cx="17972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Focus</a:t>
            </a:r>
          </a:p>
        </p:txBody>
      </p:sp>
    </p:spTree>
    <p:extLst>
      <p:ext uri="{BB962C8B-B14F-4D97-AF65-F5344CB8AC3E}">
        <p14:creationId xmlns:p14="http://schemas.microsoft.com/office/powerpoint/2010/main" val="2119589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EDE6F-EC31-8FC4-5776-F5DEC79A2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8C640C-40FE-FCF1-64FB-1C3ECB15BCCE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761770-44DE-0756-A768-2BC3F2BC5A44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96CDD6-6407-1054-019E-BA411163C2AC}"/>
              </a:ext>
            </a:extLst>
          </p:cNvPr>
          <p:cNvSpPr txBox="1"/>
          <p:nvPr/>
        </p:nvSpPr>
        <p:spPr>
          <a:xfrm>
            <a:off x="772906" y="405121"/>
            <a:ext cx="5095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ompetitive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ystems</a:t>
            </a:r>
          </a:p>
        </p:txBody>
      </p:sp>
    </p:spTree>
    <p:extLst>
      <p:ext uri="{BB962C8B-B14F-4D97-AF65-F5344CB8AC3E}">
        <p14:creationId xmlns:p14="http://schemas.microsoft.com/office/powerpoint/2010/main" val="1003105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24308-F2B6-2128-FB02-CA0D02F1E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9D6ED4E-E8E5-E558-2F81-F2CA901C9F91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8AFE51-05C5-F984-E491-37B2F08E48D3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3FA6DE-963A-6EBB-8251-3FAA7F0FD9A0}"/>
              </a:ext>
            </a:extLst>
          </p:cNvPr>
          <p:cNvSpPr txBox="1"/>
          <p:nvPr/>
        </p:nvSpPr>
        <p:spPr>
          <a:xfrm>
            <a:off x="772906" y="405121"/>
            <a:ext cx="5095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ompetitive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4E7E8C-43C3-43C9-4259-0DABD061500C}"/>
              </a:ext>
            </a:extLst>
          </p:cNvPr>
          <p:cNvSpPr txBox="1"/>
          <p:nvPr/>
        </p:nvSpPr>
        <p:spPr>
          <a:xfrm>
            <a:off x="4806479" y="716456"/>
            <a:ext cx="6410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Common Communication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F28FB5-C657-4375-3CB5-BACCCAF99B38}"/>
              </a:ext>
            </a:extLst>
          </p:cNvPr>
          <p:cNvSpPr txBox="1"/>
          <p:nvPr/>
        </p:nvSpPr>
        <p:spPr>
          <a:xfrm>
            <a:off x="6615108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83F9C-D8FE-02EA-2E2A-DD0A1C4B6F11}"/>
              </a:ext>
            </a:extLst>
          </p:cNvPr>
          <p:cNvSpPr txBox="1"/>
          <p:nvPr/>
        </p:nvSpPr>
        <p:spPr>
          <a:xfrm>
            <a:off x="2124432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6890F8-C39D-9F52-4322-BF3055B01862}"/>
              </a:ext>
            </a:extLst>
          </p:cNvPr>
          <p:cNvSpPr/>
          <p:nvPr/>
        </p:nvSpPr>
        <p:spPr>
          <a:xfrm>
            <a:off x="5733022" y="2774092"/>
            <a:ext cx="45719" cy="2492991"/>
          </a:xfrm>
          <a:custGeom>
            <a:avLst/>
            <a:gdLst>
              <a:gd name="csX0" fmla="*/ 0 w 45719"/>
              <a:gd name="csY0" fmla="*/ 0 h 2492991"/>
              <a:gd name="csX1" fmla="*/ 45719 w 45719"/>
              <a:gd name="csY1" fmla="*/ 0 h 2492991"/>
              <a:gd name="csX2" fmla="*/ 45719 w 45719"/>
              <a:gd name="csY2" fmla="*/ 498598 h 2492991"/>
              <a:gd name="csX3" fmla="*/ 45719 w 45719"/>
              <a:gd name="csY3" fmla="*/ 1047056 h 2492991"/>
              <a:gd name="csX4" fmla="*/ 45719 w 45719"/>
              <a:gd name="csY4" fmla="*/ 1545654 h 2492991"/>
              <a:gd name="csX5" fmla="*/ 45719 w 45719"/>
              <a:gd name="csY5" fmla="*/ 1969463 h 2492991"/>
              <a:gd name="csX6" fmla="*/ 45719 w 45719"/>
              <a:gd name="csY6" fmla="*/ 2492991 h 2492991"/>
              <a:gd name="csX7" fmla="*/ 0 w 45719"/>
              <a:gd name="csY7" fmla="*/ 2492991 h 2492991"/>
              <a:gd name="csX8" fmla="*/ 0 w 45719"/>
              <a:gd name="csY8" fmla="*/ 1944533 h 2492991"/>
              <a:gd name="csX9" fmla="*/ 0 w 45719"/>
              <a:gd name="csY9" fmla="*/ 1421005 h 2492991"/>
              <a:gd name="csX10" fmla="*/ 0 w 45719"/>
              <a:gd name="csY10" fmla="*/ 922407 h 2492991"/>
              <a:gd name="csX11" fmla="*/ 0 w 45719"/>
              <a:gd name="csY11" fmla="*/ 0 h 249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5719" h="2492991" fill="none" extrusionOk="0">
                <a:moveTo>
                  <a:pt x="0" y="0"/>
                </a:moveTo>
                <a:cubicBezTo>
                  <a:pt x="15466" y="-3108"/>
                  <a:pt x="29505" y="2787"/>
                  <a:pt x="45719" y="0"/>
                </a:cubicBezTo>
                <a:cubicBezTo>
                  <a:pt x="96714" y="244462"/>
                  <a:pt x="38492" y="292531"/>
                  <a:pt x="45719" y="498598"/>
                </a:cubicBezTo>
                <a:cubicBezTo>
                  <a:pt x="52946" y="704665"/>
                  <a:pt x="41215" y="773940"/>
                  <a:pt x="45719" y="1047056"/>
                </a:cubicBezTo>
                <a:cubicBezTo>
                  <a:pt x="50223" y="1320172"/>
                  <a:pt x="20442" y="1409127"/>
                  <a:pt x="45719" y="1545654"/>
                </a:cubicBezTo>
                <a:cubicBezTo>
                  <a:pt x="70996" y="1682181"/>
                  <a:pt x="37286" y="1837495"/>
                  <a:pt x="45719" y="1969463"/>
                </a:cubicBezTo>
                <a:cubicBezTo>
                  <a:pt x="54152" y="2101431"/>
                  <a:pt x="20701" y="2253374"/>
                  <a:pt x="45719" y="2492991"/>
                </a:cubicBezTo>
                <a:cubicBezTo>
                  <a:pt x="34208" y="2496004"/>
                  <a:pt x="9588" y="2489496"/>
                  <a:pt x="0" y="2492991"/>
                </a:cubicBezTo>
                <a:cubicBezTo>
                  <a:pt x="-9781" y="2257546"/>
                  <a:pt x="17963" y="2141047"/>
                  <a:pt x="0" y="1944533"/>
                </a:cubicBezTo>
                <a:cubicBezTo>
                  <a:pt x="-17963" y="1748019"/>
                  <a:pt x="28336" y="1642462"/>
                  <a:pt x="0" y="1421005"/>
                </a:cubicBezTo>
                <a:cubicBezTo>
                  <a:pt x="-28336" y="1199548"/>
                  <a:pt x="13584" y="1089980"/>
                  <a:pt x="0" y="922407"/>
                </a:cubicBezTo>
                <a:cubicBezTo>
                  <a:pt x="-13584" y="754834"/>
                  <a:pt x="77438" y="239728"/>
                  <a:pt x="0" y="0"/>
                </a:cubicBezTo>
                <a:close/>
              </a:path>
              <a:path w="45719" h="2492991" stroke="0" extrusionOk="0">
                <a:moveTo>
                  <a:pt x="0" y="0"/>
                </a:moveTo>
                <a:cubicBezTo>
                  <a:pt x="18173" y="-1477"/>
                  <a:pt x="31455" y="3772"/>
                  <a:pt x="45719" y="0"/>
                </a:cubicBezTo>
                <a:cubicBezTo>
                  <a:pt x="49078" y="113210"/>
                  <a:pt x="23101" y="288473"/>
                  <a:pt x="45719" y="423808"/>
                </a:cubicBezTo>
                <a:cubicBezTo>
                  <a:pt x="68337" y="559143"/>
                  <a:pt x="-15560" y="770450"/>
                  <a:pt x="45719" y="972266"/>
                </a:cubicBezTo>
                <a:cubicBezTo>
                  <a:pt x="106998" y="1174082"/>
                  <a:pt x="-1609" y="1235521"/>
                  <a:pt x="45719" y="1470865"/>
                </a:cubicBezTo>
                <a:cubicBezTo>
                  <a:pt x="93047" y="1706209"/>
                  <a:pt x="30494" y="1816253"/>
                  <a:pt x="45719" y="1919603"/>
                </a:cubicBezTo>
                <a:cubicBezTo>
                  <a:pt x="60944" y="2022953"/>
                  <a:pt x="28474" y="2341608"/>
                  <a:pt x="45719" y="2492991"/>
                </a:cubicBezTo>
                <a:cubicBezTo>
                  <a:pt x="22941" y="2494258"/>
                  <a:pt x="12902" y="2490132"/>
                  <a:pt x="0" y="2492991"/>
                </a:cubicBezTo>
                <a:cubicBezTo>
                  <a:pt x="-59460" y="2250702"/>
                  <a:pt x="24665" y="2128448"/>
                  <a:pt x="0" y="1944533"/>
                </a:cubicBezTo>
                <a:cubicBezTo>
                  <a:pt x="-24665" y="1760618"/>
                  <a:pt x="21622" y="1582387"/>
                  <a:pt x="0" y="1396075"/>
                </a:cubicBezTo>
                <a:cubicBezTo>
                  <a:pt x="-21622" y="1209763"/>
                  <a:pt x="53927" y="1082433"/>
                  <a:pt x="0" y="922407"/>
                </a:cubicBezTo>
                <a:cubicBezTo>
                  <a:pt x="-53927" y="762381"/>
                  <a:pt x="37230" y="594554"/>
                  <a:pt x="0" y="448738"/>
                </a:cubicBezTo>
                <a:cubicBezTo>
                  <a:pt x="-37230" y="302922"/>
                  <a:pt x="25725" y="182915"/>
                  <a:pt x="0" y="0"/>
                </a:cubicBezTo>
                <a:close/>
              </a:path>
            </a:pathLst>
          </a:custGeom>
          <a:solidFill>
            <a:srgbClr val="7030A0"/>
          </a:solidFill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270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BDB5B-2EB8-99F1-5D27-B7DE542E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D1E2116-853C-CD5A-F31B-40C8B7C615D4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4DFEED-391B-E6C5-4886-EBE11CA64C84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BB2A6-BF16-9B08-08BA-DC9ABBC9C8DB}"/>
              </a:ext>
            </a:extLst>
          </p:cNvPr>
          <p:cNvSpPr txBox="1"/>
          <p:nvPr/>
        </p:nvSpPr>
        <p:spPr>
          <a:xfrm>
            <a:off x="772906" y="405121"/>
            <a:ext cx="5095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ompetitive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E8E50E-70CE-0C67-BEFD-5DB460BA6A62}"/>
              </a:ext>
            </a:extLst>
          </p:cNvPr>
          <p:cNvSpPr txBox="1"/>
          <p:nvPr/>
        </p:nvSpPr>
        <p:spPr>
          <a:xfrm>
            <a:off x="4806479" y="716456"/>
            <a:ext cx="6410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Common Communication Patterns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7ADB50-CBB3-E406-3A47-7D0EA903ED37}"/>
              </a:ext>
            </a:extLst>
          </p:cNvPr>
          <p:cNvSpPr txBox="1"/>
          <p:nvPr/>
        </p:nvSpPr>
        <p:spPr>
          <a:xfrm>
            <a:off x="6615108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411999-1E8A-8CA9-6E02-283B092D3D33}"/>
              </a:ext>
            </a:extLst>
          </p:cNvPr>
          <p:cNvSpPr txBox="1"/>
          <p:nvPr/>
        </p:nvSpPr>
        <p:spPr>
          <a:xfrm>
            <a:off x="6615107" y="3218936"/>
            <a:ext cx="2587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Unicasts 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machines to server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465F3E-4C19-045E-905D-35D7D9029867}"/>
              </a:ext>
            </a:extLst>
          </p:cNvPr>
          <p:cNvSpPr txBox="1"/>
          <p:nvPr/>
        </p:nvSpPr>
        <p:spPr>
          <a:xfrm>
            <a:off x="2124432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4BED7D-4B5E-952B-86A8-299F5F8EA4E3}"/>
              </a:ext>
            </a:extLst>
          </p:cNvPr>
          <p:cNvSpPr txBox="1"/>
          <p:nvPr/>
        </p:nvSpPr>
        <p:spPr>
          <a:xfrm>
            <a:off x="2622846" y="3235757"/>
            <a:ext cx="2249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 from server to machines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99D3DB-B510-22AB-1991-A1915A4878C7}"/>
              </a:ext>
            </a:extLst>
          </p:cNvPr>
          <p:cNvSpPr/>
          <p:nvPr/>
        </p:nvSpPr>
        <p:spPr>
          <a:xfrm>
            <a:off x="5733022" y="2774092"/>
            <a:ext cx="45719" cy="2492991"/>
          </a:xfrm>
          <a:custGeom>
            <a:avLst/>
            <a:gdLst>
              <a:gd name="csX0" fmla="*/ 0 w 45719"/>
              <a:gd name="csY0" fmla="*/ 0 h 2492991"/>
              <a:gd name="csX1" fmla="*/ 45719 w 45719"/>
              <a:gd name="csY1" fmla="*/ 0 h 2492991"/>
              <a:gd name="csX2" fmla="*/ 45719 w 45719"/>
              <a:gd name="csY2" fmla="*/ 498598 h 2492991"/>
              <a:gd name="csX3" fmla="*/ 45719 w 45719"/>
              <a:gd name="csY3" fmla="*/ 1047056 h 2492991"/>
              <a:gd name="csX4" fmla="*/ 45719 w 45719"/>
              <a:gd name="csY4" fmla="*/ 1545654 h 2492991"/>
              <a:gd name="csX5" fmla="*/ 45719 w 45719"/>
              <a:gd name="csY5" fmla="*/ 1969463 h 2492991"/>
              <a:gd name="csX6" fmla="*/ 45719 w 45719"/>
              <a:gd name="csY6" fmla="*/ 2492991 h 2492991"/>
              <a:gd name="csX7" fmla="*/ 0 w 45719"/>
              <a:gd name="csY7" fmla="*/ 2492991 h 2492991"/>
              <a:gd name="csX8" fmla="*/ 0 w 45719"/>
              <a:gd name="csY8" fmla="*/ 1944533 h 2492991"/>
              <a:gd name="csX9" fmla="*/ 0 w 45719"/>
              <a:gd name="csY9" fmla="*/ 1421005 h 2492991"/>
              <a:gd name="csX10" fmla="*/ 0 w 45719"/>
              <a:gd name="csY10" fmla="*/ 922407 h 2492991"/>
              <a:gd name="csX11" fmla="*/ 0 w 45719"/>
              <a:gd name="csY11" fmla="*/ 0 h 249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5719" h="2492991" fill="none" extrusionOk="0">
                <a:moveTo>
                  <a:pt x="0" y="0"/>
                </a:moveTo>
                <a:cubicBezTo>
                  <a:pt x="15466" y="-3108"/>
                  <a:pt x="29505" y="2787"/>
                  <a:pt x="45719" y="0"/>
                </a:cubicBezTo>
                <a:cubicBezTo>
                  <a:pt x="96714" y="244462"/>
                  <a:pt x="38492" y="292531"/>
                  <a:pt x="45719" y="498598"/>
                </a:cubicBezTo>
                <a:cubicBezTo>
                  <a:pt x="52946" y="704665"/>
                  <a:pt x="41215" y="773940"/>
                  <a:pt x="45719" y="1047056"/>
                </a:cubicBezTo>
                <a:cubicBezTo>
                  <a:pt x="50223" y="1320172"/>
                  <a:pt x="20442" y="1409127"/>
                  <a:pt x="45719" y="1545654"/>
                </a:cubicBezTo>
                <a:cubicBezTo>
                  <a:pt x="70996" y="1682181"/>
                  <a:pt x="37286" y="1837495"/>
                  <a:pt x="45719" y="1969463"/>
                </a:cubicBezTo>
                <a:cubicBezTo>
                  <a:pt x="54152" y="2101431"/>
                  <a:pt x="20701" y="2253374"/>
                  <a:pt x="45719" y="2492991"/>
                </a:cubicBezTo>
                <a:cubicBezTo>
                  <a:pt x="34208" y="2496004"/>
                  <a:pt x="9588" y="2489496"/>
                  <a:pt x="0" y="2492991"/>
                </a:cubicBezTo>
                <a:cubicBezTo>
                  <a:pt x="-9781" y="2257546"/>
                  <a:pt x="17963" y="2141047"/>
                  <a:pt x="0" y="1944533"/>
                </a:cubicBezTo>
                <a:cubicBezTo>
                  <a:pt x="-17963" y="1748019"/>
                  <a:pt x="28336" y="1642462"/>
                  <a:pt x="0" y="1421005"/>
                </a:cubicBezTo>
                <a:cubicBezTo>
                  <a:pt x="-28336" y="1199548"/>
                  <a:pt x="13584" y="1089980"/>
                  <a:pt x="0" y="922407"/>
                </a:cubicBezTo>
                <a:cubicBezTo>
                  <a:pt x="-13584" y="754834"/>
                  <a:pt x="77438" y="239728"/>
                  <a:pt x="0" y="0"/>
                </a:cubicBezTo>
                <a:close/>
              </a:path>
              <a:path w="45719" h="2492991" stroke="0" extrusionOk="0">
                <a:moveTo>
                  <a:pt x="0" y="0"/>
                </a:moveTo>
                <a:cubicBezTo>
                  <a:pt x="18173" y="-1477"/>
                  <a:pt x="31455" y="3772"/>
                  <a:pt x="45719" y="0"/>
                </a:cubicBezTo>
                <a:cubicBezTo>
                  <a:pt x="49078" y="113210"/>
                  <a:pt x="23101" y="288473"/>
                  <a:pt x="45719" y="423808"/>
                </a:cubicBezTo>
                <a:cubicBezTo>
                  <a:pt x="68337" y="559143"/>
                  <a:pt x="-15560" y="770450"/>
                  <a:pt x="45719" y="972266"/>
                </a:cubicBezTo>
                <a:cubicBezTo>
                  <a:pt x="106998" y="1174082"/>
                  <a:pt x="-1609" y="1235521"/>
                  <a:pt x="45719" y="1470865"/>
                </a:cubicBezTo>
                <a:cubicBezTo>
                  <a:pt x="93047" y="1706209"/>
                  <a:pt x="30494" y="1816253"/>
                  <a:pt x="45719" y="1919603"/>
                </a:cubicBezTo>
                <a:cubicBezTo>
                  <a:pt x="60944" y="2022953"/>
                  <a:pt x="28474" y="2341608"/>
                  <a:pt x="45719" y="2492991"/>
                </a:cubicBezTo>
                <a:cubicBezTo>
                  <a:pt x="22941" y="2494258"/>
                  <a:pt x="12902" y="2490132"/>
                  <a:pt x="0" y="2492991"/>
                </a:cubicBezTo>
                <a:cubicBezTo>
                  <a:pt x="-59460" y="2250702"/>
                  <a:pt x="24665" y="2128448"/>
                  <a:pt x="0" y="1944533"/>
                </a:cubicBezTo>
                <a:cubicBezTo>
                  <a:pt x="-24665" y="1760618"/>
                  <a:pt x="21622" y="1582387"/>
                  <a:pt x="0" y="1396075"/>
                </a:cubicBezTo>
                <a:cubicBezTo>
                  <a:pt x="-21622" y="1209763"/>
                  <a:pt x="53927" y="1082433"/>
                  <a:pt x="0" y="922407"/>
                </a:cubicBezTo>
                <a:cubicBezTo>
                  <a:pt x="-53927" y="762381"/>
                  <a:pt x="37230" y="594554"/>
                  <a:pt x="0" y="448738"/>
                </a:cubicBezTo>
                <a:cubicBezTo>
                  <a:pt x="-37230" y="302922"/>
                  <a:pt x="25725" y="182915"/>
                  <a:pt x="0" y="0"/>
                </a:cubicBezTo>
                <a:close/>
              </a:path>
            </a:pathLst>
          </a:custGeom>
          <a:solidFill>
            <a:srgbClr val="7030A0"/>
          </a:solidFill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749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B1B1B-7C7F-0D23-FC0A-0191D992B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3D9B647-F77F-7408-1713-249CDF5F30EE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A96CA1-550D-FF52-7A6C-87D4B134651B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A8BC6A-D1FB-5D5E-F335-368C9AC742C1}"/>
              </a:ext>
            </a:extLst>
          </p:cNvPr>
          <p:cNvSpPr txBox="1"/>
          <p:nvPr/>
        </p:nvSpPr>
        <p:spPr>
          <a:xfrm>
            <a:off x="772906" y="405121"/>
            <a:ext cx="5095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ompetitive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BDB26-6BE4-FDD1-0A01-880F943359F5}"/>
              </a:ext>
            </a:extLst>
          </p:cNvPr>
          <p:cNvSpPr txBox="1"/>
          <p:nvPr/>
        </p:nvSpPr>
        <p:spPr>
          <a:xfrm>
            <a:off x="4806479" y="716456"/>
            <a:ext cx="6410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Common Communication Patterns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5AE08A-01D4-5FE3-CB15-2C26BB4F3C9B}"/>
              </a:ext>
            </a:extLst>
          </p:cNvPr>
          <p:cNvSpPr txBox="1"/>
          <p:nvPr/>
        </p:nvSpPr>
        <p:spPr>
          <a:xfrm>
            <a:off x="6615108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3D0DA5-E2E5-E515-AA17-165F9624A7FA}"/>
              </a:ext>
            </a:extLst>
          </p:cNvPr>
          <p:cNvSpPr txBox="1"/>
          <p:nvPr/>
        </p:nvSpPr>
        <p:spPr>
          <a:xfrm>
            <a:off x="6615107" y="3218936"/>
            <a:ext cx="2587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Unicasts 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machines to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F37804-12AF-C717-C3B7-E1C04B1DBC2B}"/>
              </a:ext>
            </a:extLst>
          </p:cNvPr>
          <p:cNvSpPr txBox="1"/>
          <p:nvPr/>
        </p:nvSpPr>
        <p:spPr>
          <a:xfrm>
            <a:off x="558943" y="4755944"/>
            <a:ext cx="4247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market data multicast in financial exchanges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F1DE6-DDD3-1E07-36B2-A6227D23FF9E}"/>
              </a:ext>
            </a:extLst>
          </p:cNvPr>
          <p:cNvSpPr txBox="1"/>
          <p:nvPr/>
        </p:nvSpPr>
        <p:spPr>
          <a:xfrm>
            <a:off x="6567336" y="4755944"/>
            <a:ext cx="5065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traders submitting orders to a financial exchange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F57110-9383-C7A7-E2DF-8D0B3E533F7F}"/>
              </a:ext>
            </a:extLst>
          </p:cNvPr>
          <p:cNvSpPr txBox="1"/>
          <p:nvPr/>
        </p:nvSpPr>
        <p:spPr>
          <a:xfrm>
            <a:off x="2124432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675D14-DB97-4FA8-755C-10F1F7DC3754}"/>
              </a:ext>
            </a:extLst>
          </p:cNvPr>
          <p:cNvSpPr txBox="1"/>
          <p:nvPr/>
        </p:nvSpPr>
        <p:spPr>
          <a:xfrm>
            <a:off x="2622846" y="3235757"/>
            <a:ext cx="2249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 from server to machines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93914B-4D43-3516-76BA-6B9D454F0297}"/>
              </a:ext>
            </a:extLst>
          </p:cNvPr>
          <p:cNvSpPr/>
          <p:nvPr/>
        </p:nvSpPr>
        <p:spPr>
          <a:xfrm>
            <a:off x="5733022" y="2774092"/>
            <a:ext cx="45719" cy="2492991"/>
          </a:xfrm>
          <a:custGeom>
            <a:avLst/>
            <a:gdLst>
              <a:gd name="csX0" fmla="*/ 0 w 45719"/>
              <a:gd name="csY0" fmla="*/ 0 h 2492991"/>
              <a:gd name="csX1" fmla="*/ 45719 w 45719"/>
              <a:gd name="csY1" fmla="*/ 0 h 2492991"/>
              <a:gd name="csX2" fmla="*/ 45719 w 45719"/>
              <a:gd name="csY2" fmla="*/ 498598 h 2492991"/>
              <a:gd name="csX3" fmla="*/ 45719 w 45719"/>
              <a:gd name="csY3" fmla="*/ 1047056 h 2492991"/>
              <a:gd name="csX4" fmla="*/ 45719 w 45719"/>
              <a:gd name="csY4" fmla="*/ 1545654 h 2492991"/>
              <a:gd name="csX5" fmla="*/ 45719 w 45719"/>
              <a:gd name="csY5" fmla="*/ 1969463 h 2492991"/>
              <a:gd name="csX6" fmla="*/ 45719 w 45719"/>
              <a:gd name="csY6" fmla="*/ 2492991 h 2492991"/>
              <a:gd name="csX7" fmla="*/ 0 w 45719"/>
              <a:gd name="csY7" fmla="*/ 2492991 h 2492991"/>
              <a:gd name="csX8" fmla="*/ 0 w 45719"/>
              <a:gd name="csY8" fmla="*/ 1944533 h 2492991"/>
              <a:gd name="csX9" fmla="*/ 0 w 45719"/>
              <a:gd name="csY9" fmla="*/ 1421005 h 2492991"/>
              <a:gd name="csX10" fmla="*/ 0 w 45719"/>
              <a:gd name="csY10" fmla="*/ 922407 h 2492991"/>
              <a:gd name="csX11" fmla="*/ 0 w 45719"/>
              <a:gd name="csY11" fmla="*/ 0 h 249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5719" h="2492991" fill="none" extrusionOk="0">
                <a:moveTo>
                  <a:pt x="0" y="0"/>
                </a:moveTo>
                <a:cubicBezTo>
                  <a:pt x="15466" y="-3108"/>
                  <a:pt x="29505" y="2787"/>
                  <a:pt x="45719" y="0"/>
                </a:cubicBezTo>
                <a:cubicBezTo>
                  <a:pt x="96714" y="244462"/>
                  <a:pt x="38492" y="292531"/>
                  <a:pt x="45719" y="498598"/>
                </a:cubicBezTo>
                <a:cubicBezTo>
                  <a:pt x="52946" y="704665"/>
                  <a:pt x="41215" y="773940"/>
                  <a:pt x="45719" y="1047056"/>
                </a:cubicBezTo>
                <a:cubicBezTo>
                  <a:pt x="50223" y="1320172"/>
                  <a:pt x="20442" y="1409127"/>
                  <a:pt x="45719" y="1545654"/>
                </a:cubicBezTo>
                <a:cubicBezTo>
                  <a:pt x="70996" y="1682181"/>
                  <a:pt x="37286" y="1837495"/>
                  <a:pt x="45719" y="1969463"/>
                </a:cubicBezTo>
                <a:cubicBezTo>
                  <a:pt x="54152" y="2101431"/>
                  <a:pt x="20701" y="2253374"/>
                  <a:pt x="45719" y="2492991"/>
                </a:cubicBezTo>
                <a:cubicBezTo>
                  <a:pt x="34208" y="2496004"/>
                  <a:pt x="9588" y="2489496"/>
                  <a:pt x="0" y="2492991"/>
                </a:cubicBezTo>
                <a:cubicBezTo>
                  <a:pt x="-9781" y="2257546"/>
                  <a:pt x="17963" y="2141047"/>
                  <a:pt x="0" y="1944533"/>
                </a:cubicBezTo>
                <a:cubicBezTo>
                  <a:pt x="-17963" y="1748019"/>
                  <a:pt x="28336" y="1642462"/>
                  <a:pt x="0" y="1421005"/>
                </a:cubicBezTo>
                <a:cubicBezTo>
                  <a:pt x="-28336" y="1199548"/>
                  <a:pt x="13584" y="1089980"/>
                  <a:pt x="0" y="922407"/>
                </a:cubicBezTo>
                <a:cubicBezTo>
                  <a:pt x="-13584" y="754834"/>
                  <a:pt x="77438" y="239728"/>
                  <a:pt x="0" y="0"/>
                </a:cubicBezTo>
                <a:close/>
              </a:path>
              <a:path w="45719" h="2492991" stroke="0" extrusionOk="0">
                <a:moveTo>
                  <a:pt x="0" y="0"/>
                </a:moveTo>
                <a:cubicBezTo>
                  <a:pt x="18173" y="-1477"/>
                  <a:pt x="31455" y="3772"/>
                  <a:pt x="45719" y="0"/>
                </a:cubicBezTo>
                <a:cubicBezTo>
                  <a:pt x="49078" y="113210"/>
                  <a:pt x="23101" y="288473"/>
                  <a:pt x="45719" y="423808"/>
                </a:cubicBezTo>
                <a:cubicBezTo>
                  <a:pt x="68337" y="559143"/>
                  <a:pt x="-15560" y="770450"/>
                  <a:pt x="45719" y="972266"/>
                </a:cubicBezTo>
                <a:cubicBezTo>
                  <a:pt x="106998" y="1174082"/>
                  <a:pt x="-1609" y="1235521"/>
                  <a:pt x="45719" y="1470865"/>
                </a:cubicBezTo>
                <a:cubicBezTo>
                  <a:pt x="93047" y="1706209"/>
                  <a:pt x="30494" y="1816253"/>
                  <a:pt x="45719" y="1919603"/>
                </a:cubicBezTo>
                <a:cubicBezTo>
                  <a:pt x="60944" y="2022953"/>
                  <a:pt x="28474" y="2341608"/>
                  <a:pt x="45719" y="2492991"/>
                </a:cubicBezTo>
                <a:cubicBezTo>
                  <a:pt x="22941" y="2494258"/>
                  <a:pt x="12902" y="2490132"/>
                  <a:pt x="0" y="2492991"/>
                </a:cubicBezTo>
                <a:cubicBezTo>
                  <a:pt x="-59460" y="2250702"/>
                  <a:pt x="24665" y="2128448"/>
                  <a:pt x="0" y="1944533"/>
                </a:cubicBezTo>
                <a:cubicBezTo>
                  <a:pt x="-24665" y="1760618"/>
                  <a:pt x="21622" y="1582387"/>
                  <a:pt x="0" y="1396075"/>
                </a:cubicBezTo>
                <a:cubicBezTo>
                  <a:pt x="-21622" y="1209763"/>
                  <a:pt x="53927" y="1082433"/>
                  <a:pt x="0" y="922407"/>
                </a:cubicBezTo>
                <a:cubicBezTo>
                  <a:pt x="-53927" y="762381"/>
                  <a:pt x="37230" y="594554"/>
                  <a:pt x="0" y="448738"/>
                </a:cubicBezTo>
                <a:cubicBezTo>
                  <a:pt x="-37230" y="302922"/>
                  <a:pt x="25725" y="182915"/>
                  <a:pt x="0" y="0"/>
                </a:cubicBezTo>
                <a:close/>
              </a:path>
            </a:pathLst>
          </a:custGeom>
          <a:solidFill>
            <a:srgbClr val="7030A0"/>
          </a:solidFill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E7AE8-23B2-E205-FD0E-4E29AE466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26211A-E2D6-417B-F9B3-A095CBA8DC4E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33D0A-C428-1366-C3AE-B208287F0BFC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4696ED-4E93-4B0B-AE4E-ED3E804815A4}"/>
              </a:ext>
            </a:extLst>
          </p:cNvPr>
          <p:cNvSpPr txBox="1"/>
          <p:nvPr/>
        </p:nvSpPr>
        <p:spPr>
          <a:xfrm>
            <a:off x="772906" y="405121"/>
            <a:ext cx="5095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ompetitive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3039A3-A80B-D2B1-8A5C-AF12899E6760}"/>
              </a:ext>
            </a:extLst>
          </p:cNvPr>
          <p:cNvSpPr txBox="1"/>
          <p:nvPr/>
        </p:nvSpPr>
        <p:spPr>
          <a:xfrm>
            <a:off x="4806479" y="716456"/>
            <a:ext cx="6410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Common Communication Patterns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05D2CD-4141-39F8-70E8-855B669DC9EF}"/>
              </a:ext>
            </a:extLst>
          </p:cNvPr>
          <p:cNvSpPr/>
          <p:nvPr/>
        </p:nvSpPr>
        <p:spPr>
          <a:xfrm>
            <a:off x="472966" y="4755944"/>
            <a:ext cx="4482094" cy="1213932"/>
          </a:xfrm>
          <a:custGeom>
            <a:avLst/>
            <a:gdLst>
              <a:gd name="csX0" fmla="*/ 0 w 4482094"/>
              <a:gd name="csY0" fmla="*/ 202326 h 1213932"/>
              <a:gd name="csX1" fmla="*/ 202326 w 4482094"/>
              <a:gd name="csY1" fmla="*/ 0 h 1213932"/>
              <a:gd name="csX2" fmla="*/ 703269 w 4482094"/>
              <a:gd name="csY2" fmla="*/ 0 h 1213932"/>
              <a:gd name="csX3" fmla="*/ 1163437 w 4482094"/>
              <a:gd name="csY3" fmla="*/ 0 h 1213932"/>
              <a:gd name="csX4" fmla="*/ 1705155 w 4482094"/>
              <a:gd name="csY4" fmla="*/ 0 h 1213932"/>
              <a:gd name="csX5" fmla="*/ 2328421 w 4482094"/>
              <a:gd name="csY5" fmla="*/ 0 h 1213932"/>
              <a:gd name="csX6" fmla="*/ 2992461 w 4482094"/>
              <a:gd name="csY6" fmla="*/ 0 h 1213932"/>
              <a:gd name="csX7" fmla="*/ 3534179 w 4482094"/>
              <a:gd name="csY7" fmla="*/ 0 h 1213932"/>
              <a:gd name="csX8" fmla="*/ 4279768 w 4482094"/>
              <a:gd name="csY8" fmla="*/ 0 h 1213932"/>
              <a:gd name="csX9" fmla="*/ 4482094 w 4482094"/>
              <a:gd name="csY9" fmla="*/ 202326 h 1213932"/>
              <a:gd name="csX10" fmla="*/ 4482094 w 4482094"/>
              <a:gd name="csY10" fmla="*/ 598873 h 1213932"/>
              <a:gd name="csX11" fmla="*/ 4482094 w 4482094"/>
              <a:gd name="csY11" fmla="*/ 1011606 h 1213932"/>
              <a:gd name="csX12" fmla="*/ 4279768 w 4482094"/>
              <a:gd name="csY12" fmla="*/ 1213932 h 1213932"/>
              <a:gd name="csX13" fmla="*/ 3615727 w 4482094"/>
              <a:gd name="csY13" fmla="*/ 1213932 h 1213932"/>
              <a:gd name="csX14" fmla="*/ 2992461 w 4482094"/>
              <a:gd name="csY14" fmla="*/ 1213932 h 1213932"/>
              <a:gd name="csX15" fmla="*/ 2369195 w 4482094"/>
              <a:gd name="csY15" fmla="*/ 1213932 h 1213932"/>
              <a:gd name="csX16" fmla="*/ 1909027 w 4482094"/>
              <a:gd name="csY16" fmla="*/ 1213932 h 1213932"/>
              <a:gd name="csX17" fmla="*/ 1448858 w 4482094"/>
              <a:gd name="csY17" fmla="*/ 1213932 h 1213932"/>
              <a:gd name="csX18" fmla="*/ 988690 w 4482094"/>
              <a:gd name="csY18" fmla="*/ 1213932 h 1213932"/>
              <a:gd name="csX19" fmla="*/ 202326 w 4482094"/>
              <a:gd name="csY19" fmla="*/ 1213932 h 1213932"/>
              <a:gd name="csX20" fmla="*/ 0 w 4482094"/>
              <a:gd name="csY20" fmla="*/ 1011606 h 1213932"/>
              <a:gd name="csX21" fmla="*/ 0 w 4482094"/>
              <a:gd name="csY21" fmla="*/ 623152 h 1213932"/>
              <a:gd name="csX22" fmla="*/ 0 w 4482094"/>
              <a:gd name="csY22" fmla="*/ 202326 h 1213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482094" h="1213932" fill="none" extrusionOk="0">
                <a:moveTo>
                  <a:pt x="0" y="202326"/>
                </a:moveTo>
                <a:cubicBezTo>
                  <a:pt x="26695" y="78017"/>
                  <a:pt x="75354" y="6686"/>
                  <a:pt x="202326" y="0"/>
                </a:cubicBezTo>
                <a:cubicBezTo>
                  <a:pt x="310846" y="-50018"/>
                  <a:pt x="593216" y="34946"/>
                  <a:pt x="703269" y="0"/>
                </a:cubicBezTo>
                <a:cubicBezTo>
                  <a:pt x="813322" y="-34946"/>
                  <a:pt x="955403" y="25942"/>
                  <a:pt x="1163437" y="0"/>
                </a:cubicBezTo>
                <a:cubicBezTo>
                  <a:pt x="1371471" y="-25942"/>
                  <a:pt x="1593315" y="40294"/>
                  <a:pt x="1705155" y="0"/>
                </a:cubicBezTo>
                <a:cubicBezTo>
                  <a:pt x="1816995" y="-40294"/>
                  <a:pt x="2122609" y="42548"/>
                  <a:pt x="2328421" y="0"/>
                </a:cubicBezTo>
                <a:cubicBezTo>
                  <a:pt x="2534233" y="-42548"/>
                  <a:pt x="2780578" y="59133"/>
                  <a:pt x="2992461" y="0"/>
                </a:cubicBezTo>
                <a:cubicBezTo>
                  <a:pt x="3204344" y="-59133"/>
                  <a:pt x="3421836" y="36180"/>
                  <a:pt x="3534179" y="0"/>
                </a:cubicBezTo>
                <a:cubicBezTo>
                  <a:pt x="3646522" y="-36180"/>
                  <a:pt x="4090705" y="35347"/>
                  <a:pt x="4279768" y="0"/>
                </a:cubicBezTo>
                <a:cubicBezTo>
                  <a:pt x="4374039" y="17153"/>
                  <a:pt x="4478954" y="94594"/>
                  <a:pt x="4482094" y="202326"/>
                </a:cubicBezTo>
                <a:cubicBezTo>
                  <a:pt x="4499112" y="317165"/>
                  <a:pt x="4466703" y="476425"/>
                  <a:pt x="4482094" y="598873"/>
                </a:cubicBezTo>
                <a:cubicBezTo>
                  <a:pt x="4497485" y="721321"/>
                  <a:pt x="4433159" y="915363"/>
                  <a:pt x="4482094" y="1011606"/>
                </a:cubicBezTo>
                <a:cubicBezTo>
                  <a:pt x="4500655" y="1107200"/>
                  <a:pt x="4371140" y="1231747"/>
                  <a:pt x="4279768" y="1213932"/>
                </a:cubicBezTo>
                <a:cubicBezTo>
                  <a:pt x="3949763" y="1262404"/>
                  <a:pt x="3886087" y="1171221"/>
                  <a:pt x="3615727" y="1213932"/>
                </a:cubicBezTo>
                <a:cubicBezTo>
                  <a:pt x="3345367" y="1256643"/>
                  <a:pt x="3188927" y="1158815"/>
                  <a:pt x="2992461" y="1213932"/>
                </a:cubicBezTo>
                <a:cubicBezTo>
                  <a:pt x="2795995" y="1269049"/>
                  <a:pt x="2642429" y="1202278"/>
                  <a:pt x="2369195" y="1213932"/>
                </a:cubicBezTo>
                <a:cubicBezTo>
                  <a:pt x="2095961" y="1225586"/>
                  <a:pt x="2124900" y="1207898"/>
                  <a:pt x="1909027" y="1213932"/>
                </a:cubicBezTo>
                <a:cubicBezTo>
                  <a:pt x="1693154" y="1219966"/>
                  <a:pt x="1674914" y="1164025"/>
                  <a:pt x="1448858" y="1213932"/>
                </a:cubicBezTo>
                <a:cubicBezTo>
                  <a:pt x="1222802" y="1263839"/>
                  <a:pt x="1114471" y="1165257"/>
                  <a:pt x="988690" y="1213932"/>
                </a:cubicBezTo>
                <a:cubicBezTo>
                  <a:pt x="862909" y="1262607"/>
                  <a:pt x="434083" y="1185791"/>
                  <a:pt x="202326" y="1213932"/>
                </a:cubicBezTo>
                <a:cubicBezTo>
                  <a:pt x="103782" y="1218548"/>
                  <a:pt x="15230" y="1124784"/>
                  <a:pt x="0" y="1011606"/>
                </a:cubicBezTo>
                <a:cubicBezTo>
                  <a:pt x="-5740" y="817584"/>
                  <a:pt x="4281" y="721549"/>
                  <a:pt x="0" y="623152"/>
                </a:cubicBezTo>
                <a:cubicBezTo>
                  <a:pt x="-4281" y="524755"/>
                  <a:pt x="41708" y="293725"/>
                  <a:pt x="0" y="202326"/>
                </a:cubicBezTo>
                <a:close/>
              </a:path>
              <a:path w="4482094" h="1213932" stroke="0" extrusionOk="0">
                <a:moveTo>
                  <a:pt x="0" y="202326"/>
                </a:moveTo>
                <a:cubicBezTo>
                  <a:pt x="-16723" y="104191"/>
                  <a:pt x="101543" y="-28700"/>
                  <a:pt x="202326" y="0"/>
                </a:cubicBezTo>
                <a:cubicBezTo>
                  <a:pt x="436127" y="-38849"/>
                  <a:pt x="523360" y="22818"/>
                  <a:pt x="784818" y="0"/>
                </a:cubicBezTo>
                <a:cubicBezTo>
                  <a:pt x="1046276" y="-22818"/>
                  <a:pt x="1235129" y="60004"/>
                  <a:pt x="1448858" y="0"/>
                </a:cubicBezTo>
                <a:cubicBezTo>
                  <a:pt x="1662587" y="-60004"/>
                  <a:pt x="1803950" y="17905"/>
                  <a:pt x="1909027" y="0"/>
                </a:cubicBezTo>
                <a:cubicBezTo>
                  <a:pt x="2014104" y="-17905"/>
                  <a:pt x="2245709" y="15579"/>
                  <a:pt x="2369195" y="0"/>
                </a:cubicBezTo>
                <a:cubicBezTo>
                  <a:pt x="2492681" y="-15579"/>
                  <a:pt x="2662699" y="41827"/>
                  <a:pt x="2910912" y="0"/>
                </a:cubicBezTo>
                <a:cubicBezTo>
                  <a:pt x="3159125" y="-41827"/>
                  <a:pt x="3274654" y="25262"/>
                  <a:pt x="3493404" y="0"/>
                </a:cubicBezTo>
                <a:cubicBezTo>
                  <a:pt x="3712154" y="-25262"/>
                  <a:pt x="4011493" y="69021"/>
                  <a:pt x="4279768" y="0"/>
                </a:cubicBezTo>
                <a:cubicBezTo>
                  <a:pt x="4400494" y="30317"/>
                  <a:pt x="4459968" y="67561"/>
                  <a:pt x="4482094" y="202326"/>
                </a:cubicBezTo>
                <a:cubicBezTo>
                  <a:pt x="4512683" y="389701"/>
                  <a:pt x="4438350" y="470058"/>
                  <a:pt x="4482094" y="598873"/>
                </a:cubicBezTo>
                <a:cubicBezTo>
                  <a:pt x="4525838" y="727688"/>
                  <a:pt x="4439543" y="818110"/>
                  <a:pt x="4482094" y="1011606"/>
                </a:cubicBezTo>
                <a:cubicBezTo>
                  <a:pt x="4501699" y="1146361"/>
                  <a:pt x="4403210" y="1213086"/>
                  <a:pt x="4279768" y="1213932"/>
                </a:cubicBezTo>
                <a:cubicBezTo>
                  <a:pt x="4053273" y="1262350"/>
                  <a:pt x="3993693" y="1199585"/>
                  <a:pt x="3819600" y="1213932"/>
                </a:cubicBezTo>
                <a:cubicBezTo>
                  <a:pt x="3645507" y="1228279"/>
                  <a:pt x="3564206" y="1206396"/>
                  <a:pt x="3359431" y="1213932"/>
                </a:cubicBezTo>
                <a:cubicBezTo>
                  <a:pt x="3154656" y="1221468"/>
                  <a:pt x="3031699" y="1166407"/>
                  <a:pt x="2899263" y="1213932"/>
                </a:cubicBezTo>
                <a:cubicBezTo>
                  <a:pt x="2766827" y="1261457"/>
                  <a:pt x="2645038" y="1211015"/>
                  <a:pt x="2439094" y="1213932"/>
                </a:cubicBezTo>
                <a:cubicBezTo>
                  <a:pt x="2233150" y="1216849"/>
                  <a:pt x="2142178" y="1158375"/>
                  <a:pt x="1856602" y="1213932"/>
                </a:cubicBezTo>
                <a:cubicBezTo>
                  <a:pt x="1571026" y="1269489"/>
                  <a:pt x="1587404" y="1184297"/>
                  <a:pt x="1396434" y="1213932"/>
                </a:cubicBezTo>
                <a:cubicBezTo>
                  <a:pt x="1205464" y="1243567"/>
                  <a:pt x="999372" y="1142548"/>
                  <a:pt x="732393" y="1213932"/>
                </a:cubicBezTo>
                <a:cubicBezTo>
                  <a:pt x="465414" y="1285316"/>
                  <a:pt x="429827" y="1204260"/>
                  <a:pt x="202326" y="1213932"/>
                </a:cubicBezTo>
                <a:cubicBezTo>
                  <a:pt x="98367" y="1220249"/>
                  <a:pt x="15313" y="1128582"/>
                  <a:pt x="0" y="1011606"/>
                </a:cubicBezTo>
                <a:cubicBezTo>
                  <a:pt x="-22348" y="922605"/>
                  <a:pt x="18797" y="799667"/>
                  <a:pt x="0" y="615059"/>
                </a:cubicBezTo>
                <a:cubicBezTo>
                  <a:pt x="-18797" y="430451"/>
                  <a:pt x="27808" y="389567"/>
                  <a:pt x="0" y="202326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5400">
            <a:bevel/>
            <a:extLst>
              <a:ext uri="{C807C97D-BFC1-408E-A445-0C87EB9F89A2}">
                <ask:lineSketchStyleProps xmlns:ask="http://schemas.microsoft.com/office/drawing/2018/sketchyshapes" sd="24758733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F3EBA0-ECEC-CFC3-CDB1-D6D0D4982F8F}"/>
              </a:ext>
            </a:extLst>
          </p:cNvPr>
          <p:cNvSpPr/>
          <p:nvPr/>
        </p:nvSpPr>
        <p:spPr>
          <a:xfrm>
            <a:off x="6615105" y="4696264"/>
            <a:ext cx="4658815" cy="1213932"/>
          </a:xfrm>
          <a:custGeom>
            <a:avLst/>
            <a:gdLst>
              <a:gd name="csX0" fmla="*/ 0 w 4658815"/>
              <a:gd name="csY0" fmla="*/ 202326 h 1213932"/>
              <a:gd name="csX1" fmla="*/ 202326 w 4658815"/>
              <a:gd name="csY1" fmla="*/ 0 h 1213932"/>
              <a:gd name="csX2" fmla="*/ 776638 w 4658815"/>
              <a:gd name="csY2" fmla="*/ 0 h 1213932"/>
              <a:gd name="csX3" fmla="*/ 1223325 w 4658815"/>
              <a:gd name="csY3" fmla="*/ 0 h 1213932"/>
              <a:gd name="csX4" fmla="*/ 1797637 w 4658815"/>
              <a:gd name="csY4" fmla="*/ 0 h 1213932"/>
              <a:gd name="csX5" fmla="*/ 2201783 w 4658815"/>
              <a:gd name="csY5" fmla="*/ 0 h 1213932"/>
              <a:gd name="csX6" fmla="*/ 2776095 w 4658815"/>
              <a:gd name="csY6" fmla="*/ 0 h 1213932"/>
              <a:gd name="csX7" fmla="*/ 3222782 w 4658815"/>
              <a:gd name="csY7" fmla="*/ 0 h 1213932"/>
              <a:gd name="csX8" fmla="*/ 3626927 w 4658815"/>
              <a:gd name="csY8" fmla="*/ 0 h 1213932"/>
              <a:gd name="csX9" fmla="*/ 4456489 w 4658815"/>
              <a:gd name="csY9" fmla="*/ 0 h 1213932"/>
              <a:gd name="csX10" fmla="*/ 4658815 w 4658815"/>
              <a:gd name="csY10" fmla="*/ 202326 h 1213932"/>
              <a:gd name="csX11" fmla="*/ 4658815 w 4658815"/>
              <a:gd name="csY11" fmla="*/ 615059 h 1213932"/>
              <a:gd name="csX12" fmla="*/ 4658815 w 4658815"/>
              <a:gd name="csY12" fmla="*/ 1011606 h 1213932"/>
              <a:gd name="csX13" fmla="*/ 4456489 w 4658815"/>
              <a:gd name="csY13" fmla="*/ 1213932 h 1213932"/>
              <a:gd name="csX14" fmla="*/ 4052344 w 4658815"/>
              <a:gd name="csY14" fmla="*/ 1213932 h 1213932"/>
              <a:gd name="csX15" fmla="*/ 3435490 w 4658815"/>
              <a:gd name="csY15" fmla="*/ 1213932 h 1213932"/>
              <a:gd name="csX16" fmla="*/ 2903720 w 4658815"/>
              <a:gd name="csY16" fmla="*/ 1213932 h 1213932"/>
              <a:gd name="csX17" fmla="*/ 2286866 w 4658815"/>
              <a:gd name="csY17" fmla="*/ 1213932 h 1213932"/>
              <a:gd name="csX18" fmla="*/ 1712554 w 4658815"/>
              <a:gd name="csY18" fmla="*/ 1213932 h 1213932"/>
              <a:gd name="csX19" fmla="*/ 1223325 w 4658815"/>
              <a:gd name="csY19" fmla="*/ 1213932 h 1213932"/>
              <a:gd name="csX20" fmla="*/ 202326 w 4658815"/>
              <a:gd name="csY20" fmla="*/ 1213932 h 1213932"/>
              <a:gd name="csX21" fmla="*/ 0 w 4658815"/>
              <a:gd name="csY21" fmla="*/ 1011606 h 1213932"/>
              <a:gd name="csX22" fmla="*/ 0 w 4658815"/>
              <a:gd name="csY22" fmla="*/ 606966 h 1213932"/>
              <a:gd name="csX23" fmla="*/ 0 w 4658815"/>
              <a:gd name="csY23" fmla="*/ 202326 h 1213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58815" h="1213932" fill="none" extrusionOk="0">
                <a:moveTo>
                  <a:pt x="0" y="202326"/>
                </a:moveTo>
                <a:cubicBezTo>
                  <a:pt x="-13865" y="118417"/>
                  <a:pt x="86826" y="-4987"/>
                  <a:pt x="202326" y="0"/>
                </a:cubicBezTo>
                <a:cubicBezTo>
                  <a:pt x="461530" y="-6300"/>
                  <a:pt x="508999" y="20240"/>
                  <a:pt x="776638" y="0"/>
                </a:cubicBezTo>
                <a:cubicBezTo>
                  <a:pt x="1044277" y="-20240"/>
                  <a:pt x="1043875" y="3992"/>
                  <a:pt x="1223325" y="0"/>
                </a:cubicBezTo>
                <a:cubicBezTo>
                  <a:pt x="1402775" y="-3992"/>
                  <a:pt x="1646824" y="1804"/>
                  <a:pt x="1797637" y="0"/>
                </a:cubicBezTo>
                <a:cubicBezTo>
                  <a:pt x="1948450" y="-1804"/>
                  <a:pt x="2058582" y="8185"/>
                  <a:pt x="2201783" y="0"/>
                </a:cubicBezTo>
                <a:cubicBezTo>
                  <a:pt x="2344984" y="-8185"/>
                  <a:pt x="2546989" y="67223"/>
                  <a:pt x="2776095" y="0"/>
                </a:cubicBezTo>
                <a:cubicBezTo>
                  <a:pt x="3005201" y="-67223"/>
                  <a:pt x="3036691" y="4785"/>
                  <a:pt x="3222782" y="0"/>
                </a:cubicBezTo>
                <a:cubicBezTo>
                  <a:pt x="3408873" y="-4785"/>
                  <a:pt x="3499934" y="35826"/>
                  <a:pt x="3626927" y="0"/>
                </a:cubicBezTo>
                <a:cubicBezTo>
                  <a:pt x="3753921" y="-35826"/>
                  <a:pt x="4236949" y="27302"/>
                  <a:pt x="4456489" y="0"/>
                </a:cubicBezTo>
                <a:cubicBezTo>
                  <a:pt x="4562502" y="21437"/>
                  <a:pt x="4685616" y="98271"/>
                  <a:pt x="4658815" y="202326"/>
                </a:cubicBezTo>
                <a:cubicBezTo>
                  <a:pt x="4699777" y="365515"/>
                  <a:pt x="4655207" y="490933"/>
                  <a:pt x="4658815" y="615059"/>
                </a:cubicBezTo>
                <a:cubicBezTo>
                  <a:pt x="4662423" y="739185"/>
                  <a:pt x="4635272" y="887276"/>
                  <a:pt x="4658815" y="1011606"/>
                </a:cubicBezTo>
                <a:cubicBezTo>
                  <a:pt x="4669788" y="1150168"/>
                  <a:pt x="4587821" y="1233312"/>
                  <a:pt x="4456489" y="1213932"/>
                </a:cubicBezTo>
                <a:cubicBezTo>
                  <a:pt x="4299887" y="1239580"/>
                  <a:pt x="4187456" y="1179398"/>
                  <a:pt x="4052344" y="1213932"/>
                </a:cubicBezTo>
                <a:cubicBezTo>
                  <a:pt x="3917233" y="1248466"/>
                  <a:pt x="3661664" y="1199401"/>
                  <a:pt x="3435490" y="1213932"/>
                </a:cubicBezTo>
                <a:cubicBezTo>
                  <a:pt x="3209316" y="1228463"/>
                  <a:pt x="3082040" y="1205725"/>
                  <a:pt x="2903720" y="1213932"/>
                </a:cubicBezTo>
                <a:cubicBezTo>
                  <a:pt x="2725400" y="1222139"/>
                  <a:pt x="2587397" y="1145467"/>
                  <a:pt x="2286866" y="1213932"/>
                </a:cubicBezTo>
                <a:cubicBezTo>
                  <a:pt x="1986335" y="1282397"/>
                  <a:pt x="1936315" y="1195658"/>
                  <a:pt x="1712554" y="1213932"/>
                </a:cubicBezTo>
                <a:cubicBezTo>
                  <a:pt x="1488793" y="1232206"/>
                  <a:pt x="1435692" y="1196997"/>
                  <a:pt x="1223325" y="1213932"/>
                </a:cubicBezTo>
                <a:cubicBezTo>
                  <a:pt x="1010958" y="1230867"/>
                  <a:pt x="612559" y="1189547"/>
                  <a:pt x="202326" y="1213932"/>
                </a:cubicBezTo>
                <a:cubicBezTo>
                  <a:pt x="90953" y="1230726"/>
                  <a:pt x="13269" y="1111441"/>
                  <a:pt x="0" y="1011606"/>
                </a:cubicBezTo>
                <a:cubicBezTo>
                  <a:pt x="-45144" y="925982"/>
                  <a:pt x="36711" y="708230"/>
                  <a:pt x="0" y="606966"/>
                </a:cubicBezTo>
                <a:cubicBezTo>
                  <a:pt x="-36711" y="505702"/>
                  <a:pt x="11056" y="331283"/>
                  <a:pt x="0" y="202326"/>
                </a:cubicBezTo>
                <a:close/>
              </a:path>
              <a:path w="4658815" h="1213932" stroke="0" extrusionOk="0">
                <a:moveTo>
                  <a:pt x="0" y="202326"/>
                </a:moveTo>
                <a:cubicBezTo>
                  <a:pt x="-4482" y="87820"/>
                  <a:pt x="67944" y="8497"/>
                  <a:pt x="202326" y="0"/>
                </a:cubicBezTo>
                <a:cubicBezTo>
                  <a:pt x="485467" y="-16537"/>
                  <a:pt x="622590" y="33956"/>
                  <a:pt x="819180" y="0"/>
                </a:cubicBezTo>
                <a:cubicBezTo>
                  <a:pt x="1015770" y="-33956"/>
                  <a:pt x="1101224" y="48252"/>
                  <a:pt x="1308408" y="0"/>
                </a:cubicBezTo>
                <a:cubicBezTo>
                  <a:pt x="1515592" y="-48252"/>
                  <a:pt x="1635004" y="50099"/>
                  <a:pt x="1755095" y="0"/>
                </a:cubicBezTo>
                <a:cubicBezTo>
                  <a:pt x="1875186" y="-50099"/>
                  <a:pt x="2191388" y="4252"/>
                  <a:pt x="2329408" y="0"/>
                </a:cubicBezTo>
                <a:cubicBezTo>
                  <a:pt x="2467428" y="-4252"/>
                  <a:pt x="2666761" y="55587"/>
                  <a:pt x="2818636" y="0"/>
                </a:cubicBezTo>
                <a:cubicBezTo>
                  <a:pt x="2970511" y="-55587"/>
                  <a:pt x="3287266" y="29637"/>
                  <a:pt x="3435490" y="0"/>
                </a:cubicBezTo>
                <a:cubicBezTo>
                  <a:pt x="3583714" y="-29637"/>
                  <a:pt x="3683091" y="7055"/>
                  <a:pt x="3882177" y="0"/>
                </a:cubicBezTo>
                <a:cubicBezTo>
                  <a:pt x="4081263" y="-7055"/>
                  <a:pt x="4263947" y="22576"/>
                  <a:pt x="4456489" y="0"/>
                </a:cubicBezTo>
                <a:cubicBezTo>
                  <a:pt x="4580725" y="3004"/>
                  <a:pt x="4652930" y="89632"/>
                  <a:pt x="4658815" y="202326"/>
                </a:cubicBezTo>
                <a:cubicBezTo>
                  <a:pt x="4688865" y="325324"/>
                  <a:pt x="4634746" y="457901"/>
                  <a:pt x="4658815" y="606966"/>
                </a:cubicBezTo>
                <a:cubicBezTo>
                  <a:pt x="4682884" y="756031"/>
                  <a:pt x="4622469" y="844144"/>
                  <a:pt x="4658815" y="1011606"/>
                </a:cubicBezTo>
                <a:cubicBezTo>
                  <a:pt x="4670900" y="1138151"/>
                  <a:pt x="4586142" y="1198250"/>
                  <a:pt x="4456489" y="1213932"/>
                </a:cubicBezTo>
                <a:cubicBezTo>
                  <a:pt x="4305302" y="1251813"/>
                  <a:pt x="4166599" y="1175047"/>
                  <a:pt x="3924719" y="1213932"/>
                </a:cubicBezTo>
                <a:cubicBezTo>
                  <a:pt x="3682839" y="1252817"/>
                  <a:pt x="3636809" y="1211537"/>
                  <a:pt x="3392948" y="1213932"/>
                </a:cubicBezTo>
                <a:cubicBezTo>
                  <a:pt x="3149087" y="1216327"/>
                  <a:pt x="3019653" y="1187995"/>
                  <a:pt x="2776095" y="1213932"/>
                </a:cubicBezTo>
                <a:cubicBezTo>
                  <a:pt x="2532537" y="1239869"/>
                  <a:pt x="2374460" y="1202954"/>
                  <a:pt x="2244324" y="1213932"/>
                </a:cubicBezTo>
                <a:cubicBezTo>
                  <a:pt x="2114188" y="1224910"/>
                  <a:pt x="2039497" y="1172031"/>
                  <a:pt x="1840179" y="1213932"/>
                </a:cubicBezTo>
                <a:cubicBezTo>
                  <a:pt x="1640861" y="1255833"/>
                  <a:pt x="1583331" y="1207787"/>
                  <a:pt x="1393492" y="1213932"/>
                </a:cubicBezTo>
                <a:cubicBezTo>
                  <a:pt x="1203653" y="1220077"/>
                  <a:pt x="914863" y="1201446"/>
                  <a:pt x="776638" y="1213932"/>
                </a:cubicBezTo>
                <a:cubicBezTo>
                  <a:pt x="638413" y="1226418"/>
                  <a:pt x="437328" y="1174067"/>
                  <a:pt x="202326" y="1213932"/>
                </a:cubicBezTo>
                <a:cubicBezTo>
                  <a:pt x="93009" y="1218734"/>
                  <a:pt x="-19492" y="1133627"/>
                  <a:pt x="0" y="1011606"/>
                </a:cubicBezTo>
                <a:cubicBezTo>
                  <a:pt x="-34041" y="867494"/>
                  <a:pt x="19408" y="757014"/>
                  <a:pt x="0" y="598873"/>
                </a:cubicBezTo>
                <a:cubicBezTo>
                  <a:pt x="-19408" y="440732"/>
                  <a:pt x="27962" y="330545"/>
                  <a:pt x="0" y="202326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5400">
            <a:bevel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D777F-D3E8-D744-4DEF-24AD7856E762}"/>
              </a:ext>
            </a:extLst>
          </p:cNvPr>
          <p:cNvSpPr txBox="1"/>
          <p:nvPr/>
        </p:nvSpPr>
        <p:spPr>
          <a:xfrm>
            <a:off x="6615108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8DDA8-6876-E0AE-8F89-381FAC6BAB65}"/>
              </a:ext>
            </a:extLst>
          </p:cNvPr>
          <p:cNvSpPr txBox="1"/>
          <p:nvPr/>
        </p:nvSpPr>
        <p:spPr>
          <a:xfrm>
            <a:off x="6615107" y="3218936"/>
            <a:ext cx="2587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Unicasts 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machines to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D20BF-2A80-93AB-ED2E-578DDAE30605}"/>
              </a:ext>
            </a:extLst>
          </p:cNvPr>
          <p:cNvSpPr txBox="1"/>
          <p:nvPr/>
        </p:nvSpPr>
        <p:spPr>
          <a:xfrm>
            <a:off x="558943" y="4755944"/>
            <a:ext cx="4247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market data multicast in financial exchanges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BEF6D6-7F50-3474-3C68-6B377887AF8D}"/>
              </a:ext>
            </a:extLst>
          </p:cNvPr>
          <p:cNvSpPr txBox="1"/>
          <p:nvPr/>
        </p:nvSpPr>
        <p:spPr>
          <a:xfrm>
            <a:off x="6567336" y="4755944"/>
            <a:ext cx="5065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traders submitting orders to a financial exchange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5C3FE4-F006-BB31-9D4D-DC6DCC7D9793}"/>
              </a:ext>
            </a:extLst>
          </p:cNvPr>
          <p:cNvSpPr txBox="1"/>
          <p:nvPr/>
        </p:nvSpPr>
        <p:spPr>
          <a:xfrm>
            <a:off x="2124432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BC007-EF9F-C19A-5B1A-73340A3AABD0}"/>
              </a:ext>
            </a:extLst>
          </p:cNvPr>
          <p:cNvSpPr txBox="1"/>
          <p:nvPr/>
        </p:nvSpPr>
        <p:spPr>
          <a:xfrm>
            <a:off x="2622846" y="3235757"/>
            <a:ext cx="2249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 from server to machines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5B29ED-040B-60F9-E404-67AA8B15DB43}"/>
              </a:ext>
            </a:extLst>
          </p:cNvPr>
          <p:cNvSpPr/>
          <p:nvPr/>
        </p:nvSpPr>
        <p:spPr>
          <a:xfrm>
            <a:off x="5733022" y="2774092"/>
            <a:ext cx="45719" cy="2492991"/>
          </a:xfrm>
          <a:custGeom>
            <a:avLst/>
            <a:gdLst>
              <a:gd name="csX0" fmla="*/ 0 w 45719"/>
              <a:gd name="csY0" fmla="*/ 0 h 2492991"/>
              <a:gd name="csX1" fmla="*/ 45719 w 45719"/>
              <a:gd name="csY1" fmla="*/ 0 h 2492991"/>
              <a:gd name="csX2" fmla="*/ 45719 w 45719"/>
              <a:gd name="csY2" fmla="*/ 498598 h 2492991"/>
              <a:gd name="csX3" fmla="*/ 45719 w 45719"/>
              <a:gd name="csY3" fmla="*/ 1047056 h 2492991"/>
              <a:gd name="csX4" fmla="*/ 45719 w 45719"/>
              <a:gd name="csY4" fmla="*/ 1545654 h 2492991"/>
              <a:gd name="csX5" fmla="*/ 45719 w 45719"/>
              <a:gd name="csY5" fmla="*/ 1969463 h 2492991"/>
              <a:gd name="csX6" fmla="*/ 45719 w 45719"/>
              <a:gd name="csY6" fmla="*/ 2492991 h 2492991"/>
              <a:gd name="csX7" fmla="*/ 0 w 45719"/>
              <a:gd name="csY7" fmla="*/ 2492991 h 2492991"/>
              <a:gd name="csX8" fmla="*/ 0 w 45719"/>
              <a:gd name="csY8" fmla="*/ 1944533 h 2492991"/>
              <a:gd name="csX9" fmla="*/ 0 w 45719"/>
              <a:gd name="csY9" fmla="*/ 1421005 h 2492991"/>
              <a:gd name="csX10" fmla="*/ 0 w 45719"/>
              <a:gd name="csY10" fmla="*/ 922407 h 2492991"/>
              <a:gd name="csX11" fmla="*/ 0 w 45719"/>
              <a:gd name="csY11" fmla="*/ 0 h 249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5719" h="2492991" fill="none" extrusionOk="0">
                <a:moveTo>
                  <a:pt x="0" y="0"/>
                </a:moveTo>
                <a:cubicBezTo>
                  <a:pt x="15466" y="-3108"/>
                  <a:pt x="29505" y="2787"/>
                  <a:pt x="45719" y="0"/>
                </a:cubicBezTo>
                <a:cubicBezTo>
                  <a:pt x="96714" y="244462"/>
                  <a:pt x="38492" y="292531"/>
                  <a:pt x="45719" y="498598"/>
                </a:cubicBezTo>
                <a:cubicBezTo>
                  <a:pt x="52946" y="704665"/>
                  <a:pt x="41215" y="773940"/>
                  <a:pt x="45719" y="1047056"/>
                </a:cubicBezTo>
                <a:cubicBezTo>
                  <a:pt x="50223" y="1320172"/>
                  <a:pt x="20442" y="1409127"/>
                  <a:pt x="45719" y="1545654"/>
                </a:cubicBezTo>
                <a:cubicBezTo>
                  <a:pt x="70996" y="1682181"/>
                  <a:pt x="37286" y="1837495"/>
                  <a:pt x="45719" y="1969463"/>
                </a:cubicBezTo>
                <a:cubicBezTo>
                  <a:pt x="54152" y="2101431"/>
                  <a:pt x="20701" y="2253374"/>
                  <a:pt x="45719" y="2492991"/>
                </a:cubicBezTo>
                <a:cubicBezTo>
                  <a:pt x="34208" y="2496004"/>
                  <a:pt x="9588" y="2489496"/>
                  <a:pt x="0" y="2492991"/>
                </a:cubicBezTo>
                <a:cubicBezTo>
                  <a:pt x="-9781" y="2257546"/>
                  <a:pt x="17963" y="2141047"/>
                  <a:pt x="0" y="1944533"/>
                </a:cubicBezTo>
                <a:cubicBezTo>
                  <a:pt x="-17963" y="1748019"/>
                  <a:pt x="28336" y="1642462"/>
                  <a:pt x="0" y="1421005"/>
                </a:cubicBezTo>
                <a:cubicBezTo>
                  <a:pt x="-28336" y="1199548"/>
                  <a:pt x="13584" y="1089980"/>
                  <a:pt x="0" y="922407"/>
                </a:cubicBezTo>
                <a:cubicBezTo>
                  <a:pt x="-13584" y="754834"/>
                  <a:pt x="77438" y="239728"/>
                  <a:pt x="0" y="0"/>
                </a:cubicBezTo>
                <a:close/>
              </a:path>
              <a:path w="45719" h="2492991" stroke="0" extrusionOk="0">
                <a:moveTo>
                  <a:pt x="0" y="0"/>
                </a:moveTo>
                <a:cubicBezTo>
                  <a:pt x="18173" y="-1477"/>
                  <a:pt x="31455" y="3772"/>
                  <a:pt x="45719" y="0"/>
                </a:cubicBezTo>
                <a:cubicBezTo>
                  <a:pt x="49078" y="113210"/>
                  <a:pt x="23101" y="288473"/>
                  <a:pt x="45719" y="423808"/>
                </a:cubicBezTo>
                <a:cubicBezTo>
                  <a:pt x="68337" y="559143"/>
                  <a:pt x="-15560" y="770450"/>
                  <a:pt x="45719" y="972266"/>
                </a:cubicBezTo>
                <a:cubicBezTo>
                  <a:pt x="106998" y="1174082"/>
                  <a:pt x="-1609" y="1235521"/>
                  <a:pt x="45719" y="1470865"/>
                </a:cubicBezTo>
                <a:cubicBezTo>
                  <a:pt x="93047" y="1706209"/>
                  <a:pt x="30494" y="1816253"/>
                  <a:pt x="45719" y="1919603"/>
                </a:cubicBezTo>
                <a:cubicBezTo>
                  <a:pt x="60944" y="2022953"/>
                  <a:pt x="28474" y="2341608"/>
                  <a:pt x="45719" y="2492991"/>
                </a:cubicBezTo>
                <a:cubicBezTo>
                  <a:pt x="22941" y="2494258"/>
                  <a:pt x="12902" y="2490132"/>
                  <a:pt x="0" y="2492991"/>
                </a:cubicBezTo>
                <a:cubicBezTo>
                  <a:pt x="-59460" y="2250702"/>
                  <a:pt x="24665" y="2128448"/>
                  <a:pt x="0" y="1944533"/>
                </a:cubicBezTo>
                <a:cubicBezTo>
                  <a:pt x="-24665" y="1760618"/>
                  <a:pt x="21622" y="1582387"/>
                  <a:pt x="0" y="1396075"/>
                </a:cubicBezTo>
                <a:cubicBezTo>
                  <a:pt x="-21622" y="1209763"/>
                  <a:pt x="53927" y="1082433"/>
                  <a:pt x="0" y="922407"/>
                </a:cubicBezTo>
                <a:cubicBezTo>
                  <a:pt x="-53927" y="762381"/>
                  <a:pt x="37230" y="594554"/>
                  <a:pt x="0" y="448738"/>
                </a:cubicBezTo>
                <a:cubicBezTo>
                  <a:pt x="-37230" y="302922"/>
                  <a:pt x="25725" y="182915"/>
                  <a:pt x="0" y="0"/>
                </a:cubicBezTo>
                <a:close/>
              </a:path>
            </a:pathLst>
          </a:custGeom>
          <a:solidFill>
            <a:srgbClr val="7030A0"/>
          </a:solidFill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009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8491-5CC0-F458-8C52-AD9ED97C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F42178-8D05-1E52-C3DF-AD000D2DB441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3B306A-69EB-6385-B029-06F97A345912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71BF48-CB24-D447-3EC6-0EC13DF6ADAC}"/>
              </a:ext>
            </a:extLst>
          </p:cNvPr>
          <p:cNvSpPr txBox="1"/>
          <p:nvPr/>
        </p:nvSpPr>
        <p:spPr>
          <a:xfrm>
            <a:off x="772906" y="405121"/>
            <a:ext cx="5095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ompetitive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4CE14-AF67-E732-C1A2-0F030DD9D5AB}"/>
              </a:ext>
            </a:extLst>
          </p:cNvPr>
          <p:cNvSpPr txBox="1"/>
          <p:nvPr/>
        </p:nvSpPr>
        <p:spPr>
          <a:xfrm>
            <a:off x="4806479" y="716456"/>
            <a:ext cx="6410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Common Communication Patterns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F43B3E-FBFD-0D0E-E41F-CDCEAE3DE379}"/>
              </a:ext>
            </a:extLst>
          </p:cNvPr>
          <p:cNvSpPr/>
          <p:nvPr/>
        </p:nvSpPr>
        <p:spPr>
          <a:xfrm>
            <a:off x="472966" y="4755944"/>
            <a:ext cx="4482094" cy="1213932"/>
          </a:xfrm>
          <a:custGeom>
            <a:avLst/>
            <a:gdLst>
              <a:gd name="csX0" fmla="*/ 0 w 4482094"/>
              <a:gd name="csY0" fmla="*/ 202326 h 1213932"/>
              <a:gd name="csX1" fmla="*/ 202326 w 4482094"/>
              <a:gd name="csY1" fmla="*/ 0 h 1213932"/>
              <a:gd name="csX2" fmla="*/ 703269 w 4482094"/>
              <a:gd name="csY2" fmla="*/ 0 h 1213932"/>
              <a:gd name="csX3" fmla="*/ 1163437 w 4482094"/>
              <a:gd name="csY3" fmla="*/ 0 h 1213932"/>
              <a:gd name="csX4" fmla="*/ 1705155 w 4482094"/>
              <a:gd name="csY4" fmla="*/ 0 h 1213932"/>
              <a:gd name="csX5" fmla="*/ 2328421 w 4482094"/>
              <a:gd name="csY5" fmla="*/ 0 h 1213932"/>
              <a:gd name="csX6" fmla="*/ 2992461 w 4482094"/>
              <a:gd name="csY6" fmla="*/ 0 h 1213932"/>
              <a:gd name="csX7" fmla="*/ 3534179 w 4482094"/>
              <a:gd name="csY7" fmla="*/ 0 h 1213932"/>
              <a:gd name="csX8" fmla="*/ 4279768 w 4482094"/>
              <a:gd name="csY8" fmla="*/ 0 h 1213932"/>
              <a:gd name="csX9" fmla="*/ 4482094 w 4482094"/>
              <a:gd name="csY9" fmla="*/ 202326 h 1213932"/>
              <a:gd name="csX10" fmla="*/ 4482094 w 4482094"/>
              <a:gd name="csY10" fmla="*/ 598873 h 1213932"/>
              <a:gd name="csX11" fmla="*/ 4482094 w 4482094"/>
              <a:gd name="csY11" fmla="*/ 1011606 h 1213932"/>
              <a:gd name="csX12" fmla="*/ 4279768 w 4482094"/>
              <a:gd name="csY12" fmla="*/ 1213932 h 1213932"/>
              <a:gd name="csX13" fmla="*/ 3615727 w 4482094"/>
              <a:gd name="csY13" fmla="*/ 1213932 h 1213932"/>
              <a:gd name="csX14" fmla="*/ 2992461 w 4482094"/>
              <a:gd name="csY14" fmla="*/ 1213932 h 1213932"/>
              <a:gd name="csX15" fmla="*/ 2369195 w 4482094"/>
              <a:gd name="csY15" fmla="*/ 1213932 h 1213932"/>
              <a:gd name="csX16" fmla="*/ 1909027 w 4482094"/>
              <a:gd name="csY16" fmla="*/ 1213932 h 1213932"/>
              <a:gd name="csX17" fmla="*/ 1448858 w 4482094"/>
              <a:gd name="csY17" fmla="*/ 1213932 h 1213932"/>
              <a:gd name="csX18" fmla="*/ 988690 w 4482094"/>
              <a:gd name="csY18" fmla="*/ 1213932 h 1213932"/>
              <a:gd name="csX19" fmla="*/ 202326 w 4482094"/>
              <a:gd name="csY19" fmla="*/ 1213932 h 1213932"/>
              <a:gd name="csX20" fmla="*/ 0 w 4482094"/>
              <a:gd name="csY20" fmla="*/ 1011606 h 1213932"/>
              <a:gd name="csX21" fmla="*/ 0 w 4482094"/>
              <a:gd name="csY21" fmla="*/ 623152 h 1213932"/>
              <a:gd name="csX22" fmla="*/ 0 w 4482094"/>
              <a:gd name="csY22" fmla="*/ 202326 h 1213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482094" h="1213932" fill="none" extrusionOk="0">
                <a:moveTo>
                  <a:pt x="0" y="202326"/>
                </a:moveTo>
                <a:cubicBezTo>
                  <a:pt x="26695" y="78017"/>
                  <a:pt x="75354" y="6686"/>
                  <a:pt x="202326" y="0"/>
                </a:cubicBezTo>
                <a:cubicBezTo>
                  <a:pt x="310846" y="-50018"/>
                  <a:pt x="593216" y="34946"/>
                  <a:pt x="703269" y="0"/>
                </a:cubicBezTo>
                <a:cubicBezTo>
                  <a:pt x="813322" y="-34946"/>
                  <a:pt x="955403" y="25942"/>
                  <a:pt x="1163437" y="0"/>
                </a:cubicBezTo>
                <a:cubicBezTo>
                  <a:pt x="1371471" y="-25942"/>
                  <a:pt x="1593315" y="40294"/>
                  <a:pt x="1705155" y="0"/>
                </a:cubicBezTo>
                <a:cubicBezTo>
                  <a:pt x="1816995" y="-40294"/>
                  <a:pt x="2122609" y="42548"/>
                  <a:pt x="2328421" y="0"/>
                </a:cubicBezTo>
                <a:cubicBezTo>
                  <a:pt x="2534233" y="-42548"/>
                  <a:pt x="2780578" y="59133"/>
                  <a:pt x="2992461" y="0"/>
                </a:cubicBezTo>
                <a:cubicBezTo>
                  <a:pt x="3204344" y="-59133"/>
                  <a:pt x="3421836" y="36180"/>
                  <a:pt x="3534179" y="0"/>
                </a:cubicBezTo>
                <a:cubicBezTo>
                  <a:pt x="3646522" y="-36180"/>
                  <a:pt x="4090705" y="35347"/>
                  <a:pt x="4279768" y="0"/>
                </a:cubicBezTo>
                <a:cubicBezTo>
                  <a:pt x="4374039" y="17153"/>
                  <a:pt x="4478954" y="94594"/>
                  <a:pt x="4482094" y="202326"/>
                </a:cubicBezTo>
                <a:cubicBezTo>
                  <a:pt x="4499112" y="317165"/>
                  <a:pt x="4466703" y="476425"/>
                  <a:pt x="4482094" y="598873"/>
                </a:cubicBezTo>
                <a:cubicBezTo>
                  <a:pt x="4497485" y="721321"/>
                  <a:pt x="4433159" y="915363"/>
                  <a:pt x="4482094" y="1011606"/>
                </a:cubicBezTo>
                <a:cubicBezTo>
                  <a:pt x="4500655" y="1107200"/>
                  <a:pt x="4371140" y="1231747"/>
                  <a:pt x="4279768" y="1213932"/>
                </a:cubicBezTo>
                <a:cubicBezTo>
                  <a:pt x="3949763" y="1262404"/>
                  <a:pt x="3886087" y="1171221"/>
                  <a:pt x="3615727" y="1213932"/>
                </a:cubicBezTo>
                <a:cubicBezTo>
                  <a:pt x="3345367" y="1256643"/>
                  <a:pt x="3188927" y="1158815"/>
                  <a:pt x="2992461" y="1213932"/>
                </a:cubicBezTo>
                <a:cubicBezTo>
                  <a:pt x="2795995" y="1269049"/>
                  <a:pt x="2642429" y="1202278"/>
                  <a:pt x="2369195" y="1213932"/>
                </a:cubicBezTo>
                <a:cubicBezTo>
                  <a:pt x="2095961" y="1225586"/>
                  <a:pt x="2124900" y="1207898"/>
                  <a:pt x="1909027" y="1213932"/>
                </a:cubicBezTo>
                <a:cubicBezTo>
                  <a:pt x="1693154" y="1219966"/>
                  <a:pt x="1674914" y="1164025"/>
                  <a:pt x="1448858" y="1213932"/>
                </a:cubicBezTo>
                <a:cubicBezTo>
                  <a:pt x="1222802" y="1263839"/>
                  <a:pt x="1114471" y="1165257"/>
                  <a:pt x="988690" y="1213932"/>
                </a:cubicBezTo>
                <a:cubicBezTo>
                  <a:pt x="862909" y="1262607"/>
                  <a:pt x="434083" y="1185791"/>
                  <a:pt x="202326" y="1213932"/>
                </a:cubicBezTo>
                <a:cubicBezTo>
                  <a:pt x="103782" y="1218548"/>
                  <a:pt x="15230" y="1124784"/>
                  <a:pt x="0" y="1011606"/>
                </a:cubicBezTo>
                <a:cubicBezTo>
                  <a:pt x="-5740" y="817584"/>
                  <a:pt x="4281" y="721549"/>
                  <a:pt x="0" y="623152"/>
                </a:cubicBezTo>
                <a:cubicBezTo>
                  <a:pt x="-4281" y="524755"/>
                  <a:pt x="41708" y="293725"/>
                  <a:pt x="0" y="202326"/>
                </a:cubicBezTo>
                <a:close/>
              </a:path>
              <a:path w="4482094" h="1213932" stroke="0" extrusionOk="0">
                <a:moveTo>
                  <a:pt x="0" y="202326"/>
                </a:moveTo>
                <a:cubicBezTo>
                  <a:pt x="-16723" y="104191"/>
                  <a:pt x="101543" y="-28700"/>
                  <a:pt x="202326" y="0"/>
                </a:cubicBezTo>
                <a:cubicBezTo>
                  <a:pt x="436127" y="-38849"/>
                  <a:pt x="523360" y="22818"/>
                  <a:pt x="784818" y="0"/>
                </a:cubicBezTo>
                <a:cubicBezTo>
                  <a:pt x="1046276" y="-22818"/>
                  <a:pt x="1235129" y="60004"/>
                  <a:pt x="1448858" y="0"/>
                </a:cubicBezTo>
                <a:cubicBezTo>
                  <a:pt x="1662587" y="-60004"/>
                  <a:pt x="1803950" y="17905"/>
                  <a:pt x="1909027" y="0"/>
                </a:cubicBezTo>
                <a:cubicBezTo>
                  <a:pt x="2014104" y="-17905"/>
                  <a:pt x="2245709" y="15579"/>
                  <a:pt x="2369195" y="0"/>
                </a:cubicBezTo>
                <a:cubicBezTo>
                  <a:pt x="2492681" y="-15579"/>
                  <a:pt x="2662699" y="41827"/>
                  <a:pt x="2910912" y="0"/>
                </a:cubicBezTo>
                <a:cubicBezTo>
                  <a:pt x="3159125" y="-41827"/>
                  <a:pt x="3274654" y="25262"/>
                  <a:pt x="3493404" y="0"/>
                </a:cubicBezTo>
                <a:cubicBezTo>
                  <a:pt x="3712154" y="-25262"/>
                  <a:pt x="4011493" y="69021"/>
                  <a:pt x="4279768" y="0"/>
                </a:cubicBezTo>
                <a:cubicBezTo>
                  <a:pt x="4400494" y="30317"/>
                  <a:pt x="4459968" y="67561"/>
                  <a:pt x="4482094" y="202326"/>
                </a:cubicBezTo>
                <a:cubicBezTo>
                  <a:pt x="4512683" y="389701"/>
                  <a:pt x="4438350" y="470058"/>
                  <a:pt x="4482094" y="598873"/>
                </a:cubicBezTo>
                <a:cubicBezTo>
                  <a:pt x="4525838" y="727688"/>
                  <a:pt x="4439543" y="818110"/>
                  <a:pt x="4482094" y="1011606"/>
                </a:cubicBezTo>
                <a:cubicBezTo>
                  <a:pt x="4501699" y="1146361"/>
                  <a:pt x="4403210" y="1213086"/>
                  <a:pt x="4279768" y="1213932"/>
                </a:cubicBezTo>
                <a:cubicBezTo>
                  <a:pt x="4053273" y="1262350"/>
                  <a:pt x="3993693" y="1199585"/>
                  <a:pt x="3819600" y="1213932"/>
                </a:cubicBezTo>
                <a:cubicBezTo>
                  <a:pt x="3645507" y="1228279"/>
                  <a:pt x="3564206" y="1206396"/>
                  <a:pt x="3359431" y="1213932"/>
                </a:cubicBezTo>
                <a:cubicBezTo>
                  <a:pt x="3154656" y="1221468"/>
                  <a:pt x="3031699" y="1166407"/>
                  <a:pt x="2899263" y="1213932"/>
                </a:cubicBezTo>
                <a:cubicBezTo>
                  <a:pt x="2766827" y="1261457"/>
                  <a:pt x="2645038" y="1211015"/>
                  <a:pt x="2439094" y="1213932"/>
                </a:cubicBezTo>
                <a:cubicBezTo>
                  <a:pt x="2233150" y="1216849"/>
                  <a:pt x="2142178" y="1158375"/>
                  <a:pt x="1856602" y="1213932"/>
                </a:cubicBezTo>
                <a:cubicBezTo>
                  <a:pt x="1571026" y="1269489"/>
                  <a:pt x="1587404" y="1184297"/>
                  <a:pt x="1396434" y="1213932"/>
                </a:cubicBezTo>
                <a:cubicBezTo>
                  <a:pt x="1205464" y="1243567"/>
                  <a:pt x="999372" y="1142548"/>
                  <a:pt x="732393" y="1213932"/>
                </a:cubicBezTo>
                <a:cubicBezTo>
                  <a:pt x="465414" y="1285316"/>
                  <a:pt x="429827" y="1204260"/>
                  <a:pt x="202326" y="1213932"/>
                </a:cubicBezTo>
                <a:cubicBezTo>
                  <a:pt x="98367" y="1220249"/>
                  <a:pt x="15313" y="1128582"/>
                  <a:pt x="0" y="1011606"/>
                </a:cubicBezTo>
                <a:cubicBezTo>
                  <a:pt x="-22348" y="922605"/>
                  <a:pt x="18797" y="799667"/>
                  <a:pt x="0" y="615059"/>
                </a:cubicBezTo>
                <a:cubicBezTo>
                  <a:pt x="-18797" y="430451"/>
                  <a:pt x="27808" y="389567"/>
                  <a:pt x="0" y="202326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5400">
            <a:bevel/>
            <a:extLst>
              <a:ext uri="{C807C97D-BFC1-408E-A445-0C87EB9F89A2}">
                <ask:lineSketchStyleProps xmlns:ask="http://schemas.microsoft.com/office/drawing/2018/sketchyshapes" sd="24758733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8CA6B4-FA51-63DB-FAA8-25BD9B9E763E}"/>
              </a:ext>
            </a:extLst>
          </p:cNvPr>
          <p:cNvSpPr/>
          <p:nvPr/>
        </p:nvSpPr>
        <p:spPr>
          <a:xfrm>
            <a:off x="6615105" y="4696264"/>
            <a:ext cx="4658815" cy="1213932"/>
          </a:xfrm>
          <a:custGeom>
            <a:avLst/>
            <a:gdLst>
              <a:gd name="csX0" fmla="*/ 0 w 4658815"/>
              <a:gd name="csY0" fmla="*/ 202326 h 1213932"/>
              <a:gd name="csX1" fmla="*/ 202326 w 4658815"/>
              <a:gd name="csY1" fmla="*/ 0 h 1213932"/>
              <a:gd name="csX2" fmla="*/ 776638 w 4658815"/>
              <a:gd name="csY2" fmla="*/ 0 h 1213932"/>
              <a:gd name="csX3" fmla="*/ 1223325 w 4658815"/>
              <a:gd name="csY3" fmla="*/ 0 h 1213932"/>
              <a:gd name="csX4" fmla="*/ 1797637 w 4658815"/>
              <a:gd name="csY4" fmla="*/ 0 h 1213932"/>
              <a:gd name="csX5" fmla="*/ 2201783 w 4658815"/>
              <a:gd name="csY5" fmla="*/ 0 h 1213932"/>
              <a:gd name="csX6" fmla="*/ 2776095 w 4658815"/>
              <a:gd name="csY6" fmla="*/ 0 h 1213932"/>
              <a:gd name="csX7" fmla="*/ 3222782 w 4658815"/>
              <a:gd name="csY7" fmla="*/ 0 h 1213932"/>
              <a:gd name="csX8" fmla="*/ 3626927 w 4658815"/>
              <a:gd name="csY8" fmla="*/ 0 h 1213932"/>
              <a:gd name="csX9" fmla="*/ 4456489 w 4658815"/>
              <a:gd name="csY9" fmla="*/ 0 h 1213932"/>
              <a:gd name="csX10" fmla="*/ 4658815 w 4658815"/>
              <a:gd name="csY10" fmla="*/ 202326 h 1213932"/>
              <a:gd name="csX11" fmla="*/ 4658815 w 4658815"/>
              <a:gd name="csY11" fmla="*/ 615059 h 1213932"/>
              <a:gd name="csX12" fmla="*/ 4658815 w 4658815"/>
              <a:gd name="csY12" fmla="*/ 1011606 h 1213932"/>
              <a:gd name="csX13" fmla="*/ 4456489 w 4658815"/>
              <a:gd name="csY13" fmla="*/ 1213932 h 1213932"/>
              <a:gd name="csX14" fmla="*/ 4052344 w 4658815"/>
              <a:gd name="csY14" fmla="*/ 1213932 h 1213932"/>
              <a:gd name="csX15" fmla="*/ 3435490 w 4658815"/>
              <a:gd name="csY15" fmla="*/ 1213932 h 1213932"/>
              <a:gd name="csX16" fmla="*/ 2903720 w 4658815"/>
              <a:gd name="csY16" fmla="*/ 1213932 h 1213932"/>
              <a:gd name="csX17" fmla="*/ 2286866 w 4658815"/>
              <a:gd name="csY17" fmla="*/ 1213932 h 1213932"/>
              <a:gd name="csX18" fmla="*/ 1712554 w 4658815"/>
              <a:gd name="csY18" fmla="*/ 1213932 h 1213932"/>
              <a:gd name="csX19" fmla="*/ 1223325 w 4658815"/>
              <a:gd name="csY19" fmla="*/ 1213932 h 1213932"/>
              <a:gd name="csX20" fmla="*/ 202326 w 4658815"/>
              <a:gd name="csY20" fmla="*/ 1213932 h 1213932"/>
              <a:gd name="csX21" fmla="*/ 0 w 4658815"/>
              <a:gd name="csY21" fmla="*/ 1011606 h 1213932"/>
              <a:gd name="csX22" fmla="*/ 0 w 4658815"/>
              <a:gd name="csY22" fmla="*/ 606966 h 1213932"/>
              <a:gd name="csX23" fmla="*/ 0 w 4658815"/>
              <a:gd name="csY23" fmla="*/ 202326 h 1213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58815" h="1213932" fill="none" extrusionOk="0">
                <a:moveTo>
                  <a:pt x="0" y="202326"/>
                </a:moveTo>
                <a:cubicBezTo>
                  <a:pt x="-13865" y="118417"/>
                  <a:pt x="86826" y="-4987"/>
                  <a:pt x="202326" y="0"/>
                </a:cubicBezTo>
                <a:cubicBezTo>
                  <a:pt x="461530" y="-6300"/>
                  <a:pt x="508999" y="20240"/>
                  <a:pt x="776638" y="0"/>
                </a:cubicBezTo>
                <a:cubicBezTo>
                  <a:pt x="1044277" y="-20240"/>
                  <a:pt x="1043875" y="3992"/>
                  <a:pt x="1223325" y="0"/>
                </a:cubicBezTo>
                <a:cubicBezTo>
                  <a:pt x="1402775" y="-3992"/>
                  <a:pt x="1646824" y="1804"/>
                  <a:pt x="1797637" y="0"/>
                </a:cubicBezTo>
                <a:cubicBezTo>
                  <a:pt x="1948450" y="-1804"/>
                  <a:pt x="2058582" y="8185"/>
                  <a:pt x="2201783" y="0"/>
                </a:cubicBezTo>
                <a:cubicBezTo>
                  <a:pt x="2344984" y="-8185"/>
                  <a:pt x="2546989" y="67223"/>
                  <a:pt x="2776095" y="0"/>
                </a:cubicBezTo>
                <a:cubicBezTo>
                  <a:pt x="3005201" y="-67223"/>
                  <a:pt x="3036691" y="4785"/>
                  <a:pt x="3222782" y="0"/>
                </a:cubicBezTo>
                <a:cubicBezTo>
                  <a:pt x="3408873" y="-4785"/>
                  <a:pt x="3499934" y="35826"/>
                  <a:pt x="3626927" y="0"/>
                </a:cubicBezTo>
                <a:cubicBezTo>
                  <a:pt x="3753921" y="-35826"/>
                  <a:pt x="4236949" y="27302"/>
                  <a:pt x="4456489" y="0"/>
                </a:cubicBezTo>
                <a:cubicBezTo>
                  <a:pt x="4562502" y="21437"/>
                  <a:pt x="4685616" y="98271"/>
                  <a:pt x="4658815" y="202326"/>
                </a:cubicBezTo>
                <a:cubicBezTo>
                  <a:pt x="4699777" y="365515"/>
                  <a:pt x="4655207" y="490933"/>
                  <a:pt x="4658815" y="615059"/>
                </a:cubicBezTo>
                <a:cubicBezTo>
                  <a:pt x="4662423" y="739185"/>
                  <a:pt x="4635272" y="887276"/>
                  <a:pt x="4658815" y="1011606"/>
                </a:cubicBezTo>
                <a:cubicBezTo>
                  <a:pt x="4669788" y="1150168"/>
                  <a:pt x="4587821" y="1233312"/>
                  <a:pt x="4456489" y="1213932"/>
                </a:cubicBezTo>
                <a:cubicBezTo>
                  <a:pt x="4299887" y="1239580"/>
                  <a:pt x="4187456" y="1179398"/>
                  <a:pt x="4052344" y="1213932"/>
                </a:cubicBezTo>
                <a:cubicBezTo>
                  <a:pt x="3917233" y="1248466"/>
                  <a:pt x="3661664" y="1199401"/>
                  <a:pt x="3435490" y="1213932"/>
                </a:cubicBezTo>
                <a:cubicBezTo>
                  <a:pt x="3209316" y="1228463"/>
                  <a:pt x="3082040" y="1205725"/>
                  <a:pt x="2903720" y="1213932"/>
                </a:cubicBezTo>
                <a:cubicBezTo>
                  <a:pt x="2725400" y="1222139"/>
                  <a:pt x="2587397" y="1145467"/>
                  <a:pt x="2286866" y="1213932"/>
                </a:cubicBezTo>
                <a:cubicBezTo>
                  <a:pt x="1986335" y="1282397"/>
                  <a:pt x="1936315" y="1195658"/>
                  <a:pt x="1712554" y="1213932"/>
                </a:cubicBezTo>
                <a:cubicBezTo>
                  <a:pt x="1488793" y="1232206"/>
                  <a:pt x="1435692" y="1196997"/>
                  <a:pt x="1223325" y="1213932"/>
                </a:cubicBezTo>
                <a:cubicBezTo>
                  <a:pt x="1010958" y="1230867"/>
                  <a:pt x="612559" y="1189547"/>
                  <a:pt x="202326" y="1213932"/>
                </a:cubicBezTo>
                <a:cubicBezTo>
                  <a:pt x="90953" y="1230726"/>
                  <a:pt x="13269" y="1111441"/>
                  <a:pt x="0" y="1011606"/>
                </a:cubicBezTo>
                <a:cubicBezTo>
                  <a:pt x="-45144" y="925982"/>
                  <a:pt x="36711" y="708230"/>
                  <a:pt x="0" y="606966"/>
                </a:cubicBezTo>
                <a:cubicBezTo>
                  <a:pt x="-36711" y="505702"/>
                  <a:pt x="11056" y="331283"/>
                  <a:pt x="0" y="202326"/>
                </a:cubicBezTo>
                <a:close/>
              </a:path>
              <a:path w="4658815" h="1213932" stroke="0" extrusionOk="0">
                <a:moveTo>
                  <a:pt x="0" y="202326"/>
                </a:moveTo>
                <a:cubicBezTo>
                  <a:pt x="-4482" y="87820"/>
                  <a:pt x="67944" y="8497"/>
                  <a:pt x="202326" y="0"/>
                </a:cubicBezTo>
                <a:cubicBezTo>
                  <a:pt x="485467" y="-16537"/>
                  <a:pt x="622590" y="33956"/>
                  <a:pt x="819180" y="0"/>
                </a:cubicBezTo>
                <a:cubicBezTo>
                  <a:pt x="1015770" y="-33956"/>
                  <a:pt x="1101224" y="48252"/>
                  <a:pt x="1308408" y="0"/>
                </a:cubicBezTo>
                <a:cubicBezTo>
                  <a:pt x="1515592" y="-48252"/>
                  <a:pt x="1635004" y="50099"/>
                  <a:pt x="1755095" y="0"/>
                </a:cubicBezTo>
                <a:cubicBezTo>
                  <a:pt x="1875186" y="-50099"/>
                  <a:pt x="2191388" y="4252"/>
                  <a:pt x="2329408" y="0"/>
                </a:cubicBezTo>
                <a:cubicBezTo>
                  <a:pt x="2467428" y="-4252"/>
                  <a:pt x="2666761" y="55587"/>
                  <a:pt x="2818636" y="0"/>
                </a:cubicBezTo>
                <a:cubicBezTo>
                  <a:pt x="2970511" y="-55587"/>
                  <a:pt x="3287266" y="29637"/>
                  <a:pt x="3435490" y="0"/>
                </a:cubicBezTo>
                <a:cubicBezTo>
                  <a:pt x="3583714" y="-29637"/>
                  <a:pt x="3683091" y="7055"/>
                  <a:pt x="3882177" y="0"/>
                </a:cubicBezTo>
                <a:cubicBezTo>
                  <a:pt x="4081263" y="-7055"/>
                  <a:pt x="4263947" y="22576"/>
                  <a:pt x="4456489" y="0"/>
                </a:cubicBezTo>
                <a:cubicBezTo>
                  <a:pt x="4580725" y="3004"/>
                  <a:pt x="4652930" y="89632"/>
                  <a:pt x="4658815" y="202326"/>
                </a:cubicBezTo>
                <a:cubicBezTo>
                  <a:pt x="4688865" y="325324"/>
                  <a:pt x="4634746" y="457901"/>
                  <a:pt x="4658815" y="606966"/>
                </a:cubicBezTo>
                <a:cubicBezTo>
                  <a:pt x="4682884" y="756031"/>
                  <a:pt x="4622469" y="844144"/>
                  <a:pt x="4658815" y="1011606"/>
                </a:cubicBezTo>
                <a:cubicBezTo>
                  <a:pt x="4670900" y="1138151"/>
                  <a:pt x="4586142" y="1198250"/>
                  <a:pt x="4456489" y="1213932"/>
                </a:cubicBezTo>
                <a:cubicBezTo>
                  <a:pt x="4305302" y="1251813"/>
                  <a:pt x="4166599" y="1175047"/>
                  <a:pt x="3924719" y="1213932"/>
                </a:cubicBezTo>
                <a:cubicBezTo>
                  <a:pt x="3682839" y="1252817"/>
                  <a:pt x="3636809" y="1211537"/>
                  <a:pt x="3392948" y="1213932"/>
                </a:cubicBezTo>
                <a:cubicBezTo>
                  <a:pt x="3149087" y="1216327"/>
                  <a:pt x="3019653" y="1187995"/>
                  <a:pt x="2776095" y="1213932"/>
                </a:cubicBezTo>
                <a:cubicBezTo>
                  <a:pt x="2532537" y="1239869"/>
                  <a:pt x="2374460" y="1202954"/>
                  <a:pt x="2244324" y="1213932"/>
                </a:cubicBezTo>
                <a:cubicBezTo>
                  <a:pt x="2114188" y="1224910"/>
                  <a:pt x="2039497" y="1172031"/>
                  <a:pt x="1840179" y="1213932"/>
                </a:cubicBezTo>
                <a:cubicBezTo>
                  <a:pt x="1640861" y="1255833"/>
                  <a:pt x="1583331" y="1207787"/>
                  <a:pt x="1393492" y="1213932"/>
                </a:cubicBezTo>
                <a:cubicBezTo>
                  <a:pt x="1203653" y="1220077"/>
                  <a:pt x="914863" y="1201446"/>
                  <a:pt x="776638" y="1213932"/>
                </a:cubicBezTo>
                <a:cubicBezTo>
                  <a:pt x="638413" y="1226418"/>
                  <a:pt x="437328" y="1174067"/>
                  <a:pt x="202326" y="1213932"/>
                </a:cubicBezTo>
                <a:cubicBezTo>
                  <a:pt x="93009" y="1218734"/>
                  <a:pt x="-19492" y="1133627"/>
                  <a:pt x="0" y="1011606"/>
                </a:cubicBezTo>
                <a:cubicBezTo>
                  <a:pt x="-34041" y="867494"/>
                  <a:pt x="19408" y="757014"/>
                  <a:pt x="0" y="598873"/>
                </a:cubicBezTo>
                <a:cubicBezTo>
                  <a:pt x="-19408" y="440732"/>
                  <a:pt x="27962" y="330545"/>
                  <a:pt x="0" y="202326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5400">
            <a:bevel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6AFA8-94E7-8FA3-5C74-5E447284DF69}"/>
              </a:ext>
            </a:extLst>
          </p:cNvPr>
          <p:cNvSpPr txBox="1"/>
          <p:nvPr/>
        </p:nvSpPr>
        <p:spPr>
          <a:xfrm>
            <a:off x="6615108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D2CE3-70F8-11B9-7D58-29E170870203}"/>
              </a:ext>
            </a:extLst>
          </p:cNvPr>
          <p:cNvSpPr txBox="1"/>
          <p:nvPr/>
        </p:nvSpPr>
        <p:spPr>
          <a:xfrm>
            <a:off x="6615107" y="3218936"/>
            <a:ext cx="2587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Unicasts 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machines to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80C420-0517-09E3-3306-16FEF5D3971E}"/>
              </a:ext>
            </a:extLst>
          </p:cNvPr>
          <p:cNvSpPr txBox="1"/>
          <p:nvPr/>
        </p:nvSpPr>
        <p:spPr>
          <a:xfrm>
            <a:off x="558943" y="4755944"/>
            <a:ext cx="4247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market data multicast in financial exchanges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BFBDF-5704-7FE3-B059-1EFA7AEB28BE}"/>
              </a:ext>
            </a:extLst>
          </p:cNvPr>
          <p:cNvSpPr txBox="1"/>
          <p:nvPr/>
        </p:nvSpPr>
        <p:spPr>
          <a:xfrm>
            <a:off x="6567336" y="4755944"/>
            <a:ext cx="5065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traders submitting orders to a financial exchange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688C0-2564-B347-6E66-6E8EFA2EEB20}"/>
              </a:ext>
            </a:extLst>
          </p:cNvPr>
          <p:cNvSpPr txBox="1"/>
          <p:nvPr/>
        </p:nvSpPr>
        <p:spPr>
          <a:xfrm>
            <a:off x="2124432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FDCFBB-6F77-3E38-840A-25FE417742F7}"/>
              </a:ext>
            </a:extLst>
          </p:cNvPr>
          <p:cNvSpPr txBox="1"/>
          <p:nvPr/>
        </p:nvSpPr>
        <p:spPr>
          <a:xfrm>
            <a:off x="2622846" y="3235757"/>
            <a:ext cx="2249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 from server to machines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929B5A-ACCF-B441-ACD5-3B26045D5CDE}"/>
              </a:ext>
            </a:extLst>
          </p:cNvPr>
          <p:cNvSpPr/>
          <p:nvPr/>
        </p:nvSpPr>
        <p:spPr>
          <a:xfrm>
            <a:off x="5733022" y="2774092"/>
            <a:ext cx="45719" cy="2492991"/>
          </a:xfrm>
          <a:custGeom>
            <a:avLst/>
            <a:gdLst>
              <a:gd name="csX0" fmla="*/ 0 w 45719"/>
              <a:gd name="csY0" fmla="*/ 0 h 2492991"/>
              <a:gd name="csX1" fmla="*/ 45719 w 45719"/>
              <a:gd name="csY1" fmla="*/ 0 h 2492991"/>
              <a:gd name="csX2" fmla="*/ 45719 w 45719"/>
              <a:gd name="csY2" fmla="*/ 498598 h 2492991"/>
              <a:gd name="csX3" fmla="*/ 45719 w 45719"/>
              <a:gd name="csY3" fmla="*/ 1047056 h 2492991"/>
              <a:gd name="csX4" fmla="*/ 45719 w 45719"/>
              <a:gd name="csY4" fmla="*/ 1545654 h 2492991"/>
              <a:gd name="csX5" fmla="*/ 45719 w 45719"/>
              <a:gd name="csY5" fmla="*/ 1969463 h 2492991"/>
              <a:gd name="csX6" fmla="*/ 45719 w 45719"/>
              <a:gd name="csY6" fmla="*/ 2492991 h 2492991"/>
              <a:gd name="csX7" fmla="*/ 0 w 45719"/>
              <a:gd name="csY7" fmla="*/ 2492991 h 2492991"/>
              <a:gd name="csX8" fmla="*/ 0 w 45719"/>
              <a:gd name="csY8" fmla="*/ 1944533 h 2492991"/>
              <a:gd name="csX9" fmla="*/ 0 w 45719"/>
              <a:gd name="csY9" fmla="*/ 1421005 h 2492991"/>
              <a:gd name="csX10" fmla="*/ 0 w 45719"/>
              <a:gd name="csY10" fmla="*/ 922407 h 2492991"/>
              <a:gd name="csX11" fmla="*/ 0 w 45719"/>
              <a:gd name="csY11" fmla="*/ 0 h 249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5719" h="2492991" fill="none" extrusionOk="0">
                <a:moveTo>
                  <a:pt x="0" y="0"/>
                </a:moveTo>
                <a:cubicBezTo>
                  <a:pt x="15466" y="-3108"/>
                  <a:pt x="29505" y="2787"/>
                  <a:pt x="45719" y="0"/>
                </a:cubicBezTo>
                <a:cubicBezTo>
                  <a:pt x="96714" y="244462"/>
                  <a:pt x="38492" y="292531"/>
                  <a:pt x="45719" y="498598"/>
                </a:cubicBezTo>
                <a:cubicBezTo>
                  <a:pt x="52946" y="704665"/>
                  <a:pt x="41215" y="773940"/>
                  <a:pt x="45719" y="1047056"/>
                </a:cubicBezTo>
                <a:cubicBezTo>
                  <a:pt x="50223" y="1320172"/>
                  <a:pt x="20442" y="1409127"/>
                  <a:pt x="45719" y="1545654"/>
                </a:cubicBezTo>
                <a:cubicBezTo>
                  <a:pt x="70996" y="1682181"/>
                  <a:pt x="37286" y="1837495"/>
                  <a:pt x="45719" y="1969463"/>
                </a:cubicBezTo>
                <a:cubicBezTo>
                  <a:pt x="54152" y="2101431"/>
                  <a:pt x="20701" y="2253374"/>
                  <a:pt x="45719" y="2492991"/>
                </a:cubicBezTo>
                <a:cubicBezTo>
                  <a:pt x="34208" y="2496004"/>
                  <a:pt x="9588" y="2489496"/>
                  <a:pt x="0" y="2492991"/>
                </a:cubicBezTo>
                <a:cubicBezTo>
                  <a:pt x="-9781" y="2257546"/>
                  <a:pt x="17963" y="2141047"/>
                  <a:pt x="0" y="1944533"/>
                </a:cubicBezTo>
                <a:cubicBezTo>
                  <a:pt x="-17963" y="1748019"/>
                  <a:pt x="28336" y="1642462"/>
                  <a:pt x="0" y="1421005"/>
                </a:cubicBezTo>
                <a:cubicBezTo>
                  <a:pt x="-28336" y="1199548"/>
                  <a:pt x="13584" y="1089980"/>
                  <a:pt x="0" y="922407"/>
                </a:cubicBezTo>
                <a:cubicBezTo>
                  <a:pt x="-13584" y="754834"/>
                  <a:pt x="77438" y="239728"/>
                  <a:pt x="0" y="0"/>
                </a:cubicBezTo>
                <a:close/>
              </a:path>
              <a:path w="45719" h="2492991" stroke="0" extrusionOk="0">
                <a:moveTo>
                  <a:pt x="0" y="0"/>
                </a:moveTo>
                <a:cubicBezTo>
                  <a:pt x="18173" y="-1477"/>
                  <a:pt x="31455" y="3772"/>
                  <a:pt x="45719" y="0"/>
                </a:cubicBezTo>
                <a:cubicBezTo>
                  <a:pt x="49078" y="113210"/>
                  <a:pt x="23101" y="288473"/>
                  <a:pt x="45719" y="423808"/>
                </a:cubicBezTo>
                <a:cubicBezTo>
                  <a:pt x="68337" y="559143"/>
                  <a:pt x="-15560" y="770450"/>
                  <a:pt x="45719" y="972266"/>
                </a:cubicBezTo>
                <a:cubicBezTo>
                  <a:pt x="106998" y="1174082"/>
                  <a:pt x="-1609" y="1235521"/>
                  <a:pt x="45719" y="1470865"/>
                </a:cubicBezTo>
                <a:cubicBezTo>
                  <a:pt x="93047" y="1706209"/>
                  <a:pt x="30494" y="1816253"/>
                  <a:pt x="45719" y="1919603"/>
                </a:cubicBezTo>
                <a:cubicBezTo>
                  <a:pt x="60944" y="2022953"/>
                  <a:pt x="28474" y="2341608"/>
                  <a:pt x="45719" y="2492991"/>
                </a:cubicBezTo>
                <a:cubicBezTo>
                  <a:pt x="22941" y="2494258"/>
                  <a:pt x="12902" y="2490132"/>
                  <a:pt x="0" y="2492991"/>
                </a:cubicBezTo>
                <a:cubicBezTo>
                  <a:pt x="-59460" y="2250702"/>
                  <a:pt x="24665" y="2128448"/>
                  <a:pt x="0" y="1944533"/>
                </a:cubicBezTo>
                <a:cubicBezTo>
                  <a:pt x="-24665" y="1760618"/>
                  <a:pt x="21622" y="1582387"/>
                  <a:pt x="0" y="1396075"/>
                </a:cubicBezTo>
                <a:cubicBezTo>
                  <a:pt x="-21622" y="1209763"/>
                  <a:pt x="53927" y="1082433"/>
                  <a:pt x="0" y="922407"/>
                </a:cubicBezTo>
                <a:cubicBezTo>
                  <a:pt x="-53927" y="762381"/>
                  <a:pt x="37230" y="594554"/>
                  <a:pt x="0" y="448738"/>
                </a:cubicBezTo>
                <a:cubicBezTo>
                  <a:pt x="-37230" y="302922"/>
                  <a:pt x="25725" y="182915"/>
                  <a:pt x="0" y="0"/>
                </a:cubicBezTo>
                <a:close/>
              </a:path>
            </a:pathLst>
          </a:custGeom>
          <a:solidFill>
            <a:srgbClr val="7030A0"/>
          </a:solidFill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171F2CF-42BA-AEE3-8EB7-076D1BD7BE7D}"/>
              </a:ext>
            </a:extLst>
          </p:cNvPr>
          <p:cNvSpPr/>
          <p:nvPr/>
        </p:nvSpPr>
        <p:spPr>
          <a:xfrm>
            <a:off x="3155766" y="5757425"/>
            <a:ext cx="5425726" cy="6954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Infrastructure used by on-premises financial exchanges</a:t>
            </a:r>
          </a:p>
        </p:txBody>
      </p:sp>
    </p:spTree>
    <p:extLst>
      <p:ext uri="{BB962C8B-B14F-4D97-AF65-F5344CB8AC3E}">
        <p14:creationId xmlns:p14="http://schemas.microsoft.com/office/powerpoint/2010/main" val="3266459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83306-CD41-340E-E289-BE2BD6A0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BEDC353-4BC1-F2DD-5794-8436701EE72B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037120-FE8A-DBCE-FD1B-3D1532654AF7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B0479C-494E-1D72-B4B2-C7C78BF777AD}"/>
              </a:ext>
            </a:extLst>
          </p:cNvPr>
          <p:cNvSpPr txBox="1"/>
          <p:nvPr/>
        </p:nvSpPr>
        <p:spPr>
          <a:xfrm>
            <a:off x="772906" y="405121"/>
            <a:ext cx="5095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ompetitive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97B7C2-A3A4-7CC4-20A8-DD6E28D2F59D}"/>
              </a:ext>
            </a:extLst>
          </p:cNvPr>
          <p:cNvSpPr txBox="1"/>
          <p:nvPr/>
        </p:nvSpPr>
        <p:spPr>
          <a:xfrm>
            <a:off x="4806479" y="716456"/>
            <a:ext cx="64108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Common Communication Patterns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088CEF2-0FFF-83BF-E570-0728B6DD3A80}"/>
              </a:ext>
            </a:extLst>
          </p:cNvPr>
          <p:cNvSpPr/>
          <p:nvPr/>
        </p:nvSpPr>
        <p:spPr>
          <a:xfrm>
            <a:off x="472966" y="4755944"/>
            <a:ext cx="4482094" cy="1213932"/>
          </a:xfrm>
          <a:custGeom>
            <a:avLst/>
            <a:gdLst>
              <a:gd name="csX0" fmla="*/ 0 w 4482094"/>
              <a:gd name="csY0" fmla="*/ 202326 h 1213932"/>
              <a:gd name="csX1" fmla="*/ 202326 w 4482094"/>
              <a:gd name="csY1" fmla="*/ 0 h 1213932"/>
              <a:gd name="csX2" fmla="*/ 703269 w 4482094"/>
              <a:gd name="csY2" fmla="*/ 0 h 1213932"/>
              <a:gd name="csX3" fmla="*/ 1163437 w 4482094"/>
              <a:gd name="csY3" fmla="*/ 0 h 1213932"/>
              <a:gd name="csX4" fmla="*/ 1705155 w 4482094"/>
              <a:gd name="csY4" fmla="*/ 0 h 1213932"/>
              <a:gd name="csX5" fmla="*/ 2328421 w 4482094"/>
              <a:gd name="csY5" fmla="*/ 0 h 1213932"/>
              <a:gd name="csX6" fmla="*/ 2992461 w 4482094"/>
              <a:gd name="csY6" fmla="*/ 0 h 1213932"/>
              <a:gd name="csX7" fmla="*/ 3534179 w 4482094"/>
              <a:gd name="csY7" fmla="*/ 0 h 1213932"/>
              <a:gd name="csX8" fmla="*/ 4279768 w 4482094"/>
              <a:gd name="csY8" fmla="*/ 0 h 1213932"/>
              <a:gd name="csX9" fmla="*/ 4482094 w 4482094"/>
              <a:gd name="csY9" fmla="*/ 202326 h 1213932"/>
              <a:gd name="csX10" fmla="*/ 4482094 w 4482094"/>
              <a:gd name="csY10" fmla="*/ 598873 h 1213932"/>
              <a:gd name="csX11" fmla="*/ 4482094 w 4482094"/>
              <a:gd name="csY11" fmla="*/ 1011606 h 1213932"/>
              <a:gd name="csX12" fmla="*/ 4279768 w 4482094"/>
              <a:gd name="csY12" fmla="*/ 1213932 h 1213932"/>
              <a:gd name="csX13" fmla="*/ 3615727 w 4482094"/>
              <a:gd name="csY13" fmla="*/ 1213932 h 1213932"/>
              <a:gd name="csX14" fmla="*/ 2992461 w 4482094"/>
              <a:gd name="csY14" fmla="*/ 1213932 h 1213932"/>
              <a:gd name="csX15" fmla="*/ 2369195 w 4482094"/>
              <a:gd name="csY15" fmla="*/ 1213932 h 1213932"/>
              <a:gd name="csX16" fmla="*/ 1909027 w 4482094"/>
              <a:gd name="csY16" fmla="*/ 1213932 h 1213932"/>
              <a:gd name="csX17" fmla="*/ 1448858 w 4482094"/>
              <a:gd name="csY17" fmla="*/ 1213932 h 1213932"/>
              <a:gd name="csX18" fmla="*/ 988690 w 4482094"/>
              <a:gd name="csY18" fmla="*/ 1213932 h 1213932"/>
              <a:gd name="csX19" fmla="*/ 202326 w 4482094"/>
              <a:gd name="csY19" fmla="*/ 1213932 h 1213932"/>
              <a:gd name="csX20" fmla="*/ 0 w 4482094"/>
              <a:gd name="csY20" fmla="*/ 1011606 h 1213932"/>
              <a:gd name="csX21" fmla="*/ 0 w 4482094"/>
              <a:gd name="csY21" fmla="*/ 623152 h 1213932"/>
              <a:gd name="csX22" fmla="*/ 0 w 4482094"/>
              <a:gd name="csY22" fmla="*/ 202326 h 1213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482094" h="1213932" fill="none" extrusionOk="0">
                <a:moveTo>
                  <a:pt x="0" y="202326"/>
                </a:moveTo>
                <a:cubicBezTo>
                  <a:pt x="26695" y="78017"/>
                  <a:pt x="75354" y="6686"/>
                  <a:pt x="202326" y="0"/>
                </a:cubicBezTo>
                <a:cubicBezTo>
                  <a:pt x="310846" y="-50018"/>
                  <a:pt x="593216" y="34946"/>
                  <a:pt x="703269" y="0"/>
                </a:cubicBezTo>
                <a:cubicBezTo>
                  <a:pt x="813322" y="-34946"/>
                  <a:pt x="955403" y="25942"/>
                  <a:pt x="1163437" y="0"/>
                </a:cubicBezTo>
                <a:cubicBezTo>
                  <a:pt x="1371471" y="-25942"/>
                  <a:pt x="1593315" y="40294"/>
                  <a:pt x="1705155" y="0"/>
                </a:cubicBezTo>
                <a:cubicBezTo>
                  <a:pt x="1816995" y="-40294"/>
                  <a:pt x="2122609" y="42548"/>
                  <a:pt x="2328421" y="0"/>
                </a:cubicBezTo>
                <a:cubicBezTo>
                  <a:pt x="2534233" y="-42548"/>
                  <a:pt x="2780578" y="59133"/>
                  <a:pt x="2992461" y="0"/>
                </a:cubicBezTo>
                <a:cubicBezTo>
                  <a:pt x="3204344" y="-59133"/>
                  <a:pt x="3421836" y="36180"/>
                  <a:pt x="3534179" y="0"/>
                </a:cubicBezTo>
                <a:cubicBezTo>
                  <a:pt x="3646522" y="-36180"/>
                  <a:pt x="4090705" y="35347"/>
                  <a:pt x="4279768" y="0"/>
                </a:cubicBezTo>
                <a:cubicBezTo>
                  <a:pt x="4374039" y="17153"/>
                  <a:pt x="4478954" y="94594"/>
                  <a:pt x="4482094" y="202326"/>
                </a:cubicBezTo>
                <a:cubicBezTo>
                  <a:pt x="4499112" y="317165"/>
                  <a:pt x="4466703" y="476425"/>
                  <a:pt x="4482094" y="598873"/>
                </a:cubicBezTo>
                <a:cubicBezTo>
                  <a:pt x="4497485" y="721321"/>
                  <a:pt x="4433159" y="915363"/>
                  <a:pt x="4482094" y="1011606"/>
                </a:cubicBezTo>
                <a:cubicBezTo>
                  <a:pt x="4500655" y="1107200"/>
                  <a:pt x="4371140" y="1231747"/>
                  <a:pt x="4279768" y="1213932"/>
                </a:cubicBezTo>
                <a:cubicBezTo>
                  <a:pt x="3949763" y="1262404"/>
                  <a:pt x="3886087" y="1171221"/>
                  <a:pt x="3615727" y="1213932"/>
                </a:cubicBezTo>
                <a:cubicBezTo>
                  <a:pt x="3345367" y="1256643"/>
                  <a:pt x="3188927" y="1158815"/>
                  <a:pt x="2992461" y="1213932"/>
                </a:cubicBezTo>
                <a:cubicBezTo>
                  <a:pt x="2795995" y="1269049"/>
                  <a:pt x="2642429" y="1202278"/>
                  <a:pt x="2369195" y="1213932"/>
                </a:cubicBezTo>
                <a:cubicBezTo>
                  <a:pt x="2095961" y="1225586"/>
                  <a:pt x="2124900" y="1207898"/>
                  <a:pt x="1909027" y="1213932"/>
                </a:cubicBezTo>
                <a:cubicBezTo>
                  <a:pt x="1693154" y="1219966"/>
                  <a:pt x="1674914" y="1164025"/>
                  <a:pt x="1448858" y="1213932"/>
                </a:cubicBezTo>
                <a:cubicBezTo>
                  <a:pt x="1222802" y="1263839"/>
                  <a:pt x="1114471" y="1165257"/>
                  <a:pt x="988690" y="1213932"/>
                </a:cubicBezTo>
                <a:cubicBezTo>
                  <a:pt x="862909" y="1262607"/>
                  <a:pt x="434083" y="1185791"/>
                  <a:pt x="202326" y="1213932"/>
                </a:cubicBezTo>
                <a:cubicBezTo>
                  <a:pt x="103782" y="1218548"/>
                  <a:pt x="15230" y="1124784"/>
                  <a:pt x="0" y="1011606"/>
                </a:cubicBezTo>
                <a:cubicBezTo>
                  <a:pt x="-5740" y="817584"/>
                  <a:pt x="4281" y="721549"/>
                  <a:pt x="0" y="623152"/>
                </a:cubicBezTo>
                <a:cubicBezTo>
                  <a:pt x="-4281" y="524755"/>
                  <a:pt x="41708" y="293725"/>
                  <a:pt x="0" y="202326"/>
                </a:cubicBezTo>
                <a:close/>
              </a:path>
              <a:path w="4482094" h="1213932" stroke="0" extrusionOk="0">
                <a:moveTo>
                  <a:pt x="0" y="202326"/>
                </a:moveTo>
                <a:cubicBezTo>
                  <a:pt x="-16723" y="104191"/>
                  <a:pt x="101543" y="-28700"/>
                  <a:pt x="202326" y="0"/>
                </a:cubicBezTo>
                <a:cubicBezTo>
                  <a:pt x="436127" y="-38849"/>
                  <a:pt x="523360" y="22818"/>
                  <a:pt x="784818" y="0"/>
                </a:cubicBezTo>
                <a:cubicBezTo>
                  <a:pt x="1046276" y="-22818"/>
                  <a:pt x="1235129" y="60004"/>
                  <a:pt x="1448858" y="0"/>
                </a:cubicBezTo>
                <a:cubicBezTo>
                  <a:pt x="1662587" y="-60004"/>
                  <a:pt x="1803950" y="17905"/>
                  <a:pt x="1909027" y="0"/>
                </a:cubicBezTo>
                <a:cubicBezTo>
                  <a:pt x="2014104" y="-17905"/>
                  <a:pt x="2245709" y="15579"/>
                  <a:pt x="2369195" y="0"/>
                </a:cubicBezTo>
                <a:cubicBezTo>
                  <a:pt x="2492681" y="-15579"/>
                  <a:pt x="2662699" y="41827"/>
                  <a:pt x="2910912" y="0"/>
                </a:cubicBezTo>
                <a:cubicBezTo>
                  <a:pt x="3159125" y="-41827"/>
                  <a:pt x="3274654" y="25262"/>
                  <a:pt x="3493404" y="0"/>
                </a:cubicBezTo>
                <a:cubicBezTo>
                  <a:pt x="3712154" y="-25262"/>
                  <a:pt x="4011493" y="69021"/>
                  <a:pt x="4279768" y="0"/>
                </a:cubicBezTo>
                <a:cubicBezTo>
                  <a:pt x="4400494" y="30317"/>
                  <a:pt x="4459968" y="67561"/>
                  <a:pt x="4482094" y="202326"/>
                </a:cubicBezTo>
                <a:cubicBezTo>
                  <a:pt x="4512683" y="389701"/>
                  <a:pt x="4438350" y="470058"/>
                  <a:pt x="4482094" y="598873"/>
                </a:cubicBezTo>
                <a:cubicBezTo>
                  <a:pt x="4525838" y="727688"/>
                  <a:pt x="4439543" y="818110"/>
                  <a:pt x="4482094" y="1011606"/>
                </a:cubicBezTo>
                <a:cubicBezTo>
                  <a:pt x="4501699" y="1146361"/>
                  <a:pt x="4403210" y="1213086"/>
                  <a:pt x="4279768" y="1213932"/>
                </a:cubicBezTo>
                <a:cubicBezTo>
                  <a:pt x="4053273" y="1262350"/>
                  <a:pt x="3993693" y="1199585"/>
                  <a:pt x="3819600" y="1213932"/>
                </a:cubicBezTo>
                <a:cubicBezTo>
                  <a:pt x="3645507" y="1228279"/>
                  <a:pt x="3564206" y="1206396"/>
                  <a:pt x="3359431" y="1213932"/>
                </a:cubicBezTo>
                <a:cubicBezTo>
                  <a:pt x="3154656" y="1221468"/>
                  <a:pt x="3031699" y="1166407"/>
                  <a:pt x="2899263" y="1213932"/>
                </a:cubicBezTo>
                <a:cubicBezTo>
                  <a:pt x="2766827" y="1261457"/>
                  <a:pt x="2645038" y="1211015"/>
                  <a:pt x="2439094" y="1213932"/>
                </a:cubicBezTo>
                <a:cubicBezTo>
                  <a:pt x="2233150" y="1216849"/>
                  <a:pt x="2142178" y="1158375"/>
                  <a:pt x="1856602" y="1213932"/>
                </a:cubicBezTo>
                <a:cubicBezTo>
                  <a:pt x="1571026" y="1269489"/>
                  <a:pt x="1587404" y="1184297"/>
                  <a:pt x="1396434" y="1213932"/>
                </a:cubicBezTo>
                <a:cubicBezTo>
                  <a:pt x="1205464" y="1243567"/>
                  <a:pt x="999372" y="1142548"/>
                  <a:pt x="732393" y="1213932"/>
                </a:cubicBezTo>
                <a:cubicBezTo>
                  <a:pt x="465414" y="1285316"/>
                  <a:pt x="429827" y="1204260"/>
                  <a:pt x="202326" y="1213932"/>
                </a:cubicBezTo>
                <a:cubicBezTo>
                  <a:pt x="98367" y="1220249"/>
                  <a:pt x="15313" y="1128582"/>
                  <a:pt x="0" y="1011606"/>
                </a:cubicBezTo>
                <a:cubicBezTo>
                  <a:pt x="-22348" y="922605"/>
                  <a:pt x="18797" y="799667"/>
                  <a:pt x="0" y="615059"/>
                </a:cubicBezTo>
                <a:cubicBezTo>
                  <a:pt x="-18797" y="430451"/>
                  <a:pt x="27808" y="389567"/>
                  <a:pt x="0" y="202326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5400">
            <a:bevel/>
            <a:extLst>
              <a:ext uri="{C807C97D-BFC1-408E-A445-0C87EB9F89A2}">
                <ask:lineSketchStyleProps xmlns:ask="http://schemas.microsoft.com/office/drawing/2018/sketchyshapes" sd="247587333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B9AEF3-49AA-2E61-60B5-E8B25CF0FB6D}"/>
              </a:ext>
            </a:extLst>
          </p:cNvPr>
          <p:cNvSpPr/>
          <p:nvPr/>
        </p:nvSpPr>
        <p:spPr>
          <a:xfrm>
            <a:off x="6615105" y="4696264"/>
            <a:ext cx="4658815" cy="1213932"/>
          </a:xfrm>
          <a:custGeom>
            <a:avLst/>
            <a:gdLst>
              <a:gd name="csX0" fmla="*/ 0 w 4658815"/>
              <a:gd name="csY0" fmla="*/ 202326 h 1213932"/>
              <a:gd name="csX1" fmla="*/ 202326 w 4658815"/>
              <a:gd name="csY1" fmla="*/ 0 h 1213932"/>
              <a:gd name="csX2" fmla="*/ 776638 w 4658815"/>
              <a:gd name="csY2" fmla="*/ 0 h 1213932"/>
              <a:gd name="csX3" fmla="*/ 1223325 w 4658815"/>
              <a:gd name="csY3" fmla="*/ 0 h 1213932"/>
              <a:gd name="csX4" fmla="*/ 1797637 w 4658815"/>
              <a:gd name="csY4" fmla="*/ 0 h 1213932"/>
              <a:gd name="csX5" fmla="*/ 2201783 w 4658815"/>
              <a:gd name="csY5" fmla="*/ 0 h 1213932"/>
              <a:gd name="csX6" fmla="*/ 2776095 w 4658815"/>
              <a:gd name="csY6" fmla="*/ 0 h 1213932"/>
              <a:gd name="csX7" fmla="*/ 3222782 w 4658815"/>
              <a:gd name="csY7" fmla="*/ 0 h 1213932"/>
              <a:gd name="csX8" fmla="*/ 3626927 w 4658815"/>
              <a:gd name="csY8" fmla="*/ 0 h 1213932"/>
              <a:gd name="csX9" fmla="*/ 4456489 w 4658815"/>
              <a:gd name="csY9" fmla="*/ 0 h 1213932"/>
              <a:gd name="csX10" fmla="*/ 4658815 w 4658815"/>
              <a:gd name="csY10" fmla="*/ 202326 h 1213932"/>
              <a:gd name="csX11" fmla="*/ 4658815 w 4658815"/>
              <a:gd name="csY11" fmla="*/ 615059 h 1213932"/>
              <a:gd name="csX12" fmla="*/ 4658815 w 4658815"/>
              <a:gd name="csY12" fmla="*/ 1011606 h 1213932"/>
              <a:gd name="csX13" fmla="*/ 4456489 w 4658815"/>
              <a:gd name="csY13" fmla="*/ 1213932 h 1213932"/>
              <a:gd name="csX14" fmla="*/ 4052344 w 4658815"/>
              <a:gd name="csY14" fmla="*/ 1213932 h 1213932"/>
              <a:gd name="csX15" fmla="*/ 3435490 w 4658815"/>
              <a:gd name="csY15" fmla="*/ 1213932 h 1213932"/>
              <a:gd name="csX16" fmla="*/ 2903720 w 4658815"/>
              <a:gd name="csY16" fmla="*/ 1213932 h 1213932"/>
              <a:gd name="csX17" fmla="*/ 2286866 w 4658815"/>
              <a:gd name="csY17" fmla="*/ 1213932 h 1213932"/>
              <a:gd name="csX18" fmla="*/ 1712554 w 4658815"/>
              <a:gd name="csY18" fmla="*/ 1213932 h 1213932"/>
              <a:gd name="csX19" fmla="*/ 1223325 w 4658815"/>
              <a:gd name="csY19" fmla="*/ 1213932 h 1213932"/>
              <a:gd name="csX20" fmla="*/ 202326 w 4658815"/>
              <a:gd name="csY20" fmla="*/ 1213932 h 1213932"/>
              <a:gd name="csX21" fmla="*/ 0 w 4658815"/>
              <a:gd name="csY21" fmla="*/ 1011606 h 1213932"/>
              <a:gd name="csX22" fmla="*/ 0 w 4658815"/>
              <a:gd name="csY22" fmla="*/ 606966 h 1213932"/>
              <a:gd name="csX23" fmla="*/ 0 w 4658815"/>
              <a:gd name="csY23" fmla="*/ 202326 h 12139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4658815" h="1213932" fill="none" extrusionOk="0">
                <a:moveTo>
                  <a:pt x="0" y="202326"/>
                </a:moveTo>
                <a:cubicBezTo>
                  <a:pt x="-13865" y="118417"/>
                  <a:pt x="86826" y="-4987"/>
                  <a:pt x="202326" y="0"/>
                </a:cubicBezTo>
                <a:cubicBezTo>
                  <a:pt x="461530" y="-6300"/>
                  <a:pt x="508999" y="20240"/>
                  <a:pt x="776638" y="0"/>
                </a:cubicBezTo>
                <a:cubicBezTo>
                  <a:pt x="1044277" y="-20240"/>
                  <a:pt x="1043875" y="3992"/>
                  <a:pt x="1223325" y="0"/>
                </a:cubicBezTo>
                <a:cubicBezTo>
                  <a:pt x="1402775" y="-3992"/>
                  <a:pt x="1646824" y="1804"/>
                  <a:pt x="1797637" y="0"/>
                </a:cubicBezTo>
                <a:cubicBezTo>
                  <a:pt x="1948450" y="-1804"/>
                  <a:pt x="2058582" y="8185"/>
                  <a:pt x="2201783" y="0"/>
                </a:cubicBezTo>
                <a:cubicBezTo>
                  <a:pt x="2344984" y="-8185"/>
                  <a:pt x="2546989" y="67223"/>
                  <a:pt x="2776095" y="0"/>
                </a:cubicBezTo>
                <a:cubicBezTo>
                  <a:pt x="3005201" y="-67223"/>
                  <a:pt x="3036691" y="4785"/>
                  <a:pt x="3222782" y="0"/>
                </a:cubicBezTo>
                <a:cubicBezTo>
                  <a:pt x="3408873" y="-4785"/>
                  <a:pt x="3499934" y="35826"/>
                  <a:pt x="3626927" y="0"/>
                </a:cubicBezTo>
                <a:cubicBezTo>
                  <a:pt x="3753921" y="-35826"/>
                  <a:pt x="4236949" y="27302"/>
                  <a:pt x="4456489" y="0"/>
                </a:cubicBezTo>
                <a:cubicBezTo>
                  <a:pt x="4562502" y="21437"/>
                  <a:pt x="4685616" y="98271"/>
                  <a:pt x="4658815" y="202326"/>
                </a:cubicBezTo>
                <a:cubicBezTo>
                  <a:pt x="4699777" y="365515"/>
                  <a:pt x="4655207" y="490933"/>
                  <a:pt x="4658815" y="615059"/>
                </a:cubicBezTo>
                <a:cubicBezTo>
                  <a:pt x="4662423" y="739185"/>
                  <a:pt x="4635272" y="887276"/>
                  <a:pt x="4658815" y="1011606"/>
                </a:cubicBezTo>
                <a:cubicBezTo>
                  <a:pt x="4669788" y="1150168"/>
                  <a:pt x="4587821" y="1233312"/>
                  <a:pt x="4456489" y="1213932"/>
                </a:cubicBezTo>
                <a:cubicBezTo>
                  <a:pt x="4299887" y="1239580"/>
                  <a:pt x="4187456" y="1179398"/>
                  <a:pt x="4052344" y="1213932"/>
                </a:cubicBezTo>
                <a:cubicBezTo>
                  <a:pt x="3917233" y="1248466"/>
                  <a:pt x="3661664" y="1199401"/>
                  <a:pt x="3435490" y="1213932"/>
                </a:cubicBezTo>
                <a:cubicBezTo>
                  <a:pt x="3209316" y="1228463"/>
                  <a:pt x="3082040" y="1205725"/>
                  <a:pt x="2903720" y="1213932"/>
                </a:cubicBezTo>
                <a:cubicBezTo>
                  <a:pt x="2725400" y="1222139"/>
                  <a:pt x="2587397" y="1145467"/>
                  <a:pt x="2286866" y="1213932"/>
                </a:cubicBezTo>
                <a:cubicBezTo>
                  <a:pt x="1986335" y="1282397"/>
                  <a:pt x="1936315" y="1195658"/>
                  <a:pt x="1712554" y="1213932"/>
                </a:cubicBezTo>
                <a:cubicBezTo>
                  <a:pt x="1488793" y="1232206"/>
                  <a:pt x="1435692" y="1196997"/>
                  <a:pt x="1223325" y="1213932"/>
                </a:cubicBezTo>
                <a:cubicBezTo>
                  <a:pt x="1010958" y="1230867"/>
                  <a:pt x="612559" y="1189547"/>
                  <a:pt x="202326" y="1213932"/>
                </a:cubicBezTo>
                <a:cubicBezTo>
                  <a:pt x="90953" y="1230726"/>
                  <a:pt x="13269" y="1111441"/>
                  <a:pt x="0" y="1011606"/>
                </a:cubicBezTo>
                <a:cubicBezTo>
                  <a:pt x="-45144" y="925982"/>
                  <a:pt x="36711" y="708230"/>
                  <a:pt x="0" y="606966"/>
                </a:cubicBezTo>
                <a:cubicBezTo>
                  <a:pt x="-36711" y="505702"/>
                  <a:pt x="11056" y="331283"/>
                  <a:pt x="0" y="202326"/>
                </a:cubicBezTo>
                <a:close/>
              </a:path>
              <a:path w="4658815" h="1213932" stroke="0" extrusionOk="0">
                <a:moveTo>
                  <a:pt x="0" y="202326"/>
                </a:moveTo>
                <a:cubicBezTo>
                  <a:pt x="-4482" y="87820"/>
                  <a:pt x="67944" y="8497"/>
                  <a:pt x="202326" y="0"/>
                </a:cubicBezTo>
                <a:cubicBezTo>
                  <a:pt x="485467" y="-16537"/>
                  <a:pt x="622590" y="33956"/>
                  <a:pt x="819180" y="0"/>
                </a:cubicBezTo>
                <a:cubicBezTo>
                  <a:pt x="1015770" y="-33956"/>
                  <a:pt x="1101224" y="48252"/>
                  <a:pt x="1308408" y="0"/>
                </a:cubicBezTo>
                <a:cubicBezTo>
                  <a:pt x="1515592" y="-48252"/>
                  <a:pt x="1635004" y="50099"/>
                  <a:pt x="1755095" y="0"/>
                </a:cubicBezTo>
                <a:cubicBezTo>
                  <a:pt x="1875186" y="-50099"/>
                  <a:pt x="2191388" y="4252"/>
                  <a:pt x="2329408" y="0"/>
                </a:cubicBezTo>
                <a:cubicBezTo>
                  <a:pt x="2467428" y="-4252"/>
                  <a:pt x="2666761" y="55587"/>
                  <a:pt x="2818636" y="0"/>
                </a:cubicBezTo>
                <a:cubicBezTo>
                  <a:pt x="2970511" y="-55587"/>
                  <a:pt x="3287266" y="29637"/>
                  <a:pt x="3435490" y="0"/>
                </a:cubicBezTo>
                <a:cubicBezTo>
                  <a:pt x="3583714" y="-29637"/>
                  <a:pt x="3683091" y="7055"/>
                  <a:pt x="3882177" y="0"/>
                </a:cubicBezTo>
                <a:cubicBezTo>
                  <a:pt x="4081263" y="-7055"/>
                  <a:pt x="4263947" y="22576"/>
                  <a:pt x="4456489" y="0"/>
                </a:cubicBezTo>
                <a:cubicBezTo>
                  <a:pt x="4580725" y="3004"/>
                  <a:pt x="4652930" y="89632"/>
                  <a:pt x="4658815" y="202326"/>
                </a:cubicBezTo>
                <a:cubicBezTo>
                  <a:pt x="4688865" y="325324"/>
                  <a:pt x="4634746" y="457901"/>
                  <a:pt x="4658815" y="606966"/>
                </a:cubicBezTo>
                <a:cubicBezTo>
                  <a:pt x="4682884" y="756031"/>
                  <a:pt x="4622469" y="844144"/>
                  <a:pt x="4658815" y="1011606"/>
                </a:cubicBezTo>
                <a:cubicBezTo>
                  <a:pt x="4670900" y="1138151"/>
                  <a:pt x="4586142" y="1198250"/>
                  <a:pt x="4456489" y="1213932"/>
                </a:cubicBezTo>
                <a:cubicBezTo>
                  <a:pt x="4305302" y="1251813"/>
                  <a:pt x="4166599" y="1175047"/>
                  <a:pt x="3924719" y="1213932"/>
                </a:cubicBezTo>
                <a:cubicBezTo>
                  <a:pt x="3682839" y="1252817"/>
                  <a:pt x="3636809" y="1211537"/>
                  <a:pt x="3392948" y="1213932"/>
                </a:cubicBezTo>
                <a:cubicBezTo>
                  <a:pt x="3149087" y="1216327"/>
                  <a:pt x="3019653" y="1187995"/>
                  <a:pt x="2776095" y="1213932"/>
                </a:cubicBezTo>
                <a:cubicBezTo>
                  <a:pt x="2532537" y="1239869"/>
                  <a:pt x="2374460" y="1202954"/>
                  <a:pt x="2244324" y="1213932"/>
                </a:cubicBezTo>
                <a:cubicBezTo>
                  <a:pt x="2114188" y="1224910"/>
                  <a:pt x="2039497" y="1172031"/>
                  <a:pt x="1840179" y="1213932"/>
                </a:cubicBezTo>
                <a:cubicBezTo>
                  <a:pt x="1640861" y="1255833"/>
                  <a:pt x="1583331" y="1207787"/>
                  <a:pt x="1393492" y="1213932"/>
                </a:cubicBezTo>
                <a:cubicBezTo>
                  <a:pt x="1203653" y="1220077"/>
                  <a:pt x="914863" y="1201446"/>
                  <a:pt x="776638" y="1213932"/>
                </a:cubicBezTo>
                <a:cubicBezTo>
                  <a:pt x="638413" y="1226418"/>
                  <a:pt x="437328" y="1174067"/>
                  <a:pt x="202326" y="1213932"/>
                </a:cubicBezTo>
                <a:cubicBezTo>
                  <a:pt x="93009" y="1218734"/>
                  <a:pt x="-19492" y="1133627"/>
                  <a:pt x="0" y="1011606"/>
                </a:cubicBezTo>
                <a:cubicBezTo>
                  <a:pt x="-34041" y="867494"/>
                  <a:pt x="19408" y="757014"/>
                  <a:pt x="0" y="598873"/>
                </a:cubicBezTo>
                <a:cubicBezTo>
                  <a:pt x="-19408" y="440732"/>
                  <a:pt x="27962" y="330545"/>
                  <a:pt x="0" y="202326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5400">
            <a:bevel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5868C3-9E4D-4E95-B31C-7C057D383E7E}"/>
              </a:ext>
            </a:extLst>
          </p:cNvPr>
          <p:cNvSpPr txBox="1"/>
          <p:nvPr/>
        </p:nvSpPr>
        <p:spPr>
          <a:xfrm>
            <a:off x="6615108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C10634-893E-0AE8-543B-239A3FDD3AC4}"/>
              </a:ext>
            </a:extLst>
          </p:cNvPr>
          <p:cNvSpPr txBox="1"/>
          <p:nvPr/>
        </p:nvSpPr>
        <p:spPr>
          <a:xfrm>
            <a:off x="6615107" y="3218936"/>
            <a:ext cx="258748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Unicasts 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machines to server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0FD17-F6A8-BAD0-05C6-9D749A7C6CF3}"/>
              </a:ext>
            </a:extLst>
          </p:cNvPr>
          <p:cNvSpPr txBox="1"/>
          <p:nvPr/>
        </p:nvSpPr>
        <p:spPr>
          <a:xfrm>
            <a:off x="558943" y="4755944"/>
            <a:ext cx="4247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market data multicast in financial exchanges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132746-6200-E816-8E25-DA0B9F3DE748}"/>
              </a:ext>
            </a:extLst>
          </p:cNvPr>
          <p:cNvSpPr txBox="1"/>
          <p:nvPr/>
        </p:nvSpPr>
        <p:spPr>
          <a:xfrm>
            <a:off x="6567336" y="4755944"/>
            <a:ext cx="50657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traders submitting orders to a financial exchange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E1D45C-C17F-4356-52E4-D7CF03618260}"/>
              </a:ext>
            </a:extLst>
          </p:cNvPr>
          <p:cNvSpPr txBox="1"/>
          <p:nvPr/>
        </p:nvSpPr>
        <p:spPr>
          <a:xfrm>
            <a:off x="2124432" y="2220094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F4BA12-DC7D-61A3-6A34-9391D46B4402}"/>
              </a:ext>
            </a:extLst>
          </p:cNvPr>
          <p:cNvSpPr txBox="1"/>
          <p:nvPr/>
        </p:nvSpPr>
        <p:spPr>
          <a:xfrm>
            <a:off x="2622846" y="3235757"/>
            <a:ext cx="2249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Multicast from server to machines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2399B0-7DAC-F651-F7E0-C2093D94BF3A}"/>
              </a:ext>
            </a:extLst>
          </p:cNvPr>
          <p:cNvSpPr/>
          <p:nvPr/>
        </p:nvSpPr>
        <p:spPr>
          <a:xfrm>
            <a:off x="5733022" y="2774092"/>
            <a:ext cx="45719" cy="2492991"/>
          </a:xfrm>
          <a:custGeom>
            <a:avLst/>
            <a:gdLst>
              <a:gd name="csX0" fmla="*/ 0 w 45719"/>
              <a:gd name="csY0" fmla="*/ 0 h 2492991"/>
              <a:gd name="csX1" fmla="*/ 45719 w 45719"/>
              <a:gd name="csY1" fmla="*/ 0 h 2492991"/>
              <a:gd name="csX2" fmla="*/ 45719 w 45719"/>
              <a:gd name="csY2" fmla="*/ 498598 h 2492991"/>
              <a:gd name="csX3" fmla="*/ 45719 w 45719"/>
              <a:gd name="csY3" fmla="*/ 1047056 h 2492991"/>
              <a:gd name="csX4" fmla="*/ 45719 w 45719"/>
              <a:gd name="csY4" fmla="*/ 1545654 h 2492991"/>
              <a:gd name="csX5" fmla="*/ 45719 w 45719"/>
              <a:gd name="csY5" fmla="*/ 1969463 h 2492991"/>
              <a:gd name="csX6" fmla="*/ 45719 w 45719"/>
              <a:gd name="csY6" fmla="*/ 2492991 h 2492991"/>
              <a:gd name="csX7" fmla="*/ 0 w 45719"/>
              <a:gd name="csY7" fmla="*/ 2492991 h 2492991"/>
              <a:gd name="csX8" fmla="*/ 0 w 45719"/>
              <a:gd name="csY8" fmla="*/ 1944533 h 2492991"/>
              <a:gd name="csX9" fmla="*/ 0 w 45719"/>
              <a:gd name="csY9" fmla="*/ 1421005 h 2492991"/>
              <a:gd name="csX10" fmla="*/ 0 w 45719"/>
              <a:gd name="csY10" fmla="*/ 922407 h 2492991"/>
              <a:gd name="csX11" fmla="*/ 0 w 45719"/>
              <a:gd name="csY11" fmla="*/ 0 h 24929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45719" h="2492991" fill="none" extrusionOk="0">
                <a:moveTo>
                  <a:pt x="0" y="0"/>
                </a:moveTo>
                <a:cubicBezTo>
                  <a:pt x="15466" y="-3108"/>
                  <a:pt x="29505" y="2787"/>
                  <a:pt x="45719" y="0"/>
                </a:cubicBezTo>
                <a:cubicBezTo>
                  <a:pt x="96714" y="244462"/>
                  <a:pt x="38492" y="292531"/>
                  <a:pt x="45719" y="498598"/>
                </a:cubicBezTo>
                <a:cubicBezTo>
                  <a:pt x="52946" y="704665"/>
                  <a:pt x="41215" y="773940"/>
                  <a:pt x="45719" y="1047056"/>
                </a:cubicBezTo>
                <a:cubicBezTo>
                  <a:pt x="50223" y="1320172"/>
                  <a:pt x="20442" y="1409127"/>
                  <a:pt x="45719" y="1545654"/>
                </a:cubicBezTo>
                <a:cubicBezTo>
                  <a:pt x="70996" y="1682181"/>
                  <a:pt x="37286" y="1837495"/>
                  <a:pt x="45719" y="1969463"/>
                </a:cubicBezTo>
                <a:cubicBezTo>
                  <a:pt x="54152" y="2101431"/>
                  <a:pt x="20701" y="2253374"/>
                  <a:pt x="45719" y="2492991"/>
                </a:cubicBezTo>
                <a:cubicBezTo>
                  <a:pt x="34208" y="2496004"/>
                  <a:pt x="9588" y="2489496"/>
                  <a:pt x="0" y="2492991"/>
                </a:cubicBezTo>
                <a:cubicBezTo>
                  <a:pt x="-9781" y="2257546"/>
                  <a:pt x="17963" y="2141047"/>
                  <a:pt x="0" y="1944533"/>
                </a:cubicBezTo>
                <a:cubicBezTo>
                  <a:pt x="-17963" y="1748019"/>
                  <a:pt x="28336" y="1642462"/>
                  <a:pt x="0" y="1421005"/>
                </a:cubicBezTo>
                <a:cubicBezTo>
                  <a:pt x="-28336" y="1199548"/>
                  <a:pt x="13584" y="1089980"/>
                  <a:pt x="0" y="922407"/>
                </a:cubicBezTo>
                <a:cubicBezTo>
                  <a:pt x="-13584" y="754834"/>
                  <a:pt x="77438" y="239728"/>
                  <a:pt x="0" y="0"/>
                </a:cubicBezTo>
                <a:close/>
              </a:path>
              <a:path w="45719" h="2492991" stroke="0" extrusionOk="0">
                <a:moveTo>
                  <a:pt x="0" y="0"/>
                </a:moveTo>
                <a:cubicBezTo>
                  <a:pt x="18173" y="-1477"/>
                  <a:pt x="31455" y="3772"/>
                  <a:pt x="45719" y="0"/>
                </a:cubicBezTo>
                <a:cubicBezTo>
                  <a:pt x="49078" y="113210"/>
                  <a:pt x="23101" y="288473"/>
                  <a:pt x="45719" y="423808"/>
                </a:cubicBezTo>
                <a:cubicBezTo>
                  <a:pt x="68337" y="559143"/>
                  <a:pt x="-15560" y="770450"/>
                  <a:pt x="45719" y="972266"/>
                </a:cubicBezTo>
                <a:cubicBezTo>
                  <a:pt x="106998" y="1174082"/>
                  <a:pt x="-1609" y="1235521"/>
                  <a:pt x="45719" y="1470865"/>
                </a:cubicBezTo>
                <a:cubicBezTo>
                  <a:pt x="93047" y="1706209"/>
                  <a:pt x="30494" y="1816253"/>
                  <a:pt x="45719" y="1919603"/>
                </a:cubicBezTo>
                <a:cubicBezTo>
                  <a:pt x="60944" y="2022953"/>
                  <a:pt x="28474" y="2341608"/>
                  <a:pt x="45719" y="2492991"/>
                </a:cubicBezTo>
                <a:cubicBezTo>
                  <a:pt x="22941" y="2494258"/>
                  <a:pt x="12902" y="2490132"/>
                  <a:pt x="0" y="2492991"/>
                </a:cubicBezTo>
                <a:cubicBezTo>
                  <a:pt x="-59460" y="2250702"/>
                  <a:pt x="24665" y="2128448"/>
                  <a:pt x="0" y="1944533"/>
                </a:cubicBezTo>
                <a:cubicBezTo>
                  <a:pt x="-24665" y="1760618"/>
                  <a:pt x="21622" y="1582387"/>
                  <a:pt x="0" y="1396075"/>
                </a:cubicBezTo>
                <a:cubicBezTo>
                  <a:pt x="-21622" y="1209763"/>
                  <a:pt x="53927" y="1082433"/>
                  <a:pt x="0" y="922407"/>
                </a:cubicBezTo>
                <a:cubicBezTo>
                  <a:pt x="-53927" y="762381"/>
                  <a:pt x="37230" y="594554"/>
                  <a:pt x="0" y="448738"/>
                </a:cubicBezTo>
                <a:cubicBezTo>
                  <a:pt x="-37230" y="302922"/>
                  <a:pt x="25725" y="182915"/>
                  <a:pt x="0" y="0"/>
                </a:cubicBezTo>
                <a:close/>
              </a:path>
            </a:pathLst>
          </a:custGeom>
          <a:solidFill>
            <a:srgbClr val="7030A0"/>
          </a:solidFill>
          <a:ln>
            <a:solidFill>
              <a:srgbClr val="7030A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4AF337-F26F-C290-A807-EF1EC23C569F}"/>
              </a:ext>
            </a:extLst>
          </p:cNvPr>
          <p:cNvSpPr/>
          <p:nvPr/>
        </p:nvSpPr>
        <p:spPr>
          <a:xfrm>
            <a:off x="3155766" y="5757425"/>
            <a:ext cx="5425726" cy="695454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Infrastructure used by on-premises financial exchanges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AC7196-B58F-8FE9-5358-E4FCB44ECA06}"/>
              </a:ext>
            </a:extLst>
          </p:cNvPr>
          <p:cNvSpPr/>
          <p:nvPr/>
        </p:nvSpPr>
        <p:spPr>
          <a:xfrm>
            <a:off x="4741097" y="405121"/>
            <a:ext cx="6677997" cy="147732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Commodity Networking Infrastructure</a:t>
            </a:r>
          </a:p>
        </p:txBody>
      </p:sp>
      <p:sp>
        <p:nvSpPr>
          <p:cNvPr id="19" name="Up Arrow 18">
            <a:extLst>
              <a:ext uri="{FF2B5EF4-FFF2-40B4-BE49-F238E27FC236}">
                <a16:creationId xmlns:a16="http://schemas.microsoft.com/office/drawing/2014/main" id="{376DD3FE-B035-98E4-7546-7AF67D36A2FA}"/>
              </a:ext>
            </a:extLst>
          </p:cNvPr>
          <p:cNvSpPr/>
          <p:nvPr/>
        </p:nvSpPr>
        <p:spPr>
          <a:xfrm rot="1624721">
            <a:off x="5546592" y="1978943"/>
            <a:ext cx="644072" cy="3681988"/>
          </a:xfrm>
          <a:custGeom>
            <a:avLst/>
            <a:gdLst>
              <a:gd name="csX0" fmla="*/ 0 w 644072"/>
              <a:gd name="csY0" fmla="*/ 608700 h 3681988"/>
              <a:gd name="csX1" fmla="*/ 157798 w 644072"/>
              <a:gd name="csY1" fmla="*/ 310437 h 3681988"/>
              <a:gd name="csX2" fmla="*/ 322036 w 644072"/>
              <a:gd name="csY2" fmla="*/ 0 h 3681988"/>
              <a:gd name="csX3" fmla="*/ 486274 w 644072"/>
              <a:gd name="csY3" fmla="*/ 310437 h 3681988"/>
              <a:gd name="csX4" fmla="*/ 644072 w 644072"/>
              <a:gd name="csY4" fmla="*/ 608700 h 3681988"/>
              <a:gd name="csX5" fmla="*/ 483054 w 644072"/>
              <a:gd name="csY5" fmla="*/ 608700 h 3681988"/>
              <a:gd name="csX6" fmla="*/ 483054 w 644072"/>
              <a:gd name="csY6" fmla="*/ 1059449 h 3681988"/>
              <a:gd name="csX7" fmla="*/ 483054 w 644072"/>
              <a:gd name="csY7" fmla="*/ 1540931 h 3681988"/>
              <a:gd name="csX8" fmla="*/ 483054 w 644072"/>
              <a:gd name="csY8" fmla="*/ 2114611 h 3681988"/>
              <a:gd name="csX9" fmla="*/ 483054 w 644072"/>
              <a:gd name="csY9" fmla="*/ 2626826 h 3681988"/>
              <a:gd name="csX10" fmla="*/ 483054 w 644072"/>
              <a:gd name="csY10" fmla="*/ 3169773 h 3681988"/>
              <a:gd name="csX11" fmla="*/ 483054 w 644072"/>
              <a:gd name="csY11" fmla="*/ 3681988 h 3681988"/>
              <a:gd name="csX12" fmla="*/ 161018 w 644072"/>
              <a:gd name="csY12" fmla="*/ 3681988 h 3681988"/>
              <a:gd name="csX13" fmla="*/ 161018 w 644072"/>
              <a:gd name="csY13" fmla="*/ 3139040 h 3681988"/>
              <a:gd name="csX14" fmla="*/ 161018 w 644072"/>
              <a:gd name="csY14" fmla="*/ 2688292 h 3681988"/>
              <a:gd name="csX15" fmla="*/ 161018 w 644072"/>
              <a:gd name="csY15" fmla="*/ 2268276 h 3681988"/>
              <a:gd name="csX16" fmla="*/ 161018 w 644072"/>
              <a:gd name="csY16" fmla="*/ 1848259 h 3681988"/>
              <a:gd name="csX17" fmla="*/ 161018 w 644072"/>
              <a:gd name="csY17" fmla="*/ 1305312 h 3681988"/>
              <a:gd name="csX18" fmla="*/ 161018 w 644072"/>
              <a:gd name="csY18" fmla="*/ 608700 h 3681988"/>
              <a:gd name="csX19" fmla="*/ 0 w 644072"/>
              <a:gd name="csY19" fmla="*/ 608700 h 36819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644072" h="3681988" fill="none" extrusionOk="0">
                <a:moveTo>
                  <a:pt x="0" y="608700"/>
                </a:moveTo>
                <a:cubicBezTo>
                  <a:pt x="39281" y="527294"/>
                  <a:pt x="116321" y="436673"/>
                  <a:pt x="157798" y="310437"/>
                </a:cubicBezTo>
                <a:cubicBezTo>
                  <a:pt x="199275" y="184201"/>
                  <a:pt x="288738" y="88404"/>
                  <a:pt x="322036" y="0"/>
                </a:cubicBezTo>
                <a:cubicBezTo>
                  <a:pt x="413927" y="144486"/>
                  <a:pt x="412813" y="245340"/>
                  <a:pt x="486274" y="310437"/>
                </a:cubicBezTo>
                <a:cubicBezTo>
                  <a:pt x="559735" y="375534"/>
                  <a:pt x="590978" y="529753"/>
                  <a:pt x="644072" y="608700"/>
                </a:cubicBezTo>
                <a:cubicBezTo>
                  <a:pt x="606168" y="627873"/>
                  <a:pt x="541071" y="606610"/>
                  <a:pt x="483054" y="608700"/>
                </a:cubicBezTo>
                <a:cubicBezTo>
                  <a:pt x="533927" y="747854"/>
                  <a:pt x="436638" y="950735"/>
                  <a:pt x="483054" y="1059449"/>
                </a:cubicBezTo>
                <a:cubicBezTo>
                  <a:pt x="529470" y="1168163"/>
                  <a:pt x="454704" y="1350265"/>
                  <a:pt x="483054" y="1540931"/>
                </a:cubicBezTo>
                <a:cubicBezTo>
                  <a:pt x="511404" y="1731597"/>
                  <a:pt x="456230" y="1958127"/>
                  <a:pt x="483054" y="2114611"/>
                </a:cubicBezTo>
                <a:cubicBezTo>
                  <a:pt x="509878" y="2271095"/>
                  <a:pt x="433209" y="2447887"/>
                  <a:pt x="483054" y="2626826"/>
                </a:cubicBezTo>
                <a:cubicBezTo>
                  <a:pt x="532899" y="2805766"/>
                  <a:pt x="470900" y="2988063"/>
                  <a:pt x="483054" y="3169773"/>
                </a:cubicBezTo>
                <a:cubicBezTo>
                  <a:pt x="495208" y="3351483"/>
                  <a:pt x="469942" y="3556428"/>
                  <a:pt x="483054" y="3681988"/>
                </a:cubicBezTo>
                <a:cubicBezTo>
                  <a:pt x="375647" y="3684812"/>
                  <a:pt x="234776" y="3663767"/>
                  <a:pt x="161018" y="3681988"/>
                </a:cubicBezTo>
                <a:cubicBezTo>
                  <a:pt x="145560" y="3549593"/>
                  <a:pt x="210738" y="3393822"/>
                  <a:pt x="161018" y="3139040"/>
                </a:cubicBezTo>
                <a:cubicBezTo>
                  <a:pt x="111298" y="2884258"/>
                  <a:pt x="182870" y="2798159"/>
                  <a:pt x="161018" y="2688292"/>
                </a:cubicBezTo>
                <a:cubicBezTo>
                  <a:pt x="139166" y="2578425"/>
                  <a:pt x="167559" y="2470814"/>
                  <a:pt x="161018" y="2268276"/>
                </a:cubicBezTo>
                <a:cubicBezTo>
                  <a:pt x="154477" y="2065738"/>
                  <a:pt x="208539" y="1974379"/>
                  <a:pt x="161018" y="1848259"/>
                </a:cubicBezTo>
                <a:cubicBezTo>
                  <a:pt x="113497" y="1722139"/>
                  <a:pt x="212588" y="1442667"/>
                  <a:pt x="161018" y="1305312"/>
                </a:cubicBezTo>
                <a:cubicBezTo>
                  <a:pt x="109448" y="1167957"/>
                  <a:pt x="239086" y="820263"/>
                  <a:pt x="161018" y="608700"/>
                </a:cubicBezTo>
                <a:cubicBezTo>
                  <a:pt x="90389" y="620596"/>
                  <a:pt x="80176" y="599850"/>
                  <a:pt x="0" y="608700"/>
                </a:cubicBezTo>
                <a:close/>
              </a:path>
              <a:path w="644072" h="3681988" stroke="0" extrusionOk="0">
                <a:moveTo>
                  <a:pt x="0" y="608700"/>
                </a:moveTo>
                <a:cubicBezTo>
                  <a:pt x="51471" y="471540"/>
                  <a:pt x="139895" y="413925"/>
                  <a:pt x="157798" y="310437"/>
                </a:cubicBezTo>
                <a:cubicBezTo>
                  <a:pt x="175701" y="206949"/>
                  <a:pt x="284488" y="119666"/>
                  <a:pt x="322036" y="0"/>
                </a:cubicBezTo>
                <a:cubicBezTo>
                  <a:pt x="398686" y="122195"/>
                  <a:pt x="415136" y="218985"/>
                  <a:pt x="489495" y="316524"/>
                </a:cubicBezTo>
                <a:cubicBezTo>
                  <a:pt x="563853" y="414063"/>
                  <a:pt x="578272" y="546520"/>
                  <a:pt x="644072" y="608700"/>
                </a:cubicBezTo>
                <a:cubicBezTo>
                  <a:pt x="594988" y="620728"/>
                  <a:pt x="521131" y="605554"/>
                  <a:pt x="483054" y="608700"/>
                </a:cubicBezTo>
                <a:cubicBezTo>
                  <a:pt x="515748" y="828608"/>
                  <a:pt x="448129" y="1045969"/>
                  <a:pt x="483054" y="1182380"/>
                </a:cubicBezTo>
                <a:cubicBezTo>
                  <a:pt x="517979" y="1318791"/>
                  <a:pt x="442970" y="1613958"/>
                  <a:pt x="483054" y="1756061"/>
                </a:cubicBezTo>
                <a:cubicBezTo>
                  <a:pt x="523138" y="1898164"/>
                  <a:pt x="470766" y="2088833"/>
                  <a:pt x="483054" y="2268276"/>
                </a:cubicBezTo>
                <a:cubicBezTo>
                  <a:pt x="495342" y="2447720"/>
                  <a:pt x="447206" y="2600004"/>
                  <a:pt x="483054" y="2841956"/>
                </a:cubicBezTo>
                <a:cubicBezTo>
                  <a:pt x="518902" y="3083908"/>
                  <a:pt x="396369" y="3462765"/>
                  <a:pt x="483054" y="3681988"/>
                </a:cubicBezTo>
                <a:cubicBezTo>
                  <a:pt x="409494" y="3718826"/>
                  <a:pt x="250908" y="3663367"/>
                  <a:pt x="161018" y="3681988"/>
                </a:cubicBezTo>
                <a:cubicBezTo>
                  <a:pt x="156329" y="3545531"/>
                  <a:pt x="199713" y="3324976"/>
                  <a:pt x="161018" y="3169773"/>
                </a:cubicBezTo>
                <a:cubicBezTo>
                  <a:pt x="122323" y="3014570"/>
                  <a:pt x="206286" y="2885510"/>
                  <a:pt x="161018" y="2719024"/>
                </a:cubicBezTo>
                <a:cubicBezTo>
                  <a:pt x="115750" y="2552538"/>
                  <a:pt x="197145" y="2330729"/>
                  <a:pt x="161018" y="2206810"/>
                </a:cubicBezTo>
                <a:cubicBezTo>
                  <a:pt x="124891" y="2082891"/>
                  <a:pt x="225623" y="1869557"/>
                  <a:pt x="161018" y="1633129"/>
                </a:cubicBezTo>
                <a:cubicBezTo>
                  <a:pt x="96413" y="1396701"/>
                  <a:pt x="184646" y="1237331"/>
                  <a:pt x="161018" y="1120915"/>
                </a:cubicBezTo>
                <a:cubicBezTo>
                  <a:pt x="137390" y="1004499"/>
                  <a:pt x="161914" y="854141"/>
                  <a:pt x="161018" y="608700"/>
                </a:cubicBezTo>
                <a:cubicBezTo>
                  <a:pt x="123617" y="627052"/>
                  <a:pt x="66666" y="591792"/>
                  <a:pt x="0" y="608700"/>
                </a:cubicBezTo>
                <a:close/>
              </a:path>
            </a:pathLst>
          </a:custGeom>
          <a:solidFill>
            <a:srgbClr val="FF0000"/>
          </a:solidFill>
          <a:ln>
            <a:extLst>
              <a:ext uri="{C807C97D-BFC1-408E-A445-0C87EB9F89A2}">
                <ask:lineSketchStyleProps xmlns:ask="http://schemas.microsoft.com/office/drawing/2018/sketchyshapes" sd="1219033472">
                  <a:prstGeom prst="upArrow">
                    <a:avLst>
                      <a:gd name="adj1" fmla="val 50000"/>
                      <a:gd name="adj2" fmla="val 94508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18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AEBF-8BAF-F3E0-B3D6-E4931F66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D871015-EDE6-E81D-7BC0-086BC48FAE5C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A8CF64-7878-8473-459D-E8C099F6658D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41FE454-70F9-322F-C660-D8A2A5E49172}"/>
              </a:ext>
            </a:extLst>
          </p:cNvPr>
          <p:cNvSpPr/>
          <p:nvPr/>
        </p:nvSpPr>
        <p:spPr>
          <a:xfrm>
            <a:off x="702884" y="2761827"/>
            <a:ext cx="6709719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2C3D2-1CC7-A28A-2894-186A3513B4E0}"/>
              </a:ext>
            </a:extLst>
          </p:cNvPr>
          <p:cNvSpPr txBox="1"/>
          <p:nvPr/>
        </p:nvSpPr>
        <p:spPr>
          <a:xfrm>
            <a:off x="772906" y="405121"/>
            <a:ext cx="6591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Thesis: Latency Fairness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769B4D-8DE9-1F9A-62CE-60D365BC0A13}"/>
              </a:ext>
            </a:extLst>
          </p:cNvPr>
          <p:cNvSpPr txBox="1"/>
          <p:nvPr/>
        </p:nvSpPr>
        <p:spPr>
          <a:xfrm>
            <a:off x="4229584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1B6EFD-0B57-09ED-798A-1B738DB4ADE8}"/>
              </a:ext>
            </a:extLst>
          </p:cNvPr>
          <p:cNvSpPr txBox="1"/>
          <p:nvPr/>
        </p:nvSpPr>
        <p:spPr>
          <a:xfrm>
            <a:off x="933723" y="3095367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1322128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6789-B3A8-D2BE-1DFD-24C65814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C14CF6-D2DE-6E62-3827-CB5EFFA939A2}"/>
              </a:ext>
            </a:extLst>
          </p:cNvPr>
          <p:cNvSpPr/>
          <p:nvPr/>
        </p:nvSpPr>
        <p:spPr>
          <a:xfrm>
            <a:off x="702884" y="2761827"/>
            <a:ext cx="6709719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A2A3EC-77DB-5725-483C-D2C1A58BC2A8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B2275E-ED05-B4EF-DA5A-1CF7BB2D0049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98050B-D649-4451-42D7-AC068326F9AA}"/>
              </a:ext>
            </a:extLst>
          </p:cNvPr>
          <p:cNvSpPr txBox="1"/>
          <p:nvPr/>
        </p:nvSpPr>
        <p:spPr>
          <a:xfrm>
            <a:off x="772906" y="405121"/>
            <a:ext cx="6591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Thesis: Latency Fairness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C5370-96DA-FC09-FD1C-A9952418DFDD}"/>
              </a:ext>
            </a:extLst>
          </p:cNvPr>
          <p:cNvSpPr txBox="1"/>
          <p:nvPr/>
        </p:nvSpPr>
        <p:spPr>
          <a:xfrm>
            <a:off x="4229584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01127B-D00E-8895-F547-B125F7D1D8CD}"/>
              </a:ext>
            </a:extLst>
          </p:cNvPr>
          <p:cNvSpPr txBox="1"/>
          <p:nvPr/>
        </p:nvSpPr>
        <p:spPr>
          <a:xfrm>
            <a:off x="933723" y="3095367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050D947B-F757-3816-C5A0-DC60C90A1E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368" y="233896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F594E8-BA68-BA69-578C-6F82EAFDF0C1}"/>
              </a:ext>
            </a:extLst>
          </p:cNvPr>
          <p:cNvSpPr txBox="1"/>
          <p:nvPr/>
        </p:nvSpPr>
        <p:spPr>
          <a:xfrm>
            <a:off x="3445340" y="2288333"/>
            <a:ext cx="3614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Tightly Synchronized Clocks</a:t>
            </a:r>
          </a:p>
        </p:txBody>
      </p:sp>
    </p:spTree>
    <p:extLst>
      <p:ext uri="{BB962C8B-B14F-4D97-AF65-F5344CB8AC3E}">
        <p14:creationId xmlns:p14="http://schemas.microsoft.com/office/powerpoint/2010/main" val="1834231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5F0E-83D9-B2EF-DA0F-2432CE405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9B202EB-22D3-D5DC-1662-54FD99455845}"/>
              </a:ext>
            </a:extLst>
          </p:cNvPr>
          <p:cNvSpPr/>
          <p:nvPr/>
        </p:nvSpPr>
        <p:spPr>
          <a:xfrm>
            <a:off x="702884" y="2761827"/>
            <a:ext cx="6709719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799CBC-BEE6-91F7-F338-E913CA3EE074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3FAB46-FF81-4306-B26A-5DD0346FE1C8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685F09-890E-EEB0-8E6E-58F658C38486}"/>
              </a:ext>
            </a:extLst>
          </p:cNvPr>
          <p:cNvSpPr txBox="1"/>
          <p:nvPr/>
        </p:nvSpPr>
        <p:spPr>
          <a:xfrm>
            <a:off x="772906" y="405121"/>
            <a:ext cx="6591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Thesis: Latency Fairness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557A0-5EE6-3A7C-044E-CFE1CC73DAFC}"/>
              </a:ext>
            </a:extLst>
          </p:cNvPr>
          <p:cNvSpPr txBox="1"/>
          <p:nvPr/>
        </p:nvSpPr>
        <p:spPr>
          <a:xfrm>
            <a:off x="4229584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7AE55C-0AA9-6C81-156E-C79BAACE2B08}"/>
              </a:ext>
            </a:extLst>
          </p:cNvPr>
          <p:cNvSpPr txBox="1"/>
          <p:nvPr/>
        </p:nvSpPr>
        <p:spPr>
          <a:xfrm>
            <a:off x="933723" y="3095367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430540FE-3929-1ECF-94B3-369F58C210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368" y="233896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101FEE-6EFF-7EE3-0AE7-66FE7CA17C4D}"/>
              </a:ext>
            </a:extLst>
          </p:cNvPr>
          <p:cNvSpPr txBox="1"/>
          <p:nvPr/>
        </p:nvSpPr>
        <p:spPr>
          <a:xfrm>
            <a:off x="3445340" y="2288333"/>
            <a:ext cx="3614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Tightly Synchronized Clocks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5E7900-A42C-E8D5-A587-62015E92E7F1}"/>
              </a:ext>
            </a:extLst>
          </p:cNvPr>
          <p:cNvSpPr/>
          <p:nvPr/>
        </p:nvSpPr>
        <p:spPr>
          <a:xfrm>
            <a:off x="7643442" y="2761827"/>
            <a:ext cx="4032482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5E1B3E-60E2-AAB7-DED5-B166F29F5ADA}"/>
              </a:ext>
            </a:extLst>
          </p:cNvPr>
          <p:cNvSpPr txBox="1"/>
          <p:nvPr/>
        </p:nvSpPr>
        <p:spPr>
          <a:xfrm>
            <a:off x="8232575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366053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BEBD4-ED13-6CBD-00AF-7A62EC1F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B8E0F07-4FFE-BB58-6C05-8669AA98C5E7}"/>
              </a:ext>
            </a:extLst>
          </p:cNvPr>
          <p:cNvSpPr/>
          <p:nvPr/>
        </p:nvSpPr>
        <p:spPr>
          <a:xfrm>
            <a:off x="702884" y="2761827"/>
            <a:ext cx="6709719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3A66F5-0D92-D77D-C653-D58EA35005B7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FE63B5-932E-3DFD-308B-FC0860DA087E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44CFF1-F54A-2325-4B2F-2D5989C5A006}"/>
              </a:ext>
            </a:extLst>
          </p:cNvPr>
          <p:cNvSpPr txBox="1"/>
          <p:nvPr/>
        </p:nvSpPr>
        <p:spPr>
          <a:xfrm>
            <a:off x="772906" y="405121"/>
            <a:ext cx="6591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Thesis: Latency Fairness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67196-774A-F674-BF2F-2C92C1D81EA7}"/>
              </a:ext>
            </a:extLst>
          </p:cNvPr>
          <p:cNvSpPr txBox="1"/>
          <p:nvPr/>
        </p:nvSpPr>
        <p:spPr>
          <a:xfrm>
            <a:off x="4229584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975DC-1D8E-7593-0160-027F7BE9AB3E}"/>
              </a:ext>
            </a:extLst>
          </p:cNvPr>
          <p:cNvSpPr txBox="1"/>
          <p:nvPr/>
        </p:nvSpPr>
        <p:spPr>
          <a:xfrm>
            <a:off x="933723" y="3095367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7A5AA61F-047E-A4CE-40AE-5AA6CA0B6B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368" y="233896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6476CC-78FD-B16D-9FC4-480773B78E51}"/>
              </a:ext>
            </a:extLst>
          </p:cNvPr>
          <p:cNvSpPr txBox="1"/>
          <p:nvPr/>
        </p:nvSpPr>
        <p:spPr>
          <a:xfrm>
            <a:off x="3445340" y="2288333"/>
            <a:ext cx="3614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Tightly Synchronized Clocks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E2982C1-8924-EFFA-36D8-1B95244D228A}"/>
              </a:ext>
            </a:extLst>
          </p:cNvPr>
          <p:cNvSpPr/>
          <p:nvPr/>
        </p:nvSpPr>
        <p:spPr>
          <a:xfrm>
            <a:off x="7643442" y="2761827"/>
            <a:ext cx="4032482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4DB84D-496B-A60D-454E-ECF5BA788CE3}"/>
              </a:ext>
            </a:extLst>
          </p:cNvPr>
          <p:cNvSpPr txBox="1"/>
          <p:nvPr/>
        </p:nvSpPr>
        <p:spPr>
          <a:xfrm>
            <a:off x="8232575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11" name="Graphic 10" descr="Normal Distribution with solid fill">
            <a:extLst>
              <a:ext uri="{FF2B5EF4-FFF2-40B4-BE49-F238E27FC236}">
                <a16:creationId xmlns:a16="http://schemas.microsoft.com/office/drawing/2014/main" id="{5B73A4EF-48C6-379E-A387-DA4E76F2D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2575" y="220681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608732-D4D6-BFFD-B6C7-55791B611A86}"/>
              </a:ext>
            </a:extLst>
          </p:cNvPr>
          <p:cNvSpPr txBox="1"/>
          <p:nvPr/>
        </p:nvSpPr>
        <p:spPr>
          <a:xfrm>
            <a:off x="9059956" y="2152485"/>
            <a:ext cx="2846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Time as a random variable</a:t>
            </a:r>
          </a:p>
        </p:txBody>
      </p:sp>
    </p:spTree>
    <p:extLst>
      <p:ext uri="{BB962C8B-B14F-4D97-AF65-F5344CB8AC3E}">
        <p14:creationId xmlns:p14="http://schemas.microsoft.com/office/powerpoint/2010/main" val="2465174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A7BE4-2F6D-50E8-B5EA-E9BBB4763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05CE231-BAC5-9ED6-3C4F-062502954516}"/>
              </a:ext>
            </a:extLst>
          </p:cNvPr>
          <p:cNvSpPr/>
          <p:nvPr/>
        </p:nvSpPr>
        <p:spPr>
          <a:xfrm>
            <a:off x="702884" y="2761827"/>
            <a:ext cx="6709719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FDFB00-D95F-435A-CB89-E87916646793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E7F626-103D-3BA1-42F9-211847917C12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50AFCA-CE89-1A02-B58E-1B2B22A28034}"/>
              </a:ext>
            </a:extLst>
          </p:cNvPr>
          <p:cNvSpPr txBox="1"/>
          <p:nvPr/>
        </p:nvSpPr>
        <p:spPr>
          <a:xfrm>
            <a:off x="772906" y="405121"/>
            <a:ext cx="6591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Thesis: Latency Fairness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CA6EB-E3C2-ED3F-1264-A7A554866077}"/>
              </a:ext>
            </a:extLst>
          </p:cNvPr>
          <p:cNvSpPr txBox="1"/>
          <p:nvPr/>
        </p:nvSpPr>
        <p:spPr>
          <a:xfrm>
            <a:off x="4229584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401610-C405-FE5D-753E-B5D7DFC24D10}"/>
              </a:ext>
            </a:extLst>
          </p:cNvPr>
          <p:cNvSpPr txBox="1"/>
          <p:nvPr/>
        </p:nvSpPr>
        <p:spPr>
          <a:xfrm>
            <a:off x="933723" y="3095367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C1E514BE-4A3E-6FCE-E902-24C3370D67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368" y="233896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7F30E8-D4F8-B3FC-FDA8-BE0D7CB9AE5B}"/>
              </a:ext>
            </a:extLst>
          </p:cNvPr>
          <p:cNvSpPr txBox="1"/>
          <p:nvPr/>
        </p:nvSpPr>
        <p:spPr>
          <a:xfrm>
            <a:off x="3445340" y="2288333"/>
            <a:ext cx="3614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Tightly Synchronized Clocks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3274D20-301F-A4CB-EB38-3DD11CFC7147}"/>
              </a:ext>
            </a:extLst>
          </p:cNvPr>
          <p:cNvSpPr/>
          <p:nvPr/>
        </p:nvSpPr>
        <p:spPr>
          <a:xfrm>
            <a:off x="7643442" y="2761827"/>
            <a:ext cx="4032482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D180D5-504B-B0A2-4348-AAE53CBD0D84}"/>
              </a:ext>
            </a:extLst>
          </p:cNvPr>
          <p:cNvSpPr txBox="1"/>
          <p:nvPr/>
        </p:nvSpPr>
        <p:spPr>
          <a:xfrm>
            <a:off x="8232575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11" name="Graphic 10" descr="Normal Distribution with solid fill">
            <a:extLst>
              <a:ext uri="{FF2B5EF4-FFF2-40B4-BE49-F238E27FC236}">
                <a16:creationId xmlns:a16="http://schemas.microsoft.com/office/drawing/2014/main" id="{B6B7790C-443C-3E07-213A-980A49AC4E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2575" y="220681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6CAAFA5-F0F7-B64B-945B-F008BBFF8FEB}"/>
              </a:ext>
            </a:extLst>
          </p:cNvPr>
          <p:cNvSpPr txBox="1"/>
          <p:nvPr/>
        </p:nvSpPr>
        <p:spPr>
          <a:xfrm>
            <a:off x="9059956" y="2152485"/>
            <a:ext cx="2846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Time as a random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2E211-91A5-DD9B-70BF-573CB855077D}"/>
              </a:ext>
            </a:extLst>
          </p:cNvPr>
          <p:cNvSpPr txBox="1"/>
          <p:nvPr/>
        </p:nvSpPr>
        <p:spPr>
          <a:xfrm>
            <a:off x="2121325" y="4564534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SIGCOMM’25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98C97-4F56-BA56-E984-2DBDF1E4D90E}"/>
              </a:ext>
            </a:extLst>
          </p:cNvPr>
          <p:cNvSpPr txBox="1"/>
          <p:nvPr/>
        </p:nvSpPr>
        <p:spPr>
          <a:xfrm>
            <a:off x="7643442" y="4111538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HotNets’25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7EE278-208A-4B93-637F-68B276C2F983}"/>
              </a:ext>
            </a:extLst>
          </p:cNvPr>
          <p:cNvSpPr txBox="1"/>
          <p:nvPr/>
        </p:nvSpPr>
        <p:spPr>
          <a:xfrm>
            <a:off x="7643442" y="4507299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SIGCOMM’26</a:t>
            </a:r>
          </a:p>
        </p:txBody>
      </p:sp>
    </p:spTree>
    <p:extLst>
      <p:ext uri="{BB962C8B-B14F-4D97-AF65-F5344CB8AC3E}">
        <p14:creationId xmlns:p14="http://schemas.microsoft.com/office/powerpoint/2010/main" val="229929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6775-70DA-824D-D1F1-09F7A2F7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BD36E6-2175-4E01-F989-AEA7048D6FAC}"/>
              </a:ext>
            </a:extLst>
          </p:cNvPr>
          <p:cNvSpPr/>
          <p:nvPr/>
        </p:nvSpPr>
        <p:spPr>
          <a:xfrm>
            <a:off x="702884" y="2761827"/>
            <a:ext cx="6709719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0DBAB9-255F-B6BA-09B3-0D37E539B14B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5D36CC-7460-172A-78DB-598FD5E6BD8D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1EB8E2-1A72-E97D-AC61-E621B8D6AF8A}"/>
              </a:ext>
            </a:extLst>
          </p:cNvPr>
          <p:cNvSpPr txBox="1"/>
          <p:nvPr/>
        </p:nvSpPr>
        <p:spPr>
          <a:xfrm>
            <a:off x="772906" y="405121"/>
            <a:ext cx="6591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Thesis: Latency Fairness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8A125-EA7E-6448-A161-8D099BD47A96}"/>
              </a:ext>
            </a:extLst>
          </p:cNvPr>
          <p:cNvSpPr txBox="1"/>
          <p:nvPr/>
        </p:nvSpPr>
        <p:spPr>
          <a:xfrm>
            <a:off x="4229584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3AD16-892E-88AD-8ACB-FA66F2EE1492}"/>
              </a:ext>
            </a:extLst>
          </p:cNvPr>
          <p:cNvSpPr txBox="1"/>
          <p:nvPr/>
        </p:nvSpPr>
        <p:spPr>
          <a:xfrm>
            <a:off x="933723" y="3095367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DC3F74E6-B828-7447-2596-D3D9C5694E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368" y="233896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99F71D-207C-3FD0-D2C0-67FC0B3B6B20}"/>
              </a:ext>
            </a:extLst>
          </p:cNvPr>
          <p:cNvSpPr txBox="1"/>
          <p:nvPr/>
        </p:nvSpPr>
        <p:spPr>
          <a:xfrm>
            <a:off x="3445340" y="2288333"/>
            <a:ext cx="3614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Tightly Synchronized Clocks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CE2F7F-1B4D-2F81-B0A2-47AB184F13C3}"/>
              </a:ext>
            </a:extLst>
          </p:cNvPr>
          <p:cNvSpPr/>
          <p:nvPr/>
        </p:nvSpPr>
        <p:spPr>
          <a:xfrm>
            <a:off x="7643442" y="2761827"/>
            <a:ext cx="4032482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0C9FA6-F036-9573-1309-3BD06FDC2D18}"/>
              </a:ext>
            </a:extLst>
          </p:cNvPr>
          <p:cNvSpPr txBox="1"/>
          <p:nvPr/>
        </p:nvSpPr>
        <p:spPr>
          <a:xfrm>
            <a:off x="8232575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11" name="Graphic 10" descr="Normal Distribution with solid fill">
            <a:extLst>
              <a:ext uri="{FF2B5EF4-FFF2-40B4-BE49-F238E27FC236}">
                <a16:creationId xmlns:a16="http://schemas.microsoft.com/office/drawing/2014/main" id="{5C94C79F-D31B-1110-C711-C59BC2DA23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2575" y="220681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B85E896-B51E-B9AE-4126-D45A2DB10B7F}"/>
              </a:ext>
            </a:extLst>
          </p:cNvPr>
          <p:cNvSpPr txBox="1"/>
          <p:nvPr/>
        </p:nvSpPr>
        <p:spPr>
          <a:xfrm>
            <a:off x="9059956" y="2152485"/>
            <a:ext cx="2846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Time as a random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79DCAB-6D3F-F0E5-03A5-FECA8F3C4FA2}"/>
              </a:ext>
            </a:extLst>
          </p:cNvPr>
          <p:cNvSpPr txBox="1"/>
          <p:nvPr/>
        </p:nvSpPr>
        <p:spPr>
          <a:xfrm>
            <a:off x="2121325" y="4564534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SIGCOMM’25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58BBE-60CC-5A6D-75BA-B7DACEFFD024}"/>
              </a:ext>
            </a:extLst>
          </p:cNvPr>
          <p:cNvSpPr txBox="1"/>
          <p:nvPr/>
        </p:nvSpPr>
        <p:spPr>
          <a:xfrm>
            <a:off x="7643442" y="4111538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HotNets’25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0B7F2B-89A8-DA63-8B23-76673AB870C0}"/>
              </a:ext>
            </a:extLst>
          </p:cNvPr>
          <p:cNvSpPr txBox="1"/>
          <p:nvPr/>
        </p:nvSpPr>
        <p:spPr>
          <a:xfrm>
            <a:off x="7643442" y="4507299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SIGCOMM’26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53774-1F0A-4F75-7384-F591D706DB5E}"/>
              </a:ext>
            </a:extLst>
          </p:cNvPr>
          <p:cNvSpPr txBox="1"/>
          <p:nvPr/>
        </p:nvSpPr>
        <p:spPr>
          <a:xfrm>
            <a:off x="2121324" y="5050912"/>
            <a:ext cx="3872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Cited by researchers from Jane Street, Google, Microsoft Research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7A22B8-3912-A39A-4AD8-9F6867449B9D}"/>
              </a:ext>
            </a:extLst>
          </p:cNvPr>
          <p:cNvSpPr txBox="1"/>
          <p:nvPr/>
        </p:nvSpPr>
        <p:spPr>
          <a:xfrm>
            <a:off x="7643442" y="5095180"/>
            <a:ext cx="410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Considerable interest from Jane Street, working with them to build several systems atop</a:t>
            </a:r>
          </a:p>
        </p:txBody>
      </p:sp>
    </p:spTree>
    <p:extLst>
      <p:ext uri="{BB962C8B-B14F-4D97-AF65-F5344CB8AC3E}">
        <p14:creationId xmlns:p14="http://schemas.microsoft.com/office/powerpoint/2010/main" val="3568427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B5CA3-9610-7961-1B95-96F35195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DB2F0E-92F1-2447-4AFB-9C2AE402C6BF}"/>
              </a:ext>
            </a:extLst>
          </p:cNvPr>
          <p:cNvSpPr/>
          <p:nvPr/>
        </p:nvSpPr>
        <p:spPr>
          <a:xfrm>
            <a:off x="702884" y="2761827"/>
            <a:ext cx="6709719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DFBDE7-5E2E-5800-F1C0-A20B261A1755}"/>
              </a:ext>
            </a:extLst>
          </p:cNvPr>
          <p:cNvSpPr/>
          <p:nvPr/>
        </p:nvSpPr>
        <p:spPr>
          <a:xfrm rot="16200000">
            <a:off x="2522582" y="-387076"/>
            <a:ext cx="68673" cy="324639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B1ED2F-A8D1-2AF2-FE8B-3E6187AA2C8E}"/>
              </a:ext>
            </a:extLst>
          </p:cNvPr>
          <p:cNvSpPr/>
          <p:nvPr/>
        </p:nvSpPr>
        <p:spPr>
          <a:xfrm rot="16200000">
            <a:off x="2522581" y="-318404"/>
            <a:ext cx="68674" cy="324639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2A527-A0EA-8B4C-9EC6-6DDFB7C965FD}"/>
              </a:ext>
            </a:extLst>
          </p:cNvPr>
          <p:cNvSpPr txBox="1"/>
          <p:nvPr/>
        </p:nvSpPr>
        <p:spPr>
          <a:xfrm>
            <a:off x="772906" y="405121"/>
            <a:ext cx="65917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Thesis: Latency Fairness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2168A-D26C-B5B6-2A8D-229247BE723E}"/>
              </a:ext>
            </a:extLst>
          </p:cNvPr>
          <p:cNvSpPr txBox="1"/>
          <p:nvPr/>
        </p:nvSpPr>
        <p:spPr>
          <a:xfrm>
            <a:off x="4229584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EDC1AC-909B-4FDD-19F3-6083605CF67A}"/>
              </a:ext>
            </a:extLst>
          </p:cNvPr>
          <p:cNvSpPr txBox="1"/>
          <p:nvPr/>
        </p:nvSpPr>
        <p:spPr>
          <a:xfrm>
            <a:off x="933723" y="3095367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5" name="Graphic 4" descr="Clock with solid fill">
            <a:extLst>
              <a:ext uri="{FF2B5EF4-FFF2-40B4-BE49-F238E27FC236}">
                <a16:creationId xmlns:a16="http://schemas.microsoft.com/office/drawing/2014/main" id="{7CA41EBB-C6FA-DB22-3E79-DEA8E56EF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5368" y="2338965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739C3C-A360-3329-AC33-3EC88A1DDBF6}"/>
              </a:ext>
            </a:extLst>
          </p:cNvPr>
          <p:cNvSpPr txBox="1"/>
          <p:nvPr/>
        </p:nvSpPr>
        <p:spPr>
          <a:xfrm>
            <a:off x="3445340" y="2288333"/>
            <a:ext cx="3614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Tightly Synchronized Clocks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A0DB9F4-97FE-53E9-6644-C22A4EAA8EE4}"/>
              </a:ext>
            </a:extLst>
          </p:cNvPr>
          <p:cNvSpPr/>
          <p:nvPr/>
        </p:nvSpPr>
        <p:spPr>
          <a:xfrm>
            <a:off x="7643442" y="2761827"/>
            <a:ext cx="4032482" cy="227972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BA897-9EEB-ECE3-39C3-1CD97B0783CC}"/>
              </a:ext>
            </a:extLst>
          </p:cNvPr>
          <p:cNvSpPr txBox="1"/>
          <p:nvPr/>
        </p:nvSpPr>
        <p:spPr>
          <a:xfrm>
            <a:off x="8232575" y="3089189"/>
            <a:ext cx="2830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Inbound</a:t>
            </a:r>
            <a:b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</p:txBody>
      </p:sp>
      <p:pic>
        <p:nvPicPr>
          <p:cNvPr id="11" name="Graphic 10" descr="Normal Distribution with solid fill">
            <a:extLst>
              <a:ext uri="{FF2B5EF4-FFF2-40B4-BE49-F238E27FC236}">
                <a16:creationId xmlns:a16="http://schemas.microsoft.com/office/drawing/2014/main" id="{3011D6E4-E375-4389-751A-8CBB6AD1D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32575" y="2206810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E3FA76-CA6A-C389-4AE7-2B33B1C3E432}"/>
              </a:ext>
            </a:extLst>
          </p:cNvPr>
          <p:cNvSpPr txBox="1"/>
          <p:nvPr/>
        </p:nvSpPr>
        <p:spPr>
          <a:xfrm>
            <a:off x="9059956" y="2152485"/>
            <a:ext cx="28468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Time as a random variable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5568BD-6B32-8B0A-63B4-D590ED562165}"/>
              </a:ext>
            </a:extLst>
          </p:cNvPr>
          <p:cNvSpPr txBox="1"/>
          <p:nvPr/>
        </p:nvSpPr>
        <p:spPr>
          <a:xfrm>
            <a:off x="2121325" y="4564534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SIGCOMM’25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3786E7-FAD5-1A6D-984D-A0C6475A77C9}"/>
              </a:ext>
            </a:extLst>
          </p:cNvPr>
          <p:cNvSpPr txBox="1"/>
          <p:nvPr/>
        </p:nvSpPr>
        <p:spPr>
          <a:xfrm>
            <a:off x="7643442" y="4111538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HotNets’25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DA7C2F-E097-A499-6683-94AB6092CCE0}"/>
              </a:ext>
            </a:extLst>
          </p:cNvPr>
          <p:cNvSpPr txBox="1"/>
          <p:nvPr/>
        </p:nvSpPr>
        <p:spPr>
          <a:xfrm>
            <a:off x="7643442" y="4507299"/>
            <a:ext cx="38728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SIGCOMM’26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DD9C98-50C6-813B-3239-9C993D428882}"/>
              </a:ext>
            </a:extLst>
          </p:cNvPr>
          <p:cNvSpPr txBox="1"/>
          <p:nvPr/>
        </p:nvSpPr>
        <p:spPr>
          <a:xfrm>
            <a:off x="2121324" y="5050912"/>
            <a:ext cx="38728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Cited by researchers from Jane Street, Google, Microsoft Research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1004E0-49B5-5D32-B9D0-E6CE1AC7916D}"/>
              </a:ext>
            </a:extLst>
          </p:cNvPr>
          <p:cNvSpPr txBox="1"/>
          <p:nvPr/>
        </p:nvSpPr>
        <p:spPr>
          <a:xfrm>
            <a:off x="7643442" y="5095180"/>
            <a:ext cx="4103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Considerable interest from Jane Street, working with them to build several systems atop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1566FE-8602-2728-E06A-15A91CC6D3C9}"/>
              </a:ext>
            </a:extLst>
          </p:cNvPr>
          <p:cNvSpPr txBox="1"/>
          <p:nvPr/>
        </p:nvSpPr>
        <p:spPr>
          <a:xfrm>
            <a:off x="1907791" y="1318065"/>
            <a:ext cx="3872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CAE7B6-A427-7062-A40F-37C2326B4796}"/>
              </a:ext>
            </a:extLst>
          </p:cNvPr>
          <p:cNvSpPr txBox="1"/>
          <p:nvPr/>
        </p:nvSpPr>
        <p:spPr>
          <a:xfrm>
            <a:off x="7643442" y="1318065"/>
            <a:ext cx="3872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Tommy</a:t>
            </a:r>
          </a:p>
        </p:txBody>
      </p:sp>
    </p:spTree>
    <p:extLst>
      <p:ext uri="{BB962C8B-B14F-4D97-AF65-F5344CB8AC3E}">
        <p14:creationId xmlns:p14="http://schemas.microsoft.com/office/powerpoint/2010/main" val="3396139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95072-D311-F68C-B2A5-279E6357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082ADE-2353-BB96-6239-C215B9C48190}"/>
              </a:ext>
            </a:extLst>
          </p:cNvPr>
          <p:cNvSpPr/>
          <p:nvPr/>
        </p:nvSpPr>
        <p:spPr>
          <a:xfrm rot="16200000">
            <a:off x="8170505" y="1124325"/>
            <a:ext cx="45719" cy="474817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9CAEC30-4E16-3A5C-9CDD-6F84FC205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6" y="1283720"/>
            <a:ext cx="9948215" cy="214528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C386F67-4617-C1E9-24BC-0E8729AABF75}"/>
              </a:ext>
            </a:extLst>
          </p:cNvPr>
          <p:cNvSpPr/>
          <p:nvPr/>
        </p:nvSpPr>
        <p:spPr>
          <a:xfrm rot="16200000">
            <a:off x="3421012" y="1214037"/>
            <a:ext cx="45719" cy="4568749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E93460-00C4-9471-E71C-67988F56158E}"/>
              </a:ext>
            </a:extLst>
          </p:cNvPr>
          <p:cNvSpPr txBox="1"/>
          <p:nvPr/>
        </p:nvSpPr>
        <p:spPr>
          <a:xfrm>
            <a:off x="-210844" y="694172"/>
            <a:ext cx="3872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Onyx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477FD3-0A11-FC88-E33A-30AC03A3243B}"/>
              </a:ext>
            </a:extLst>
          </p:cNvPr>
          <p:cNvSpPr txBox="1"/>
          <p:nvPr/>
        </p:nvSpPr>
        <p:spPr>
          <a:xfrm>
            <a:off x="7433045" y="5569553"/>
            <a:ext cx="38728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Tommy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448D99-0312-5AF1-763A-B28EC7528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75" y="3850326"/>
            <a:ext cx="10417835" cy="1719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41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Word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CD869-F24A-06AE-7C01-B6FD6CAFA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A599D-E91B-9B15-20BC-DF403757B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4E147F-C9DD-9C1A-B96F-C10E9D36CB0D}"/>
              </a:ext>
            </a:extLst>
          </p:cNvPr>
          <p:cNvSpPr/>
          <p:nvPr/>
        </p:nvSpPr>
        <p:spPr>
          <a:xfrm>
            <a:off x="-210532" y="-296945"/>
            <a:ext cx="12613064" cy="7282206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12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079147" y="1045871"/>
            <a:ext cx="8074815" cy="1618489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l">
              <a:buSzPct val="36787"/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Network Support For Scalable And High-Performance Cloud Exchanges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3352D4-9C60-CC7E-EA72-6E7DB767AF10}"/>
              </a:ext>
            </a:extLst>
          </p:cNvPr>
          <p:cNvSpPr txBox="1"/>
          <p:nvPr/>
        </p:nvSpPr>
        <p:spPr>
          <a:xfrm>
            <a:off x="1079147" y="2969470"/>
            <a:ext cx="8074815" cy="1219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Muhammad Haseeb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, Jinkun Geng,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Daniel Duclos-Cavalcanti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Xiyu Hao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Ulysses Butler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Radhika Mittal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Srinivas Narayana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Anirudh Sivaraman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36DC3-CB73-BBD2-B537-135F2D543B50}"/>
              </a:ext>
            </a:extLst>
          </p:cNvPr>
          <p:cNvSpPr txBox="1"/>
          <p:nvPr/>
        </p:nvSpPr>
        <p:spPr>
          <a:xfrm>
            <a:off x="1079147" y="4489304"/>
            <a:ext cx="9054515" cy="1219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02B93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New York University,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Clockwork Inc.,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EA72E">
                    <a:lumMod val="60000"/>
                    <a:lumOff val="4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Technical University of Munich,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Rutgers University,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Arial"/>
              </a:rPr>
              <a:t>University of Illinois Urbana-Champaign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A236B874-3F78-12B3-903B-E233EAB3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113B8FBD-8B4B-7940-80CD-999D39F2B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Primer On Financial Exchanges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EEC8E6-E104-ABEE-4A8D-62211B66B3BF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3CEAA7F-2CEB-637E-1124-5135FDD213F1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F305B6-098F-D947-6CF0-0CFC2561D86C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EE237BC-3008-72A8-3AAD-1451FE073E51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</p:spTree>
    <p:extLst>
      <p:ext uri="{BB962C8B-B14F-4D97-AF65-F5344CB8AC3E}">
        <p14:creationId xmlns:p14="http://schemas.microsoft.com/office/powerpoint/2010/main" val="31393566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49340A91-478B-47BA-43C9-FBDF8E31B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AFFADCB-CB02-8A1E-6F13-0878E2BAD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46C7F2B-6DC2-C75D-A115-367E7C777546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BB997D0-B57D-8CF2-0F95-13BAE2BC4C5A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2C2EAA1-06F6-A7C0-1EEB-6BA6351D5F38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9C3B95-592C-1F5B-8C3B-9611EEAF9AEA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DA7E42-A564-F245-7A75-2F95DC7E93A5}"/>
              </a:ext>
            </a:extLst>
          </p:cNvPr>
          <p:cNvSpPr/>
          <p:nvPr/>
        </p:nvSpPr>
        <p:spPr>
          <a:xfrm>
            <a:off x="5387926" y="2861231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1412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4EBC9255-5E7D-10AD-ED87-A426223F2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929F4F3-8E9C-B30C-CA58-01DF4E4727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3B0A72F-4DBE-7024-1B98-F87EA3F55EA5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BF9DC9-B9A6-BFD8-6454-47175320B4DB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38A0E6-14A0-676E-A281-E0AC1ED047C4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AD7DDE-A614-644B-4316-596989791FBA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86641B-D937-C226-741A-6F2D54AF46C4}"/>
              </a:ext>
            </a:extLst>
          </p:cNvPr>
          <p:cNvSpPr/>
          <p:nvPr/>
        </p:nvSpPr>
        <p:spPr>
          <a:xfrm>
            <a:off x="5387926" y="2861231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12A6A9-B7DC-C02B-D18F-6BE2A9DAAB33}"/>
              </a:ext>
            </a:extLst>
          </p:cNvPr>
          <p:cNvSpPr/>
          <p:nvPr/>
        </p:nvSpPr>
        <p:spPr>
          <a:xfrm>
            <a:off x="5540326" y="3013631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0DFA98-3FDB-0281-D533-A75D9A147573}"/>
              </a:ext>
            </a:extLst>
          </p:cNvPr>
          <p:cNvSpPr/>
          <p:nvPr/>
        </p:nvSpPr>
        <p:spPr>
          <a:xfrm>
            <a:off x="5692726" y="3166031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3076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1576BAD-C08C-6286-9D41-F5F30090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FF34040-6EC2-AA31-C234-3651FCC3B6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45171D6-F44B-08E2-015F-10CDDF045642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567F68-30DB-B602-7C4A-8AA705913959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156B486-7F3B-C648-4B4C-565A770A6774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81366A-815E-F884-EA32-AE2A04C2B203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94115-88E4-A875-CF28-62AC6DD29273}"/>
              </a:ext>
            </a:extLst>
          </p:cNvPr>
          <p:cNvSpPr/>
          <p:nvPr/>
        </p:nvSpPr>
        <p:spPr>
          <a:xfrm>
            <a:off x="3014004" y="6264633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EFA45-8AA6-15C6-D09D-08BED2303AFA}"/>
              </a:ext>
            </a:extLst>
          </p:cNvPr>
          <p:cNvSpPr/>
          <p:nvPr/>
        </p:nvSpPr>
        <p:spPr>
          <a:xfrm>
            <a:off x="5927188" y="6260744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68288B-1215-14E1-6F4A-4A8A716B40D9}"/>
              </a:ext>
            </a:extLst>
          </p:cNvPr>
          <p:cNvSpPr/>
          <p:nvPr/>
        </p:nvSpPr>
        <p:spPr>
          <a:xfrm>
            <a:off x="9009184" y="6254510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927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4F78221-C096-0AE0-0729-349A9B90D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87BFA9AA-E8B1-74C7-4C75-5F98220F6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26D674A-58B6-D845-8256-3F6E0A14AFEF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9BC7D09-F50B-E8CC-9FA9-FE7F8BD3EA93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0BD4F17-C1E8-039E-C737-9D4D4B0DD524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B63F46-EAAC-B2D3-3AD9-9E6F2B873660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98D9F8-B687-1C12-2E6D-68E49EBB6464}"/>
              </a:ext>
            </a:extLst>
          </p:cNvPr>
          <p:cNvSpPr/>
          <p:nvPr/>
        </p:nvSpPr>
        <p:spPr>
          <a:xfrm>
            <a:off x="3014004" y="6264633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D03277-5936-8553-74BC-FC79D8AB4824}"/>
              </a:ext>
            </a:extLst>
          </p:cNvPr>
          <p:cNvSpPr/>
          <p:nvPr/>
        </p:nvSpPr>
        <p:spPr>
          <a:xfrm>
            <a:off x="5927188" y="6260744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9E7BB0-2A76-F314-4689-5542D9A59798}"/>
              </a:ext>
            </a:extLst>
          </p:cNvPr>
          <p:cNvSpPr/>
          <p:nvPr/>
        </p:nvSpPr>
        <p:spPr>
          <a:xfrm>
            <a:off x="9009184" y="6254510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2C56B-E434-9073-F126-F26B8C2E4379}"/>
              </a:ext>
            </a:extLst>
          </p:cNvPr>
          <p:cNvSpPr/>
          <p:nvPr/>
        </p:nvSpPr>
        <p:spPr>
          <a:xfrm>
            <a:off x="5387926" y="2861231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71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699D41C2-3661-8E23-C8DF-4C7284BC6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ADEC067C-AC5A-1E53-E172-5F1D763CE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69883F-68F6-A1C2-E72F-CA40D2EC6142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22EBFF4-2CE8-EA30-5C36-0460F3F93B37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67A8C8-B770-D72B-F370-1FC58BC30C1C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4919CB-15FA-E8CE-07A5-2E38EC0C01A8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8EFF34-E1E9-C789-2A2F-CC79B62E41EF}"/>
              </a:ext>
            </a:extLst>
          </p:cNvPr>
          <p:cNvSpPr/>
          <p:nvPr/>
        </p:nvSpPr>
        <p:spPr>
          <a:xfrm>
            <a:off x="3014004" y="6264633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0D8C69-862C-C991-A857-CEB56E6A8682}"/>
              </a:ext>
            </a:extLst>
          </p:cNvPr>
          <p:cNvSpPr/>
          <p:nvPr/>
        </p:nvSpPr>
        <p:spPr>
          <a:xfrm>
            <a:off x="5927188" y="6260744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7A6247-F8F1-660A-91F2-634D24971A18}"/>
              </a:ext>
            </a:extLst>
          </p:cNvPr>
          <p:cNvSpPr/>
          <p:nvPr/>
        </p:nvSpPr>
        <p:spPr>
          <a:xfrm>
            <a:off x="9009184" y="6254510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CD925B-A9E0-1847-B4A3-22BA8AB47BA3}"/>
              </a:ext>
            </a:extLst>
          </p:cNvPr>
          <p:cNvSpPr/>
          <p:nvPr/>
        </p:nvSpPr>
        <p:spPr>
          <a:xfrm>
            <a:off x="5387926" y="2861231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42EAE7-E5F8-713A-B753-F786C623BCEF}"/>
              </a:ext>
            </a:extLst>
          </p:cNvPr>
          <p:cNvSpPr/>
          <p:nvPr/>
        </p:nvSpPr>
        <p:spPr>
          <a:xfrm>
            <a:off x="5540326" y="3013631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3160C-F1D9-099B-8D63-F158748C1522}"/>
              </a:ext>
            </a:extLst>
          </p:cNvPr>
          <p:cNvSpPr/>
          <p:nvPr/>
        </p:nvSpPr>
        <p:spPr>
          <a:xfrm>
            <a:off x="5692726" y="3166031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89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1A20FFE-EE6D-866E-C5D4-25349E330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0FE2C22B-AA67-3D0D-5697-A99FE6606B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875F1B-9B95-CCC9-9EAF-2C62F7F9802F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F2E2B7-77B4-3203-11DB-63E9991F16E2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742B5B2-7712-9A63-2D8B-FBD5F4564319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7AF8D2-72B3-BFD6-A8F5-B845C6F87298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F62A32-181C-0CEB-CACD-626ADACF29CF}"/>
              </a:ext>
            </a:extLst>
          </p:cNvPr>
          <p:cNvSpPr/>
          <p:nvPr/>
        </p:nvSpPr>
        <p:spPr>
          <a:xfrm>
            <a:off x="3014004" y="6264633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F86C9C-E665-2379-5083-B87EBE4F6986}"/>
              </a:ext>
            </a:extLst>
          </p:cNvPr>
          <p:cNvSpPr/>
          <p:nvPr/>
        </p:nvSpPr>
        <p:spPr>
          <a:xfrm>
            <a:off x="5927188" y="6260744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13F2F5-2C34-A100-F3ED-AF22DB3918F7}"/>
              </a:ext>
            </a:extLst>
          </p:cNvPr>
          <p:cNvSpPr/>
          <p:nvPr/>
        </p:nvSpPr>
        <p:spPr>
          <a:xfrm>
            <a:off x="9009184" y="6254510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90AF2-DAAB-BDD4-5534-954A210F3311}"/>
              </a:ext>
            </a:extLst>
          </p:cNvPr>
          <p:cNvSpPr/>
          <p:nvPr/>
        </p:nvSpPr>
        <p:spPr>
          <a:xfrm>
            <a:off x="3351628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4326CA-3218-6D0B-EBE4-DA1BF5C51310}"/>
              </a:ext>
            </a:extLst>
          </p:cNvPr>
          <p:cNvSpPr/>
          <p:nvPr/>
        </p:nvSpPr>
        <p:spPr>
          <a:xfrm>
            <a:off x="6264812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AE4D09-9D39-42C7-F94C-5A3205A1107A}"/>
              </a:ext>
            </a:extLst>
          </p:cNvPr>
          <p:cNvSpPr/>
          <p:nvPr/>
        </p:nvSpPr>
        <p:spPr>
          <a:xfrm>
            <a:off x="9346808" y="6254510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538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563807A-040B-B31A-2B67-BB6F3C57B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59348CF9-C69F-91EF-5FAF-0557BF87FB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4753F46-6990-5AD6-08F4-5D16E33CA749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BFF761-743E-4E27-91B8-A687B69D794F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AD5523-AE77-E6F7-C8D5-2311C82B724E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4DFE9E-4045-3656-2815-80AF64C1CB18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FF4289-774A-2AC6-9F97-3E83EC201EFF}"/>
              </a:ext>
            </a:extLst>
          </p:cNvPr>
          <p:cNvSpPr/>
          <p:nvPr/>
        </p:nvSpPr>
        <p:spPr>
          <a:xfrm>
            <a:off x="3014004" y="6264633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123661-AC66-51D6-7369-A7C7193DB8AC}"/>
              </a:ext>
            </a:extLst>
          </p:cNvPr>
          <p:cNvSpPr/>
          <p:nvPr/>
        </p:nvSpPr>
        <p:spPr>
          <a:xfrm>
            <a:off x="5927188" y="6260744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3B1A6A-39B0-A6D1-9FD4-6DD61EE9E6E2}"/>
              </a:ext>
            </a:extLst>
          </p:cNvPr>
          <p:cNvSpPr/>
          <p:nvPr/>
        </p:nvSpPr>
        <p:spPr>
          <a:xfrm>
            <a:off x="9009184" y="6254510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7CC0E-9BE8-F79E-4A63-7496E63C6345}"/>
              </a:ext>
            </a:extLst>
          </p:cNvPr>
          <p:cNvSpPr/>
          <p:nvPr/>
        </p:nvSpPr>
        <p:spPr>
          <a:xfrm>
            <a:off x="3351628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39EC45-FAE9-4FDE-F0AA-1D168085B813}"/>
              </a:ext>
            </a:extLst>
          </p:cNvPr>
          <p:cNvSpPr/>
          <p:nvPr/>
        </p:nvSpPr>
        <p:spPr>
          <a:xfrm>
            <a:off x="6264812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D1A7E8-ED6B-89B1-830A-94EB12C6F6FF}"/>
              </a:ext>
            </a:extLst>
          </p:cNvPr>
          <p:cNvSpPr/>
          <p:nvPr/>
        </p:nvSpPr>
        <p:spPr>
          <a:xfrm>
            <a:off x="9346808" y="6254510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BBF1F3-7473-3968-F1F5-CB0E343E0622}"/>
              </a:ext>
            </a:extLst>
          </p:cNvPr>
          <p:cNvSpPr/>
          <p:nvPr/>
        </p:nvSpPr>
        <p:spPr>
          <a:xfrm>
            <a:off x="2943665" y="4618982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A73D30-1CB3-5FEE-337B-E20390DBD640}"/>
              </a:ext>
            </a:extLst>
          </p:cNvPr>
          <p:cNvSpPr/>
          <p:nvPr/>
        </p:nvSpPr>
        <p:spPr>
          <a:xfrm>
            <a:off x="5927188" y="4618982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9D63A1-2608-6658-A6C5-C93D04CE3B96}"/>
              </a:ext>
            </a:extLst>
          </p:cNvPr>
          <p:cNvSpPr/>
          <p:nvPr/>
        </p:nvSpPr>
        <p:spPr>
          <a:xfrm>
            <a:off x="8785275" y="4629107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740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BA9259FF-6B51-6D78-3084-F6B576574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675FCEC7-1E7A-F863-538A-F1497C2E74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87AC7EB-605D-04B0-E303-E26CAC5595B3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EEE4B9D-1A8F-B185-59AF-F7E45D251025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DBD939-B981-EF75-91B4-0D40F6B08203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F562D5-6767-B846-2C99-27993B2FAB1C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251E4F-A531-DD82-571D-ACA311504FCB}"/>
              </a:ext>
            </a:extLst>
          </p:cNvPr>
          <p:cNvSpPr/>
          <p:nvPr/>
        </p:nvSpPr>
        <p:spPr>
          <a:xfrm>
            <a:off x="3014004" y="6264633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F34D7-F359-F89E-4C16-5068BF4ABEC5}"/>
              </a:ext>
            </a:extLst>
          </p:cNvPr>
          <p:cNvSpPr/>
          <p:nvPr/>
        </p:nvSpPr>
        <p:spPr>
          <a:xfrm>
            <a:off x="5927188" y="6260744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A7644-AAEC-35BD-FB04-695F4E191532}"/>
              </a:ext>
            </a:extLst>
          </p:cNvPr>
          <p:cNvSpPr/>
          <p:nvPr/>
        </p:nvSpPr>
        <p:spPr>
          <a:xfrm>
            <a:off x="9009184" y="6254510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16BCE7-436B-FD6F-4C18-A019AAF274EF}"/>
              </a:ext>
            </a:extLst>
          </p:cNvPr>
          <p:cNvSpPr/>
          <p:nvPr/>
        </p:nvSpPr>
        <p:spPr>
          <a:xfrm>
            <a:off x="3351628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1B318D-E549-F84E-6751-5594E941632B}"/>
              </a:ext>
            </a:extLst>
          </p:cNvPr>
          <p:cNvSpPr/>
          <p:nvPr/>
        </p:nvSpPr>
        <p:spPr>
          <a:xfrm>
            <a:off x="6264812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720E4-76AA-00A0-BA8F-93F0A6649D16}"/>
              </a:ext>
            </a:extLst>
          </p:cNvPr>
          <p:cNvSpPr/>
          <p:nvPr/>
        </p:nvSpPr>
        <p:spPr>
          <a:xfrm>
            <a:off x="9346808" y="6254510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4DD409-3766-41E6-4D28-994283A29833}"/>
              </a:ext>
            </a:extLst>
          </p:cNvPr>
          <p:cNvSpPr/>
          <p:nvPr/>
        </p:nvSpPr>
        <p:spPr>
          <a:xfrm>
            <a:off x="4722641" y="2585907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9064E1-9BC5-F825-E586-1E4346CAE8DA}"/>
              </a:ext>
            </a:extLst>
          </p:cNvPr>
          <p:cNvSpPr/>
          <p:nvPr/>
        </p:nvSpPr>
        <p:spPr>
          <a:xfrm>
            <a:off x="5274803" y="2585907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9D48B9-DE90-944D-D92A-6A6EE859D5B9}"/>
              </a:ext>
            </a:extLst>
          </p:cNvPr>
          <p:cNvSpPr/>
          <p:nvPr/>
        </p:nvSpPr>
        <p:spPr>
          <a:xfrm>
            <a:off x="5841318" y="2545942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5786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165FC8A-92F2-927B-603A-958562CDA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785A193-5696-2737-CFCF-1A96C58037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E067B3B-7122-37C0-4747-D774114FE358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8C4E6F-E494-BBC7-095C-5639F3F47554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8D6AED7-E8F5-E367-226D-65CA3D896119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0664D8-344D-7FCD-CC10-8C6CB002F24F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BE4531-88A0-3DD7-1A3B-94EDAD64FFA9}"/>
              </a:ext>
            </a:extLst>
          </p:cNvPr>
          <p:cNvSpPr/>
          <p:nvPr/>
        </p:nvSpPr>
        <p:spPr>
          <a:xfrm>
            <a:off x="3014004" y="6264633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005A9E-CDA8-CB8F-0C89-9E7DFBE76B5B}"/>
              </a:ext>
            </a:extLst>
          </p:cNvPr>
          <p:cNvSpPr/>
          <p:nvPr/>
        </p:nvSpPr>
        <p:spPr>
          <a:xfrm>
            <a:off x="5927188" y="6260744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B192A5-F9B4-3FBC-A62A-0001EAB19FD1}"/>
              </a:ext>
            </a:extLst>
          </p:cNvPr>
          <p:cNvSpPr/>
          <p:nvPr/>
        </p:nvSpPr>
        <p:spPr>
          <a:xfrm>
            <a:off x="9009184" y="6254510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2EA57F-037E-E0E3-4385-44EDCBE9A3C8}"/>
              </a:ext>
            </a:extLst>
          </p:cNvPr>
          <p:cNvSpPr/>
          <p:nvPr/>
        </p:nvSpPr>
        <p:spPr>
          <a:xfrm>
            <a:off x="3351628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C63A62-BB90-7513-1513-F57F33FD6EC4}"/>
              </a:ext>
            </a:extLst>
          </p:cNvPr>
          <p:cNvSpPr/>
          <p:nvPr/>
        </p:nvSpPr>
        <p:spPr>
          <a:xfrm>
            <a:off x="6264812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1D68A-2275-9A54-0911-63CF91F486B3}"/>
              </a:ext>
            </a:extLst>
          </p:cNvPr>
          <p:cNvSpPr/>
          <p:nvPr/>
        </p:nvSpPr>
        <p:spPr>
          <a:xfrm>
            <a:off x="9346808" y="6254510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5264BC-8263-A644-0409-D85F587A964B}"/>
              </a:ext>
            </a:extLst>
          </p:cNvPr>
          <p:cNvSpPr/>
          <p:nvPr/>
        </p:nvSpPr>
        <p:spPr>
          <a:xfrm>
            <a:off x="2943665" y="4618982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ED9FEE2-2DCA-8F82-46F6-0C47BFF00873}"/>
              </a:ext>
            </a:extLst>
          </p:cNvPr>
          <p:cNvSpPr/>
          <p:nvPr/>
        </p:nvSpPr>
        <p:spPr>
          <a:xfrm>
            <a:off x="5927188" y="4618982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9D94DEE-B79A-F8B0-944F-F0BD531DB3FB}"/>
              </a:ext>
            </a:extLst>
          </p:cNvPr>
          <p:cNvSpPr/>
          <p:nvPr/>
        </p:nvSpPr>
        <p:spPr>
          <a:xfrm>
            <a:off x="8785275" y="4629107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6A6B37C-752F-5EED-C3A8-957259A4E69D}"/>
              </a:ext>
            </a:extLst>
          </p:cNvPr>
          <p:cNvSpPr/>
          <p:nvPr/>
        </p:nvSpPr>
        <p:spPr>
          <a:xfrm>
            <a:off x="4722641" y="2585907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8B0D656-7151-837F-2ACE-24A3EA9C6E61}"/>
              </a:ext>
            </a:extLst>
          </p:cNvPr>
          <p:cNvSpPr/>
          <p:nvPr/>
        </p:nvSpPr>
        <p:spPr>
          <a:xfrm>
            <a:off x="5274803" y="2585907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C68383B-93D3-6A59-2BB2-30020AC59C33}"/>
              </a:ext>
            </a:extLst>
          </p:cNvPr>
          <p:cNvSpPr/>
          <p:nvPr/>
        </p:nvSpPr>
        <p:spPr>
          <a:xfrm>
            <a:off x="5841318" y="2545942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9397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6769B5C-2A14-66CF-5952-F00668DC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66B4E20D-D83A-952C-1135-1D9426108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9422F61-5969-4421-10AF-7DE858595715}"/>
              </a:ext>
            </a:extLst>
          </p:cNvPr>
          <p:cNvSpPr/>
          <p:nvPr/>
        </p:nvSpPr>
        <p:spPr>
          <a:xfrm>
            <a:off x="3742006" y="1617785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98F38D-408C-49E3-6E83-3F8995BA6A99}"/>
              </a:ext>
            </a:extLst>
          </p:cNvPr>
          <p:cNvSpPr/>
          <p:nvPr/>
        </p:nvSpPr>
        <p:spPr>
          <a:xfrm>
            <a:off x="2121878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EAB0C75-95EE-0B79-0522-70AE0987E147}"/>
              </a:ext>
            </a:extLst>
          </p:cNvPr>
          <p:cNvSpPr/>
          <p:nvPr/>
        </p:nvSpPr>
        <p:spPr>
          <a:xfrm>
            <a:off x="4963551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88E04F-BF22-92ED-E875-0F7D93A3C112}"/>
              </a:ext>
            </a:extLst>
          </p:cNvPr>
          <p:cNvSpPr/>
          <p:nvPr/>
        </p:nvSpPr>
        <p:spPr>
          <a:xfrm>
            <a:off x="7805224" y="5125151"/>
            <a:ext cx="2407920" cy="98022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Market Participant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747BE2-DB0B-2F1C-BEC6-68E65A752196}"/>
              </a:ext>
            </a:extLst>
          </p:cNvPr>
          <p:cNvSpPr/>
          <p:nvPr/>
        </p:nvSpPr>
        <p:spPr>
          <a:xfrm>
            <a:off x="3014004" y="6264633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D7F50E-A67C-EAA3-9CEF-06860E8AA946}"/>
              </a:ext>
            </a:extLst>
          </p:cNvPr>
          <p:cNvSpPr/>
          <p:nvPr/>
        </p:nvSpPr>
        <p:spPr>
          <a:xfrm>
            <a:off x="5927188" y="6260744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5B648-0501-AD87-DA8E-09DD8CD8446B}"/>
              </a:ext>
            </a:extLst>
          </p:cNvPr>
          <p:cNvSpPr/>
          <p:nvPr/>
        </p:nvSpPr>
        <p:spPr>
          <a:xfrm>
            <a:off x="9009184" y="6254510"/>
            <a:ext cx="337624" cy="37982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DB383-73F0-D520-076D-83390904DC13}"/>
              </a:ext>
            </a:extLst>
          </p:cNvPr>
          <p:cNvSpPr/>
          <p:nvPr/>
        </p:nvSpPr>
        <p:spPr>
          <a:xfrm>
            <a:off x="3351628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9F5637-3A3B-817F-F0DD-32A56C589402}"/>
              </a:ext>
            </a:extLst>
          </p:cNvPr>
          <p:cNvSpPr/>
          <p:nvPr/>
        </p:nvSpPr>
        <p:spPr>
          <a:xfrm>
            <a:off x="6264812" y="6264633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4FA9A1-9B33-060B-B14F-B3347BCB4891}"/>
              </a:ext>
            </a:extLst>
          </p:cNvPr>
          <p:cNvSpPr/>
          <p:nvPr/>
        </p:nvSpPr>
        <p:spPr>
          <a:xfrm>
            <a:off x="9346808" y="6254510"/>
            <a:ext cx="337624" cy="3798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9E262D7-7922-BA00-F729-A103AF38BF8E}"/>
              </a:ext>
            </a:extLst>
          </p:cNvPr>
          <p:cNvSpPr/>
          <p:nvPr/>
        </p:nvSpPr>
        <p:spPr>
          <a:xfrm>
            <a:off x="5274802" y="2332823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AEF8A2-B338-FBDC-3A1D-56BFE0E14F71}"/>
              </a:ext>
            </a:extLst>
          </p:cNvPr>
          <p:cNvSpPr/>
          <p:nvPr/>
        </p:nvSpPr>
        <p:spPr>
          <a:xfrm>
            <a:off x="5855090" y="2285124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B75CD9-A6D6-C098-C487-3EB4743582C5}"/>
              </a:ext>
            </a:extLst>
          </p:cNvPr>
          <p:cNvSpPr/>
          <p:nvPr/>
        </p:nvSpPr>
        <p:spPr>
          <a:xfrm>
            <a:off x="4708286" y="2333525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2E9859-BA86-B1B3-5DB8-2302F8CC2806}"/>
              </a:ext>
            </a:extLst>
          </p:cNvPr>
          <p:cNvSpPr/>
          <p:nvPr/>
        </p:nvSpPr>
        <p:spPr>
          <a:xfrm>
            <a:off x="4722641" y="2585907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C187ED-98FD-9539-006E-5C74C64F828F}"/>
              </a:ext>
            </a:extLst>
          </p:cNvPr>
          <p:cNvSpPr/>
          <p:nvPr/>
        </p:nvSpPr>
        <p:spPr>
          <a:xfrm>
            <a:off x="5274803" y="2585907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26DDC5-FF44-CD39-6D97-495A387E61D7}"/>
              </a:ext>
            </a:extLst>
          </p:cNvPr>
          <p:cNvSpPr/>
          <p:nvPr/>
        </p:nvSpPr>
        <p:spPr>
          <a:xfrm>
            <a:off x="5841318" y="2545942"/>
            <a:ext cx="481819" cy="42654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5048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EF2E01D-5C74-6451-7890-DE6857C2B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DF32F7C-FF60-286D-CD3B-8C5B781E51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Primer On Financial Exchanges</a:t>
            </a:r>
            <a:endParaRPr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6E0A65E-31D2-4A54-9B64-E91B4EA4212E}"/>
              </a:ext>
            </a:extLst>
          </p:cNvPr>
          <p:cNvSpPr/>
          <p:nvPr/>
        </p:nvSpPr>
        <p:spPr>
          <a:xfrm>
            <a:off x="682886" y="1801239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345F838-C012-2504-AEC2-D173E087D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2940722"/>
            <a:ext cx="4959768" cy="36808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270677-1900-B2BA-CA00-1E4105377FE3}"/>
              </a:ext>
            </a:extLst>
          </p:cNvPr>
          <p:cNvSpPr txBox="1"/>
          <p:nvPr/>
        </p:nvSpPr>
        <p:spPr>
          <a:xfrm>
            <a:off x="4819927" y="2248088"/>
            <a:ext cx="7193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 closer to mid price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Immediate execution/match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7DEA3A-5D0E-3CC8-D798-D11EAA104610}"/>
              </a:ext>
            </a:extLst>
          </p:cNvPr>
          <p:cNvSpPr txBox="1"/>
          <p:nvPr/>
        </p:nvSpPr>
        <p:spPr>
          <a:xfrm>
            <a:off x="4819927" y="3655806"/>
            <a:ext cx="7193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 away from mid price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potential execution/match in future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C75900-2D66-9029-435C-CDB670514F36}"/>
              </a:ext>
            </a:extLst>
          </p:cNvPr>
          <p:cNvSpPr txBox="1"/>
          <p:nvPr/>
        </p:nvSpPr>
        <p:spPr>
          <a:xfrm>
            <a:off x="4819927" y="5138681"/>
            <a:ext cx="7193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Position in the queue/price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level matters!</a:t>
            </a:r>
          </a:p>
        </p:txBody>
      </p:sp>
    </p:spTree>
    <p:extLst>
      <p:ext uri="{BB962C8B-B14F-4D97-AF65-F5344CB8AC3E}">
        <p14:creationId xmlns:p14="http://schemas.microsoft.com/office/powerpoint/2010/main" val="52774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BC2511D-C94F-637B-4B5E-826BDD164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384E1594-7B32-AE72-0704-C5B80AD51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Primer On Financial Exchanges</a:t>
            </a:r>
            <a:endParaRPr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AFF6A39-A26D-2A51-20F5-E187D3B31201}"/>
              </a:ext>
            </a:extLst>
          </p:cNvPr>
          <p:cNvSpPr/>
          <p:nvPr/>
        </p:nvSpPr>
        <p:spPr>
          <a:xfrm>
            <a:off x="682886" y="1801239"/>
            <a:ext cx="3629465" cy="113948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9F9C84-4680-B58B-753B-E4AF6E58A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0" y="2940722"/>
            <a:ext cx="4959768" cy="368083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A69F39E-6BF6-6B8B-FDBE-1DD87EE8D482}"/>
              </a:ext>
            </a:extLst>
          </p:cNvPr>
          <p:cNvSpPr txBox="1"/>
          <p:nvPr/>
        </p:nvSpPr>
        <p:spPr>
          <a:xfrm>
            <a:off x="4819927" y="2248088"/>
            <a:ext cx="7193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 closer to mid price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Immediate execution/match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C2EEB6-7107-F1E4-1103-8AA4FFEDA74C}"/>
              </a:ext>
            </a:extLst>
          </p:cNvPr>
          <p:cNvSpPr txBox="1"/>
          <p:nvPr/>
        </p:nvSpPr>
        <p:spPr>
          <a:xfrm>
            <a:off x="4819927" y="3655806"/>
            <a:ext cx="71938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 away from mid price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itchFamily="2" charset="2"/>
              </a:rPr>
              <a:t> potential execution/match in future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1C08CD-6CC6-5CB1-5C85-B10FF82DD395}"/>
              </a:ext>
            </a:extLst>
          </p:cNvPr>
          <p:cNvSpPr txBox="1"/>
          <p:nvPr/>
        </p:nvSpPr>
        <p:spPr>
          <a:xfrm>
            <a:off x="4819927" y="5138681"/>
            <a:ext cx="719388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Position in the queue/price 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level matters!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6363CE-F651-6AFA-5D9C-527FE8C4F61B}"/>
              </a:ext>
            </a:extLst>
          </p:cNvPr>
          <p:cNvSpPr/>
          <p:nvPr/>
        </p:nvSpPr>
        <p:spPr>
          <a:xfrm>
            <a:off x="6096000" y="3429000"/>
            <a:ext cx="3926698" cy="1564252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Competition Among MPs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93E40F-8BE6-21BC-F867-78CD18543412}"/>
              </a:ext>
            </a:extLst>
          </p:cNvPr>
          <p:cNvSpPr/>
          <p:nvPr/>
        </p:nvSpPr>
        <p:spPr>
          <a:xfrm>
            <a:off x="4908324" y="1356966"/>
            <a:ext cx="6219221" cy="191550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Traditional exchanges built in private data centers or colocation facilities!</a:t>
            </a:r>
          </a:p>
        </p:txBody>
      </p:sp>
    </p:spTree>
    <p:extLst>
      <p:ext uri="{BB962C8B-B14F-4D97-AF65-F5344CB8AC3E}">
        <p14:creationId xmlns:p14="http://schemas.microsoft.com/office/powerpoint/2010/main" val="3173541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994C19-636C-6217-A88E-E21D23C13D26}"/>
              </a:ext>
            </a:extLst>
          </p:cNvPr>
          <p:cNvSpPr txBox="1"/>
          <p:nvPr/>
        </p:nvSpPr>
        <p:spPr>
          <a:xfrm>
            <a:off x="240323" y="1997839"/>
            <a:ext cx="117113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we use the public cloud to 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build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</a:t>
            </a: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financial exchanges?</a:t>
            </a:r>
          </a:p>
        </p:txBody>
      </p:sp>
    </p:spTree>
    <p:extLst>
      <p:ext uri="{BB962C8B-B14F-4D97-AF65-F5344CB8AC3E}">
        <p14:creationId xmlns:p14="http://schemas.microsoft.com/office/powerpoint/2010/main" val="31813685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>
          <a:extLst>
            <a:ext uri="{FF2B5EF4-FFF2-40B4-BE49-F238E27FC236}">
              <a16:creationId xmlns:a16="http://schemas.microsoft.com/office/drawing/2014/main" id="{4A8CD6C0-A063-01B1-C7F5-9C54C3F8A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CED002CF-80EC-C140-9B03-E1AEB6DA5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65D62B2-30C3-9CB3-5C5C-75D5C763F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81BD3367-97A9-AE7B-028E-6FD291F5A5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spcBef>
                <a:spcPct val="0"/>
              </a:spcBef>
            </a:pPr>
            <a:r>
              <a:rPr lang="en-US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Benefits of Public Cloud for Financial Exchanges</a:t>
            </a:r>
          </a:p>
        </p:txBody>
      </p:sp>
      <p:sp>
        <p:nvSpPr>
          <p:cNvPr id="69" name="Arc 68">
            <a:extLst>
              <a:ext uri="{FF2B5EF4-FFF2-40B4-BE49-F238E27FC236}">
                <a16:creationId xmlns:a16="http://schemas.microsoft.com/office/drawing/2014/main" id="{8945D019-CCE7-C804-489C-E8D46FE2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2E08653-441F-F262-CA19-3C0CB292D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4E6C7FAC-07F4-1EBB-F958-B423D2FEE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01331" y="1391811"/>
            <a:ext cx="5536397" cy="3935281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Reducing constraints of physical space around the exchange server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Unprecedented scale – 1000s of traders can be supported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Low barriers to entry for launching new global markets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Various analytics/ML services residing nearby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And typical benefits of cloud: flexible resource allocation, reduced cost, offloading management etc.</a:t>
            </a:r>
          </a:p>
        </p:txBody>
      </p:sp>
      <p:sp>
        <p:nvSpPr>
          <p:cNvPr id="2" name="Google Shape;59;p14">
            <a:extLst>
              <a:ext uri="{FF2B5EF4-FFF2-40B4-BE49-F238E27FC236}">
                <a16:creationId xmlns:a16="http://schemas.microsoft.com/office/drawing/2014/main" id="{BAFD623D-D343-8986-0D2E-72E691C3779A}"/>
              </a:ext>
            </a:extLst>
          </p:cNvPr>
          <p:cNvSpPr txBox="1">
            <a:spLocks/>
          </p:cNvSpPr>
          <p:nvPr/>
        </p:nvSpPr>
        <p:spPr>
          <a:xfrm>
            <a:off x="6221904" y="5102626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black"/>
              </a:buClr>
              <a:buSzPts val="2800"/>
              <a:buFont typeface="Arial"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There will be trade-offs.</a:t>
            </a:r>
          </a:p>
        </p:txBody>
      </p:sp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50207B9A-73F5-24FA-B999-10BA30461018}"/>
              </a:ext>
            </a:extLst>
          </p:cNvPr>
          <p:cNvSpPr txBox="1">
            <a:spLocks/>
          </p:cNvSpPr>
          <p:nvPr/>
        </p:nvSpPr>
        <p:spPr>
          <a:xfrm>
            <a:off x="5521677" y="5543416"/>
            <a:ext cx="11612611" cy="1710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5718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2332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09585" marR="0" lvl="0" indent="-457189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E2841"/>
              </a:buClr>
              <a:buSzPts val="1800"/>
              <a:buFont typeface="Arial"/>
              <a:buChar char="-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Latencies will be higher.</a:t>
            </a:r>
          </a:p>
          <a:p>
            <a:pPr marL="609585" marR="0" lvl="0" indent="-457189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0E2841"/>
              </a:buClr>
              <a:buSzPts val="1800"/>
              <a:buFont typeface="Arial"/>
              <a:buChar char="-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Fairness guarantees will be coarser.</a:t>
            </a:r>
          </a:p>
        </p:txBody>
      </p:sp>
    </p:spTree>
    <p:extLst>
      <p:ext uri="{BB962C8B-B14F-4D97-AF65-F5344CB8AC3E}">
        <p14:creationId xmlns:p14="http://schemas.microsoft.com/office/powerpoint/2010/main" val="42864333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build="p"/>
      <p:bldP spid="2" grpId="0"/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0D253-F2C4-4B85-8E4E-25642F16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84" y="4230093"/>
            <a:ext cx="4150581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spcBef>
                <a:spcPct val="0"/>
              </a:spcBef>
            </a:pP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Public Cloud Exhibits High Latency </a:t>
            </a:r>
            <a:r>
              <a:rPr lang="en-US" sz="4000" dirty="0"/>
              <a:t>&amp; </a:t>
            </a:r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Variance</a:t>
            </a:r>
          </a:p>
        </p:txBody>
      </p:sp>
      <p:pic>
        <p:nvPicPr>
          <p:cNvPr id="7" name="Picture 6" descr="A green line graph with numbers&#10;&#10;AI-generated content may be incorrect.">
            <a:extLst>
              <a:ext uri="{FF2B5EF4-FFF2-40B4-BE49-F238E27FC236}">
                <a16:creationId xmlns:a16="http://schemas.microsoft.com/office/drawing/2014/main" id="{524C1768-0D83-2672-E01C-AB9533EC5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9" t="8107" r="9298"/>
          <a:stretch>
            <a:fillRect/>
          </a:stretch>
        </p:blipFill>
        <p:spPr>
          <a:xfrm>
            <a:off x="1374371" y="457200"/>
            <a:ext cx="9504220" cy="3455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20C27FC-00B4-FA78-7403-3013CE370A95}"/>
              </a:ext>
            </a:extLst>
          </p:cNvPr>
          <p:cNvSpPr txBox="1"/>
          <p:nvPr/>
        </p:nvSpPr>
        <p:spPr>
          <a:xfrm>
            <a:off x="5246415" y="4230094"/>
            <a:ext cx="6235268" cy="18001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Latency varies temporally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Latency varies spatially – across multiple clients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Unfit for fair competition</a:t>
            </a:r>
          </a:p>
          <a:p>
            <a:pPr marL="28575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Onyx: mechanisms to achieve fairness + high performance at scale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350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6D7EE-D0F9-F30C-4D84-CD2984663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E41FEC-4794-0FB3-FA59-1D619D1EF899}"/>
              </a:ext>
            </a:extLst>
          </p:cNvPr>
          <p:cNvCxnSpPr>
            <a:cxnSpLocks/>
          </p:cNvCxnSpPr>
          <p:nvPr/>
        </p:nvCxnSpPr>
        <p:spPr>
          <a:xfrm flipH="1">
            <a:off x="2795953" y="510988"/>
            <a:ext cx="6541477" cy="5432613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1A8EAA-7162-489E-0D5E-C4F622ABD4BC}"/>
              </a:ext>
            </a:extLst>
          </p:cNvPr>
          <p:cNvCxnSpPr>
            <a:cxnSpLocks/>
          </p:cNvCxnSpPr>
          <p:nvPr/>
        </p:nvCxnSpPr>
        <p:spPr>
          <a:xfrm>
            <a:off x="3059723" y="685801"/>
            <a:ext cx="6277707" cy="525780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5D44DC3-168A-C3F4-9068-42C5684FEFEA}"/>
              </a:ext>
            </a:extLst>
          </p:cNvPr>
          <p:cNvSpPr txBox="1"/>
          <p:nvPr/>
        </p:nvSpPr>
        <p:spPr>
          <a:xfrm>
            <a:off x="9396047" y="143849"/>
            <a:ext cx="2886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B23827-BA4F-5918-8348-B31FACCE5E6F}"/>
              </a:ext>
            </a:extLst>
          </p:cNvPr>
          <p:cNvSpPr txBox="1"/>
          <p:nvPr/>
        </p:nvSpPr>
        <p:spPr>
          <a:xfrm>
            <a:off x="562707" y="126266"/>
            <a:ext cx="2818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economy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DC0346-EF18-F156-C2FB-E42928EAD4C8}"/>
              </a:ext>
            </a:extLst>
          </p:cNvPr>
          <p:cNvSpPr txBox="1"/>
          <p:nvPr/>
        </p:nvSpPr>
        <p:spPr>
          <a:xfrm>
            <a:off x="9305714" y="5961550"/>
            <a:ext cx="28862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fairness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D792CB-CE22-CADB-C321-260A451A4B03}"/>
              </a:ext>
            </a:extLst>
          </p:cNvPr>
          <p:cNvSpPr txBox="1"/>
          <p:nvPr/>
        </p:nvSpPr>
        <p:spPr>
          <a:xfrm>
            <a:off x="562707" y="5965465"/>
            <a:ext cx="3675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performance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46A233-0044-3021-2539-B77FC2BF9E2B}"/>
              </a:ext>
            </a:extLst>
          </p:cNvPr>
          <p:cNvSpPr/>
          <p:nvPr/>
        </p:nvSpPr>
        <p:spPr>
          <a:xfrm>
            <a:off x="360484" y="1072807"/>
            <a:ext cx="1565031" cy="14606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Web APIs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82D5C4-19A7-DBF2-0113-F8D5DDE10151}"/>
              </a:ext>
            </a:extLst>
          </p:cNvPr>
          <p:cNvCxnSpPr>
            <a:cxnSpLocks/>
          </p:cNvCxnSpPr>
          <p:nvPr/>
        </p:nvCxnSpPr>
        <p:spPr>
          <a:xfrm>
            <a:off x="3833447" y="1316908"/>
            <a:ext cx="4466491" cy="19523"/>
          </a:xfrm>
          <a:prstGeom prst="line">
            <a:avLst/>
          </a:prstGeom>
          <a:ln w="127000">
            <a:solidFill>
              <a:schemeClr val="accent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910874B-6583-BC0E-4A8D-257C3A01E301}"/>
              </a:ext>
            </a:extLst>
          </p:cNvPr>
          <p:cNvCxnSpPr>
            <a:cxnSpLocks/>
          </p:cNvCxnSpPr>
          <p:nvPr/>
        </p:nvCxnSpPr>
        <p:spPr>
          <a:xfrm flipV="1">
            <a:off x="6629401" y="1336431"/>
            <a:ext cx="1670537" cy="2483771"/>
          </a:xfrm>
          <a:prstGeom prst="line">
            <a:avLst/>
          </a:prstGeom>
          <a:ln w="127000">
            <a:solidFill>
              <a:schemeClr val="accent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6970EAD-23BC-8054-3263-5C2B10E921F5}"/>
              </a:ext>
            </a:extLst>
          </p:cNvPr>
          <p:cNvCxnSpPr>
            <a:cxnSpLocks/>
          </p:cNvCxnSpPr>
          <p:nvPr/>
        </p:nvCxnSpPr>
        <p:spPr>
          <a:xfrm>
            <a:off x="5350621" y="3851031"/>
            <a:ext cx="1319812" cy="0"/>
          </a:xfrm>
          <a:prstGeom prst="line">
            <a:avLst/>
          </a:prstGeom>
          <a:ln w="127000">
            <a:solidFill>
              <a:schemeClr val="accent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C26B230-BAF0-93B2-63A3-0E14502A70E9}"/>
              </a:ext>
            </a:extLst>
          </p:cNvPr>
          <p:cNvCxnSpPr>
            <a:cxnSpLocks/>
          </p:cNvCxnSpPr>
          <p:nvPr/>
        </p:nvCxnSpPr>
        <p:spPr>
          <a:xfrm flipH="1" flipV="1">
            <a:off x="3833447" y="1444562"/>
            <a:ext cx="1517174" cy="2336313"/>
          </a:xfrm>
          <a:prstGeom prst="line">
            <a:avLst/>
          </a:prstGeom>
          <a:ln w="127000">
            <a:solidFill>
              <a:schemeClr val="accent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09AA9595-F546-C061-7C48-930AE84BFF56}"/>
              </a:ext>
            </a:extLst>
          </p:cNvPr>
          <p:cNvSpPr/>
          <p:nvPr/>
        </p:nvSpPr>
        <p:spPr>
          <a:xfrm>
            <a:off x="349243" y="3120714"/>
            <a:ext cx="1565031" cy="1460633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On-Prem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707C351-2EF4-9FE6-363F-75EEE649A664}"/>
              </a:ext>
            </a:extLst>
          </p:cNvPr>
          <p:cNvCxnSpPr>
            <a:cxnSpLocks/>
          </p:cNvCxnSpPr>
          <p:nvPr/>
        </p:nvCxnSpPr>
        <p:spPr>
          <a:xfrm flipV="1">
            <a:off x="3360848" y="2720549"/>
            <a:ext cx="1989773" cy="2796642"/>
          </a:xfrm>
          <a:prstGeom prst="line">
            <a:avLst/>
          </a:prstGeom>
          <a:ln w="1270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86A6836-9F74-50DC-923C-F7573F458FCC}"/>
              </a:ext>
            </a:extLst>
          </p:cNvPr>
          <p:cNvCxnSpPr>
            <a:cxnSpLocks/>
          </p:cNvCxnSpPr>
          <p:nvPr/>
        </p:nvCxnSpPr>
        <p:spPr>
          <a:xfrm flipV="1">
            <a:off x="3381183" y="5378198"/>
            <a:ext cx="5200109" cy="35240"/>
          </a:xfrm>
          <a:prstGeom prst="line">
            <a:avLst/>
          </a:prstGeom>
          <a:ln w="1270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91B3576-5F4D-E4CE-2357-0ACADD7B4310}"/>
              </a:ext>
            </a:extLst>
          </p:cNvPr>
          <p:cNvCxnSpPr>
            <a:cxnSpLocks/>
          </p:cNvCxnSpPr>
          <p:nvPr/>
        </p:nvCxnSpPr>
        <p:spPr>
          <a:xfrm>
            <a:off x="6841381" y="2563629"/>
            <a:ext cx="1739911" cy="2710816"/>
          </a:xfrm>
          <a:prstGeom prst="line">
            <a:avLst/>
          </a:prstGeom>
          <a:ln w="1270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069F2B3-6C08-2BE5-40D1-BFF80A755A8A}"/>
              </a:ext>
            </a:extLst>
          </p:cNvPr>
          <p:cNvCxnSpPr>
            <a:cxnSpLocks/>
          </p:cNvCxnSpPr>
          <p:nvPr/>
        </p:nvCxnSpPr>
        <p:spPr>
          <a:xfrm flipV="1">
            <a:off x="5415320" y="2563629"/>
            <a:ext cx="1426061" cy="51876"/>
          </a:xfrm>
          <a:prstGeom prst="line">
            <a:avLst/>
          </a:prstGeom>
          <a:ln w="12700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43F3226-66FC-B71E-8DF1-6425DD94FB93}"/>
              </a:ext>
            </a:extLst>
          </p:cNvPr>
          <p:cNvSpPr/>
          <p:nvPr/>
        </p:nvSpPr>
        <p:spPr>
          <a:xfrm>
            <a:off x="9578717" y="1968367"/>
            <a:ext cx="2264040" cy="2216771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Onyx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(this work)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E7FDEF5-F854-42FA-EE85-F1392553B8B8}"/>
              </a:ext>
            </a:extLst>
          </p:cNvPr>
          <p:cNvCxnSpPr>
            <a:cxnSpLocks/>
          </p:cNvCxnSpPr>
          <p:nvPr/>
        </p:nvCxnSpPr>
        <p:spPr>
          <a:xfrm>
            <a:off x="4589585" y="1968367"/>
            <a:ext cx="2954215" cy="0"/>
          </a:xfrm>
          <a:prstGeom prst="line">
            <a:avLst/>
          </a:prstGeom>
          <a:ln w="1270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3884B1B-B881-1A56-79C0-E4815E9BAD6A}"/>
              </a:ext>
            </a:extLst>
          </p:cNvPr>
          <p:cNvCxnSpPr>
            <a:cxnSpLocks/>
          </p:cNvCxnSpPr>
          <p:nvPr/>
        </p:nvCxnSpPr>
        <p:spPr>
          <a:xfrm flipV="1">
            <a:off x="4535869" y="1968367"/>
            <a:ext cx="53716" cy="2396154"/>
          </a:xfrm>
          <a:prstGeom prst="line">
            <a:avLst/>
          </a:prstGeom>
          <a:ln w="1270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A54ADDD-D93B-2E9B-8F46-BAD8451DAD87}"/>
              </a:ext>
            </a:extLst>
          </p:cNvPr>
          <p:cNvCxnSpPr>
            <a:cxnSpLocks/>
          </p:cNvCxnSpPr>
          <p:nvPr/>
        </p:nvCxnSpPr>
        <p:spPr>
          <a:xfrm flipV="1">
            <a:off x="4589585" y="4364521"/>
            <a:ext cx="2743200" cy="45260"/>
          </a:xfrm>
          <a:prstGeom prst="line">
            <a:avLst/>
          </a:prstGeom>
          <a:ln w="1270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58DC817-739C-61A2-7EB5-23EDDBE97C1F}"/>
              </a:ext>
            </a:extLst>
          </p:cNvPr>
          <p:cNvCxnSpPr>
            <a:cxnSpLocks/>
          </p:cNvCxnSpPr>
          <p:nvPr/>
        </p:nvCxnSpPr>
        <p:spPr>
          <a:xfrm>
            <a:off x="7485185" y="2003537"/>
            <a:ext cx="0" cy="2513384"/>
          </a:xfrm>
          <a:prstGeom prst="line">
            <a:avLst/>
          </a:prstGeom>
          <a:ln w="1270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2B03A1B-9CCF-846D-6F80-4E6D13B131CD}"/>
              </a:ext>
            </a:extLst>
          </p:cNvPr>
          <p:cNvCxnSpPr>
            <a:cxnSpLocks/>
          </p:cNvCxnSpPr>
          <p:nvPr/>
        </p:nvCxnSpPr>
        <p:spPr>
          <a:xfrm flipV="1">
            <a:off x="5350621" y="5936630"/>
            <a:ext cx="364379" cy="322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6E29177E-CF4B-8F1F-291A-AA2F034F935E}"/>
              </a:ext>
            </a:extLst>
          </p:cNvPr>
          <p:cNvCxnSpPr>
            <a:cxnSpLocks/>
          </p:cNvCxnSpPr>
          <p:nvPr/>
        </p:nvCxnSpPr>
        <p:spPr>
          <a:xfrm>
            <a:off x="5350621" y="6363040"/>
            <a:ext cx="364379" cy="360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C5623635-639D-E30A-EF47-97C2A5A760F5}"/>
              </a:ext>
            </a:extLst>
          </p:cNvPr>
          <p:cNvCxnSpPr>
            <a:cxnSpLocks/>
          </p:cNvCxnSpPr>
          <p:nvPr/>
        </p:nvCxnSpPr>
        <p:spPr>
          <a:xfrm flipH="1">
            <a:off x="4805499" y="6358834"/>
            <a:ext cx="438652" cy="396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D7788F3F-6665-0D22-0870-F2A1B5E15DCD}"/>
              </a:ext>
            </a:extLst>
          </p:cNvPr>
          <p:cNvCxnSpPr>
            <a:cxnSpLocks/>
          </p:cNvCxnSpPr>
          <p:nvPr/>
        </p:nvCxnSpPr>
        <p:spPr>
          <a:xfrm flipH="1" flipV="1">
            <a:off x="4856327" y="5943601"/>
            <a:ext cx="387824" cy="3432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1EF0457-614F-7BB6-8B5A-BB5AE1009905}"/>
              </a:ext>
            </a:extLst>
          </p:cNvPr>
          <p:cNvSpPr txBox="1"/>
          <p:nvPr/>
        </p:nvSpPr>
        <p:spPr>
          <a:xfrm>
            <a:off x="5597612" y="6132311"/>
            <a:ext cx="2886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Away from center = better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D5434C5-0101-5AFE-B4CC-A34DB521DE55}"/>
              </a:ext>
            </a:extLst>
          </p:cNvPr>
          <p:cNvSpPr txBox="1"/>
          <p:nvPr/>
        </p:nvSpPr>
        <p:spPr>
          <a:xfrm>
            <a:off x="7086601" y="933223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10,000 MPs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7F86D4D-F5A5-1E21-9972-3FC1C388F275}"/>
              </a:ext>
            </a:extLst>
          </p:cNvPr>
          <p:cNvSpPr txBox="1"/>
          <p:nvPr/>
        </p:nvSpPr>
        <p:spPr>
          <a:xfrm>
            <a:off x="3104689" y="3624748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~100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986400B-5300-A8A7-0D2F-7F271741AA00}"/>
              </a:ext>
            </a:extLst>
          </p:cNvPr>
          <p:cNvSpPr txBox="1"/>
          <p:nvPr/>
        </p:nvSpPr>
        <p:spPr>
          <a:xfrm>
            <a:off x="4484077" y="4479397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&lt; 100 us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29D5899-CE1E-76E8-AFEA-8A0B353739A0}"/>
              </a:ext>
            </a:extLst>
          </p:cNvPr>
          <p:cNvSpPr txBox="1"/>
          <p:nvPr/>
        </p:nvSpPr>
        <p:spPr>
          <a:xfrm>
            <a:off x="3381183" y="5563254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&lt; 1 us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54D3CFA-E8D1-D948-D131-2B0038BC5C00}"/>
              </a:ext>
            </a:extLst>
          </p:cNvPr>
          <p:cNvSpPr txBox="1"/>
          <p:nvPr/>
        </p:nvSpPr>
        <p:spPr>
          <a:xfrm>
            <a:off x="7882807" y="1894755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1000 MPs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6887003-4412-C6ED-3C78-E5AA479FDAF3}"/>
              </a:ext>
            </a:extLst>
          </p:cNvPr>
          <p:cNvSpPr txBox="1"/>
          <p:nvPr/>
        </p:nvSpPr>
        <p:spPr>
          <a:xfrm>
            <a:off x="7509595" y="2716398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100 MPs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45B1CA6-3A24-6DE2-19D1-F1F60CDC7D40}"/>
              </a:ext>
            </a:extLst>
          </p:cNvPr>
          <p:cNvSpPr txBox="1"/>
          <p:nvPr/>
        </p:nvSpPr>
        <p:spPr>
          <a:xfrm>
            <a:off x="6781802" y="4366535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± 1 us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FBC12F5-D6E9-59AA-2B9D-375ABDB493DC}"/>
              </a:ext>
            </a:extLst>
          </p:cNvPr>
          <p:cNvSpPr txBox="1"/>
          <p:nvPr/>
        </p:nvSpPr>
        <p:spPr>
          <a:xfrm>
            <a:off x="8752240" y="5147859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± 10 ns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761262B-86E6-265A-2A4B-E5330AE412FC}"/>
              </a:ext>
            </a:extLst>
          </p:cNvPr>
          <p:cNvSpPr txBox="1"/>
          <p:nvPr/>
        </p:nvSpPr>
        <p:spPr>
          <a:xfrm>
            <a:off x="5984629" y="3888307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± 10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C76C45B-EF9E-084C-9560-1E5C07958FAC}"/>
              </a:ext>
            </a:extLst>
          </p:cNvPr>
          <p:cNvSpPr txBox="1"/>
          <p:nvPr/>
        </p:nvSpPr>
        <p:spPr>
          <a:xfrm>
            <a:off x="2409093" y="2754799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$60K/month/MP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13C673E-E971-081F-D6FA-D19C25D5A49D}"/>
              </a:ext>
            </a:extLst>
          </p:cNvPr>
          <p:cNvSpPr txBox="1"/>
          <p:nvPr/>
        </p:nvSpPr>
        <p:spPr>
          <a:xfrm>
            <a:off x="2569319" y="1968037"/>
            <a:ext cx="2074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$16/month/MP</a:t>
            </a:r>
          </a:p>
        </p:txBody>
      </p:sp>
    </p:spTree>
    <p:extLst>
      <p:ext uri="{BB962C8B-B14F-4D97-AF65-F5344CB8AC3E}">
        <p14:creationId xmlns:p14="http://schemas.microsoft.com/office/powerpoint/2010/main" val="336620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 animBg="1"/>
      <p:bldP spid="37" grpId="0" animBg="1"/>
      <p:bldP spid="50" grpId="0" animBg="1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A88678-9A28-758D-C3C6-D98BAD5E2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0D9B04F-71F7-70E0-38A6-A3204B990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DE296CF-617C-ECA4-CB80-D1ECBC6E4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E895D1-6EF1-5D85-F23C-0C32E754A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5777E5-C3BC-60B0-15D7-D491D128E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Freeform: Shape 16">
            <a:extLst>
              <a:ext uri="{FF2B5EF4-FFF2-40B4-BE49-F238E27FC236}">
                <a16:creationId xmlns:a16="http://schemas.microsoft.com/office/drawing/2014/main" id="{04170A5F-4EE4-FA02-E57B-B7B8B5400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20B623-424A-C413-368B-B238DD805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CE82B-3644-6521-92FB-E7D891B5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 dirty="0">
                <a:solidFill>
                  <a:srgbClr val="FFFFFF"/>
                </a:solidFill>
              </a:rPr>
              <a:t>Onyx: Scalable Cloud Financial Exchange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473725-4582-2D6A-BEBA-FAEE010172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87451" y="384388"/>
          <a:ext cx="6790149" cy="6300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6155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2E76DE-0916-BF4F-940E-5CCE6068F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B8A2073-DDFC-A945-965F-34F057A13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C6F2A64-226F-F043-A736-0E712AA93A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1F2A502-4B18-4E44-9443-18DEF06AC9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1D5DF7-3038-2041-8621-DF8C046A65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853193F-8754-5547-B915-A85C1FD214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5ADB6-3848-E651-6B0E-8EEC03BAC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Onyx</a:t>
            </a:r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C4F1CCD6-E105-C121-CFC1-1BB6A4E352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A4F11-57C5-8E7C-CBB3-E5A3C0E4E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4103" y="2257006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Fairness definitions and relaxation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Scalable outbound fairness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Scalable inbound fairness</a:t>
            </a:r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 scheduling policy to gracefully handle bursts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D2B147-FFEC-4388-CB03-56112A4BCFD0}"/>
              </a:ext>
            </a:extLst>
          </p:cNvPr>
          <p:cNvGraphicFramePr>
            <a:graphicFrameLocks noGrp="1"/>
          </p:cNvGraphicFramePr>
          <p:nvPr/>
        </p:nvGraphicFramePr>
        <p:xfrm>
          <a:off x="910624" y="5497975"/>
          <a:ext cx="9894012" cy="6379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004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3298004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3298004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637958">
                <a:tc>
                  <a:txBody>
                    <a:bodyPr/>
                    <a:lstStyle/>
                    <a:p>
                      <a:r>
                        <a:rPr lang="en-US" sz="2400" dirty="0"/>
                        <a:t>Definitions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77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48F9E-DCD6-F04B-15AD-DF1592E0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377F-8A63-FEDB-F1D3-7895F86D9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Onyx</a:t>
            </a:r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DDAC13C2-2C70-3FE2-9E86-7C70A052DB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1FCE8-0B81-5C70-BC0B-DC8D08C8F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4103" y="2257006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Fairness definitions and relaxation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Scalable outbound fairness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Scalable inbound fairness</a:t>
            </a:r>
          </a:p>
          <a:p>
            <a:pPr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A scheduling policy to gracefully handle bursts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22C39A-55C7-E1FB-5AD3-65F9D94F508B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/>
                        <a:t>Definitions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706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4677F2E-E363-684D-92DA-14A02C114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8B236555-3ED9-5D6E-167C-E68F6C9CB2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9A1B2-11C5-CF72-2C51-A1B57F4CCBC7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F76380-F83E-8E69-012D-CE58704DC7FD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8ABFDE-31AB-983A-5800-679DA02B019D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81423E-4CE5-9660-1A81-879BD85005C9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3985065"/>
      </p:ext>
    </p:extLst>
  </p:cSld>
  <p:clrMapOvr>
    <a:masterClrMapping/>
  </p:clrMapOvr>
  <p:transition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AE2AEE63-0ED7-016F-45B5-D6E6E5F0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2B39BE6D-53F3-4863-1262-DF4A24101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1AF601-E630-8CA2-E43E-ACD3791CE6A0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F6B28-059D-9EA2-78E1-EE2B14A7B297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BACB3F-498A-DA64-5FA8-3E903C9D7595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D152D48-E50B-0A8D-2645-F5DAC89EDF49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A844FE3-3AF0-5E60-5736-E444FC83A05A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0AE415-55C3-751D-BC30-E2A2EDA00A92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AC9103-7859-F21B-5F9F-6818C681A23D}"/>
              </a:ext>
            </a:extLst>
          </p:cNvPr>
          <p:cNvSpPr/>
          <p:nvPr/>
        </p:nvSpPr>
        <p:spPr>
          <a:xfrm>
            <a:off x="2721658" y="3050269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F89967-0B9B-BAFC-90B9-8CF5F1780667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0BA6C20-01AD-7127-88A8-6B1BB1F6EF82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7360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4DEF20A-FA1A-62CF-7956-76B3740D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87A8119C-12A3-C4C7-3BD0-352761FFCC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0445C-8EC5-81A0-CAE1-532C8A5CF915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1312C5-9A43-0BA5-85CB-D23B6268F1F4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F1B0E8C-CAC9-A9EB-493F-29DBC8D92A98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26DC419-53AC-CE39-D9ED-A00AAD84D1A0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D85235-C0E3-B753-FB0D-B543AAE45CC3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18DFA2-AA94-C691-AC12-3F3901551280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FC1A99-9659-31CA-347C-B849439CEF57}"/>
              </a:ext>
            </a:extLst>
          </p:cNvPr>
          <p:cNvSpPr/>
          <p:nvPr/>
        </p:nvSpPr>
        <p:spPr>
          <a:xfrm>
            <a:off x="2721658" y="3050269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3F08AF-42E1-149F-8DA8-D25B50AB1B20}"/>
              </a:ext>
            </a:extLst>
          </p:cNvPr>
          <p:cNvSpPr/>
          <p:nvPr/>
        </p:nvSpPr>
        <p:spPr>
          <a:xfrm>
            <a:off x="2874058" y="3202669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A5FF2-7EC6-F54F-B44B-0E2F384DD55C}"/>
              </a:ext>
            </a:extLst>
          </p:cNvPr>
          <p:cNvSpPr/>
          <p:nvPr/>
        </p:nvSpPr>
        <p:spPr>
          <a:xfrm>
            <a:off x="3026458" y="3355069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F546D8-4DBB-B18B-2F22-7D02B25D1328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7FC8FAE-18E0-9F49-0EE0-904418EAA9BB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894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D18FC468-CDBC-602E-5B22-6BAC00F2D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56B6E81D-CEDE-AEDF-4D35-F86BDAD15A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6577C-4E9F-2492-75AE-23A9676667CB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56D25-18D1-2243-01EB-31B3196649D7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AC0C665-78CB-1B96-AC46-6980BB8F5634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05ECEA-6FBC-2FF8-AAAB-F8DD79BA5A68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5900D4-701C-13B6-5441-31BC1A729FC2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E3F3628-4A39-6464-3733-6894DF3806BB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D9E8D8-C87F-126A-A72A-299C1380FDF3}"/>
              </a:ext>
            </a:extLst>
          </p:cNvPr>
          <p:cNvSpPr/>
          <p:nvPr/>
        </p:nvSpPr>
        <p:spPr>
          <a:xfrm>
            <a:off x="1264536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63202-4FEE-5511-0262-3FE8ED849200}"/>
              </a:ext>
            </a:extLst>
          </p:cNvPr>
          <p:cNvSpPr/>
          <p:nvPr/>
        </p:nvSpPr>
        <p:spPr>
          <a:xfrm>
            <a:off x="2965057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616050-54DA-2D43-10C5-CAA39A574B54}"/>
              </a:ext>
            </a:extLst>
          </p:cNvPr>
          <p:cNvSpPr/>
          <p:nvPr/>
        </p:nvSpPr>
        <p:spPr>
          <a:xfrm>
            <a:off x="4536455" y="5228454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498305-A864-F24C-5883-93CB9205267A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0795CCB-7805-B0A1-A8F6-65039EEC522A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169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2E0E61A8-2E79-2F80-44BC-5FD3323B9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B154D9C1-D58A-000D-F432-A104C1DFCB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008336-77D9-B470-4F8D-991048C54396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1FA75-517A-5360-4C20-CE271D5BC809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FFF389-1E25-FCC1-AF09-D37CF3AA30F7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3504F5-D851-1BCE-3614-085774A89D7F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9FA99F9-331D-1019-2BDF-92283FAC31A1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54A941-3B6B-3868-36AF-D4DC12D2C29B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95DBE5-F178-DDDF-33F3-6D4008801FB7}"/>
              </a:ext>
            </a:extLst>
          </p:cNvPr>
          <p:cNvSpPr/>
          <p:nvPr/>
        </p:nvSpPr>
        <p:spPr>
          <a:xfrm>
            <a:off x="1264536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EF6B78-C12B-DE2C-D7D0-765FAA8D6D45}"/>
              </a:ext>
            </a:extLst>
          </p:cNvPr>
          <p:cNvSpPr/>
          <p:nvPr/>
        </p:nvSpPr>
        <p:spPr>
          <a:xfrm>
            <a:off x="2965057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F42454-3748-57BD-65C1-609A655EE300}"/>
              </a:ext>
            </a:extLst>
          </p:cNvPr>
          <p:cNvSpPr/>
          <p:nvPr/>
        </p:nvSpPr>
        <p:spPr>
          <a:xfrm>
            <a:off x="4536455" y="5228454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5E4FB5-544C-CF45-12DD-9368C5C07E3D}"/>
              </a:ext>
            </a:extLst>
          </p:cNvPr>
          <p:cNvSpPr txBox="1"/>
          <p:nvPr/>
        </p:nvSpPr>
        <p:spPr>
          <a:xfrm>
            <a:off x="1300207" y="4858042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0B5BB9-46E6-7251-629E-84F0706BC900}"/>
              </a:ext>
            </a:extLst>
          </p:cNvPr>
          <p:cNvSpPr txBox="1"/>
          <p:nvPr/>
        </p:nvSpPr>
        <p:spPr>
          <a:xfrm>
            <a:off x="2929385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5A269B-639B-83E7-1B8D-2DFCCEBC8EE2}"/>
              </a:ext>
            </a:extLst>
          </p:cNvPr>
          <p:cNvSpPr txBox="1"/>
          <p:nvPr/>
        </p:nvSpPr>
        <p:spPr>
          <a:xfrm>
            <a:off x="4558563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62190D-9FCB-1F81-9EF3-142D6E70C42E}"/>
              </a:ext>
            </a:extLst>
          </p:cNvPr>
          <p:cNvSpPr/>
          <p:nvPr/>
        </p:nvSpPr>
        <p:spPr>
          <a:xfrm>
            <a:off x="1461043" y="2942563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78D44A-E7FB-B40E-8A71-E15F022AC6EF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D5F5F1-F159-30AA-76CB-2905AF67B9CA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2783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36ADE9B6-2D34-FFB5-307A-5DF9213C4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89E9A26A-A53B-65A5-E9E9-0C58EBA7EE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11A38-5B6E-833A-E7DF-CB14C6240406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B465E-A3FF-5CC2-FB6A-163D00BD98F7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A4BA12-99A6-FA18-CDE6-F165DF00D742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47FD07-F3B6-BCC3-0CFE-90D469EA66F8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86E54F-7C13-20B0-E6A0-262EB118C7E8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E4A2E9-DBDF-4C9F-30CE-DC811D580066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F71C3B-986E-4A37-1D0C-CB1F8DCE4C08}"/>
              </a:ext>
            </a:extLst>
          </p:cNvPr>
          <p:cNvSpPr/>
          <p:nvPr/>
        </p:nvSpPr>
        <p:spPr>
          <a:xfrm>
            <a:off x="1264536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10C54E-DBE3-4F9E-37EA-2136D728976C}"/>
              </a:ext>
            </a:extLst>
          </p:cNvPr>
          <p:cNvSpPr/>
          <p:nvPr/>
        </p:nvSpPr>
        <p:spPr>
          <a:xfrm>
            <a:off x="2965057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024C05-6817-D8ED-F513-A44F42E3B6F0}"/>
              </a:ext>
            </a:extLst>
          </p:cNvPr>
          <p:cNvSpPr/>
          <p:nvPr/>
        </p:nvSpPr>
        <p:spPr>
          <a:xfrm>
            <a:off x="4536455" y="5228454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54420-F000-85AA-AA68-4D4361CDBAD0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DD0EB-5001-BB59-8FCA-E178BE6AD27F}"/>
              </a:ext>
            </a:extLst>
          </p:cNvPr>
          <p:cNvSpPr txBox="1"/>
          <p:nvPr/>
        </p:nvSpPr>
        <p:spPr>
          <a:xfrm>
            <a:off x="1300207" y="4858042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6BBE3E-ACBA-18A2-106E-41C48473F39B}"/>
              </a:ext>
            </a:extLst>
          </p:cNvPr>
          <p:cNvSpPr txBox="1"/>
          <p:nvPr/>
        </p:nvSpPr>
        <p:spPr>
          <a:xfrm>
            <a:off x="2929385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37B25A-2625-B6CC-E381-A063CC13C96C}"/>
              </a:ext>
            </a:extLst>
          </p:cNvPr>
          <p:cNvSpPr txBox="1"/>
          <p:nvPr/>
        </p:nvSpPr>
        <p:spPr>
          <a:xfrm>
            <a:off x="4558563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8CAFB8-239F-156F-E5EE-75CBF4B641D8}"/>
              </a:ext>
            </a:extLst>
          </p:cNvPr>
          <p:cNvSpPr/>
          <p:nvPr/>
        </p:nvSpPr>
        <p:spPr>
          <a:xfrm>
            <a:off x="1461043" y="2942563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2375D2-E325-4863-B936-45D2BF8C2F01}"/>
              </a:ext>
            </a:extLst>
          </p:cNvPr>
          <p:cNvSpPr/>
          <p:nvPr/>
        </p:nvSpPr>
        <p:spPr>
          <a:xfrm>
            <a:off x="7952959" y="1205949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3774072-E82C-2A0B-F80A-7AC8A7DE6B9D}"/>
              </a:ext>
            </a:extLst>
          </p:cNvPr>
          <p:cNvSpPr/>
          <p:nvPr/>
        </p:nvSpPr>
        <p:spPr>
          <a:xfrm>
            <a:off x="6902570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30D7C0-4DEE-EDE5-1A25-AFEB49029657}"/>
              </a:ext>
            </a:extLst>
          </p:cNvPr>
          <p:cNvSpPr/>
          <p:nvPr/>
        </p:nvSpPr>
        <p:spPr>
          <a:xfrm>
            <a:off x="8618894" y="4432987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8F7795-C475-2B33-CB2C-5DD787151B3A}"/>
              </a:ext>
            </a:extLst>
          </p:cNvPr>
          <p:cNvSpPr/>
          <p:nvPr/>
        </p:nvSpPr>
        <p:spPr>
          <a:xfrm>
            <a:off x="10173439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C365D58-7CEF-94A6-15AC-1B1DED82FBC6}"/>
              </a:ext>
            </a:extLst>
          </p:cNvPr>
          <p:cNvSpPr/>
          <p:nvPr/>
        </p:nvSpPr>
        <p:spPr>
          <a:xfrm>
            <a:off x="8953510" y="3951245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66AFA9-864A-CC97-E810-94B9347EEF25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5A3F6D5-4531-177C-32AC-B9DC966074B7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0493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FF09A675-045B-1AF6-26AD-99BD7D68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F9CF8939-DDCD-533F-B6C5-4E52439528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E139A-0F28-65C1-95C2-5B3861577D41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1C3877-4EAB-D49A-357F-9192FE4028D4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0D9043-9413-934E-9CFF-603985D37A89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B851695-6814-FB65-50FC-DB95055D5803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664CFB-D648-BBAF-9025-7A5A53627A95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60EF87D-F24B-2155-DD1B-80A8C4F440E2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28EB4B-1004-C7A8-046D-0BBE86F7BF4B}"/>
              </a:ext>
            </a:extLst>
          </p:cNvPr>
          <p:cNvSpPr/>
          <p:nvPr/>
        </p:nvSpPr>
        <p:spPr>
          <a:xfrm>
            <a:off x="1264536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518AB-9F2A-F6DA-DFE4-10E08E317CB2}"/>
              </a:ext>
            </a:extLst>
          </p:cNvPr>
          <p:cNvSpPr/>
          <p:nvPr/>
        </p:nvSpPr>
        <p:spPr>
          <a:xfrm>
            <a:off x="2965057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1F2FCB-ECBF-4922-9642-EE0AEDE02A69}"/>
              </a:ext>
            </a:extLst>
          </p:cNvPr>
          <p:cNvSpPr/>
          <p:nvPr/>
        </p:nvSpPr>
        <p:spPr>
          <a:xfrm>
            <a:off x="4536455" y="5228454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A57750-D458-77CF-1379-DD80844F89CF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FBAB75-FAF9-E531-B3A3-49652E908843}"/>
              </a:ext>
            </a:extLst>
          </p:cNvPr>
          <p:cNvSpPr txBox="1"/>
          <p:nvPr/>
        </p:nvSpPr>
        <p:spPr>
          <a:xfrm>
            <a:off x="1300207" y="4858042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5AFE86-9C9F-3B81-23C3-A7C613F2BF81}"/>
              </a:ext>
            </a:extLst>
          </p:cNvPr>
          <p:cNvSpPr txBox="1"/>
          <p:nvPr/>
        </p:nvSpPr>
        <p:spPr>
          <a:xfrm>
            <a:off x="2929385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AAB13E-94F5-B7AD-1780-EE5C0D5BE217}"/>
              </a:ext>
            </a:extLst>
          </p:cNvPr>
          <p:cNvSpPr txBox="1"/>
          <p:nvPr/>
        </p:nvSpPr>
        <p:spPr>
          <a:xfrm>
            <a:off x="4558563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D3AEE6-52AD-5D24-07E6-0C9D98026853}"/>
              </a:ext>
            </a:extLst>
          </p:cNvPr>
          <p:cNvSpPr/>
          <p:nvPr/>
        </p:nvSpPr>
        <p:spPr>
          <a:xfrm>
            <a:off x="1461043" y="2942563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BD73240-3D66-9933-7C70-3EACA82D8D86}"/>
              </a:ext>
            </a:extLst>
          </p:cNvPr>
          <p:cNvSpPr/>
          <p:nvPr/>
        </p:nvSpPr>
        <p:spPr>
          <a:xfrm>
            <a:off x="7952959" y="1205949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9442BEE-2D9D-A972-0DA3-99362298B8EB}"/>
              </a:ext>
            </a:extLst>
          </p:cNvPr>
          <p:cNvSpPr/>
          <p:nvPr/>
        </p:nvSpPr>
        <p:spPr>
          <a:xfrm>
            <a:off x="6902570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EEB024-8BCB-2A2F-8DEE-6B8D9B6D8FF7}"/>
              </a:ext>
            </a:extLst>
          </p:cNvPr>
          <p:cNvSpPr/>
          <p:nvPr/>
        </p:nvSpPr>
        <p:spPr>
          <a:xfrm>
            <a:off x="8618894" y="4432987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626D700-B67C-CE1F-2D3E-C93F1CC0C262}"/>
              </a:ext>
            </a:extLst>
          </p:cNvPr>
          <p:cNvSpPr/>
          <p:nvPr/>
        </p:nvSpPr>
        <p:spPr>
          <a:xfrm>
            <a:off x="10173439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510A17F-3539-4E3A-F4E3-99C333363744}"/>
              </a:ext>
            </a:extLst>
          </p:cNvPr>
          <p:cNvSpPr/>
          <p:nvPr/>
        </p:nvSpPr>
        <p:spPr>
          <a:xfrm>
            <a:off x="8953510" y="3951245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8DFEA62-3783-84F6-7528-43D741CD9CFF}"/>
              </a:ext>
            </a:extLst>
          </p:cNvPr>
          <p:cNvSpPr/>
          <p:nvPr/>
        </p:nvSpPr>
        <p:spPr>
          <a:xfrm>
            <a:off x="10538612" y="3951245"/>
            <a:ext cx="481819" cy="42654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A85CC1-8DF7-2C26-BA3A-F8A2C6D863F5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00D5A03-95EF-E124-1680-82D1D688F9AF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059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22CE0D5-C33E-3810-E1A3-93FF48FF2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88FE0E17-1645-736C-5612-CEEC136B1C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94081-D31F-85E6-D214-FCB65A802940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8769B-73E9-E8CD-E1A3-C5EC7692C17E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4C53B0-66BD-6FA7-BCDE-40BE3C42F24A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187CB2-D8E2-7922-408A-0F7D53E4D24F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CD8313-0518-D67D-62A5-EA218D453D60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8BD516-7918-9E54-C40F-CAFF3F98EE35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972AA5-D310-E57B-9314-25648E830B20}"/>
              </a:ext>
            </a:extLst>
          </p:cNvPr>
          <p:cNvSpPr/>
          <p:nvPr/>
        </p:nvSpPr>
        <p:spPr>
          <a:xfrm>
            <a:off x="1264536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8271A5-BC2A-9777-EE2B-A971C99BCB64}"/>
              </a:ext>
            </a:extLst>
          </p:cNvPr>
          <p:cNvSpPr/>
          <p:nvPr/>
        </p:nvSpPr>
        <p:spPr>
          <a:xfrm>
            <a:off x="2965057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DA627D-85CE-2D2D-80FF-4DE094EC47CD}"/>
              </a:ext>
            </a:extLst>
          </p:cNvPr>
          <p:cNvSpPr/>
          <p:nvPr/>
        </p:nvSpPr>
        <p:spPr>
          <a:xfrm>
            <a:off x="4536455" y="5228454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D949E6-939A-CBDA-E216-46D5AF1B24AC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AF35B-A668-966C-EF23-32B7BE6B5DFC}"/>
              </a:ext>
            </a:extLst>
          </p:cNvPr>
          <p:cNvSpPr txBox="1"/>
          <p:nvPr/>
        </p:nvSpPr>
        <p:spPr>
          <a:xfrm>
            <a:off x="1300207" y="4858042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A35-38F8-1FFC-E370-C97343CF82FC}"/>
              </a:ext>
            </a:extLst>
          </p:cNvPr>
          <p:cNvSpPr txBox="1"/>
          <p:nvPr/>
        </p:nvSpPr>
        <p:spPr>
          <a:xfrm>
            <a:off x="2929385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2A6EFB-FA93-2050-DE41-3EEBFB214E12}"/>
              </a:ext>
            </a:extLst>
          </p:cNvPr>
          <p:cNvSpPr txBox="1"/>
          <p:nvPr/>
        </p:nvSpPr>
        <p:spPr>
          <a:xfrm>
            <a:off x="4558563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71F279-B747-19D0-CB1A-5ADAFA175DA0}"/>
              </a:ext>
            </a:extLst>
          </p:cNvPr>
          <p:cNvSpPr/>
          <p:nvPr/>
        </p:nvSpPr>
        <p:spPr>
          <a:xfrm>
            <a:off x="1461043" y="2942563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D1E25B-7E16-D9CC-212A-869962A1808B}"/>
              </a:ext>
            </a:extLst>
          </p:cNvPr>
          <p:cNvSpPr/>
          <p:nvPr/>
        </p:nvSpPr>
        <p:spPr>
          <a:xfrm>
            <a:off x="7952959" y="1205949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FEE537-357F-5304-555D-5709996A100E}"/>
              </a:ext>
            </a:extLst>
          </p:cNvPr>
          <p:cNvSpPr/>
          <p:nvPr/>
        </p:nvSpPr>
        <p:spPr>
          <a:xfrm>
            <a:off x="6902570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0C0C617-49AA-412F-EDD8-1FCCB10E5143}"/>
              </a:ext>
            </a:extLst>
          </p:cNvPr>
          <p:cNvSpPr/>
          <p:nvPr/>
        </p:nvSpPr>
        <p:spPr>
          <a:xfrm>
            <a:off x="8618894" y="4432987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71D1A65-94EB-6001-22E9-BBB83226CB5E}"/>
              </a:ext>
            </a:extLst>
          </p:cNvPr>
          <p:cNvSpPr/>
          <p:nvPr/>
        </p:nvSpPr>
        <p:spPr>
          <a:xfrm>
            <a:off x="10173439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92FAFD2-AAF3-99A1-A607-3D60A8B9CF55}"/>
              </a:ext>
            </a:extLst>
          </p:cNvPr>
          <p:cNvSpPr/>
          <p:nvPr/>
        </p:nvSpPr>
        <p:spPr>
          <a:xfrm>
            <a:off x="8953510" y="3951245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EBECBE2-D90C-F565-6030-E10E3EC5AFF9}"/>
              </a:ext>
            </a:extLst>
          </p:cNvPr>
          <p:cNvSpPr/>
          <p:nvPr/>
        </p:nvSpPr>
        <p:spPr>
          <a:xfrm>
            <a:off x="10538612" y="3951245"/>
            <a:ext cx="481819" cy="42654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7878FAA-40A8-1FDD-FBB5-BC688D56CD38}"/>
              </a:ext>
            </a:extLst>
          </p:cNvPr>
          <p:cNvSpPr/>
          <p:nvPr/>
        </p:nvSpPr>
        <p:spPr>
          <a:xfrm>
            <a:off x="7187860" y="3951245"/>
            <a:ext cx="481819" cy="4265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4174AD-D2DB-36DC-A235-65A7B2124677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2D036A5-CDD3-904A-A95E-435240057FDD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77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55726BA9-CCF0-BC6D-FFDC-7B2CFA67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78746C9C-4C79-15CF-EEF0-36BFE74D21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166B7E-21BE-6678-7E9D-10F64C2A00DF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D8EAF0-35EF-9ED1-D78C-7951C53BEDC1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760685-71F8-E470-64FD-98925E128336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75B4F4D-CAD4-A917-74B5-ED587A2A678E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4506DE-BCFD-0201-66F9-9B93B99D9940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283516E-0F7C-3395-D547-F06580D5280B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719DD1-26F9-2D35-82A1-19E9FA58F873}"/>
              </a:ext>
            </a:extLst>
          </p:cNvPr>
          <p:cNvSpPr/>
          <p:nvPr/>
        </p:nvSpPr>
        <p:spPr>
          <a:xfrm>
            <a:off x="1264536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50577F-63F9-8D5D-6397-CDA6B825CED6}"/>
              </a:ext>
            </a:extLst>
          </p:cNvPr>
          <p:cNvSpPr/>
          <p:nvPr/>
        </p:nvSpPr>
        <p:spPr>
          <a:xfrm>
            <a:off x="2965057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C8107E-D1A9-B70F-3B5D-B397AEF75A6B}"/>
              </a:ext>
            </a:extLst>
          </p:cNvPr>
          <p:cNvSpPr/>
          <p:nvPr/>
        </p:nvSpPr>
        <p:spPr>
          <a:xfrm>
            <a:off x="4536455" y="5228454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9291A-698F-0AFD-43C1-9E39A7EBC31C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99C23A-987B-B073-5E3F-7A7C79062DFF}"/>
              </a:ext>
            </a:extLst>
          </p:cNvPr>
          <p:cNvSpPr txBox="1"/>
          <p:nvPr/>
        </p:nvSpPr>
        <p:spPr>
          <a:xfrm>
            <a:off x="1300207" y="4858042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A62865-8FF2-B44E-4C8C-6359DAE5B7FD}"/>
              </a:ext>
            </a:extLst>
          </p:cNvPr>
          <p:cNvSpPr txBox="1"/>
          <p:nvPr/>
        </p:nvSpPr>
        <p:spPr>
          <a:xfrm>
            <a:off x="2929385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2DB7F6-48E7-B2C0-6B9E-41935F34C6A9}"/>
              </a:ext>
            </a:extLst>
          </p:cNvPr>
          <p:cNvSpPr txBox="1"/>
          <p:nvPr/>
        </p:nvSpPr>
        <p:spPr>
          <a:xfrm>
            <a:off x="4558563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F29104-6E00-02B8-1BE5-F8645B8CA465}"/>
              </a:ext>
            </a:extLst>
          </p:cNvPr>
          <p:cNvSpPr/>
          <p:nvPr/>
        </p:nvSpPr>
        <p:spPr>
          <a:xfrm>
            <a:off x="1461043" y="2942563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1FD19A-D7DF-BEBD-4D61-5476BBB7C610}"/>
              </a:ext>
            </a:extLst>
          </p:cNvPr>
          <p:cNvSpPr/>
          <p:nvPr/>
        </p:nvSpPr>
        <p:spPr>
          <a:xfrm>
            <a:off x="7952959" y="1205949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3187D5-EC38-CC4D-C988-BCCF68DEC9B6}"/>
              </a:ext>
            </a:extLst>
          </p:cNvPr>
          <p:cNvSpPr/>
          <p:nvPr/>
        </p:nvSpPr>
        <p:spPr>
          <a:xfrm>
            <a:off x="6902570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0D45D07-6F3B-B10E-3282-5CE37F934EF1}"/>
              </a:ext>
            </a:extLst>
          </p:cNvPr>
          <p:cNvSpPr/>
          <p:nvPr/>
        </p:nvSpPr>
        <p:spPr>
          <a:xfrm>
            <a:off x="8618894" y="4432987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4277761-3DD3-2A10-403D-B2762A1268FF}"/>
              </a:ext>
            </a:extLst>
          </p:cNvPr>
          <p:cNvSpPr/>
          <p:nvPr/>
        </p:nvSpPr>
        <p:spPr>
          <a:xfrm>
            <a:off x="10173439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931C2F7-9237-90AA-C095-2790C6E4E70A}"/>
              </a:ext>
            </a:extLst>
          </p:cNvPr>
          <p:cNvSpPr/>
          <p:nvPr/>
        </p:nvSpPr>
        <p:spPr>
          <a:xfrm>
            <a:off x="8869256" y="1706261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EA54EB-04AD-50BB-B3EE-3F4BAFFB49A6}"/>
              </a:ext>
            </a:extLst>
          </p:cNvPr>
          <p:cNvSpPr/>
          <p:nvPr/>
        </p:nvSpPr>
        <p:spPr>
          <a:xfrm>
            <a:off x="8869254" y="2204975"/>
            <a:ext cx="481819" cy="42654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30C3CF-72D5-E2F2-9F37-F11537750473}"/>
              </a:ext>
            </a:extLst>
          </p:cNvPr>
          <p:cNvSpPr/>
          <p:nvPr/>
        </p:nvSpPr>
        <p:spPr>
          <a:xfrm>
            <a:off x="8869255" y="2657260"/>
            <a:ext cx="481819" cy="4265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86F88B-09D1-6387-E486-DA742B5E99CA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E997CCF-98D3-D022-C3ED-B0AC697F1C8E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103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062619EC-3C00-ABFE-6834-6F6E7AF03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37D444F1-1727-A4FD-0264-D43D1DBE8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72F51-1846-1ED1-FDD5-E3E5883D865E}"/>
              </a:ext>
            </a:extLst>
          </p:cNvPr>
          <p:cNvSpPr txBox="1"/>
          <p:nvPr/>
        </p:nvSpPr>
        <p:spPr>
          <a:xfrm>
            <a:off x="415600" y="1771320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755FC0-92DC-7FED-AE0A-AEDB8B4F5551}"/>
              </a:ext>
            </a:extLst>
          </p:cNvPr>
          <p:cNvSpPr txBox="1"/>
          <p:nvPr/>
        </p:nvSpPr>
        <p:spPr>
          <a:xfrm>
            <a:off x="9351075" y="5272395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BAF6C4-5170-43A6-2C16-077BEA42D756}"/>
              </a:ext>
            </a:extLst>
          </p:cNvPr>
          <p:cNvSpPr/>
          <p:nvPr/>
        </p:nvSpPr>
        <p:spPr>
          <a:xfrm>
            <a:off x="1970145" y="2428790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037C253-1B9D-D507-B9A1-5D84F5A44857}"/>
              </a:ext>
            </a:extLst>
          </p:cNvPr>
          <p:cNvSpPr/>
          <p:nvPr/>
        </p:nvSpPr>
        <p:spPr>
          <a:xfrm>
            <a:off x="919756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4E640D-7DE6-6D63-CFE7-8F1239E6B709}"/>
              </a:ext>
            </a:extLst>
          </p:cNvPr>
          <p:cNvSpPr/>
          <p:nvPr/>
        </p:nvSpPr>
        <p:spPr>
          <a:xfrm>
            <a:off x="2636080" y="5655828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F8AF28-8DFF-B713-F749-16BCDC5A5D70}"/>
              </a:ext>
            </a:extLst>
          </p:cNvPr>
          <p:cNvSpPr/>
          <p:nvPr/>
        </p:nvSpPr>
        <p:spPr>
          <a:xfrm>
            <a:off x="4190625" y="5652051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7760E3-84FF-9EC0-6070-60B5F34CCBC1}"/>
              </a:ext>
            </a:extLst>
          </p:cNvPr>
          <p:cNvSpPr/>
          <p:nvPr/>
        </p:nvSpPr>
        <p:spPr>
          <a:xfrm>
            <a:off x="1264536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7887B-2C28-FECF-47DA-D07AEE1A2676}"/>
              </a:ext>
            </a:extLst>
          </p:cNvPr>
          <p:cNvSpPr/>
          <p:nvPr/>
        </p:nvSpPr>
        <p:spPr>
          <a:xfrm>
            <a:off x="2965057" y="5272395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4BC95D-2CD8-F9A2-9EFD-F2686477B9BB}"/>
              </a:ext>
            </a:extLst>
          </p:cNvPr>
          <p:cNvSpPr/>
          <p:nvPr/>
        </p:nvSpPr>
        <p:spPr>
          <a:xfrm>
            <a:off x="4536455" y="5228454"/>
            <a:ext cx="520505" cy="3265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E0B859-B72C-A756-843C-8E180E5F7481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B5BECA-C057-4FC1-12D6-69ACB13B75D9}"/>
              </a:ext>
            </a:extLst>
          </p:cNvPr>
          <p:cNvSpPr txBox="1"/>
          <p:nvPr/>
        </p:nvSpPr>
        <p:spPr>
          <a:xfrm>
            <a:off x="1300207" y="4858042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079EB-F930-5E7F-8FE3-4E5902BB5AA2}"/>
              </a:ext>
            </a:extLst>
          </p:cNvPr>
          <p:cNvSpPr txBox="1"/>
          <p:nvPr/>
        </p:nvSpPr>
        <p:spPr>
          <a:xfrm>
            <a:off x="2929385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AF47B-C09C-93E5-313B-FD90EAB365B3}"/>
              </a:ext>
            </a:extLst>
          </p:cNvPr>
          <p:cNvSpPr txBox="1"/>
          <p:nvPr/>
        </p:nvSpPr>
        <p:spPr>
          <a:xfrm>
            <a:off x="4558563" y="4858041"/>
            <a:ext cx="449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DB5B05-D67A-E601-DA11-CB45C6BCD454}"/>
              </a:ext>
            </a:extLst>
          </p:cNvPr>
          <p:cNvSpPr/>
          <p:nvPr/>
        </p:nvSpPr>
        <p:spPr>
          <a:xfrm>
            <a:off x="1461043" y="2942563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7766903-06ED-6AE4-F5DC-292D45FABC91}"/>
              </a:ext>
            </a:extLst>
          </p:cNvPr>
          <p:cNvSpPr/>
          <p:nvPr/>
        </p:nvSpPr>
        <p:spPr>
          <a:xfrm>
            <a:off x="7952959" y="1205949"/>
            <a:ext cx="2220480" cy="276843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8CC608-F6BE-4177-BC5F-DEC02A47F56F}"/>
              </a:ext>
            </a:extLst>
          </p:cNvPr>
          <p:cNvSpPr/>
          <p:nvPr/>
        </p:nvSpPr>
        <p:spPr>
          <a:xfrm>
            <a:off x="6902570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95159DD-93E9-23C2-C507-13FD98B7E5A8}"/>
              </a:ext>
            </a:extLst>
          </p:cNvPr>
          <p:cNvSpPr/>
          <p:nvPr/>
        </p:nvSpPr>
        <p:spPr>
          <a:xfrm>
            <a:off x="8618894" y="4432987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BF585F-D616-91A8-C3D3-5FB12C5A8AD6}"/>
              </a:ext>
            </a:extLst>
          </p:cNvPr>
          <p:cNvSpPr/>
          <p:nvPr/>
        </p:nvSpPr>
        <p:spPr>
          <a:xfrm>
            <a:off x="10173439" y="4429210"/>
            <a:ext cx="1212167" cy="27684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AE7D72C-545E-9FF9-373F-F0F0152439DE}"/>
              </a:ext>
            </a:extLst>
          </p:cNvPr>
          <p:cNvSpPr/>
          <p:nvPr/>
        </p:nvSpPr>
        <p:spPr>
          <a:xfrm>
            <a:off x="8869256" y="1706261"/>
            <a:ext cx="481819" cy="42654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AA85371-87AD-AF2F-A86F-228CC893507C}"/>
              </a:ext>
            </a:extLst>
          </p:cNvPr>
          <p:cNvSpPr/>
          <p:nvPr/>
        </p:nvSpPr>
        <p:spPr>
          <a:xfrm>
            <a:off x="8869254" y="2204975"/>
            <a:ext cx="481819" cy="42654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8EB2CE-5F0B-315C-21C5-40D53B748975}"/>
              </a:ext>
            </a:extLst>
          </p:cNvPr>
          <p:cNvSpPr/>
          <p:nvPr/>
        </p:nvSpPr>
        <p:spPr>
          <a:xfrm>
            <a:off x="8869255" y="2657260"/>
            <a:ext cx="481819" cy="426542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48C520-8DCD-4DAA-3FE5-1E3D312D0B1F}"/>
              </a:ext>
            </a:extLst>
          </p:cNvPr>
          <p:cNvSpPr/>
          <p:nvPr/>
        </p:nvSpPr>
        <p:spPr>
          <a:xfrm>
            <a:off x="6862864" y="2118023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Orders should be seen by the exchange in the generation order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092569-C265-D1AC-39C5-CA97EFC3C1B3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E10A786-B7D0-525E-D672-2C58594D8F89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680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01954EB3-85F7-9C03-F4CC-6330F2C9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E38779FE-98B1-64B9-6D27-BDF76EE1D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</a:t>
            </a:r>
            <a:r>
              <a:rPr lang="en" baseline="30000" dirty="0"/>
              <a:t>1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5B7C6-C79E-E57C-490E-2BF172BD0CDB}"/>
              </a:ext>
            </a:extLst>
          </p:cNvPr>
          <p:cNvSpPr txBox="1"/>
          <p:nvPr/>
        </p:nvSpPr>
        <p:spPr>
          <a:xfrm>
            <a:off x="2075587" y="1770109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EC9F0-1C4D-55EC-19B6-CD2A696C0297}"/>
              </a:ext>
            </a:extLst>
          </p:cNvPr>
          <p:cNvSpPr txBox="1"/>
          <p:nvPr/>
        </p:nvSpPr>
        <p:spPr>
          <a:xfrm>
            <a:off x="8079622" y="5356801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15D44-3401-E960-6EBF-5C606CC29869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E5546B-5BCC-B060-1C12-3CE1B4000E36}"/>
              </a:ext>
            </a:extLst>
          </p:cNvPr>
          <p:cNvSpPr/>
          <p:nvPr/>
        </p:nvSpPr>
        <p:spPr>
          <a:xfrm>
            <a:off x="1475111" y="2304327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C63BA-24A9-BDDE-0C4B-605750DC6F92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413D2C-F810-63F9-563C-7949ED3A2CD8}"/>
              </a:ext>
            </a:extLst>
          </p:cNvPr>
          <p:cNvSpPr/>
          <p:nvPr/>
        </p:nvSpPr>
        <p:spPr>
          <a:xfrm>
            <a:off x="6862862" y="3429000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Orders should be seen by the exchange in the generation order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6FEF1E-8161-0E8A-61D2-636AFC405B7E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110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87D40CDD-7D0B-C50D-C02E-9F988AA8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EF8E9034-89CD-DE11-0A90-4BA7D7A487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 In Practice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96BC44-F55F-88A7-E2B9-E19338734CBA}"/>
              </a:ext>
            </a:extLst>
          </p:cNvPr>
          <p:cNvSpPr txBox="1"/>
          <p:nvPr/>
        </p:nvSpPr>
        <p:spPr>
          <a:xfrm>
            <a:off x="2075587" y="1770109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40730-6135-5C55-7536-A3DA0C37259B}"/>
              </a:ext>
            </a:extLst>
          </p:cNvPr>
          <p:cNvSpPr txBox="1"/>
          <p:nvPr/>
        </p:nvSpPr>
        <p:spPr>
          <a:xfrm>
            <a:off x="8079622" y="5356801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B752D1-5133-9C65-C1A9-DDD2D8FC5545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1D2A8-2724-E065-B4ED-D3D65E0174AA}"/>
              </a:ext>
            </a:extLst>
          </p:cNvPr>
          <p:cNvSpPr/>
          <p:nvPr/>
        </p:nvSpPr>
        <p:spPr>
          <a:xfrm>
            <a:off x="1475111" y="2304327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76652-8D0A-6A1C-B2E0-45AA5AC98F85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13C7584-3F3C-42D0-25F8-D7FEC30A7349}"/>
              </a:ext>
            </a:extLst>
          </p:cNvPr>
          <p:cNvSpPr/>
          <p:nvPr/>
        </p:nvSpPr>
        <p:spPr>
          <a:xfrm>
            <a:off x="6862862" y="3429000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Orders should be seen by the exchange in the generation order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130BF60-1CEF-6524-F294-0DBEDF665623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673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702ABB61-5FB2-24F3-C72E-0D1CB6FE8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66F60F55-C667-03AF-236A-BE88497571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 In Practice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ED8E4-0F3E-996C-D0B5-0E9732E6EC9F}"/>
              </a:ext>
            </a:extLst>
          </p:cNvPr>
          <p:cNvSpPr txBox="1"/>
          <p:nvPr/>
        </p:nvSpPr>
        <p:spPr>
          <a:xfrm>
            <a:off x="2075587" y="1770109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769CD-9708-3C62-A609-DF74716F2895}"/>
              </a:ext>
            </a:extLst>
          </p:cNvPr>
          <p:cNvSpPr txBox="1"/>
          <p:nvPr/>
        </p:nvSpPr>
        <p:spPr>
          <a:xfrm>
            <a:off x="8079622" y="5356801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DA44D-28C0-4E6F-760E-F9C91FB41E3B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DE83E3-3094-DA0A-1C4A-398CF3CA3656}"/>
              </a:ext>
            </a:extLst>
          </p:cNvPr>
          <p:cNvSpPr/>
          <p:nvPr/>
        </p:nvSpPr>
        <p:spPr>
          <a:xfrm>
            <a:off x="1475111" y="2304327"/>
            <a:ext cx="4186695" cy="18184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~0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5B18FC-62C9-D104-F61C-588EF7F148BF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9ADE82-B1B6-A16A-A142-7D9EC438D11D}"/>
              </a:ext>
            </a:extLst>
          </p:cNvPr>
          <p:cNvSpPr/>
          <p:nvPr/>
        </p:nvSpPr>
        <p:spPr>
          <a:xfrm>
            <a:off x="6862862" y="3429000"/>
            <a:ext cx="4186695" cy="181846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Orders should be seen by the exchange in the generation order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CA9BC7-5CA1-0320-530B-1C031FE431D6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878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72F1B396-0A9E-D9E1-99EB-D7609CC0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2F644B00-047A-5C30-DA28-D719F4201A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 In Practice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37490-D970-4E0A-C23F-145FCF2A00A4}"/>
              </a:ext>
            </a:extLst>
          </p:cNvPr>
          <p:cNvSpPr txBox="1"/>
          <p:nvPr/>
        </p:nvSpPr>
        <p:spPr>
          <a:xfrm>
            <a:off x="2075587" y="1770109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5420D-7ED7-D2CE-9494-7BE9070FAB63}"/>
              </a:ext>
            </a:extLst>
          </p:cNvPr>
          <p:cNvSpPr txBox="1"/>
          <p:nvPr/>
        </p:nvSpPr>
        <p:spPr>
          <a:xfrm>
            <a:off x="8079622" y="5356801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B7170-816E-CB2F-C85E-05F5FF12DB6A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8A1486-9C55-C1EA-6E8F-C664EDC02916}"/>
              </a:ext>
            </a:extLst>
          </p:cNvPr>
          <p:cNvSpPr/>
          <p:nvPr/>
        </p:nvSpPr>
        <p:spPr>
          <a:xfrm>
            <a:off x="1475111" y="2304327"/>
            <a:ext cx="4186695" cy="18184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~0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2633C3-89CD-7573-C245-0BD245CFDA39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412019-D59F-8657-AB2E-7C87C0B3B212}"/>
              </a:ext>
            </a:extLst>
          </p:cNvPr>
          <p:cNvSpPr/>
          <p:nvPr/>
        </p:nvSpPr>
        <p:spPr>
          <a:xfrm>
            <a:off x="6862862" y="3429000"/>
            <a:ext cx="4186695" cy="18184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Orders should be seen by the exchange in the timestamped generation order</a:t>
            </a:r>
          </a:p>
        </p:txBody>
      </p:sp>
      <p:sp>
        <p:nvSpPr>
          <p:cNvPr id="2" name="Google Shape;113;p19">
            <a:extLst>
              <a:ext uri="{FF2B5EF4-FFF2-40B4-BE49-F238E27FC236}">
                <a16:creationId xmlns:a16="http://schemas.microsoft.com/office/drawing/2014/main" id="{FA2EA0D6-48B9-A7B1-8827-F287D3148119}"/>
              </a:ext>
            </a:extLst>
          </p:cNvPr>
          <p:cNvSpPr/>
          <p:nvPr/>
        </p:nvSpPr>
        <p:spPr>
          <a:xfrm>
            <a:off x="1913206" y="5666089"/>
            <a:ext cx="7943314" cy="97462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Achieving fairness while being performant at 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scale is our goal.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2FC294-408C-D267-BB48-9F0B7319DB9F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910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205BBE8-5203-ECB3-6824-05F81C8B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>
            <a:extLst>
              <a:ext uri="{FF2B5EF4-FFF2-40B4-BE49-F238E27FC236}">
                <a16:creationId xmlns:a16="http://schemas.microsoft.com/office/drawing/2014/main" id="{F248277D-0B09-E1C4-3348-D79521DBA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Fairness In Practice</a:t>
            </a:r>
            <a:endParaRPr baseline="30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761002-F2C9-2968-31C8-1701B9CFE01B}"/>
              </a:ext>
            </a:extLst>
          </p:cNvPr>
          <p:cNvSpPr txBox="1"/>
          <p:nvPr/>
        </p:nvSpPr>
        <p:spPr>
          <a:xfrm>
            <a:off x="2075587" y="1770109"/>
            <a:ext cx="2220480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Outbound Fairness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41D98-826A-294D-BB9E-2E226608E14C}"/>
              </a:ext>
            </a:extLst>
          </p:cNvPr>
          <p:cNvSpPr txBox="1"/>
          <p:nvPr/>
        </p:nvSpPr>
        <p:spPr>
          <a:xfrm>
            <a:off x="8079622" y="5356801"/>
            <a:ext cx="2034531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867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Inbound Fairness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5A1382-C02D-8EC8-FECA-5CB015DA13C7}"/>
              </a:ext>
            </a:extLst>
          </p:cNvPr>
          <p:cNvSpPr txBox="1"/>
          <p:nvPr/>
        </p:nvSpPr>
        <p:spPr>
          <a:xfrm>
            <a:off x="815926" y="29827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764EBC-FBCC-AC6B-D855-A6AC459708FF}"/>
              </a:ext>
            </a:extLst>
          </p:cNvPr>
          <p:cNvSpPr/>
          <p:nvPr/>
        </p:nvSpPr>
        <p:spPr>
          <a:xfrm>
            <a:off x="1475111" y="2304327"/>
            <a:ext cx="4186695" cy="18184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Difference in data reception time for any two participants should be ~0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B31F0C-9C3F-F586-D5D7-E4FE8CE5D500}"/>
              </a:ext>
            </a:extLst>
          </p:cNvPr>
          <p:cNvSpPr txBox="1"/>
          <p:nvPr/>
        </p:nvSpPr>
        <p:spPr>
          <a:xfrm>
            <a:off x="9421414" y="146922"/>
            <a:ext cx="29837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CloudEx: A Fair-Access Financial Exchange in the Cloud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043E6C-1BB2-9FC0-CACE-61506051EEFA}"/>
              </a:ext>
            </a:extLst>
          </p:cNvPr>
          <p:cNvSpPr/>
          <p:nvPr/>
        </p:nvSpPr>
        <p:spPr>
          <a:xfrm>
            <a:off x="6862862" y="3429000"/>
            <a:ext cx="4186695" cy="181846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Orders should be seen by the exchange in the timestamped generation order</a:t>
            </a:r>
          </a:p>
        </p:txBody>
      </p:sp>
      <p:sp>
        <p:nvSpPr>
          <p:cNvPr id="2" name="Google Shape;113;p19">
            <a:extLst>
              <a:ext uri="{FF2B5EF4-FFF2-40B4-BE49-F238E27FC236}">
                <a16:creationId xmlns:a16="http://schemas.microsoft.com/office/drawing/2014/main" id="{25E60E87-559C-5E2F-C883-9A3CEA3B6402}"/>
              </a:ext>
            </a:extLst>
          </p:cNvPr>
          <p:cNvSpPr/>
          <p:nvPr/>
        </p:nvSpPr>
        <p:spPr>
          <a:xfrm>
            <a:off x="1913206" y="5657770"/>
            <a:ext cx="7943314" cy="97462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Achieving fairness while being performant at 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4EA72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scale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is our goal.</a:t>
            </a:r>
            <a:endParaRPr kumimoji="0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" name="Up Arrow 3">
            <a:extLst>
              <a:ext uri="{FF2B5EF4-FFF2-40B4-BE49-F238E27FC236}">
                <a16:creationId xmlns:a16="http://schemas.microsoft.com/office/drawing/2014/main" id="{4199F83D-4089-27AC-B126-7416CB76A6A9}"/>
              </a:ext>
            </a:extLst>
          </p:cNvPr>
          <p:cNvSpPr/>
          <p:nvPr/>
        </p:nvSpPr>
        <p:spPr>
          <a:xfrm>
            <a:off x="4764363" y="5000610"/>
            <a:ext cx="564776" cy="1264023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4EA72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76EBBE-97C9-C011-5166-4A2138005E76}"/>
              </a:ext>
            </a:extLst>
          </p:cNvPr>
          <p:cNvSpPr/>
          <p:nvPr/>
        </p:nvSpPr>
        <p:spPr>
          <a:xfrm>
            <a:off x="2863844" y="3365623"/>
            <a:ext cx="4796118" cy="151055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target 1000 market participants (MPs). Each MP is a separate VM.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3EF4B78-9772-734B-3DEB-42CFA2C245EF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2314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D002046-11D5-4952-A95C-24DAF08BF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BCC01D-AAF2-DC20-7511-4E09A008B4AA}"/>
              </a:ext>
            </a:extLst>
          </p:cNvPr>
          <p:cNvSpPr txBox="1"/>
          <p:nvPr/>
        </p:nvSpPr>
        <p:spPr>
          <a:xfrm>
            <a:off x="569979" y="476910"/>
            <a:ext cx="5354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Scalable Outbound Fairness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D0147D-FB59-4553-34DE-90EF59240DC0}"/>
              </a:ext>
            </a:extLst>
          </p:cNvPr>
          <p:cNvSpPr txBox="1"/>
          <p:nvPr/>
        </p:nvSpPr>
        <p:spPr>
          <a:xfrm>
            <a:off x="573955" y="1923804"/>
            <a:ext cx="8182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Fairness achieved by a simple “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Hold-and-release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” primitive.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Not scalable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w.r.t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number of receivers/participants.</a:t>
            </a:r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72D928C0-8A84-28FB-CD4F-E407F23157B6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Outbound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632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Object 104" hidden="1">
            <a:extLst>
              <a:ext uri="{FF2B5EF4-FFF2-40B4-BE49-F238E27FC236}">
                <a16:creationId xmlns:a16="http://schemas.microsoft.com/office/drawing/2014/main" id="{27043BC4-3D66-4B32-8F58-55FD3DA065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3" imgW="395" imgH="396" progId="TCLayout.ActiveDocument.1">
                  <p:embed/>
                </p:oleObj>
              </mc:Choice>
              <mc:Fallback>
                <p:oleObj name="think-cell Slide" r:id="rId83" imgW="395" imgH="396" progId="TCLayout.ActiveDocument.1">
                  <p:embed/>
                  <p:pic>
                    <p:nvPicPr>
                      <p:cNvPr id="105" name="Object 104" hidden="1">
                        <a:extLst>
                          <a:ext uri="{FF2B5EF4-FFF2-40B4-BE49-F238E27FC236}">
                            <a16:creationId xmlns:a16="http://schemas.microsoft.com/office/drawing/2014/main" id="{27043BC4-3D66-4B32-8F58-55FD3DA065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954E15-8E6C-8002-8F03-793B0204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5926855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632B31-F1D8-8846-B070-579B61B270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itleTrackerAlpha 7">
            <a:extLst>
              <a:ext uri="{FF2B5EF4-FFF2-40B4-BE49-F238E27FC236}">
                <a16:creationId xmlns:a16="http://schemas.microsoft.com/office/drawing/2014/main" id="{88DA2C5B-5EC5-4E93-B30E-0F58E1617D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799017" y="1559225"/>
            <a:ext cx="593965" cy="59396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S</a:t>
            </a:r>
          </a:p>
        </p:txBody>
      </p:sp>
      <p:pic>
        <p:nvPicPr>
          <p:cNvPr id="18" name="CustomIcon">
            <a:extLst>
              <a:ext uri="{FF2B5EF4-FFF2-40B4-BE49-F238E27FC236}">
                <a16:creationId xmlns:a16="http://schemas.microsoft.com/office/drawing/2014/main" id="{B63B0145-2E2F-4746-AE52-FE62BBC728E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6873908" y="1707213"/>
            <a:ext cx="344104" cy="344104"/>
          </a:xfrm>
          <a:prstGeom prst="rect">
            <a:avLst/>
          </a:prstGeom>
        </p:spPr>
      </p:pic>
      <p:sp>
        <p:nvSpPr>
          <p:cNvPr id="22" name="TitleTrackerAlpha 7">
            <a:extLst>
              <a:ext uri="{FF2B5EF4-FFF2-40B4-BE49-F238E27FC236}">
                <a16:creationId xmlns:a16="http://schemas.microsoft.com/office/drawing/2014/main" id="{8DB09719-9BCF-4867-A7C7-E5D074659A7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80616" y="4599605"/>
            <a:ext cx="593965" cy="59396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R4</a:t>
            </a:r>
          </a:p>
        </p:txBody>
      </p:sp>
      <p:sp>
        <p:nvSpPr>
          <p:cNvPr id="23" name="TitleTrackerAlpha 7">
            <a:extLst>
              <a:ext uri="{FF2B5EF4-FFF2-40B4-BE49-F238E27FC236}">
                <a16:creationId xmlns:a16="http://schemas.microsoft.com/office/drawing/2014/main" id="{3BE9A525-0916-403B-8576-B52985B0870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38200" y="4599605"/>
            <a:ext cx="593965" cy="59396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R1</a:t>
            </a:r>
          </a:p>
        </p:txBody>
      </p:sp>
      <p:sp>
        <p:nvSpPr>
          <p:cNvPr id="24" name="TitleTrackerAlpha 7">
            <a:extLst>
              <a:ext uri="{FF2B5EF4-FFF2-40B4-BE49-F238E27FC236}">
                <a16:creationId xmlns:a16="http://schemas.microsoft.com/office/drawing/2014/main" id="{BCA1BAD7-747E-4148-934B-F990C030843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485672" y="4599605"/>
            <a:ext cx="593965" cy="59396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R2</a:t>
            </a:r>
          </a:p>
        </p:txBody>
      </p:sp>
      <p:sp>
        <p:nvSpPr>
          <p:cNvPr id="25" name="TitleTrackerAlpha 7">
            <a:extLst>
              <a:ext uri="{FF2B5EF4-FFF2-40B4-BE49-F238E27FC236}">
                <a16:creationId xmlns:a16="http://schemas.microsoft.com/office/drawing/2014/main" id="{BA541E44-A67A-4882-83BC-2F84F2D9A9A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33144" y="4599605"/>
            <a:ext cx="593965" cy="59396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R3</a:t>
            </a:r>
          </a:p>
        </p:txBody>
      </p:sp>
      <p:sp>
        <p:nvSpPr>
          <p:cNvPr id="26" name="TitleTrackerAlpha 7">
            <a:extLst>
              <a:ext uri="{FF2B5EF4-FFF2-40B4-BE49-F238E27FC236}">
                <a16:creationId xmlns:a16="http://schemas.microsoft.com/office/drawing/2014/main" id="{9E10F5D4-39FA-4721-8707-5C83F363FCFB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896967" y="4599605"/>
            <a:ext cx="593965" cy="593965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Display" panose="02110004020202020204"/>
                <a:ea typeface="+mn-ea"/>
                <a:cs typeface="+mn-cs"/>
              </a:rPr>
              <a:t>Rn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533FF68-6A87-43F4-983F-B3A466767902}"/>
              </a:ext>
            </a:extLst>
          </p:cNvPr>
          <p:cNvGrpSpPr/>
          <p:nvPr/>
        </p:nvGrpSpPr>
        <p:grpSpPr>
          <a:xfrm>
            <a:off x="4260891" y="1707213"/>
            <a:ext cx="1552463" cy="258533"/>
            <a:chOff x="2580681" y="2136708"/>
            <a:chExt cx="1552463" cy="258533"/>
          </a:xfrm>
        </p:grpSpPr>
        <p:sp>
          <p:nvSpPr>
            <p:cNvPr id="28" name="Body1 19">
              <a:extLst>
                <a:ext uri="{FF2B5EF4-FFF2-40B4-BE49-F238E27FC236}">
                  <a16:creationId xmlns:a16="http://schemas.microsoft.com/office/drawing/2014/main" id="{9A62E4E9-FC0B-4B72-A40D-5FF4B77E157A}"/>
                </a:ext>
              </a:extLst>
            </p:cNvPr>
            <p:cNvSpPr txBox="1"/>
            <p:nvPr>
              <p:custDataLst>
                <p:tags r:id="rId80"/>
              </p:custDataLst>
            </p:nvPr>
          </p:nvSpPr>
          <p:spPr>
            <a:xfrm>
              <a:off x="2580681" y="2136708"/>
              <a:ext cx="1552463" cy="25853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228600" lvl="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/>
              </a:lvl1pPr>
              <a:lvl2pPr marL="685800" lvl="1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Deadline: 0009 | …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67E4714-D8F9-4686-849A-D2C0D8101075}"/>
                </a:ext>
              </a:extLst>
            </p:cNvPr>
            <p:cNvSpPr/>
            <p:nvPr/>
          </p:nvSpPr>
          <p:spPr>
            <a:xfrm>
              <a:off x="2580681" y="2141063"/>
              <a:ext cx="1353834" cy="2541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41" name="Body1 19">
            <a:extLst>
              <a:ext uri="{FF2B5EF4-FFF2-40B4-BE49-F238E27FC236}">
                <a16:creationId xmlns:a16="http://schemas.microsoft.com/office/drawing/2014/main" id="{B9D13198-CB8F-4886-A99B-3F466E25925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029016" y="4666565"/>
            <a:ext cx="2101745" cy="53553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 . . . . . .</a:t>
            </a:r>
          </a:p>
        </p:txBody>
      </p:sp>
      <p:sp>
        <p:nvSpPr>
          <p:cNvPr id="40" name="Body1 19">
            <a:extLst>
              <a:ext uri="{FF2B5EF4-FFF2-40B4-BE49-F238E27FC236}">
                <a16:creationId xmlns:a16="http://schemas.microsoft.com/office/drawing/2014/main" id="{1A8E1F52-93CE-42E7-9923-C3C5450AE61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0000</a:t>
            </a:r>
          </a:p>
        </p:txBody>
      </p:sp>
      <p:sp>
        <p:nvSpPr>
          <p:cNvPr id="53" name="Body1 19">
            <a:extLst>
              <a:ext uri="{FF2B5EF4-FFF2-40B4-BE49-F238E27FC236}">
                <a16:creationId xmlns:a16="http://schemas.microsoft.com/office/drawing/2014/main" id="{E1055004-E6C9-43B9-8E3B-C35C54C1A52C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0000</a:t>
            </a:r>
          </a:p>
        </p:txBody>
      </p:sp>
      <p:sp>
        <p:nvSpPr>
          <p:cNvPr id="65" name="Body1 19">
            <a:extLst>
              <a:ext uri="{FF2B5EF4-FFF2-40B4-BE49-F238E27FC236}">
                <a16:creationId xmlns:a16="http://schemas.microsoft.com/office/drawing/2014/main" id="{F6EC3F23-0BBE-46A2-9847-5A8F1187BF5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0000</a:t>
            </a:r>
          </a:p>
        </p:txBody>
      </p:sp>
      <p:sp>
        <p:nvSpPr>
          <p:cNvPr id="77" name="Body1 19">
            <a:extLst>
              <a:ext uri="{FF2B5EF4-FFF2-40B4-BE49-F238E27FC236}">
                <a16:creationId xmlns:a16="http://schemas.microsoft.com/office/drawing/2014/main" id="{9826027A-D4B6-40FF-9001-BCB68FE5260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0000</a:t>
            </a:r>
          </a:p>
        </p:txBody>
      </p:sp>
      <p:sp>
        <p:nvSpPr>
          <p:cNvPr id="92" name="Body1 19">
            <a:extLst>
              <a:ext uri="{FF2B5EF4-FFF2-40B4-BE49-F238E27FC236}">
                <a16:creationId xmlns:a16="http://schemas.microsoft.com/office/drawing/2014/main" id="{E8530AEE-CA50-4FA2-83F0-1B20930A81DC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0000</a:t>
            </a:r>
          </a:p>
        </p:txBody>
      </p:sp>
      <p:sp>
        <p:nvSpPr>
          <p:cNvPr id="104" name="Body1 19">
            <a:extLst>
              <a:ext uri="{FF2B5EF4-FFF2-40B4-BE49-F238E27FC236}">
                <a16:creationId xmlns:a16="http://schemas.microsoft.com/office/drawing/2014/main" id="{7CD22A95-E086-4A9D-B6B2-F6EEED1C5DD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0000</a:t>
            </a:r>
          </a:p>
        </p:txBody>
      </p:sp>
      <p:pic>
        <p:nvPicPr>
          <p:cNvPr id="106" name="CustomIcon">
            <a:extLst>
              <a:ext uri="{FF2B5EF4-FFF2-40B4-BE49-F238E27FC236}">
                <a16:creationId xmlns:a16="http://schemas.microsoft.com/office/drawing/2014/main" id="{8C923341-E015-4735-8072-39775818A947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94096" y="5228666"/>
            <a:ext cx="344104" cy="344104"/>
          </a:xfrm>
          <a:prstGeom prst="rect">
            <a:avLst/>
          </a:prstGeom>
        </p:spPr>
      </p:pic>
      <p:pic>
        <p:nvPicPr>
          <p:cNvPr id="107" name="CustomIcon">
            <a:extLst>
              <a:ext uri="{FF2B5EF4-FFF2-40B4-BE49-F238E27FC236}">
                <a16:creationId xmlns:a16="http://schemas.microsoft.com/office/drawing/2014/main" id="{84525F40-65CA-42EE-BE88-0F4492A0603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2213306" y="5228666"/>
            <a:ext cx="344104" cy="344104"/>
          </a:xfrm>
          <a:prstGeom prst="rect">
            <a:avLst/>
          </a:prstGeom>
        </p:spPr>
      </p:pic>
      <p:pic>
        <p:nvPicPr>
          <p:cNvPr id="108" name="CustomIcon">
            <a:extLst>
              <a:ext uri="{FF2B5EF4-FFF2-40B4-BE49-F238E27FC236}">
                <a16:creationId xmlns:a16="http://schemas.microsoft.com/office/drawing/2014/main" id="{16A5EA41-D14C-4675-8A35-0FB04038EB45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3934515" y="5228666"/>
            <a:ext cx="344104" cy="344104"/>
          </a:xfrm>
          <a:prstGeom prst="rect">
            <a:avLst/>
          </a:prstGeom>
        </p:spPr>
      </p:pic>
      <p:pic>
        <p:nvPicPr>
          <p:cNvPr id="109" name="CustomIcon">
            <a:extLst>
              <a:ext uri="{FF2B5EF4-FFF2-40B4-BE49-F238E27FC236}">
                <a16:creationId xmlns:a16="http://schemas.microsoft.com/office/drawing/2014/main" id="{5AC56C78-2360-4347-BA18-FF2DBC734CA5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5590670" y="5228666"/>
            <a:ext cx="344104" cy="344104"/>
          </a:xfrm>
          <a:prstGeom prst="rect">
            <a:avLst/>
          </a:prstGeom>
        </p:spPr>
      </p:pic>
      <p:pic>
        <p:nvPicPr>
          <p:cNvPr id="110" name="CustomIcon">
            <a:extLst>
              <a:ext uri="{FF2B5EF4-FFF2-40B4-BE49-F238E27FC236}">
                <a16:creationId xmlns:a16="http://schemas.microsoft.com/office/drawing/2014/main" id="{E414E572-47C3-430D-A12D-244F941EC4BA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9724915" y="5228666"/>
            <a:ext cx="344104" cy="344104"/>
          </a:xfrm>
          <a:prstGeom prst="rect">
            <a:avLst/>
          </a:prstGeom>
        </p:spPr>
      </p:pic>
      <p:sp>
        <p:nvSpPr>
          <p:cNvPr id="39" name="Body1 19">
            <a:extLst>
              <a:ext uri="{FF2B5EF4-FFF2-40B4-BE49-F238E27FC236}">
                <a16:creationId xmlns:a16="http://schemas.microsoft.com/office/drawing/2014/main" id="{A32680FC-10A4-4B31-A673-9CE657FB5D1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0001</a:t>
            </a:r>
          </a:p>
        </p:txBody>
      </p:sp>
      <p:sp>
        <p:nvSpPr>
          <p:cNvPr id="52" name="Body1 19">
            <a:extLst>
              <a:ext uri="{FF2B5EF4-FFF2-40B4-BE49-F238E27FC236}">
                <a16:creationId xmlns:a16="http://schemas.microsoft.com/office/drawing/2014/main" id="{5DC6549B-EBCC-4E6F-AF3D-E64A7A14F98C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0001</a:t>
            </a:r>
          </a:p>
        </p:txBody>
      </p:sp>
      <p:sp>
        <p:nvSpPr>
          <p:cNvPr id="64" name="Body1 19">
            <a:extLst>
              <a:ext uri="{FF2B5EF4-FFF2-40B4-BE49-F238E27FC236}">
                <a16:creationId xmlns:a16="http://schemas.microsoft.com/office/drawing/2014/main" id="{13679855-271E-44F9-A722-38C958BD958A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0001</a:t>
            </a:r>
          </a:p>
        </p:txBody>
      </p:sp>
      <p:sp>
        <p:nvSpPr>
          <p:cNvPr id="76" name="Body1 19">
            <a:extLst>
              <a:ext uri="{FF2B5EF4-FFF2-40B4-BE49-F238E27FC236}">
                <a16:creationId xmlns:a16="http://schemas.microsoft.com/office/drawing/2014/main" id="{5E3511B7-4C98-43AC-A39B-BD8F0795B152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0001</a:t>
            </a:r>
          </a:p>
        </p:txBody>
      </p:sp>
      <p:sp>
        <p:nvSpPr>
          <p:cNvPr id="91" name="Body1 19">
            <a:extLst>
              <a:ext uri="{FF2B5EF4-FFF2-40B4-BE49-F238E27FC236}">
                <a16:creationId xmlns:a16="http://schemas.microsoft.com/office/drawing/2014/main" id="{3B3C0CA5-1037-4153-B050-5E628144F502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0001</a:t>
            </a:r>
          </a:p>
        </p:txBody>
      </p:sp>
      <p:sp>
        <p:nvSpPr>
          <p:cNvPr id="103" name="Body1 19">
            <a:extLst>
              <a:ext uri="{FF2B5EF4-FFF2-40B4-BE49-F238E27FC236}">
                <a16:creationId xmlns:a16="http://schemas.microsoft.com/office/drawing/2014/main" id="{C20FAA28-3F9D-4C51-99F9-8232ED8F6BC7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0001</a:t>
            </a:r>
          </a:p>
        </p:txBody>
      </p:sp>
      <p:sp>
        <p:nvSpPr>
          <p:cNvPr id="38" name="Body1 19">
            <a:extLst>
              <a:ext uri="{FF2B5EF4-FFF2-40B4-BE49-F238E27FC236}">
                <a16:creationId xmlns:a16="http://schemas.microsoft.com/office/drawing/2014/main" id="{FCDC80FD-DCCA-43FB-A07A-D4B60699A394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0002</a:t>
            </a:r>
          </a:p>
        </p:txBody>
      </p:sp>
      <p:sp>
        <p:nvSpPr>
          <p:cNvPr id="51" name="Body1 19">
            <a:extLst>
              <a:ext uri="{FF2B5EF4-FFF2-40B4-BE49-F238E27FC236}">
                <a16:creationId xmlns:a16="http://schemas.microsoft.com/office/drawing/2014/main" id="{F3E315AC-23FE-49BF-93D4-8880B7A59FF1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0002</a:t>
            </a:r>
          </a:p>
        </p:txBody>
      </p:sp>
      <p:sp>
        <p:nvSpPr>
          <p:cNvPr id="63" name="Body1 19">
            <a:extLst>
              <a:ext uri="{FF2B5EF4-FFF2-40B4-BE49-F238E27FC236}">
                <a16:creationId xmlns:a16="http://schemas.microsoft.com/office/drawing/2014/main" id="{218C6056-3F38-4CE6-88DF-FC657FDE814D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0002</a:t>
            </a:r>
          </a:p>
        </p:txBody>
      </p:sp>
      <p:sp>
        <p:nvSpPr>
          <p:cNvPr id="75" name="Body1 19">
            <a:extLst>
              <a:ext uri="{FF2B5EF4-FFF2-40B4-BE49-F238E27FC236}">
                <a16:creationId xmlns:a16="http://schemas.microsoft.com/office/drawing/2014/main" id="{F77CBF52-CBE5-4210-A2D9-0E096CCC3D6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0002</a:t>
            </a:r>
          </a:p>
        </p:txBody>
      </p:sp>
      <p:sp>
        <p:nvSpPr>
          <p:cNvPr id="90" name="Body1 19">
            <a:extLst>
              <a:ext uri="{FF2B5EF4-FFF2-40B4-BE49-F238E27FC236}">
                <a16:creationId xmlns:a16="http://schemas.microsoft.com/office/drawing/2014/main" id="{1252580C-7067-40AE-B76E-CC6E4DBB30A7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0002</a:t>
            </a:r>
          </a:p>
        </p:txBody>
      </p:sp>
      <p:sp>
        <p:nvSpPr>
          <p:cNvPr id="102" name="Body1 19">
            <a:extLst>
              <a:ext uri="{FF2B5EF4-FFF2-40B4-BE49-F238E27FC236}">
                <a16:creationId xmlns:a16="http://schemas.microsoft.com/office/drawing/2014/main" id="{A8E09093-77D7-4CBB-906C-D75A18DDF9FA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0002</a:t>
            </a:r>
          </a:p>
        </p:txBody>
      </p:sp>
      <p:sp>
        <p:nvSpPr>
          <p:cNvPr id="37" name="Body1 19">
            <a:extLst>
              <a:ext uri="{FF2B5EF4-FFF2-40B4-BE49-F238E27FC236}">
                <a16:creationId xmlns:a16="http://schemas.microsoft.com/office/drawing/2014/main" id="{0FBB87A0-B628-4A03-A326-BFD22FDAD84C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0003</a:t>
            </a:r>
          </a:p>
        </p:txBody>
      </p:sp>
      <p:sp>
        <p:nvSpPr>
          <p:cNvPr id="50" name="Body1 19">
            <a:extLst>
              <a:ext uri="{FF2B5EF4-FFF2-40B4-BE49-F238E27FC236}">
                <a16:creationId xmlns:a16="http://schemas.microsoft.com/office/drawing/2014/main" id="{866CAD6C-2F02-42AC-963B-869784254563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0003</a:t>
            </a:r>
          </a:p>
        </p:txBody>
      </p:sp>
      <p:sp>
        <p:nvSpPr>
          <p:cNvPr id="62" name="Body1 19">
            <a:extLst>
              <a:ext uri="{FF2B5EF4-FFF2-40B4-BE49-F238E27FC236}">
                <a16:creationId xmlns:a16="http://schemas.microsoft.com/office/drawing/2014/main" id="{D5D57715-1DE3-496B-87A7-A15A345F0CA2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0003</a:t>
            </a:r>
          </a:p>
        </p:txBody>
      </p:sp>
      <p:sp>
        <p:nvSpPr>
          <p:cNvPr id="74" name="Body1 19">
            <a:extLst>
              <a:ext uri="{FF2B5EF4-FFF2-40B4-BE49-F238E27FC236}">
                <a16:creationId xmlns:a16="http://schemas.microsoft.com/office/drawing/2014/main" id="{7EDB63F0-7F3D-4BD7-8E1C-7F1F6AEC5BB4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0003</a:t>
            </a:r>
          </a:p>
        </p:txBody>
      </p:sp>
      <p:sp>
        <p:nvSpPr>
          <p:cNvPr id="89" name="Body1 19">
            <a:extLst>
              <a:ext uri="{FF2B5EF4-FFF2-40B4-BE49-F238E27FC236}">
                <a16:creationId xmlns:a16="http://schemas.microsoft.com/office/drawing/2014/main" id="{FAB207FB-C84B-45AF-8322-2537E7CEDF87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0003</a:t>
            </a:r>
          </a:p>
        </p:txBody>
      </p:sp>
      <p:sp>
        <p:nvSpPr>
          <p:cNvPr id="101" name="Body1 19">
            <a:extLst>
              <a:ext uri="{FF2B5EF4-FFF2-40B4-BE49-F238E27FC236}">
                <a16:creationId xmlns:a16="http://schemas.microsoft.com/office/drawing/2014/main" id="{3C0CFA0B-968E-4BAB-8562-C2A1F7EE0657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0003</a:t>
            </a:r>
          </a:p>
        </p:txBody>
      </p:sp>
      <p:sp>
        <p:nvSpPr>
          <p:cNvPr id="36" name="Body1 19">
            <a:extLst>
              <a:ext uri="{FF2B5EF4-FFF2-40B4-BE49-F238E27FC236}">
                <a16:creationId xmlns:a16="http://schemas.microsoft.com/office/drawing/2014/main" id="{D1759F28-A426-4AEB-BF78-3B2F66077873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0004</a:t>
            </a:r>
          </a:p>
        </p:txBody>
      </p:sp>
      <p:sp>
        <p:nvSpPr>
          <p:cNvPr id="49" name="Body1 19">
            <a:extLst>
              <a:ext uri="{FF2B5EF4-FFF2-40B4-BE49-F238E27FC236}">
                <a16:creationId xmlns:a16="http://schemas.microsoft.com/office/drawing/2014/main" id="{AB7A684D-C0A2-4A6B-9067-453D8891F97E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0004</a:t>
            </a:r>
          </a:p>
        </p:txBody>
      </p:sp>
      <p:sp>
        <p:nvSpPr>
          <p:cNvPr id="61" name="Body1 19">
            <a:extLst>
              <a:ext uri="{FF2B5EF4-FFF2-40B4-BE49-F238E27FC236}">
                <a16:creationId xmlns:a16="http://schemas.microsoft.com/office/drawing/2014/main" id="{2B6E5BD2-02EF-4D61-8A69-09DEE0120CAD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0004</a:t>
            </a:r>
          </a:p>
        </p:txBody>
      </p:sp>
      <p:sp>
        <p:nvSpPr>
          <p:cNvPr id="73" name="Body1 19">
            <a:extLst>
              <a:ext uri="{FF2B5EF4-FFF2-40B4-BE49-F238E27FC236}">
                <a16:creationId xmlns:a16="http://schemas.microsoft.com/office/drawing/2014/main" id="{FFE8E94F-3F6F-46B9-A5D0-F66F6623D039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0004</a:t>
            </a:r>
          </a:p>
        </p:txBody>
      </p:sp>
      <p:sp>
        <p:nvSpPr>
          <p:cNvPr id="88" name="Body1 19">
            <a:extLst>
              <a:ext uri="{FF2B5EF4-FFF2-40B4-BE49-F238E27FC236}">
                <a16:creationId xmlns:a16="http://schemas.microsoft.com/office/drawing/2014/main" id="{572D042E-F972-40C2-841C-7264B0D0045F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0004</a:t>
            </a:r>
          </a:p>
        </p:txBody>
      </p:sp>
      <p:sp>
        <p:nvSpPr>
          <p:cNvPr id="100" name="Body1 19">
            <a:extLst>
              <a:ext uri="{FF2B5EF4-FFF2-40B4-BE49-F238E27FC236}">
                <a16:creationId xmlns:a16="http://schemas.microsoft.com/office/drawing/2014/main" id="{1A859F52-A5E6-4D11-BF77-C96E46DB3C4E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0004</a:t>
            </a:r>
          </a:p>
        </p:txBody>
      </p:sp>
      <p:sp>
        <p:nvSpPr>
          <p:cNvPr id="35" name="Body1 19">
            <a:extLst>
              <a:ext uri="{FF2B5EF4-FFF2-40B4-BE49-F238E27FC236}">
                <a16:creationId xmlns:a16="http://schemas.microsoft.com/office/drawing/2014/main" id="{CC4898CC-F43F-4424-8B5E-660ECFF4998E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0005</a:t>
            </a:r>
          </a:p>
        </p:txBody>
      </p:sp>
      <p:sp>
        <p:nvSpPr>
          <p:cNvPr id="48" name="Body1 19">
            <a:extLst>
              <a:ext uri="{FF2B5EF4-FFF2-40B4-BE49-F238E27FC236}">
                <a16:creationId xmlns:a16="http://schemas.microsoft.com/office/drawing/2014/main" id="{DF9EC921-0969-4339-AE4E-96DCD682B47F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0005</a:t>
            </a:r>
          </a:p>
        </p:txBody>
      </p:sp>
      <p:sp>
        <p:nvSpPr>
          <p:cNvPr id="60" name="Body1 19">
            <a:extLst>
              <a:ext uri="{FF2B5EF4-FFF2-40B4-BE49-F238E27FC236}">
                <a16:creationId xmlns:a16="http://schemas.microsoft.com/office/drawing/2014/main" id="{1089D5FD-5FFC-4AD7-81C1-CB4A635875F4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0005</a:t>
            </a:r>
          </a:p>
        </p:txBody>
      </p:sp>
      <p:sp>
        <p:nvSpPr>
          <p:cNvPr id="72" name="Body1 19">
            <a:extLst>
              <a:ext uri="{FF2B5EF4-FFF2-40B4-BE49-F238E27FC236}">
                <a16:creationId xmlns:a16="http://schemas.microsoft.com/office/drawing/2014/main" id="{C9AEA5D4-FF7C-4F59-BE85-13A367DD0AEE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0005</a:t>
            </a:r>
          </a:p>
        </p:txBody>
      </p:sp>
      <p:sp>
        <p:nvSpPr>
          <p:cNvPr id="87" name="Body1 19">
            <a:extLst>
              <a:ext uri="{FF2B5EF4-FFF2-40B4-BE49-F238E27FC236}">
                <a16:creationId xmlns:a16="http://schemas.microsoft.com/office/drawing/2014/main" id="{DA546C94-5971-4810-8212-BAF1BC88729C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0005</a:t>
            </a:r>
          </a:p>
        </p:txBody>
      </p:sp>
      <p:sp>
        <p:nvSpPr>
          <p:cNvPr id="99" name="Body1 19">
            <a:extLst>
              <a:ext uri="{FF2B5EF4-FFF2-40B4-BE49-F238E27FC236}">
                <a16:creationId xmlns:a16="http://schemas.microsoft.com/office/drawing/2014/main" id="{9026B57E-982D-40BA-9202-D2A5D4EAD0A2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0005</a:t>
            </a:r>
          </a:p>
        </p:txBody>
      </p:sp>
      <p:sp>
        <p:nvSpPr>
          <p:cNvPr id="34" name="Body1 19">
            <a:extLst>
              <a:ext uri="{FF2B5EF4-FFF2-40B4-BE49-F238E27FC236}">
                <a16:creationId xmlns:a16="http://schemas.microsoft.com/office/drawing/2014/main" id="{A5EBCE7C-E698-47A6-A0E8-C4C1025F1AE4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0006</a:t>
            </a:r>
          </a:p>
        </p:txBody>
      </p:sp>
      <p:sp>
        <p:nvSpPr>
          <p:cNvPr id="47" name="Body1 19">
            <a:extLst>
              <a:ext uri="{FF2B5EF4-FFF2-40B4-BE49-F238E27FC236}">
                <a16:creationId xmlns:a16="http://schemas.microsoft.com/office/drawing/2014/main" id="{92EF9181-07B8-4F48-80CB-FFDB87B9725E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0006</a:t>
            </a:r>
          </a:p>
        </p:txBody>
      </p:sp>
      <p:sp>
        <p:nvSpPr>
          <p:cNvPr id="59" name="Body1 19">
            <a:extLst>
              <a:ext uri="{FF2B5EF4-FFF2-40B4-BE49-F238E27FC236}">
                <a16:creationId xmlns:a16="http://schemas.microsoft.com/office/drawing/2014/main" id="{C2C6CAA5-6D90-4C40-83A1-FE6A1579779C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0006</a:t>
            </a:r>
          </a:p>
        </p:txBody>
      </p:sp>
      <p:sp>
        <p:nvSpPr>
          <p:cNvPr id="71" name="Body1 19">
            <a:extLst>
              <a:ext uri="{FF2B5EF4-FFF2-40B4-BE49-F238E27FC236}">
                <a16:creationId xmlns:a16="http://schemas.microsoft.com/office/drawing/2014/main" id="{CDF605D2-E1EF-4BE9-9E3E-599791F8EF44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0006</a:t>
            </a:r>
          </a:p>
        </p:txBody>
      </p:sp>
      <p:sp>
        <p:nvSpPr>
          <p:cNvPr id="86" name="Body1 19">
            <a:extLst>
              <a:ext uri="{FF2B5EF4-FFF2-40B4-BE49-F238E27FC236}">
                <a16:creationId xmlns:a16="http://schemas.microsoft.com/office/drawing/2014/main" id="{D43CBAC4-5734-4676-9B55-46AB31981AA3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0006</a:t>
            </a:r>
          </a:p>
        </p:txBody>
      </p:sp>
      <p:sp>
        <p:nvSpPr>
          <p:cNvPr id="98" name="Body1 19">
            <a:extLst>
              <a:ext uri="{FF2B5EF4-FFF2-40B4-BE49-F238E27FC236}">
                <a16:creationId xmlns:a16="http://schemas.microsoft.com/office/drawing/2014/main" id="{646AAB36-4F8A-4E89-B38C-327D514370BB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0006</a:t>
            </a:r>
          </a:p>
        </p:txBody>
      </p:sp>
      <p:sp>
        <p:nvSpPr>
          <p:cNvPr id="33" name="Body1 19">
            <a:extLst>
              <a:ext uri="{FF2B5EF4-FFF2-40B4-BE49-F238E27FC236}">
                <a16:creationId xmlns:a16="http://schemas.microsoft.com/office/drawing/2014/main" id="{90CD9A33-8582-4B04-890A-BB408D9F7FE8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0007</a:t>
            </a:r>
          </a:p>
        </p:txBody>
      </p:sp>
      <p:sp>
        <p:nvSpPr>
          <p:cNvPr id="46" name="Body1 19">
            <a:extLst>
              <a:ext uri="{FF2B5EF4-FFF2-40B4-BE49-F238E27FC236}">
                <a16:creationId xmlns:a16="http://schemas.microsoft.com/office/drawing/2014/main" id="{5CCEF8FF-C821-466F-8B58-C08DEB7E4516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0007</a:t>
            </a:r>
          </a:p>
        </p:txBody>
      </p:sp>
      <p:sp>
        <p:nvSpPr>
          <p:cNvPr id="58" name="Body1 19">
            <a:extLst>
              <a:ext uri="{FF2B5EF4-FFF2-40B4-BE49-F238E27FC236}">
                <a16:creationId xmlns:a16="http://schemas.microsoft.com/office/drawing/2014/main" id="{19BFBAD4-6619-46A1-8B20-FA716E29F64C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0007</a:t>
            </a:r>
          </a:p>
        </p:txBody>
      </p:sp>
      <p:sp>
        <p:nvSpPr>
          <p:cNvPr id="70" name="Body1 19">
            <a:extLst>
              <a:ext uri="{FF2B5EF4-FFF2-40B4-BE49-F238E27FC236}">
                <a16:creationId xmlns:a16="http://schemas.microsoft.com/office/drawing/2014/main" id="{0B715B06-D994-4ACA-B07C-0E088FBAB9CB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0007</a:t>
            </a:r>
          </a:p>
        </p:txBody>
      </p:sp>
      <p:sp>
        <p:nvSpPr>
          <p:cNvPr id="85" name="Body1 19">
            <a:extLst>
              <a:ext uri="{FF2B5EF4-FFF2-40B4-BE49-F238E27FC236}">
                <a16:creationId xmlns:a16="http://schemas.microsoft.com/office/drawing/2014/main" id="{EE114926-89DD-4BB0-A379-00B7AC221637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0007</a:t>
            </a:r>
          </a:p>
        </p:txBody>
      </p:sp>
      <p:sp>
        <p:nvSpPr>
          <p:cNvPr id="97" name="Body1 19">
            <a:extLst>
              <a:ext uri="{FF2B5EF4-FFF2-40B4-BE49-F238E27FC236}">
                <a16:creationId xmlns:a16="http://schemas.microsoft.com/office/drawing/2014/main" id="{5646ED97-9B14-488C-87E7-84972E05BC36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0007</a:t>
            </a:r>
          </a:p>
        </p:txBody>
      </p:sp>
      <p:sp>
        <p:nvSpPr>
          <p:cNvPr id="32" name="Body1 19">
            <a:extLst>
              <a:ext uri="{FF2B5EF4-FFF2-40B4-BE49-F238E27FC236}">
                <a16:creationId xmlns:a16="http://schemas.microsoft.com/office/drawing/2014/main" id="{3373F6D4-21E0-4E06-9E95-510450785A8E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0008</a:t>
            </a:r>
          </a:p>
        </p:txBody>
      </p:sp>
      <p:sp>
        <p:nvSpPr>
          <p:cNvPr id="45" name="Body1 19">
            <a:extLst>
              <a:ext uri="{FF2B5EF4-FFF2-40B4-BE49-F238E27FC236}">
                <a16:creationId xmlns:a16="http://schemas.microsoft.com/office/drawing/2014/main" id="{21586B87-1622-4927-A434-E78B77B0CC6E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0008</a:t>
            </a:r>
          </a:p>
        </p:txBody>
      </p:sp>
      <p:sp>
        <p:nvSpPr>
          <p:cNvPr id="57" name="Body1 19">
            <a:extLst>
              <a:ext uri="{FF2B5EF4-FFF2-40B4-BE49-F238E27FC236}">
                <a16:creationId xmlns:a16="http://schemas.microsoft.com/office/drawing/2014/main" id="{6BAFDE86-F56D-4B87-A245-7864CFEEF323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0008</a:t>
            </a:r>
          </a:p>
        </p:txBody>
      </p:sp>
      <p:sp>
        <p:nvSpPr>
          <p:cNvPr id="69" name="Body1 19">
            <a:extLst>
              <a:ext uri="{FF2B5EF4-FFF2-40B4-BE49-F238E27FC236}">
                <a16:creationId xmlns:a16="http://schemas.microsoft.com/office/drawing/2014/main" id="{EE17E3A9-AB33-443A-A339-7E95B575368A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0008</a:t>
            </a:r>
          </a:p>
        </p:txBody>
      </p:sp>
      <p:sp>
        <p:nvSpPr>
          <p:cNvPr id="84" name="Body1 19">
            <a:extLst>
              <a:ext uri="{FF2B5EF4-FFF2-40B4-BE49-F238E27FC236}">
                <a16:creationId xmlns:a16="http://schemas.microsoft.com/office/drawing/2014/main" id="{A872B137-9BF1-452B-AAFA-CF553DEDEFAD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0008</a:t>
            </a:r>
          </a:p>
        </p:txBody>
      </p:sp>
      <p:sp>
        <p:nvSpPr>
          <p:cNvPr id="96" name="Body1 19">
            <a:extLst>
              <a:ext uri="{FF2B5EF4-FFF2-40B4-BE49-F238E27FC236}">
                <a16:creationId xmlns:a16="http://schemas.microsoft.com/office/drawing/2014/main" id="{E7334B0B-4DA7-48D2-956E-F85DF8143BC6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0008</a:t>
            </a:r>
          </a:p>
        </p:txBody>
      </p:sp>
      <p:sp>
        <p:nvSpPr>
          <p:cNvPr id="31" name="Body1 19">
            <a:extLst>
              <a:ext uri="{FF2B5EF4-FFF2-40B4-BE49-F238E27FC236}">
                <a16:creationId xmlns:a16="http://schemas.microsoft.com/office/drawing/2014/main" id="{CA31CD21-D243-44D5-9399-4F18B5D6D723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7239884" y="1718643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0009</a:t>
            </a:r>
          </a:p>
        </p:txBody>
      </p:sp>
      <p:sp>
        <p:nvSpPr>
          <p:cNvPr id="44" name="Body1 19">
            <a:extLst>
              <a:ext uri="{FF2B5EF4-FFF2-40B4-BE49-F238E27FC236}">
                <a16:creationId xmlns:a16="http://schemas.microsoft.com/office/drawing/2014/main" id="{4A838B58-2E82-4B77-8EAF-39FC5B9E8FAA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5972561" y="522983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0009</a:t>
            </a:r>
          </a:p>
        </p:txBody>
      </p:sp>
      <p:sp>
        <p:nvSpPr>
          <p:cNvPr id="56" name="Body1 19">
            <a:extLst>
              <a:ext uri="{FF2B5EF4-FFF2-40B4-BE49-F238E27FC236}">
                <a16:creationId xmlns:a16="http://schemas.microsoft.com/office/drawing/2014/main" id="{6BC04A59-0AF3-45C5-8C23-93C5BB7D7505}"/>
              </a:ext>
            </a:extLst>
          </p:cNvPr>
          <p:cNvSpPr txBox="1"/>
          <p:nvPr>
            <p:custDataLst>
              <p:tags r:id="rId71"/>
            </p:custDataLst>
          </p:nvPr>
        </p:nvSpPr>
        <p:spPr>
          <a:xfrm>
            <a:off x="427662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0009</a:t>
            </a:r>
          </a:p>
        </p:txBody>
      </p:sp>
      <p:sp>
        <p:nvSpPr>
          <p:cNvPr id="68" name="Body1 19">
            <a:extLst>
              <a:ext uri="{FF2B5EF4-FFF2-40B4-BE49-F238E27FC236}">
                <a16:creationId xmlns:a16="http://schemas.microsoft.com/office/drawing/2014/main" id="{65F43F0F-62D2-414B-B08E-82C6F6FE0E46}"/>
              </a:ext>
            </a:extLst>
          </p:cNvPr>
          <p:cNvSpPr txBox="1"/>
          <p:nvPr>
            <p:custDataLst>
              <p:tags r:id="rId72"/>
            </p:custDataLst>
          </p:nvPr>
        </p:nvSpPr>
        <p:spPr>
          <a:xfrm>
            <a:off x="258068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0009</a:t>
            </a:r>
          </a:p>
        </p:txBody>
      </p:sp>
      <p:sp>
        <p:nvSpPr>
          <p:cNvPr id="83" name="Body1 19">
            <a:extLst>
              <a:ext uri="{FF2B5EF4-FFF2-40B4-BE49-F238E27FC236}">
                <a16:creationId xmlns:a16="http://schemas.microsoft.com/office/drawing/2014/main" id="{7DBFCFEC-9834-4600-A46C-1CE22392DD6E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884741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0009</a:t>
            </a:r>
          </a:p>
        </p:txBody>
      </p:sp>
      <p:sp>
        <p:nvSpPr>
          <p:cNvPr id="95" name="Body1 19">
            <a:extLst>
              <a:ext uri="{FF2B5EF4-FFF2-40B4-BE49-F238E27FC236}">
                <a16:creationId xmlns:a16="http://schemas.microsoft.com/office/drawing/2014/main" id="{821D2D41-3736-4F08-B736-250D91DAFF3B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0088912" y="5228666"/>
            <a:ext cx="804040" cy="34163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0009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9F2D89A3-DE2A-4FFB-85B9-03131C03E64D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3934515" y="2066206"/>
            <a:ext cx="1951486" cy="933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31DBC3AA-37C7-4273-AC56-2D069F051714}"/>
              </a:ext>
            </a:extLst>
          </p:cNvPr>
          <p:cNvCxnSpPr>
            <a:cxnSpLocks/>
          </p:cNvCxnSpPr>
          <p:nvPr/>
        </p:nvCxnSpPr>
        <p:spPr>
          <a:xfrm flipH="1">
            <a:off x="4276621" y="2031270"/>
            <a:ext cx="1819377" cy="112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39289474-3277-4E58-B47A-1C983196F9A1}"/>
              </a:ext>
            </a:extLst>
          </p:cNvPr>
          <p:cNvCxnSpPr>
            <a:cxnSpLocks/>
            <a:stCxn id="7" idx="4"/>
          </p:cNvCxnSpPr>
          <p:nvPr/>
        </p:nvCxnSpPr>
        <p:spPr>
          <a:xfrm flipH="1">
            <a:off x="4952115" y="2153190"/>
            <a:ext cx="1143885" cy="112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98A9A93-68B5-4D6E-A9C0-5DCEB4BA5E4A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6096000" y="2153190"/>
            <a:ext cx="0" cy="112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066FAE4-BE63-41A3-8DF6-CCF1E1F10EAD}"/>
              </a:ext>
            </a:extLst>
          </p:cNvPr>
          <p:cNvCxnSpPr>
            <a:cxnSpLocks/>
            <a:stCxn id="7" idx="5"/>
          </p:cNvCxnSpPr>
          <p:nvPr/>
        </p:nvCxnSpPr>
        <p:spPr>
          <a:xfrm>
            <a:off x="6305998" y="2066206"/>
            <a:ext cx="1531065" cy="998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990F8887-2414-496B-8B9A-D7412276F3E1}"/>
              </a:ext>
            </a:extLst>
          </p:cNvPr>
          <p:cNvGrpSpPr/>
          <p:nvPr/>
        </p:nvGrpSpPr>
        <p:grpSpPr>
          <a:xfrm>
            <a:off x="2608489" y="3034441"/>
            <a:ext cx="1552463" cy="258533"/>
            <a:chOff x="2580681" y="2136708"/>
            <a:chExt cx="1552463" cy="258533"/>
          </a:xfrm>
        </p:grpSpPr>
        <p:sp>
          <p:nvSpPr>
            <p:cNvPr id="145" name="Body1 19">
              <a:extLst>
                <a:ext uri="{FF2B5EF4-FFF2-40B4-BE49-F238E27FC236}">
                  <a16:creationId xmlns:a16="http://schemas.microsoft.com/office/drawing/2014/main" id="{D1744D6E-A8AF-477D-9919-AE14B87DFE88}"/>
                </a:ext>
              </a:extLst>
            </p:cNvPr>
            <p:cNvSpPr txBox="1"/>
            <p:nvPr>
              <p:custDataLst>
                <p:tags r:id="rId79"/>
              </p:custDataLst>
            </p:nvPr>
          </p:nvSpPr>
          <p:spPr>
            <a:xfrm>
              <a:off x="2580681" y="2136708"/>
              <a:ext cx="1552463" cy="25853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228600" lvl="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/>
              </a:lvl1pPr>
              <a:lvl2pPr marL="685800" lvl="1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Deadline: 0009 | …</a:t>
              </a: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C5CDF4BA-1ECB-421C-A27F-604D08F701B2}"/>
                </a:ext>
              </a:extLst>
            </p:cNvPr>
            <p:cNvSpPr/>
            <p:nvPr/>
          </p:nvSpPr>
          <p:spPr>
            <a:xfrm>
              <a:off x="2580681" y="2141063"/>
              <a:ext cx="1353834" cy="2541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7088599-E062-4945-8762-1487E721DA72}"/>
              </a:ext>
            </a:extLst>
          </p:cNvPr>
          <p:cNvGrpSpPr/>
          <p:nvPr/>
        </p:nvGrpSpPr>
        <p:grpSpPr>
          <a:xfrm>
            <a:off x="3039322" y="3327909"/>
            <a:ext cx="1552463" cy="258533"/>
            <a:chOff x="2580681" y="2136708"/>
            <a:chExt cx="1552463" cy="258533"/>
          </a:xfrm>
        </p:grpSpPr>
        <p:sp>
          <p:nvSpPr>
            <p:cNvPr id="148" name="Body1 19">
              <a:extLst>
                <a:ext uri="{FF2B5EF4-FFF2-40B4-BE49-F238E27FC236}">
                  <a16:creationId xmlns:a16="http://schemas.microsoft.com/office/drawing/2014/main" id="{C2E8B8EF-366C-4CC4-AC1D-D164C908E775}"/>
                </a:ext>
              </a:extLst>
            </p:cNvPr>
            <p:cNvSpPr txBox="1"/>
            <p:nvPr>
              <p:custDataLst>
                <p:tags r:id="rId78"/>
              </p:custDataLst>
            </p:nvPr>
          </p:nvSpPr>
          <p:spPr>
            <a:xfrm>
              <a:off x="2580681" y="2136708"/>
              <a:ext cx="1552463" cy="25853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228600" lvl="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/>
              </a:lvl1pPr>
              <a:lvl2pPr marL="685800" lvl="1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Deadline: 0009 | …</a:t>
              </a: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A150ABB-4A54-4ED4-A98F-011DB47EFE2A}"/>
                </a:ext>
              </a:extLst>
            </p:cNvPr>
            <p:cNvSpPr/>
            <p:nvPr/>
          </p:nvSpPr>
          <p:spPr>
            <a:xfrm>
              <a:off x="2580681" y="2141063"/>
              <a:ext cx="1353834" cy="2541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3826419-94E2-4E57-ACE3-E0D0EF8B02C2}"/>
              </a:ext>
            </a:extLst>
          </p:cNvPr>
          <p:cNvGrpSpPr/>
          <p:nvPr/>
        </p:nvGrpSpPr>
        <p:grpSpPr>
          <a:xfrm>
            <a:off x="4410077" y="3342357"/>
            <a:ext cx="1552463" cy="258533"/>
            <a:chOff x="2580681" y="2136708"/>
            <a:chExt cx="1552463" cy="258533"/>
          </a:xfrm>
        </p:grpSpPr>
        <p:sp>
          <p:nvSpPr>
            <p:cNvPr id="151" name="Body1 19">
              <a:extLst>
                <a:ext uri="{FF2B5EF4-FFF2-40B4-BE49-F238E27FC236}">
                  <a16:creationId xmlns:a16="http://schemas.microsoft.com/office/drawing/2014/main" id="{70E8F72C-BDE8-4E12-8D98-314F7BA614CF}"/>
                </a:ext>
              </a:extLst>
            </p:cNvPr>
            <p:cNvSpPr txBox="1"/>
            <p:nvPr>
              <p:custDataLst>
                <p:tags r:id="rId77"/>
              </p:custDataLst>
            </p:nvPr>
          </p:nvSpPr>
          <p:spPr>
            <a:xfrm>
              <a:off x="2580681" y="2136708"/>
              <a:ext cx="1552463" cy="25853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228600" lvl="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/>
              </a:lvl1pPr>
              <a:lvl2pPr marL="685800" lvl="1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Deadline: 0009 | …</a:t>
              </a: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6EC2CFC-25A2-4170-8B6F-2D1CE975205C}"/>
                </a:ext>
              </a:extLst>
            </p:cNvPr>
            <p:cNvSpPr/>
            <p:nvPr/>
          </p:nvSpPr>
          <p:spPr>
            <a:xfrm>
              <a:off x="2580681" y="2141063"/>
              <a:ext cx="1353834" cy="2541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FB3302C-7A96-41FA-A521-2D7F409F13B4}"/>
              </a:ext>
            </a:extLst>
          </p:cNvPr>
          <p:cNvGrpSpPr/>
          <p:nvPr/>
        </p:nvGrpSpPr>
        <p:grpSpPr>
          <a:xfrm>
            <a:off x="5890008" y="3296841"/>
            <a:ext cx="1552463" cy="258533"/>
            <a:chOff x="2580681" y="2136708"/>
            <a:chExt cx="1552463" cy="258533"/>
          </a:xfrm>
        </p:grpSpPr>
        <p:sp>
          <p:nvSpPr>
            <p:cNvPr id="154" name="Body1 19">
              <a:extLst>
                <a:ext uri="{FF2B5EF4-FFF2-40B4-BE49-F238E27FC236}">
                  <a16:creationId xmlns:a16="http://schemas.microsoft.com/office/drawing/2014/main" id="{8613A96C-51EF-41F2-8436-45A799C8B0DB}"/>
                </a:ext>
              </a:extLst>
            </p:cNvPr>
            <p:cNvSpPr txBox="1"/>
            <p:nvPr>
              <p:custDataLst>
                <p:tags r:id="rId76"/>
              </p:custDataLst>
            </p:nvPr>
          </p:nvSpPr>
          <p:spPr>
            <a:xfrm>
              <a:off x="2580681" y="2136708"/>
              <a:ext cx="1552463" cy="25853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228600" lvl="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/>
              </a:lvl1pPr>
              <a:lvl2pPr marL="685800" lvl="1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Deadline: 0009 | …</a:t>
              </a: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014E369-C31D-4B9A-ACB1-92A097D36C5F}"/>
                </a:ext>
              </a:extLst>
            </p:cNvPr>
            <p:cNvSpPr/>
            <p:nvPr/>
          </p:nvSpPr>
          <p:spPr>
            <a:xfrm>
              <a:off x="2580681" y="2141063"/>
              <a:ext cx="1353834" cy="2541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F29F158-BC69-4BA4-91E0-E6E011EF3B71}"/>
              </a:ext>
            </a:extLst>
          </p:cNvPr>
          <p:cNvGrpSpPr/>
          <p:nvPr/>
        </p:nvGrpSpPr>
        <p:grpSpPr>
          <a:xfrm>
            <a:off x="7548421" y="3083824"/>
            <a:ext cx="1552463" cy="258533"/>
            <a:chOff x="2580681" y="2136708"/>
            <a:chExt cx="1552463" cy="258533"/>
          </a:xfrm>
        </p:grpSpPr>
        <p:sp>
          <p:nvSpPr>
            <p:cNvPr id="157" name="Body1 19">
              <a:extLst>
                <a:ext uri="{FF2B5EF4-FFF2-40B4-BE49-F238E27FC236}">
                  <a16:creationId xmlns:a16="http://schemas.microsoft.com/office/drawing/2014/main" id="{98118F16-5A5A-467F-8FB1-18BABBF6C67D}"/>
                </a:ext>
              </a:extLst>
            </p:cNvPr>
            <p:cNvSpPr txBox="1"/>
            <p:nvPr>
              <p:custDataLst>
                <p:tags r:id="rId75"/>
              </p:custDataLst>
            </p:nvPr>
          </p:nvSpPr>
          <p:spPr>
            <a:xfrm>
              <a:off x="2580681" y="2136708"/>
              <a:ext cx="1552463" cy="258532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91440" tIns="45720" rIns="91440" bIns="45720" rtlCol="0">
              <a:spAutoFit/>
            </a:bodyPr>
            <a:lstStyle>
              <a:lvl1pPr marL="228600" lvl="0" indent="-2286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/>
              </a:lvl1pPr>
              <a:lvl2pPr marL="685800" lvl="1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lvl="2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lvl="3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lvl="4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Deadline: 0009 | …</a:t>
              </a: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0F9EAE7-6895-41D6-AC2E-3860ECC1FDDB}"/>
                </a:ext>
              </a:extLst>
            </p:cNvPr>
            <p:cNvSpPr/>
            <p:nvPr/>
          </p:nvSpPr>
          <p:spPr>
            <a:xfrm>
              <a:off x="2580681" y="2141063"/>
              <a:ext cx="1353834" cy="25417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E5A0256E-3604-4B3E-A1A7-709CE800AF30}"/>
              </a:ext>
            </a:extLst>
          </p:cNvPr>
          <p:cNvSpPr txBox="1"/>
          <p:nvPr/>
        </p:nvSpPr>
        <p:spPr>
          <a:xfrm>
            <a:off x="8225338" y="1566293"/>
            <a:ext cx="3508035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Senders and receivers synchronized to the same clock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69F570CE-CAEF-44EF-8650-BAD57D2C972D}"/>
              </a:ext>
            </a:extLst>
          </p:cNvPr>
          <p:cNvSpPr txBox="1"/>
          <p:nvPr/>
        </p:nvSpPr>
        <p:spPr>
          <a:xfrm>
            <a:off x="1716673" y="1702466"/>
            <a:ext cx="2605992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Sender attaches deadline to message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138A0BE-6339-4581-85B6-F44507B7197D}"/>
              </a:ext>
            </a:extLst>
          </p:cNvPr>
          <p:cNvSpPr txBox="1"/>
          <p:nvPr/>
        </p:nvSpPr>
        <p:spPr>
          <a:xfrm>
            <a:off x="5347853" y="5839876"/>
            <a:ext cx="4242459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Receiver processes message when deadline is reached on receiver clock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9DB03882-3D54-4E07-BDCE-1ED5C514426A}"/>
              </a:ext>
            </a:extLst>
          </p:cNvPr>
          <p:cNvSpPr txBox="1"/>
          <p:nvPr/>
        </p:nvSpPr>
        <p:spPr>
          <a:xfrm>
            <a:off x="9168860" y="2650526"/>
            <a:ext cx="2564514" cy="9233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Sender multicasts message to all receivers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9FE7DAE-6D53-48A7-8882-13FB69662FE3}"/>
              </a:ext>
            </a:extLst>
          </p:cNvPr>
          <p:cNvSpPr txBox="1"/>
          <p:nvPr/>
        </p:nvSpPr>
        <p:spPr>
          <a:xfrm>
            <a:off x="7245227" y="3905199"/>
            <a:ext cx="4711246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lvl="2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lvl="3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lvl="4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Messages arrive at unpredictable times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4D5B01-11C9-71C4-1148-9389A1D29CBF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Outbound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4DCD534-ECB9-9312-7FDE-12FF9B46E657}"/>
              </a:ext>
            </a:extLst>
          </p:cNvPr>
          <p:cNvSpPr txBox="1"/>
          <p:nvPr/>
        </p:nvSpPr>
        <p:spPr>
          <a:xfrm>
            <a:off x="569979" y="476910"/>
            <a:ext cx="3326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Hold-and-release</a:t>
            </a:r>
          </a:p>
        </p:txBody>
      </p:sp>
    </p:spTree>
    <p:extLst>
      <p:ext uri="{BB962C8B-B14F-4D97-AF65-F5344CB8AC3E}">
        <p14:creationId xmlns:p14="http://schemas.microsoft.com/office/powerpoint/2010/main" val="201903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"/>
                            </p:stCondLst>
                            <p:childTnLst>
                              <p:par>
                                <p:cTn id="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11111E-6 L -0.16015 0.19329 " pathEditMode="relative" rAng="0" ptsTypes="AA">
                                      <p:cBhvr>
                                        <p:cTn id="130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08" y="9653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96296E-6 L -0.00013 0.14791 " pathEditMode="relative" rAng="0" ptsTypes="AA">
                                      <p:cBhvr>
                                        <p:cTn id="132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73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1.48148E-6 L -0.03841 0.14467 " pathEditMode="relative" rAng="0" ptsTypes="AA">
                                      <p:cBhvr>
                                        <p:cTn id="14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7" y="7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0.15625 0.18102 " pathEditMode="relative" rAng="0" ptsTypes="AA">
                                      <p:cBhvr>
                                        <p:cTn id="164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3" y="9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81481E-6 L -0.05625 0.14328 " pathEditMode="relative" rAng="0" ptsTypes="AA">
                                      <p:cBhvr>
                                        <p:cTn id="18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7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625 0.18102 L 0.16198 0.3743 " pathEditMode="relative" rAng="0" ptsTypes="AA">
                                      <p:cBhvr>
                                        <p:cTn id="201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" y="9653"/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14791 L 0.00912 0.33125 " pathEditMode="relative" rAng="0" ptsTypes="AA">
                                      <p:cBhvr>
                                        <p:cTn id="203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6" y="9167"/>
                                    </p:animMotion>
                                  </p:childTnLst>
                                </p:cTn>
                              </p:par>
                              <p:par>
                                <p:cTn id="20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841 0.14467 L -0.03476 0.32639 " pathEditMode="relative" rAng="0" ptsTypes="AA">
                                      <p:cBhvr>
                                        <p:cTn id="20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" y="9074"/>
                                    </p:animMotion>
                                  </p:childTnLst>
                                </p:cTn>
                              </p:par>
                              <p:par>
                                <p:cTn id="20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625 0.14328 L -0.05299 0.32476 " pathEditMode="relative" rAng="0" ptsTypes="AA">
                                      <p:cBhvr>
                                        <p:cTn id="20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6" y="9074"/>
                                    </p:animMotion>
                                  </p:childTnLst>
                                </p:cTn>
                              </p:par>
                              <p:par>
                                <p:cTn id="20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015 0.19329 L -0.1638 0.36898 " pathEditMode="relative" rAng="0" ptsTypes="AA">
                                      <p:cBhvr>
                                        <p:cTn id="209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2" y="8773"/>
                                    </p:animMotion>
                                  </p:childTnLst>
                                </p:cTn>
                              </p:par>
                              <p:par>
                                <p:cTn id="2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53" grpId="0" animBg="1"/>
      <p:bldP spid="65" grpId="0" animBg="1"/>
      <p:bldP spid="77" grpId="0" animBg="1"/>
      <p:bldP spid="92" grpId="0" animBg="1"/>
      <p:bldP spid="104" grpId="0" animBg="1"/>
      <p:bldP spid="39" grpId="0" animBg="1"/>
      <p:bldP spid="52" grpId="0" animBg="1"/>
      <p:bldP spid="64" grpId="0" animBg="1"/>
      <p:bldP spid="76" grpId="0" animBg="1"/>
      <p:bldP spid="91" grpId="0" animBg="1"/>
      <p:bldP spid="103" grpId="0" animBg="1"/>
      <p:bldP spid="38" grpId="0" animBg="1"/>
      <p:bldP spid="51" grpId="0" animBg="1"/>
      <p:bldP spid="63" grpId="0" animBg="1"/>
      <p:bldP spid="75" grpId="0" animBg="1"/>
      <p:bldP spid="90" grpId="0" animBg="1"/>
      <p:bldP spid="102" grpId="0" animBg="1"/>
      <p:bldP spid="37" grpId="0" animBg="1"/>
      <p:bldP spid="50" grpId="0" animBg="1"/>
      <p:bldP spid="62" grpId="0" animBg="1"/>
      <p:bldP spid="74" grpId="0" animBg="1"/>
      <p:bldP spid="89" grpId="0" animBg="1"/>
      <p:bldP spid="101" grpId="0" animBg="1"/>
      <p:bldP spid="36" grpId="0" animBg="1"/>
      <p:bldP spid="49" grpId="0" animBg="1"/>
      <p:bldP spid="61" grpId="0" animBg="1"/>
      <p:bldP spid="73" grpId="0" animBg="1"/>
      <p:bldP spid="88" grpId="0" animBg="1"/>
      <p:bldP spid="100" grpId="0" animBg="1"/>
      <p:bldP spid="35" grpId="0" animBg="1"/>
      <p:bldP spid="48" grpId="0" animBg="1"/>
      <p:bldP spid="60" grpId="0" animBg="1"/>
      <p:bldP spid="72" grpId="0" animBg="1"/>
      <p:bldP spid="87" grpId="0" animBg="1"/>
      <p:bldP spid="99" grpId="0" animBg="1"/>
      <p:bldP spid="34" grpId="0" animBg="1"/>
      <p:bldP spid="47" grpId="0" animBg="1"/>
      <p:bldP spid="59" grpId="0" animBg="1"/>
      <p:bldP spid="71" grpId="0" animBg="1"/>
      <p:bldP spid="86" grpId="0" animBg="1"/>
      <p:bldP spid="98" grpId="0" animBg="1"/>
      <p:bldP spid="33" grpId="0" animBg="1"/>
      <p:bldP spid="46" grpId="0" animBg="1"/>
      <p:bldP spid="58" grpId="0" animBg="1"/>
      <p:bldP spid="70" grpId="0" animBg="1"/>
      <p:bldP spid="85" grpId="0" animBg="1"/>
      <p:bldP spid="97" grpId="0" animBg="1"/>
      <p:bldP spid="32" grpId="0" animBg="1"/>
      <p:bldP spid="45" grpId="0" animBg="1"/>
      <p:bldP spid="57" grpId="0" animBg="1"/>
      <p:bldP spid="69" grpId="0" animBg="1"/>
      <p:bldP spid="84" grpId="0" animBg="1"/>
      <p:bldP spid="96" grpId="0" animBg="1"/>
      <p:bldP spid="31" grpId="0" animBg="1"/>
      <p:bldP spid="44" grpId="0" animBg="1"/>
      <p:bldP spid="56" grpId="0" animBg="1"/>
      <p:bldP spid="68" grpId="0" animBg="1"/>
      <p:bldP spid="83" grpId="0" animBg="1"/>
      <p:bldP spid="95" grpId="0" animBg="1"/>
      <p:bldP spid="160" grpId="0"/>
      <p:bldP spid="161" grpId="0"/>
      <p:bldP spid="162" grpId="0"/>
      <p:bldP spid="163" grpId="0"/>
      <p:bldP spid="16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CBBDB6FF-3131-6AAA-C873-C31F4D39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B75C1D-72D1-FF9A-C60B-900C10AA5894}"/>
              </a:ext>
            </a:extLst>
          </p:cNvPr>
          <p:cNvSpPr txBox="1"/>
          <p:nvPr/>
        </p:nvSpPr>
        <p:spPr>
          <a:xfrm>
            <a:off x="569979" y="476910"/>
            <a:ext cx="5354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Scalable Outbound Fairness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C4DA3-E114-E47C-8E75-CD406A23F146}"/>
              </a:ext>
            </a:extLst>
          </p:cNvPr>
          <p:cNvSpPr txBox="1"/>
          <p:nvPr/>
        </p:nvSpPr>
        <p:spPr>
          <a:xfrm>
            <a:off x="531970" y="1434210"/>
            <a:ext cx="70495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Fairness achieved by a simple “hold-and-release” primitive.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scale it much further by proposing an efficient market data multicast mechanism.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tree of proxy nodes is utilized that helps scale multicast.</a:t>
            </a:r>
          </a:p>
        </p:txBody>
      </p:sp>
      <p:sp>
        <p:nvSpPr>
          <p:cNvPr id="14" name="Google Shape;180;p23">
            <a:extLst>
              <a:ext uri="{FF2B5EF4-FFF2-40B4-BE49-F238E27FC236}">
                <a16:creationId xmlns:a16="http://schemas.microsoft.com/office/drawing/2014/main" id="{2CD9D55B-2201-9586-2F38-3BA7D01FD6DE}"/>
              </a:ext>
            </a:extLst>
          </p:cNvPr>
          <p:cNvSpPr/>
          <p:nvPr/>
        </p:nvSpPr>
        <p:spPr>
          <a:xfrm>
            <a:off x="2367684" y="4261410"/>
            <a:ext cx="2495700" cy="680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Latency Spikes On Links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oogle Shape;181;p23">
            <a:extLst>
              <a:ext uri="{FF2B5EF4-FFF2-40B4-BE49-F238E27FC236}">
                <a16:creationId xmlns:a16="http://schemas.microsoft.com/office/drawing/2014/main" id="{4B636EAB-D87E-40F7-1755-8E164202BF2B}"/>
              </a:ext>
            </a:extLst>
          </p:cNvPr>
          <p:cNvSpPr/>
          <p:nvPr/>
        </p:nvSpPr>
        <p:spPr>
          <a:xfrm>
            <a:off x="5261859" y="4254223"/>
            <a:ext cx="2495700" cy="680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Proxy node’s performance variation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Google Shape;182;p23">
            <a:extLst>
              <a:ext uri="{FF2B5EF4-FFF2-40B4-BE49-F238E27FC236}">
                <a16:creationId xmlns:a16="http://schemas.microsoft.com/office/drawing/2014/main" id="{2E69A172-EC37-0BBC-93F9-C6CBA713A082}"/>
              </a:ext>
            </a:extLst>
          </p:cNvPr>
          <p:cNvSpPr/>
          <p:nvPr/>
        </p:nvSpPr>
        <p:spPr>
          <a:xfrm>
            <a:off x="8047509" y="4261410"/>
            <a:ext cx="2495700" cy="680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Receiver VMs’ performance variation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Google Shape;183;p23">
            <a:extLst>
              <a:ext uri="{FF2B5EF4-FFF2-40B4-BE49-F238E27FC236}">
                <a16:creationId xmlns:a16="http://schemas.microsoft.com/office/drawing/2014/main" id="{C39FFCC8-8A41-FB96-F515-2F887D2DEE5F}"/>
              </a:ext>
            </a:extLst>
          </p:cNvPr>
          <p:cNvSpPr/>
          <p:nvPr/>
        </p:nvSpPr>
        <p:spPr>
          <a:xfrm>
            <a:off x="2591909" y="5889085"/>
            <a:ext cx="1938900" cy="694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Round Robin Packet Spraying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Google Shape;184;p23">
            <a:extLst>
              <a:ext uri="{FF2B5EF4-FFF2-40B4-BE49-F238E27FC236}">
                <a16:creationId xmlns:a16="http://schemas.microsoft.com/office/drawing/2014/main" id="{6C587981-F490-7362-E537-E10FC7AB8F13}"/>
              </a:ext>
            </a:extLst>
          </p:cNvPr>
          <p:cNvSpPr/>
          <p:nvPr/>
        </p:nvSpPr>
        <p:spPr>
          <a:xfrm>
            <a:off x="5401059" y="5881910"/>
            <a:ext cx="2217300" cy="694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Proxy Hedging i.e., multiple (H) parents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Google Shape;185;p23">
            <a:extLst>
              <a:ext uri="{FF2B5EF4-FFF2-40B4-BE49-F238E27FC236}">
                <a16:creationId xmlns:a16="http://schemas.microsoft.com/office/drawing/2014/main" id="{9F075C3E-EA61-EA47-2471-197DF8224312}"/>
              </a:ext>
            </a:extLst>
          </p:cNvPr>
          <p:cNvSpPr/>
          <p:nvPr/>
        </p:nvSpPr>
        <p:spPr>
          <a:xfrm>
            <a:off x="8325909" y="5881910"/>
            <a:ext cx="1938900" cy="6945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Two VMs per trader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Google Shape;186;p23">
            <a:extLst>
              <a:ext uri="{FF2B5EF4-FFF2-40B4-BE49-F238E27FC236}">
                <a16:creationId xmlns:a16="http://schemas.microsoft.com/office/drawing/2014/main" id="{5AC4286F-311C-8D8B-493B-2ACB60C802BB}"/>
              </a:ext>
            </a:extLst>
          </p:cNvPr>
          <p:cNvSpPr/>
          <p:nvPr/>
        </p:nvSpPr>
        <p:spPr>
          <a:xfrm>
            <a:off x="3257459" y="5068048"/>
            <a:ext cx="347100" cy="694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Google Shape;187;p23">
            <a:extLst>
              <a:ext uri="{FF2B5EF4-FFF2-40B4-BE49-F238E27FC236}">
                <a16:creationId xmlns:a16="http://schemas.microsoft.com/office/drawing/2014/main" id="{99B5CC1A-5BF9-734B-3BB4-E8101327904B}"/>
              </a:ext>
            </a:extLst>
          </p:cNvPr>
          <p:cNvSpPr/>
          <p:nvPr/>
        </p:nvSpPr>
        <p:spPr>
          <a:xfrm>
            <a:off x="6336159" y="5060848"/>
            <a:ext cx="347100" cy="694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Google Shape;188;p23">
            <a:extLst>
              <a:ext uri="{FF2B5EF4-FFF2-40B4-BE49-F238E27FC236}">
                <a16:creationId xmlns:a16="http://schemas.microsoft.com/office/drawing/2014/main" id="{37896C0E-B2DF-C2CB-AE6A-D532BDB5CD85}"/>
              </a:ext>
            </a:extLst>
          </p:cNvPr>
          <p:cNvSpPr/>
          <p:nvPr/>
        </p:nvSpPr>
        <p:spPr>
          <a:xfrm>
            <a:off x="9121809" y="5042960"/>
            <a:ext cx="347100" cy="6945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Google Shape;134;p21">
            <a:extLst>
              <a:ext uri="{FF2B5EF4-FFF2-40B4-BE49-F238E27FC236}">
                <a16:creationId xmlns:a16="http://schemas.microsoft.com/office/drawing/2014/main" id="{DCB12100-8747-1B96-64E7-861437116F2D}"/>
              </a:ext>
            </a:extLst>
          </p:cNvPr>
          <p:cNvSpPr/>
          <p:nvPr/>
        </p:nvSpPr>
        <p:spPr>
          <a:xfrm>
            <a:off x="9081909" y="1590941"/>
            <a:ext cx="18087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Google Shape;135;p21">
            <a:extLst>
              <a:ext uri="{FF2B5EF4-FFF2-40B4-BE49-F238E27FC236}">
                <a16:creationId xmlns:a16="http://schemas.microsoft.com/office/drawing/2014/main" id="{58CAB01F-1FCB-DA89-5462-198A3650CCFC}"/>
              </a:ext>
            </a:extLst>
          </p:cNvPr>
          <p:cNvSpPr/>
          <p:nvPr/>
        </p:nvSpPr>
        <p:spPr>
          <a:xfrm>
            <a:off x="8510909" y="2309741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Google Shape;136;p21">
            <a:extLst>
              <a:ext uri="{FF2B5EF4-FFF2-40B4-BE49-F238E27FC236}">
                <a16:creationId xmlns:a16="http://schemas.microsoft.com/office/drawing/2014/main" id="{E9BA45CE-3836-6696-27BE-212EBF909CA0}"/>
              </a:ext>
            </a:extLst>
          </p:cNvPr>
          <p:cNvSpPr/>
          <p:nvPr/>
        </p:nvSpPr>
        <p:spPr>
          <a:xfrm>
            <a:off x="7867034" y="2881716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Google Shape;137;p21">
            <a:extLst>
              <a:ext uri="{FF2B5EF4-FFF2-40B4-BE49-F238E27FC236}">
                <a16:creationId xmlns:a16="http://schemas.microsoft.com/office/drawing/2014/main" id="{B6D3EE74-675F-CFC8-7829-302B7F23115D}"/>
              </a:ext>
            </a:extLst>
          </p:cNvPr>
          <p:cNvSpPr/>
          <p:nvPr/>
        </p:nvSpPr>
        <p:spPr>
          <a:xfrm>
            <a:off x="8835247" y="2881716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Google Shape;138;p21">
            <a:extLst>
              <a:ext uri="{FF2B5EF4-FFF2-40B4-BE49-F238E27FC236}">
                <a16:creationId xmlns:a16="http://schemas.microsoft.com/office/drawing/2014/main" id="{6631456B-913D-AF12-0FEA-E4151A6612EF}"/>
              </a:ext>
            </a:extLst>
          </p:cNvPr>
          <p:cNvSpPr/>
          <p:nvPr/>
        </p:nvSpPr>
        <p:spPr>
          <a:xfrm>
            <a:off x="7592509" y="3584416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Google Shape;139;p21">
            <a:extLst>
              <a:ext uri="{FF2B5EF4-FFF2-40B4-BE49-F238E27FC236}">
                <a16:creationId xmlns:a16="http://schemas.microsoft.com/office/drawing/2014/main" id="{25E145B2-A97A-1E78-376B-2BD1E6A6C962}"/>
              </a:ext>
            </a:extLst>
          </p:cNvPr>
          <p:cNvSpPr/>
          <p:nvPr/>
        </p:nvSpPr>
        <p:spPr>
          <a:xfrm>
            <a:off x="8046284" y="3584416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Google Shape;140;p21">
            <a:extLst>
              <a:ext uri="{FF2B5EF4-FFF2-40B4-BE49-F238E27FC236}">
                <a16:creationId xmlns:a16="http://schemas.microsoft.com/office/drawing/2014/main" id="{42ABB694-5BA8-9E21-7F20-B50E75C8DC6C}"/>
              </a:ext>
            </a:extLst>
          </p:cNvPr>
          <p:cNvSpPr/>
          <p:nvPr/>
        </p:nvSpPr>
        <p:spPr>
          <a:xfrm>
            <a:off x="8538722" y="3546691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Google Shape;141;p21">
            <a:extLst>
              <a:ext uri="{FF2B5EF4-FFF2-40B4-BE49-F238E27FC236}">
                <a16:creationId xmlns:a16="http://schemas.microsoft.com/office/drawing/2014/main" id="{57EE35BD-C87D-B477-73FB-CDC71BDF0040}"/>
              </a:ext>
            </a:extLst>
          </p:cNvPr>
          <p:cNvSpPr/>
          <p:nvPr/>
        </p:nvSpPr>
        <p:spPr>
          <a:xfrm>
            <a:off x="9100559" y="3546691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1" name="Google Shape;142;p21">
            <a:extLst>
              <a:ext uri="{FF2B5EF4-FFF2-40B4-BE49-F238E27FC236}">
                <a16:creationId xmlns:a16="http://schemas.microsoft.com/office/drawing/2014/main" id="{ED7A9BEB-A655-8ACF-F98D-32A53125133B}"/>
              </a:ext>
            </a:extLst>
          </p:cNvPr>
          <p:cNvCxnSpPr>
            <a:cxnSpLocks/>
            <a:endCxn id="44" idx="6"/>
          </p:cNvCxnSpPr>
          <p:nvPr/>
        </p:nvCxnSpPr>
        <p:spPr>
          <a:xfrm flipH="1">
            <a:off x="8858309" y="1977041"/>
            <a:ext cx="831900" cy="52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2" name="Google Shape;143;p21">
            <a:extLst>
              <a:ext uri="{FF2B5EF4-FFF2-40B4-BE49-F238E27FC236}">
                <a16:creationId xmlns:a16="http://schemas.microsoft.com/office/drawing/2014/main" id="{69BC9D6A-8E52-C3F0-A470-6F9E57577297}"/>
              </a:ext>
            </a:extLst>
          </p:cNvPr>
          <p:cNvCxnSpPr>
            <a:cxnSpLocks/>
            <a:stCxn id="44" idx="4"/>
            <a:endCxn id="45" idx="6"/>
          </p:cNvCxnSpPr>
          <p:nvPr/>
        </p:nvCxnSpPr>
        <p:spPr>
          <a:xfrm flipH="1">
            <a:off x="8214509" y="2693141"/>
            <a:ext cx="470100" cy="38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" name="Google Shape;144;p21">
            <a:extLst>
              <a:ext uri="{FF2B5EF4-FFF2-40B4-BE49-F238E27FC236}">
                <a16:creationId xmlns:a16="http://schemas.microsoft.com/office/drawing/2014/main" id="{580E61F3-8AAF-E70D-5758-48E4189565A0}"/>
              </a:ext>
            </a:extLst>
          </p:cNvPr>
          <p:cNvCxnSpPr>
            <a:cxnSpLocks/>
            <a:stCxn id="44" idx="4"/>
            <a:endCxn id="46" idx="2"/>
          </p:cNvCxnSpPr>
          <p:nvPr/>
        </p:nvCxnSpPr>
        <p:spPr>
          <a:xfrm>
            <a:off x="8684609" y="2693141"/>
            <a:ext cx="150600" cy="380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" name="Google Shape;145;p21">
            <a:extLst>
              <a:ext uri="{FF2B5EF4-FFF2-40B4-BE49-F238E27FC236}">
                <a16:creationId xmlns:a16="http://schemas.microsoft.com/office/drawing/2014/main" id="{AC12AFDA-9BDA-EA46-DB18-920CD12CC042}"/>
              </a:ext>
            </a:extLst>
          </p:cNvPr>
          <p:cNvCxnSpPr>
            <a:cxnSpLocks/>
            <a:stCxn id="45" idx="4"/>
            <a:endCxn id="47" idx="7"/>
          </p:cNvCxnSpPr>
          <p:nvPr/>
        </p:nvCxnSpPr>
        <p:spPr>
          <a:xfrm flipH="1">
            <a:off x="7888934" y="3265116"/>
            <a:ext cx="151800" cy="37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" name="Google Shape;146;p21">
            <a:extLst>
              <a:ext uri="{FF2B5EF4-FFF2-40B4-BE49-F238E27FC236}">
                <a16:creationId xmlns:a16="http://schemas.microsoft.com/office/drawing/2014/main" id="{CA8746E6-4DAF-0F29-CB01-041509C637F4}"/>
              </a:ext>
            </a:extLst>
          </p:cNvPr>
          <p:cNvCxnSpPr>
            <a:cxnSpLocks/>
            <a:stCxn id="45" idx="4"/>
            <a:endCxn id="48" idx="1"/>
          </p:cNvCxnSpPr>
          <p:nvPr/>
        </p:nvCxnSpPr>
        <p:spPr>
          <a:xfrm>
            <a:off x="8040734" y="3265116"/>
            <a:ext cx="56400" cy="37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" name="Google Shape;147;p21">
            <a:extLst>
              <a:ext uri="{FF2B5EF4-FFF2-40B4-BE49-F238E27FC236}">
                <a16:creationId xmlns:a16="http://schemas.microsoft.com/office/drawing/2014/main" id="{0BBBC456-8D24-C16B-905B-F205FA6CAAF1}"/>
              </a:ext>
            </a:extLst>
          </p:cNvPr>
          <p:cNvCxnSpPr>
            <a:cxnSpLocks/>
            <a:stCxn id="46" idx="4"/>
            <a:endCxn id="49" idx="7"/>
          </p:cNvCxnSpPr>
          <p:nvPr/>
        </p:nvCxnSpPr>
        <p:spPr>
          <a:xfrm flipH="1">
            <a:off x="8835247" y="3265116"/>
            <a:ext cx="173700" cy="33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" name="Google Shape;148;p21">
            <a:extLst>
              <a:ext uri="{FF2B5EF4-FFF2-40B4-BE49-F238E27FC236}">
                <a16:creationId xmlns:a16="http://schemas.microsoft.com/office/drawing/2014/main" id="{F5F0F405-AD45-1E22-28F1-CEBFE43B4AB6}"/>
              </a:ext>
            </a:extLst>
          </p:cNvPr>
          <p:cNvCxnSpPr>
            <a:cxnSpLocks/>
            <a:stCxn id="46" idx="4"/>
            <a:endCxn id="50" idx="1"/>
          </p:cNvCxnSpPr>
          <p:nvPr/>
        </p:nvCxnSpPr>
        <p:spPr>
          <a:xfrm>
            <a:off x="9008947" y="3265116"/>
            <a:ext cx="142500" cy="337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" name="Google Shape;149;p21">
            <a:extLst>
              <a:ext uri="{FF2B5EF4-FFF2-40B4-BE49-F238E27FC236}">
                <a16:creationId xmlns:a16="http://schemas.microsoft.com/office/drawing/2014/main" id="{EF6A4ADA-7CC4-74BA-A3B8-97CA1D9A98C5}"/>
              </a:ext>
            </a:extLst>
          </p:cNvPr>
          <p:cNvSpPr/>
          <p:nvPr/>
        </p:nvSpPr>
        <p:spPr>
          <a:xfrm>
            <a:off x="10543209" y="2295904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Google Shape;150;p21">
            <a:extLst>
              <a:ext uri="{FF2B5EF4-FFF2-40B4-BE49-F238E27FC236}">
                <a16:creationId xmlns:a16="http://schemas.microsoft.com/office/drawing/2014/main" id="{66592568-CCDD-AAA0-FC1D-705006113084}"/>
              </a:ext>
            </a:extLst>
          </p:cNvPr>
          <p:cNvSpPr/>
          <p:nvPr/>
        </p:nvSpPr>
        <p:spPr>
          <a:xfrm>
            <a:off x="10097947" y="2802191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Google Shape;151;p21">
            <a:extLst>
              <a:ext uri="{FF2B5EF4-FFF2-40B4-BE49-F238E27FC236}">
                <a16:creationId xmlns:a16="http://schemas.microsoft.com/office/drawing/2014/main" id="{2630C611-81B1-2D47-91D6-113B36A41465}"/>
              </a:ext>
            </a:extLst>
          </p:cNvPr>
          <p:cNvSpPr/>
          <p:nvPr/>
        </p:nvSpPr>
        <p:spPr>
          <a:xfrm>
            <a:off x="11063959" y="2766016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Google Shape;152;p21">
            <a:extLst>
              <a:ext uri="{FF2B5EF4-FFF2-40B4-BE49-F238E27FC236}">
                <a16:creationId xmlns:a16="http://schemas.microsoft.com/office/drawing/2014/main" id="{17F59E18-E833-486B-0A62-22320C89C97B}"/>
              </a:ext>
            </a:extLst>
          </p:cNvPr>
          <p:cNvSpPr/>
          <p:nvPr/>
        </p:nvSpPr>
        <p:spPr>
          <a:xfrm>
            <a:off x="9813597" y="3519041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Google Shape;153;p21">
            <a:extLst>
              <a:ext uri="{FF2B5EF4-FFF2-40B4-BE49-F238E27FC236}">
                <a16:creationId xmlns:a16="http://schemas.microsoft.com/office/drawing/2014/main" id="{8D63C066-733D-4080-F282-6EA0D061F72C}"/>
              </a:ext>
            </a:extLst>
          </p:cNvPr>
          <p:cNvSpPr/>
          <p:nvPr/>
        </p:nvSpPr>
        <p:spPr>
          <a:xfrm>
            <a:off x="10307222" y="3519041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Google Shape;154;p21">
            <a:extLst>
              <a:ext uri="{FF2B5EF4-FFF2-40B4-BE49-F238E27FC236}">
                <a16:creationId xmlns:a16="http://schemas.microsoft.com/office/drawing/2014/main" id="{9995C78E-4A13-216B-07A2-099AF52189C5}"/>
              </a:ext>
            </a:extLst>
          </p:cNvPr>
          <p:cNvSpPr/>
          <p:nvPr/>
        </p:nvSpPr>
        <p:spPr>
          <a:xfrm>
            <a:off x="10834509" y="3481316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Google Shape;155;p21">
            <a:extLst>
              <a:ext uri="{FF2B5EF4-FFF2-40B4-BE49-F238E27FC236}">
                <a16:creationId xmlns:a16="http://schemas.microsoft.com/office/drawing/2014/main" id="{D419A113-6FDF-8056-689B-B99BCD369E17}"/>
              </a:ext>
            </a:extLst>
          </p:cNvPr>
          <p:cNvSpPr/>
          <p:nvPr/>
        </p:nvSpPr>
        <p:spPr>
          <a:xfrm>
            <a:off x="11366197" y="3481316"/>
            <a:ext cx="347400" cy="383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5" name="Google Shape;156;p21">
            <a:extLst>
              <a:ext uri="{FF2B5EF4-FFF2-40B4-BE49-F238E27FC236}">
                <a16:creationId xmlns:a16="http://schemas.microsoft.com/office/drawing/2014/main" id="{049EC873-3CCC-3B72-6622-A3FEBB8DC40C}"/>
              </a:ext>
            </a:extLst>
          </p:cNvPr>
          <p:cNvCxnSpPr>
            <a:cxnSpLocks/>
            <a:stCxn id="58" idx="4"/>
            <a:endCxn id="59" idx="6"/>
          </p:cNvCxnSpPr>
          <p:nvPr/>
        </p:nvCxnSpPr>
        <p:spPr>
          <a:xfrm flipH="1">
            <a:off x="10445409" y="2679304"/>
            <a:ext cx="271500" cy="31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" name="Google Shape;157;p21">
            <a:extLst>
              <a:ext uri="{FF2B5EF4-FFF2-40B4-BE49-F238E27FC236}">
                <a16:creationId xmlns:a16="http://schemas.microsoft.com/office/drawing/2014/main" id="{C520F7C7-48C9-689A-8F29-B1DF4A1C0F44}"/>
              </a:ext>
            </a:extLst>
          </p:cNvPr>
          <p:cNvCxnSpPr>
            <a:cxnSpLocks/>
            <a:stCxn id="58" idx="4"/>
            <a:endCxn id="60" idx="2"/>
          </p:cNvCxnSpPr>
          <p:nvPr/>
        </p:nvCxnSpPr>
        <p:spPr>
          <a:xfrm>
            <a:off x="10716909" y="2679304"/>
            <a:ext cx="347100" cy="278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" name="Google Shape;158;p21">
            <a:extLst>
              <a:ext uri="{FF2B5EF4-FFF2-40B4-BE49-F238E27FC236}">
                <a16:creationId xmlns:a16="http://schemas.microsoft.com/office/drawing/2014/main" id="{9EDD3513-0D18-9464-BE3B-0A029FACBD93}"/>
              </a:ext>
            </a:extLst>
          </p:cNvPr>
          <p:cNvCxnSpPr>
            <a:cxnSpLocks/>
            <a:stCxn id="59" idx="4"/>
            <a:endCxn id="61" idx="7"/>
          </p:cNvCxnSpPr>
          <p:nvPr/>
        </p:nvCxnSpPr>
        <p:spPr>
          <a:xfrm flipH="1">
            <a:off x="10110247" y="3185591"/>
            <a:ext cx="161400" cy="3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159;p21">
            <a:extLst>
              <a:ext uri="{FF2B5EF4-FFF2-40B4-BE49-F238E27FC236}">
                <a16:creationId xmlns:a16="http://schemas.microsoft.com/office/drawing/2014/main" id="{35960AB3-3677-4B61-1AB1-2CF1C84585A9}"/>
              </a:ext>
            </a:extLst>
          </p:cNvPr>
          <p:cNvCxnSpPr>
            <a:cxnSpLocks/>
            <a:stCxn id="59" idx="4"/>
            <a:endCxn id="62" idx="1"/>
          </p:cNvCxnSpPr>
          <p:nvPr/>
        </p:nvCxnSpPr>
        <p:spPr>
          <a:xfrm>
            <a:off x="10271647" y="3185591"/>
            <a:ext cx="86400" cy="38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" name="Google Shape;160;p21">
            <a:extLst>
              <a:ext uri="{FF2B5EF4-FFF2-40B4-BE49-F238E27FC236}">
                <a16:creationId xmlns:a16="http://schemas.microsoft.com/office/drawing/2014/main" id="{870C963C-CFAB-8D76-8E26-FFF83606C4FD}"/>
              </a:ext>
            </a:extLst>
          </p:cNvPr>
          <p:cNvCxnSpPr>
            <a:cxnSpLocks/>
            <a:stCxn id="60" idx="4"/>
            <a:endCxn id="63" idx="7"/>
          </p:cNvCxnSpPr>
          <p:nvPr/>
        </p:nvCxnSpPr>
        <p:spPr>
          <a:xfrm flipH="1">
            <a:off x="11131159" y="3149416"/>
            <a:ext cx="1065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" name="Google Shape;161;p21">
            <a:extLst>
              <a:ext uri="{FF2B5EF4-FFF2-40B4-BE49-F238E27FC236}">
                <a16:creationId xmlns:a16="http://schemas.microsoft.com/office/drawing/2014/main" id="{36B4175C-7DAE-1498-48D2-161432F258BE}"/>
              </a:ext>
            </a:extLst>
          </p:cNvPr>
          <p:cNvCxnSpPr>
            <a:cxnSpLocks/>
            <a:stCxn id="60" idx="4"/>
            <a:endCxn id="64" idx="1"/>
          </p:cNvCxnSpPr>
          <p:nvPr/>
        </p:nvCxnSpPr>
        <p:spPr>
          <a:xfrm>
            <a:off x="11237659" y="3149416"/>
            <a:ext cx="179400" cy="387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162;p21">
            <a:extLst>
              <a:ext uri="{FF2B5EF4-FFF2-40B4-BE49-F238E27FC236}">
                <a16:creationId xmlns:a16="http://schemas.microsoft.com/office/drawing/2014/main" id="{86A58E9F-CE9E-B6CE-FCED-9764CD76081F}"/>
              </a:ext>
            </a:extLst>
          </p:cNvPr>
          <p:cNvCxnSpPr>
            <a:cxnSpLocks/>
            <a:stCxn id="43" idx="4"/>
            <a:endCxn id="58" idx="2"/>
          </p:cNvCxnSpPr>
          <p:nvPr/>
        </p:nvCxnSpPr>
        <p:spPr>
          <a:xfrm>
            <a:off x="9986259" y="1974341"/>
            <a:ext cx="556950" cy="51326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B35EDEE3-4592-DBFF-B687-D06020CDD595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Outbound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Inbound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C203F508-D9F5-4C27-D56A-8BB61684DB1B}"/>
              </a:ext>
            </a:extLst>
          </p:cNvPr>
          <p:cNvSpPr txBox="1"/>
          <p:nvPr/>
        </p:nvSpPr>
        <p:spPr>
          <a:xfrm>
            <a:off x="2311240" y="1684793"/>
            <a:ext cx="180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Latency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C5691C2-52F0-07EA-4EA3-26228967183E}"/>
              </a:ext>
            </a:extLst>
          </p:cNvPr>
          <p:cNvSpPr txBox="1"/>
          <p:nvPr/>
        </p:nvSpPr>
        <p:spPr>
          <a:xfrm>
            <a:off x="4157514" y="1692144"/>
            <a:ext cx="180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Fairness</a:t>
            </a:r>
          </a:p>
        </p:txBody>
      </p:sp>
      <p:pic>
        <p:nvPicPr>
          <p:cNvPr id="79" name="Picture 7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3C87259-375F-1EBA-6A7E-BA4705C30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072" y="2107828"/>
            <a:ext cx="2335164" cy="5912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8E3E31-4E39-AE21-2FF6-B2C879E5C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301" y="438180"/>
            <a:ext cx="4880171" cy="3662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6292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3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 tmFilter="0, 0; .2, .5; .8, .5; 1, 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7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5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0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 tmFilter="0, 0; .2, .5; .8, .5; 1, 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3" dur="250" autoRev="1" fill="hold"/>
                                        <p:tgtEl>
                                          <p:spTgt spid="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9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 tmFilter="0, 0; .2, .5; .8, .5; 1, 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250" autoRev="1" fill="hold"/>
                                        <p:tgtEl>
                                          <p:spTgt spid="6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 tmFilter="0, 0; .2, .5; .8, .5; 1, 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5" dur="250" autoRev="1" fill="hold"/>
                                        <p:tgtEl>
                                          <p:spTgt spid="6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77" grpId="0"/>
      <p:bldP spid="78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92E603A3-06AA-7A41-9A17-003D81554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527A11-CA77-7506-C0DC-27A0A5766415}"/>
              </a:ext>
            </a:extLst>
          </p:cNvPr>
          <p:cNvSpPr txBox="1"/>
          <p:nvPr/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prstClr val="black"/>
              </a:buClr>
              <a:buSzPts val="4800"/>
              <a:buFontTx/>
              <a:buNone/>
              <a:tabLst/>
              <a:defRPr/>
            </a:pPr>
            <a:r>
              <a:rPr kumimoji="0" lang="en-US" sz="3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Scalable Inbound Fairness</a:t>
            </a:r>
          </a:p>
        </p:txBody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932F8CB4-7701-4CEA-AC21-DE49ACEEB208}"/>
              </a:ext>
            </a:extLst>
          </p:cNvPr>
          <p:cNvGraphicFramePr/>
          <p:nvPr/>
        </p:nvGraphicFramePr>
        <p:xfrm>
          <a:off x="415600" y="1547467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DBF461-35B4-5AB2-B202-97FAE0485A81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12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6D7E3CA6-DD34-3DF0-1BC3-9E1EF151E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0976B0-641A-24BF-42B9-B5A585809F5B}"/>
              </a:ext>
            </a:extLst>
          </p:cNvPr>
          <p:cNvSpPr txBox="1"/>
          <p:nvPr/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prstClr val="black"/>
              </a:buClr>
              <a:buSzPts val="4800"/>
              <a:buFontTx/>
              <a:buNone/>
              <a:tabLst/>
              <a:defRPr/>
            </a:pPr>
            <a:r>
              <a:rPr kumimoji="0" lang="en-US" sz="3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Scalable Inbound Fairness</a:t>
            </a:r>
          </a:p>
        </p:txBody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C1CCAE13-C613-B7F0-03B2-702407F8297B}"/>
              </a:ext>
            </a:extLst>
          </p:cNvPr>
          <p:cNvGraphicFramePr/>
          <p:nvPr/>
        </p:nvGraphicFramePr>
        <p:xfrm>
          <a:off x="415600" y="1547467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DE11A1-4100-48AB-9992-09EC6C666BC1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4843AA-8278-A979-71E2-A5EB550C3A48}"/>
              </a:ext>
            </a:extLst>
          </p:cNvPr>
          <p:cNvSpPr txBox="1"/>
          <p:nvPr/>
        </p:nvSpPr>
        <p:spPr>
          <a:xfrm>
            <a:off x="2490951" y="5310533"/>
            <a:ext cx="1324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62350-34A3-3E74-A6BF-4C9961BADA1F}"/>
              </a:ext>
            </a:extLst>
          </p:cNvPr>
          <p:cNvSpPr txBox="1"/>
          <p:nvPr/>
        </p:nvSpPr>
        <p:spPr>
          <a:xfrm>
            <a:off x="9038897" y="5319332"/>
            <a:ext cx="1324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</p:spTree>
    <p:extLst>
      <p:ext uri="{BB962C8B-B14F-4D97-AF65-F5344CB8AC3E}">
        <p14:creationId xmlns:p14="http://schemas.microsoft.com/office/powerpoint/2010/main" val="853891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548A924-8852-2996-2135-C27F782DF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82C4A3-C6B3-D000-513A-88FAA7477030}"/>
              </a:ext>
            </a:extLst>
          </p:cNvPr>
          <p:cNvSpPr txBox="1"/>
          <p:nvPr/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rtlCol="0" anchor="ctr" anchorCtr="0">
            <a:norm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prstClr val="black"/>
              </a:buClr>
              <a:buSzPts val="4800"/>
              <a:buFontTx/>
              <a:buNone/>
              <a:tabLst/>
              <a:defRPr/>
            </a:pPr>
            <a:r>
              <a:rPr kumimoji="0" lang="en-US" sz="35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Scalable Inbound Fairness</a:t>
            </a:r>
          </a:p>
        </p:txBody>
      </p:sp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3062C248-7535-FDD4-8695-8D91A7E8BBD3}"/>
              </a:ext>
            </a:extLst>
          </p:cNvPr>
          <p:cNvGraphicFramePr/>
          <p:nvPr/>
        </p:nvGraphicFramePr>
        <p:xfrm>
          <a:off x="415600" y="1547467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232B7F-5CF1-7A5B-773A-0B7F905B05D5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D1CF28C-6EEC-D2D5-F09A-76618BE15AD5}"/>
              </a:ext>
            </a:extLst>
          </p:cNvPr>
          <p:cNvSpPr txBox="1"/>
          <p:nvPr/>
        </p:nvSpPr>
        <p:spPr>
          <a:xfrm>
            <a:off x="9412012" y="6546410"/>
            <a:ext cx="1324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44D84-CF1C-6A96-B8A4-EB8821C1496B}"/>
              </a:ext>
            </a:extLst>
          </p:cNvPr>
          <p:cNvSpPr txBox="1"/>
          <p:nvPr/>
        </p:nvSpPr>
        <p:spPr>
          <a:xfrm>
            <a:off x="10933386" y="6553704"/>
            <a:ext cx="1324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</p:spTree>
    <p:extLst>
      <p:ext uri="{BB962C8B-B14F-4D97-AF65-F5344CB8AC3E}">
        <p14:creationId xmlns:p14="http://schemas.microsoft.com/office/powerpoint/2010/main" val="343591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190CA020-B942-1D1D-1CF8-83C7EF8AD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BB2B92B8-E904-AC2A-54EE-D9BFA1E8D02E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Graphic 1" descr="Server with solid fill">
            <a:extLst>
              <a:ext uri="{FF2B5EF4-FFF2-40B4-BE49-F238E27FC236}">
                <a16:creationId xmlns:a16="http://schemas.microsoft.com/office/drawing/2014/main" id="{49C358E6-EDB7-99E1-40B4-1CC09F2F4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2480" y="1084937"/>
            <a:ext cx="1219200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4CD92-C90E-1B5C-AA92-077BAD4613CF}"/>
              </a:ext>
            </a:extLst>
          </p:cNvPr>
          <p:cNvSpPr txBox="1"/>
          <p:nvPr/>
        </p:nvSpPr>
        <p:spPr>
          <a:xfrm>
            <a:off x="9487593" y="1317631"/>
            <a:ext cx="1817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E047F8BE-55A7-1058-82B5-63C06B963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86604" y="4720117"/>
            <a:ext cx="1052945" cy="105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590DB5B-A69E-883F-CFAF-CB5B6E14240F}"/>
              </a:ext>
            </a:extLst>
          </p:cNvPr>
          <p:cNvSpPr txBox="1"/>
          <p:nvPr/>
        </p:nvSpPr>
        <p:spPr>
          <a:xfrm>
            <a:off x="8412481" y="5872893"/>
            <a:ext cx="1794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Participants</a:t>
            </a:r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564D0236-01DF-883E-0163-E9E382985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68276" y="4720117"/>
            <a:ext cx="1052945" cy="1052945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12FBDE2C-933F-2C22-8FAC-7A3F81361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7440" y="4720118"/>
            <a:ext cx="1052945" cy="105294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A19AA89-51B8-06B9-1591-06205CF77F42}"/>
              </a:ext>
            </a:extLst>
          </p:cNvPr>
          <p:cNvCxnSpPr>
            <a:cxnSpLocks/>
          </p:cNvCxnSpPr>
          <p:nvPr/>
        </p:nvCxnSpPr>
        <p:spPr>
          <a:xfrm flipV="1">
            <a:off x="8094747" y="2712887"/>
            <a:ext cx="755743" cy="200756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2BAE11-5267-32A1-6677-9D1C8DD40845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9053690" y="2712887"/>
            <a:ext cx="200223" cy="20072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2674F9D-2413-AB84-5575-DE515AEBD6CE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9253913" y="2712887"/>
            <a:ext cx="1159164" cy="20072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385;p33">
            <a:extLst>
              <a:ext uri="{FF2B5EF4-FFF2-40B4-BE49-F238E27FC236}">
                <a16:creationId xmlns:a16="http://schemas.microsoft.com/office/drawing/2014/main" id="{B75B6FEB-5A5F-38F8-F9C2-9C11BDCE39A3}"/>
              </a:ext>
            </a:extLst>
          </p:cNvPr>
          <p:cNvSpPr txBox="1">
            <a:spLocks/>
          </p:cNvSpPr>
          <p:nvPr/>
        </p:nvSpPr>
        <p:spPr>
          <a:xfrm>
            <a:off x="645605" y="1528477"/>
            <a:ext cx="6970363" cy="4549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-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Guarantees that orders are seen by the exchange in non-decreasing order of their (generation) timestamps</a:t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-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Assumes clock synchronization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-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Char char="-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Strawman: Wait a fixed delay before releasing time-ordered messages to Exchange Server</a:t>
            </a:r>
          </a:p>
        </p:txBody>
      </p:sp>
      <p:sp>
        <p:nvSpPr>
          <p:cNvPr id="17" name="Can 16">
            <a:extLst>
              <a:ext uri="{FF2B5EF4-FFF2-40B4-BE49-F238E27FC236}">
                <a16:creationId xmlns:a16="http://schemas.microsoft.com/office/drawing/2014/main" id="{070A3A16-69B6-CA69-75BB-01CE0BD38FAF}"/>
              </a:ext>
            </a:extLst>
          </p:cNvPr>
          <p:cNvSpPr/>
          <p:nvPr/>
        </p:nvSpPr>
        <p:spPr>
          <a:xfrm rot="5400000">
            <a:off x="12905084" y="1708677"/>
            <a:ext cx="510231" cy="13901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0FE933-1371-61B9-9F0B-F067AE2BE297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C95BC50-5D8C-3C44-D8DC-D6AFF68AFFDD}"/>
              </a:ext>
            </a:extLst>
          </p:cNvPr>
          <p:cNvSpPr txBox="1"/>
          <p:nvPr/>
        </p:nvSpPr>
        <p:spPr>
          <a:xfrm>
            <a:off x="1530079" y="4937575"/>
            <a:ext cx="180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Latency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DDFBFB-BA9D-A65B-7915-D258027486F1}"/>
              </a:ext>
            </a:extLst>
          </p:cNvPr>
          <p:cNvSpPr txBox="1"/>
          <p:nvPr/>
        </p:nvSpPr>
        <p:spPr>
          <a:xfrm>
            <a:off x="3376353" y="4944926"/>
            <a:ext cx="1808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Fairness</a:t>
            </a:r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7073347-D37F-5787-B7CD-1BC3F862A4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95911" y="5360610"/>
            <a:ext cx="2335164" cy="59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64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2 -0.0243 L -0.33685 -0.00486 " pathEditMode="relative" rAng="0" ptsTypes="AA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53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uiExpand="1" build="p"/>
      <p:bldP spid="17" grpId="0" animBg="1"/>
      <p:bldP spid="6" grpId="0"/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9255E82D-D41E-7515-DA77-6D34EB603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27859A98-AF2F-F320-5C31-811AD416CDE7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Graphic 1" descr="Server with solid fill">
            <a:extLst>
              <a:ext uri="{FF2B5EF4-FFF2-40B4-BE49-F238E27FC236}">
                <a16:creationId xmlns:a16="http://schemas.microsoft.com/office/drawing/2014/main" id="{CC6771BB-1616-A77C-CD16-6AA85FDB9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1336318"/>
            <a:ext cx="1219200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84D9D4-647B-02F5-EB10-B72EA33E84AC}"/>
              </a:ext>
            </a:extLst>
          </p:cNvPr>
          <p:cNvSpPr txBox="1"/>
          <p:nvPr/>
        </p:nvSpPr>
        <p:spPr>
          <a:xfrm>
            <a:off x="5951913" y="1569012"/>
            <a:ext cx="1817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65C091AE-9ACD-A298-9F1C-8DEA2556D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3368" y="4635916"/>
            <a:ext cx="1052945" cy="105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0157FA-EB98-59C9-5DCF-182EC3416BE7}"/>
              </a:ext>
            </a:extLst>
          </p:cNvPr>
          <p:cNvSpPr txBox="1"/>
          <p:nvPr/>
        </p:nvSpPr>
        <p:spPr>
          <a:xfrm>
            <a:off x="7482532" y="4931555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Clients/Participants</a:t>
            </a:r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5A65F2AF-DC60-51E7-B507-7CE3D582DA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5040" y="4635916"/>
            <a:ext cx="1052945" cy="1052945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A88AB1B7-557B-5B3D-ACEB-DF79C7D9B7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4204" y="4635917"/>
            <a:ext cx="1052945" cy="1052945"/>
          </a:xfrm>
          <a:prstGeom prst="rect">
            <a:avLst/>
          </a:prstGeom>
        </p:spPr>
      </p:pic>
      <p:sp>
        <p:nvSpPr>
          <p:cNvPr id="17" name="Can 16">
            <a:extLst>
              <a:ext uri="{FF2B5EF4-FFF2-40B4-BE49-F238E27FC236}">
                <a16:creationId xmlns:a16="http://schemas.microsoft.com/office/drawing/2014/main" id="{772281F7-FA5A-3F2D-29E4-0792F5AF4FDB}"/>
              </a:ext>
            </a:extLst>
          </p:cNvPr>
          <p:cNvSpPr/>
          <p:nvPr/>
        </p:nvSpPr>
        <p:spPr>
          <a:xfrm rot="5400000">
            <a:off x="5373186" y="2733933"/>
            <a:ext cx="510231" cy="13901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1C2494-3453-6E3F-A479-28D209936C9C}"/>
              </a:ext>
            </a:extLst>
          </p:cNvPr>
          <p:cNvSpPr txBox="1"/>
          <p:nvPr/>
        </p:nvSpPr>
        <p:spPr>
          <a:xfrm>
            <a:off x="158302" y="1973555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 attach message generation timestamps to outgoing messages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5F3421D-39EF-231C-325C-46935A93924B}"/>
              </a:ext>
            </a:extLst>
          </p:cNvPr>
          <p:cNvGrpSpPr/>
          <p:nvPr/>
        </p:nvGrpSpPr>
        <p:grpSpPr>
          <a:xfrm>
            <a:off x="5313966" y="5521682"/>
            <a:ext cx="753419" cy="753419"/>
            <a:chOff x="5313966" y="5521682"/>
            <a:chExt cx="753419" cy="753419"/>
          </a:xfrm>
        </p:grpSpPr>
        <p:pic>
          <p:nvPicPr>
            <p:cNvPr id="16" name="Graphic 15" descr="Envelope outline">
              <a:extLst>
                <a:ext uri="{FF2B5EF4-FFF2-40B4-BE49-F238E27FC236}">
                  <a16:creationId xmlns:a16="http://schemas.microsoft.com/office/drawing/2014/main" id="{BF0F200E-E9E1-F5D0-7C88-CAC6E9440B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271B35D-4948-8F4E-2EDD-AD139796845B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5FA1431-0CF7-D278-BFB7-AF6068D07F32}"/>
              </a:ext>
            </a:extLst>
          </p:cNvPr>
          <p:cNvGrpSpPr/>
          <p:nvPr/>
        </p:nvGrpSpPr>
        <p:grpSpPr>
          <a:xfrm>
            <a:off x="4123381" y="5521682"/>
            <a:ext cx="753419" cy="753419"/>
            <a:chOff x="4123381" y="5521682"/>
            <a:chExt cx="753419" cy="753419"/>
          </a:xfrm>
        </p:grpSpPr>
        <p:pic>
          <p:nvPicPr>
            <p:cNvPr id="11" name="Graphic 10" descr="Envelope outline">
              <a:extLst>
                <a:ext uri="{FF2B5EF4-FFF2-40B4-BE49-F238E27FC236}">
                  <a16:creationId xmlns:a16="http://schemas.microsoft.com/office/drawing/2014/main" id="{2E39D2E7-D249-F938-764F-1DD8EE4D87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23381" y="5521682"/>
              <a:ext cx="753419" cy="75341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7ADA8CC-8053-8FF2-D4C7-D87A6E77B951}"/>
                </a:ext>
              </a:extLst>
            </p:cNvPr>
            <p:cNvSpPr txBox="1"/>
            <p:nvPr/>
          </p:nvSpPr>
          <p:spPr>
            <a:xfrm>
              <a:off x="4319427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1A6B9C-FDA9-D925-BB28-2785731C19C1}"/>
              </a:ext>
            </a:extLst>
          </p:cNvPr>
          <p:cNvGrpSpPr/>
          <p:nvPr/>
        </p:nvGrpSpPr>
        <p:grpSpPr>
          <a:xfrm>
            <a:off x="6473130" y="5544846"/>
            <a:ext cx="753419" cy="753419"/>
            <a:chOff x="6473130" y="5544846"/>
            <a:chExt cx="753419" cy="753419"/>
          </a:xfrm>
        </p:grpSpPr>
        <p:pic>
          <p:nvPicPr>
            <p:cNvPr id="18" name="Graphic 17" descr="Envelope outline">
              <a:extLst>
                <a:ext uri="{FF2B5EF4-FFF2-40B4-BE49-F238E27FC236}">
                  <a16:creationId xmlns:a16="http://schemas.microsoft.com/office/drawing/2014/main" id="{C29C8ABC-7AFB-B825-9DE8-D4EC0C857E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73130" y="5544846"/>
              <a:ext cx="753419" cy="75341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3160317-FD43-EE10-7814-E5D0311DB50F}"/>
                </a:ext>
              </a:extLst>
            </p:cNvPr>
            <p:cNvSpPr txBox="1"/>
            <p:nvPr/>
          </p:nvSpPr>
          <p:spPr>
            <a:xfrm>
              <a:off x="6654315" y="568886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E8ED801-7611-4F1B-C8CF-E2BE4E44D813}"/>
              </a:ext>
            </a:extLst>
          </p:cNvPr>
          <p:cNvSpPr txBox="1"/>
          <p:nvPr/>
        </p:nvSpPr>
        <p:spPr>
          <a:xfrm>
            <a:off x="8420545" y="1973554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 waits for at least one message from each client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4BB60B-5169-82DA-E5B9-5181B8A13FF7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3F17924-9639-5170-A5FC-FEB891EAE7B1}"/>
              </a:ext>
            </a:extLst>
          </p:cNvPr>
          <p:cNvSpPr txBox="1"/>
          <p:nvPr/>
        </p:nvSpPr>
        <p:spPr>
          <a:xfrm>
            <a:off x="7769629" y="966986"/>
            <a:ext cx="405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use knowledge of MPs!</a:t>
            </a:r>
          </a:p>
        </p:txBody>
      </p:sp>
    </p:spTree>
    <p:extLst>
      <p:ext uri="{BB962C8B-B14F-4D97-AF65-F5344CB8AC3E}">
        <p14:creationId xmlns:p14="http://schemas.microsoft.com/office/powerpoint/2010/main" val="2868179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2" grpId="0"/>
      <p:bldP spid="1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4BE0239D-9714-FD8A-CA4B-344F6A2BA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9336495C-D774-BF7D-8A3B-5B7C54AAB7C3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Graphic 1" descr="Server with solid fill">
            <a:extLst>
              <a:ext uri="{FF2B5EF4-FFF2-40B4-BE49-F238E27FC236}">
                <a16:creationId xmlns:a16="http://schemas.microsoft.com/office/drawing/2014/main" id="{6E0E3EF1-5465-CDE5-83DC-B9336E01F4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1336318"/>
            <a:ext cx="1219200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E7B662-CE9D-B137-6AA8-60D6C2413F3B}"/>
              </a:ext>
            </a:extLst>
          </p:cNvPr>
          <p:cNvSpPr txBox="1"/>
          <p:nvPr/>
        </p:nvSpPr>
        <p:spPr>
          <a:xfrm>
            <a:off x="5951913" y="1569012"/>
            <a:ext cx="1817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9340D1C2-46D8-97FA-AD01-FBB70F3CC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3368" y="4635916"/>
            <a:ext cx="1052945" cy="105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42BDD2-A9F4-2FDB-4C8D-AF2EED14A9EE}"/>
              </a:ext>
            </a:extLst>
          </p:cNvPr>
          <p:cNvSpPr txBox="1"/>
          <p:nvPr/>
        </p:nvSpPr>
        <p:spPr>
          <a:xfrm>
            <a:off x="7482532" y="4931555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Clients/Participants</a:t>
            </a:r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C4FA8925-4087-3E40-C5FC-F5E9077C3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5040" y="4635916"/>
            <a:ext cx="1052945" cy="1052945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42BFDFC4-5187-BE3E-D5B3-D2B4CCDA5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4204" y="4635917"/>
            <a:ext cx="1052945" cy="1052945"/>
          </a:xfrm>
          <a:prstGeom prst="rect">
            <a:avLst/>
          </a:prstGeom>
        </p:spPr>
      </p:pic>
      <p:sp>
        <p:nvSpPr>
          <p:cNvPr id="17" name="Can 16">
            <a:extLst>
              <a:ext uri="{FF2B5EF4-FFF2-40B4-BE49-F238E27FC236}">
                <a16:creationId xmlns:a16="http://schemas.microsoft.com/office/drawing/2014/main" id="{E8B08C20-1FDE-0DAB-0FD8-3473A61D5118}"/>
              </a:ext>
            </a:extLst>
          </p:cNvPr>
          <p:cNvSpPr/>
          <p:nvPr/>
        </p:nvSpPr>
        <p:spPr>
          <a:xfrm rot="5400000">
            <a:off x="5373186" y="2733933"/>
            <a:ext cx="510231" cy="13901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DD77D2-97C4-683C-2CC8-801C0017E2F0}"/>
              </a:ext>
            </a:extLst>
          </p:cNvPr>
          <p:cNvSpPr txBox="1"/>
          <p:nvPr/>
        </p:nvSpPr>
        <p:spPr>
          <a:xfrm>
            <a:off x="158302" y="1973555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 attach message generation timestamps to outgoing messages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523A96A-321F-F537-E2AC-F718746A8F4A}"/>
              </a:ext>
            </a:extLst>
          </p:cNvPr>
          <p:cNvGrpSpPr/>
          <p:nvPr/>
        </p:nvGrpSpPr>
        <p:grpSpPr>
          <a:xfrm>
            <a:off x="5313966" y="5521682"/>
            <a:ext cx="753419" cy="753419"/>
            <a:chOff x="5313966" y="5521682"/>
            <a:chExt cx="753419" cy="753419"/>
          </a:xfrm>
        </p:grpSpPr>
        <p:pic>
          <p:nvPicPr>
            <p:cNvPr id="16" name="Graphic 15" descr="Envelope outline">
              <a:extLst>
                <a:ext uri="{FF2B5EF4-FFF2-40B4-BE49-F238E27FC236}">
                  <a16:creationId xmlns:a16="http://schemas.microsoft.com/office/drawing/2014/main" id="{CF6556F8-721C-FF0C-D692-60C65EBA40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CDA4ACC-3148-24A5-84B1-2309D3B48DFB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43C2677-3EAB-57E1-6269-40478A506D24}"/>
              </a:ext>
            </a:extLst>
          </p:cNvPr>
          <p:cNvGrpSpPr/>
          <p:nvPr/>
        </p:nvGrpSpPr>
        <p:grpSpPr>
          <a:xfrm>
            <a:off x="5719711" y="3549062"/>
            <a:ext cx="753419" cy="753419"/>
            <a:chOff x="4123381" y="5521682"/>
            <a:chExt cx="753419" cy="753419"/>
          </a:xfrm>
        </p:grpSpPr>
        <p:pic>
          <p:nvPicPr>
            <p:cNvPr id="11" name="Graphic 10" descr="Envelope outline">
              <a:extLst>
                <a:ext uri="{FF2B5EF4-FFF2-40B4-BE49-F238E27FC236}">
                  <a16:creationId xmlns:a16="http://schemas.microsoft.com/office/drawing/2014/main" id="{4A41C6CE-2AD6-42D6-D874-72290CE379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23381" y="5521682"/>
              <a:ext cx="753419" cy="75341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7FE3805-B85C-5CF7-DF91-F896AB987EC0}"/>
                </a:ext>
              </a:extLst>
            </p:cNvPr>
            <p:cNvSpPr txBox="1"/>
            <p:nvPr/>
          </p:nvSpPr>
          <p:spPr>
            <a:xfrm>
              <a:off x="4319427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30A8EB-3BF4-EFEF-C531-ED21D473B02C}"/>
              </a:ext>
            </a:extLst>
          </p:cNvPr>
          <p:cNvGrpSpPr/>
          <p:nvPr/>
        </p:nvGrpSpPr>
        <p:grpSpPr>
          <a:xfrm>
            <a:off x="6473130" y="5544846"/>
            <a:ext cx="753419" cy="753419"/>
            <a:chOff x="6473130" y="5544846"/>
            <a:chExt cx="753419" cy="753419"/>
          </a:xfrm>
        </p:grpSpPr>
        <p:pic>
          <p:nvPicPr>
            <p:cNvPr id="18" name="Graphic 17" descr="Envelope outline">
              <a:extLst>
                <a:ext uri="{FF2B5EF4-FFF2-40B4-BE49-F238E27FC236}">
                  <a16:creationId xmlns:a16="http://schemas.microsoft.com/office/drawing/2014/main" id="{F03544A3-1AB0-64CD-546D-BA79D5E6BB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73130" y="5544846"/>
              <a:ext cx="753419" cy="75341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E7CE68-40C4-AC5E-AA14-B7FFE18DA9CF}"/>
                </a:ext>
              </a:extLst>
            </p:cNvPr>
            <p:cNvSpPr txBox="1"/>
            <p:nvPr/>
          </p:nvSpPr>
          <p:spPr>
            <a:xfrm>
              <a:off x="6654315" y="568886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E0B8D22-A5CC-4D01-1A2A-D4377CA89B19}"/>
              </a:ext>
            </a:extLst>
          </p:cNvPr>
          <p:cNvSpPr txBox="1"/>
          <p:nvPr/>
        </p:nvSpPr>
        <p:spPr>
          <a:xfrm>
            <a:off x="8420545" y="1973554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 waits for at least one message from each client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2462E8-E092-E711-28CD-2FB1A607CDC5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0482652-E9D2-35E5-C1CE-3B227A5D7F5C}"/>
              </a:ext>
            </a:extLst>
          </p:cNvPr>
          <p:cNvSpPr txBox="1"/>
          <p:nvPr/>
        </p:nvSpPr>
        <p:spPr>
          <a:xfrm>
            <a:off x="7769629" y="966986"/>
            <a:ext cx="405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use knowledge of MPs!</a:t>
            </a:r>
          </a:p>
        </p:txBody>
      </p:sp>
    </p:spTree>
    <p:extLst>
      <p:ext uri="{BB962C8B-B14F-4D97-AF65-F5344CB8AC3E}">
        <p14:creationId xmlns:p14="http://schemas.microsoft.com/office/powerpoint/2010/main" val="2405390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6611CE59-4653-6276-ED50-021E6D56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618FD49E-7B08-BF54-BDE7-FD6BB06BEFD3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Graphic 1" descr="Server with solid fill">
            <a:extLst>
              <a:ext uri="{FF2B5EF4-FFF2-40B4-BE49-F238E27FC236}">
                <a16:creationId xmlns:a16="http://schemas.microsoft.com/office/drawing/2014/main" id="{C233181F-EE23-49FD-FED4-A1659E6C27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1336318"/>
            <a:ext cx="1219200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F09D81-2137-5692-6045-6DDD7961DD03}"/>
              </a:ext>
            </a:extLst>
          </p:cNvPr>
          <p:cNvSpPr txBox="1"/>
          <p:nvPr/>
        </p:nvSpPr>
        <p:spPr>
          <a:xfrm>
            <a:off x="5951913" y="1569012"/>
            <a:ext cx="1817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C39EF82C-06B8-63D9-6948-308C62944B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3368" y="4635916"/>
            <a:ext cx="1052945" cy="105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2E7BA2-D6DA-A2DC-6485-50963976DE55}"/>
              </a:ext>
            </a:extLst>
          </p:cNvPr>
          <p:cNvSpPr txBox="1"/>
          <p:nvPr/>
        </p:nvSpPr>
        <p:spPr>
          <a:xfrm>
            <a:off x="7482532" y="4931555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Clients/Participants</a:t>
            </a:r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B5EB7D4A-05F1-55EA-D345-F6CCE7FD89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5040" y="4635916"/>
            <a:ext cx="1052945" cy="1052945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899389C1-A323-8038-1A62-194E366EF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4204" y="4635917"/>
            <a:ext cx="1052945" cy="1052945"/>
          </a:xfrm>
          <a:prstGeom prst="rect">
            <a:avLst/>
          </a:prstGeom>
        </p:spPr>
      </p:pic>
      <p:sp>
        <p:nvSpPr>
          <p:cNvPr id="17" name="Can 16">
            <a:extLst>
              <a:ext uri="{FF2B5EF4-FFF2-40B4-BE49-F238E27FC236}">
                <a16:creationId xmlns:a16="http://schemas.microsoft.com/office/drawing/2014/main" id="{C8F8F040-092A-8918-2E3C-0E3193008058}"/>
              </a:ext>
            </a:extLst>
          </p:cNvPr>
          <p:cNvSpPr/>
          <p:nvPr/>
        </p:nvSpPr>
        <p:spPr>
          <a:xfrm rot="5400000">
            <a:off x="5373186" y="2733933"/>
            <a:ext cx="510231" cy="13901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3F68C-4839-2CB4-DB31-D33BD42C9B26}"/>
              </a:ext>
            </a:extLst>
          </p:cNvPr>
          <p:cNvSpPr txBox="1"/>
          <p:nvPr/>
        </p:nvSpPr>
        <p:spPr>
          <a:xfrm>
            <a:off x="158302" y="1973555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 attach message generation timestamps to outgoing messages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E050183-C4C3-557C-CAC8-95AE21F44762}"/>
              </a:ext>
            </a:extLst>
          </p:cNvPr>
          <p:cNvGrpSpPr/>
          <p:nvPr/>
        </p:nvGrpSpPr>
        <p:grpSpPr>
          <a:xfrm>
            <a:off x="6356425" y="3549060"/>
            <a:ext cx="753419" cy="753419"/>
            <a:chOff x="5313966" y="5521682"/>
            <a:chExt cx="753419" cy="753419"/>
          </a:xfrm>
        </p:grpSpPr>
        <p:pic>
          <p:nvPicPr>
            <p:cNvPr id="16" name="Graphic 15" descr="Envelope outline">
              <a:extLst>
                <a:ext uri="{FF2B5EF4-FFF2-40B4-BE49-F238E27FC236}">
                  <a16:creationId xmlns:a16="http://schemas.microsoft.com/office/drawing/2014/main" id="{79D5795A-5421-A618-A3A9-5DD3F392008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DB40E2-B054-8E95-2AD9-C4F1CCF0AD61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AC9A87A-FDC1-068E-F24A-51F052BD6057}"/>
              </a:ext>
            </a:extLst>
          </p:cNvPr>
          <p:cNvGrpSpPr/>
          <p:nvPr/>
        </p:nvGrpSpPr>
        <p:grpSpPr>
          <a:xfrm>
            <a:off x="5719711" y="3549062"/>
            <a:ext cx="753419" cy="753419"/>
            <a:chOff x="4123381" y="5521682"/>
            <a:chExt cx="753419" cy="753419"/>
          </a:xfrm>
        </p:grpSpPr>
        <p:pic>
          <p:nvPicPr>
            <p:cNvPr id="11" name="Graphic 10" descr="Envelope outline">
              <a:extLst>
                <a:ext uri="{FF2B5EF4-FFF2-40B4-BE49-F238E27FC236}">
                  <a16:creationId xmlns:a16="http://schemas.microsoft.com/office/drawing/2014/main" id="{071E582B-B079-D834-BD12-61227A3484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23381" y="5521682"/>
              <a:ext cx="753419" cy="75341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8747C4-59D4-D816-F436-7130427C55BE}"/>
                </a:ext>
              </a:extLst>
            </p:cNvPr>
            <p:cNvSpPr txBox="1"/>
            <p:nvPr/>
          </p:nvSpPr>
          <p:spPr>
            <a:xfrm>
              <a:off x="4319427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272AA6D-FFF4-67D9-AA46-E8C043B06B60}"/>
              </a:ext>
            </a:extLst>
          </p:cNvPr>
          <p:cNvGrpSpPr/>
          <p:nvPr/>
        </p:nvGrpSpPr>
        <p:grpSpPr>
          <a:xfrm>
            <a:off x="6473130" y="5544846"/>
            <a:ext cx="753419" cy="753419"/>
            <a:chOff x="6473130" y="5544846"/>
            <a:chExt cx="753419" cy="753419"/>
          </a:xfrm>
        </p:grpSpPr>
        <p:pic>
          <p:nvPicPr>
            <p:cNvPr id="18" name="Graphic 17" descr="Envelope outline">
              <a:extLst>
                <a:ext uri="{FF2B5EF4-FFF2-40B4-BE49-F238E27FC236}">
                  <a16:creationId xmlns:a16="http://schemas.microsoft.com/office/drawing/2014/main" id="{18772611-6DA3-01A1-E443-F3F0F826466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73130" y="5544846"/>
              <a:ext cx="753419" cy="75341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93423A2-C9DD-B0D8-0E89-0F212DA26849}"/>
                </a:ext>
              </a:extLst>
            </p:cNvPr>
            <p:cNvSpPr txBox="1"/>
            <p:nvPr/>
          </p:nvSpPr>
          <p:spPr>
            <a:xfrm>
              <a:off x="6654315" y="568886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6568E75-D2F3-28A8-AEB8-0350858C90D1}"/>
              </a:ext>
            </a:extLst>
          </p:cNvPr>
          <p:cNvSpPr txBox="1"/>
          <p:nvPr/>
        </p:nvSpPr>
        <p:spPr>
          <a:xfrm>
            <a:off x="8420545" y="1973554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 waits for at least one message from each client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374BB8-E0FD-BA6D-AD45-D6A45F11514F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918FBC3-C82D-FC0C-D9F1-1D45E8576592}"/>
              </a:ext>
            </a:extLst>
          </p:cNvPr>
          <p:cNvSpPr txBox="1"/>
          <p:nvPr/>
        </p:nvSpPr>
        <p:spPr>
          <a:xfrm>
            <a:off x="7769629" y="966986"/>
            <a:ext cx="405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use knowledge of MPs!</a:t>
            </a:r>
          </a:p>
        </p:txBody>
      </p:sp>
    </p:spTree>
    <p:extLst>
      <p:ext uri="{BB962C8B-B14F-4D97-AF65-F5344CB8AC3E}">
        <p14:creationId xmlns:p14="http://schemas.microsoft.com/office/powerpoint/2010/main" val="520860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C234167B-C12F-D3CF-BBBF-69E5293E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6A7B9822-C51D-3CF7-CFDA-A5694D8B3204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Graphic 1" descr="Server with solid fill">
            <a:extLst>
              <a:ext uri="{FF2B5EF4-FFF2-40B4-BE49-F238E27FC236}">
                <a16:creationId xmlns:a16="http://schemas.microsoft.com/office/drawing/2014/main" id="{5D771217-788E-1D6E-5586-D24A4F940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1336318"/>
            <a:ext cx="1219200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06ACAB-5E95-90F6-E160-60ED59DA3F0F}"/>
              </a:ext>
            </a:extLst>
          </p:cNvPr>
          <p:cNvSpPr txBox="1"/>
          <p:nvPr/>
        </p:nvSpPr>
        <p:spPr>
          <a:xfrm>
            <a:off x="5951913" y="1569012"/>
            <a:ext cx="1817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FA0E9D29-DC48-62AD-807C-5377DCA23A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3368" y="4635916"/>
            <a:ext cx="1052945" cy="105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6DFC2-5507-3911-CFCD-B886239FB114}"/>
              </a:ext>
            </a:extLst>
          </p:cNvPr>
          <p:cNvSpPr txBox="1"/>
          <p:nvPr/>
        </p:nvSpPr>
        <p:spPr>
          <a:xfrm>
            <a:off x="7482532" y="4931555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Clients/Participants</a:t>
            </a:r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BD67F434-A4C2-AF2A-855D-1D14CEF10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5040" y="4635916"/>
            <a:ext cx="1052945" cy="1052945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C462AC4C-E5C0-4C61-A542-A6F943AEBB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4204" y="4635917"/>
            <a:ext cx="1052945" cy="1052945"/>
          </a:xfrm>
          <a:prstGeom prst="rect">
            <a:avLst/>
          </a:prstGeom>
        </p:spPr>
      </p:pic>
      <p:sp>
        <p:nvSpPr>
          <p:cNvPr id="17" name="Can 16">
            <a:extLst>
              <a:ext uri="{FF2B5EF4-FFF2-40B4-BE49-F238E27FC236}">
                <a16:creationId xmlns:a16="http://schemas.microsoft.com/office/drawing/2014/main" id="{6AC1D063-7047-C8BF-0924-42B31E73FFB2}"/>
              </a:ext>
            </a:extLst>
          </p:cNvPr>
          <p:cNvSpPr/>
          <p:nvPr/>
        </p:nvSpPr>
        <p:spPr>
          <a:xfrm rot="5400000">
            <a:off x="5373186" y="2733933"/>
            <a:ext cx="510231" cy="13901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7150BE-4C6C-E928-D095-50EDB4D1707E}"/>
              </a:ext>
            </a:extLst>
          </p:cNvPr>
          <p:cNvSpPr txBox="1"/>
          <p:nvPr/>
        </p:nvSpPr>
        <p:spPr>
          <a:xfrm>
            <a:off x="158302" y="1973555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 attach message generation timestamps to outgoing messages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5876E9C-0573-FAA0-C7FB-53025589F641}"/>
              </a:ext>
            </a:extLst>
          </p:cNvPr>
          <p:cNvGrpSpPr/>
          <p:nvPr/>
        </p:nvGrpSpPr>
        <p:grpSpPr>
          <a:xfrm>
            <a:off x="6356425" y="3549060"/>
            <a:ext cx="753419" cy="753419"/>
            <a:chOff x="5313966" y="5521682"/>
            <a:chExt cx="753419" cy="753419"/>
          </a:xfrm>
        </p:grpSpPr>
        <p:pic>
          <p:nvPicPr>
            <p:cNvPr id="16" name="Graphic 15" descr="Envelope outline">
              <a:extLst>
                <a:ext uri="{FF2B5EF4-FFF2-40B4-BE49-F238E27FC236}">
                  <a16:creationId xmlns:a16="http://schemas.microsoft.com/office/drawing/2014/main" id="{2BD60132-3123-4E08-8CA2-2B92DF2B74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1C71A84-43CD-0F1A-4189-CD4FBB723660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1EEFD75-12F7-9BDA-EEAE-A4620EE20453}"/>
              </a:ext>
            </a:extLst>
          </p:cNvPr>
          <p:cNvGrpSpPr/>
          <p:nvPr/>
        </p:nvGrpSpPr>
        <p:grpSpPr>
          <a:xfrm>
            <a:off x="5719711" y="3549062"/>
            <a:ext cx="753419" cy="753419"/>
            <a:chOff x="4123381" y="5521682"/>
            <a:chExt cx="753419" cy="753419"/>
          </a:xfrm>
        </p:grpSpPr>
        <p:pic>
          <p:nvPicPr>
            <p:cNvPr id="11" name="Graphic 10" descr="Envelope outline">
              <a:extLst>
                <a:ext uri="{FF2B5EF4-FFF2-40B4-BE49-F238E27FC236}">
                  <a16:creationId xmlns:a16="http://schemas.microsoft.com/office/drawing/2014/main" id="{3FC256D2-BF52-A2F0-9512-846BA29F3A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23381" y="5521682"/>
              <a:ext cx="753419" cy="75341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60A0674-53B4-4574-26F8-8F9036604239}"/>
                </a:ext>
              </a:extLst>
            </p:cNvPr>
            <p:cNvSpPr txBox="1"/>
            <p:nvPr/>
          </p:nvSpPr>
          <p:spPr>
            <a:xfrm>
              <a:off x="4319427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1BFCF83-0939-EB1A-C5D3-8C65596DC2D8}"/>
              </a:ext>
            </a:extLst>
          </p:cNvPr>
          <p:cNvGrpSpPr/>
          <p:nvPr/>
        </p:nvGrpSpPr>
        <p:grpSpPr>
          <a:xfrm>
            <a:off x="5057985" y="3549060"/>
            <a:ext cx="753419" cy="753419"/>
            <a:chOff x="6473130" y="5544846"/>
            <a:chExt cx="753419" cy="753419"/>
          </a:xfrm>
        </p:grpSpPr>
        <p:pic>
          <p:nvPicPr>
            <p:cNvPr id="18" name="Graphic 17" descr="Envelope outline">
              <a:extLst>
                <a:ext uri="{FF2B5EF4-FFF2-40B4-BE49-F238E27FC236}">
                  <a16:creationId xmlns:a16="http://schemas.microsoft.com/office/drawing/2014/main" id="{DF61EB05-4C71-A8D6-7853-92C62C382F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73130" y="5544846"/>
              <a:ext cx="753419" cy="75341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5917D34-A95C-2C1B-5C0A-6D2B6867DE41}"/>
                </a:ext>
              </a:extLst>
            </p:cNvPr>
            <p:cNvSpPr txBox="1"/>
            <p:nvPr/>
          </p:nvSpPr>
          <p:spPr>
            <a:xfrm>
              <a:off x="6654315" y="568886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05F75933-C835-92A7-7390-B5114B10600B}"/>
              </a:ext>
            </a:extLst>
          </p:cNvPr>
          <p:cNvSpPr txBox="1"/>
          <p:nvPr/>
        </p:nvSpPr>
        <p:spPr>
          <a:xfrm>
            <a:off x="8420545" y="1973554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 waits for at least one message from each 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09E4C5-AB09-A87B-BB10-59F313A00580}"/>
              </a:ext>
            </a:extLst>
          </p:cNvPr>
          <p:cNvSpPr txBox="1"/>
          <p:nvPr/>
        </p:nvSpPr>
        <p:spPr>
          <a:xfrm>
            <a:off x="8420544" y="3508408"/>
            <a:ext cx="3727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 releases the smallest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ts’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message and waits again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D91A556-D653-5CDA-7341-C7B294BAF58C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E4F4F29-A1C2-86AF-8704-37171ECCC71C}"/>
              </a:ext>
            </a:extLst>
          </p:cNvPr>
          <p:cNvSpPr txBox="1"/>
          <p:nvPr/>
        </p:nvSpPr>
        <p:spPr>
          <a:xfrm>
            <a:off x="7769629" y="966986"/>
            <a:ext cx="405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use knowledge of MPs!</a:t>
            </a:r>
          </a:p>
        </p:txBody>
      </p:sp>
    </p:spTree>
    <p:extLst>
      <p:ext uri="{BB962C8B-B14F-4D97-AF65-F5344CB8AC3E}">
        <p14:creationId xmlns:p14="http://schemas.microsoft.com/office/powerpoint/2010/main" val="4267884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A8E3E709-8CEF-FDA8-334E-D9E7E6A65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E0570CD7-19CF-EE0B-3863-84C2670AE0D0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Graphic 1" descr="Server with solid fill">
            <a:extLst>
              <a:ext uri="{FF2B5EF4-FFF2-40B4-BE49-F238E27FC236}">
                <a16:creationId xmlns:a16="http://schemas.microsoft.com/office/drawing/2014/main" id="{2A2530BD-3512-EE22-4881-4DC5D8325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1336318"/>
            <a:ext cx="1219200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207E71-D3B2-CB52-A0C5-25EC995BE7C1}"/>
              </a:ext>
            </a:extLst>
          </p:cNvPr>
          <p:cNvSpPr txBox="1"/>
          <p:nvPr/>
        </p:nvSpPr>
        <p:spPr>
          <a:xfrm>
            <a:off x="5951913" y="1569012"/>
            <a:ext cx="1817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D26EA9A3-D905-02CF-F0DB-C6B054CA06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3368" y="4635916"/>
            <a:ext cx="1052945" cy="105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B4B4DE-8A40-C73F-F8F2-4C067496EDD4}"/>
              </a:ext>
            </a:extLst>
          </p:cNvPr>
          <p:cNvSpPr txBox="1"/>
          <p:nvPr/>
        </p:nvSpPr>
        <p:spPr>
          <a:xfrm>
            <a:off x="7482532" y="4931555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Clients/Participants</a:t>
            </a:r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A48A9AA4-D925-A781-B266-7B43CDFA67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5040" y="4635916"/>
            <a:ext cx="1052945" cy="1052945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4D9DBCE5-163D-8797-4A2E-F15D481294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4204" y="4635917"/>
            <a:ext cx="1052945" cy="1052945"/>
          </a:xfrm>
          <a:prstGeom prst="rect">
            <a:avLst/>
          </a:prstGeom>
        </p:spPr>
      </p:pic>
      <p:sp>
        <p:nvSpPr>
          <p:cNvPr id="17" name="Can 16">
            <a:extLst>
              <a:ext uri="{FF2B5EF4-FFF2-40B4-BE49-F238E27FC236}">
                <a16:creationId xmlns:a16="http://schemas.microsoft.com/office/drawing/2014/main" id="{5BE78168-E67E-FCA4-06E0-54DB866937E7}"/>
              </a:ext>
            </a:extLst>
          </p:cNvPr>
          <p:cNvSpPr/>
          <p:nvPr/>
        </p:nvSpPr>
        <p:spPr>
          <a:xfrm rot="5400000">
            <a:off x="5373186" y="2733933"/>
            <a:ext cx="510231" cy="13901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716B8-1977-7AD4-441D-674FB032B7D2}"/>
              </a:ext>
            </a:extLst>
          </p:cNvPr>
          <p:cNvSpPr txBox="1"/>
          <p:nvPr/>
        </p:nvSpPr>
        <p:spPr>
          <a:xfrm>
            <a:off x="158302" y="1973555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 attach message generation timestamps to outgoing messages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1DCFBA3-66F2-EF5B-7CBC-E134EEF9AE2E}"/>
              </a:ext>
            </a:extLst>
          </p:cNvPr>
          <p:cNvGrpSpPr/>
          <p:nvPr/>
        </p:nvGrpSpPr>
        <p:grpSpPr>
          <a:xfrm>
            <a:off x="6386306" y="2333813"/>
            <a:ext cx="753419" cy="753419"/>
            <a:chOff x="5313966" y="5521682"/>
            <a:chExt cx="753419" cy="753419"/>
          </a:xfrm>
        </p:grpSpPr>
        <p:pic>
          <p:nvPicPr>
            <p:cNvPr id="16" name="Graphic 15" descr="Envelope outline">
              <a:extLst>
                <a:ext uri="{FF2B5EF4-FFF2-40B4-BE49-F238E27FC236}">
                  <a16:creationId xmlns:a16="http://schemas.microsoft.com/office/drawing/2014/main" id="{8C4E8B56-6578-369F-25E2-F14E2E4FA4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12D2EB-7655-5ECF-4E36-662848D4215C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CEBE77-B5A5-8BAE-1A07-38BA84866BCD}"/>
              </a:ext>
            </a:extLst>
          </p:cNvPr>
          <p:cNvGrpSpPr/>
          <p:nvPr/>
        </p:nvGrpSpPr>
        <p:grpSpPr>
          <a:xfrm>
            <a:off x="5719711" y="3549062"/>
            <a:ext cx="753419" cy="753419"/>
            <a:chOff x="4123381" y="5521682"/>
            <a:chExt cx="753419" cy="753419"/>
          </a:xfrm>
        </p:grpSpPr>
        <p:pic>
          <p:nvPicPr>
            <p:cNvPr id="11" name="Graphic 10" descr="Envelope outline">
              <a:extLst>
                <a:ext uri="{FF2B5EF4-FFF2-40B4-BE49-F238E27FC236}">
                  <a16:creationId xmlns:a16="http://schemas.microsoft.com/office/drawing/2014/main" id="{EC052D40-1D33-C3D1-40C5-64C2D32695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23381" y="5521682"/>
              <a:ext cx="753419" cy="75341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986FD76-EC9F-4C1D-9C20-F48E6BC23CE3}"/>
                </a:ext>
              </a:extLst>
            </p:cNvPr>
            <p:cNvSpPr txBox="1"/>
            <p:nvPr/>
          </p:nvSpPr>
          <p:spPr>
            <a:xfrm>
              <a:off x="4319427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3A5B5B0-9132-0512-212D-04282F86A58A}"/>
              </a:ext>
            </a:extLst>
          </p:cNvPr>
          <p:cNvGrpSpPr/>
          <p:nvPr/>
        </p:nvGrpSpPr>
        <p:grpSpPr>
          <a:xfrm>
            <a:off x="5057985" y="3549060"/>
            <a:ext cx="753419" cy="753419"/>
            <a:chOff x="6473130" y="5544846"/>
            <a:chExt cx="753419" cy="753419"/>
          </a:xfrm>
        </p:grpSpPr>
        <p:pic>
          <p:nvPicPr>
            <p:cNvPr id="18" name="Graphic 17" descr="Envelope outline">
              <a:extLst>
                <a:ext uri="{FF2B5EF4-FFF2-40B4-BE49-F238E27FC236}">
                  <a16:creationId xmlns:a16="http://schemas.microsoft.com/office/drawing/2014/main" id="{9EF27254-355F-703C-A6F3-5A8DB98270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73130" y="5544846"/>
              <a:ext cx="753419" cy="75341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BB3C77-AF67-134D-003A-759235E32F52}"/>
                </a:ext>
              </a:extLst>
            </p:cNvPr>
            <p:cNvSpPr txBox="1"/>
            <p:nvPr/>
          </p:nvSpPr>
          <p:spPr>
            <a:xfrm>
              <a:off x="6654315" y="568886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24E2A79-D13E-3D29-309C-5EB993F0174D}"/>
              </a:ext>
            </a:extLst>
          </p:cNvPr>
          <p:cNvSpPr txBox="1"/>
          <p:nvPr/>
        </p:nvSpPr>
        <p:spPr>
          <a:xfrm>
            <a:off x="8420545" y="1973554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 waits for at least one message from each 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3801E3-361D-F650-2B20-757402D68B46}"/>
              </a:ext>
            </a:extLst>
          </p:cNvPr>
          <p:cNvSpPr txBox="1"/>
          <p:nvPr/>
        </p:nvSpPr>
        <p:spPr>
          <a:xfrm>
            <a:off x="8420544" y="3508408"/>
            <a:ext cx="3727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 releases the smallest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ts’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message and waits again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0B061D-BDF9-F71C-D803-AFC55F8B0858}"/>
              </a:ext>
            </a:extLst>
          </p:cNvPr>
          <p:cNvGrpSpPr/>
          <p:nvPr/>
        </p:nvGrpSpPr>
        <p:grpSpPr>
          <a:xfrm>
            <a:off x="5343001" y="5544846"/>
            <a:ext cx="753419" cy="753419"/>
            <a:chOff x="5313966" y="5521682"/>
            <a:chExt cx="753419" cy="753419"/>
          </a:xfrm>
        </p:grpSpPr>
        <p:pic>
          <p:nvPicPr>
            <p:cNvPr id="13" name="Graphic 12" descr="Envelope outline">
              <a:extLst>
                <a:ext uri="{FF2B5EF4-FFF2-40B4-BE49-F238E27FC236}">
                  <a16:creationId xmlns:a16="http://schemas.microsoft.com/office/drawing/2014/main" id="{C98CF25C-82DD-7A1B-726D-50AD9CCBDB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A61701C-0B78-9582-E1AB-4B0741220BEB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4</a:t>
              </a: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6350A8F-CAD5-5170-F0D6-FFC423AC4EF2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1E254DE2-7A90-1197-19E9-68CA029D02D8}"/>
              </a:ext>
            </a:extLst>
          </p:cNvPr>
          <p:cNvSpPr txBox="1"/>
          <p:nvPr/>
        </p:nvSpPr>
        <p:spPr>
          <a:xfrm>
            <a:off x="7769629" y="966986"/>
            <a:ext cx="405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use knowledge of MPs!</a:t>
            </a:r>
          </a:p>
        </p:txBody>
      </p:sp>
    </p:spTree>
    <p:extLst>
      <p:ext uri="{BB962C8B-B14F-4D97-AF65-F5344CB8AC3E}">
        <p14:creationId xmlns:p14="http://schemas.microsoft.com/office/powerpoint/2010/main" val="782827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95C8615B-A32A-51C8-7F92-12417CF4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5842A7B5-698A-16F4-2641-B2EEB5018A6F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Graphic 1" descr="Server with solid fill">
            <a:extLst>
              <a:ext uri="{FF2B5EF4-FFF2-40B4-BE49-F238E27FC236}">
                <a16:creationId xmlns:a16="http://schemas.microsoft.com/office/drawing/2014/main" id="{B181366D-5FD6-5CA4-7820-B5EC8E079D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1336318"/>
            <a:ext cx="1219200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0F4675-67E5-7085-4EF2-84CBC1B1BB6C}"/>
              </a:ext>
            </a:extLst>
          </p:cNvPr>
          <p:cNvSpPr txBox="1"/>
          <p:nvPr/>
        </p:nvSpPr>
        <p:spPr>
          <a:xfrm>
            <a:off x="5951913" y="1569012"/>
            <a:ext cx="1817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F7D3B5F9-14CD-2F92-BA03-CEB9B6D404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3368" y="4635916"/>
            <a:ext cx="1052945" cy="105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D067BE-32F3-A366-90C1-28356687AE22}"/>
              </a:ext>
            </a:extLst>
          </p:cNvPr>
          <p:cNvSpPr txBox="1"/>
          <p:nvPr/>
        </p:nvSpPr>
        <p:spPr>
          <a:xfrm>
            <a:off x="7482532" y="4931555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Clients/Participants</a:t>
            </a:r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0592E5B2-C9BE-6300-907E-78FC981FCB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5040" y="4635916"/>
            <a:ext cx="1052945" cy="1052945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C0C15434-C5CC-7A5D-89F7-8BAC9B4B1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4204" y="4635917"/>
            <a:ext cx="1052945" cy="1052945"/>
          </a:xfrm>
          <a:prstGeom prst="rect">
            <a:avLst/>
          </a:prstGeom>
        </p:spPr>
      </p:pic>
      <p:sp>
        <p:nvSpPr>
          <p:cNvPr id="17" name="Can 16">
            <a:extLst>
              <a:ext uri="{FF2B5EF4-FFF2-40B4-BE49-F238E27FC236}">
                <a16:creationId xmlns:a16="http://schemas.microsoft.com/office/drawing/2014/main" id="{E1489721-24C6-CCEB-80E4-0BF888E225AB}"/>
              </a:ext>
            </a:extLst>
          </p:cNvPr>
          <p:cNvSpPr/>
          <p:nvPr/>
        </p:nvSpPr>
        <p:spPr>
          <a:xfrm rot="5400000">
            <a:off x="5373186" y="2733933"/>
            <a:ext cx="510231" cy="13901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588EC-A4FC-7BB4-6029-CA20FBD860FD}"/>
              </a:ext>
            </a:extLst>
          </p:cNvPr>
          <p:cNvSpPr txBox="1"/>
          <p:nvPr/>
        </p:nvSpPr>
        <p:spPr>
          <a:xfrm>
            <a:off x="158302" y="1973555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 attach message generation timestamps to outgoing messages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B9424E8-7EA4-F50D-1A20-9F10D31A258E}"/>
              </a:ext>
            </a:extLst>
          </p:cNvPr>
          <p:cNvGrpSpPr/>
          <p:nvPr/>
        </p:nvGrpSpPr>
        <p:grpSpPr>
          <a:xfrm>
            <a:off x="6386306" y="2333813"/>
            <a:ext cx="753419" cy="753419"/>
            <a:chOff x="5313966" y="5521682"/>
            <a:chExt cx="753419" cy="753419"/>
          </a:xfrm>
        </p:grpSpPr>
        <p:pic>
          <p:nvPicPr>
            <p:cNvPr id="16" name="Graphic 15" descr="Envelope outline">
              <a:extLst>
                <a:ext uri="{FF2B5EF4-FFF2-40B4-BE49-F238E27FC236}">
                  <a16:creationId xmlns:a16="http://schemas.microsoft.com/office/drawing/2014/main" id="{ED34272F-3F83-A171-37A1-9AFE7447C5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F1AA02-07DC-1E08-CC6E-4ED6F7DC97DF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D239F68-51BF-D4D0-7B8A-38CB490D0E68}"/>
              </a:ext>
            </a:extLst>
          </p:cNvPr>
          <p:cNvGrpSpPr/>
          <p:nvPr/>
        </p:nvGrpSpPr>
        <p:grpSpPr>
          <a:xfrm>
            <a:off x="5719711" y="3549062"/>
            <a:ext cx="753419" cy="753419"/>
            <a:chOff x="4123381" y="5521682"/>
            <a:chExt cx="753419" cy="753419"/>
          </a:xfrm>
        </p:grpSpPr>
        <p:pic>
          <p:nvPicPr>
            <p:cNvPr id="11" name="Graphic 10" descr="Envelope outline">
              <a:extLst>
                <a:ext uri="{FF2B5EF4-FFF2-40B4-BE49-F238E27FC236}">
                  <a16:creationId xmlns:a16="http://schemas.microsoft.com/office/drawing/2014/main" id="{83E0E7B4-297A-FAB2-0A3B-49A16D503D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23381" y="5521682"/>
              <a:ext cx="753419" cy="75341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C3F7A94-FAB9-E6C9-6CE0-5E0C650BBEEF}"/>
                </a:ext>
              </a:extLst>
            </p:cNvPr>
            <p:cNvSpPr txBox="1"/>
            <p:nvPr/>
          </p:nvSpPr>
          <p:spPr>
            <a:xfrm>
              <a:off x="4319427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0C2239B-C014-47B4-7371-EDFC83151473}"/>
              </a:ext>
            </a:extLst>
          </p:cNvPr>
          <p:cNvGrpSpPr/>
          <p:nvPr/>
        </p:nvGrpSpPr>
        <p:grpSpPr>
          <a:xfrm>
            <a:off x="5057985" y="3549060"/>
            <a:ext cx="753419" cy="753419"/>
            <a:chOff x="6473130" y="5544846"/>
            <a:chExt cx="753419" cy="753419"/>
          </a:xfrm>
        </p:grpSpPr>
        <p:pic>
          <p:nvPicPr>
            <p:cNvPr id="18" name="Graphic 17" descr="Envelope outline">
              <a:extLst>
                <a:ext uri="{FF2B5EF4-FFF2-40B4-BE49-F238E27FC236}">
                  <a16:creationId xmlns:a16="http://schemas.microsoft.com/office/drawing/2014/main" id="{CFBEE8CD-6147-59FC-1340-D03B294ADB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73130" y="5544846"/>
              <a:ext cx="753419" cy="75341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A3A418-57BF-15CD-D541-D6989108E6E5}"/>
                </a:ext>
              </a:extLst>
            </p:cNvPr>
            <p:cNvSpPr txBox="1"/>
            <p:nvPr/>
          </p:nvSpPr>
          <p:spPr>
            <a:xfrm>
              <a:off x="6654315" y="568886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C839782-7C61-030F-B53E-4D6D4859FC7E}"/>
              </a:ext>
            </a:extLst>
          </p:cNvPr>
          <p:cNvSpPr txBox="1"/>
          <p:nvPr/>
        </p:nvSpPr>
        <p:spPr>
          <a:xfrm>
            <a:off x="8420545" y="1973554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 waits for at least one message from each 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F4F78D-5B10-7A8F-75C3-78B6AE29118F}"/>
              </a:ext>
            </a:extLst>
          </p:cNvPr>
          <p:cNvSpPr txBox="1"/>
          <p:nvPr/>
        </p:nvSpPr>
        <p:spPr>
          <a:xfrm>
            <a:off x="8420544" y="3508408"/>
            <a:ext cx="3727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 releases the smallest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ts’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message and waits again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F82E6B-4FBB-A7A3-FE86-6256B726A338}"/>
              </a:ext>
            </a:extLst>
          </p:cNvPr>
          <p:cNvGrpSpPr/>
          <p:nvPr/>
        </p:nvGrpSpPr>
        <p:grpSpPr>
          <a:xfrm>
            <a:off x="4406763" y="3549060"/>
            <a:ext cx="753419" cy="753419"/>
            <a:chOff x="5313966" y="5521682"/>
            <a:chExt cx="753419" cy="753419"/>
          </a:xfrm>
        </p:grpSpPr>
        <p:pic>
          <p:nvPicPr>
            <p:cNvPr id="13" name="Graphic 12" descr="Envelope outline">
              <a:extLst>
                <a:ext uri="{FF2B5EF4-FFF2-40B4-BE49-F238E27FC236}">
                  <a16:creationId xmlns:a16="http://schemas.microsoft.com/office/drawing/2014/main" id="{FCF5CC08-09B7-246E-825A-8BAC7BD0E4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AA9165F-F41A-BA65-307C-6141F0B5CADD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4</a:t>
              </a: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453C236-914A-8DA7-0F42-595CAA462628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A4E348E2-14C2-996F-771A-989191F313C3}"/>
              </a:ext>
            </a:extLst>
          </p:cNvPr>
          <p:cNvSpPr txBox="1"/>
          <p:nvPr/>
        </p:nvSpPr>
        <p:spPr>
          <a:xfrm>
            <a:off x="7769629" y="966986"/>
            <a:ext cx="405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use knowledge of MPs!</a:t>
            </a:r>
          </a:p>
        </p:txBody>
      </p:sp>
    </p:spTree>
    <p:extLst>
      <p:ext uri="{BB962C8B-B14F-4D97-AF65-F5344CB8AC3E}">
        <p14:creationId xmlns:p14="http://schemas.microsoft.com/office/powerpoint/2010/main" val="4054532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E90ECAF4-814B-3E2F-E0A1-0BDFBDA6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C452EC6B-2FD7-C30A-F68D-E4C539F87464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Graphic 1" descr="Server with solid fill">
            <a:extLst>
              <a:ext uri="{FF2B5EF4-FFF2-40B4-BE49-F238E27FC236}">
                <a16:creationId xmlns:a16="http://schemas.microsoft.com/office/drawing/2014/main" id="{8C3EBAF2-D97D-90FE-27DE-6356E94700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1336318"/>
            <a:ext cx="1219200" cy="121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46F8001-1C9B-062A-075F-49BE8414850D}"/>
              </a:ext>
            </a:extLst>
          </p:cNvPr>
          <p:cNvSpPr txBox="1"/>
          <p:nvPr/>
        </p:nvSpPr>
        <p:spPr>
          <a:xfrm>
            <a:off x="5951913" y="1569012"/>
            <a:ext cx="18177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 Server</a:t>
            </a:r>
          </a:p>
        </p:txBody>
      </p:sp>
      <p:pic>
        <p:nvPicPr>
          <p:cNvPr id="7" name="Graphic 6" descr="Processor outline">
            <a:extLst>
              <a:ext uri="{FF2B5EF4-FFF2-40B4-BE49-F238E27FC236}">
                <a16:creationId xmlns:a16="http://schemas.microsoft.com/office/drawing/2014/main" id="{5391F11B-18AA-C3BE-3F87-BE34C66998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3368" y="4635916"/>
            <a:ext cx="1052945" cy="10529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66C67C-94C8-98AC-3873-EBE2031C2D2A}"/>
              </a:ext>
            </a:extLst>
          </p:cNvPr>
          <p:cNvSpPr txBox="1"/>
          <p:nvPr/>
        </p:nvSpPr>
        <p:spPr>
          <a:xfrm>
            <a:off x="7482532" y="4931555"/>
            <a:ext cx="2821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Clients/Participants</a:t>
            </a:r>
          </a:p>
        </p:txBody>
      </p:sp>
      <p:pic>
        <p:nvPicPr>
          <p:cNvPr id="9" name="Graphic 8" descr="Processor outline">
            <a:extLst>
              <a:ext uri="{FF2B5EF4-FFF2-40B4-BE49-F238E27FC236}">
                <a16:creationId xmlns:a16="http://schemas.microsoft.com/office/drawing/2014/main" id="{1841B34D-CDC5-3A82-6F4E-71925FBAE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05040" y="4635916"/>
            <a:ext cx="1052945" cy="1052945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CAC91AA1-72B3-1D5F-D31A-A184908CB3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164204" y="4635917"/>
            <a:ext cx="1052945" cy="1052945"/>
          </a:xfrm>
          <a:prstGeom prst="rect">
            <a:avLst/>
          </a:prstGeom>
        </p:spPr>
      </p:pic>
      <p:sp>
        <p:nvSpPr>
          <p:cNvPr id="17" name="Can 16">
            <a:extLst>
              <a:ext uri="{FF2B5EF4-FFF2-40B4-BE49-F238E27FC236}">
                <a16:creationId xmlns:a16="http://schemas.microsoft.com/office/drawing/2014/main" id="{BBD27018-75D3-177B-04AD-730913079CA0}"/>
              </a:ext>
            </a:extLst>
          </p:cNvPr>
          <p:cNvSpPr/>
          <p:nvPr/>
        </p:nvSpPr>
        <p:spPr>
          <a:xfrm rot="5400000">
            <a:off x="5373186" y="2733933"/>
            <a:ext cx="510231" cy="139013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52BFA7-55C8-99E3-A582-94FE0D61ACA1}"/>
              </a:ext>
            </a:extLst>
          </p:cNvPr>
          <p:cNvSpPr txBox="1"/>
          <p:nvPr/>
        </p:nvSpPr>
        <p:spPr>
          <a:xfrm>
            <a:off x="158302" y="1973555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 attach message generation timestamps to outgoing messages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9F17BDB-B704-B4FE-0B43-3F50BCBE9E0F}"/>
              </a:ext>
            </a:extLst>
          </p:cNvPr>
          <p:cNvGrpSpPr/>
          <p:nvPr/>
        </p:nvGrpSpPr>
        <p:grpSpPr>
          <a:xfrm>
            <a:off x="6386306" y="2333813"/>
            <a:ext cx="753419" cy="753419"/>
            <a:chOff x="5313966" y="5521682"/>
            <a:chExt cx="753419" cy="753419"/>
          </a:xfrm>
        </p:grpSpPr>
        <p:pic>
          <p:nvPicPr>
            <p:cNvPr id="16" name="Graphic 15" descr="Envelope outline">
              <a:extLst>
                <a:ext uri="{FF2B5EF4-FFF2-40B4-BE49-F238E27FC236}">
                  <a16:creationId xmlns:a16="http://schemas.microsoft.com/office/drawing/2014/main" id="{1A2ABDE9-FEE9-CF21-E62A-D09F787744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20ABEF2-B57F-ED19-7728-B63EAAF868FB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289BB4-109F-3BE4-DDD9-17BA3664846E}"/>
              </a:ext>
            </a:extLst>
          </p:cNvPr>
          <p:cNvGrpSpPr/>
          <p:nvPr/>
        </p:nvGrpSpPr>
        <p:grpSpPr>
          <a:xfrm>
            <a:off x="5668039" y="2333813"/>
            <a:ext cx="753419" cy="753419"/>
            <a:chOff x="4123381" y="5521682"/>
            <a:chExt cx="753419" cy="753419"/>
          </a:xfrm>
        </p:grpSpPr>
        <p:pic>
          <p:nvPicPr>
            <p:cNvPr id="11" name="Graphic 10" descr="Envelope outline">
              <a:extLst>
                <a:ext uri="{FF2B5EF4-FFF2-40B4-BE49-F238E27FC236}">
                  <a16:creationId xmlns:a16="http://schemas.microsoft.com/office/drawing/2014/main" id="{9571B5B3-F99E-FE60-33CF-CA616F37852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123381" y="5521682"/>
              <a:ext cx="753419" cy="75341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74DE71-2E8B-AB67-070A-6629965388BE}"/>
                </a:ext>
              </a:extLst>
            </p:cNvPr>
            <p:cNvSpPr txBox="1"/>
            <p:nvPr/>
          </p:nvSpPr>
          <p:spPr>
            <a:xfrm>
              <a:off x="4319427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6993901-2226-EF73-1A0F-F7DD96E123B6}"/>
              </a:ext>
            </a:extLst>
          </p:cNvPr>
          <p:cNvGrpSpPr/>
          <p:nvPr/>
        </p:nvGrpSpPr>
        <p:grpSpPr>
          <a:xfrm>
            <a:off x="5057985" y="3549060"/>
            <a:ext cx="753419" cy="753419"/>
            <a:chOff x="6473130" y="5544846"/>
            <a:chExt cx="753419" cy="753419"/>
          </a:xfrm>
        </p:grpSpPr>
        <p:pic>
          <p:nvPicPr>
            <p:cNvPr id="18" name="Graphic 17" descr="Envelope outline">
              <a:extLst>
                <a:ext uri="{FF2B5EF4-FFF2-40B4-BE49-F238E27FC236}">
                  <a16:creationId xmlns:a16="http://schemas.microsoft.com/office/drawing/2014/main" id="{055DF166-C846-01BC-650C-34B1CE5DF6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73130" y="5544846"/>
              <a:ext cx="753419" cy="753419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B0AEBF-84B4-79AF-BE0F-3D6791EB957E}"/>
                </a:ext>
              </a:extLst>
            </p:cNvPr>
            <p:cNvSpPr txBox="1"/>
            <p:nvPr/>
          </p:nvSpPr>
          <p:spPr>
            <a:xfrm>
              <a:off x="6654315" y="5688861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32C9B8C-D1E2-B4BC-CE6B-208795468197}"/>
              </a:ext>
            </a:extLst>
          </p:cNvPr>
          <p:cNvSpPr txBox="1"/>
          <p:nvPr/>
        </p:nvSpPr>
        <p:spPr>
          <a:xfrm>
            <a:off x="8420545" y="1973554"/>
            <a:ext cx="3727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Sequencer waits for at least one message from each 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C98620-E4C3-ED2F-94AC-087FC2049070}"/>
              </a:ext>
            </a:extLst>
          </p:cNvPr>
          <p:cNvSpPr txBox="1"/>
          <p:nvPr/>
        </p:nvSpPr>
        <p:spPr>
          <a:xfrm>
            <a:off x="8420544" y="3508408"/>
            <a:ext cx="3727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 releases the smallest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ts’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message and waits again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368CB1-204F-31F1-013D-602A18BAD8C1}"/>
              </a:ext>
            </a:extLst>
          </p:cNvPr>
          <p:cNvGrpSpPr/>
          <p:nvPr/>
        </p:nvGrpSpPr>
        <p:grpSpPr>
          <a:xfrm>
            <a:off x="4406763" y="3549060"/>
            <a:ext cx="753419" cy="753419"/>
            <a:chOff x="5313966" y="5521682"/>
            <a:chExt cx="753419" cy="753419"/>
          </a:xfrm>
        </p:grpSpPr>
        <p:pic>
          <p:nvPicPr>
            <p:cNvPr id="13" name="Graphic 12" descr="Envelope outline">
              <a:extLst>
                <a:ext uri="{FF2B5EF4-FFF2-40B4-BE49-F238E27FC236}">
                  <a16:creationId xmlns:a16="http://schemas.microsoft.com/office/drawing/2014/main" id="{2FBE1080-3794-9765-2238-328E60264F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313966" y="5521682"/>
              <a:ext cx="753419" cy="75341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06A7838-01C4-859A-4D59-88F6EF28F2C4}"/>
                </a:ext>
              </a:extLst>
            </p:cNvPr>
            <p:cNvSpPr txBox="1"/>
            <p:nvPr/>
          </p:nvSpPr>
          <p:spPr>
            <a:xfrm>
              <a:off x="5486400" y="5667558"/>
              <a:ext cx="3561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4</a:t>
              </a:r>
            </a:p>
          </p:txBody>
        </p:sp>
      </p:grp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0F5FAC-2910-9830-1C6C-C1FC7D3F5151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6C05090-D2C3-A5EE-5FF9-333608FD314E}"/>
              </a:ext>
            </a:extLst>
          </p:cNvPr>
          <p:cNvSpPr txBox="1"/>
          <p:nvPr/>
        </p:nvSpPr>
        <p:spPr>
          <a:xfrm>
            <a:off x="7769629" y="966986"/>
            <a:ext cx="4053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use knowledge of MPs!</a:t>
            </a:r>
          </a:p>
        </p:txBody>
      </p:sp>
    </p:spTree>
    <p:extLst>
      <p:ext uri="{BB962C8B-B14F-4D97-AF65-F5344CB8AC3E}">
        <p14:creationId xmlns:p14="http://schemas.microsoft.com/office/powerpoint/2010/main" val="2895667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05ABCBAA-87DA-BB1F-D244-272A4176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1">
            <a:extLst>
              <a:ext uri="{FF2B5EF4-FFF2-40B4-BE49-F238E27FC236}">
                <a16:creationId xmlns:a16="http://schemas.microsoft.com/office/drawing/2014/main" id="{C60578B4-4F8D-01BE-997C-35829B6B64A1}"/>
              </a:ext>
            </a:extLst>
          </p:cNvPr>
          <p:cNvGraphicFramePr/>
          <p:nvPr/>
        </p:nvGraphicFramePr>
        <p:xfrm>
          <a:off x="-3930768" y="-2383265"/>
          <a:ext cx="113608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Can 16">
            <a:extLst>
              <a:ext uri="{FF2B5EF4-FFF2-40B4-BE49-F238E27FC236}">
                <a16:creationId xmlns:a16="http://schemas.microsoft.com/office/drawing/2014/main" id="{DC5582FA-9063-931C-0EAA-A97C7B2B058D}"/>
              </a:ext>
            </a:extLst>
          </p:cNvPr>
          <p:cNvSpPr/>
          <p:nvPr/>
        </p:nvSpPr>
        <p:spPr>
          <a:xfrm rot="5400000">
            <a:off x="5100657" y="452002"/>
            <a:ext cx="510231" cy="353885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51A561-361C-A5AE-237D-94575741EAD1}"/>
              </a:ext>
            </a:extLst>
          </p:cNvPr>
          <p:cNvSpPr txBox="1"/>
          <p:nvPr/>
        </p:nvSpPr>
        <p:spPr>
          <a:xfrm>
            <a:off x="1928833" y="2967335"/>
            <a:ext cx="8334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Drawback: liveness (progress) may halt under client failures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F8367C-0DE0-2A3C-E364-B123AAA8EE83}"/>
              </a:ext>
            </a:extLst>
          </p:cNvPr>
          <p:cNvSpPr txBox="1"/>
          <p:nvPr/>
        </p:nvSpPr>
        <p:spPr>
          <a:xfrm>
            <a:off x="1928833" y="3624546"/>
            <a:ext cx="9238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Safety (fairness) is guaranteed if clocks are perfectly synchronized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480231-AB32-4194-2948-7E23D537E137}"/>
              </a:ext>
            </a:extLst>
          </p:cNvPr>
          <p:cNvSpPr txBox="1"/>
          <p:nvPr/>
        </p:nvSpPr>
        <p:spPr>
          <a:xfrm>
            <a:off x="1928833" y="4350037"/>
            <a:ext cx="99509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practice, we ensure that clock synchronization accuracy is sufficiently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high compared to the time granularity of interest.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C82EF7-B5DC-F950-CA74-1F19FFE8363A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Sequencer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6886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6" grpId="0"/>
      <p:bldP spid="2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>
          <a:extLst>
            <a:ext uri="{FF2B5EF4-FFF2-40B4-BE49-F238E27FC236}">
              <a16:creationId xmlns:a16="http://schemas.microsoft.com/office/drawing/2014/main" id="{715DFF76-15F4-B7BE-4BA7-3876120D5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F064D8-E10B-0C2A-145D-E054039F72ED}"/>
              </a:ext>
            </a:extLst>
          </p:cNvPr>
          <p:cNvSpPr txBox="1"/>
          <p:nvPr/>
        </p:nvSpPr>
        <p:spPr>
          <a:xfrm>
            <a:off x="569979" y="476910"/>
            <a:ext cx="35782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Incast</a:t>
            </a: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 Congestion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029FE-577A-5BE0-C3D5-761476EE6CC5}"/>
              </a:ext>
            </a:extLst>
          </p:cNvPr>
          <p:cNvSpPr txBox="1"/>
          <p:nvPr/>
        </p:nvSpPr>
        <p:spPr>
          <a:xfrm>
            <a:off x="569979" y="1235036"/>
            <a:ext cx="110440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 the number of clients increase, the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incast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congestion at the exchange occurs.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see the opportunity to reuse the multicast tree in the reverse direction to reduce burstiness behavior at the ingress of the exchange.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Clients get partitioned into groups where each leaf proxy node handles a group of clients.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Reduced fan-in at the exchange, leads to lower packet drops.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Enables scheduling of packets at the tree nodes (virtual network nodes) as it moves queues from the exchange ingress to the tree nodes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D7842F-C485-5F61-5049-BB838A5360D6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LOQ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547400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58C464D4-80FE-7B51-2FBB-1DA3DCD3E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71431E3-B656-964F-AA55-E868196DB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342" y="2593544"/>
            <a:ext cx="4218835" cy="3130959"/>
          </a:xfrm>
          <a:prstGeom prst="rect">
            <a:avLst/>
          </a:prstGeom>
        </p:spPr>
      </p:pic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3249C9D7-9FAB-B664-A97F-3DD0131BBB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</a:t>
            </a:r>
            <a:endParaRPr dirty="0"/>
          </a:p>
        </p:txBody>
      </p:sp>
      <p:sp>
        <p:nvSpPr>
          <p:cNvPr id="407" name="Google Shape;407;p35">
            <a:extLst>
              <a:ext uri="{FF2B5EF4-FFF2-40B4-BE49-F238E27FC236}">
                <a16:creationId xmlns:a16="http://schemas.microsoft.com/office/drawing/2014/main" id="{B8CE01C3-F86E-7743-CA06-049496BC3A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0" y="1536634"/>
            <a:ext cx="11360800" cy="183976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Font typeface="Arial" panose="020B0604020202020204" pitchFamily="34" charset="0"/>
              <a:buChar char="-"/>
            </a:pPr>
            <a:r>
              <a:rPr lang="en-US" sz="2400" dirty="0"/>
              <a:t>During bursty market activity, the exchange server may be overwhelmed.</a:t>
            </a:r>
          </a:p>
          <a:p>
            <a:pPr>
              <a:buChar char="-"/>
            </a:pPr>
            <a:r>
              <a:rPr lang="en-US" sz="2400" dirty="0"/>
              <a:t>Schedules order in a way to avoid idling the matching engine, using the knowledge that orders are matched by price time priority algorithm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5D51AC1-4B54-6643-9AF4-23598F686676}"/>
              </a:ext>
            </a:extLst>
          </p:cNvPr>
          <p:cNvSpPr/>
          <p:nvPr/>
        </p:nvSpPr>
        <p:spPr>
          <a:xfrm>
            <a:off x="3985965" y="3792748"/>
            <a:ext cx="960895" cy="92843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DD9E9C6-5FC5-9399-3CA1-33B019989986}"/>
              </a:ext>
            </a:extLst>
          </p:cNvPr>
          <p:cNvSpPr/>
          <p:nvPr/>
        </p:nvSpPr>
        <p:spPr>
          <a:xfrm>
            <a:off x="1392823" y="3792749"/>
            <a:ext cx="960895" cy="92843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B93D45-AB3A-D173-4A62-8E4A0CBC7FD0}"/>
              </a:ext>
            </a:extLst>
          </p:cNvPr>
          <p:cNvSpPr/>
          <p:nvPr/>
        </p:nvSpPr>
        <p:spPr>
          <a:xfrm>
            <a:off x="2689393" y="3792748"/>
            <a:ext cx="960895" cy="92843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6C8AE1-9FB3-59FD-697C-54C69DF301A7}"/>
              </a:ext>
            </a:extLst>
          </p:cNvPr>
          <p:cNvSpPr/>
          <p:nvPr/>
        </p:nvSpPr>
        <p:spPr>
          <a:xfrm>
            <a:off x="5243328" y="3792747"/>
            <a:ext cx="960895" cy="928431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$2</a:t>
            </a: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FDC48DB9-4214-8FA8-4C17-397AB981098C}"/>
              </a:ext>
            </a:extLst>
          </p:cNvPr>
          <p:cNvSpPr/>
          <p:nvPr/>
        </p:nvSpPr>
        <p:spPr>
          <a:xfrm>
            <a:off x="6071644" y="3966368"/>
            <a:ext cx="265157" cy="48926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FD42435B-D204-D3B7-E2FE-7F28CC532E64}"/>
              </a:ext>
            </a:extLst>
          </p:cNvPr>
          <p:cNvSpPr/>
          <p:nvPr/>
        </p:nvSpPr>
        <p:spPr>
          <a:xfrm>
            <a:off x="2153311" y="3966368"/>
            <a:ext cx="239615" cy="38531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B3D95227-75D2-537D-24F8-72EFBE442FAA}"/>
              </a:ext>
            </a:extLst>
          </p:cNvPr>
          <p:cNvSpPr/>
          <p:nvPr/>
        </p:nvSpPr>
        <p:spPr>
          <a:xfrm>
            <a:off x="2151571" y="4405267"/>
            <a:ext cx="239615" cy="38531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42204CF7-F34A-11FE-A25D-75A53A34C0FA}"/>
              </a:ext>
            </a:extLst>
          </p:cNvPr>
          <p:cNvSpPr/>
          <p:nvPr/>
        </p:nvSpPr>
        <p:spPr>
          <a:xfrm rot="10800000">
            <a:off x="3530480" y="4070323"/>
            <a:ext cx="239615" cy="385313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16C080B0-4A32-67DF-9B89-53C74EA73727}"/>
              </a:ext>
            </a:extLst>
          </p:cNvPr>
          <p:cNvSpPr/>
          <p:nvPr/>
        </p:nvSpPr>
        <p:spPr>
          <a:xfrm rot="10800000">
            <a:off x="4773535" y="4262979"/>
            <a:ext cx="239615" cy="385313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8DF268F4-08B3-ACFC-B7A1-F7234C44C470}"/>
              </a:ext>
            </a:extLst>
          </p:cNvPr>
          <p:cNvSpPr/>
          <p:nvPr/>
        </p:nvSpPr>
        <p:spPr>
          <a:xfrm rot="10800000">
            <a:off x="4773533" y="3792747"/>
            <a:ext cx="239615" cy="385313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Google Shape;408;p35">
            <a:extLst>
              <a:ext uri="{FF2B5EF4-FFF2-40B4-BE49-F238E27FC236}">
                <a16:creationId xmlns:a16="http://schemas.microsoft.com/office/drawing/2014/main" id="{6E4D29A9-2CEC-0239-0055-2D340AF7F539}"/>
              </a:ext>
            </a:extLst>
          </p:cNvPr>
          <p:cNvSpPr/>
          <p:nvPr/>
        </p:nvSpPr>
        <p:spPr>
          <a:xfrm>
            <a:off x="1993850" y="5492637"/>
            <a:ext cx="7938400" cy="985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Google Shape;409;p35">
            <a:extLst>
              <a:ext uri="{FF2B5EF4-FFF2-40B4-BE49-F238E27FC236}">
                <a16:creationId xmlns:a16="http://schemas.microsoft.com/office/drawing/2014/main" id="{D59BD170-13EB-D239-C5FA-34645FAECE28}"/>
              </a:ext>
            </a:extLst>
          </p:cNvPr>
          <p:cNvSpPr txBox="1"/>
          <p:nvPr/>
        </p:nvSpPr>
        <p:spPr>
          <a:xfrm>
            <a:off x="1993850" y="5562037"/>
            <a:ext cx="7938400" cy="98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Naively doing such prioritization will not preserve inbound fairness. 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4CE55C7-6856-ECC9-1204-D524C3C14036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DCAEB06-1BD9-501B-3E5A-159DB470DFD2}"/>
              </a:ext>
            </a:extLst>
          </p:cNvPr>
          <p:cNvSpPr/>
          <p:nvPr/>
        </p:nvSpPr>
        <p:spPr>
          <a:xfrm>
            <a:off x="5243328" y="269512"/>
            <a:ext cx="6242819" cy="10874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LOQ: A Domain-Specific Scheduling Policy</a:t>
            </a:r>
          </a:p>
        </p:txBody>
      </p:sp>
    </p:spTree>
    <p:extLst>
      <p:ext uri="{BB962C8B-B14F-4D97-AF65-F5344CB8AC3E}">
        <p14:creationId xmlns:p14="http://schemas.microsoft.com/office/powerpoint/2010/main" val="325270566"/>
      </p:ext>
    </p:extLst>
  </p:cSld>
  <p:clrMapOvr>
    <a:masterClrMapping/>
  </p:clrMapOvr>
  <p:transition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/>
      <p:bldP spid="1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CBFCC49D-0895-F169-4433-88EE9E805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7A822D50-8F80-07CB-ED2A-B7B5587864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4BDCC5B-B2E1-3580-AB9A-8D7253EB1F23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FECCEFA-337A-B33E-9EFA-E000D00C4F93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55BED9-9F4A-4CCF-E005-F65AA92AFC64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1A4723-083A-3B4D-CBFE-0F6974AC0895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CDC054-979C-8D48-89C1-74CCBC5FC9DE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272C1A65-D56E-167C-14B8-BDC3979EFB04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ABB70BB-56E3-1AB3-0534-A4BCF76295ED}"/>
              </a:ext>
            </a:extLst>
          </p:cNvPr>
          <p:cNvSpPr/>
          <p:nvPr/>
        </p:nvSpPr>
        <p:spPr>
          <a:xfrm>
            <a:off x="1055077" y="5647174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D44635-1DAF-9414-3567-2DEAB9DFB235}"/>
              </a:ext>
            </a:extLst>
          </p:cNvPr>
          <p:cNvSpPr/>
          <p:nvPr/>
        </p:nvSpPr>
        <p:spPr>
          <a:xfrm>
            <a:off x="1247672" y="5662247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AE2693-AADB-755A-5539-9D4CBD61F113}"/>
              </a:ext>
            </a:extLst>
          </p:cNvPr>
          <p:cNvSpPr/>
          <p:nvPr/>
        </p:nvSpPr>
        <p:spPr>
          <a:xfrm>
            <a:off x="2006319" y="5647174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7DF20DC-42E0-6203-5B2A-821E1C426DF1}"/>
              </a:ext>
            </a:extLst>
          </p:cNvPr>
          <p:cNvSpPr/>
          <p:nvPr/>
        </p:nvSpPr>
        <p:spPr>
          <a:xfrm>
            <a:off x="3012831" y="5632102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669B602-202B-E5A2-EF57-62F69B3EAC7F}"/>
              </a:ext>
            </a:extLst>
          </p:cNvPr>
          <p:cNvSpPr/>
          <p:nvPr/>
        </p:nvSpPr>
        <p:spPr>
          <a:xfrm>
            <a:off x="3997571" y="5632102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792EEE9-6CE9-16C1-00ED-0F884FA79456}"/>
              </a:ext>
            </a:extLst>
          </p:cNvPr>
          <p:cNvSpPr/>
          <p:nvPr/>
        </p:nvSpPr>
        <p:spPr>
          <a:xfrm>
            <a:off x="4191838" y="5657222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1C9668-0514-1720-1A77-55BDDFB561F3}"/>
              </a:ext>
            </a:extLst>
          </p:cNvPr>
          <p:cNvSpPr/>
          <p:nvPr/>
        </p:nvSpPr>
        <p:spPr>
          <a:xfrm>
            <a:off x="3811673" y="5679830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F3B792-56F4-8E04-9BC0-DC5CF6124E3F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986663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211C64BD-41BD-6F2F-B265-62AC4F69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596027CB-5FBA-87B8-0350-F91E281B89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887D5150-C258-D770-F3FC-B8C7C9D70C6C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A464B21-9ECA-6E22-48FC-7F7C805C9C92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50ADE9-70A9-7A6D-DD63-BF7BD60E150F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42F38E-59F7-B1ED-5D32-E420F432227F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DAC0452-52B8-A38D-F994-49FE05ABA86F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A4B91619-F1D0-9C30-09A7-36AA7546A259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A1EB92-DFA6-4309-8220-9D3AC36E6E09}"/>
              </a:ext>
            </a:extLst>
          </p:cNvPr>
          <p:cNvSpPr/>
          <p:nvPr/>
        </p:nvSpPr>
        <p:spPr>
          <a:xfrm>
            <a:off x="1966127" y="466651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1D8470-9185-9A60-9E01-BEE0542790CA}"/>
              </a:ext>
            </a:extLst>
          </p:cNvPr>
          <p:cNvSpPr/>
          <p:nvPr/>
        </p:nvSpPr>
        <p:spPr>
          <a:xfrm>
            <a:off x="2183187" y="4669134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F7120B-03A6-721C-B190-60AA1275CDCE}"/>
              </a:ext>
            </a:extLst>
          </p:cNvPr>
          <p:cNvSpPr/>
          <p:nvPr/>
        </p:nvSpPr>
        <p:spPr>
          <a:xfrm>
            <a:off x="2406362" y="4680566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70CBD89-C192-033A-55B6-F654A9814B10}"/>
              </a:ext>
            </a:extLst>
          </p:cNvPr>
          <p:cNvSpPr/>
          <p:nvPr/>
        </p:nvSpPr>
        <p:spPr>
          <a:xfrm>
            <a:off x="2656115" y="466651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81674E-FF6C-7F0B-4ADB-BE6363769C7A}"/>
              </a:ext>
            </a:extLst>
          </p:cNvPr>
          <p:cNvSpPr/>
          <p:nvPr/>
        </p:nvSpPr>
        <p:spPr>
          <a:xfrm>
            <a:off x="2245588" y="487514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04CB062-74E7-27CC-8841-0AA16E93306B}"/>
              </a:ext>
            </a:extLst>
          </p:cNvPr>
          <p:cNvSpPr/>
          <p:nvPr/>
        </p:nvSpPr>
        <p:spPr>
          <a:xfrm>
            <a:off x="2475390" y="4882499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E60AE7B-FD34-90D1-1181-886684800136}"/>
              </a:ext>
            </a:extLst>
          </p:cNvPr>
          <p:cNvSpPr/>
          <p:nvPr/>
        </p:nvSpPr>
        <p:spPr>
          <a:xfrm>
            <a:off x="2905868" y="466651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F3735E-59D0-5C9A-7820-E71C64F04798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384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D0FA9E4C-8ADE-339E-1F66-2BE2018B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A7415E4F-870A-D7E5-009F-8DFDCA0AAB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A6E97DEC-79E5-22C2-223E-E26C99FAC912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60208E-B4DB-C185-4642-F77D183FB7EF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41454A8-83C0-ECAA-7675-99721ABAF3D4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2B8A92-B218-CFC2-87A7-7A6E9B6C2DAA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43911D4-3B6F-D3F7-EEBB-7E416FC9E76B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D335532-DD1B-9D2D-B0F8-228B986B0649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653576-B23F-C6A4-D606-CE3AC93C5A92}"/>
              </a:ext>
            </a:extLst>
          </p:cNvPr>
          <p:cNvSpPr/>
          <p:nvPr/>
        </p:nvSpPr>
        <p:spPr>
          <a:xfrm>
            <a:off x="2152017" y="3152271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DEB6DDE-B560-682D-CFB5-68961C334F14}"/>
              </a:ext>
            </a:extLst>
          </p:cNvPr>
          <p:cNvSpPr/>
          <p:nvPr/>
        </p:nvSpPr>
        <p:spPr>
          <a:xfrm>
            <a:off x="2392894" y="3161189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AC2AF7D-394D-A414-C0DE-81C5177F7A1D}"/>
              </a:ext>
            </a:extLst>
          </p:cNvPr>
          <p:cNvSpPr/>
          <p:nvPr/>
        </p:nvSpPr>
        <p:spPr>
          <a:xfrm>
            <a:off x="2601239" y="3152271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C9DB3C-D833-6035-B4B3-CC7696BCC77F}"/>
              </a:ext>
            </a:extLst>
          </p:cNvPr>
          <p:cNvSpPr/>
          <p:nvPr/>
        </p:nvSpPr>
        <p:spPr>
          <a:xfrm>
            <a:off x="2811762" y="3175225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36FFEB-86F4-36DE-AB0F-3A4C78A36780}"/>
              </a:ext>
            </a:extLst>
          </p:cNvPr>
          <p:cNvSpPr/>
          <p:nvPr/>
        </p:nvSpPr>
        <p:spPr>
          <a:xfrm>
            <a:off x="1955767" y="3152271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448191-7523-D777-514C-C26CC601FFBB}"/>
              </a:ext>
            </a:extLst>
          </p:cNvPr>
          <p:cNvSpPr/>
          <p:nvPr/>
        </p:nvSpPr>
        <p:spPr>
          <a:xfrm>
            <a:off x="3289160" y="3161189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8BBB722-8776-3B88-C849-7F88FF1393F8}"/>
              </a:ext>
            </a:extLst>
          </p:cNvPr>
          <p:cNvSpPr/>
          <p:nvPr/>
        </p:nvSpPr>
        <p:spPr>
          <a:xfrm>
            <a:off x="3050461" y="3163810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AFAB86-3BC0-BB13-B92F-B5260825F81E}"/>
              </a:ext>
            </a:extLst>
          </p:cNvPr>
          <p:cNvSpPr txBox="1"/>
          <p:nvPr/>
        </p:nvSpPr>
        <p:spPr>
          <a:xfrm>
            <a:off x="449187" y="2994001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200A9DC-4709-B1CE-2F02-5CE64631BE53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274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3D4452E9-2C42-934B-8453-A60580550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4EA3CCC4-E796-DF1E-F791-B2BC5844A7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56830ED3-92E3-FE32-1007-F6D0A996A71B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E079E4-8CE5-EF58-904F-A5CE0D46500F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8196FD6-E56C-49D9-0567-43774D6C1ED8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E1EA33-DEFD-50F1-EC8A-2970F89ED6E6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724554-DA1C-AA9C-020F-DC6B1716F633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B695B455-6CF1-4B09-975F-F3B752845C19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36998D-A519-DB04-22AF-86EB66D63117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1720B3-579E-4B1F-5B79-2086F2475161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2475814-F4A8-442F-6C98-27F49BE66130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A4001A9-870B-F904-111E-B1C8B15F6A3F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48216A9-0E8E-CDB8-C585-7A5A2B2CCA04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39978D0-17E8-9EC6-C5A3-9D9ECA7325BD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0B3016-8B45-FF8E-1792-A50B04DAF829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80BFE0-D30F-CEA6-30D3-8581F34687CA}"/>
              </a:ext>
            </a:extLst>
          </p:cNvPr>
          <p:cNvSpPr txBox="1"/>
          <p:nvPr/>
        </p:nvSpPr>
        <p:spPr>
          <a:xfrm>
            <a:off x="292924" y="188736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37F8D-112B-4541-D858-7228AE529A20}"/>
              </a:ext>
            </a:extLst>
          </p:cNvPr>
          <p:cNvSpPr txBox="1"/>
          <p:nvPr/>
        </p:nvSpPr>
        <p:spPr>
          <a:xfrm>
            <a:off x="289837" y="302926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6635C7-015A-20A0-97E0-A37DBDCE3AE1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4013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E862169F-9A39-5A0B-BA3B-C80B0479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CD25155D-33F8-FC1C-82FB-3E42A174D9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A6865693-8377-6D01-6EBD-560910FF281D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1E6EAC-025C-5F40-AD60-C2275DF5A92B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060EF3-74BC-0289-15C2-18D5B5C061AC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9E527F-4478-3CF0-53CB-A21E229B2750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D5F2B4-95C7-C8BE-741F-C8EA6FC6B30E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948E78BB-3EA4-90D0-99A5-3BBC8FB28FA7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7E6532-6E29-256F-D868-8130B2F54A70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423B50-FF1E-9704-1760-C07E1594218A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A4DAD7-C094-996C-69E6-E6DDFEE4A9C8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6449C5-135A-E747-A382-E8C2B68754BC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C613B7F-974E-0637-78F4-21F7EAAA64EE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13CB73-336F-9082-A745-64E71DFC389B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39142F2-AC11-81C6-F61C-F1C5F7319606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99406D-7CD4-2AB9-22B5-33BEDE38E2E5}"/>
              </a:ext>
            </a:extLst>
          </p:cNvPr>
          <p:cNvSpPr txBox="1"/>
          <p:nvPr/>
        </p:nvSpPr>
        <p:spPr>
          <a:xfrm>
            <a:off x="292924" y="188736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C46D86A2-1283-5B26-82DC-507AF758EA13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131862-6D21-4101-7F71-950EFCC22658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629935-0294-5E64-7BB8-F0F9141925A7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97E867-8288-24D0-4747-DB83A6684592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0478C8C-F800-10A9-AE55-CD1629823DEC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91E8D152-FFE9-40D6-7D07-79B2891FAEF3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2D5EBF6-F037-9A1D-3B99-4ED5D06F8936}"/>
              </a:ext>
            </a:extLst>
          </p:cNvPr>
          <p:cNvSpPr/>
          <p:nvPr/>
        </p:nvSpPr>
        <p:spPr>
          <a:xfrm>
            <a:off x="7448232" y="5584372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83D5742-ADDC-92D0-E1F1-4C102A15E4B1}"/>
              </a:ext>
            </a:extLst>
          </p:cNvPr>
          <p:cNvSpPr/>
          <p:nvPr/>
        </p:nvSpPr>
        <p:spPr>
          <a:xfrm>
            <a:off x="7640827" y="5599445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31D7CD-9BF9-70FD-5E77-51EB972F5C68}"/>
              </a:ext>
            </a:extLst>
          </p:cNvPr>
          <p:cNvSpPr/>
          <p:nvPr/>
        </p:nvSpPr>
        <p:spPr>
          <a:xfrm>
            <a:off x="8399474" y="5584372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4EB7987-EAB8-FADE-129E-A9E82D8DC953}"/>
              </a:ext>
            </a:extLst>
          </p:cNvPr>
          <p:cNvSpPr/>
          <p:nvPr/>
        </p:nvSpPr>
        <p:spPr>
          <a:xfrm>
            <a:off x="9405986" y="5569300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208E077-87EE-DCD1-C049-7DDBC8DB832C}"/>
              </a:ext>
            </a:extLst>
          </p:cNvPr>
          <p:cNvSpPr/>
          <p:nvPr/>
        </p:nvSpPr>
        <p:spPr>
          <a:xfrm>
            <a:off x="10390726" y="5569300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B69C602-F12F-B89C-BD34-332E1A3E4E46}"/>
              </a:ext>
            </a:extLst>
          </p:cNvPr>
          <p:cNvSpPr/>
          <p:nvPr/>
        </p:nvSpPr>
        <p:spPr>
          <a:xfrm>
            <a:off x="10584993" y="5594420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B51EB43-ADF0-911A-B6CE-904D3FDD4D05}"/>
              </a:ext>
            </a:extLst>
          </p:cNvPr>
          <p:cNvSpPr/>
          <p:nvPr/>
        </p:nvSpPr>
        <p:spPr>
          <a:xfrm>
            <a:off x="10204828" y="5617028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71F994-FAE7-CF14-800F-749BBD9422BD}"/>
              </a:ext>
            </a:extLst>
          </p:cNvPr>
          <p:cNvSpPr txBox="1"/>
          <p:nvPr/>
        </p:nvSpPr>
        <p:spPr>
          <a:xfrm>
            <a:off x="292924" y="300722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D9F3A8F-AA65-12E4-3F23-58F7CBA8CEE8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832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8" grpId="0" animBg="1"/>
      <p:bldP spid="19" grpId="0" animBg="1"/>
      <p:bldP spid="20" grpId="0" animBg="1"/>
      <p:bldP spid="21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FBBD2BB3-3CA3-1E8A-A105-6AEADF9B9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CD72E258-C99F-C83E-8CFC-00DFEF3445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D38DAD73-CA3B-C3B0-5EE2-2243E779A18B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FA26B33-5793-ECD8-CBA5-D59EF1BCEF6B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F571BE-8CDB-B6A9-6A70-1882D6530180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9D45053-066D-7B78-2A55-02A90559B1AB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195AEA-AAC4-1924-4EAD-AE53E6ABAC22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A39D6977-7471-01F5-EF5C-2D07E361FB75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639BB0D-1D5F-78EF-9B70-DC7B2E8A252A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7DDD32-6ACB-E2B9-CB54-F5711D019F5E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4779E15-59E0-EEE8-F9BF-CC3D48B85AC7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837B6E2-AF13-DBCF-4D75-11D688CB37ED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F1FEEA-FC08-69D8-0AFA-093F3474DCEB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A3A6E72-3ED6-0A2E-09FA-02858E0B9D7C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076964-3E1C-D634-4D61-DB57DA3BCA4F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B55092-22A8-3AD8-B51E-9A44DD04B8FF}"/>
              </a:ext>
            </a:extLst>
          </p:cNvPr>
          <p:cNvSpPr txBox="1"/>
          <p:nvPr/>
        </p:nvSpPr>
        <p:spPr>
          <a:xfrm>
            <a:off x="292924" y="188736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65F4C338-38F2-802D-F7CC-635ADE8F6204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98D79B4-A31A-ABC7-DC72-1E69B0BB5D19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5B675D1-EE75-9888-5C06-CD019355B7EF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04D84B-D817-4C4A-4777-FC1C2F7AA9CF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36B016-F495-187B-9F3B-26F58AFD441C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7B5AD404-844E-7E11-BC84-1C864CD3EC1D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7A1E6E-3C90-5089-A41F-3ED44E2BD964}"/>
              </a:ext>
            </a:extLst>
          </p:cNvPr>
          <p:cNvSpPr/>
          <p:nvPr/>
        </p:nvSpPr>
        <p:spPr>
          <a:xfrm>
            <a:off x="8399474" y="4617506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4563911-8F63-2CEF-AA2B-000DB670E090}"/>
              </a:ext>
            </a:extLst>
          </p:cNvPr>
          <p:cNvSpPr/>
          <p:nvPr/>
        </p:nvSpPr>
        <p:spPr>
          <a:xfrm>
            <a:off x="8185107" y="4617506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42BA351-440B-84BA-11A0-5431330A500E}"/>
              </a:ext>
            </a:extLst>
          </p:cNvPr>
          <p:cNvSpPr/>
          <p:nvPr/>
        </p:nvSpPr>
        <p:spPr>
          <a:xfrm>
            <a:off x="8613841" y="4617506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E32259B-6091-19C3-463E-2C9D2DBC7392}"/>
              </a:ext>
            </a:extLst>
          </p:cNvPr>
          <p:cNvSpPr/>
          <p:nvPr/>
        </p:nvSpPr>
        <p:spPr>
          <a:xfrm>
            <a:off x="8828208" y="461322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B09EACF-D320-2BCF-9BE6-4E04A46C2002}"/>
              </a:ext>
            </a:extLst>
          </p:cNvPr>
          <p:cNvSpPr/>
          <p:nvPr/>
        </p:nvSpPr>
        <p:spPr>
          <a:xfrm>
            <a:off x="9274135" y="461322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7600313-B862-B7C7-8F45-58C3D9FCD9F5}"/>
              </a:ext>
            </a:extLst>
          </p:cNvPr>
          <p:cNvSpPr/>
          <p:nvPr/>
        </p:nvSpPr>
        <p:spPr>
          <a:xfrm>
            <a:off x="9471004" y="461322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8E7F22C-47A6-6C96-E398-6EE61F82831D}"/>
              </a:ext>
            </a:extLst>
          </p:cNvPr>
          <p:cNvSpPr/>
          <p:nvPr/>
        </p:nvSpPr>
        <p:spPr>
          <a:xfrm>
            <a:off x="9064341" y="461322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28E8AE-B2AF-68C8-17AC-4FC9A77EB443}"/>
              </a:ext>
            </a:extLst>
          </p:cNvPr>
          <p:cNvSpPr txBox="1"/>
          <p:nvPr/>
        </p:nvSpPr>
        <p:spPr>
          <a:xfrm>
            <a:off x="289837" y="302926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15A7612-F300-528D-9EA6-5F9985F4079E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61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12D0EA4A-7C63-F988-E96A-9D3DE922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5C9C8BBB-633D-9F81-4C98-0BA546FEF8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AB8EABC0-9908-EE39-F5FD-670CCA4DB4F2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CCE741D-8FF9-73E4-E94D-6A1A76D130FB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960873-1165-E785-C227-146A7E4AB7F0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A5508E-7E15-F4F5-BF63-A244E5E411C1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4D416A-D668-704B-03A1-93C05B5BE416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8C99124E-BF01-F33A-2705-CE67164084F9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E0DDC9-DD56-49F7-3EFA-CFAD974639EA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CE3F59-A5AB-EF70-8391-0C188A311D06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86C2407-8921-6E46-6D0F-E8C56E5AFBD9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A08636-EAE9-EB21-D253-E257C55889BC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E57386-1B61-3053-4112-C0ADA6D498F6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9F2BE0-6C6A-19A1-C438-4D5E0F501E8E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12E36C4-F701-EC12-3A21-025F919E7157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0FA4B9-5840-4C46-DE91-17EF0A0A81B9}"/>
              </a:ext>
            </a:extLst>
          </p:cNvPr>
          <p:cNvSpPr txBox="1"/>
          <p:nvPr/>
        </p:nvSpPr>
        <p:spPr>
          <a:xfrm>
            <a:off x="292924" y="188736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CBB12262-C3E0-EE38-493C-6D75F4202FBC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643E3A0-4E0C-C392-29CA-D42E52141DF3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3121432-35E5-CD09-35DD-01E2E513DF8C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7868C0C-24AA-7AE5-0FE1-AEEF98871B54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8ACF5C5-F46D-26DD-D93C-9D129462A183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53171ECB-2AB4-4F76-24F9-8D8572C5302C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CC812F0-206F-F98E-AF84-9F04EF90114A}"/>
              </a:ext>
            </a:extLst>
          </p:cNvPr>
          <p:cNvSpPr/>
          <p:nvPr/>
        </p:nvSpPr>
        <p:spPr>
          <a:xfrm>
            <a:off x="8399474" y="4617506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354CFAA-AA8F-A9C9-761F-56B013D08DEC}"/>
              </a:ext>
            </a:extLst>
          </p:cNvPr>
          <p:cNvSpPr/>
          <p:nvPr/>
        </p:nvSpPr>
        <p:spPr>
          <a:xfrm>
            <a:off x="8185107" y="4617506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C007C7D-1287-E566-493A-26B662DEC0AE}"/>
              </a:ext>
            </a:extLst>
          </p:cNvPr>
          <p:cNvSpPr/>
          <p:nvPr/>
        </p:nvSpPr>
        <p:spPr>
          <a:xfrm>
            <a:off x="10015311" y="3165157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165C78-0EC2-0766-4F28-7E45FD0D0912}"/>
              </a:ext>
            </a:extLst>
          </p:cNvPr>
          <p:cNvSpPr/>
          <p:nvPr/>
        </p:nvSpPr>
        <p:spPr>
          <a:xfrm>
            <a:off x="8411589" y="3145079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A42D886-029E-9522-3769-0DF920B33D4D}"/>
              </a:ext>
            </a:extLst>
          </p:cNvPr>
          <p:cNvSpPr/>
          <p:nvPr/>
        </p:nvSpPr>
        <p:spPr>
          <a:xfrm>
            <a:off x="8023840" y="3177557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FD4EC65-9476-890D-1232-53CDC00364B5}"/>
              </a:ext>
            </a:extLst>
          </p:cNvPr>
          <p:cNvSpPr/>
          <p:nvPr/>
        </p:nvSpPr>
        <p:spPr>
          <a:xfrm>
            <a:off x="8694228" y="3145079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77922E4-928F-D277-1085-470A69840261}"/>
              </a:ext>
            </a:extLst>
          </p:cNvPr>
          <p:cNvSpPr/>
          <p:nvPr/>
        </p:nvSpPr>
        <p:spPr>
          <a:xfrm>
            <a:off x="9064341" y="4613223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C331BE-8F06-43E0-1319-F2B3A3986520}"/>
              </a:ext>
            </a:extLst>
          </p:cNvPr>
          <p:cNvSpPr txBox="1"/>
          <p:nvPr/>
        </p:nvSpPr>
        <p:spPr>
          <a:xfrm>
            <a:off x="292924" y="299633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3523433-E410-22C0-A889-79CCC8457AE3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3222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FB8572AE-4408-C95B-7BAD-F40B511EF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907AA038-2F1A-7E8D-42E8-1BA0B7D0E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58CA4028-53B3-FEC5-5067-0022813DA013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1FE96F-CC89-D681-4449-AFB13D74D63E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C91832-14B3-2862-D030-57DA08BDC792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77CA71-89BC-AAC2-9A46-8670269417DA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74632D-ED38-EF15-BC45-52753E962401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636BCCC2-3859-BBB6-8C68-616E138D98D0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5911E7D-661A-393A-03A5-78BED0822A04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333DC2B-D204-EE12-82C2-840E7F767AD5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262CF1D-1B8C-3EC3-9155-9A55605B2F7F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F7D4AE-7305-F2FD-9976-F3C96D2EBC12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49F6C1-E922-A81E-9793-6B1F2AB2EAFE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1A160C-45BF-225D-DE02-02DA71E51207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5A1671-52A9-CE0C-2B74-41BC4599683D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3F464F-81EE-0356-1E86-44F4605B79FD}"/>
              </a:ext>
            </a:extLst>
          </p:cNvPr>
          <p:cNvSpPr txBox="1"/>
          <p:nvPr/>
        </p:nvSpPr>
        <p:spPr>
          <a:xfrm>
            <a:off x="292924" y="188736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244EA95D-638B-076A-DC28-474144C649D9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495AE60-44A7-3FD0-77EC-E58428C0BA10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346E2E8-BA11-6A87-51AF-3E8C7AFC8230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2DF35E9-C1D6-EA77-8FF4-0B0A33069361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A62308-50CE-19EE-68A4-C0C6969AB7C1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7EA24CA6-5C2A-4398-25D8-DD17F7091771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2737A52-261D-89C2-8B84-7CBCC8A225BC}"/>
              </a:ext>
            </a:extLst>
          </p:cNvPr>
          <p:cNvSpPr/>
          <p:nvPr/>
        </p:nvSpPr>
        <p:spPr>
          <a:xfrm>
            <a:off x="8694228" y="3386277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1C10B3E-42EF-1029-0372-898D8BDA7BD7}"/>
              </a:ext>
            </a:extLst>
          </p:cNvPr>
          <p:cNvSpPr/>
          <p:nvPr/>
        </p:nvSpPr>
        <p:spPr>
          <a:xfrm>
            <a:off x="9547175" y="3185292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5A9DDC-4060-A91B-B349-A73B1A031FD2}"/>
              </a:ext>
            </a:extLst>
          </p:cNvPr>
          <p:cNvSpPr/>
          <p:nvPr/>
        </p:nvSpPr>
        <p:spPr>
          <a:xfrm>
            <a:off x="10015311" y="3165157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9E63690-C34D-F7BC-4679-88C89CB34F32}"/>
              </a:ext>
            </a:extLst>
          </p:cNvPr>
          <p:cNvSpPr/>
          <p:nvPr/>
        </p:nvSpPr>
        <p:spPr>
          <a:xfrm>
            <a:off x="8411589" y="3145079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92DF61D-B4A4-D1BB-2242-E58E664EEC30}"/>
              </a:ext>
            </a:extLst>
          </p:cNvPr>
          <p:cNvSpPr/>
          <p:nvPr/>
        </p:nvSpPr>
        <p:spPr>
          <a:xfrm>
            <a:off x="8023840" y="3177557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ABF9C44-3B34-68D9-3B19-BE608D1F0A90}"/>
              </a:ext>
            </a:extLst>
          </p:cNvPr>
          <p:cNvSpPr/>
          <p:nvPr/>
        </p:nvSpPr>
        <p:spPr>
          <a:xfrm>
            <a:off x="8694228" y="3145079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360C27-AB5C-A1FE-CF5D-62BA9604A8BD}"/>
              </a:ext>
            </a:extLst>
          </p:cNvPr>
          <p:cNvSpPr/>
          <p:nvPr/>
        </p:nvSpPr>
        <p:spPr>
          <a:xfrm>
            <a:off x="9021550" y="3190331"/>
            <a:ext cx="160774" cy="16077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7CB0A6-758A-1C8D-26C7-569C14D85527}"/>
              </a:ext>
            </a:extLst>
          </p:cNvPr>
          <p:cNvSpPr txBox="1"/>
          <p:nvPr/>
        </p:nvSpPr>
        <p:spPr>
          <a:xfrm>
            <a:off x="262263" y="298393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CEFBB1-06BF-A4A8-DF52-3E39353FD486}"/>
              </a:ext>
            </a:extLst>
          </p:cNvPr>
          <p:cNvSpPr txBox="1"/>
          <p:nvPr/>
        </p:nvSpPr>
        <p:spPr>
          <a:xfrm>
            <a:off x="10531792" y="298393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875808C0-D7BB-7CEE-932A-9AFC41E72C36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0895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B9D69BB1-9AD8-4A16-FC16-FBBCA226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FD47C639-A9FF-668A-89A8-6988ABD190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9EA3CB57-1A40-3CA2-30BD-DF84204751C2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46730C-C9A3-8ED8-77EF-D43F95794E96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936CA7-E973-692B-CEEC-DF91387C16AD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53BC4F-DCB6-0DE8-3EB3-8FA1C25F3FBA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4B7C03-C84A-991E-638C-E311611364C3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887F7E04-6087-71CF-C104-F58EF7CBEF25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509523D-C509-BC65-0260-03EFA1AE06EC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C89ACD-829E-5FAB-9B80-4F411413BF3C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78379E-7CB3-A492-43AF-3F3290CF2F02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285682-9BE6-3514-57B0-D227F09212EF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C4B8A7-C356-F570-221D-0BEF73E05FE5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346970-24E2-EE5D-7DF7-0760B05B5C5A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4530EE-DCB4-CF14-F59E-91A9214A54F7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E0C538-E8E0-BA34-A4AF-73FAC45891BF}"/>
              </a:ext>
            </a:extLst>
          </p:cNvPr>
          <p:cNvSpPr txBox="1"/>
          <p:nvPr/>
        </p:nvSpPr>
        <p:spPr>
          <a:xfrm>
            <a:off x="292924" y="188736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B5E2127C-A8EE-7545-1C1E-0A413E90B7A9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AD3DF30-1162-1FE3-81F4-371507AD353B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224352-D243-A35E-17AF-C823C04A7CEC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1570834-1804-3AF3-0D32-5551C000A9AE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09C6244-F136-94C0-E6D2-C4443631DE84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FFA624E3-015F-6942-6514-E1EFC7F2426D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749BB9D-9659-C78A-E67F-3E1480CE2FC0}"/>
              </a:ext>
            </a:extLst>
          </p:cNvPr>
          <p:cNvSpPr/>
          <p:nvPr/>
        </p:nvSpPr>
        <p:spPr>
          <a:xfrm>
            <a:off x="8513146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5B2AEBB-5B39-3D0A-E8C4-E5BF12946D5B}"/>
              </a:ext>
            </a:extLst>
          </p:cNvPr>
          <p:cNvSpPr/>
          <p:nvPr/>
        </p:nvSpPr>
        <p:spPr>
          <a:xfrm>
            <a:off x="9252499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5A3F489-37B6-AA48-2E4B-46A75ADE2BE1}"/>
              </a:ext>
            </a:extLst>
          </p:cNvPr>
          <p:cNvSpPr/>
          <p:nvPr/>
        </p:nvSpPr>
        <p:spPr>
          <a:xfrm>
            <a:off x="9508144" y="214488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6409125-E869-A62C-3E64-ACDF4ABFD772}"/>
              </a:ext>
            </a:extLst>
          </p:cNvPr>
          <p:cNvSpPr/>
          <p:nvPr/>
        </p:nvSpPr>
        <p:spPr>
          <a:xfrm>
            <a:off x="829904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4BE1082-CD68-B1B8-56B2-8802199FBD46}"/>
              </a:ext>
            </a:extLst>
          </p:cNvPr>
          <p:cNvSpPr/>
          <p:nvPr/>
        </p:nvSpPr>
        <p:spPr>
          <a:xfrm>
            <a:off x="9759419" y="213552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D5B5A84-EB89-A8DF-04A3-C8A7D495D8EE}"/>
              </a:ext>
            </a:extLst>
          </p:cNvPr>
          <p:cNvSpPr/>
          <p:nvPr/>
        </p:nvSpPr>
        <p:spPr>
          <a:xfrm>
            <a:off x="8778023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12A2663-8244-218B-A6D1-B2BDC0C9CED2}"/>
              </a:ext>
            </a:extLst>
          </p:cNvPr>
          <p:cNvSpPr/>
          <p:nvPr/>
        </p:nvSpPr>
        <p:spPr>
          <a:xfrm>
            <a:off x="902037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AFCB11-D9F0-135F-FC01-AD097FE6A5E7}"/>
              </a:ext>
            </a:extLst>
          </p:cNvPr>
          <p:cNvSpPr txBox="1"/>
          <p:nvPr/>
        </p:nvSpPr>
        <p:spPr>
          <a:xfrm>
            <a:off x="10125695" y="190814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CBAFA1-694F-9072-4A5C-F1E9AF964EAB}"/>
              </a:ext>
            </a:extLst>
          </p:cNvPr>
          <p:cNvSpPr txBox="1"/>
          <p:nvPr/>
        </p:nvSpPr>
        <p:spPr>
          <a:xfrm>
            <a:off x="10531792" y="298393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0EFCCF-3E24-2EA2-B5E7-50098BDE30AE}"/>
              </a:ext>
            </a:extLst>
          </p:cNvPr>
          <p:cNvSpPr txBox="1"/>
          <p:nvPr/>
        </p:nvSpPr>
        <p:spPr>
          <a:xfrm>
            <a:off x="262263" y="298393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724D850-FE96-B777-D67B-0EE37B7AB6A3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741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D499567B-700D-0C9A-4146-E93470C7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8D16F805-4B81-9E97-56CF-E993D6E686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34A9FC0A-5694-A725-5736-EB34A52FD30B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63F6CD-96C4-5739-465A-C66C2447A036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FAC0B9-FECB-6CD1-A73F-C5B4AF356011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899ABE-F36B-CF04-9A72-A3D4F501D055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34A7A84-8C06-139B-B954-1A715CA3D839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754051FC-EAD4-3D25-FB95-89CB5580EC77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1898A8-C837-7BFA-E80F-B13B75C43BCB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406600-B606-D3BB-3F2C-BF15D6FD8579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959EB6-BEE9-84F4-C381-44FCF16FB79E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617A061-F457-641E-EA58-C85EB632DF92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274447A-E675-2800-D67C-C17EDD21407E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03FA0F-4C41-7BCA-8BCB-952E961ABD0A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28D3D4-17BB-80F2-A138-43011342A484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1891DE-4F0A-AC83-5F26-0FE0E0F1D3A4}"/>
              </a:ext>
            </a:extLst>
          </p:cNvPr>
          <p:cNvSpPr txBox="1"/>
          <p:nvPr/>
        </p:nvSpPr>
        <p:spPr>
          <a:xfrm>
            <a:off x="4306319" y="3128982"/>
            <a:ext cx="1363529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8F1642FF-9128-3978-378E-0F43C70CA52D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8531C3-1E47-DA0E-7730-AD6D7F047228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75FC4AA-A140-3F78-4784-883F6B5D4376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E6D8FE-E354-B9D6-80E5-B13C54151A3E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DCF581-0761-B95A-02F2-8289A14E7D90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4A0DBE4D-8E45-D54E-D365-8CB00C9499CE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311B017-53B3-0D75-44FB-C143A25B27DE}"/>
              </a:ext>
            </a:extLst>
          </p:cNvPr>
          <p:cNvSpPr/>
          <p:nvPr/>
        </p:nvSpPr>
        <p:spPr>
          <a:xfrm>
            <a:off x="8513146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FF2B178-B66E-277B-2F9C-943705218F73}"/>
              </a:ext>
            </a:extLst>
          </p:cNvPr>
          <p:cNvSpPr/>
          <p:nvPr/>
        </p:nvSpPr>
        <p:spPr>
          <a:xfrm>
            <a:off x="9252499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8450B4E-D442-48A2-DADB-649FEAA92F58}"/>
              </a:ext>
            </a:extLst>
          </p:cNvPr>
          <p:cNvSpPr/>
          <p:nvPr/>
        </p:nvSpPr>
        <p:spPr>
          <a:xfrm>
            <a:off x="9508144" y="214488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C632E4-A14A-7049-E9E0-6E129BCA0A2B}"/>
              </a:ext>
            </a:extLst>
          </p:cNvPr>
          <p:cNvSpPr/>
          <p:nvPr/>
        </p:nvSpPr>
        <p:spPr>
          <a:xfrm>
            <a:off x="829904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4FACC5D-6940-7831-9996-83E760C52365}"/>
              </a:ext>
            </a:extLst>
          </p:cNvPr>
          <p:cNvSpPr/>
          <p:nvPr/>
        </p:nvSpPr>
        <p:spPr>
          <a:xfrm>
            <a:off x="9759419" y="213552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BE93788-CD5D-6CB7-A909-27BFE78BF899}"/>
              </a:ext>
            </a:extLst>
          </p:cNvPr>
          <p:cNvSpPr/>
          <p:nvPr/>
        </p:nvSpPr>
        <p:spPr>
          <a:xfrm>
            <a:off x="8778023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2F07AA9-C18C-7836-866C-466F599CD89C}"/>
              </a:ext>
            </a:extLst>
          </p:cNvPr>
          <p:cNvSpPr/>
          <p:nvPr/>
        </p:nvSpPr>
        <p:spPr>
          <a:xfrm>
            <a:off x="902037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FB86E8-21D5-86B0-F089-0BB6822CBEDE}"/>
              </a:ext>
            </a:extLst>
          </p:cNvPr>
          <p:cNvSpPr txBox="1"/>
          <p:nvPr/>
        </p:nvSpPr>
        <p:spPr>
          <a:xfrm>
            <a:off x="6259556" y="3128982"/>
            <a:ext cx="1363528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EED8CF-A9F6-B9B7-B226-28C255E62377}"/>
              </a:ext>
            </a:extLst>
          </p:cNvPr>
          <p:cNvSpPr txBox="1"/>
          <p:nvPr/>
        </p:nvSpPr>
        <p:spPr>
          <a:xfrm>
            <a:off x="5652695" y="3138956"/>
            <a:ext cx="525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3F9EBF-B830-FFBD-99F1-BBF73CFE1A0B}"/>
              </a:ext>
            </a:extLst>
          </p:cNvPr>
          <p:cNvSpPr txBox="1"/>
          <p:nvPr/>
        </p:nvSpPr>
        <p:spPr>
          <a:xfrm>
            <a:off x="10531792" y="298393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094DE6-9E8A-54A2-46EA-43BD26B1DAA6}"/>
              </a:ext>
            </a:extLst>
          </p:cNvPr>
          <p:cNvSpPr txBox="1"/>
          <p:nvPr/>
        </p:nvSpPr>
        <p:spPr>
          <a:xfrm>
            <a:off x="262263" y="2983933"/>
            <a:ext cx="1028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03FB98A-885D-2194-7E70-FF5040DC4D25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503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9C3107FC-576C-9290-BCC9-8D9D328F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0117D705-F048-9D34-E823-DE0B3A8940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5C8A9D49-A95B-FFC7-12CF-17861E26E3E3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95B5B0-F3C9-047A-2CA1-897D02FFC9F7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50E075-EDCB-481C-908B-909C89907CA6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FCB03C-C666-7443-D523-A73625327321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B0910A-94C8-C027-671E-84B9BA68AD0A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37FBD7F-883A-0CD2-DA38-79B3AC3845C7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8A9BC25-415E-60E5-6EAF-C6B9C7C0F5CA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60DD180-94F0-E9C8-A514-719CBC1F66C8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4EB7331-3585-4F89-D31D-52B6ADADF352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9B6A4F1-9C87-2FAC-ADC4-7B5FD274EB89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0BAD06-3E6A-D7D9-CAC7-71DC2399CA33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E809B43-1B63-4ECE-199F-86F05454A21C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EA58417-29B1-7D6D-5456-4003A528CA4D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D1641-E614-92B4-85AC-E1A46C1DBD95}"/>
              </a:ext>
            </a:extLst>
          </p:cNvPr>
          <p:cNvSpPr txBox="1"/>
          <p:nvPr/>
        </p:nvSpPr>
        <p:spPr>
          <a:xfrm>
            <a:off x="4306319" y="3128982"/>
            <a:ext cx="1363529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6E708ABA-BF9E-CD6D-B626-0C2705EE5DCA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BE75A-56AB-A15F-C2EA-8542E4F6E2E2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94C6E4-93FE-C174-5E1D-43554CD38C65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8F071EA-7EF6-7963-8D79-E726CCB5E7AA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AB9014-B353-7804-749E-6E590F0A30F1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C7A9AC88-8955-31F4-7212-5335919A516C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2555813-EE7E-FBEC-47E4-D2A8AB705CDB}"/>
              </a:ext>
            </a:extLst>
          </p:cNvPr>
          <p:cNvSpPr/>
          <p:nvPr/>
        </p:nvSpPr>
        <p:spPr>
          <a:xfrm>
            <a:off x="8513146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688E333-9EC5-1DA3-241C-8168A24DAA82}"/>
              </a:ext>
            </a:extLst>
          </p:cNvPr>
          <p:cNvSpPr/>
          <p:nvPr/>
        </p:nvSpPr>
        <p:spPr>
          <a:xfrm>
            <a:off x="9252499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CB24172-F9AF-9AD5-9559-87144699DC38}"/>
              </a:ext>
            </a:extLst>
          </p:cNvPr>
          <p:cNvSpPr/>
          <p:nvPr/>
        </p:nvSpPr>
        <p:spPr>
          <a:xfrm>
            <a:off x="9508144" y="214488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DF438874-44D0-6B3D-E8AC-AC1A874777D7}"/>
              </a:ext>
            </a:extLst>
          </p:cNvPr>
          <p:cNvSpPr/>
          <p:nvPr/>
        </p:nvSpPr>
        <p:spPr>
          <a:xfrm>
            <a:off x="829904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ECD4C38-D752-EB24-E673-3C571488616A}"/>
              </a:ext>
            </a:extLst>
          </p:cNvPr>
          <p:cNvSpPr/>
          <p:nvPr/>
        </p:nvSpPr>
        <p:spPr>
          <a:xfrm>
            <a:off x="9759419" y="213552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B866862-F7C5-2C9D-85E0-75F32BC249B3}"/>
              </a:ext>
            </a:extLst>
          </p:cNvPr>
          <p:cNvSpPr/>
          <p:nvPr/>
        </p:nvSpPr>
        <p:spPr>
          <a:xfrm>
            <a:off x="8778023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C7AF180-A964-CF1C-01F0-55399F1629AE}"/>
              </a:ext>
            </a:extLst>
          </p:cNvPr>
          <p:cNvSpPr/>
          <p:nvPr/>
        </p:nvSpPr>
        <p:spPr>
          <a:xfrm>
            <a:off x="902037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85E653-1251-2916-E872-C4CD313263C7}"/>
              </a:ext>
            </a:extLst>
          </p:cNvPr>
          <p:cNvSpPr txBox="1"/>
          <p:nvPr/>
        </p:nvSpPr>
        <p:spPr>
          <a:xfrm>
            <a:off x="6259556" y="3128982"/>
            <a:ext cx="1363528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C9C423-CFC4-32DD-5925-9266D95BE5DD}"/>
              </a:ext>
            </a:extLst>
          </p:cNvPr>
          <p:cNvSpPr txBox="1"/>
          <p:nvPr/>
        </p:nvSpPr>
        <p:spPr>
          <a:xfrm>
            <a:off x="5652695" y="3138956"/>
            <a:ext cx="525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9B91E5-0709-AA47-BC3C-B75D53C8B1B3}"/>
              </a:ext>
            </a:extLst>
          </p:cNvPr>
          <p:cNvSpPr txBox="1"/>
          <p:nvPr/>
        </p:nvSpPr>
        <p:spPr>
          <a:xfrm>
            <a:off x="4782445" y="4238838"/>
            <a:ext cx="1028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0FB57A-7A53-05E4-0C50-F65E23294D86}"/>
              </a:ext>
            </a:extLst>
          </p:cNvPr>
          <p:cNvSpPr txBox="1"/>
          <p:nvPr/>
        </p:nvSpPr>
        <p:spPr>
          <a:xfrm>
            <a:off x="6177890" y="4201098"/>
            <a:ext cx="1028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4ABCA0-F2C7-6F2D-76C1-64772D467D84}"/>
              </a:ext>
            </a:extLst>
          </p:cNvPr>
          <p:cNvSpPr txBox="1"/>
          <p:nvPr/>
        </p:nvSpPr>
        <p:spPr>
          <a:xfrm>
            <a:off x="5734361" y="4248812"/>
            <a:ext cx="525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≠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7AC9CE2-1FD3-4A53-2C75-7A2FC0E659B8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12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6760E419-0970-B08F-649F-F326100D4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D57E301D-FC5E-8D61-12D7-20BBC47394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6C44D3A6-77FF-2357-3D5F-825E35924839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9A336F-7CA3-0B19-7F4D-ADA6389204DD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2C235E-57D6-6EC6-7F75-5C2D848E1038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01D1B0-1A1F-01D5-13D0-35A424155A68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DF52C4-F75D-F801-9547-4A6CADA83620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C390DA48-1749-85F7-D80A-54BC06470AC7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81CC21D-4F2A-A14E-4F75-0CD4424077A8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7DED71-5465-F61E-ADF3-82A5FFB5C41A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537AD1C-ABB1-FFB1-F103-7F7768805968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E85D5E2-15B7-CB60-0768-42DFB9499939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080EBB1-F886-B419-60DF-B33F203B4CF5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A50E3E2-B526-A347-4585-8BC4B363D65C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3BBB73A-9731-2A6F-A316-1EF12F54ADDA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D05D38-F504-FB9D-C53F-78AC3075105A}"/>
              </a:ext>
            </a:extLst>
          </p:cNvPr>
          <p:cNvSpPr txBox="1"/>
          <p:nvPr/>
        </p:nvSpPr>
        <p:spPr>
          <a:xfrm>
            <a:off x="4306319" y="3128982"/>
            <a:ext cx="1363529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6E357F95-2C7B-0AF5-F08B-D284B6F1EB78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0A13DD2-3DF6-131C-73FA-372C5CDC11D8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ED0FBC-7056-94B9-8E1C-72A421F15B94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7E51382-25A6-3097-E759-FA5B492A8E0D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7F8553C-B6DA-0748-ED6C-BC55CAE30173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956C816B-F2AF-F022-B80C-57DEBC9961B3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B08E44A-10BB-EEE9-96C9-034E2B12D357}"/>
              </a:ext>
            </a:extLst>
          </p:cNvPr>
          <p:cNvSpPr/>
          <p:nvPr/>
        </p:nvSpPr>
        <p:spPr>
          <a:xfrm>
            <a:off x="8513146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B3E7E02-0398-BC29-52B6-7D0E747704A2}"/>
              </a:ext>
            </a:extLst>
          </p:cNvPr>
          <p:cNvSpPr/>
          <p:nvPr/>
        </p:nvSpPr>
        <p:spPr>
          <a:xfrm>
            <a:off x="9252499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7041E6B-51D3-87E0-D4B4-F32A1B3B561D}"/>
              </a:ext>
            </a:extLst>
          </p:cNvPr>
          <p:cNvSpPr/>
          <p:nvPr/>
        </p:nvSpPr>
        <p:spPr>
          <a:xfrm>
            <a:off x="9508144" y="214488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CC71FE4-8804-88C4-D1DC-4126A4BB9C2A}"/>
              </a:ext>
            </a:extLst>
          </p:cNvPr>
          <p:cNvSpPr/>
          <p:nvPr/>
        </p:nvSpPr>
        <p:spPr>
          <a:xfrm>
            <a:off x="829904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91D722F-561C-CDA7-2208-A41FA0E69ECA}"/>
              </a:ext>
            </a:extLst>
          </p:cNvPr>
          <p:cNvSpPr/>
          <p:nvPr/>
        </p:nvSpPr>
        <p:spPr>
          <a:xfrm>
            <a:off x="9759419" y="213552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830E81-C951-CEB5-DBEC-E9B26C22F635}"/>
              </a:ext>
            </a:extLst>
          </p:cNvPr>
          <p:cNvSpPr/>
          <p:nvPr/>
        </p:nvSpPr>
        <p:spPr>
          <a:xfrm>
            <a:off x="8778023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F1B64F-A865-721E-F66B-1EFAF95BF815}"/>
              </a:ext>
            </a:extLst>
          </p:cNvPr>
          <p:cNvSpPr/>
          <p:nvPr/>
        </p:nvSpPr>
        <p:spPr>
          <a:xfrm>
            <a:off x="902037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9E82DC-42EE-2A55-B9DA-BFC0E1D5D246}"/>
              </a:ext>
            </a:extLst>
          </p:cNvPr>
          <p:cNvSpPr txBox="1"/>
          <p:nvPr/>
        </p:nvSpPr>
        <p:spPr>
          <a:xfrm>
            <a:off x="6259556" y="3128982"/>
            <a:ext cx="1363528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596AB3-8718-BFD9-05EA-6298252CFB32}"/>
              </a:ext>
            </a:extLst>
          </p:cNvPr>
          <p:cNvSpPr txBox="1"/>
          <p:nvPr/>
        </p:nvSpPr>
        <p:spPr>
          <a:xfrm>
            <a:off x="5652695" y="3138956"/>
            <a:ext cx="525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6DB7F8-040C-5AE7-3A9D-FBB06623C6DC}"/>
              </a:ext>
            </a:extLst>
          </p:cNvPr>
          <p:cNvSpPr txBox="1"/>
          <p:nvPr/>
        </p:nvSpPr>
        <p:spPr>
          <a:xfrm>
            <a:off x="4782445" y="4238838"/>
            <a:ext cx="1028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2B8168-4A3A-5FCD-48BC-BEC19C9EDABD}"/>
              </a:ext>
            </a:extLst>
          </p:cNvPr>
          <p:cNvSpPr txBox="1"/>
          <p:nvPr/>
        </p:nvSpPr>
        <p:spPr>
          <a:xfrm>
            <a:off x="6177890" y="4201098"/>
            <a:ext cx="1028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5DDB3-7B06-1E56-DAA9-CEE9542C644C}"/>
              </a:ext>
            </a:extLst>
          </p:cNvPr>
          <p:cNvSpPr txBox="1"/>
          <p:nvPr/>
        </p:nvSpPr>
        <p:spPr>
          <a:xfrm>
            <a:off x="5734361" y="4248812"/>
            <a:ext cx="525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≠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ED2A86-ADB7-7859-48E2-10F83925AA02}"/>
              </a:ext>
            </a:extLst>
          </p:cNvPr>
          <p:cNvSpPr/>
          <p:nvPr/>
        </p:nvSpPr>
        <p:spPr>
          <a:xfrm>
            <a:off x="4040184" y="1904538"/>
            <a:ext cx="3854547" cy="2038294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7F2D3E-94F0-709B-B903-0B06DB131641}"/>
              </a:ext>
            </a:extLst>
          </p:cNvPr>
          <p:cNvSpPr txBox="1"/>
          <p:nvPr/>
        </p:nvSpPr>
        <p:spPr>
          <a:xfrm>
            <a:off x="4736165" y="1904537"/>
            <a:ext cx="2597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Preserves Fairness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26CABD3-F0BB-79F2-60F0-F3979D15D04A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866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EBFDA0D7-F628-4784-D134-BE11B7DEE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2145D04D-E233-AB6E-F7A4-1AF84E53E9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Preserves Fairness</a:t>
            </a:r>
            <a:endParaRPr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A86DBDF7-6D52-D774-DD17-247FE267FC5C}"/>
              </a:ext>
            </a:extLst>
          </p:cNvPr>
          <p:cNvSpPr/>
          <p:nvPr/>
        </p:nvSpPr>
        <p:spPr>
          <a:xfrm>
            <a:off x="1517300" y="2371411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57820E-A106-D1DC-5485-A06C14E2B7C8}"/>
              </a:ext>
            </a:extLst>
          </p:cNvPr>
          <p:cNvSpPr/>
          <p:nvPr/>
        </p:nvSpPr>
        <p:spPr>
          <a:xfrm>
            <a:off x="803868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82C444-A368-E7F2-401D-6391678841ED}"/>
              </a:ext>
            </a:extLst>
          </p:cNvPr>
          <p:cNvSpPr/>
          <p:nvPr/>
        </p:nvSpPr>
        <p:spPr>
          <a:xfrm>
            <a:off x="1770185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8EA3E8-7AEA-BF61-B3A9-6D1CFDBB0DC3}"/>
              </a:ext>
            </a:extLst>
          </p:cNvPr>
          <p:cNvSpPr/>
          <p:nvPr/>
        </p:nvSpPr>
        <p:spPr>
          <a:xfrm>
            <a:off x="2736502" y="5838092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5E3148-9177-5855-8C4F-1390D07D721D}"/>
              </a:ext>
            </a:extLst>
          </p:cNvPr>
          <p:cNvSpPr/>
          <p:nvPr/>
        </p:nvSpPr>
        <p:spPr>
          <a:xfrm>
            <a:off x="3702819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5EE6F848-3854-0B54-3CE8-640CBF4E1001}"/>
              </a:ext>
            </a:extLst>
          </p:cNvPr>
          <p:cNvSpPr/>
          <p:nvPr/>
        </p:nvSpPr>
        <p:spPr>
          <a:xfrm>
            <a:off x="972176" y="3567127"/>
            <a:ext cx="3371223" cy="1838849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 Fabric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D15351-E6B8-64C0-B64A-0B642AF0E00E}"/>
              </a:ext>
            </a:extLst>
          </p:cNvPr>
          <p:cNvSpPr/>
          <p:nvPr/>
        </p:nvSpPr>
        <p:spPr>
          <a:xfrm>
            <a:off x="1699370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9CAD92-CFB0-078D-D9BA-AE7EA274A920}"/>
              </a:ext>
            </a:extLst>
          </p:cNvPr>
          <p:cNvSpPr/>
          <p:nvPr/>
        </p:nvSpPr>
        <p:spPr>
          <a:xfrm>
            <a:off x="2934367" y="2095363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0CD68C-65A3-7DCC-3B40-E493C3263F13}"/>
              </a:ext>
            </a:extLst>
          </p:cNvPr>
          <p:cNvSpPr/>
          <p:nvPr/>
        </p:nvSpPr>
        <p:spPr>
          <a:xfrm>
            <a:off x="2652824" y="208000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EDC16E-EC36-A8CA-F421-8FA78CE96518}"/>
              </a:ext>
            </a:extLst>
          </p:cNvPr>
          <p:cNvSpPr/>
          <p:nvPr/>
        </p:nvSpPr>
        <p:spPr>
          <a:xfrm>
            <a:off x="2403230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59C3BA2-029E-3E58-AFC8-5DFDF96520E6}"/>
              </a:ext>
            </a:extLst>
          </p:cNvPr>
          <p:cNvSpPr/>
          <p:nvPr/>
        </p:nvSpPr>
        <p:spPr>
          <a:xfrm>
            <a:off x="3271227" y="2095074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FCE7C9-F4E5-76BE-A823-2379F997103E}"/>
              </a:ext>
            </a:extLst>
          </p:cNvPr>
          <p:cNvSpPr/>
          <p:nvPr/>
        </p:nvSpPr>
        <p:spPr>
          <a:xfrm>
            <a:off x="2164083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21A7349-BCB4-7D9D-48F6-FFDFDEBA3BEA}"/>
              </a:ext>
            </a:extLst>
          </p:cNvPr>
          <p:cNvSpPr/>
          <p:nvPr/>
        </p:nvSpPr>
        <p:spPr>
          <a:xfrm>
            <a:off x="1937701" y="2089367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C7C22C-792A-5A5C-2362-7150CFC5512F}"/>
              </a:ext>
            </a:extLst>
          </p:cNvPr>
          <p:cNvSpPr txBox="1"/>
          <p:nvPr/>
        </p:nvSpPr>
        <p:spPr>
          <a:xfrm>
            <a:off x="4306319" y="3128982"/>
            <a:ext cx="1363529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3" name="Triangle 2">
            <a:extLst>
              <a:ext uri="{FF2B5EF4-FFF2-40B4-BE49-F238E27FC236}">
                <a16:creationId xmlns:a16="http://schemas.microsoft.com/office/drawing/2014/main" id="{8EE0C477-BCBC-8E97-7959-F9F261EA006C}"/>
              </a:ext>
            </a:extLst>
          </p:cNvPr>
          <p:cNvSpPr/>
          <p:nvPr/>
        </p:nvSpPr>
        <p:spPr>
          <a:xfrm>
            <a:off x="8004240" y="2341265"/>
            <a:ext cx="2280977" cy="763601"/>
          </a:xfrm>
          <a:prstGeom prst="triangle">
            <a:avLst>
              <a:gd name="adj" fmla="val 50881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Exchange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59E065-2464-7B4B-1BBB-E439F5B36087}"/>
              </a:ext>
            </a:extLst>
          </p:cNvPr>
          <p:cNvSpPr/>
          <p:nvPr/>
        </p:nvSpPr>
        <p:spPr>
          <a:xfrm>
            <a:off x="7290808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F6AA06-4547-67BC-1263-F4BD451DF3A0}"/>
              </a:ext>
            </a:extLst>
          </p:cNvPr>
          <p:cNvSpPr/>
          <p:nvPr/>
        </p:nvSpPr>
        <p:spPr>
          <a:xfrm>
            <a:off x="8257125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B9E72F7-4825-91C2-1720-F644C7555BEC}"/>
              </a:ext>
            </a:extLst>
          </p:cNvPr>
          <p:cNvSpPr/>
          <p:nvPr/>
        </p:nvSpPr>
        <p:spPr>
          <a:xfrm>
            <a:off x="9223442" y="5807946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0DC3071-A59B-81F9-87A1-AFAEDC709194}"/>
              </a:ext>
            </a:extLst>
          </p:cNvPr>
          <p:cNvSpPr/>
          <p:nvPr/>
        </p:nvSpPr>
        <p:spPr>
          <a:xfrm>
            <a:off x="10189759" y="5777800"/>
            <a:ext cx="713432" cy="52251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MPn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79D0B3F0-B425-6122-D457-21E827ADB0F9}"/>
              </a:ext>
            </a:extLst>
          </p:cNvPr>
          <p:cNvSpPr/>
          <p:nvPr/>
        </p:nvSpPr>
        <p:spPr>
          <a:xfrm>
            <a:off x="7349279" y="3567127"/>
            <a:ext cx="3371223" cy="1838849"/>
          </a:xfrm>
          <a:prstGeom prst="cloud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 Fabric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B024AF-ED82-D95C-26C4-B53E943C5F68}"/>
              </a:ext>
            </a:extLst>
          </p:cNvPr>
          <p:cNvSpPr/>
          <p:nvPr/>
        </p:nvSpPr>
        <p:spPr>
          <a:xfrm>
            <a:off x="8513146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4BDA31F-5956-0D6F-BD2C-405194F03717}"/>
              </a:ext>
            </a:extLst>
          </p:cNvPr>
          <p:cNvSpPr/>
          <p:nvPr/>
        </p:nvSpPr>
        <p:spPr>
          <a:xfrm>
            <a:off x="9252499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689DCB5-118D-822D-8C2F-421677D1A50A}"/>
              </a:ext>
            </a:extLst>
          </p:cNvPr>
          <p:cNvSpPr/>
          <p:nvPr/>
        </p:nvSpPr>
        <p:spPr>
          <a:xfrm>
            <a:off x="9508144" y="214488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83F3423-DC10-CFA9-EB34-F5B6D36E6489}"/>
              </a:ext>
            </a:extLst>
          </p:cNvPr>
          <p:cNvSpPr/>
          <p:nvPr/>
        </p:nvSpPr>
        <p:spPr>
          <a:xfrm>
            <a:off x="829904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6B13D7F-08D3-E8EB-6124-3D22BE807EF9}"/>
              </a:ext>
            </a:extLst>
          </p:cNvPr>
          <p:cNvSpPr/>
          <p:nvPr/>
        </p:nvSpPr>
        <p:spPr>
          <a:xfrm>
            <a:off x="9759419" y="2135529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8BEDEC4-EC5A-FC3E-FDDC-341667ADCDC5}"/>
              </a:ext>
            </a:extLst>
          </p:cNvPr>
          <p:cNvSpPr/>
          <p:nvPr/>
        </p:nvSpPr>
        <p:spPr>
          <a:xfrm>
            <a:off x="8778023" y="214558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60011B2-B60A-5E3F-96F2-703E9A0DF376}"/>
              </a:ext>
            </a:extLst>
          </p:cNvPr>
          <p:cNvSpPr/>
          <p:nvPr/>
        </p:nvSpPr>
        <p:spPr>
          <a:xfrm>
            <a:off x="9020375" y="2136221"/>
            <a:ext cx="160774" cy="1607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77C8D1-2C9C-6F18-A62C-72AA25866939}"/>
              </a:ext>
            </a:extLst>
          </p:cNvPr>
          <p:cNvSpPr txBox="1"/>
          <p:nvPr/>
        </p:nvSpPr>
        <p:spPr>
          <a:xfrm>
            <a:off x="6259556" y="3128982"/>
            <a:ext cx="1363528" cy="7078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30378E-F1A4-D7D9-BDCD-7DD3D60F7529}"/>
              </a:ext>
            </a:extLst>
          </p:cNvPr>
          <p:cNvSpPr txBox="1"/>
          <p:nvPr/>
        </p:nvSpPr>
        <p:spPr>
          <a:xfrm>
            <a:off x="5652695" y="3138956"/>
            <a:ext cx="525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=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CD96C1-2B6D-3D76-866C-BA0223E3EBFA}"/>
              </a:ext>
            </a:extLst>
          </p:cNvPr>
          <p:cNvSpPr txBox="1"/>
          <p:nvPr/>
        </p:nvSpPr>
        <p:spPr>
          <a:xfrm>
            <a:off x="4782445" y="4238838"/>
            <a:ext cx="1028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00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FIFO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B89F33-C9D5-7F69-E226-E2FDBE659570}"/>
              </a:ext>
            </a:extLst>
          </p:cNvPr>
          <p:cNvSpPr txBox="1"/>
          <p:nvPr/>
        </p:nvSpPr>
        <p:spPr>
          <a:xfrm>
            <a:off x="6177890" y="4201098"/>
            <a:ext cx="1028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I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00FFFF"/>
                </a:highlight>
                <a:uLnTx/>
                <a:uFillTx/>
                <a:latin typeface="Aptos" panose="02110004020202020204"/>
                <a:ea typeface="+mn-ea"/>
                <a:cs typeface="+mn-cs"/>
              </a:rPr>
              <a:t>LOQ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816A36-BC1B-09E8-7D29-EAC6968D9CAC}"/>
              </a:ext>
            </a:extLst>
          </p:cNvPr>
          <p:cNvSpPr txBox="1"/>
          <p:nvPr/>
        </p:nvSpPr>
        <p:spPr>
          <a:xfrm>
            <a:off x="5734361" y="4248812"/>
            <a:ext cx="5251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≠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AC07A0-4ABE-9C88-512C-2342423BF1E3}"/>
              </a:ext>
            </a:extLst>
          </p:cNvPr>
          <p:cNvSpPr/>
          <p:nvPr/>
        </p:nvSpPr>
        <p:spPr>
          <a:xfrm>
            <a:off x="4040184" y="1904538"/>
            <a:ext cx="3854547" cy="2038294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23A096-2952-CA94-2460-194D9F43573B}"/>
              </a:ext>
            </a:extLst>
          </p:cNvPr>
          <p:cNvSpPr txBox="1"/>
          <p:nvPr/>
        </p:nvSpPr>
        <p:spPr>
          <a:xfrm>
            <a:off x="4736165" y="1904537"/>
            <a:ext cx="2597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Preserves Fairness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167868-0E61-DB7D-8F4F-C91EE2D1D4D7}"/>
              </a:ext>
            </a:extLst>
          </p:cNvPr>
          <p:cNvSpPr/>
          <p:nvPr/>
        </p:nvSpPr>
        <p:spPr>
          <a:xfrm>
            <a:off x="3201687" y="4061055"/>
            <a:ext cx="5097358" cy="1716745"/>
          </a:xfrm>
          <a:prstGeom prst="rect">
            <a:avLst/>
          </a:prstGeom>
          <a:noFill/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8927BA-77B5-C6C6-C1B6-A111960CE7FA}"/>
              </a:ext>
            </a:extLst>
          </p:cNvPr>
          <p:cNvSpPr txBox="1"/>
          <p:nvPr/>
        </p:nvSpPr>
        <p:spPr>
          <a:xfrm>
            <a:off x="3264223" y="4918958"/>
            <a:ext cx="5406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Room for improving performance with scheduling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9E04CA45-7D57-6C33-2CD3-560B925585AE}"/>
              </a:ext>
            </a:extLst>
          </p:cNvPr>
          <p:cNvGraphicFramePr>
            <a:graphicFrameLocks noGrp="1"/>
          </p:cNvGraphicFramePr>
          <p:nvPr/>
        </p:nvGraphicFramePr>
        <p:xfrm>
          <a:off x="0" y="6553704"/>
          <a:ext cx="12192000" cy="3983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181604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77781482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82663529"/>
                    </a:ext>
                  </a:extLst>
                </a:gridCol>
              </a:tblGrid>
              <a:tr h="39832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Definitions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Outbound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Inbound: </a:t>
                      </a: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Sequencer +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LOQ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337572"/>
                  </a:ext>
                </a:extLst>
              </a:tr>
            </a:tbl>
          </a:graphicData>
        </a:graphic>
      </p:graphicFrame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00DC401-C4C8-7CB7-5593-B2E86B1C5646}"/>
              </a:ext>
            </a:extLst>
          </p:cNvPr>
          <p:cNvSpPr/>
          <p:nvPr/>
        </p:nvSpPr>
        <p:spPr>
          <a:xfrm>
            <a:off x="8459818" y="109091"/>
            <a:ext cx="3644549" cy="18753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Key Idea: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Separate critical and non-critical orders using the mid-price</a:t>
            </a:r>
          </a:p>
        </p:txBody>
      </p:sp>
    </p:spTree>
    <p:extLst>
      <p:ext uri="{BB962C8B-B14F-4D97-AF65-F5344CB8AC3E}">
        <p14:creationId xmlns:p14="http://schemas.microsoft.com/office/powerpoint/2010/main" val="1758194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Shape 413">
          <a:extLst>
            <a:ext uri="{FF2B5EF4-FFF2-40B4-BE49-F238E27FC236}">
              <a16:creationId xmlns:a16="http://schemas.microsoft.com/office/drawing/2014/main" id="{80B1D0AF-ACD7-AD68-7194-8FDC3F1F0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Freeform: Shape 418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1" name="Freeform: Shape 420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4" name="Google Shape;414;p36">
            <a:extLst>
              <a:ext uri="{FF2B5EF4-FFF2-40B4-BE49-F238E27FC236}">
                <a16:creationId xmlns:a16="http://schemas.microsoft.com/office/drawing/2014/main" id="{C8EA5209-D748-B465-BECE-ABB202854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spcBef>
                <a:spcPct val="0"/>
              </a:spcBef>
            </a:pPr>
            <a:r>
              <a:rPr lang="en-US" sz="5400">
                <a:solidFill>
                  <a:schemeClr val="bg1">
                    <a:lumMod val="95000"/>
                    <a:lumOff val="5000"/>
                  </a:schemeClr>
                </a:solidFill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956135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14;p36">
            <a:extLst>
              <a:ext uri="{FF2B5EF4-FFF2-40B4-BE49-F238E27FC236}">
                <a16:creationId xmlns:a16="http://schemas.microsoft.com/office/drawing/2014/main" id="{2D33170C-EDAF-FA08-3FBA-5B30C9C206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Multicast Service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B3DCAF-D365-8FA8-7C76-8E053B359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82" y="1231900"/>
            <a:ext cx="7283645" cy="546668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092D2E-B316-79D5-D153-7CCACB2D0459}"/>
              </a:ext>
            </a:extLst>
          </p:cNvPr>
          <p:cNvSpPr/>
          <p:nvPr/>
        </p:nvSpPr>
        <p:spPr>
          <a:xfrm>
            <a:off x="3449053" y="1540042"/>
            <a:ext cx="5743073" cy="4235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523821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7324C-357F-E382-CEFB-BB0C55C00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14;p36">
            <a:extLst>
              <a:ext uri="{FF2B5EF4-FFF2-40B4-BE49-F238E27FC236}">
                <a16:creationId xmlns:a16="http://schemas.microsoft.com/office/drawing/2014/main" id="{13D2E114-A299-8630-03EF-90FE24AB14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Multicast Service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D73149-5170-2AF7-1F9E-862E6DBEB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182" y="1231900"/>
            <a:ext cx="7283645" cy="546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278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F150E-44D9-771A-0607-177C54980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14;p36">
            <a:extLst>
              <a:ext uri="{FF2B5EF4-FFF2-40B4-BE49-F238E27FC236}">
                <a16:creationId xmlns:a16="http://schemas.microsoft.com/office/drawing/2014/main" id="{3C8C05E2-EA59-C9C3-C966-61103B6BDE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Delivery Fairness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43E37C-FEA6-5EDA-56FB-A1F3BC306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51" y="1356967"/>
            <a:ext cx="6664468" cy="500196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D41E74B-4005-561A-2403-5AAFEF4EAF7F}"/>
              </a:ext>
            </a:extLst>
          </p:cNvPr>
          <p:cNvSpPr/>
          <p:nvPr/>
        </p:nvSpPr>
        <p:spPr>
          <a:xfrm>
            <a:off x="3368843" y="1700463"/>
            <a:ext cx="5325978" cy="3784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25095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E392E-647B-4AC8-4E60-41923313C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14;p36">
            <a:extLst>
              <a:ext uri="{FF2B5EF4-FFF2-40B4-BE49-F238E27FC236}">
                <a16:creationId xmlns:a16="http://schemas.microsoft.com/office/drawing/2014/main" id="{AA979948-C33F-FE6D-B3A0-25478F971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Delivery Fairness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0D47BE-E63A-DFB5-EA44-07C704ED4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51" y="1356967"/>
            <a:ext cx="6664468" cy="500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202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631C6-755D-21F1-0B1C-802B24630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</a:t>
            </a:r>
          </a:p>
        </p:txBody>
      </p:sp>
      <p:pic>
        <p:nvPicPr>
          <p:cNvPr id="5" name="Content Placeholder 4" descr="A graph of a number of signals&#10;&#10;AI-generated content may be incorrect.">
            <a:extLst>
              <a:ext uri="{FF2B5EF4-FFF2-40B4-BE49-F238E27FC236}">
                <a16:creationId xmlns:a16="http://schemas.microsoft.com/office/drawing/2014/main" id="{6D2DAB33-89A0-FD52-198D-1A2120C86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6977" y="1704298"/>
            <a:ext cx="6350349" cy="4788577"/>
          </a:xfrm>
        </p:spPr>
      </p:pic>
    </p:spTree>
    <p:extLst>
      <p:ext uri="{BB962C8B-B14F-4D97-AF65-F5344CB8AC3E}">
        <p14:creationId xmlns:p14="http://schemas.microsoft.com/office/powerpoint/2010/main" val="202483770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D5746D8E-662A-D44D-20A9-57CBD8DCF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1BEF5BF6-9DE0-00C1-CA39-030DA7DB20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Limit Order Queue Gracefully Handles Bursts</a:t>
            </a:r>
            <a:endParaRPr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FB01584-5488-16AC-0255-0E54D7E5998A}"/>
              </a:ext>
            </a:extLst>
          </p:cNvPr>
          <p:cNvGrpSpPr/>
          <p:nvPr/>
        </p:nvGrpSpPr>
        <p:grpSpPr>
          <a:xfrm>
            <a:off x="978285" y="1603513"/>
            <a:ext cx="9066047" cy="4661120"/>
            <a:chOff x="3158777" y="1759776"/>
            <a:chExt cx="8233973" cy="411698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9E10A84-0F34-7E0D-C0C0-555ADBE2A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58777" y="1759776"/>
              <a:ext cx="8233973" cy="41169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50B8BE5-53FC-4AA9-7ACA-8BFB560CB606}"/>
                </a:ext>
              </a:extLst>
            </p:cNvPr>
            <p:cNvSpPr txBox="1"/>
            <p:nvPr/>
          </p:nvSpPr>
          <p:spPr>
            <a:xfrm>
              <a:off x="8078566" y="2660068"/>
              <a:ext cx="2791137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Load generation stops 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2206837"/>
      </p:ext>
    </p:extLst>
  </p:cSld>
  <p:clrMapOvr>
    <a:masterClrMapping/>
  </p:clrMapOvr>
  <p:transition spd="slow">
    <p:push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>
          <a:extLst>
            <a:ext uri="{FF2B5EF4-FFF2-40B4-BE49-F238E27FC236}">
              <a16:creationId xmlns:a16="http://schemas.microsoft.com/office/drawing/2014/main" id="{FF3FFF1A-7CFF-B87D-F183-FD813AC7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6">
            <a:extLst>
              <a:ext uri="{FF2B5EF4-FFF2-40B4-BE49-F238E27FC236}">
                <a16:creationId xmlns:a16="http://schemas.microsoft.com/office/drawing/2014/main" id="{5A02CC88-90E4-C9E8-B74D-B72F79297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 dirty="0"/>
              <a:t>Order Submission Service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7A888D-4320-AE60-B97F-2E89D030B1E6}"/>
              </a:ext>
            </a:extLst>
          </p:cNvPr>
          <p:cNvGrpSpPr/>
          <p:nvPr/>
        </p:nvGrpSpPr>
        <p:grpSpPr>
          <a:xfrm>
            <a:off x="2362200" y="1827027"/>
            <a:ext cx="7467600" cy="6743700"/>
            <a:chOff x="4724400" y="1725267"/>
            <a:chExt cx="7467600" cy="67437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259DBE-46A8-5F52-54A6-73CFA2502A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2700" y="1725267"/>
              <a:ext cx="6743700" cy="67437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C359AF-946D-9D89-9885-4120B794C4ED}"/>
                </a:ext>
              </a:extLst>
            </p:cNvPr>
            <p:cNvSpPr/>
            <p:nvPr/>
          </p:nvSpPr>
          <p:spPr>
            <a:xfrm>
              <a:off x="4724400" y="4686300"/>
              <a:ext cx="7467600" cy="30861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820D3D9-FF3B-C3A2-BC92-C62D2B72576E}"/>
              </a:ext>
            </a:extLst>
          </p:cNvPr>
          <p:cNvGrpSpPr/>
          <p:nvPr/>
        </p:nvGrpSpPr>
        <p:grpSpPr>
          <a:xfrm>
            <a:off x="7137400" y="1158344"/>
            <a:ext cx="2921000" cy="867306"/>
            <a:chOff x="7137400" y="1158344"/>
            <a:chExt cx="2921000" cy="86730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8205107-4071-61D3-2B37-2F5CCA860A3E}"/>
                </a:ext>
              </a:extLst>
            </p:cNvPr>
            <p:cNvCxnSpPr>
              <a:cxnSpLocks/>
            </p:cNvCxnSpPr>
            <p:nvPr/>
          </p:nvCxnSpPr>
          <p:spPr>
            <a:xfrm>
              <a:off x="7137400" y="1390234"/>
              <a:ext cx="1267150" cy="0"/>
            </a:xfrm>
            <a:prstGeom prst="line">
              <a:avLst/>
            </a:prstGeom>
            <a:ln w="66675"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C400A98-C21B-32F1-8842-29533E43D00E}"/>
                </a:ext>
              </a:extLst>
            </p:cNvPr>
            <p:cNvCxnSpPr>
              <a:cxnSpLocks/>
            </p:cNvCxnSpPr>
            <p:nvPr/>
          </p:nvCxnSpPr>
          <p:spPr>
            <a:xfrm>
              <a:off x="7137400" y="1756601"/>
              <a:ext cx="1267150" cy="0"/>
            </a:xfrm>
            <a:prstGeom prst="line">
              <a:avLst/>
            </a:prstGeom>
            <a:ln w="66675">
              <a:solidFill>
                <a:schemeClr val="tx1"/>
              </a:solidFill>
              <a:prstDash val="dash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BC55586-0298-BA1E-A33C-FA26D6EAA071}"/>
                </a:ext>
              </a:extLst>
            </p:cNvPr>
            <p:cNvSpPr txBox="1"/>
            <p:nvPr/>
          </p:nvSpPr>
          <p:spPr>
            <a:xfrm>
              <a:off x="8458200" y="1158344"/>
              <a:ext cx="16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LOQ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50C333F-5D8B-2710-915A-9D3AAA37FA96}"/>
                </a:ext>
              </a:extLst>
            </p:cNvPr>
            <p:cNvSpPr txBox="1"/>
            <p:nvPr/>
          </p:nvSpPr>
          <p:spPr>
            <a:xfrm>
              <a:off x="8458200" y="1563985"/>
              <a:ext cx="1600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FIFO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8297787"/>
      </p:ext>
    </p:extLst>
  </p:cSld>
  <p:clrMapOvr>
    <a:masterClrMapping/>
  </p:clrMapOvr>
  <p:transition spd="slow">
    <p:push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>
          <a:extLst>
            <a:ext uri="{FF2B5EF4-FFF2-40B4-BE49-F238E27FC236}">
              <a16:creationId xmlns:a16="http://schemas.microsoft.com/office/drawing/2014/main" id="{C63CDC99-24C8-C576-9029-DC6D11A8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>
            <a:extLst>
              <a:ext uri="{FF2B5EF4-FFF2-40B4-BE49-F238E27FC236}">
                <a16:creationId xmlns:a16="http://schemas.microsoft.com/office/drawing/2014/main" id="{64D86A8B-3EB4-3261-C6AA-C3D1339D50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 dirty="0"/>
              <a:t>Concluding Remarks</a:t>
            </a:r>
            <a:endParaRPr dirty="0"/>
          </a:p>
        </p:txBody>
      </p:sp>
      <p:sp>
        <p:nvSpPr>
          <p:cNvPr id="407" name="Google Shape;407;p35">
            <a:extLst>
              <a:ext uri="{FF2B5EF4-FFF2-40B4-BE49-F238E27FC236}">
                <a16:creationId xmlns:a16="http://schemas.microsoft.com/office/drawing/2014/main" id="{3F4CFC00-7700-B6A2-3AC2-16C917B53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5164" y="1356967"/>
            <a:ext cx="11776401" cy="55010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har char="-"/>
            </a:pPr>
            <a:r>
              <a:rPr lang="en-US" sz="2400" dirty="0"/>
              <a:t>Cloud financial exchanges can be realized by developing new primitives, without specialized infrastructure</a:t>
            </a:r>
          </a:p>
          <a:p>
            <a:pPr lvl="1">
              <a:buChar char="-"/>
            </a:pPr>
            <a:r>
              <a:rPr lang="en-US" sz="2000" dirty="0"/>
              <a:t>Some fairness/performance guarantees need to be accordingly relaxed</a:t>
            </a:r>
            <a:br>
              <a:rPr lang="en-US" sz="2000" dirty="0"/>
            </a:br>
            <a:endParaRPr lang="en-US" sz="2000" dirty="0"/>
          </a:p>
          <a:p>
            <a:pPr>
              <a:buChar char="-"/>
            </a:pPr>
            <a:r>
              <a:rPr lang="en-US" sz="2400" dirty="0"/>
              <a:t>Such exchanges present a new operating point in the cost-performance curve</a:t>
            </a:r>
          </a:p>
          <a:p>
            <a:pPr marL="152396" indent="0">
              <a:buNone/>
            </a:pPr>
            <a:endParaRPr lang="en-US" sz="2400" dirty="0"/>
          </a:p>
          <a:p>
            <a:pPr>
              <a:buChar char="-"/>
            </a:pPr>
            <a:r>
              <a:rPr lang="en-US" sz="2400" dirty="0"/>
              <a:t>Application-specific scheduling can have a significant beneficial impact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243ADDA2-72B7-E612-2419-26C229D6B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125" y="3756477"/>
            <a:ext cx="5153905" cy="29170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615EE-70F5-D9EF-B618-D8CD06DA8488}"/>
              </a:ext>
            </a:extLst>
          </p:cNvPr>
          <p:cNvSpPr txBox="1"/>
          <p:nvPr/>
        </p:nvSpPr>
        <p:spPr>
          <a:xfrm>
            <a:off x="563600" y="4621438"/>
            <a:ext cx="22940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SIGCOMM’25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517E8C-A2A5-688B-28BE-0D5956DC9594}"/>
              </a:ext>
            </a:extLst>
          </p:cNvPr>
          <p:cNvSpPr txBox="1"/>
          <p:nvPr/>
        </p:nvSpPr>
        <p:spPr>
          <a:xfrm>
            <a:off x="9387727" y="4621438"/>
            <a:ext cx="1391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730626841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itleTrackerAlph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itleTrackerAlph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itleTrackerAlph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itleTrackerAlph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itleTrackerAlph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itleTrackerAlph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Body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3450</Words>
  <Application>Microsoft Macintosh PowerPoint</Application>
  <PresentationFormat>Widescreen</PresentationFormat>
  <Paragraphs>1032</Paragraphs>
  <Slides>99</Slides>
  <Notes>82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7" baseType="lpstr">
      <vt:lpstr>Aptos</vt:lpstr>
      <vt:lpstr>Aptos Display</vt:lpstr>
      <vt:lpstr>Arial</vt:lpstr>
      <vt:lpstr>Calibri</vt:lpstr>
      <vt:lpstr>Times New Roman</vt:lpstr>
      <vt:lpstr>Office Theme</vt:lpstr>
      <vt:lpstr>1_Office Theme</vt:lpstr>
      <vt:lpstr>think-cell Slide</vt:lpstr>
      <vt:lpstr>Latency Fairness On  Commodity Networking  Infrastructure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Support For Scalable And High-Performance Cloud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Primer On Financial Exchanges</vt:lpstr>
      <vt:lpstr>PowerPoint Presentation</vt:lpstr>
      <vt:lpstr>Benefits of Public Cloud for Financial Exchanges</vt:lpstr>
      <vt:lpstr>Public Cloud Exhibits High Latency &amp; Variance</vt:lpstr>
      <vt:lpstr>PowerPoint Presentation</vt:lpstr>
      <vt:lpstr>Onyx: Scalable Cloud Financial Exchange</vt:lpstr>
      <vt:lpstr>Onyx</vt:lpstr>
      <vt:lpstr>Onyx</vt:lpstr>
      <vt:lpstr>Fairness1</vt:lpstr>
      <vt:lpstr>Fairness1</vt:lpstr>
      <vt:lpstr>Fairness1</vt:lpstr>
      <vt:lpstr>Fairness1</vt:lpstr>
      <vt:lpstr>Fairness1</vt:lpstr>
      <vt:lpstr>Fairness1</vt:lpstr>
      <vt:lpstr>Fairness1</vt:lpstr>
      <vt:lpstr>Fairness1</vt:lpstr>
      <vt:lpstr>Fairness1</vt:lpstr>
      <vt:lpstr>Fairness1</vt:lpstr>
      <vt:lpstr>Fairness1</vt:lpstr>
      <vt:lpstr>Fairness In Practice</vt:lpstr>
      <vt:lpstr>Fairness In Practice</vt:lpstr>
      <vt:lpstr>Fairness In Practice</vt:lpstr>
      <vt:lpstr>Fairness In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 Order Queue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Limit Order Queue Preserves Fairness</vt:lpstr>
      <vt:lpstr>Evaluation</vt:lpstr>
      <vt:lpstr>Multicast Service</vt:lpstr>
      <vt:lpstr>Multicast Service</vt:lpstr>
      <vt:lpstr>Delivery Fairness</vt:lpstr>
      <vt:lpstr>Delivery Fairness</vt:lpstr>
      <vt:lpstr>Scale</vt:lpstr>
      <vt:lpstr>Limit Order Queue Gracefully Handles Bursts</vt:lpstr>
      <vt:lpstr>Order Submission Service</vt:lpstr>
      <vt:lpstr>Concluding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Haseeb Ashfaq</dc:creator>
  <cp:lastModifiedBy>Haseeb Ashfaq</cp:lastModifiedBy>
  <cp:revision>134</cp:revision>
  <dcterms:created xsi:type="dcterms:W3CDTF">2026-04-04T21:04:51Z</dcterms:created>
  <dcterms:modified xsi:type="dcterms:W3CDTF">2026-04-05T17:10:57Z</dcterms:modified>
</cp:coreProperties>
</file>