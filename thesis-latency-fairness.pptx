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76"/>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09" r:id="rId41"/>
    <p:sldId id="423" r:id="rId42"/>
    <p:sldId id="425" r:id="rId43"/>
    <p:sldId id="414" r:id="rId44"/>
    <p:sldId id="416" r:id="rId45"/>
    <p:sldId id="391" r:id="rId46"/>
    <p:sldId id="408" r:id="rId47"/>
    <p:sldId id="394" r:id="rId48"/>
    <p:sldId id="395" r:id="rId49"/>
    <p:sldId id="396" r:id="rId50"/>
    <p:sldId id="397" r:id="rId51"/>
    <p:sldId id="398" r:id="rId52"/>
    <p:sldId id="399" r:id="rId53"/>
    <p:sldId id="400" r:id="rId54"/>
    <p:sldId id="401" r:id="rId55"/>
    <p:sldId id="403" r:id="rId56"/>
    <p:sldId id="404" r:id="rId57"/>
    <p:sldId id="405" r:id="rId58"/>
    <p:sldId id="410" r:id="rId59"/>
    <p:sldId id="407" r:id="rId60"/>
    <p:sldId id="312" r:id="rId61"/>
    <p:sldId id="1852" r:id="rId62"/>
    <p:sldId id="1853" r:id="rId63"/>
    <p:sldId id="1855" r:id="rId64"/>
    <p:sldId id="1950" r:id="rId65"/>
    <p:sldId id="1947" r:id="rId66"/>
    <p:sldId id="1911" r:id="rId67"/>
    <p:sldId id="1948" r:id="rId68"/>
    <p:sldId id="1949" r:id="rId69"/>
    <p:sldId id="1951" r:id="rId70"/>
    <p:sldId id="314" r:id="rId71"/>
    <p:sldId id="1916" r:id="rId72"/>
    <p:sldId id="1917" r:id="rId73"/>
    <p:sldId id="1918" r:id="rId74"/>
    <p:sldId id="1919" r:id="rId75"/>
    <p:sldId id="1892" r:id="rId76"/>
    <p:sldId id="1893" r:id="rId77"/>
    <p:sldId id="1920" r:id="rId78"/>
    <p:sldId id="1921" r:id="rId79"/>
    <p:sldId id="1922" r:id="rId80"/>
    <p:sldId id="1923" r:id="rId81"/>
    <p:sldId id="1924" r:id="rId82"/>
    <p:sldId id="1925" r:id="rId83"/>
    <p:sldId id="1926" r:id="rId84"/>
    <p:sldId id="1927" r:id="rId85"/>
    <p:sldId id="1928" r:id="rId86"/>
    <p:sldId id="1929" r:id="rId87"/>
    <p:sldId id="1930" r:id="rId88"/>
    <p:sldId id="1931" r:id="rId89"/>
    <p:sldId id="1932" r:id="rId90"/>
    <p:sldId id="1933" r:id="rId91"/>
    <p:sldId id="1895" r:id="rId92"/>
    <p:sldId id="1894" r:id="rId93"/>
    <p:sldId id="1897" r:id="rId94"/>
    <p:sldId id="1898" r:id="rId95"/>
    <p:sldId id="1899" r:id="rId96"/>
    <p:sldId id="1900" r:id="rId97"/>
    <p:sldId id="1901" r:id="rId98"/>
    <p:sldId id="1902" r:id="rId99"/>
    <p:sldId id="1903" r:id="rId100"/>
    <p:sldId id="1904" r:id="rId101"/>
    <p:sldId id="1905" r:id="rId102"/>
    <p:sldId id="1906" r:id="rId103"/>
    <p:sldId id="1934" r:id="rId104"/>
    <p:sldId id="1915" r:id="rId105"/>
    <p:sldId id="1907" r:id="rId106"/>
    <p:sldId id="1908" r:id="rId107"/>
    <p:sldId id="1909" r:id="rId108"/>
    <p:sldId id="1910" r:id="rId109"/>
    <p:sldId id="350" r:id="rId110"/>
    <p:sldId id="359" r:id="rId111"/>
    <p:sldId id="427" r:id="rId112"/>
    <p:sldId id="360" r:id="rId113"/>
    <p:sldId id="428" r:id="rId114"/>
    <p:sldId id="353" r:id="rId115"/>
    <p:sldId id="432" r:id="rId116"/>
    <p:sldId id="1856" r:id="rId117"/>
    <p:sldId id="1857" r:id="rId118"/>
    <p:sldId id="351" r:id="rId119"/>
    <p:sldId id="352" r:id="rId120"/>
    <p:sldId id="1858" r:id="rId121"/>
    <p:sldId id="354" r:id="rId122"/>
    <p:sldId id="355" r:id="rId123"/>
    <p:sldId id="1859" r:id="rId124"/>
    <p:sldId id="357" r:id="rId125"/>
    <p:sldId id="358" r:id="rId126"/>
    <p:sldId id="1860" r:id="rId127"/>
    <p:sldId id="1861" r:id="rId128"/>
    <p:sldId id="393" r:id="rId129"/>
    <p:sldId id="1862" r:id="rId130"/>
    <p:sldId id="402" r:id="rId131"/>
    <p:sldId id="1864" r:id="rId132"/>
    <p:sldId id="415" r:id="rId133"/>
    <p:sldId id="340" r:id="rId134"/>
    <p:sldId id="1865" r:id="rId135"/>
    <p:sldId id="1866" r:id="rId136"/>
    <p:sldId id="1867" r:id="rId137"/>
    <p:sldId id="412" r:id="rId138"/>
    <p:sldId id="1868" r:id="rId139"/>
    <p:sldId id="1869" r:id="rId140"/>
    <p:sldId id="413" r:id="rId141"/>
    <p:sldId id="1870" r:id="rId142"/>
    <p:sldId id="1936" r:id="rId143"/>
    <p:sldId id="1872" r:id="rId144"/>
    <p:sldId id="419" r:id="rId145"/>
    <p:sldId id="1914" r:id="rId146"/>
    <p:sldId id="1937" r:id="rId147"/>
    <p:sldId id="1873" r:id="rId148"/>
    <p:sldId id="1953" r:id="rId149"/>
    <p:sldId id="1952" r:id="rId150"/>
    <p:sldId id="1939" r:id="rId151"/>
    <p:sldId id="1941" r:id="rId152"/>
    <p:sldId id="1942" r:id="rId153"/>
    <p:sldId id="1954" r:id="rId154"/>
    <p:sldId id="1944" r:id="rId155"/>
    <p:sldId id="1945" r:id="rId156"/>
    <p:sldId id="1946" r:id="rId157"/>
    <p:sldId id="1879" r:id="rId158"/>
    <p:sldId id="1874" r:id="rId159"/>
    <p:sldId id="1876" r:id="rId160"/>
    <p:sldId id="1877" r:id="rId161"/>
    <p:sldId id="1912" r:id="rId162"/>
    <p:sldId id="1935" r:id="rId163"/>
    <p:sldId id="1913" r:id="rId164"/>
    <p:sldId id="1880" r:id="rId165"/>
    <p:sldId id="1881" r:id="rId166"/>
    <p:sldId id="1956" r:id="rId167"/>
    <p:sldId id="1955" r:id="rId168"/>
    <p:sldId id="1882" r:id="rId169"/>
    <p:sldId id="1883" r:id="rId170"/>
    <p:sldId id="1884" r:id="rId171"/>
    <p:sldId id="1885" r:id="rId172"/>
    <p:sldId id="1886" r:id="rId173"/>
    <p:sldId id="1888" r:id="rId174"/>
    <p:sldId id="1890" r:id="rId17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4634"/>
    <p:restoredTop sz="91073"/>
  </p:normalViewPr>
  <p:slideViewPr>
    <p:cSldViewPr snapToGrid="0">
      <p:cViewPr varScale="1">
        <p:scale>
          <a:sx n="132" d="100"/>
          <a:sy n="132" d="100"/>
        </p:scale>
        <p:origin x="176" y="3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presProps" Target="presProps.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viewProps" Target="viewProps.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slide" Target="slides/slide172.xml"/><Relationship Id="rId179" Type="http://schemas.openxmlformats.org/officeDocument/2006/relationships/theme" Target="theme/theme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180" Type="http://schemas.openxmlformats.org/officeDocument/2006/relationships/tableStyles" Target="tableStyles.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slide" Target="slides/slide173.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notesMaster" Target="notesMasters/notesMaster1.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 Scalable And Latency Fair Order Submission Service</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A Scalable And Latency Fair Multicast Service</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Multicast Service</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Order Submission Service</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116</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133</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134</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138</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140</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141</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68F-516B-F76E-84CB-07AAE8F94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6E98D-3EFE-EB4A-EF20-E29DBF02C4F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C433161-CC56-2AD3-D858-D1BDF628E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49C7EB-946C-5AE2-E672-6366495F6F79}"/>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3797802722"/>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CCB9A-7048-62FA-7E94-1371540C8C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EB2FB-C8C9-573E-3D26-5141A5D772F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73917-F2A6-6F1C-ABAE-48E647D127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976E-95C5-D940-DC3F-E23003E1C690}"/>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1619121683"/>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05473-AD64-36D4-8907-10D103F7EA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C4D4F8-7ACE-D607-E141-864B2C22A3E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7CB37D8-9A4F-B62C-61AC-7E66E1CBED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62BE15-79B8-9AE8-2E3B-2A09560BC668}"/>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1447172378"/>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155</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156</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160</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171</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172</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4/7/26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2.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0.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5.emf"/></Relationships>
</file>

<file path=ppt/slides/_rels/slide10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1.xml"/><Relationship Id="rId1" Type="http://schemas.openxmlformats.org/officeDocument/2006/relationships/slideLayout" Target="../slideLayouts/slideLayout24.xml"/></Relationships>
</file>

<file path=ppt/slides/_rels/slide10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4.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3.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97.xml"/><Relationship Id="rId1" Type="http://schemas.openxmlformats.org/officeDocument/2006/relationships/slideLayout" Target="../slideLayouts/slideLayout23.xml"/></Relationships>
</file>

<file path=ppt/slides/_rels/slide114.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98.xml"/><Relationship Id="rId1" Type="http://schemas.openxmlformats.org/officeDocument/2006/relationships/slideLayout" Target="../slideLayouts/slideLayout2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6.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99.xml"/><Relationship Id="rId1" Type="http://schemas.openxmlformats.org/officeDocument/2006/relationships/slideLayout" Target="../slideLayouts/slideLayout1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11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100.xml"/><Relationship Id="rId1" Type="http://schemas.openxmlformats.org/officeDocument/2006/relationships/slideLayout" Target="../slideLayouts/slideLayout13.xml"/></Relationships>
</file>

<file path=ppt/slides/_rels/slide118.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1.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19.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image" Target="../media/image21.svg"/><Relationship Id="rId1" Type="http://schemas.openxmlformats.org/officeDocument/2006/relationships/slideLayout" Target="../slideLayouts/slideLayout13.xml"/><Relationship Id="rId6" Type="http://schemas.openxmlformats.org/officeDocument/2006/relationships/image" Target="../media/image26.svg"/><Relationship Id="rId5" Type="http://schemas.openxmlformats.org/officeDocument/2006/relationships/image" Target="../media/image24.svg"/><Relationship Id="rId4" Type="http://schemas.openxmlformats.org/officeDocument/2006/relationships/image" Target="../media/image23.svg"/></Relationships>
</file>

<file path=ppt/slides/_rels/slide120.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2.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1.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6.svg"/><Relationship Id="rId2" Type="http://schemas.openxmlformats.org/officeDocument/2006/relationships/notesSlide" Target="../notesSlides/notesSlide103.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9.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png"/><Relationship Id="rId2" Type="http://schemas.openxmlformats.org/officeDocument/2006/relationships/notesSlide" Target="../notesSlides/notesSlide110.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31.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svg"/><Relationship Id="rId1" Type="http://schemas.openxmlformats.org/officeDocument/2006/relationships/slideLayout" Target="../slideLayouts/slideLayout13.xml"/><Relationship Id="rId6" Type="http://schemas.openxmlformats.org/officeDocument/2006/relationships/image" Target="../media/image31.png"/><Relationship Id="rId5" Type="http://schemas.openxmlformats.org/officeDocument/2006/relationships/image" Target="../media/image30.svg"/><Relationship Id="rId4" Type="http://schemas.openxmlformats.org/officeDocument/2006/relationships/image" Target="../media/image29.svg"/></Relationships>
</file>

<file path=ppt/slides/_rels/slide132.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png"/><Relationship Id="rId2" Type="http://schemas.openxmlformats.org/officeDocument/2006/relationships/notesSlide" Target="../notesSlides/notesSlide111.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33.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12.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4.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1.png"/><Relationship Id="rId7" Type="http://schemas.openxmlformats.org/officeDocument/2006/relationships/image" Target="../media/image34.png"/><Relationship Id="rId2" Type="http://schemas.openxmlformats.org/officeDocument/2006/relationships/notesSlide" Target="../notesSlides/notesSlide113.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5.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1.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6.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3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4.xml"/><Relationship Id="rId1" Type="http://schemas.openxmlformats.org/officeDocument/2006/relationships/slideLayout" Target="../slideLayouts/slideLayout13.xml"/></Relationships>
</file>

<file path=ppt/slides/_rels/slide13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5.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6.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2.xml"/><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24.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5.xml.rels><?xml version="1.0" encoding="UTF-8" standalone="yes"?>
<Relationships xmlns="http://schemas.openxmlformats.org/package/2006/relationships"><Relationship Id="rId2" Type="http://schemas.openxmlformats.org/officeDocument/2006/relationships/image" Target="../media/image37.svg"/><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2" Type="http://schemas.openxmlformats.org/officeDocument/2006/relationships/image" Target="../media/image39.emf"/><Relationship Id="rId1" Type="http://schemas.openxmlformats.org/officeDocument/2006/relationships/slideLayout" Target="../slideLayouts/slideLayout13.xml"/></Relationships>
</file>

<file path=ppt/slides/_rels/slide168.xml.rels><?xml version="1.0" encoding="UTF-8" standalone="yes"?>
<Relationships xmlns="http://schemas.openxmlformats.org/package/2006/relationships"><Relationship Id="rId2" Type="http://schemas.openxmlformats.org/officeDocument/2006/relationships/image" Target="../media/image39.emf"/><Relationship Id="rId1" Type="http://schemas.openxmlformats.org/officeDocument/2006/relationships/slideLayout" Target="../slideLayouts/slideLayout13.xml"/></Relationships>
</file>

<file path=ppt/slides/_rels/slide169.xml.rels><?xml version="1.0" encoding="UTF-8" standalone="yes"?>
<Relationships xmlns="http://schemas.openxmlformats.org/package/2006/relationships"><Relationship Id="rId2" Type="http://schemas.openxmlformats.org/officeDocument/2006/relationships/image" Target="../media/image39.emf"/><Relationship Id="rId1" Type="http://schemas.openxmlformats.org/officeDocument/2006/relationships/slideLayout" Target="../slideLayouts/slideLayout13.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4.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1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Jinyang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extLst>
              <p:ext uri="{D42A27DB-BD31-4B8C-83A1-F6EECF244321}">
                <p14:modId xmlns:p14="http://schemas.microsoft.com/office/powerpoint/2010/main" val="3652191560"/>
              </p:ext>
            </p:extLst>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248917" y="4756138"/>
            <a:ext cx="8973316"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Latency spikes affect some links for some short interval of time</a:t>
            </a:r>
          </a:p>
          <a:p>
            <a:pPr marL="342900" indent="-342900">
              <a:buFont typeface="Arial" panose="020B0604020202020204" pitchFamily="34" charset="0"/>
              <a:buChar char="•"/>
            </a:pPr>
            <a:r>
              <a:rPr lang="en-US" sz="2000" dirty="0">
                <a:highlight>
                  <a:srgbClr val="00FF00"/>
                </a:highlight>
              </a:rPr>
              <a:t>RRPS dynamically adjust parent-child relationships after each message</a:t>
            </a:r>
          </a:p>
          <a:p>
            <a:pPr marL="342900" indent="-342900">
              <a:buFont typeface="Arial" panose="020B0604020202020204" pitchFamily="34" charset="0"/>
              <a:buChar char="•"/>
            </a:pPr>
            <a:r>
              <a:rPr lang="en-US" sz="2000" dirty="0">
                <a:highlight>
                  <a:srgbClr val="00FF00"/>
                </a:highlight>
              </a:rPr>
              <a:t>No link is used for a consecutive sequence of messages</a:t>
            </a:r>
          </a:p>
          <a:p>
            <a:pPr marL="342900" indent="-342900">
              <a:buFont typeface="Arial" panose="020B0604020202020204" pitchFamily="34" charset="0"/>
              <a:buChar char="•"/>
            </a:pPr>
            <a:r>
              <a:rPr lang="en-US" sz="2000" dirty="0">
                <a:highlight>
                  <a:srgbClr val="00FF00"/>
                </a:highlight>
              </a:rPr>
              <a:t>Latency spike is only able to affect a small number of messages</a:t>
            </a:r>
          </a:p>
          <a:p>
            <a:pPr marL="800100" lvl="1" indent="-342900">
              <a:buFont typeface="Arial" panose="020B0604020202020204" pitchFamily="34" charset="0"/>
              <a:buChar char="•"/>
            </a:pPr>
            <a:r>
              <a:rPr lang="en-US" sz="2000" dirty="0">
                <a:highlight>
                  <a:srgbClr val="00FF00"/>
                </a:highlight>
              </a:rPr>
              <a:t>As opposed to affecting all the messages traversing during the spike </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323439"/>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0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000" dirty="0">
                <a:highlight>
                  <a:srgbClr val="00FF00"/>
                </a:highlight>
              </a:rPr>
              <a:t>If one parent is a straggler, some other parent may be healthy</a:t>
            </a:r>
          </a:p>
          <a:p>
            <a:pPr marL="342900" indent="-342900">
              <a:buFont typeface="Arial" panose="020B0604020202020204" pitchFamily="34" charset="0"/>
              <a:buChar char="•"/>
            </a:pPr>
            <a:r>
              <a:rPr lang="en-US" sz="2000" dirty="0">
                <a:highlight>
                  <a:srgbClr val="00FF00"/>
                </a:highlight>
              </a:rPr>
              <a:t>The child node is able to receive a copy of message on time </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A trader/MPs VM can also show straggler behavior, delaying the processing of an incoming message</a:t>
            </a:r>
          </a:p>
          <a:p>
            <a:pPr marL="342900" indent="-342900">
              <a:buFont typeface="Arial" panose="020B0604020202020204" pitchFamily="34" charset="0"/>
              <a:buChar char="•"/>
            </a:pPr>
            <a:r>
              <a:rPr lang="en-US" sz="20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000" dirty="0">
                <a:highlight>
                  <a:srgbClr val="00FF00"/>
                </a:highlight>
              </a:rPr>
              <a:t>An MP is able to receive messages on time</a:t>
            </a:r>
          </a:p>
          <a:p>
            <a:pPr marL="342900" indent="-342900">
              <a:buFont typeface="Arial" panose="020B0604020202020204" pitchFamily="34" charset="0"/>
              <a:buChar char="•"/>
            </a:pPr>
            <a:r>
              <a:rPr lang="en-US" sz="2000" dirty="0">
                <a:highlight>
                  <a:srgbClr val="00FF00"/>
                </a:highlight>
              </a:rPr>
              <a:t>Some machinery added to handle packet drops as well as to de-duplicate the output </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Rounded Rectangle 2">
            <a:extLst>
              <a:ext uri="{FF2B5EF4-FFF2-40B4-BE49-F238E27FC236}">
                <a16:creationId xmlns:a16="http://schemas.microsoft.com/office/drawing/2014/main" id="{6996BCFC-53EA-AED1-F095-BA524B70DF3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extLst>
              <p:ext uri="{D42A27DB-BD31-4B8C-83A1-F6EECF244321}">
                <p14:modId xmlns:p14="http://schemas.microsoft.com/office/powerpoint/2010/main" val="2675472495"/>
              </p:ext>
            </p:extLst>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BCE37FF3-6507-28EF-8A27-7D1E331E0FF3}"/>
              </a:ext>
            </a:extLst>
          </p:cNvPr>
          <p:cNvSpPr/>
          <p:nvPr/>
        </p:nvSpPr>
        <p:spPr>
          <a:xfrm>
            <a:off x="2275801" y="2959321"/>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9E76ADD-7E6C-28D0-11F3-0A6477FFB750}"/>
              </a:ext>
            </a:extLst>
          </p:cNvPr>
          <p:cNvSpPr/>
          <p:nvPr/>
        </p:nvSpPr>
        <p:spPr>
          <a:xfrm>
            <a:off x="800368" y="295932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A6D364DF-05C0-705E-AE96-DE67EB00B594}"/>
              </a:ext>
            </a:extLst>
          </p:cNvPr>
          <p:cNvSpPr txBox="1"/>
          <p:nvPr/>
        </p:nvSpPr>
        <p:spPr>
          <a:xfrm>
            <a:off x="118905" y="4714088"/>
            <a:ext cx="3670775"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876EDDA-F09A-097C-E1CD-3670887FC549}"/>
                  </a:ext>
                </a:extLst>
              </p:cNvPr>
              <p:cNvSpPr txBox="1"/>
              <p:nvPr/>
            </p:nvSpPr>
            <p:spPr>
              <a:xfrm>
                <a:off x="-277641" y="3291493"/>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F876EDDA-F09A-097C-E1CD-3670887FC549}"/>
                  </a:ext>
                </a:extLst>
              </p:cNvPr>
              <p:cNvSpPr txBox="1">
                <a:spLocks noRot="1" noChangeAspect="1" noMove="1" noResize="1" noEditPoints="1" noAdjustHandles="1" noChangeArrowheads="1" noChangeShapeType="1" noTextEdit="1"/>
              </p:cNvSpPr>
              <p:nvPr/>
            </p:nvSpPr>
            <p:spPr>
              <a:xfrm>
                <a:off x="-277641" y="3291493"/>
                <a:ext cx="5106884" cy="615553"/>
              </a:xfrm>
              <a:prstGeom prst="rect">
                <a:avLst/>
              </a:prstGeom>
              <a:blipFill>
                <a:blip r:embed="rId3"/>
                <a:stretch>
                  <a:fillRect t="-10204" b="-36735"/>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4"/>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505137" y="4568656"/>
            <a:ext cx="2633951" cy="1323439"/>
          </a:xfrm>
          <a:prstGeom prst="rect">
            <a:avLst/>
          </a:prstGeom>
          <a:noFill/>
        </p:spPr>
        <p:txBody>
          <a:bodyPr wrap="square">
            <a:spAutoFit/>
          </a:bodyPr>
          <a:lstStyle/>
          <a:p>
            <a:r>
              <a:rPr lang="en-US" sz="2000" dirty="0"/>
              <a:t>For a fixed mid-price, all action is assumed to happen inside the action window</a:t>
            </a:r>
          </a:p>
        </p:txBody>
      </p:sp>
      <p:sp>
        <p:nvSpPr>
          <p:cNvPr id="11" name="Rounded Rectangle 10">
            <a:extLst>
              <a:ext uri="{FF2B5EF4-FFF2-40B4-BE49-F238E27FC236}">
                <a16:creationId xmlns:a16="http://schemas.microsoft.com/office/drawing/2014/main" id="{EE6705D6-6497-05C3-35C8-70E3D5962454}"/>
              </a:ext>
            </a:extLst>
          </p:cNvPr>
          <p:cNvSpPr/>
          <p:nvPr/>
        </p:nvSpPr>
        <p:spPr>
          <a:xfrm>
            <a:off x="4831823" y="2282034"/>
            <a:ext cx="1294239" cy="71748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highlight>
                  <a:srgbClr val="0000FF"/>
                </a:highlight>
              </a:rPr>
              <a:t>w = 1</a:t>
            </a:r>
            <a:endParaRPr lang="en-US" sz="3200" dirty="0">
              <a:highlight>
                <a:srgbClr val="0000FF"/>
              </a:highlight>
            </a:endParaRPr>
          </a:p>
        </p:txBody>
      </p:sp>
      <p:sp>
        <p:nvSpPr>
          <p:cNvPr id="16" name="Right Brace 15">
            <a:extLst>
              <a:ext uri="{FF2B5EF4-FFF2-40B4-BE49-F238E27FC236}">
                <a16:creationId xmlns:a16="http://schemas.microsoft.com/office/drawing/2014/main" id="{70B4E72B-7230-21A8-64BF-55FA4618AFB1}"/>
              </a:ext>
            </a:extLst>
          </p:cNvPr>
          <p:cNvSpPr/>
          <p:nvPr/>
        </p:nvSpPr>
        <p:spPr>
          <a:xfrm rot="5400000">
            <a:off x="6836770" y="4648732"/>
            <a:ext cx="464652" cy="2378760"/>
          </a:xfrm>
          <a:prstGeom prst="rightBrace">
            <a:avLst/>
          </a:prstGeom>
          <a:ln w="5080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7603C6A1-B1BF-D415-1745-2D670FCB27AC}"/>
              </a:ext>
            </a:extLst>
          </p:cNvPr>
          <p:cNvSpPr txBox="1"/>
          <p:nvPr/>
        </p:nvSpPr>
        <p:spPr>
          <a:xfrm>
            <a:off x="6022520" y="5869886"/>
            <a:ext cx="620683" cy="369332"/>
          </a:xfrm>
          <a:prstGeom prst="rect">
            <a:avLst/>
          </a:prstGeom>
          <a:noFill/>
        </p:spPr>
        <p:txBody>
          <a:bodyPr wrap="none" rtlCol="0">
            <a:spAutoFit/>
          </a:bodyPr>
          <a:lstStyle/>
          <a:p>
            <a:r>
              <a:rPr lang="en-US" dirty="0"/>
              <a:t>Bids</a:t>
            </a:r>
          </a:p>
        </p:txBody>
      </p:sp>
      <p:sp>
        <p:nvSpPr>
          <p:cNvPr id="18" name="Right Brace 17">
            <a:extLst>
              <a:ext uri="{FF2B5EF4-FFF2-40B4-BE49-F238E27FC236}">
                <a16:creationId xmlns:a16="http://schemas.microsoft.com/office/drawing/2014/main" id="{DD9B71AE-E971-E074-3EAF-E3914A01CF0C}"/>
              </a:ext>
            </a:extLst>
          </p:cNvPr>
          <p:cNvSpPr/>
          <p:nvPr/>
        </p:nvSpPr>
        <p:spPr>
          <a:xfrm rot="5400000">
            <a:off x="8092143" y="4711692"/>
            <a:ext cx="464652" cy="2378760"/>
          </a:xfrm>
          <a:prstGeom prst="rightBrace">
            <a:avLst/>
          </a:prstGeom>
          <a:ln w="508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984709C0-7163-2ABE-DBB2-D8E0228ABA3C}"/>
              </a:ext>
            </a:extLst>
          </p:cNvPr>
          <p:cNvSpPr txBox="1"/>
          <p:nvPr/>
        </p:nvSpPr>
        <p:spPr>
          <a:xfrm>
            <a:off x="8781592" y="5853568"/>
            <a:ext cx="657552" cy="369332"/>
          </a:xfrm>
          <a:prstGeom prst="rect">
            <a:avLst/>
          </a:prstGeom>
          <a:noFill/>
          <a:ln>
            <a:noFill/>
          </a:ln>
        </p:spPr>
        <p:txBody>
          <a:bodyPr wrap="none" rtlCol="0">
            <a:spAutoFit/>
          </a:bodyPr>
          <a:lstStyle/>
          <a:p>
            <a:r>
              <a:rPr lang="en-US" dirty="0"/>
              <a:t>Asks</a:t>
            </a:r>
          </a:p>
        </p:txBody>
      </p:sp>
      <p:sp>
        <p:nvSpPr>
          <p:cNvPr id="20" name="TextBox 19">
            <a:extLst>
              <a:ext uri="{FF2B5EF4-FFF2-40B4-BE49-F238E27FC236}">
                <a16:creationId xmlns:a16="http://schemas.microsoft.com/office/drawing/2014/main" id="{552F9D95-8EAC-91DB-5B9A-7B141A7B94CC}"/>
              </a:ext>
            </a:extLst>
          </p:cNvPr>
          <p:cNvSpPr txBox="1"/>
          <p:nvPr/>
        </p:nvSpPr>
        <p:spPr>
          <a:xfrm>
            <a:off x="7467755" y="4568656"/>
            <a:ext cx="423512" cy="646331"/>
          </a:xfrm>
          <a:prstGeom prst="rect">
            <a:avLst/>
          </a:prstGeom>
          <a:noFill/>
        </p:spPr>
        <p:txBody>
          <a:bodyPr wrap="square" rtlCol="0">
            <a:spAutoFit/>
          </a:bodyPr>
          <a:lstStyle/>
          <a:p>
            <a:r>
              <a:rPr lang="en-US" sz="3600" b="1" i="1" dirty="0"/>
              <a:t>p</a:t>
            </a:r>
            <a:endParaRPr lang="en-US" dirty="0"/>
          </a:p>
        </p:txBody>
      </p:sp>
      <p:sp>
        <p:nvSpPr>
          <p:cNvPr id="21" name="Rounded Rectangle 20">
            <a:extLst>
              <a:ext uri="{FF2B5EF4-FFF2-40B4-BE49-F238E27FC236}">
                <a16:creationId xmlns:a16="http://schemas.microsoft.com/office/drawing/2014/main" id="{475A78DB-5A42-D139-4ACE-CC366A1E19E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P spid="11" grpId="0" animBg="1"/>
      <p:bldP spid="16" grpId="0" animBg="1"/>
      <p:bldP spid="17" grpId="0"/>
      <p:bldP spid="18" grpId="0" animBg="1"/>
      <p:bldP spid="19" grpId="0"/>
      <p:bldP spid="20" grpId="0"/>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
        <p:nvSpPr>
          <p:cNvPr id="3" name="Rounded Rectangle 2">
            <a:extLst>
              <a:ext uri="{FF2B5EF4-FFF2-40B4-BE49-F238E27FC236}">
                <a16:creationId xmlns:a16="http://schemas.microsoft.com/office/drawing/2014/main" id="{EE3F07AC-482D-112C-095A-23942DF1379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375920" y="4577760"/>
            <a:ext cx="12327210" cy="1569660"/>
          </a:xfrm>
          <a:prstGeom prst="rect">
            <a:avLst/>
          </a:prstGeom>
          <a:noFill/>
        </p:spPr>
        <p:txBody>
          <a:bodyPr wrap="square" rtlCol="0">
            <a:spAutoFit/>
          </a:bodyPr>
          <a:lstStyle/>
          <a:p>
            <a:pPr marL="457200" indent="-457200">
              <a:buFont typeface="Arial" panose="020B0604020202020204" pitchFamily="34" charset="0"/>
              <a:buChar char="•"/>
            </a:pPr>
            <a:r>
              <a:rPr lang="en-US" sz="2400" dirty="0"/>
              <a:t>There is a problem</a:t>
            </a:r>
          </a:p>
          <a:p>
            <a:pPr marL="457200" indent="-457200">
              <a:buFont typeface="Arial" panose="020B0604020202020204" pitchFamily="34" charset="0"/>
              <a:buChar char="•"/>
            </a:pPr>
            <a:r>
              <a:rPr lang="en-US" sz="2400" dirty="0"/>
              <a:t>Criticality definition dependent on the mid-price but mid-price can move</a:t>
            </a:r>
          </a:p>
          <a:p>
            <a:pPr marL="457200" indent="-457200">
              <a:buFont typeface="Arial" panose="020B0604020202020204" pitchFamily="34" charset="0"/>
              <a:buChar char="•"/>
            </a:pPr>
            <a:r>
              <a:rPr lang="en-US" sz="2400" dirty="0"/>
              <a:t>Two orders can co-reside </a:t>
            </a:r>
            <a:r>
              <a:rPr lang="en-US" sz="2400" dirty="0" err="1"/>
              <a:t>s.t.</a:t>
            </a:r>
            <a:r>
              <a:rPr lang="en-US" sz="2400" dirty="0"/>
              <a:t> one was generated after the mid-price changed</a:t>
            </a:r>
          </a:p>
          <a:p>
            <a:pPr marL="457200" indent="-457200">
              <a:buFont typeface="Arial" panose="020B0604020202020204" pitchFamily="34" charset="0"/>
              <a:buChar char="•"/>
            </a:pPr>
            <a:r>
              <a:rPr lang="en-US" sz="2400" dirty="0"/>
              <a:t>Can we have some ordering decision between such two orders? Difficult!</a:t>
            </a:r>
          </a:p>
        </p:txBody>
      </p:sp>
      <p:sp>
        <p:nvSpPr>
          <p:cNvPr id="3" name="Rounded Rectangle 2">
            <a:extLst>
              <a:ext uri="{FF2B5EF4-FFF2-40B4-BE49-F238E27FC236}">
                <a16:creationId xmlns:a16="http://schemas.microsoft.com/office/drawing/2014/main" id="{2CE0093C-5B25-8C18-A7D6-70F465D7B4A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
        <p:nvSpPr>
          <p:cNvPr id="9" name="Rounded Rectangle 8">
            <a:extLst>
              <a:ext uri="{FF2B5EF4-FFF2-40B4-BE49-F238E27FC236}">
                <a16:creationId xmlns:a16="http://schemas.microsoft.com/office/drawing/2014/main" id="{F474F005-ED43-8D21-26E0-415DDAD694C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Rounded Rectangle 7">
            <a:extLst>
              <a:ext uri="{FF2B5EF4-FFF2-40B4-BE49-F238E27FC236}">
                <a16:creationId xmlns:a16="http://schemas.microsoft.com/office/drawing/2014/main" id="{47245149-74B2-DDF4-1906-C03A47EA76B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
        <p:nvSpPr>
          <p:cNvPr id="3" name="Rounded Rectangle 2">
            <a:extLst>
              <a:ext uri="{FF2B5EF4-FFF2-40B4-BE49-F238E27FC236}">
                <a16:creationId xmlns:a16="http://schemas.microsoft.com/office/drawing/2014/main" id="{442ED2A8-464E-8F73-DCC5-AE4BFFF6CA9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A955386A-E9BB-B335-859D-ED9757E75200}"/>
                  </a:ext>
                </a:extLst>
              </p:cNvPr>
              <p:cNvSpPr txBox="1"/>
              <p:nvPr/>
            </p:nvSpPr>
            <p:spPr>
              <a:xfrm>
                <a:off x="3876395" y="1947720"/>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6" name="TextBox 5">
                <a:extLst>
                  <a:ext uri="{FF2B5EF4-FFF2-40B4-BE49-F238E27FC236}">
                    <a16:creationId xmlns:a16="http://schemas.microsoft.com/office/drawing/2014/main" id="{A955386A-E9BB-B335-859D-ED9757E75200}"/>
                  </a:ext>
                </a:extLst>
              </p:cNvPr>
              <p:cNvSpPr txBox="1">
                <a:spLocks noRot="1" noChangeAspect="1" noMove="1" noResize="1" noEditPoints="1" noAdjustHandles="1" noChangeArrowheads="1" noChangeShapeType="1" noTextEdit="1"/>
              </p:cNvSpPr>
              <p:nvPr/>
            </p:nvSpPr>
            <p:spPr>
              <a:xfrm>
                <a:off x="3876395" y="1947720"/>
                <a:ext cx="4284763" cy="1031436"/>
              </a:xfrm>
              <a:prstGeom prst="rect">
                <a:avLst/>
              </a:prstGeom>
              <a:blipFill>
                <a:blip r:embed="rId3"/>
                <a:stretch>
                  <a:fillRect l="-1479" t="-173171" r="-1479" b="-240244"/>
                </a:stretch>
              </a:blipFill>
            </p:spPr>
            <p:txBody>
              <a:bodyPr/>
              <a:lstStyle/>
              <a:p>
                <a:r>
                  <a:rPr lang="en-US">
                    <a:noFill/>
                  </a:rPr>
                  <a:t> </a:t>
                </a:r>
              </a:p>
            </p:txBody>
          </p:sp>
        </mc:Fallback>
      </mc:AlternateContent>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46BBEB0-5D5B-52FD-DEA5-BBEA91C1887F}"/>
              </a:ext>
            </a:extLst>
          </p:cNvPr>
          <p:cNvSpPr/>
          <p:nvPr/>
        </p:nvSpPr>
        <p:spPr>
          <a:xfrm>
            <a:off x="1251284" y="2935705"/>
            <a:ext cx="1732548" cy="4932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Winners</a:t>
            </a:r>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EC36-01FC-6485-2AA8-C8658385236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2395DD2F-ABB9-4503-7EB4-9AF90D2618B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0555FD7B-1674-A3DB-7CD6-01582488CD3A}"/>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BEC28C30-36A7-082F-A474-5746FFD518A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58EE668D-1808-5176-CE4C-FC1DAD6E3D7B}"/>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25D8D70-C327-405C-D954-5001F9D828EC}"/>
              </a:ext>
            </a:extLst>
          </p:cNvPr>
          <p:cNvSpPr/>
          <p:nvPr/>
        </p:nvSpPr>
        <p:spPr>
          <a:xfrm>
            <a:off x="1211037" y="3370045"/>
            <a:ext cx="1694047" cy="117909"/>
          </a:xfrm>
          <a:custGeom>
            <a:avLst/>
            <a:gdLst>
              <a:gd name="csX0" fmla="*/ 0 w 1694047"/>
              <a:gd name="csY0" fmla="*/ 0 h 117909"/>
              <a:gd name="csX1" fmla="*/ 598563 w 1694047"/>
              <a:gd name="csY1" fmla="*/ 0 h 117909"/>
              <a:gd name="csX2" fmla="*/ 1180186 w 1694047"/>
              <a:gd name="csY2" fmla="*/ 0 h 117909"/>
              <a:gd name="csX3" fmla="*/ 1694047 w 1694047"/>
              <a:gd name="csY3" fmla="*/ 0 h 117909"/>
              <a:gd name="csX4" fmla="*/ 1694047 w 1694047"/>
              <a:gd name="csY4" fmla="*/ 117909 h 117909"/>
              <a:gd name="csX5" fmla="*/ 1163246 w 1694047"/>
              <a:gd name="csY5" fmla="*/ 117909 h 117909"/>
              <a:gd name="csX6" fmla="*/ 598563 w 1694047"/>
              <a:gd name="csY6" fmla="*/ 117909 h 117909"/>
              <a:gd name="csX7" fmla="*/ 0 w 1694047"/>
              <a:gd name="csY7" fmla="*/ 117909 h 117909"/>
              <a:gd name="csX8" fmla="*/ 0 w 1694047"/>
              <a:gd name="csY8" fmla="*/ 0 h 117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94047" h="117909" fill="none" extrusionOk="0">
                <a:moveTo>
                  <a:pt x="0" y="0"/>
                </a:moveTo>
                <a:cubicBezTo>
                  <a:pt x="278806" y="-2531"/>
                  <a:pt x="464307" y="68144"/>
                  <a:pt x="598563" y="0"/>
                </a:cubicBezTo>
                <a:cubicBezTo>
                  <a:pt x="732819" y="-68144"/>
                  <a:pt x="1060663" y="36313"/>
                  <a:pt x="1180186" y="0"/>
                </a:cubicBezTo>
                <a:cubicBezTo>
                  <a:pt x="1299709" y="-36313"/>
                  <a:pt x="1588118" y="44253"/>
                  <a:pt x="1694047" y="0"/>
                </a:cubicBezTo>
                <a:cubicBezTo>
                  <a:pt x="1701930" y="24249"/>
                  <a:pt x="1682628" y="94266"/>
                  <a:pt x="1694047" y="117909"/>
                </a:cubicBezTo>
                <a:cubicBezTo>
                  <a:pt x="1538736" y="178579"/>
                  <a:pt x="1395881" y="66265"/>
                  <a:pt x="1163246" y="117909"/>
                </a:cubicBezTo>
                <a:cubicBezTo>
                  <a:pt x="930611" y="169553"/>
                  <a:pt x="712018" y="53794"/>
                  <a:pt x="598563" y="117909"/>
                </a:cubicBezTo>
                <a:cubicBezTo>
                  <a:pt x="485108" y="182024"/>
                  <a:pt x="133942" y="91579"/>
                  <a:pt x="0" y="117909"/>
                </a:cubicBezTo>
                <a:cubicBezTo>
                  <a:pt x="-2175" y="83152"/>
                  <a:pt x="6275" y="58157"/>
                  <a:pt x="0" y="0"/>
                </a:cubicBezTo>
                <a:close/>
              </a:path>
              <a:path w="1694047" h="117909" stroke="0" extrusionOk="0">
                <a:moveTo>
                  <a:pt x="0" y="0"/>
                </a:moveTo>
                <a:cubicBezTo>
                  <a:pt x="149099" y="-34213"/>
                  <a:pt x="361070" y="49167"/>
                  <a:pt x="547742" y="0"/>
                </a:cubicBezTo>
                <a:cubicBezTo>
                  <a:pt x="734414" y="-49167"/>
                  <a:pt x="858670" y="57767"/>
                  <a:pt x="1061603" y="0"/>
                </a:cubicBezTo>
                <a:cubicBezTo>
                  <a:pt x="1264536" y="-57767"/>
                  <a:pt x="1507434" y="26327"/>
                  <a:pt x="1694047" y="0"/>
                </a:cubicBezTo>
                <a:cubicBezTo>
                  <a:pt x="1700938" y="29595"/>
                  <a:pt x="1682016" y="59515"/>
                  <a:pt x="1694047" y="117909"/>
                </a:cubicBezTo>
                <a:cubicBezTo>
                  <a:pt x="1503012" y="138442"/>
                  <a:pt x="1365515" y="112085"/>
                  <a:pt x="1163246" y="117909"/>
                </a:cubicBezTo>
                <a:cubicBezTo>
                  <a:pt x="960977" y="123733"/>
                  <a:pt x="814142" y="64915"/>
                  <a:pt x="564682" y="117909"/>
                </a:cubicBezTo>
                <a:cubicBezTo>
                  <a:pt x="315222" y="170903"/>
                  <a:pt x="273342" y="99638"/>
                  <a:pt x="0" y="117909"/>
                </a:cubicBezTo>
                <a:cubicBezTo>
                  <a:pt x="-13544" y="63608"/>
                  <a:pt x="5843" y="41784"/>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682555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654A4-F33A-1F4F-67B8-EAE78BC8032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68E6989D-76DC-F83D-96D4-D771393CD23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6E6327C3-C4B8-50AD-6E44-4F978CC81B79}"/>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3" name="Oval 12">
            <a:extLst>
              <a:ext uri="{FF2B5EF4-FFF2-40B4-BE49-F238E27FC236}">
                <a16:creationId xmlns:a16="http://schemas.microsoft.com/office/drawing/2014/main" id="{25007A3D-C51F-5E41-CDFD-484D9738F863}"/>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2731EF35-9ACE-58C6-6FDB-EC71282C36A4}"/>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3091481E-9F18-B168-0DD7-FEDE66686DDC}"/>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7BD188EA-535B-F762-D608-57A1FC8F969D}"/>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721620B-142D-276F-A44A-CE8691F8B6B0}"/>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51EF488-4C64-1BEE-BDDA-6EBAEE1FE43F}"/>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554DCE3-E9F0-BF00-E067-E267284DBCB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EDAA926F-CC80-18F7-7082-2595BC4B36B7}"/>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19B5A1-4986-5BC3-5E2F-1C963B063DE7}"/>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6A9EE674-CE92-8593-1AD0-74BE2CB2EF0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8624219-7642-B9D7-018A-764DB2B5E880}"/>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D6F073F-3A8E-5335-161F-6A5C27405806}"/>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07B0309-C2B8-2D75-5287-893285E2AFF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B9B90EE-7E87-93C8-27CB-10229AC8F351}"/>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99165118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5" grpId="0"/>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F9A7702-1C5E-538E-9D32-7E435F44C3F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highlight>
                  <a:srgbClr val="FF0000"/>
                </a:highlight>
              </a:rPr>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603F8A3-A8D0-F029-25F7-85F02788F9B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highlight>
                  <a:srgbClr val="FF0000"/>
                </a:highlight>
              </a:rPr>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5D55983-306C-A04B-ECB0-66AF7FE52A2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highlight>
                  <a:srgbClr val="FF0000"/>
                </a:highlight>
              </a:rPr>
              <a:t>Repeat</a:t>
            </a:r>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6B8C1-A1C7-E0D2-C4B0-9D8BFA1784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4D676FB-0819-D93A-9DD1-4D2025A3A40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312D7D45-536F-6CB9-5C32-D069206B0700}"/>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B1F072ED-A628-5926-B4A1-1542A16C4491}"/>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F417404-E926-5A8F-7242-0E1C76BEC558}"/>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BFB66B-A2CF-0F18-BF4C-D8D6077E4AC9}"/>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1D7F556-98CD-CC18-C580-4062BC1A403C}"/>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ED2B373-4333-145F-EC18-A74CB91788F0}"/>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0511C0F4-D82C-BBF3-669D-0E25735308F5}"/>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FE42EA1-9407-BE00-2497-238223EF0BDC}"/>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D8ACA85-7C13-D9F2-8B3F-D83F34511734}"/>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8F1050E-05D5-8701-3755-2724CF28E2DC}"/>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556302A-5067-CC9D-DD97-85F75867E12D}"/>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959396F-F035-11FF-5780-367F1DD5D40A}"/>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2C5E5BA-B96C-E9F5-FEB0-0FD431CD117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E24067E8-1318-0FF4-F592-EC78D300E59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E3803C16-8E92-5B9D-374E-657C91AFFF4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74234C-8754-12CD-88DD-4E01A2B2FFAD}"/>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highlight>
                  <a:srgbClr val="FF0000"/>
                </a:highlight>
              </a:rPr>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323261540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6332B1C-7ADA-B00A-13C0-6FDC1BFD3AC9}"/>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highlight>
                  <a:srgbClr val="FF0000"/>
                </a:highlight>
              </a:rPr>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B5AC294-562D-95F9-EB3C-2A5610D30004}"/>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4152103" y="4761342"/>
            <a:ext cx="2137701" cy="523220"/>
          </a:xfrm>
          <a:prstGeom prst="rect">
            <a:avLst/>
          </a:prstGeom>
          <a:noFill/>
        </p:spPr>
        <p:txBody>
          <a:bodyPr wrap="none" rtlCol="0">
            <a:spAutoFit/>
          </a:bodyPr>
          <a:lstStyle/>
          <a:p>
            <a:r>
              <a:rPr lang="en-US" sz="2800" dirty="0"/>
              <a:t>Partial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8136971" cy="461665"/>
          </a:xfrm>
          <a:prstGeom prst="rect">
            <a:avLst/>
          </a:prstGeom>
          <a:noFill/>
          <a:ln>
            <a:solidFill>
              <a:srgbClr val="7030A0"/>
            </a:solidFill>
          </a:ln>
        </p:spPr>
        <p:txBody>
          <a:bodyPr wrap="none" rtlCol="0">
            <a:spAutoFit/>
          </a:bodyPr>
          <a:lstStyle/>
          <a:p>
            <a:r>
              <a:rPr lang="en-US" sz="2400" dirty="0"/>
              <a:t>Find the smallest timestamp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11" name="TextBox 10">
            <a:extLst>
              <a:ext uri="{FF2B5EF4-FFF2-40B4-BE49-F238E27FC236}">
                <a16:creationId xmlns:a16="http://schemas.microsoft.com/office/drawing/2014/main" id="{AEDEC7F6-CF5E-3398-42C9-557382ECD3B4}"/>
              </a:ext>
            </a:extLst>
          </p:cNvPr>
          <p:cNvSpPr txBox="1"/>
          <p:nvPr/>
        </p:nvSpPr>
        <p:spPr>
          <a:xfrm>
            <a:off x="1924638" y="5771343"/>
            <a:ext cx="9144235" cy="461665"/>
          </a:xfrm>
          <a:prstGeom prst="rect">
            <a:avLst/>
          </a:prstGeom>
          <a:noFill/>
          <a:ln>
            <a:solidFill>
              <a:srgbClr val="7030A0"/>
            </a:solidFill>
          </a:ln>
        </p:spPr>
        <p:txBody>
          <a:bodyPr wrap="none" rtlCol="0">
            <a:spAutoFit/>
          </a:bodyPr>
          <a:lstStyle/>
          <a:p>
            <a:r>
              <a:rPr lang="en-US" sz="2400" dirty="0"/>
              <a:t>i.e., </a:t>
            </a:r>
            <a:r>
              <a:rPr lang="en-US" sz="2400" dirty="0">
                <a:solidFill>
                  <a:schemeClr val="accent6"/>
                </a:solidFill>
              </a:rPr>
              <a:t>T’</a:t>
            </a:r>
            <a:r>
              <a:rPr lang="en-US" sz="2400" dirty="0"/>
              <a:t> and any timestamp greater than </a:t>
            </a:r>
            <a:r>
              <a:rPr lang="en-US" sz="2400" dirty="0">
                <a:solidFill>
                  <a:schemeClr val="accent6"/>
                </a:solidFill>
              </a:rPr>
              <a:t>T’</a:t>
            </a:r>
            <a:r>
              <a:rPr lang="en-US" sz="2400" dirty="0"/>
              <a:t> will likely be ordered after </a:t>
            </a:r>
            <a:r>
              <a:rPr lang="en-US" sz="2400" dirty="0">
                <a:solidFill>
                  <a:schemeClr val="accent6"/>
                </a:solidFill>
              </a:rPr>
              <a:t>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1" grpId="0" animBg="1"/>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
        <p:nvSpPr>
          <p:cNvPr id="4" name="TextBox 3">
            <a:extLst>
              <a:ext uri="{FF2B5EF4-FFF2-40B4-BE49-F238E27FC236}">
                <a16:creationId xmlns:a16="http://schemas.microsoft.com/office/drawing/2014/main" id="{4030B866-16BA-6FE5-2094-BA3641796418}"/>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their difference will always fall in a relatively small range</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C5782940-89CB-C60F-03C7-A38B021AE4C4}"/>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4" name="TextBox 3">
                <a:extLst>
                  <a:ext uri="{FF2B5EF4-FFF2-40B4-BE49-F238E27FC236}">
                    <a16:creationId xmlns:a16="http://schemas.microsoft.com/office/drawing/2014/main" id="{C5782940-89CB-C60F-03C7-A38B021AE4C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5" name="TextBox 4">
            <a:extLst>
              <a:ext uri="{FF2B5EF4-FFF2-40B4-BE49-F238E27FC236}">
                <a16:creationId xmlns:a16="http://schemas.microsoft.com/office/drawing/2014/main" id="{F831CBAF-964E-14A0-AACC-610B4079948B}"/>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E9E0D226-63F4-2375-5259-AE6A7A3C31F8}"/>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5" name="TextBox 4">
                <a:extLst>
                  <a:ext uri="{FF2B5EF4-FFF2-40B4-BE49-F238E27FC236}">
                    <a16:creationId xmlns:a16="http://schemas.microsoft.com/office/drawing/2014/main" id="{E9E0D226-63F4-2375-5259-AE6A7A3C31F8}"/>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7" name="TextBox 6">
            <a:extLst>
              <a:ext uri="{FF2B5EF4-FFF2-40B4-BE49-F238E27FC236}">
                <a16:creationId xmlns:a16="http://schemas.microsoft.com/office/drawing/2014/main" id="{32FA8AA9-94B6-5EB5-1737-80E6E9F03C63}"/>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Lst>
  </p:timing>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C9CCD-0F55-4384-8AE3-75EB02B02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C4118-87A2-BCAF-7D9A-07A273561C32}"/>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8599AD4D-A439-2368-7EDD-618EB1E803B0}"/>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
        <p:nvSpPr>
          <p:cNvPr id="3" name="Can 2">
            <a:extLst>
              <a:ext uri="{FF2B5EF4-FFF2-40B4-BE49-F238E27FC236}">
                <a16:creationId xmlns:a16="http://schemas.microsoft.com/office/drawing/2014/main" id="{8538C34A-2C2F-C1E7-45D1-D48A726DE4EA}"/>
              </a:ext>
            </a:extLst>
          </p:cNvPr>
          <p:cNvSpPr/>
          <p:nvPr/>
        </p:nvSpPr>
        <p:spPr>
          <a:xfrm>
            <a:off x="2030931" y="3166988"/>
            <a:ext cx="1241659" cy="524023"/>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Server</a:t>
            </a:r>
          </a:p>
        </p:txBody>
      </p:sp>
      <p:sp>
        <p:nvSpPr>
          <p:cNvPr id="5" name="Oval 4">
            <a:extLst>
              <a:ext uri="{FF2B5EF4-FFF2-40B4-BE49-F238E27FC236}">
                <a16:creationId xmlns:a16="http://schemas.microsoft.com/office/drawing/2014/main" id="{A75E3BB4-85A6-CB92-ADB1-E71DC21894CB}"/>
              </a:ext>
            </a:extLst>
          </p:cNvPr>
          <p:cNvSpPr/>
          <p:nvPr/>
        </p:nvSpPr>
        <p:spPr>
          <a:xfrm>
            <a:off x="1578543"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D7565FEF-418B-DB0E-8444-ACF73C19B521}"/>
              </a:ext>
            </a:extLst>
          </p:cNvPr>
          <p:cNvSpPr/>
          <p:nvPr/>
        </p:nvSpPr>
        <p:spPr>
          <a:xfrm>
            <a:off x="2141621"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DBC1B18-1D70-C1E1-3C90-E0C307510573}"/>
              </a:ext>
            </a:extLst>
          </p:cNvPr>
          <p:cNvSpPr/>
          <p:nvPr/>
        </p:nvSpPr>
        <p:spPr>
          <a:xfrm>
            <a:off x="2743200"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2D31292-2539-E5D4-1D3C-821AB8F80A5E}"/>
              </a:ext>
            </a:extLst>
          </p:cNvPr>
          <p:cNvSpPr/>
          <p:nvPr/>
        </p:nvSpPr>
        <p:spPr>
          <a:xfrm>
            <a:off x="3344779"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B87672-136A-427C-C35C-C0FC894E0344}"/>
              </a:ext>
            </a:extLst>
          </p:cNvPr>
          <p:cNvSpPr txBox="1"/>
          <p:nvPr/>
        </p:nvSpPr>
        <p:spPr>
          <a:xfrm>
            <a:off x="2296250" y="4774131"/>
            <a:ext cx="893899" cy="369332"/>
          </a:xfrm>
          <a:prstGeom prst="rect">
            <a:avLst/>
          </a:prstGeom>
          <a:noFill/>
        </p:spPr>
        <p:txBody>
          <a:bodyPr wrap="none" rtlCol="0">
            <a:spAutoFit/>
          </a:bodyPr>
          <a:lstStyle/>
          <a:p>
            <a:r>
              <a:rPr lang="en-US" dirty="0"/>
              <a:t>Clients</a:t>
            </a:r>
          </a:p>
        </p:txBody>
      </p:sp>
      <p:pic>
        <p:nvPicPr>
          <p:cNvPr id="11" name="Graphic 10" descr="Alarm clock outline">
            <a:extLst>
              <a:ext uri="{FF2B5EF4-FFF2-40B4-BE49-F238E27FC236}">
                <a16:creationId xmlns:a16="http://schemas.microsoft.com/office/drawing/2014/main" id="{313BA8E7-249E-D670-E5DA-C8AB9257EA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296250" y="2842489"/>
            <a:ext cx="628048" cy="628048"/>
          </a:xfrm>
          <a:prstGeom prst="rect">
            <a:avLst/>
          </a:prstGeom>
        </p:spPr>
      </p:pic>
      <p:pic>
        <p:nvPicPr>
          <p:cNvPr id="12" name="Graphic 11" descr="Alarm clock outline">
            <a:extLst>
              <a:ext uri="{FF2B5EF4-FFF2-40B4-BE49-F238E27FC236}">
                <a16:creationId xmlns:a16="http://schemas.microsoft.com/office/drawing/2014/main" id="{4D04F87F-3A44-574B-F241-EFAE9601125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570206" y="3964491"/>
            <a:ext cx="499226" cy="499226"/>
          </a:xfrm>
          <a:prstGeom prst="rect">
            <a:avLst/>
          </a:prstGeom>
        </p:spPr>
      </p:pic>
      <p:sp>
        <p:nvSpPr>
          <p:cNvPr id="17" name="Right Arrow 16">
            <a:extLst>
              <a:ext uri="{FF2B5EF4-FFF2-40B4-BE49-F238E27FC236}">
                <a16:creationId xmlns:a16="http://schemas.microsoft.com/office/drawing/2014/main" id="{A6F09AAA-DBEB-092C-17A7-34957865742E}"/>
              </a:ext>
            </a:extLst>
          </p:cNvPr>
          <p:cNvSpPr/>
          <p:nvPr/>
        </p:nvSpPr>
        <p:spPr>
          <a:xfrm rot="17901766">
            <a:off x="1856552" y="3862876"/>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BCF4C024-1983-DCF4-4843-E48FBF1B7B88}"/>
              </a:ext>
            </a:extLst>
          </p:cNvPr>
          <p:cNvSpPr/>
          <p:nvPr/>
        </p:nvSpPr>
        <p:spPr>
          <a:xfrm rot="14838417">
            <a:off x="2972437" y="3850574"/>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Arrow 18">
            <a:extLst>
              <a:ext uri="{FF2B5EF4-FFF2-40B4-BE49-F238E27FC236}">
                <a16:creationId xmlns:a16="http://schemas.microsoft.com/office/drawing/2014/main" id="{2D8A947F-2A62-8509-7217-21E26DB51DCB}"/>
              </a:ext>
            </a:extLst>
          </p:cNvPr>
          <p:cNvSpPr/>
          <p:nvPr/>
        </p:nvSpPr>
        <p:spPr>
          <a:xfrm rot="16853916">
            <a:off x="2228752" y="3884395"/>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3716D3D9-6F4F-DE83-A26F-6CB3D13E25A7}"/>
              </a:ext>
            </a:extLst>
          </p:cNvPr>
          <p:cNvSpPr/>
          <p:nvPr/>
        </p:nvSpPr>
        <p:spPr>
          <a:xfrm rot="15218196">
            <a:off x="2652922" y="3870173"/>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Alarm clock outline">
            <a:extLst>
              <a:ext uri="{FF2B5EF4-FFF2-40B4-BE49-F238E27FC236}">
                <a16:creationId xmlns:a16="http://schemas.microsoft.com/office/drawing/2014/main" id="{06D8CEA4-0276-D34C-3324-F39D1A3C8A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4194" y="3968188"/>
            <a:ext cx="499226" cy="499226"/>
          </a:xfrm>
          <a:prstGeom prst="rect">
            <a:avLst/>
          </a:prstGeom>
        </p:spPr>
      </p:pic>
      <p:pic>
        <p:nvPicPr>
          <p:cNvPr id="15" name="Graphic 14" descr="Alarm clock outline">
            <a:extLst>
              <a:ext uri="{FF2B5EF4-FFF2-40B4-BE49-F238E27FC236}">
                <a16:creationId xmlns:a16="http://schemas.microsoft.com/office/drawing/2014/main" id="{479D49E6-94FB-916C-70DD-8B1B4B64D23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22345" y="3959680"/>
            <a:ext cx="499226" cy="499226"/>
          </a:xfrm>
          <a:prstGeom prst="rect">
            <a:avLst/>
          </a:prstGeom>
        </p:spPr>
      </p:pic>
      <p:pic>
        <p:nvPicPr>
          <p:cNvPr id="16" name="Graphic 15" descr="Alarm clock outline">
            <a:extLst>
              <a:ext uri="{FF2B5EF4-FFF2-40B4-BE49-F238E27FC236}">
                <a16:creationId xmlns:a16="http://schemas.microsoft.com/office/drawing/2014/main" id="{688DD1FF-2192-70AC-028C-ECC4A80707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82370" y="3959680"/>
            <a:ext cx="499226" cy="499226"/>
          </a:xfrm>
          <a:prstGeom prst="rect">
            <a:avLst/>
          </a:prstGeom>
        </p:spPr>
      </p:pic>
      <p:sp>
        <p:nvSpPr>
          <p:cNvPr id="21" name="Freeform 20">
            <a:extLst>
              <a:ext uri="{FF2B5EF4-FFF2-40B4-BE49-F238E27FC236}">
                <a16:creationId xmlns:a16="http://schemas.microsoft.com/office/drawing/2014/main" id="{F831BC3D-9A6A-2D56-6AEA-DDC1CF29F336}"/>
              </a:ext>
            </a:extLst>
          </p:cNvPr>
          <p:cNvSpPr/>
          <p:nvPr/>
        </p:nvSpPr>
        <p:spPr>
          <a:xfrm>
            <a:off x="3395758" y="3413969"/>
            <a:ext cx="2172900" cy="524023"/>
          </a:xfrm>
          <a:custGeom>
            <a:avLst/>
            <a:gdLst>
              <a:gd name="csX0" fmla="*/ 1973179 w 1973179"/>
              <a:gd name="csY0" fmla="*/ 154079 h 702719"/>
              <a:gd name="csX1" fmla="*/ 1915427 w 1973179"/>
              <a:gd name="csY1" fmla="*/ 134829 h 702719"/>
              <a:gd name="csX2" fmla="*/ 1876926 w 1973179"/>
              <a:gd name="csY2" fmla="*/ 115578 h 702719"/>
              <a:gd name="csX3" fmla="*/ 1848051 w 1973179"/>
              <a:gd name="csY3" fmla="*/ 96328 h 702719"/>
              <a:gd name="csX4" fmla="*/ 1809550 w 1973179"/>
              <a:gd name="csY4" fmla="*/ 86702 h 702719"/>
              <a:gd name="csX5" fmla="*/ 1742173 w 1973179"/>
              <a:gd name="csY5" fmla="*/ 48201 h 702719"/>
              <a:gd name="csX6" fmla="*/ 1694046 w 1973179"/>
              <a:gd name="csY6" fmla="*/ 38576 h 702719"/>
              <a:gd name="csX7" fmla="*/ 1655545 w 1973179"/>
              <a:gd name="csY7" fmla="*/ 28951 h 702719"/>
              <a:gd name="csX8" fmla="*/ 1511166 w 1973179"/>
              <a:gd name="csY8" fmla="*/ 75 h 702719"/>
              <a:gd name="csX9" fmla="*/ 1289785 w 1973179"/>
              <a:gd name="csY9" fmla="*/ 38576 h 702719"/>
              <a:gd name="csX10" fmla="*/ 1232034 w 1973179"/>
              <a:gd name="csY10" fmla="*/ 105953 h 702719"/>
              <a:gd name="csX11" fmla="*/ 1164657 w 1973179"/>
              <a:gd name="csY11" fmla="*/ 231081 h 702719"/>
              <a:gd name="csX12" fmla="*/ 1155032 w 1973179"/>
              <a:gd name="csY12" fmla="*/ 269582 h 702719"/>
              <a:gd name="csX13" fmla="*/ 1174282 w 1973179"/>
              <a:gd name="csY13" fmla="*/ 577591 h 702719"/>
              <a:gd name="csX14" fmla="*/ 1232034 w 1973179"/>
              <a:gd name="csY14" fmla="*/ 654593 h 702719"/>
              <a:gd name="csX15" fmla="*/ 1260910 w 1973179"/>
              <a:gd name="csY15" fmla="*/ 683469 h 702719"/>
              <a:gd name="csX16" fmla="*/ 1318661 w 1973179"/>
              <a:gd name="csY16" fmla="*/ 702719 h 702719"/>
              <a:gd name="csX17" fmla="*/ 1395663 w 1973179"/>
              <a:gd name="csY17" fmla="*/ 683469 h 702719"/>
              <a:gd name="csX18" fmla="*/ 1453415 w 1973179"/>
              <a:gd name="csY18" fmla="*/ 587216 h 702719"/>
              <a:gd name="csX19" fmla="*/ 1453415 w 1973179"/>
              <a:gd name="csY19" fmla="*/ 336959 h 702719"/>
              <a:gd name="csX20" fmla="*/ 1395663 w 1973179"/>
              <a:gd name="csY20" fmla="*/ 269582 h 702719"/>
              <a:gd name="csX21" fmla="*/ 1366787 w 1973179"/>
              <a:gd name="csY21" fmla="*/ 240707 h 702719"/>
              <a:gd name="csX22" fmla="*/ 1280160 w 1973179"/>
              <a:gd name="csY22" fmla="*/ 173330 h 702719"/>
              <a:gd name="csX23" fmla="*/ 1193533 w 1973179"/>
              <a:gd name="csY23" fmla="*/ 134829 h 702719"/>
              <a:gd name="csX24" fmla="*/ 1145406 w 1973179"/>
              <a:gd name="csY24" fmla="*/ 125203 h 702719"/>
              <a:gd name="csX25" fmla="*/ 1106905 w 1973179"/>
              <a:gd name="csY25" fmla="*/ 115578 h 702719"/>
              <a:gd name="csX26" fmla="*/ 904775 w 1973179"/>
              <a:gd name="csY26" fmla="*/ 125203 h 702719"/>
              <a:gd name="csX27" fmla="*/ 837398 w 1973179"/>
              <a:gd name="csY27" fmla="*/ 163704 h 702719"/>
              <a:gd name="csX28" fmla="*/ 693019 w 1973179"/>
              <a:gd name="csY28" fmla="*/ 250332 h 702719"/>
              <a:gd name="csX29" fmla="*/ 664143 w 1973179"/>
              <a:gd name="csY29" fmla="*/ 269582 h 702719"/>
              <a:gd name="csX30" fmla="*/ 529390 w 1973179"/>
              <a:gd name="csY30" fmla="*/ 385086 h 702719"/>
              <a:gd name="csX31" fmla="*/ 490889 w 1973179"/>
              <a:gd name="csY31" fmla="*/ 433212 h 702719"/>
              <a:gd name="csX32" fmla="*/ 394636 w 1973179"/>
              <a:gd name="csY32" fmla="*/ 510214 h 702719"/>
              <a:gd name="csX33" fmla="*/ 336884 w 1973179"/>
              <a:gd name="csY33" fmla="*/ 529464 h 702719"/>
              <a:gd name="csX34" fmla="*/ 298383 w 1973179"/>
              <a:gd name="csY34" fmla="*/ 558340 h 702719"/>
              <a:gd name="csX35" fmla="*/ 269507 w 1973179"/>
              <a:gd name="csY35" fmla="*/ 567966 h 702719"/>
              <a:gd name="csX36" fmla="*/ 202131 w 1973179"/>
              <a:gd name="csY36" fmla="*/ 587216 h 702719"/>
              <a:gd name="csX37" fmla="*/ 38501 w 1973179"/>
              <a:gd name="csY37" fmla="*/ 577591 h 702719"/>
              <a:gd name="csX38" fmla="*/ 57752 w 1973179"/>
              <a:gd name="csY38" fmla="*/ 606467 h 702719"/>
              <a:gd name="csX39" fmla="*/ 115503 w 1973179"/>
              <a:gd name="csY39" fmla="*/ 664218 h 702719"/>
              <a:gd name="csX40" fmla="*/ 105878 w 1973179"/>
              <a:gd name="csY40" fmla="*/ 664218 h 702719"/>
              <a:gd name="csX41" fmla="*/ 77002 w 1973179"/>
              <a:gd name="csY41" fmla="*/ 644968 h 702719"/>
              <a:gd name="csX42" fmla="*/ 48126 w 1973179"/>
              <a:gd name="csY42" fmla="*/ 606467 h 702719"/>
              <a:gd name="csX43" fmla="*/ 28876 w 1973179"/>
              <a:gd name="csY43" fmla="*/ 577591 h 702719"/>
              <a:gd name="csX44" fmla="*/ 0 w 1973179"/>
              <a:gd name="csY44" fmla="*/ 548715 h 702719"/>
              <a:gd name="csX45" fmla="*/ 28876 w 1973179"/>
              <a:gd name="csY45" fmla="*/ 519839 h 702719"/>
              <a:gd name="csX46" fmla="*/ 105878 w 1973179"/>
              <a:gd name="csY46" fmla="*/ 481338 h 702719"/>
              <a:gd name="csX47" fmla="*/ 182880 w 1973179"/>
              <a:gd name="csY47" fmla="*/ 413961 h 702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1973179" h="702719">
                <a:moveTo>
                  <a:pt x="1973179" y="154079"/>
                </a:moveTo>
                <a:cubicBezTo>
                  <a:pt x="1953928" y="147662"/>
                  <a:pt x="1934268" y="142365"/>
                  <a:pt x="1915427" y="134829"/>
                </a:cubicBezTo>
                <a:cubicBezTo>
                  <a:pt x="1902105" y="129500"/>
                  <a:pt x="1889384" y="122697"/>
                  <a:pt x="1876926" y="115578"/>
                </a:cubicBezTo>
                <a:cubicBezTo>
                  <a:pt x="1866882" y="109839"/>
                  <a:pt x="1858683" y="100885"/>
                  <a:pt x="1848051" y="96328"/>
                </a:cubicBezTo>
                <a:cubicBezTo>
                  <a:pt x="1835892" y="91117"/>
                  <a:pt x="1822384" y="89911"/>
                  <a:pt x="1809550" y="86702"/>
                </a:cubicBezTo>
                <a:cubicBezTo>
                  <a:pt x="1787091" y="73868"/>
                  <a:pt x="1766050" y="58150"/>
                  <a:pt x="1742173" y="48201"/>
                </a:cubicBezTo>
                <a:cubicBezTo>
                  <a:pt x="1727071" y="41909"/>
                  <a:pt x="1710016" y="42125"/>
                  <a:pt x="1694046" y="38576"/>
                </a:cubicBezTo>
                <a:cubicBezTo>
                  <a:pt x="1681132" y="35706"/>
                  <a:pt x="1668490" y="31676"/>
                  <a:pt x="1655545" y="28951"/>
                </a:cubicBezTo>
                <a:cubicBezTo>
                  <a:pt x="1607518" y="18840"/>
                  <a:pt x="1511166" y="75"/>
                  <a:pt x="1511166" y="75"/>
                </a:cubicBezTo>
                <a:cubicBezTo>
                  <a:pt x="1477571" y="3435"/>
                  <a:pt x="1341749" y="-13388"/>
                  <a:pt x="1289785" y="38576"/>
                </a:cubicBezTo>
                <a:cubicBezTo>
                  <a:pt x="1268869" y="59492"/>
                  <a:pt x="1248155" y="81152"/>
                  <a:pt x="1232034" y="105953"/>
                </a:cubicBezTo>
                <a:cubicBezTo>
                  <a:pt x="1206217" y="145671"/>
                  <a:pt x="1164657" y="231081"/>
                  <a:pt x="1164657" y="231081"/>
                </a:cubicBezTo>
                <a:cubicBezTo>
                  <a:pt x="1161449" y="243915"/>
                  <a:pt x="1156903" y="256486"/>
                  <a:pt x="1155032" y="269582"/>
                </a:cubicBezTo>
                <a:cubicBezTo>
                  <a:pt x="1139288" y="379789"/>
                  <a:pt x="1138904" y="459666"/>
                  <a:pt x="1174282" y="577591"/>
                </a:cubicBezTo>
                <a:cubicBezTo>
                  <a:pt x="1183501" y="608322"/>
                  <a:pt x="1211717" y="629761"/>
                  <a:pt x="1232034" y="654593"/>
                </a:cubicBezTo>
                <a:cubicBezTo>
                  <a:pt x="1240654" y="665128"/>
                  <a:pt x="1249011" y="676858"/>
                  <a:pt x="1260910" y="683469"/>
                </a:cubicBezTo>
                <a:cubicBezTo>
                  <a:pt x="1278648" y="693323"/>
                  <a:pt x="1318661" y="702719"/>
                  <a:pt x="1318661" y="702719"/>
                </a:cubicBezTo>
                <a:cubicBezTo>
                  <a:pt x="1344328" y="696302"/>
                  <a:pt x="1373649" y="698145"/>
                  <a:pt x="1395663" y="683469"/>
                </a:cubicBezTo>
                <a:cubicBezTo>
                  <a:pt x="1413084" y="671855"/>
                  <a:pt x="1441826" y="610393"/>
                  <a:pt x="1453415" y="587216"/>
                </a:cubicBezTo>
                <a:cubicBezTo>
                  <a:pt x="1473087" y="488854"/>
                  <a:pt x="1476936" y="489843"/>
                  <a:pt x="1453415" y="336959"/>
                </a:cubicBezTo>
                <a:cubicBezTo>
                  <a:pt x="1446180" y="289930"/>
                  <a:pt x="1423043" y="292398"/>
                  <a:pt x="1395663" y="269582"/>
                </a:cubicBezTo>
                <a:cubicBezTo>
                  <a:pt x="1385206" y="260868"/>
                  <a:pt x="1376961" y="249750"/>
                  <a:pt x="1366787" y="240707"/>
                </a:cubicBezTo>
                <a:cubicBezTo>
                  <a:pt x="1344114" y="220553"/>
                  <a:pt x="1309590" y="190147"/>
                  <a:pt x="1280160" y="173330"/>
                </a:cubicBezTo>
                <a:cubicBezTo>
                  <a:pt x="1259200" y="161353"/>
                  <a:pt x="1215251" y="141344"/>
                  <a:pt x="1193533" y="134829"/>
                </a:cubicBezTo>
                <a:cubicBezTo>
                  <a:pt x="1177863" y="130128"/>
                  <a:pt x="1161376" y="128752"/>
                  <a:pt x="1145406" y="125203"/>
                </a:cubicBezTo>
                <a:cubicBezTo>
                  <a:pt x="1132492" y="122333"/>
                  <a:pt x="1119739" y="118786"/>
                  <a:pt x="1106905" y="115578"/>
                </a:cubicBezTo>
                <a:cubicBezTo>
                  <a:pt x="1039528" y="118786"/>
                  <a:pt x="971748" y="117166"/>
                  <a:pt x="904775" y="125203"/>
                </a:cubicBezTo>
                <a:cubicBezTo>
                  <a:pt x="885634" y="127500"/>
                  <a:pt x="854263" y="154335"/>
                  <a:pt x="837398" y="163704"/>
                </a:cubicBezTo>
                <a:cubicBezTo>
                  <a:pt x="704214" y="237694"/>
                  <a:pt x="869133" y="132923"/>
                  <a:pt x="693019" y="250332"/>
                </a:cubicBezTo>
                <a:cubicBezTo>
                  <a:pt x="683394" y="256749"/>
                  <a:pt x="672926" y="262054"/>
                  <a:pt x="664143" y="269582"/>
                </a:cubicBezTo>
                <a:cubicBezTo>
                  <a:pt x="619225" y="308083"/>
                  <a:pt x="566347" y="338890"/>
                  <a:pt x="529390" y="385086"/>
                </a:cubicBezTo>
                <a:cubicBezTo>
                  <a:pt x="516556" y="401128"/>
                  <a:pt x="504538" y="417857"/>
                  <a:pt x="490889" y="433212"/>
                </a:cubicBezTo>
                <a:cubicBezTo>
                  <a:pt x="462242" y="465439"/>
                  <a:pt x="434072" y="490496"/>
                  <a:pt x="394636" y="510214"/>
                </a:cubicBezTo>
                <a:cubicBezTo>
                  <a:pt x="376486" y="519289"/>
                  <a:pt x="356135" y="523047"/>
                  <a:pt x="336884" y="529464"/>
                </a:cubicBezTo>
                <a:cubicBezTo>
                  <a:pt x="324050" y="539089"/>
                  <a:pt x="312311" y="550381"/>
                  <a:pt x="298383" y="558340"/>
                </a:cubicBezTo>
                <a:cubicBezTo>
                  <a:pt x="289574" y="563374"/>
                  <a:pt x="279263" y="565179"/>
                  <a:pt x="269507" y="567966"/>
                </a:cubicBezTo>
                <a:cubicBezTo>
                  <a:pt x="184888" y="592144"/>
                  <a:pt x="271377" y="564134"/>
                  <a:pt x="202131" y="587216"/>
                </a:cubicBezTo>
                <a:cubicBezTo>
                  <a:pt x="147588" y="584008"/>
                  <a:pt x="92659" y="570370"/>
                  <a:pt x="38501" y="577591"/>
                </a:cubicBezTo>
                <a:cubicBezTo>
                  <a:pt x="27034" y="579120"/>
                  <a:pt x="50066" y="597821"/>
                  <a:pt x="57752" y="606467"/>
                </a:cubicBezTo>
                <a:cubicBezTo>
                  <a:pt x="75839" y="626815"/>
                  <a:pt x="96253" y="644968"/>
                  <a:pt x="115503" y="664218"/>
                </a:cubicBezTo>
                <a:cubicBezTo>
                  <a:pt x="160963" y="709678"/>
                  <a:pt x="149093" y="695085"/>
                  <a:pt x="105878" y="664218"/>
                </a:cubicBezTo>
                <a:cubicBezTo>
                  <a:pt x="96465" y="657494"/>
                  <a:pt x="86627" y="651385"/>
                  <a:pt x="77002" y="644968"/>
                </a:cubicBezTo>
                <a:cubicBezTo>
                  <a:pt x="67377" y="632134"/>
                  <a:pt x="57450" y="619521"/>
                  <a:pt x="48126" y="606467"/>
                </a:cubicBezTo>
                <a:cubicBezTo>
                  <a:pt x="41402" y="597054"/>
                  <a:pt x="36282" y="586478"/>
                  <a:pt x="28876" y="577591"/>
                </a:cubicBezTo>
                <a:cubicBezTo>
                  <a:pt x="20162" y="567134"/>
                  <a:pt x="9625" y="558340"/>
                  <a:pt x="0" y="548715"/>
                </a:cubicBezTo>
                <a:cubicBezTo>
                  <a:pt x="9625" y="539090"/>
                  <a:pt x="17333" y="527053"/>
                  <a:pt x="28876" y="519839"/>
                </a:cubicBezTo>
                <a:cubicBezTo>
                  <a:pt x="83542" y="485673"/>
                  <a:pt x="65439" y="517283"/>
                  <a:pt x="105878" y="481338"/>
                </a:cubicBezTo>
                <a:cubicBezTo>
                  <a:pt x="186654" y="409538"/>
                  <a:pt x="134550" y="438129"/>
                  <a:pt x="182880" y="413961"/>
                </a:cubicBezTo>
              </a:path>
            </a:pathLst>
          </a:cu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243D18D6-225E-7489-E528-EE9296D512E6}"/>
              </a:ext>
            </a:extLst>
          </p:cNvPr>
          <p:cNvSpPr txBox="1"/>
          <p:nvPr/>
        </p:nvSpPr>
        <p:spPr>
          <a:xfrm>
            <a:off x="4300878" y="3918329"/>
            <a:ext cx="1157305" cy="369332"/>
          </a:xfrm>
          <a:prstGeom prst="rect">
            <a:avLst/>
          </a:prstGeom>
          <a:noFill/>
        </p:spPr>
        <p:txBody>
          <a:bodyPr wrap="none" rtlCol="0">
            <a:spAutoFit/>
          </a:bodyPr>
          <a:lstStyle/>
          <a:p>
            <a:r>
              <a:rPr lang="en-US" dirty="0"/>
              <a:t>Latencies</a:t>
            </a:r>
          </a:p>
        </p:txBody>
      </p:sp>
      <p:sp>
        <p:nvSpPr>
          <p:cNvPr id="23" name="Rectangle 22">
            <a:extLst>
              <a:ext uri="{FF2B5EF4-FFF2-40B4-BE49-F238E27FC236}">
                <a16:creationId xmlns:a16="http://schemas.microsoft.com/office/drawing/2014/main" id="{D0CE98FB-422F-97F5-39A0-25A76044B035}"/>
              </a:ext>
            </a:extLst>
          </p:cNvPr>
          <p:cNvSpPr/>
          <p:nvPr/>
        </p:nvSpPr>
        <p:spPr>
          <a:xfrm>
            <a:off x="6190827" y="3344385"/>
            <a:ext cx="4167095" cy="18865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dirty="0"/>
              <a:t>Fat tree data center topology </a:t>
            </a:r>
            <a:br>
              <a:rPr lang="en-US" sz="2400" dirty="0"/>
            </a:br>
            <a:r>
              <a:rPr lang="en-US" sz="2400" dirty="0"/>
              <a:t>+</a:t>
            </a:r>
            <a:br>
              <a:rPr lang="en-US" sz="2400" dirty="0"/>
            </a:br>
            <a:r>
              <a:rPr lang="en-US" sz="2400" dirty="0"/>
              <a:t>data center wide workload</a:t>
            </a:r>
          </a:p>
        </p:txBody>
      </p:sp>
      <p:sp>
        <p:nvSpPr>
          <p:cNvPr id="24" name="TextBox 23">
            <a:extLst>
              <a:ext uri="{FF2B5EF4-FFF2-40B4-BE49-F238E27FC236}">
                <a16:creationId xmlns:a16="http://schemas.microsoft.com/office/drawing/2014/main" id="{51889CE2-34E8-A4A2-379B-790FD82F42C8}"/>
              </a:ext>
            </a:extLst>
          </p:cNvPr>
          <p:cNvSpPr txBox="1"/>
          <p:nvPr/>
        </p:nvSpPr>
        <p:spPr>
          <a:xfrm>
            <a:off x="6179377" y="3352902"/>
            <a:ext cx="2094997" cy="369332"/>
          </a:xfrm>
          <a:prstGeom prst="rect">
            <a:avLst/>
          </a:prstGeom>
          <a:noFill/>
        </p:spPr>
        <p:txBody>
          <a:bodyPr wrap="none" rtlCol="0">
            <a:spAutoFit/>
          </a:bodyPr>
          <a:lstStyle/>
          <a:p>
            <a:r>
              <a:rPr lang="en-US" dirty="0"/>
              <a:t>Another Simulation</a:t>
            </a:r>
          </a:p>
        </p:txBody>
      </p:sp>
    </p:spTree>
    <p:extLst>
      <p:ext uri="{BB962C8B-B14F-4D97-AF65-F5344CB8AC3E}">
        <p14:creationId xmlns:p14="http://schemas.microsoft.com/office/powerpoint/2010/main" val="58184852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P spid="22" grpId="0"/>
      <p:bldP spid="23" grpId="0" animBg="1"/>
      <p:bldP spid="24" grpId="0"/>
    </p:bldLst>
  </p:timing>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EE3B4-25CD-F0ED-7E39-1B55B11F1A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AE2E3-32E5-BEC1-B898-83958DB32BE4}"/>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D80854DA-8294-A314-056A-853402CF059C}"/>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Clients are fed with a schedule to generate events at specific “simulator” timestamps</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69ED099F-14E2-0BBD-5216-B39DBF6F497A}"/>
                  </a:ext>
                </a:extLst>
              </p:cNvPr>
              <p:cNvSpPr txBox="1"/>
              <p:nvPr/>
            </p:nvSpPr>
            <p:spPr>
              <a:xfrm>
                <a:off x="1253016" y="4395148"/>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p:sp>
            <p:nvSpPr>
              <p:cNvPr id="18" name="TextBox 17">
                <a:extLst>
                  <a:ext uri="{FF2B5EF4-FFF2-40B4-BE49-F238E27FC236}">
                    <a16:creationId xmlns:a16="http://schemas.microsoft.com/office/drawing/2014/main" id="{69ED099F-14E2-0BBD-5216-B39DBF6F497A}"/>
                  </a:ext>
                </a:extLst>
              </p:cNvPr>
              <p:cNvSpPr txBox="1">
                <a:spLocks noRot="1" noChangeAspect="1" noMove="1" noResize="1" noEditPoints="1" noAdjustHandles="1" noChangeArrowheads="1" noChangeShapeType="1" noTextEdit="1"/>
              </p:cNvSpPr>
              <p:nvPr/>
            </p:nvSpPr>
            <p:spPr>
              <a:xfrm>
                <a:off x="1253016" y="4395148"/>
                <a:ext cx="11717473" cy="954107"/>
              </a:xfrm>
              <a:prstGeom prst="rect">
                <a:avLst/>
              </a:prstGeom>
              <a:blipFill>
                <a:blip r:embed="rId2"/>
                <a:stretch>
                  <a:fillRect l="-866" t="-7895" b="-15789"/>
                </a:stretch>
              </a:blipFill>
            </p:spPr>
            <p:txBody>
              <a:bodyPr/>
              <a:lstStyle/>
              <a:p>
                <a:r>
                  <a:rPr lang="en-US">
                    <a:noFill/>
                  </a:rPr>
                  <a:t> </a:t>
                </a:r>
              </a:p>
            </p:txBody>
          </p:sp>
        </mc:Fallback>
      </mc:AlternateContent>
    </p:spTree>
    <p:extLst>
      <p:ext uri="{BB962C8B-B14F-4D97-AF65-F5344CB8AC3E}">
        <p14:creationId xmlns:p14="http://schemas.microsoft.com/office/powerpoint/2010/main" val="252159748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4746</TotalTime>
  <Words>6612</Words>
  <Application>Microsoft Macintosh PowerPoint</Application>
  <PresentationFormat>Widescreen</PresentationFormat>
  <Paragraphs>1697</Paragraphs>
  <Slides>173</Slides>
  <Notes>135</Notes>
  <HiddenSlides>0</HiddenSlides>
  <MMClips>0</MMClips>
  <ScaleCrop>false</ScaleCrop>
  <HeadingPairs>
    <vt:vector size="8" baseType="variant">
      <vt:variant>
        <vt:lpstr>Fonts Used</vt:lpstr>
      </vt:variant>
      <vt:variant>
        <vt:i4>6</vt:i4>
      </vt:variant>
      <vt:variant>
        <vt:lpstr>Theme</vt:lpstr>
      </vt:variant>
      <vt:variant>
        <vt:i4>2</vt:i4>
      </vt:variant>
      <vt:variant>
        <vt:lpstr>Embedded OLE Servers</vt:lpstr>
      </vt:variant>
      <vt:variant>
        <vt:i4>1</vt:i4>
      </vt:variant>
      <vt:variant>
        <vt:lpstr>Slide Titles</vt:lpstr>
      </vt:variant>
      <vt:variant>
        <vt:i4>173</vt:i4>
      </vt:variant>
    </vt:vector>
  </HeadingPairs>
  <TitlesOfParts>
    <vt:vector size="182" baseType="lpstr">
      <vt:lpstr>Aptos</vt:lpstr>
      <vt:lpstr>Aptos Display</vt:lpstr>
      <vt:lpstr>Arial</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Setup</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524</cp:revision>
  <dcterms:created xsi:type="dcterms:W3CDTF">2026-04-04T21:04:51Z</dcterms:created>
  <dcterms:modified xsi:type="dcterms:W3CDTF">2026-04-08T21:30:59Z</dcterms:modified>
</cp:coreProperties>
</file>