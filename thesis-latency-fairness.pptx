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260"/>
    <p:restoredTop sz="91046"/>
  </p:normalViewPr>
  <p:slideViewPr>
    <p:cSldViewPr snapToGrid="0">
      <p:cViewPr varScale="1">
        <p:scale>
          <a:sx n="103" d="100"/>
          <a:sy n="103" d="100"/>
        </p:scale>
        <p:origin x="176" y="5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89E14C-4B77-9345-AC7C-9D930EA32606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D2936D-68DF-C34D-84E6-1FDAB4C19B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1951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064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022B6-65E5-2318-A990-AB7A740850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04C8E-9FAA-628F-EEE8-3287CB0C2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909A3B-0482-FAD7-8EE6-6B9B53012E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 having latency fairness can lead to unwanted unfair competition, users may not come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521CFE-92B1-DEE7-1D5B-857FC63DB4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8190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920C4-A110-B0A6-0D9A-CE3A63087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0DBF13-DD74-7F87-98C0-ABF5A2C384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3F68D-BD19-D82B-D8E0-30DD9CB527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BDFB2A-B417-97F6-CCA7-A8732C82F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2467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600EC-9AA9-ED24-DA66-4B56DBFC5E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089F1B-9E14-F5A4-1DD3-8DC017DCC3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ADAE91-2671-8816-9265-487C57D65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689BE7-D39F-23CF-8119-82EEBFF9D0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302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E749F-93F4-125D-E541-5C8E5D71F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1E8ED6-5EF4-400A-E2C0-A86C94EA1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342344-12F8-A6E3-2055-816BE7BE0C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698C9-EE8C-96FE-DB9A-291287ECE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AD2936D-68DF-C34D-84E6-1FDAB4C19BC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287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9232F-6866-C467-C19F-34F75D8058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B77CA47-BDC6-4647-49B0-5358FF0E4F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C4AEA8-F1C0-00F2-7C22-F11BEEF305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A1231-2F02-CE3F-906C-1659FF45D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1B5591-E1F4-D134-3ED2-3F462C8D6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32648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5294B-B8B9-A871-3A00-C77EB3E24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8EB7C-1549-DE03-65EC-2EE3686040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6E7176-85A7-0D24-8184-F699E6339E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B4BF1D-67D8-2281-686D-AF0061F5C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32D01-6C0E-43FD-E04C-46901E03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2569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6DB81-50A0-51D4-BC74-9607C7A9F7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DCA24D-7451-A31E-C574-E87CFA434F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BB10-28AD-4C19-CB26-142CB8869A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D870A0-3F7A-B96C-A995-88CE4B3E70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B23E8-12C6-706C-6C92-0725BB343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6893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7E459-D084-52AC-6116-2CBBC3622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2B8156-4298-8078-2EF4-064DB846EE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1085B4E-DEBF-8CD9-AB7E-BE088C86B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485E6E-C076-55BC-ACC7-D885909AEC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F014C5-C9DA-C2E5-47CD-B44EA3243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0C1A98-3AA2-6107-98A1-45E45FD13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8785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1851E6-0460-738A-8A28-6EC056B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C6E4E7-2BB7-99AA-9127-E92045DF1E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806493-52E4-CE01-BE54-ECD611CBD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2DD6F15-9C8C-DB7F-B913-BF57AEED76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6265FB-C60F-EB4E-1989-9039A934E4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5197B4-79EB-69E0-C5C8-AE3C66B30E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383F0A4-9169-0219-CD20-74BEC57A8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0E11ECF-C8E6-BC81-FC36-B0789EECC6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462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C747F2-D554-3D97-153C-319E5D073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F13918F-676A-C15F-9BBE-073F6ADA7D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6CA4C0-116B-3B8D-63F0-02AB46700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E5503C-D9BA-0C50-DA18-282280DBA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0753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3BC6982-2604-8CDB-98BD-544112049B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036E79-B1DB-E888-A5BC-81FC63C45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F2AD5A-F837-C7C2-1329-1080C00AC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889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CFDC1B-3684-40AC-714B-FC8889F17A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85B665-A056-561D-E982-0193F267E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1DA867-1F67-4E0A-C8A1-B3F447AC1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34A3151-5DE0-BDB6-96E3-E443CA55D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7AB6DF-34D8-CC58-BE71-6596F41FC7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2E2ADC-8D68-C9CB-436E-375F997EDF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54006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E22E6-210B-E06D-2AED-8C2B3106D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791B08B-1FC6-BB18-3FA0-5EB5978380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43D7BD5-F088-0216-7878-A8040FF924A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F195F-059F-3F93-A048-2C2FF214D7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B888F6-BE37-F6A5-6779-F0FA8CABA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0FB356-3F52-0F76-C5A0-CFAC5BA211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247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D2557-DB1E-2548-FCAE-33143F7D0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47E6AA-E563-9655-3665-36C7A1000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B32E69-889D-FD49-A4BB-3E7DAEECB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EAFA8E-751D-207F-4CE5-85FB48D3E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291E4-7DA5-131F-1694-22C8960831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1779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B8BCC1-7A54-2E32-7BAF-EF5C3405C3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D7F8EF-A45E-8D91-8979-64445B67D2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360C1E-5545-9EF7-40CC-9291F86DA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6E4002-9283-1F4C-A40A-752C4DF2EDD0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D12ED2-6501-97C8-9F8C-011A87FA8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E7E1AC-A1D2-EB0B-201F-28BD2093AE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77079B-D8A8-4C4F-BE5B-5250A28F91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99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5EEC2F-5AE0-D0BB-92B8-06A5DFCE9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A1772F-F4FC-79FA-79D4-15AE7F900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B578BE-F40A-25B8-5064-6E9D64D44A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D76E4002-9283-1F4C-A40A-752C4DF2EDD0}" type="datetimeFigureOut">
              <a:rPr lang="en-US" smtClean="0"/>
              <a:pPr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241DE4-57AA-A96E-21B4-BDCCE208BD8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B0332-BBB2-30E2-C6F2-026DDB3026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fld id="{EC77079B-D8A8-4C4F-BE5B-5250A28F918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690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Times New Roman" panose="02020603050405020304" pitchFamily="18" charset="0"/>
          <a:ea typeface="+mj-ea"/>
          <a:cs typeface="Times New Roman" panose="02020603050405020304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Times New Roman" panose="02020603050405020304" pitchFamily="18" charset="0"/>
          <a:ea typeface="+mn-ea"/>
          <a:cs typeface="Times New Roman" panose="02020603050405020304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0F84E-F0FF-85E6-6A8C-57FD40BF4D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2160" y="766763"/>
            <a:ext cx="5811520" cy="2387600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0D88BF-0073-1951-4F02-254298021936}"/>
              </a:ext>
            </a:extLst>
          </p:cNvPr>
          <p:cNvSpPr txBox="1"/>
          <p:nvPr/>
        </p:nvSpPr>
        <p:spPr>
          <a:xfrm>
            <a:off x="7691120" y="1830924"/>
            <a:ext cx="450088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PhD Thesis Defense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Muhammad Haseeb</a:t>
            </a:r>
            <a:br>
              <a:rPr lang="en-US" sz="28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(alias: Haseeb Ashfaq)</a:t>
            </a:r>
            <a:endParaRPr lang="en-US" sz="2800" dirty="0">
              <a:solidFill>
                <a:srgbClr val="7030A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E5DCD39-C27B-8984-DE5E-CF75C6C593EB}"/>
              </a:ext>
            </a:extLst>
          </p:cNvPr>
          <p:cNvSpPr/>
          <p:nvPr/>
        </p:nvSpPr>
        <p:spPr>
          <a:xfrm>
            <a:off x="7493000" y="1756957"/>
            <a:ext cx="116840" cy="1579185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CB36658-B17B-D180-7A14-E4A8398E8458}"/>
              </a:ext>
            </a:extLst>
          </p:cNvPr>
          <p:cNvSpPr txBox="1"/>
          <p:nvPr/>
        </p:nvSpPr>
        <p:spPr>
          <a:xfrm>
            <a:off x="772160" y="3911600"/>
            <a:ext cx="4541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Advisor: Anirudh Sivaraman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4D13F56-690F-6EA0-C787-345441CB11CA}"/>
              </a:ext>
            </a:extLst>
          </p:cNvPr>
          <p:cNvSpPr txBox="1"/>
          <p:nvPr/>
        </p:nvSpPr>
        <p:spPr>
          <a:xfrm>
            <a:off x="772160" y="4500880"/>
            <a:ext cx="98044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Committee: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Anirudh Sivaraman, Aurojit Panda, Radhika Mittal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Lakshminarayanan Subramanian,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Jinyang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7686E8A-4E57-7D85-C33A-84E8BAF7982A}"/>
              </a:ext>
            </a:extLst>
          </p:cNvPr>
          <p:cNvSpPr txBox="1"/>
          <p:nvPr/>
        </p:nvSpPr>
        <p:spPr>
          <a:xfrm>
            <a:off x="7691120" y="3884054"/>
            <a:ext cx="413512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Computer Science Department</a:t>
            </a:r>
            <a:b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New York University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4BB7B2-4B5D-8F7F-5F23-385114A329F5}"/>
              </a:ext>
            </a:extLst>
          </p:cNvPr>
          <p:cNvSpPr/>
          <p:nvPr/>
        </p:nvSpPr>
        <p:spPr>
          <a:xfrm>
            <a:off x="7495540" y="3521858"/>
            <a:ext cx="116840" cy="1579185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0160528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18F4229-C9B6-4487-A584-667F7C25FA64}"/>
              </a:ext>
            </a:extLst>
          </p:cNvPr>
          <p:cNvSpPr txBox="1">
            <a:spLocks/>
          </p:cNvSpPr>
          <p:nvPr/>
        </p:nvSpPr>
        <p:spPr>
          <a:xfrm>
            <a:off x="3190240" y="2006283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 On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Commodity Networking </a:t>
            </a:r>
            <a:b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Infrastructure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CD66FE-DC43-757E-6948-05C58364ECFF}"/>
              </a:ext>
            </a:extLst>
          </p:cNvPr>
          <p:cNvSpPr/>
          <p:nvPr/>
        </p:nvSpPr>
        <p:spPr>
          <a:xfrm>
            <a:off x="3017520" y="1570633"/>
            <a:ext cx="45719" cy="1548487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A1B4587-6474-87E6-7EF6-C8CAFD6C5C41}"/>
              </a:ext>
            </a:extLst>
          </p:cNvPr>
          <p:cNvSpPr/>
          <p:nvPr/>
        </p:nvSpPr>
        <p:spPr>
          <a:xfrm>
            <a:off x="8422640" y="2814698"/>
            <a:ext cx="53340" cy="1696342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356B41-3E9C-A4BC-664F-CCA480C0A1C8}"/>
              </a:ext>
            </a:extLst>
          </p:cNvPr>
          <p:cNvSpPr txBox="1"/>
          <p:nvPr/>
        </p:nvSpPr>
        <p:spPr>
          <a:xfrm>
            <a:off x="3190240" y="1652340"/>
            <a:ext cx="36779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Can We Achieve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305DDE-6A86-84D6-428B-A6B48FB37A03}"/>
              </a:ext>
            </a:extLst>
          </p:cNvPr>
          <p:cNvSpPr txBox="1"/>
          <p:nvPr/>
        </p:nvSpPr>
        <p:spPr>
          <a:xfrm>
            <a:off x="5994400" y="3357880"/>
            <a:ext cx="680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94122159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7EF22-9C4F-4708-95F5-AC1003B12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B7B9327D-73A0-7490-618E-334A9F9DB0B7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38D9987-F4A3-3D6C-FDED-327FC12FE715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527C1E5-E704-6387-68B5-7635850AFD8E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8745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AA5B3-712F-6E9A-8E97-5DCC437E4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D549D387-2FAB-8B19-C677-E1367435A065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057AAD-A7DE-0803-D929-98D54BAD6D27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64F7254-0CD1-F421-6C43-A847C1E8C362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755810-7970-2604-2BA0-463C072C41F0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4796716-0AE6-68E2-8E60-4E43236E5939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18707975-C4BE-D24A-3CC2-BA67BA13EECE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1FF857-36DC-8591-7049-277522B60D84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DDC71D5C-193F-3D78-BAF2-25F30A656584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CDC26A6F-236C-06F2-6937-9D660F60EE5A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7070B3DE-C544-43D5-DFE3-D8A2FA526217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54E6A77-61EA-8C76-C1EE-AF3D94B56FC8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C0FA2BA-178F-04BA-4587-5FCB3BAADE52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9957F088-C59F-A5E4-16C6-C407A20D19EB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F365D5B6-F420-9EE7-C38D-BCA65796EDC3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</p:spTree>
    <p:extLst>
      <p:ext uri="{BB962C8B-B14F-4D97-AF65-F5344CB8AC3E}">
        <p14:creationId xmlns:p14="http://schemas.microsoft.com/office/powerpoint/2010/main" val="349547391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1755E-C173-8AC6-CCB7-88CA41F8B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0A204BAD-2AE3-2BEB-4251-CED19E078723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FEAA05D-721A-B81E-D08A-B8C7A54AB48D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32DB8AC-0D90-0E62-F236-97523C8E51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CCBA6EE3-80B4-7C7C-1A75-FDCAC047CF81}"/>
              </a:ext>
            </a:extLst>
          </p:cNvPr>
          <p:cNvSpPr/>
          <p:nvPr/>
        </p:nvSpPr>
        <p:spPr>
          <a:xfrm>
            <a:off x="6183088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3B216C-8C98-A33D-0B07-A8F00229337B}"/>
              </a:ext>
            </a:extLst>
          </p:cNvPr>
          <p:cNvSpPr txBox="1"/>
          <p:nvPr/>
        </p:nvSpPr>
        <p:spPr>
          <a:xfrm>
            <a:off x="5844534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84A15F72-1E09-B5EF-D994-3884138E4974}"/>
              </a:ext>
            </a:extLst>
          </p:cNvPr>
          <p:cNvSpPr/>
          <p:nvPr/>
        </p:nvSpPr>
        <p:spPr>
          <a:xfrm>
            <a:off x="423672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76A8F01-4F4E-FD58-407B-486E14DB92D5}"/>
              </a:ext>
            </a:extLst>
          </p:cNvPr>
          <p:cNvSpPr/>
          <p:nvPr/>
        </p:nvSpPr>
        <p:spPr>
          <a:xfrm>
            <a:off x="5645331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7D6B3EC0-216F-51C5-48E9-5B7D8EF9D662}"/>
              </a:ext>
            </a:extLst>
          </p:cNvPr>
          <p:cNvSpPr/>
          <p:nvPr/>
        </p:nvSpPr>
        <p:spPr>
          <a:xfrm>
            <a:off x="7990540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F37B989-4F63-9656-1096-6E4DC99977A6}"/>
              </a:ext>
            </a:extLst>
          </p:cNvPr>
          <p:cNvCxnSpPr/>
          <p:nvPr/>
        </p:nvCxnSpPr>
        <p:spPr>
          <a:xfrm>
            <a:off x="6772550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46326F-B42F-09AC-29F7-05609C09F5DC}"/>
              </a:ext>
            </a:extLst>
          </p:cNvPr>
          <p:cNvCxnSpPr>
            <a:cxnSpLocks/>
          </p:cNvCxnSpPr>
          <p:nvPr/>
        </p:nvCxnSpPr>
        <p:spPr>
          <a:xfrm flipH="1">
            <a:off x="4898571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6F0017D1-AF53-F59D-E0BF-82AD02E5705A}"/>
              </a:ext>
            </a:extLst>
          </p:cNvPr>
          <p:cNvSpPr txBox="1"/>
          <p:nvPr/>
        </p:nvSpPr>
        <p:spPr>
          <a:xfrm>
            <a:off x="3816350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882A26D-9AD0-F761-DD5F-1B6F1A0FB528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6096000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049E8D3C-F351-9100-FF50-FB750F36D4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6633757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DD44FF-CE97-2CB1-9C9D-896046234F7B}"/>
              </a:ext>
            </a:extLst>
          </p:cNvPr>
          <p:cNvSpPr txBox="1"/>
          <p:nvPr/>
        </p:nvSpPr>
        <p:spPr>
          <a:xfrm>
            <a:off x="5962244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108A5D-E1CA-683A-2BFF-9C7FB884DFA4}"/>
              </a:ext>
            </a:extLst>
          </p:cNvPr>
          <p:cNvSpPr txBox="1"/>
          <p:nvPr/>
        </p:nvSpPr>
        <p:spPr>
          <a:xfrm>
            <a:off x="7231651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391C58C-24F7-1099-CC70-0D8346E614DA}"/>
              </a:ext>
            </a:extLst>
          </p:cNvPr>
          <p:cNvSpPr txBox="1"/>
          <p:nvPr/>
        </p:nvSpPr>
        <p:spPr>
          <a:xfrm>
            <a:off x="4007479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DE4AA79-253F-0A70-F589-4CB54928CDB3}"/>
              </a:ext>
            </a:extLst>
          </p:cNvPr>
          <p:cNvSpPr txBox="1"/>
          <p:nvPr/>
        </p:nvSpPr>
        <p:spPr>
          <a:xfrm>
            <a:off x="5620421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9094E4-F048-C5EE-41E2-6258F9F01387}"/>
              </a:ext>
            </a:extLst>
          </p:cNvPr>
          <p:cNvSpPr txBox="1"/>
          <p:nvPr/>
        </p:nvSpPr>
        <p:spPr>
          <a:xfrm>
            <a:off x="7674812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08606147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61B84-C3D2-0512-F238-F96AAFC68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9A92299-5C6B-2398-C237-A0BF53310FEE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FB9B97A-CDEE-A98E-3709-B0D4FE4B63B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3A324CB-1C92-04A0-9C3E-668334A78F8F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B2FE237-FC45-F917-9B03-7B96BE775EF7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31760F-3F11-E61A-220F-2D9D5F24420C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E8A4293-5A06-EB17-6909-2373990365BD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57B0007-8C67-8F7C-D173-D267BE3BFEE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5E5BAF8-3640-C46F-75E6-136B6ADA553B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DF2E18-22EB-5F6C-8F04-D8757765A5A5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8213D92-E999-BBC4-4870-BE36D2EDF770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4CFB281-93FC-0337-C42C-E88DE9BB1BA9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834301D-D908-2577-872B-C83EF70465A9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A45D0F6-BFD4-413A-D431-C887B69E4E7A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D328095-C878-8ED9-2CE4-292AD231B837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BDBEB0-F1ED-B7E0-F43B-CFF2B3EFFB9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28D4E7-7A82-9381-29DD-B2E25638C14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A5D318-D663-0502-66E3-6CB49CD6075E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164C9E-2226-D901-5F8F-0A41F92D7613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4330495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E90AC-5F90-3894-F518-C43A70CDD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67727AF2-4F5C-A202-DE9B-C416D8F490C1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F89CE2-E7C5-4B87-54D7-7EA7735D1D63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C0C3388-5524-C488-48F2-B17650679A49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3C447D92-04E5-ABD6-30AB-7B96AA9286B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B8993-2AA7-14EF-D794-B3F1683049A1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D6F38C70-114C-BBD5-C5E0-5B4B24D3A083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1808D0C6-204D-B5EF-53A0-6E3AF05A649E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1492C4A-8D93-3B31-0806-2032050D884A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6E826D9-4C82-0FD8-BC95-3B5269866D49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F712ABB-41CC-604E-41E0-3B7B839E971D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E5C86ED-DCFD-9B90-3297-6BE9FC63E922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F9B1823-2EC1-1508-3152-71575FB19E43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C525E116-50E3-046C-317D-138A1C399C9B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AF14C3CB-9347-F813-B9B2-32B6A9A477B1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E30447-0495-35A7-1FF7-53CB7E824849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D10E4F-278A-F361-E7B6-8B02D12E2AA2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A8396D4-A697-F022-22A8-6F5C4DB2659A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7B3F969-99E1-DB2C-D2BF-AE9B19F2AA11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1BC61E1-FB7D-3901-DA55-0912562B0D9E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</p:spTree>
    <p:extLst>
      <p:ext uri="{BB962C8B-B14F-4D97-AF65-F5344CB8AC3E}">
        <p14:creationId xmlns:p14="http://schemas.microsoft.com/office/powerpoint/2010/main" val="4252485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B61D3-F707-60BE-A582-D834BDC0D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>
            <a:extLst>
              <a:ext uri="{FF2B5EF4-FFF2-40B4-BE49-F238E27FC236}">
                <a16:creationId xmlns:a16="http://schemas.microsoft.com/office/drawing/2014/main" id="{8EBCB744-E077-AA56-DD2E-5781D3DAD1D2}"/>
              </a:ext>
            </a:extLst>
          </p:cNvPr>
          <p:cNvSpPr txBox="1">
            <a:spLocks/>
          </p:cNvSpPr>
          <p:nvPr/>
        </p:nvSpPr>
        <p:spPr>
          <a:xfrm>
            <a:off x="760549" y="-305842"/>
            <a:ext cx="5811520" cy="2387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Latency Fairness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3AAC567-73B0-AF7E-8CA6-E22EB49EE7E6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53927F1-53D0-B5A4-674F-2ED2D5D03FEC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4A45410-7D22-70EE-437F-98D1500F8BA0}"/>
              </a:ext>
            </a:extLst>
          </p:cNvPr>
          <p:cNvSpPr/>
          <p:nvPr/>
        </p:nvSpPr>
        <p:spPr>
          <a:xfrm>
            <a:off x="8497572" y="1737555"/>
            <a:ext cx="901337" cy="888274"/>
          </a:xfrm>
          <a:prstGeom prst="ellipse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CDC1E3-9137-3E58-5286-C90629581A63}"/>
              </a:ext>
            </a:extLst>
          </p:cNvPr>
          <p:cNvSpPr txBox="1"/>
          <p:nvPr/>
        </p:nvSpPr>
        <p:spPr>
          <a:xfrm>
            <a:off x="8159018" y="1201782"/>
            <a:ext cx="118974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Server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ECC147A-4F95-5F2E-93D5-691C3BE90F2A}"/>
              </a:ext>
            </a:extLst>
          </p:cNvPr>
          <p:cNvSpPr/>
          <p:nvPr/>
        </p:nvSpPr>
        <p:spPr>
          <a:xfrm>
            <a:off x="655120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8EBEA846-AE53-8609-C025-4510011CBCB2}"/>
              </a:ext>
            </a:extLst>
          </p:cNvPr>
          <p:cNvSpPr/>
          <p:nvPr/>
        </p:nvSpPr>
        <p:spPr>
          <a:xfrm>
            <a:off x="7959815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FEF1BE27-2C18-8206-6DAB-42731654ECFD}"/>
              </a:ext>
            </a:extLst>
          </p:cNvPr>
          <p:cNvSpPr/>
          <p:nvPr/>
        </p:nvSpPr>
        <p:spPr>
          <a:xfrm>
            <a:off x="10305024" y="4332106"/>
            <a:ext cx="901337" cy="888274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7942988-0894-8864-7954-8771B374B017}"/>
              </a:ext>
            </a:extLst>
          </p:cNvPr>
          <p:cNvCxnSpPr/>
          <p:nvPr/>
        </p:nvCxnSpPr>
        <p:spPr>
          <a:xfrm>
            <a:off x="9087034" y="4820194"/>
            <a:ext cx="921473" cy="0"/>
          </a:xfrm>
          <a:prstGeom prst="line">
            <a:avLst/>
          </a:prstGeom>
          <a:ln w="73025">
            <a:solidFill>
              <a:srgbClr val="7030A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7496BBA-646B-4176-C17D-B3EFD77D7D8A}"/>
              </a:ext>
            </a:extLst>
          </p:cNvPr>
          <p:cNvCxnSpPr>
            <a:cxnSpLocks/>
          </p:cNvCxnSpPr>
          <p:nvPr/>
        </p:nvCxnSpPr>
        <p:spPr>
          <a:xfrm flipH="1">
            <a:off x="7213055" y="2625829"/>
            <a:ext cx="164809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2DEA32D-A6B5-7CC2-3BA5-9F5E719139FB}"/>
              </a:ext>
            </a:extLst>
          </p:cNvPr>
          <p:cNvSpPr txBox="1"/>
          <p:nvPr/>
        </p:nvSpPr>
        <p:spPr>
          <a:xfrm>
            <a:off x="6130834" y="2924970"/>
            <a:ext cx="2028184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Latency = x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3B2342E-40B7-0A82-A93E-A632BF277510}"/>
              </a:ext>
            </a:extLst>
          </p:cNvPr>
          <p:cNvCxnSpPr>
            <a:cxnSpLocks/>
            <a:stCxn id="2" idx="4"/>
            <a:endCxn id="5" idx="0"/>
          </p:cNvCxnSpPr>
          <p:nvPr/>
        </p:nvCxnSpPr>
        <p:spPr>
          <a:xfrm flipH="1">
            <a:off x="8410484" y="2625829"/>
            <a:ext cx="537757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A709A8FF-C9D4-DBCD-32DF-4DAD0A8607EE}"/>
              </a:ext>
            </a:extLst>
          </p:cNvPr>
          <p:cNvCxnSpPr>
            <a:cxnSpLocks/>
            <a:stCxn id="2" idx="4"/>
            <a:endCxn id="10" idx="0"/>
          </p:cNvCxnSpPr>
          <p:nvPr/>
        </p:nvCxnSpPr>
        <p:spPr>
          <a:xfrm>
            <a:off x="8948241" y="2625829"/>
            <a:ext cx="1807452" cy="1706277"/>
          </a:xfrm>
          <a:prstGeom prst="line">
            <a:avLst/>
          </a:prstGeom>
          <a:ln w="730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ECDF1BC-9E96-E20F-FE19-44E5F2F3271B}"/>
              </a:ext>
            </a:extLst>
          </p:cNvPr>
          <p:cNvSpPr txBox="1"/>
          <p:nvPr/>
        </p:nvSpPr>
        <p:spPr>
          <a:xfrm>
            <a:off x="8276728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BDD467F-AFFD-AFEE-1408-5C56457843C3}"/>
              </a:ext>
            </a:extLst>
          </p:cNvPr>
          <p:cNvSpPr txBox="1"/>
          <p:nvPr/>
        </p:nvSpPr>
        <p:spPr>
          <a:xfrm>
            <a:off x="9546135" y="3351539"/>
            <a:ext cx="3770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1C469F5-EDC6-88C3-4CA0-33B5E8271007}"/>
              </a:ext>
            </a:extLst>
          </p:cNvPr>
          <p:cNvSpPr txBox="1"/>
          <p:nvPr/>
        </p:nvSpPr>
        <p:spPr>
          <a:xfrm>
            <a:off x="6321963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A42736-3A77-D627-3E20-DAD995CB3D21}"/>
              </a:ext>
            </a:extLst>
          </p:cNvPr>
          <p:cNvSpPr txBox="1"/>
          <p:nvPr/>
        </p:nvSpPr>
        <p:spPr>
          <a:xfrm>
            <a:off x="7934905" y="5274843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2018B42-98D2-E24F-F87D-57F4D8CB6179}"/>
              </a:ext>
            </a:extLst>
          </p:cNvPr>
          <p:cNvSpPr txBox="1"/>
          <p:nvPr/>
        </p:nvSpPr>
        <p:spPr>
          <a:xfrm>
            <a:off x="9989296" y="5238604"/>
            <a:ext cx="153279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65EC44-72EE-0640-21EC-23D33EBE9683}"/>
              </a:ext>
            </a:extLst>
          </p:cNvPr>
          <p:cNvSpPr txBox="1"/>
          <p:nvPr/>
        </p:nvSpPr>
        <p:spPr>
          <a:xfrm>
            <a:off x="760549" y="2659042"/>
            <a:ext cx="50957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Critical for competitive systems</a:t>
            </a:r>
          </a:p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financial exchanges, ad exchanges.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2BDDD35-1ADE-1229-9118-E765CEB0C347}"/>
              </a:ext>
            </a:extLst>
          </p:cNvPr>
          <p:cNvSpPr/>
          <p:nvPr/>
        </p:nvSpPr>
        <p:spPr>
          <a:xfrm>
            <a:off x="2436518" y="2599598"/>
            <a:ext cx="3624649" cy="725710"/>
          </a:xfrm>
          <a:custGeom>
            <a:avLst/>
            <a:gdLst>
              <a:gd name="csX0" fmla="*/ 0 w 3624649"/>
              <a:gd name="csY0" fmla="*/ 362855 h 725710"/>
              <a:gd name="csX1" fmla="*/ 1812325 w 3624649"/>
              <a:gd name="csY1" fmla="*/ 0 h 725710"/>
              <a:gd name="csX2" fmla="*/ 3624650 w 3624649"/>
              <a:gd name="csY2" fmla="*/ 362855 h 725710"/>
              <a:gd name="csX3" fmla="*/ 1812325 w 3624649"/>
              <a:gd name="csY3" fmla="*/ 725710 h 725710"/>
              <a:gd name="csX4" fmla="*/ 0 w 3624649"/>
              <a:gd name="csY4" fmla="*/ 362855 h 725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3624649" h="725710" extrusionOk="0">
                <a:moveTo>
                  <a:pt x="0" y="362855"/>
                </a:moveTo>
                <a:cubicBezTo>
                  <a:pt x="-115163" y="91421"/>
                  <a:pt x="660948" y="56469"/>
                  <a:pt x="1812325" y="0"/>
                </a:cubicBezTo>
                <a:cubicBezTo>
                  <a:pt x="2834112" y="4393"/>
                  <a:pt x="3594571" y="163412"/>
                  <a:pt x="3624650" y="362855"/>
                </a:cubicBezTo>
                <a:cubicBezTo>
                  <a:pt x="3570103" y="616522"/>
                  <a:pt x="2802006" y="787829"/>
                  <a:pt x="1812325" y="725710"/>
                </a:cubicBezTo>
                <a:cubicBezTo>
                  <a:pt x="806512" y="723032"/>
                  <a:pt x="17732" y="571726"/>
                  <a:pt x="0" y="362855"/>
                </a:cubicBezTo>
                <a:close/>
              </a:path>
            </a:pathLst>
          </a:custGeom>
          <a:noFill/>
          <a:ln w="69850"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ellipse">
                    <a:avLst/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B3D87A-E58E-0F06-296E-E9B7F56BCC87}"/>
              </a:ext>
            </a:extLst>
          </p:cNvPr>
          <p:cNvSpPr txBox="1"/>
          <p:nvPr/>
        </p:nvSpPr>
        <p:spPr>
          <a:xfrm>
            <a:off x="3459289" y="3589382"/>
            <a:ext cx="17972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Our Focus</a:t>
            </a:r>
          </a:p>
        </p:txBody>
      </p:sp>
    </p:spTree>
    <p:extLst>
      <p:ext uri="{BB962C8B-B14F-4D97-AF65-F5344CB8AC3E}">
        <p14:creationId xmlns:p14="http://schemas.microsoft.com/office/powerpoint/2010/main" val="211958961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EDE6F-EC31-8FC4-5776-F5DEC79A2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78C640C-40FE-FCF1-64FB-1C3ECB15BCC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761770-44DE-0756-A768-2BC3F2BC5A4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96CDD6-6407-1054-019E-BA411163C2AC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</p:spTree>
    <p:extLst>
      <p:ext uri="{BB962C8B-B14F-4D97-AF65-F5344CB8AC3E}">
        <p14:creationId xmlns:p14="http://schemas.microsoft.com/office/powerpoint/2010/main" val="10031058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BDB5B-2EB8-99F1-5D27-B7DE542E1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D1E2116-853C-CD5A-F31B-40C8B7C615D4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94DFEED-391B-E6C5-4886-EBE11CA64C84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7BB2A6-BF16-9B08-08BA-DC9ABBC9C8DB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E8E50E-70CE-0C67-BEFD-5DB460BA6A62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7ADB50-CBB3-E406-3A47-7D0EA903ED37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411999-1E8A-8CA9-6E02-283B092D3D33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465F3E-4C19-045E-905D-35D7D9029867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B4BED7D-4B5E-952B-86A8-299F5F8EA4E3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B99D3DB-B510-22AB-1991-A1915A4878C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7491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B1B1B-7C7F-0D23-FC0A-0191D992B1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3D9B647-F77F-7408-1713-249CDF5F30EE}"/>
              </a:ext>
            </a:extLst>
          </p:cNvPr>
          <p:cNvSpPr/>
          <p:nvPr/>
        </p:nvSpPr>
        <p:spPr>
          <a:xfrm rot="16200000">
            <a:off x="2522582" y="-387076"/>
            <a:ext cx="68673" cy="324639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A96CA1-550D-FF52-7A6C-87D4B134651B}"/>
              </a:ext>
            </a:extLst>
          </p:cNvPr>
          <p:cNvSpPr/>
          <p:nvPr/>
        </p:nvSpPr>
        <p:spPr>
          <a:xfrm rot="16200000">
            <a:off x="2522581" y="-318404"/>
            <a:ext cx="68674" cy="3246390"/>
          </a:xfrm>
          <a:prstGeom prst="rect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A8BC6A-D1FB-5D5E-F335-368C9AC742C1}"/>
              </a:ext>
            </a:extLst>
          </p:cNvPr>
          <p:cNvSpPr txBox="1"/>
          <p:nvPr/>
        </p:nvSpPr>
        <p:spPr>
          <a:xfrm>
            <a:off x="772906" y="405121"/>
            <a:ext cx="50957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ompetitive </a:t>
            </a:r>
            <a:r>
              <a:rPr lang="en-US" sz="4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ystems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EBDB26-6BE4-FDD1-0A01-880F943359F5}"/>
              </a:ext>
            </a:extLst>
          </p:cNvPr>
          <p:cNvSpPr txBox="1"/>
          <p:nvPr/>
        </p:nvSpPr>
        <p:spPr>
          <a:xfrm>
            <a:off x="4806479" y="716456"/>
            <a:ext cx="641081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Two Common Communication Patterns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5AE08A-01D4-5FE3-CB15-2C26BB4F3C9B}"/>
              </a:ext>
            </a:extLst>
          </p:cNvPr>
          <p:cNvSpPr txBox="1"/>
          <p:nvPr/>
        </p:nvSpPr>
        <p:spPr>
          <a:xfrm>
            <a:off x="6615108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3D0DA5-E2E5-E515-AA17-165F9624A7FA}"/>
              </a:ext>
            </a:extLst>
          </p:cNvPr>
          <p:cNvSpPr txBox="1"/>
          <p:nvPr/>
        </p:nvSpPr>
        <p:spPr>
          <a:xfrm>
            <a:off x="6615107" y="3218936"/>
            <a:ext cx="258748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Unicasts 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machines to server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F37804-12AF-C717-C3B7-E1C04B1DBC2B}"/>
              </a:ext>
            </a:extLst>
          </p:cNvPr>
          <p:cNvSpPr txBox="1"/>
          <p:nvPr/>
        </p:nvSpPr>
        <p:spPr>
          <a:xfrm>
            <a:off x="558943" y="4755944"/>
            <a:ext cx="424753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market data multicast in financial exchanges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3BF1DE6-DDD3-1E07-36B2-A6227D23FF9E}"/>
              </a:ext>
            </a:extLst>
          </p:cNvPr>
          <p:cNvSpPr txBox="1"/>
          <p:nvPr/>
        </p:nvSpPr>
        <p:spPr>
          <a:xfrm>
            <a:off x="6567336" y="4755944"/>
            <a:ext cx="506572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e.g., traders submitting orders to a financial exchange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F57110-9383-C7A7-E2DF-8D0B3E533F7F}"/>
              </a:ext>
            </a:extLst>
          </p:cNvPr>
          <p:cNvSpPr txBox="1"/>
          <p:nvPr/>
        </p:nvSpPr>
        <p:spPr>
          <a:xfrm>
            <a:off x="2124432" y="2220094"/>
            <a:ext cx="283062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Outbound</a:t>
            </a:r>
            <a:b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solidFill>
                  <a:srgbClr val="7030A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Communication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2675D14-DB97-4FA8-755C-10F1F7DC3754}"/>
              </a:ext>
            </a:extLst>
          </p:cNvPr>
          <p:cNvSpPr txBox="1"/>
          <p:nvPr/>
        </p:nvSpPr>
        <p:spPr>
          <a:xfrm>
            <a:off x="2622846" y="3235757"/>
            <a:ext cx="224956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Multicast from server to machines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B93914B-4D43-3516-76BA-6B9D454F0297}"/>
              </a:ext>
            </a:extLst>
          </p:cNvPr>
          <p:cNvSpPr/>
          <p:nvPr/>
        </p:nvSpPr>
        <p:spPr>
          <a:xfrm>
            <a:off x="5733022" y="2774092"/>
            <a:ext cx="45719" cy="2492991"/>
          </a:xfrm>
          <a:custGeom>
            <a:avLst/>
            <a:gdLst>
              <a:gd name="csX0" fmla="*/ 0 w 45719"/>
              <a:gd name="csY0" fmla="*/ 0 h 2492991"/>
              <a:gd name="csX1" fmla="*/ 45719 w 45719"/>
              <a:gd name="csY1" fmla="*/ 0 h 2492991"/>
              <a:gd name="csX2" fmla="*/ 45719 w 45719"/>
              <a:gd name="csY2" fmla="*/ 498598 h 2492991"/>
              <a:gd name="csX3" fmla="*/ 45719 w 45719"/>
              <a:gd name="csY3" fmla="*/ 1047056 h 2492991"/>
              <a:gd name="csX4" fmla="*/ 45719 w 45719"/>
              <a:gd name="csY4" fmla="*/ 1545654 h 2492991"/>
              <a:gd name="csX5" fmla="*/ 45719 w 45719"/>
              <a:gd name="csY5" fmla="*/ 1969463 h 2492991"/>
              <a:gd name="csX6" fmla="*/ 45719 w 45719"/>
              <a:gd name="csY6" fmla="*/ 2492991 h 2492991"/>
              <a:gd name="csX7" fmla="*/ 0 w 45719"/>
              <a:gd name="csY7" fmla="*/ 2492991 h 2492991"/>
              <a:gd name="csX8" fmla="*/ 0 w 45719"/>
              <a:gd name="csY8" fmla="*/ 1944533 h 2492991"/>
              <a:gd name="csX9" fmla="*/ 0 w 45719"/>
              <a:gd name="csY9" fmla="*/ 1421005 h 2492991"/>
              <a:gd name="csX10" fmla="*/ 0 w 45719"/>
              <a:gd name="csY10" fmla="*/ 922407 h 2492991"/>
              <a:gd name="csX11" fmla="*/ 0 w 45719"/>
              <a:gd name="csY11" fmla="*/ 0 h 24929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45719" h="2492991" fill="none" extrusionOk="0">
                <a:moveTo>
                  <a:pt x="0" y="0"/>
                </a:moveTo>
                <a:cubicBezTo>
                  <a:pt x="15466" y="-3108"/>
                  <a:pt x="29505" y="2787"/>
                  <a:pt x="45719" y="0"/>
                </a:cubicBezTo>
                <a:cubicBezTo>
                  <a:pt x="96714" y="244462"/>
                  <a:pt x="38492" y="292531"/>
                  <a:pt x="45719" y="498598"/>
                </a:cubicBezTo>
                <a:cubicBezTo>
                  <a:pt x="52946" y="704665"/>
                  <a:pt x="41215" y="773940"/>
                  <a:pt x="45719" y="1047056"/>
                </a:cubicBezTo>
                <a:cubicBezTo>
                  <a:pt x="50223" y="1320172"/>
                  <a:pt x="20442" y="1409127"/>
                  <a:pt x="45719" y="1545654"/>
                </a:cubicBezTo>
                <a:cubicBezTo>
                  <a:pt x="70996" y="1682181"/>
                  <a:pt x="37286" y="1837495"/>
                  <a:pt x="45719" y="1969463"/>
                </a:cubicBezTo>
                <a:cubicBezTo>
                  <a:pt x="54152" y="2101431"/>
                  <a:pt x="20701" y="2253374"/>
                  <a:pt x="45719" y="2492991"/>
                </a:cubicBezTo>
                <a:cubicBezTo>
                  <a:pt x="34208" y="2496004"/>
                  <a:pt x="9588" y="2489496"/>
                  <a:pt x="0" y="2492991"/>
                </a:cubicBezTo>
                <a:cubicBezTo>
                  <a:pt x="-9781" y="2257546"/>
                  <a:pt x="17963" y="2141047"/>
                  <a:pt x="0" y="1944533"/>
                </a:cubicBezTo>
                <a:cubicBezTo>
                  <a:pt x="-17963" y="1748019"/>
                  <a:pt x="28336" y="1642462"/>
                  <a:pt x="0" y="1421005"/>
                </a:cubicBezTo>
                <a:cubicBezTo>
                  <a:pt x="-28336" y="1199548"/>
                  <a:pt x="13584" y="1089980"/>
                  <a:pt x="0" y="922407"/>
                </a:cubicBezTo>
                <a:cubicBezTo>
                  <a:pt x="-13584" y="754834"/>
                  <a:pt x="77438" y="239728"/>
                  <a:pt x="0" y="0"/>
                </a:cubicBezTo>
                <a:close/>
              </a:path>
              <a:path w="45719" h="2492991" stroke="0" extrusionOk="0">
                <a:moveTo>
                  <a:pt x="0" y="0"/>
                </a:moveTo>
                <a:cubicBezTo>
                  <a:pt x="18173" y="-1477"/>
                  <a:pt x="31455" y="3772"/>
                  <a:pt x="45719" y="0"/>
                </a:cubicBezTo>
                <a:cubicBezTo>
                  <a:pt x="49078" y="113210"/>
                  <a:pt x="23101" y="288473"/>
                  <a:pt x="45719" y="423808"/>
                </a:cubicBezTo>
                <a:cubicBezTo>
                  <a:pt x="68337" y="559143"/>
                  <a:pt x="-15560" y="770450"/>
                  <a:pt x="45719" y="972266"/>
                </a:cubicBezTo>
                <a:cubicBezTo>
                  <a:pt x="106998" y="1174082"/>
                  <a:pt x="-1609" y="1235521"/>
                  <a:pt x="45719" y="1470865"/>
                </a:cubicBezTo>
                <a:cubicBezTo>
                  <a:pt x="93047" y="1706209"/>
                  <a:pt x="30494" y="1816253"/>
                  <a:pt x="45719" y="1919603"/>
                </a:cubicBezTo>
                <a:cubicBezTo>
                  <a:pt x="60944" y="2022953"/>
                  <a:pt x="28474" y="2341608"/>
                  <a:pt x="45719" y="2492991"/>
                </a:cubicBezTo>
                <a:cubicBezTo>
                  <a:pt x="22941" y="2494258"/>
                  <a:pt x="12902" y="2490132"/>
                  <a:pt x="0" y="2492991"/>
                </a:cubicBezTo>
                <a:cubicBezTo>
                  <a:pt x="-59460" y="2250702"/>
                  <a:pt x="24665" y="2128448"/>
                  <a:pt x="0" y="1944533"/>
                </a:cubicBezTo>
                <a:cubicBezTo>
                  <a:pt x="-24665" y="1760618"/>
                  <a:pt x="21622" y="1582387"/>
                  <a:pt x="0" y="1396075"/>
                </a:cubicBezTo>
                <a:cubicBezTo>
                  <a:pt x="-21622" y="1209763"/>
                  <a:pt x="53927" y="1082433"/>
                  <a:pt x="0" y="922407"/>
                </a:cubicBezTo>
                <a:cubicBezTo>
                  <a:pt x="-53927" y="762381"/>
                  <a:pt x="37230" y="594554"/>
                  <a:pt x="0" y="448738"/>
                </a:cubicBezTo>
                <a:cubicBezTo>
                  <a:pt x="-37230" y="302922"/>
                  <a:pt x="25725" y="182915"/>
                  <a:pt x="0" y="0"/>
                </a:cubicBezTo>
                <a:close/>
              </a:path>
            </a:pathLst>
          </a:custGeom>
          <a:solidFill>
            <a:srgbClr val="7030A0"/>
          </a:solidFill>
          <a:ln>
            <a:solidFill>
              <a:srgbClr val="7030A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941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Word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281</Words>
  <Application>Microsoft Macintosh PowerPoint</Application>
  <PresentationFormat>Widescreen</PresentationFormat>
  <Paragraphs>74</Paragraphs>
  <Slides>11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Arial</vt:lpstr>
      <vt:lpstr>Times New Roman</vt:lpstr>
      <vt:lpstr>Office Theme</vt:lpstr>
      <vt:lpstr>Latency Fairness On  Commodity Networking  Infrastructure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Haseeb Ashfaq</dc:creator>
  <cp:lastModifiedBy>Haseeb Ashfaq</cp:lastModifiedBy>
  <cp:revision>93</cp:revision>
  <dcterms:created xsi:type="dcterms:W3CDTF">2026-04-04T21:04:51Z</dcterms:created>
  <dcterms:modified xsi:type="dcterms:W3CDTF">2026-04-04T22:58:17Z</dcterms:modified>
</cp:coreProperties>
</file>