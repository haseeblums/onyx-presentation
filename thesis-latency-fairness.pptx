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7"/>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61" r:id="rId108"/>
    <p:sldId id="1962"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4" r:id="rId133"/>
    <p:sldId id="415" r:id="rId134"/>
    <p:sldId id="340" r:id="rId135"/>
    <p:sldId id="1865" r:id="rId136"/>
    <p:sldId id="1866" r:id="rId137"/>
    <p:sldId id="1867" r:id="rId138"/>
    <p:sldId id="412" r:id="rId139"/>
    <p:sldId id="1868" r:id="rId140"/>
    <p:sldId id="1869" r:id="rId141"/>
    <p:sldId id="413" r:id="rId142"/>
    <p:sldId id="1870" r:id="rId143"/>
    <p:sldId id="1936" r:id="rId144"/>
    <p:sldId id="1872" r:id="rId145"/>
    <p:sldId id="419" r:id="rId146"/>
    <p:sldId id="1914" r:id="rId147"/>
    <p:sldId id="1937" r:id="rId148"/>
    <p:sldId id="1873" r:id="rId149"/>
    <p:sldId id="1953" r:id="rId150"/>
    <p:sldId id="1952" r:id="rId151"/>
    <p:sldId id="1939" r:id="rId152"/>
    <p:sldId id="1941" r:id="rId153"/>
    <p:sldId id="1942" r:id="rId154"/>
    <p:sldId id="1954" r:id="rId155"/>
    <p:sldId id="1944" r:id="rId156"/>
    <p:sldId id="1945" r:id="rId157"/>
    <p:sldId id="1946" r:id="rId158"/>
    <p:sldId id="1879" r:id="rId159"/>
    <p:sldId id="1874" r:id="rId160"/>
    <p:sldId id="1876" r:id="rId161"/>
    <p:sldId id="1877" r:id="rId162"/>
    <p:sldId id="1912" r:id="rId163"/>
    <p:sldId id="1935" r:id="rId164"/>
    <p:sldId id="1913" r:id="rId165"/>
    <p:sldId id="1880" r:id="rId166"/>
    <p:sldId id="1881" r:id="rId167"/>
    <p:sldId id="1956" r:id="rId168"/>
    <p:sldId id="1955" r:id="rId169"/>
    <p:sldId id="1882" r:id="rId170"/>
    <p:sldId id="1883" r:id="rId171"/>
    <p:sldId id="1884" r:id="rId172"/>
    <p:sldId id="1885" r:id="rId173"/>
    <p:sldId id="1886" r:id="rId174"/>
    <p:sldId id="1888" r:id="rId175"/>
    <p:sldId id="1890" r:id="rId1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327"/>
    <p:restoredTop sz="91046"/>
  </p:normalViewPr>
  <p:slideViewPr>
    <p:cSldViewPr snapToGrid="0">
      <p:cViewPr varScale="1">
        <p:scale>
          <a:sx n="107" d="100"/>
          <a:sy n="107" d="100"/>
        </p:scale>
        <p:origin x="184"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tableStyles" Target="tableStyle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notesMaster" Target="notesMasters/notesMaster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presProps" Target="pres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viewProps" Target="view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heme" Target="theme/theme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2E31228-3980-4431-271F-A9D980C346C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2C8E8B-2369-A3FA-BE5B-0977545411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983B91C-053A-4D45-F5BC-62E56988A7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06632034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BBEC0BE-2D6D-16A7-B2F1-BB69D255A5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54D0E3-158C-B6C0-5E3D-583E815EC2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2E64C99-DE4F-71E7-57EB-008476804B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br>
              <a:rPr lang="en-US" sz="1200" dirty="0"/>
            </a:br>
            <a:br>
              <a:rPr lang="en-US" sz="1200" dirty="0"/>
            </a:br>
            <a:r>
              <a:rPr lang="en-US" sz="1200" dirty="0"/>
              <a:t>special acknowledgement: Danial Qian</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3748817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161</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173</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4/10/26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 Id="rId4" Type="http://schemas.openxmlformats.org/officeDocument/2006/relationships/image" Target="../media/image21.png"/></Relationships>
</file>

<file path=ppt/slides/_rels/slide10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5.xml"/><Relationship Id="rId1" Type="http://schemas.openxmlformats.org/officeDocument/2006/relationships/slideLayout" Target="../slideLayouts/slideLayout24.xml"/><Relationship Id="rId4" Type="http://schemas.openxmlformats.org/officeDocument/2006/relationships/image" Target="../media/image22.png"/></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3.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4.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7.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0.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1212BFCE-C41B-D5AC-E121-EF57F240CAE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66436AA-E0DC-4FB8-F004-545FF1EEB2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5E9F70B-2F55-E284-F33E-461A789B9F2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4A219029-710A-80B5-465C-8419C176D9BF}"/>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2E2CA99-4131-90B4-9EAF-3E51E25450A2}"/>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B18EB39-4DA5-6F4A-86AE-4EA8D86BC15B}"/>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3B18EB39-4DA5-6F4A-86AE-4EA8D86BC15B}"/>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45995A69-3E90-57B3-EC2D-62F5D908AB2D}"/>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F3A2832-6B77-2328-1DCA-C614E5A5EDD3}"/>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 </a:t>
                </a:r>
                <a:r>
                  <a:rPr lang="en-US" sz="2400" dirty="0">
                    <a:solidFill>
                      <a:schemeClr val="bg1"/>
                    </a:solidFill>
                  </a:rPr>
                  <a:t>For any order </a:t>
                </a:r>
                <a14:m>
                  <m:oMath xmlns:m="http://schemas.openxmlformats.org/officeDocument/2006/math">
                    <m:r>
                      <a:rPr lang="en-US" sz="2400" i="1">
                        <a:solidFill>
                          <a:schemeClr val="bg1"/>
                        </a:solidFill>
                        <a:latin typeface="Cambria Math" panose="02040503050406030204" pitchFamily="18" charset="0"/>
                      </a:rPr>
                      <m:t>𝑜</m:t>
                    </m:r>
                  </m:oMath>
                </a14:m>
                <a:r>
                  <a:rPr lang="en-US" sz="2400" dirty="0">
                    <a:solidFill>
                      <a:schemeClr val="bg1"/>
                    </a:solidFill>
                  </a:rPr>
                  <a:t> assigned mid price ID </a:t>
                </a:r>
                <a14:m>
                  <m:oMath xmlns:m="http://schemas.openxmlformats.org/officeDocument/2006/math">
                    <m:r>
                      <a:rPr lang="en-US" sz="2400" i="1">
                        <a:solidFill>
                          <a:schemeClr val="bg1"/>
                        </a:solidFill>
                        <a:latin typeface="Cambria Math" panose="02040503050406030204" pitchFamily="18" charset="0"/>
                      </a:rPr>
                      <m:t>𝑚</m:t>
                    </m:r>
                  </m:oMath>
                </a14:m>
                <a:r>
                  <a:rPr lang="en-US" sz="2400" dirty="0">
                    <a:solidFill>
                      <a:schemeClr val="bg1"/>
                    </a:solidFill>
                  </a:rPr>
                  <a:t>, execution of orders from prior mid price IDs cannot change </a:t>
                </a:r>
                <a14:m>
                  <m:oMath xmlns:m="http://schemas.openxmlformats.org/officeDocument/2006/math">
                    <m:r>
                      <a:rPr lang="en-US" sz="2400" i="1">
                        <a:solidFill>
                          <a:schemeClr val="bg1"/>
                        </a:solidFill>
                        <a:latin typeface="Cambria Math" panose="02040503050406030204" pitchFamily="18" charset="0"/>
                      </a:rPr>
                      <m:t>𝑜</m:t>
                    </m:r>
                  </m:oMath>
                </a14:m>
                <a:r>
                  <a:rPr lang="en-US" sz="2400" dirty="0">
                    <a:solidFill>
                      <a:schemeClr val="bg1"/>
                    </a:solidFill>
                  </a:rPr>
                  <a:t>'s criticality before </a:t>
                </a:r>
                <a14:m>
                  <m:oMath xmlns:m="http://schemas.openxmlformats.org/officeDocument/2006/math">
                    <m:r>
                      <a:rPr lang="en-US" sz="2400" i="1">
                        <a:solidFill>
                          <a:schemeClr val="bg1"/>
                        </a:solidFill>
                        <a:latin typeface="Cambria Math" panose="02040503050406030204" pitchFamily="18" charset="0"/>
                      </a:rPr>
                      <m:t>𝑜</m:t>
                    </m:r>
                    <m:r>
                      <a:rPr lang="en-US" sz="2400" i="1">
                        <a:solidFill>
                          <a:schemeClr val="bg1"/>
                        </a:solidFill>
                        <a:latin typeface="Cambria Math" panose="02040503050406030204" pitchFamily="18" charset="0"/>
                      </a:rPr>
                      <m:t> </m:t>
                    </m:r>
                  </m:oMath>
                </a14:m>
                <a:r>
                  <a:rPr lang="en-US" sz="2400" dirty="0">
                    <a:solidFill>
                      <a:schemeClr val="bg1"/>
                    </a:solidFill>
                  </a:rPr>
                  <a:t>is executed.</a:t>
                </a:r>
              </a:p>
            </p:txBody>
          </p:sp>
        </mc:Choice>
        <mc:Fallback xmlns="">
          <p:sp>
            <p:nvSpPr>
              <p:cNvPr id="24" name="TextBox 23">
                <a:extLst>
                  <a:ext uri="{FF2B5EF4-FFF2-40B4-BE49-F238E27FC236}">
                    <a16:creationId xmlns:a16="http://schemas.microsoft.com/office/drawing/2014/main" id="{FF3A2832-6B77-2328-1DCA-C614E5A5EDD3}"/>
                  </a:ext>
                </a:extLst>
              </p:cNvPr>
              <p:cNvSpPr txBox="1">
                <a:spLocks noRot="1" noChangeAspect="1" noMove="1" noResize="1" noEditPoints="1" noAdjustHandles="1" noChangeArrowheads="1" noChangeShapeType="1" noTextEdit="1"/>
              </p:cNvSpPr>
              <p:nvPr/>
            </p:nvSpPr>
            <p:spPr>
              <a:xfrm>
                <a:off x="1026073" y="3976932"/>
                <a:ext cx="10498221" cy="2308324"/>
              </a:xfrm>
              <a:prstGeom prst="rect">
                <a:avLst/>
              </a:prstGeom>
              <a:blipFill>
                <a:blip r:embed="rId4"/>
                <a:stretch>
                  <a:fillRect l="-725" t="-1639" b="-5464"/>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3A40EB44-84A2-A5A7-52B8-675128808AD4}"/>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380182371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FC11C57E-8B62-BD4D-33D4-B10AD9052DA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51EE0021-1BD5-3370-5D44-BDE99B052C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43B7043-71DF-1AEB-0352-A08AFA738B7B}"/>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A8E90E18-4CE2-C073-2077-3E9539BDA317}"/>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9926B943-6E67-E9BF-1BC6-27FF48AA57B0}"/>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640D640-85C4-14C8-6185-6A916C8AC8FE}"/>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B640D640-85C4-14C8-6185-6A916C8AC8FE}"/>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B737472-8D3E-18D4-3635-0FBB069440DB}"/>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3A5E87E-3C62-5895-6FAE-6A54E11E6D88}"/>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 For any order </a:t>
                </a:r>
                <a14:m>
                  <m:oMath xmlns:m="http://schemas.openxmlformats.org/officeDocument/2006/math">
                    <m:r>
                      <a:rPr lang="en-US" sz="2400" i="1">
                        <a:latin typeface="Cambria Math" panose="02040503050406030204" pitchFamily="18" charset="0"/>
                      </a:rPr>
                      <m:t>𝑜</m:t>
                    </m:r>
                  </m:oMath>
                </a14:m>
                <a:r>
                  <a:rPr lang="en-US" sz="2400" dirty="0"/>
                  <a:t> assigned mid price ID </a:t>
                </a:r>
                <a14:m>
                  <m:oMath xmlns:m="http://schemas.openxmlformats.org/officeDocument/2006/math">
                    <m:r>
                      <a:rPr lang="en-US" sz="2400" i="1">
                        <a:latin typeface="Cambria Math" panose="02040503050406030204" pitchFamily="18" charset="0"/>
                      </a:rPr>
                      <m:t>𝑚</m:t>
                    </m:r>
                  </m:oMath>
                </a14:m>
                <a:r>
                  <a:rPr lang="en-US" sz="2400" dirty="0"/>
                  <a:t>, execution of orders from prior mid price IDs cannot change </a:t>
                </a:r>
                <a14:m>
                  <m:oMath xmlns:m="http://schemas.openxmlformats.org/officeDocument/2006/math">
                    <m:r>
                      <a:rPr lang="en-US" sz="2400" i="1">
                        <a:latin typeface="Cambria Math" panose="02040503050406030204" pitchFamily="18" charset="0"/>
                      </a:rPr>
                      <m:t>𝑜</m:t>
                    </m:r>
                  </m:oMath>
                </a14:m>
                <a:r>
                  <a:rPr lang="en-US" sz="2400" dirty="0"/>
                  <a:t>'s criticality before </a:t>
                </a:r>
                <a14:m>
                  <m:oMath xmlns:m="http://schemas.openxmlformats.org/officeDocument/2006/math">
                    <m:r>
                      <a:rPr lang="en-US" sz="2400" i="1">
                        <a:latin typeface="Cambria Math" panose="02040503050406030204" pitchFamily="18" charset="0"/>
                      </a:rPr>
                      <m:t>𝑜</m:t>
                    </m:r>
                    <m:r>
                      <a:rPr lang="en-US" sz="2400" b="0" i="1" smtClean="0">
                        <a:latin typeface="Cambria Math" panose="02040503050406030204" pitchFamily="18" charset="0"/>
                      </a:rPr>
                      <m:t> </m:t>
                    </m:r>
                  </m:oMath>
                </a14:m>
                <a:r>
                  <a:rPr lang="en-US" sz="2400" dirty="0"/>
                  <a:t>is executed.</a:t>
                </a:r>
              </a:p>
            </p:txBody>
          </p:sp>
        </mc:Choice>
        <mc:Fallback xmlns="">
          <p:sp>
            <p:nvSpPr>
              <p:cNvPr id="24" name="TextBox 23">
                <a:extLst>
                  <a:ext uri="{FF2B5EF4-FFF2-40B4-BE49-F238E27FC236}">
                    <a16:creationId xmlns:a16="http://schemas.microsoft.com/office/drawing/2014/main" id="{03A5E87E-3C62-5895-6FAE-6A54E11E6D88}"/>
                  </a:ext>
                </a:extLst>
              </p:cNvPr>
              <p:cNvSpPr txBox="1">
                <a:spLocks noRot="1" noChangeAspect="1" noMove="1" noResize="1" noEditPoints="1" noAdjustHandles="1" noChangeArrowheads="1" noChangeShapeType="1" noTextEdit="1"/>
              </p:cNvSpPr>
              <p:nvPr/>
            </p:nvSpPr>
            <p:spPr>
              <a:xfrm>
                <a:off x="1026073" y="3976932"/>
                <a:ext cx="10498221" cy="2308324"/>
              </a:xfrm>
              <a:prstGeom prst="rect">
                <a:avLst/>
              </a:prstGeom>
              <a:blipFill>
                <a:blip r:embed="rId4"/>
                <a:stretch>
                  <a:fillRect l="-725" t="-1639" b="-5464"/>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7A9C8794-D72D-D952-9F90-869A60026065}"/>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3" name="Rectangle 2">
            <a:extLst>
              <a:ext uri="{FF2B5EF4-FFF2-40B4-BE49-F238E27FC236}">
                <a16:creationId xmlns:a16="http://schemas.microsoft.com/office/drawing/2014/main" id="{72381541-14BA-116B-5368-3DFAB5349564}"/>
              </a:ext>
            </a:extLst>
          </p:cNvPr>
          <p:cNvSpPr/>
          <p:nvPr/>
        </p:nvSpPr>
        <p:spPr>
          <a:xfrm>
            <a:off x="3396585" y="4678878"/>
            <a:ext cx="4132613" cy="5462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Special Ack: Danial Qian</a:t>
            </a:r>
          </a:p>
        </p:txBody>
      </p:sp>
    </p:spTree>
    <p:extLst>
      <p:ext uri="{BB962C8B-B14F-4D97-AF65-F5344CB8AC3E}">
        <p14:creationId xmlns:p14="http://schemas.microsoft.com/office/powerpoint/2010/main" val="230333167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 and maintains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6438</TotalTime>
  <Words>6897</Words>
  <Application>Microsoft Macintosh PowerPoint</Application>
  <PresentationFormat>Widescreen</PresentationFormat>
  <Paragraphs>1720</Paragraphs>
  <Slides>174</Slides>
  <Notes>136</Notes>
  <HiddenSlides>7</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174</vt:i4>
      </vt:variant>
    </vt:vector>
  </HeadingPairs>
  <TitlesOfParts>
    <vt:vector size="183"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621</cp:revision>
  <dcterms:created xsi:type="dcterms:W3CDTF">2026-04-04T21:04:51Z</dcterms:created>
  <dcterms:modified xsi:type="dcterms:W3CDTF">2026-04-10T14:31:28Z</dcterms:modified>
</cp:coreProperties>
</file>