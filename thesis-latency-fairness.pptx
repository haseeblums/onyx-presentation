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81"/>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6" r:id="rId23"/>
    <p:sldId id="281" r:id="rId24"/>
    <p:sldId id="282" r:id="rId25"/>
    <p:sldId id="294" r:id="rId26"/>
    <p:sldId id="376" r:id="rId27"/>
    <p:sldId id="377" r:id="rId28"/>
    <p:sldId id="378" r:id="rId29"/>
    <p:sldId id="379" r:id="rId30"/>
    <p:sldId id="380" r:id="rId31"/>
    <p:sldId id="381" r:id="rId32"/>
    <p:sldId id="382" r:id="rId33"/>
    <p:sldId id="383" r:id="rId34"/>
    <p:sldId id="384" r:id="rId35"/>
    <p:sldId id="385" r:id="rId36"/>
    <p:sldId id="386" r:id="rId37"/>
    <p:sldId id="411" r:id="rId38"/>
    <p:sldId id="390" r:id="rId39"/>
    <p:sldId id="424" r:id="rId40"/>
    <p:sldId id="409" r:id="rId41"/>
    <p:sldId id="423" r:id="rId42"/>
    <p:sldId id="425" r:id="rId43"/>
    <p:sldId id="414" r:id="rId44"/>
    <p:sldId id="416" r:id="rId45"/>
    <p:sldId id="391" r:id="rId46"/>
    <p:sldId id="408" r:id="rId47"/>
    <p:sldId id="394" r:id="rId48"/>
    <p:sldId id="395" r:id="rId49"/>
    <p:sldId id="396" r:id="rId50"/>
    <p:sldId id="397" r:id="rId51"/>
    <p:sldId id="398" r:id="rId52"/>
    <p:sldId id="399" r:id="rId53"/>
    <p:sldId id="400" r:id="rId54"/>
    <p:sldId id="401" r:id="rId55"/>
    <p:sldId id="403" r:id="rId56"/>
    <p:sldId id="404" r:id="rId57"/>
    <p:sldId id="405" r:id="rId58"/>
    <p:sldId id="410" r:id="rId59"/>
    <p:sldId id="407" r:id="rId60"/>
    <p:sldId id="312" r:id="rId61"/>
    <p:sldId id="1852" r:id="rId62"/>
    <p:sldId id="1853" r:id="rId63"/>
    <p:sldId id="1855" r:id="rId64"/>
    <p:sldId id="1950" r:id="rId65"/>
    <p:sldId id="1947" r:id="rId66"/>
    <p:sldId id="1911" r:id="rId67"/>
    <p:sldId id="1948" r:id="rId68"/>
    <p:sldId id="1949" r:id="rId69"/>
    <p:sldId id="1951" r:id="rId70"/>
    <p:sldId id="314" r:id="rId71"/>
    <p:sldId id="1916" r:id="rId72"/>
    <p:sldId id="1917" r:id="rId73"/>
    <p:sldId id="1918" r:id="rId74"/>
    <p:sldId id="1919" r:id="rId75"/>
    <p:sldId id="1892" r:id="rId76"/>
    <p:sldId id="1893" r:id="rId77"/>
    <p:sldId id="1920" r:id="rId78"/>
    <p:sldId id="1921" r:id="rId79"/>
    <p:sldId id="1922" r:id="rId80"/>
    <p:sldId id="1923" r:id="rId81"/>
    <p:sldId id="1924" r:id="rId82"/>
    <p:sldId id="1925" r:id="rId83"/>
    <p:sldId id="1926" r:id="rId84"/>
    <p:sldId id="1927" r:id="rId85"/>
    <p:sldId id="1928" r:id="rId86"/>
    <p:sldId id="1929" r:id="rId87"/>
    <p:sldId id="1930" r:id="rId88"/>
    <p:sldId id="1931" r:id="rId89"/>
    <p:sldId id="1932" r:id="rId90"/>
    <p:sldId id="1933" r:id="rId91"/>
    <p:sldId id="1895" r:id="rId92"/>
    <p:sldId id="1894" r:id="rId93"/>
    <p:sldId id="1897" r:id="rId94"/>
    <p:sldId id="1898" r:id="rId95"/>
    <p:sldId id="1899" r:id="rId96"/>
    <p:sldId id="1900" r:id="rId97"/>
    <p:sldId id="1901" r:id="rId98"/>
    <p:sldId id="1902" r:id="rId99"/>
    <p:sldId id="1903" r:id="rId100"/>
    <p:sldId id="1904" r:id="rId101"/>
    <p:sldId id="1960" r:id="rId102"/>
    <p:sldId id="1905" r:id="rId103"/>
    <p:sldId id="1906" r:id="rId104"/>
    <p:sldId id="1934" r:id="rId105"/>
    <p:sldId id="1957" r:id="rId106"/>
    <p:sldId id="1959" r:id="rId107"/>
    <p:sldId id="1961" r:id="rId108"/>
    <p:sldId id="1958" r:id="rId109"/>
    <p:sldId id="1915" r:id="rId110"/>
    <p:sldId id="1907" r:id="rId111"/>
    <p:sldId id="1908" r:id="rId112"/>
    <p:sldId id="1909" r:id="rId113"/>
    <p:sldId id="1910" r:id="rId114"/>
    <p:sldId id="350" r:id="rId115"/>
    <p:sldId id="359" r:id="rId116"/>
    <p:sldId id="427" r:id="rId117"/>
    <p:sldId id="360" r:id="rId118"/>
    <p:sldId id="428" r:id="rId119"/>
    <p:sldId id="353" r:id="rId120"/>
    <p:sldId id="432" r:id="rId121"/>
    <p:sldId id="1856" r:id="rId122"/>
    <p:sldId id="1857" r:id="rId123"/>
    <p:sldId id="351" r:id="rId124"/>
    <p:sldId id="352" r:id="rId125"/>
    <p:sldId id="1858" r:id="rId126"/>
    <p:sldId id="354" r:id="rId127"/>
    <p:sldId id="355" r:id="rId128"/>
    <p:sldId id="1859" r:id="rId129"/>
    <p:sldId id="357" r:id="rId130"/>
    <p:sldId id="358" r:id="rId131"/>
    <p:sldId id="1860" r:id="rId132"/>
    <p:sldId id="1861" r:id="rId133"/>
    <p:sldId id="393" r:id="rId134"/>
    <p:sldId id="1862" r:id="rId135"/>
    <p:sldId id="402" r:id="rId136"/>
    <p:sldId id="1864" r:id="rId137"/>
    <p:sldId id="415" r:id="rId138"/>
    <p:sldId id="340" r:id="rId139"/>
    <p:sldId id="1865" r:id="rId140"/>
    <p:sldId id="1866" r:id="rId141"/>
    <p:sldId id="1867" r:id="rId142"/>
    <p:sldId id="412" r:id="rId143"/>
    <p:sldId id="1868" r:id="rId144"/>
    <p:sldId id="1869" r:id="rId145"/>
    <p:sldId id="413" r:id="rId146"/>
    <p:sldId id="1870" r:id="rId147"/>
    <p:sldId id="1936" r:id="rId148"/>
    <p:sldId id="1872" r:id="rId149"/>
    <p:sldId id="419" r:id="rId150"/>
    <p:sldId id="1914" r:id="rId151"/>
    <p:sldId id="1937" r:id="rId152"/>
    <p:sldId id="1873" r:id="rId153"/>
    <p:sldId id="1953" r:id="rId154"/>
    <p:sldId id="1952" r:id="rId155"/>
    <p:sldId id="1939" r:id="rId156"/>
    <p:sldId id="1941" r:id="rId157"/>
    <p:sldId id="1942" r:id="rId158"/>
    <p:sldId id="1954" r:id="rId159"/>
    <p:sldId id="1944" r:id="rId160"/>
    <p:sldId id="1945" r:id="rId161"/>
    <p:sldId id="1946" r:id="rId162"/>
    <p:sldId id="1879" r:id="rId163"/>
    <p:sldId id="1874" r:id="rId164"/>
    <p:sldId id="1876" r:id="rId165"/>
    <p:sldId id="1877" r:id="rId166"/>
    <p:sldId id="1912" r:id="rId167"/>
    <p:sldId id="1935" r:id="rId168"/>
    <p:sldId id="1913" r:id="rId169"/>
    <p:sldId id="1880" r:id="rId170"/>
    <p:sldId id="1881" r:id="rId171"/>
    <p:sldId id="1956" r:id="rId172"/>
    <p:sldId id="1955" r:id="rId173"/>
    <p:sldId id="1882" r:id="rId174"/>
    <p:sldId id="1883" r:id="rId175"/>
    <p:sldId id="1884" r:id="rId176"/>
    <p:sldId id="1885" r:id="rId177"/>
    <p:sldId id="1886" r:id="rId178"/>
    <p:sldId id="1888" r:id="rId179"/>
    <p:sldId id="1890" r:id="rId18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7DB"/>
    <a:srgbClr val="FF249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902"/>
    <p:restoredTop sz="91046"/>
  </p:normalViewPr>
  <p:slideViewPr>
    <p:cSldViewPr snapToGrid="0">
      <p:cViewPr varScale="1">
        <p:scale>
          <a:sx n="108" d="100"/>
          <a:sy n="108" d="100"/>
        </p:scale>
        <p:origin x="208" y="4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59" Type="http://schemas.openxmlformats.org/officeDocument/2006/relationships/slide" Target="slides/slide157.xml"/><Relationship Id="rId170" Type="http://schemas.openxmlformats.org/officeDocument/2006/relationships/slide" Target="slides/slide168.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160" Type="http://schemas.openxmlformats.org/officeDocument/2006/relationships/slide" Target="slides/slide158.xml"/><Relationship Id="rId181" Type="http://schemas.openxmlformats.org/officeDocument/2006/relationships/notesMaster" Target="notesMasters/notesMaster1.xml"/><Relationship Id="rId22" Type="http://schemas.openxmlformats.org/officeDocument/2006/relationships/slide" Target="slides/slide20.xml"/><Relationship Id="rId43" Type="http://schemas.openxmlformats.org/officeDocument/2006/relationships/slide" Target="slides/slide41.xml"/><Relationship Id="rId64" Type="http://schemas.openxmlformats.org/officeDocument/2006/relationships/slide" Target="slides/slide62.xml"/><Relationship Id="rId118" Type="http://schemas.openxmlformats.org/officeDocument/2006/relationships/slide" Target="slides/slide116.xml"/><Relationship Id="rId139" Type="http://schemas.openxmlformats.org/officeDocument/2006/relationships/slide" Target="slides/slide137.xml"/><Relationship Id="rId85" Type="http://schemas.openxmlformats.org/officeDocument/2006/relationships/slide" Target="slides/slide83.xml"/><Relationship Id="rId150" Type="http://schemas.openxmlformats.org/officeDocument/2006/relationships/slide" Target="slides/slide148.xml"/><Relationship Id="rId171" Type="http://schemas.openxmlformats.org/officeDocument/2006/relationships/slide" Target="slides/slide169.xml"/><Relationship Id="rId12" Type="http://schemas.openxmlformats.org/officeDocument/2006/relationships/slide" Target="slides/slide10.xml"/><Relationship Id="rId33" Type="http://schemas.openxmlformats.org/officeDocument/2006/relationships/slide" Target="slides/slide31.xml"/><Relationship Id="rId108" Type="http://schemas.openxmlformats.org/officeDocument/2006/relationships/slide" Target="slides/slide106.xml"/><Relationship Id="rId129" Type="http://schemas.openxmlformats.org/officeDocument/2006/relationships/slide" Target="slides/slide127.xml"/><Relationship Id="rId54" Type="http://schemas.openxmlformats.org/officeDocument/2006/relationships/slide" Target="slides/slide52.xml"/><Relationship Id="rId75" Type="http://schemas.openxmlformats.org/officeDocument/2006/relationships/slide" Target="slides/slide73.xml"/><Relationship Id="rId96" Type="http://schemas.openxmlformats.org/officeDocument/2006/relationships/slide" Target="slides/slide94.xml"/><Relationship Id="rId140" Type="http://schemas.openxmlformats.org/officeDocument/2006/relationships/slide" Target="slides/slide138.xml"/><Relationship Id="rId161" Type="http://schemas.openxmlformats.org/officeDocument/2006/relationships/slide" Target="slides/slide159.xml"/><Relationship Id="rId182" Type="http://schemas.openxmlformats.org/officeDocument/2006/relationships/presProps" Target="presProps.xml"/><Relationship Id="rId6" Type="http://schemas.openxmlformats.org/officeDocument/2006/relationships/slide" Target="slides/slide4.xml"/><Relationship Id="rId23" Type="http://schemas.openxmlformats.org/officeDocument/2006/relationships/slide" Target="slides/slide21.xml"/><Relationship Id="rId119" Type="http://schemas.openxmlformats.org/officeDocument/2006/relationships/slide" Target="slides/slide117.xml"/><Relationship Id="rId44" Type="http://schemas.openxmlformats.org/officeDocument/2006/relationships/slide" Target="slides/slide42.xml"/><Relationship Id="rId65" Type="http://schemas.openxmlformats.org/officeDocument/2006/relationships/slide" Target="slides/slide63.xml"/><Relationship Id="rId86" Type="http://schemas.openxmlformats.org/officeDocument/2006/relationships/slide" Target="slides/slide84.xml"/><Relationship Id="rId130" Type="http://schemas.openxmlformats.org/officeDocument/2006/relationships/slide" Target="slides/slide128.xml"/><Relationship Id="rId151" Type="http://schemas.openxmlformats.org/officeDocument/2006/relationships/slide" Target="slides/slide149.xml"/><Relationship Id="rId172" Type="http://schemas.openxmlformats.org/officeDocument/2006/relationships/slide" Target="slides/slide170.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167" Type="http://schemas.openxmlformats.org/officeDocument/2006/relationships/slide" Target="slides/slide165.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162" Type="http://schemas.openxmlformats.org/officeDocument/2006/relationships/slide" Target="slides/slide160.xml"/><Relationship Id="rId183" Type="http://schemas.openxmlformats.org/officeDocument/2006/relationships/viewProps" Target="viewProps.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157" Type="http://schemas.openxmlformats.org/officeDocument/2006/relationships/slide" Target="slides/slide155.xml"/><Relationship Id="rId178" Type="http://schemas.openxmlformats.org/officeDocument/2006/relationships/slide" Target="slides/slide176.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slide" Target="slides/slide150.xml"/><Relationship Id="rId173" Type="http://schemas.openxmlformats.org/officeDocument/2006/relationships/slide" Target="slides/slide171.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168" Type="http://schemas.openxmlformats.org/officeDocument/2006/relationships/slide" Target="slides/slide166.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163" Type="http://schemas.openxmlformats.org/officeDocument/2006/relationships/slide" Target="slides/slide161.xml"/><Relationship Id="rId184" Type="http://schemas.openxmlformats.org/officeDocument/2006/relationships/theme" Target="theme/theme1.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158" Type="http://schemas.openxmlformats.org/officeDocument/2006/relationships/slide" Target="slides/slide156.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slide" Target="slides/slide151.xml"/><Relationship Id="rId174" Type="http://schemas.openxmlformats.org/officeDocument/2006/relationships/slide" Target="slides/slide172.xml"/><Relationship Id="rId179" Type="http://schemas.openxmlformats.org/officeDocument/2006/relationships/slide" Target="slides/slide177.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164" Type="http://schemas.openxmlformats.org/officeDocument/2006/relationships/slide" Target="slides/slide162.xml"/><Relationship Id="rId169" Type="http://schemas.openxmlformats.org/officeDocument/2006/relationships/slide" Target="slides/slide167.xml"/><Relationship Id="rId185"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80" Type="http://schemas.openxmlformats.org/officeDocument/2006/relationships/slide" Target="slides/slide178.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slide" Target="slides/slide152.xml"/><Relationship Id="rId175" Type="http://schemas.openxmlformats.org/officeDocument/2006/relationships/slide" Target="slides/slide173.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 Id="rId165" Type="http://schemas.openxmlformats.org/officeDocument/2006/relationships/slide" Target="slides/slide163.xml"/><Relationship Id="rId27" Type="http://schemas.openxmlformats.org/officeDocument/2006/relationships/slide" Target="slides/slide25.xml"/><Relationship Id="rId48" Type="http://schemas.openxmlformats.org/officeDocument/2006/relationships/slide" Target="slides/slide46.xml"/><Relationship Id="rId69" Type="http://schemas.openxmlformats.org/officeDocument/2006/relationships/slide" Target="slides/slide67.xml"/><Relationship Id="rId113" Type="http://schemas.openxmlformats.org/officeDocument/2006/relationships/slide" Target="slides/slide111.xml"/><Relationship Id="rId134" Type="http://schemas.openxmlformats.org/officeDocument/2006/relationships/slide" Target="slides/slide132.xml"/><Relationship Id="rId80" Type="http://schemas.openxmlformats.org/officeDocument/2006/relationships/slide" Target="slides/slide78.xml"/><Relationship Id="rId155" Type="http://schemas.openxmlformats.org/officeDocument/2006/relationships/slide" Target="slides/slide153.xml"/><Relationship Id="rId176" Type="http://schemas.openxmlformats.org/officeDocument/2006/relationships/slide" Target="slides/slide174.xml"/><Relationship Id="rId17" Type="http://schemas.openxmlformats.org/officeDocument/2006/relationships/slide" Target="slides/slide15.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24" Type="http://schemas.openxmlformats.org/officeDocument/2006/relationships/slide" Target="slides/slide122.xml"/><Relationship Id="rId70" Type="http://schemas.openxmlformats.org/officeDocument/2006/relationships/slide" Target="slides/slide68.xml"/><Relationship Id="rId91" Type="http://schemas.openxmlformats.org/officeDocument/2006/relationships/slide" Target="slides/slide89.xml"/><Relationship Id="rId145" Type="http://schemas.openxmlformats.org/officeDocument/2006/relationships/slide" Target="slides/slide143.xml"/><Relationship Id="rId166" Type="http://schemas.openxmlformats.org/officeDocument/2006/relationships/slide" Target="slides/slide164.xml"/><Relationship Id="rId1" Type="http://schemas.openxmlformats.org/officeDocument/2006/relationships/slideMaster" Target="slideMasters/slideMaster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60" Type="http://schemas.openxmlformats.org/officeDocument/2006/relationships/slide" Target="slides/slide58.xml"/><Relationship Id="rId81" Type="http://schemas.openxmlformats.org/officeDocument/2006/relationships/slide" Target="slides/slide79.xml"/><Relationship Id="rId135" Type="http://schemas.openxmlformats.org/officeDocument/2006/relationships/slide" Target="slides/slide133.xml"/><Relationship Id="rId156" Type="http://schemas.openxmlformats.org/officeDocument/2006/relationships/slide" Target="slides/slide154.xml"/><Relationship Id="rId177" Type="http://schemas.openxmlformats.org/officeDocument/2006/relationships/slide" Target="slides/slide175.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 Scalable And Latency Fair Order Submission Service</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A Scalable And Latency Fair Multicast Service</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 Scalable And Latency Fair Multicast Service</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 Scalable And Latency Fair Order Submission Service</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As </a:t>
            </a:r>
            <a:r>
              <a:rPr lang="en-US" dirty="0" err="1"/>
              <a:t>trisks</a:t>
            </a:r>
            <a:endParaRPr lang="en-US" dirty="0"/>
          </a:p>
        </p:txBody>
      </p:sp>
      <p:sp>
        <p:nvSpPr>
          <p:cNvPr id="4" name="Slide Number Placeholder 3"/>
          <p:cNvSpPr>
            <a:spLocks noGrp="1"/>
          </p:cNvSpPr>
          <p:nvPr>
            <p:ph type="sldNum" sz="quarter" idx="5"/>
          </p:nvPr>
        </p:nvSpPr>
        <p:spPr/>
        <p:txBody>
          <a:bodyPr/>
          <a:lstStyle/>
          <a:p>
            <a:fld id="{5AD2936D-68DF-C34D-84E6-1FDAB4C19BCF}" type="slidenum">
              <a:rPr lang="en-US" smtClean="0"/>
              <a:t>2</a:t>
            </a:fld>
            <a:endParaRPr lang="en-US"/>
          </a:p>
        </p:txBody>
      </p:sp>
    </p:spTree>
    <p:extLst>
      <p:ext uri="{BB962C8B-B14F-4D97-AF65-F5344CB8AC3E}">
        <p14:creationId xmlns:p14="http://schemas.microsoft.com/office/powerpoint/2010/main" val="6424233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325BE27-1DE8-71DD-D4FA-0AB86532D8F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13D512D-6418-3DF7-ED63-9522E5E2321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B941AC4-1F97-0471-FFDE-1DB61DBF61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594376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534CCBE-9DFD-B6AC-F994-35A9E0B87FD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7727C3B-F07A-6964-7840-4BA054F17A9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B4A4ADE-09A9-8732-C6CD-F5639F1E974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71189116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25BD3EE-2CE7-3F4F-F906-88CAE0B117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4C0398-71DE-F106-AE49-1EBD7B2343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937A469-D036-3804-C4B9-2A8D9BEE6F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391885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E0EA22-2D1A-855F-324F-A6BB049B3EE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1E133B3-50E6-4140-AA90-8BD3DBA851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4A2884A-2551-F094-A5AB-563D5B52E2E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13050223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12A137-95A3-A90C-76DF-21F8357870B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9E53244-6D91-85AC-B90F-19A1B5DD90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C2E63D5-BFCD-49E7-E081-690B3ADA3C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3725975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C67F08B-EE6C-0246-FA9F-DEBB9E81F64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58B569F-AA5E-652F-027B-6EED02747EE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A28E59F-57A4-A491-1264-3F4A20F7AB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8678441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EB50EF4-2B30-3023-6C9B-40E2E56A1F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D064BEC-4654-33B7-2F68-5B5BFB4C174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1E96115-77A9-0D95-7ACB-1DA53A1B07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5741595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01C2F53-45D1-2608-D82A-11C5E7A27DE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B0BF744-21D3-9537-DEC6-D92BDE05EF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77691C0-F11B-E5E6-7637-58A6F59711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2644057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ACB23B7-159C-4AE2-41E3-4A7C18903B2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547C3F8-1CDA-CCDC-DE1F-E1FBA775773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FC51D38-B1BA-B15F-1BF5-9D5E58483F0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46334713"/>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9714CF1-CC1B-CE94-D64D-588E2C2BFCA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BCA3AB-AADD-7C01-F7BD-DF84E5004C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0398AAA-2E5F-58F6-76CA-0E3B766092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5599632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41BDDCE-578D-63BC-CE89-B94BA155AAA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A446161-DF09-90A4-0B03-10EE464D9E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70E5122-B33D-F03D-0603-B55A3B694D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1944747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D4EE2F7-4E64-795A-D88D-8F43836EA23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5B0812D-A599-44FF-1034-2B3549287D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75E2DBD-64C6-CA1A-B41B-6FE59FC028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203384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0A46879-B8C4-FE0B-7309-58ACC2D2811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C9C8069-1E08-03E1-CBD1-ED21264014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6436540-9C7F-6874-A5BD-3F7575A131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949811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61AD6B-50EB-1925-2345-6E3283D7A28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5F6E31-EED2-09C6-A293-3CED64E069C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AF3AE2B-2186-BE09-6354-965CB0C6EF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0320917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0CF3872-50DD-878B-FF7C-572030AAE5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801EAA1-C1AD-0CA9-C937-4C37A834EA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D0B9A9A-825C-C7DE-A980-8EFA5F3609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5620884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584BF39-2149-0FB0-7C84-71CB3992768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3B8A53-65F4-5B6F-3FFA-C9D52F021F6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EABD972-455B-6D1F-17BD-B45083B705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95238972"/>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5F3ACF-6375-E5A4-62DD-2FEFF4952D6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4AD7588-7968-239B-60E2-4CFBD70457A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9DDBE5F-B3C5-441B-101C-F20529A02C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9687207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8AF7CEA-680B-CC87-21F8-0E7725D044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06C95C6-7918-67A2-3903-D43F25409B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A3899B3-6122-7DD2-4B34-3F58D7AC27B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96634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11FA921-2D8B-B3B2-1570-B230BB4471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2D7E3B-75D3-1D58-A266-B60D43D4CE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60F857B-C6A5-1A28-0A4B-7E92EFB52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32211404"/>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4C424D8-C9EC-A3CB-E59E-F2AD1F5D5A7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BAB42EA-E05C-F2C7-B478-908207A1D1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D854DB1-4E6F-B9F9-E8CD-B31EC02892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18771912"/>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E1CE6CC-763D-E878-AE41-F9A74FD278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9558BEA-C520-A5D1-9A22-08541090B53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2CF1E1E-78DE-FAC5-C346-E99714E407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40862392"/>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21B411-D8EE-ABCD-5CE5-26B36FC66A7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037C724-7681-9FF4-364D-B2C9956DC6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1E52BAD-BB02-3FE9-DFF6-B333C98E7D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1041211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288ED6B-08F5-A143-D8D4-97DD9CB286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AEF48-1591-1ACF-D9C5-0B1A583B30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1702D841-FB30-ABDA-A884-1B53A2D928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5331098"/>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0FC629-6E18-A13E-31EF-00AA056BA02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BDE57FC-9B5C-2723-5FE9-4FA8C1DCB1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6478B6E-4541-FCF0-64A2-A417CEE674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6884592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6714E60-4428-040D-81EF-1C1D9969B8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A73B1FE-2870-95D8-7D34-5DBDB0FCC7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A5E9B32-32C6-033E-7FC2-7730CBDB21C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1238427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BBC171D-CF16-596D-1637-CEAD8782535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987210C-0B36-1C29-BEF5-92B7320067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6CDCE2B-95AA-4F0F-3FDA-56BDF8DDC8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5649371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B50948E-270C-AA80-AEDD-13F40530EA5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591141-B61C-6791-FC6C-B35F4F6ED8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C7C8F94-64CD-53FA-4517-87C66609E8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1529765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1119E0F-D326-C420-232B-6CE0D6492E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988C44-0B59-A079-CD2C-D34852B90C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8ACC7A6-3077-C513-055A-AA563181C8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963915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6FCC78E-554E-4D43-BAC6-C3D5C7D1BB1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7F36EF7-543D-9788-1EB0-3CAE2C48BE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FD5BE7E-CF6E-E15E-2D0F-E5D00C1068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19818582"/>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F11CA78-ADB9-8EDD-4C51-D45CC574AF0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32B3B35-D66A-FABA-41D2-FDDEC82698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BCA23F3-7A21-1EFC-0BA0-77BFA8EA80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6803060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D7B044B-ACDB-7192-AE3D-AA067331DA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4CA776-B2EF-6EFA-24BF-E46BC417C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A813E31-D4AB-DA16-44B3-D7122A1E11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42069502"/>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B55671-6089-7BAB-3609-BF0DB0F3854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7A2D737-7336-1BAC-421E-AC2D6CD2A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D542A4F-1951-D6BC-44B0-A2F1B4CE3B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87502146"/>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4C64A4-3B0C-7072-56C3-6EA1744751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2B38D8F-612A-9C2C-B522-4ABDF9C404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D0783AB-4FE3-211B-2257-5ABA48CE6D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2826378"/>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00CBCA-A9BE-8C14-8EFF-15EF14D8FD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2FA7537-9DAF-06B5-6895-CF2101ED98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6E411AD-682C-8B2D-DCC4-1D8908AF56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9561523"/>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390B975-CD23-F785-5E23-0F9FE9DE6D1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00908D9-5499-02EB-91E0-64589704FE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3BBB2A0-5E34-2691-F769-C9D8208AD9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Somebody, before everyone, asked to buy at a very low price and then somebody, still </a:t>
            </a:r>
            <a:r>
              <a:rPr lang="en-US" dirty="0" err="1"/>
              <a:t>ebfroe</a:t>
            </a:r>
            <a:r>
              <a:rPr lang="en-US" dirty="0"/>
              <a:t> anyone else, is willing to </a:t>
            </a:r>
            <a:r>
              <a:rPr lang="en-US" dirty="0" err="1"/>
              <a:t>seel</a:t>
            </a:r>
            <a:r>
              <a:rPr lang="en-US" dirty="0"/>
              <a:t> at a very low price. In that </a:t>
            </a:r>
            <a:r>
              <a:rPr lang="en-US" dirty="0" err="1"/>
              <a:t>settint</a:t>
            </a:r>
            <a:r>
              <a:rPr lang="en-US" dirty="0"/>
              <a:t> these people’s orders should be matched with each other. But if we were to prioritize based on raw </a:t>
            </a:r>
            <a:r>
              <a:rPr lang="en-US" dirty="0" err="1"/>
              <a:t>pirce</a:t>
            </a:r>
            <a:r>
              <a:rPr lang="en-US" dirty="0"/>
              <a:t>, we may just leave such orders in the network and they may not reach the </a:t>
            </a:r>
            <a:r>
              <a:rPr lang="en-US" dirty="0" err="1"/>
              <a:t>excgange</a:t>
            </a:r>
            <a:r>
              <a:rPr lang="en-US" dirty="0"/>
              <a:t> on time. Such a price based prioritization changes the semantics, it definitely loses the fairness i.e., the same effect as if all the latencies were equal.</a:t>
            </a:r>
            <a:endParaRPr dirty="0"/>
          </a:p>
        </p:txBody>
      </p:sp>
    </p:spTree>
    <p:extLst>
      <p:ext uri="{BB962C8B-B14F-4D97-AF65-F5344CB8AC3E}">
        <p14:creationId xmlns:p14="http://schemas.microsoft.com/office/powerpoint/2010/main" val="4197044765"/>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FDA9F15-FA84-2E47-C7F6-FF65E392ED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D04A01B-3EA5-B9D2-FE0E-FE587C918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27B1EF1-1F42-B2B1-835C-A38BB537B06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Somebody, before everyone, asked to buy at a very low price and then somebody, still </a:t>
            </a:r>
            <a:r>
              <a:rPr lang="en-US" dirty="0" err="1"/>
              <a:t>ebfroe</a:t>
            </a:r>
            <a:r>
              <a:rPr lang="en-US" dirty="0"/>
              <a:t> anyone else, is willing to </a:t>
            </a:r>
            <a:r>
              <a:rPr lang="en-US" dirty="0" err="1"/>
              <a:t>seel</a:t>
            </a:r>
            <a:r>
              <a:rPr lang="en-US" dirty="0"/>
              <a:t> at a very low price. In that </a:t>
            </a:r>
            <a:r>
              <a:rPr lang="en-US" dirty="0" err="1"/>
              <a:t>settint</a:t>
            </a:r>
            <a:r>
              <a:rPr lang="en-US" dirty="0"/>
              <a:t> these people’s orders should be matched with each other. But if we were to prioritize based on raw </a:t>
            </a:r>
            <a:r>
              <a:rPr lang="en-US" dirty="0" err="1"/>
              <a:t>pirce</a:t>
            </a:r>
            <a:r>
              <a:rPr lang="en-US" dirty="0"/>
              <a:t>, we may just leave such orders in the network and they may not reach the </a:t>
            </a:r>
            <a:r>
              <a:rPr lang="en-US" dirty="0" err="1"/>
              <a:t>excgange</a:t>
            </a:r>
            <a:r>
              <a:rPr lang="en-US" dirty="0"/>
              <a:t> on time. Such a price based prioritization changes the semantics, it definitely loses the fairness i.e., the same effect as if all the latencies were equal.</a:t>
            </a:r>
            <a:endParaRPr dirty="0"/>
          </a:p>
        </p:txBody>
      </p:sp>
    </p:spTree>
    <p:extLst>
      <p:ext uri="{BB962C8B-B14F-4D97-AF65-F5344CB8AC3E}">
        <p14:creationId xmlns:p14="http://schemas.microsoft.com/office/powerpoint/2010/main" val="2901085036"/>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988E07C-703C-D6B4-0D87-EB59FC13B5A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6691365-91FF-7603-D544-394EF430B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156CED34-C4CD-7885-8BC2-E54EE4EB2D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946070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D9310E6-E5D3-0260-37AD-DC921ADFE9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2217446-9AD6-6FCC-1271-BC0CB27080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9464652-9E37-5355-EF4B-9492A9E57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323766267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6A57CC4-5283-2505-2805-347E4DC7268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416938A-EB85-CCD5-A1D3-D0EF28B0CAB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5E427ED-2546-7D1A-B8C4-25F60C9EF7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3182617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2A2364-F04A-3D94-671B-A379C7DA96A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3A8123-5514-CE0B-5D8A-4EFE860571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800CFAB-D3AC-1A0E-34BF-D534EEAF27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9551993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762E644-E074-CE05-0A03-B668EE041E6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AB52CB7-83A8-19FE-7CC3-03051FE78F4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0393CB0-B1AE-A04D-F068-08C1F76B285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marR="0" lvl="0" indent="0" algn="l" defTabSz="914400" rtl="0" eaLnBrk="1" fontAlgn="auto" latinLnBrk="0" hangingPunct="1">
              <a:lnSpc>
                <a:spcPct val="100000"/>
              </a:lnSpc>
              <a:spcBef>
                <a:spcPts val="0"/>
              </a:spcBef>
              <a:spcAft>
                <a:spcPts val="0"/>
              </a:spcAft>
              <a:buClrTx/>
              <a:buSzTx/>
              <a:buFontTx/>
              <a:buNone/>
              <a:tabLst/>
              <a:defRPr/>
            </a:pPr>
            <a:br>
              <a:rPr lang="en-US" dirty="0"/>
            </a:br>
            <a:r>
              <a:rPr lang="en-US" sz="1200" dirty="0"/>
              <a:t>Assumption: no non-critical order with some mid-price ID </a:t>
            </a:r>
            <a:r>
              <a:rPr lang="en-US" sz="1200" i="1" dirty="0"/>
              <a:t>m</a:t>
            </a:r>
            <a:r>
              <a:rPr lang="en-US" sz="1200" dirty="0"/>
              <a:t> becomes executable before all critical orders with mid-price ID m have been executed</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28787480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2E31228-3980-4431-271F-A9D980C346C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2C8E8B-2369-A3FA-BE5B-09775454110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1983B91C-053A-4D45-F5BC-62E56988A7E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marR="0" lvl="0" indent="0" algn="l" defTabSz="914400" rtl="0" eaLnBrk="1" fontAlgn="auto" latinLnBrk="0" hangingPunct="1">
              <a:lnSpc>
                <a:spcPct val="100000"/>
              </a:lnSpc>
              <a:spcBef>
                <a:spcPts val="0"/>
              </a:spcBef>
              <a:spcAft>
                <a:spcPts val="0"/>
              </a:spcAft>
              <a:buClrTx/>
              <a:buSzTx/>
              <a:buFontTx/>
              <a:buNone/>
              <a:tabLst/>
              <a:defRPr/>
            </a:pPr>
            <a:br>
              <a:rPr lang="en-US" dirty="0"/>
            </a:br>
            <a:r>
              <a:rPr lang="en-US" sz="1200" dirty="0"/>
              <a:t>Assumption: no non-critical order with some mid-price ID </a:t>
            </a:r>
            <a:r>
              <a:rPr lang="en-US" sz="1200" i="1" dirty="0"/>
              <a:t>m</a:t>
            </a:r>
            <a:r>
              <a:rPr lang="en-US" sz="1200" dirty="0"/>
              <a:t> becomes executable before all critical orders with mid-price ID m have been executed</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066320345"/>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85B9DC0-AF7C-3BAE-1881-AF86DFC6976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B908A56-73F3-D0EB-80BF-7985CD119F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B8BEDD6-EC29-460D-5CFC-67FEF61ADAE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202287730"/>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99B29B2-7CDD-D76A-57D7-5EECE88A3D4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8D32555-EEDB-064A-47D6-17919E2A47A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11CED9A-7311-8B99-FFE6-EC80E39775E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46025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2B84769-3738-C318-C096-677ED55233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3B2B53E-7306-17F8-9374-C0171C5F83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B0AF706-27C7-E7FF-A3B9-B2CF3BC698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26567403"/>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7BBA70B-5691-C92F-7F89-C1F3550DFC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AD17005-BFB8-5B9C-7E4C-31830272297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607F25C-F7C1-FD3C-0F54-29BF614DC6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6029136"/>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9ECAA4A-55DD-79CF-7A31-07F684135F0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E59B2AF-56F6-E371-296D-CEC52A5343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B3267A3-F581-E897-1071-958E07AAD2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32765466"/>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483C1C4-28BC-D7F4-7720-DB3F6B7831C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339308C-7A25-0FB7-809F-D8DE196041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BCBD64E-C0BC-A31A-BE6E-9BEBF64898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Majority of trades are speed races, i.e., it happens in rounds. And fairness is definitely preserved in speed races. But in some contrived cases where some orders are delayed enough that they arrive at the exchange after some rounds, we think there might be an issue. </a:t>
            </a:r>
            <a:endParaRPr dirty="0"/>
          </a:p>
        </p:txBody>
      </p:sp>
    </p:spTree>
    <p:extLst>
      <p:ext uri="{BB962C8B-B14F-4D97-AF65-F5344CB8AC3E}">
        <p14:creationId xmlns:p14="http://schemas.microsoft.com/office/powerpoint/2010/main" val="1903786050"/>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br>
              <a:rPr lang="en-US" dirty="0"/>
            </a:br>
            <a:r>
              <a:rPr lang="en-US" dirty="0"/>
              <a:t>100K orders per second, cumulative by 100 MPs</a:t>
            </a:r>
          </a:p>
          <a:p>
            <a:pPr marL="0" lvl="0" indent="0" algn="l" rtl="0">
              <a:spcBef>
                <a:spcPts val="0"/>
              </a:spcBef>
              <a:spcAft>
                <a:spcPts val="0"/>
              </a:spcAft>
              <a:buNone/>
            </a:pPr>
            <a:r>
              <a:rPr lang="en-US" dirty="0"/>
              <a:t>Periodic burst makes 20x load</a:t>
            </a:r>
          </a:p>
          <a:p>
            <a:pPr marL="0" lvl="0" indent="0" algn="l" rtl="0">
              <a:spcBef>
                <a:spcPts val="0"/>
              </a:spcBef>
              <a:spcAft>
                <a:spcPts val="0"/>
              </a:spcAft>
              <a:buNone/>
            </a:pPr>
            <a:r>
              <a:rPr lang="en-US" dirty="0"/>
              <a:t>Every 3</a:t>
            </a:r>
            <a:r>
              <a:rPr lang="en-US" baseline="30000" dirty="0"/>
              <a:t>rd</a:t>
            </a:r>
            <a:r>
              <a:rPr lang="en-US" dirty="0"/>
              <a:t> second, a burst occurs</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122</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123</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125</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126</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127</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129</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130</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131</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132</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133</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135</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137</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138</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139</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143</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145</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A33BB-1352-8263-8A69-B1E0A74DA6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B3B61B-7E63-B7B9-73A2-51477B1AF37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AD8787A-DBB4-8371-2354-7B993180B8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8F9EF73-CFB5-7A5A-0224-8B28CED9DB3B}"/>
              </a:ext>
            </a:extLst>
          </p:cNvPr>
          <p:cNvSpPr>
            <a:spLocks noGrp="1"/>
          </p:cNvSpPr>
          <p:nvPr>
            <p:ph type="sldNum" sz="quarter" idx="5"/>
          </p:nvPr>
        </p:nvSpPr>
        <p:spPr/>
        <p:txBody>
          <a:bodyPr/>
          <a:lstStyle/>
          <a:p>
            <a:fld id="{B3E8125A-D8BB-E74B-8C6E-AB7BD2C997CF}" type="slidenum">
              <a:rPr lang="en-US" smtClean="0"/>
              <a:t>146</a:t>
            </a:fld>
            <a:endParaRPr lang="en-US"/>
          </a:p>
        </p:txBody>
      </p:sp>
    </p:spTree>
    <p:extLst>
      <p:ext uri="{BB962C8B-B14F-4D97-AF65-F5344CB8AC3E}">
        <p14:creationId xmlns:p14="http://schemas.microsoft.com/office/powerpoint/2010/main" val="1894470266"/>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147</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148</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AE152-FBEF-EEF9-5F54-035661780C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4E8C10-6107-9795-0B79-05BB4DE59C2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F6E661D-84B0-4F07-D759-CA78BEA20E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F13759-0652-672F-290B-3C8CEC72D69D}"/>
              </a:ext>
            </a:extLst>
          </p:cNvPr>
          <p:cNvSpPr>
            <a:spLocks noGrp="1"/>
          </p:cNvSpPr>
          <p:nvPr>
            <p:ph type="sldNum" sz="quarter" idx="5"/>
          </p:nvPr>
        </p:nvSpPr>
        <p:spPr/>
        <p:txBody>
          <a:bodyPr/>
          <a:lstStyle/>
          <a:p>
            <a:fld id="{B3E8125A-D8BB-E74B-8C6E-AB7BD2C997CF}" type="slidenum">
              <a:rPr lang="en-US" smtClean="0"/>
              <a:t>149</a:t>
            </a:fld>
            <a:endParaRPr lang="en-US"/>
          </a:p>
        </p:txBody>
      </p:sp>
    </p:spTree>
    <p:extLst>
      <p:ext uri="{BB962C8B-B14F-4D97-AF65-F5344CB8AC3E}">
        <p14:creationId xmlns:p14="http://schemas.microsoft.com/office/powerpoint/2010/main" val="1621826723"/>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8CA5B-4690-9AFD-975D-3FC598E482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7EC7B4-01F1-F45E-830D-612EAD8B105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4D38846-5B3B-C0B6-78C5-2EE9613F79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6A6669F-5358-BDB9-26A5-67A7F92726BE}"/>
              </a:ext>
            </a:extLst>
          </p:cNvPr>
          <p:cNvSpPr>
            <a:spLocks noGrp="1"/>
          </p:cNvSpPr>
          <p:nvPr>
            <p:ph type="sldNum" sz="quarter" idx="5"/>
          </p:nvPr>
        </p:nvSpPr>
        <p:spPr/>
        <p:txBody>
          <a:bodyPr/>
          <a:lstStyle/>
          <a:p>
            <a:fld id="{B3E8125A-D8BB-E74B-8C6E-AB7BD2C997CF}" type="slidenum">
              <a:rPr lang="en-US" smtClean="0"/>
              <a:t>150</a:t>
            </a:fld>
            <a:endParaRPr lang="en-US"/>
          </a:p>
        </p:txBody>
      </p:sp>
    </p:spTree>
    <p:extLst>
      <p:ext uri="{BB962C8B-B14F-4D97-AF65-F5344CB8AC3E}">
        <p14:creationId xmlns:p14="http://schemas.microsoft.com/office/powerpoint/2010/main" val="1378094932"/>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151</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1D68F-516B-F76E-84CB-07AAE8F942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A6E98D-3EFE-EB4A-EF20-E29DBF02C4F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C433161-CC56-2AD3-D858-D1BDF628EA0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49C7EB-946C-5AE2-E672-6366495F6F79}"/>
              </a:ext>
            </a:extLst>
          </p:cNvPr>
          <p:cNvSpPr>
            <a:spLocks noGrp="1"/>
          </p:cNvSpPr>
          <p:nvPr>
            <p:ph type="sldNum" sz="quarter" idx="5"/>
          </p:nvPr>
        </p:nvSpPr>
        <p:spPr/>
        <p:txBody>
          <a:bodyPr/>
          <a:lstStyle/>
          <a:p>
            <a:fld id="{B3E8125A-D8BB-E74B-8C6E-AB7BD2C997CF}" type="slidenum">
              <a:rPr lang="en-US" smtClean="0"/>
              <a:t>152</a:t>
            </a:fld>
            <a:endParaRPr lang="en-US"/>
          </a:p>
        </p:txBody>
      </p:sp>
    </p:spTree>
    <p:extLst>
      <p:ext uri="{BB962C8B-B14F-4D97-AF65-F5344CB8AC3E}">
        <p14:creationId xmlns:p14="http://schemas.microsoft.com/office/powerpoint/2010/main" val="3797802722"/>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FCCB9A-7048-62FA-7E94-1371540C8C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8EB2FB-C8C9-573E-3D26-5141A5D772F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273917-F2A6-6F1C-ABAE-48E647D127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084976E-95C5-D940-DC3F-E23003E1C690}"/>
              </a:ext>
            </a:extLst>
          </p:cNvPr>
          <p:cNvSpPr>
            <a:spLocks noGrp="1"/>
          </p:cNvSpPr>
          <p:nvPr>
            <p:ph type="sldNum" sz="quarter" idx="5"/>
          </p:nvPr>
        </p:nvSpPr>
        <p:spPr/>
        <p:txBody>
          <a:bodyPr/>
          <a:lstStyle/>
          <a:p>
            <a:fld id="{B3E8125A-D8BB-E74B-8C6E-AB7BD2C997CF}" type="slidenum">
              <a:rPr lang="en-US" smtClean="0"/>
              <a:t>153</a:t>
            </a:fld>
            <a:endParaRPr lang="en-US"/>
          </a:p>
        </p:txBody>
      </p:sp>
    </p:spTree>
    <p:extLst>
      <p:ext uri="{BB962C8B-B14F-4D97-AF65-F5344CB8AC3E}">
        <p14:creationId xmlns:p14="http://schemas.microsoft.com/office/powerpoint/2010/main" val="1619121683"/>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4ADB6-B8B5-99D6-13D0-BC2E07881C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92A9B2-DF23-C422-4478-FD4D5D307A2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79D87EF-9060-8177-1333-42F09357033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7BECA7A-8B64-3590-EEB3-331AD3FB919D}"/>
              </a:ext>
            </a:extLst>
          </p:cNvPr>
          <p:cNvSpPr>
            <a:spLocks noGrp="1"/>
          </p:cNvSpPr>
          <p:nvPr>
            <p:ph type="sldNum" sz="quarter" idx="5"/>
          </p:nvPr>
        </p:nvSpPr>
        <p:spPr/>
        <p:txBody>
          <a:bodyPr/>
          <a:lstStyle/>
          <a:p>
            <a:fld id="{B3E8125A-D8BB-E74B-8C6E-AB7BD2C997CF}" type="slidenum">
              <a:rPr lang="en-US" smtClean="0"/>
              <a:t>154</a:t>
            </a:fld>
            <a:endParaRPr lang="en-US"/>
          </a:p>
        </p:txBody>
      </p:sp>
    </p:spTree>
    <p:extLst>
      <p:ext uri="{BB962C8B-B14F-4D97-AF65-F5344CB8AC3E}">
        <p14:creationId xmlns:p14="http://schemas.microsoft.com/office/powerpoint/2010/main" val="1623281042"/>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5422-D5D5-3123-3AAE-D585419863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6563B6-2630-BEE5-2E3B-B18A6479696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E60B2D9-A92B-76A7-23E4-6E99425DE3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F1FFCDD-4695-C04C-74D6-A933BB28C905}"/>
              </a:ext>
            </a:extLst>
          </p:cNvPr>
          <p:cNvSpPr>
            <a:spLocks noGrp="1"/>
          </p:cNvSpPr>
          <p:nvPr>
            <p:ph type="sldNum" sz="quarter" idx="5"/>
          </p:nvPr>
        </p:nvSpPr>
        <p:spPr/>
        <p:txBody>
          <a:bodyPr/>
          <a:lstStyle/>
          <a:p>
            <a:fld id="{B3E8125A-D8BB-E74B-8C6E-AB7BD2C997CF}" type="slidenum">
              <a:rPr lang="en-US" smtClean="0"/>
              <a:t>155</a:t>
            </a:fld>
            <a:endParaRPr lang="en-US"/>
          </a:p>
        </p:txBody>
      </p:sp>
    </p:spTree>
    <p:extLst>
      <p:ext uri="{BB962C8B-B14F-4D97-AF65-F5344CB8AC3E}">
        <p14:creationId xmlns:p14="http://schemas.microsoft.com/office/powerpoint/2010/main" val="1364117773"/>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FF4F0-4FD0-6E70-74A7-87B25449D2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96AB64-9F9C-450A-DEA4-D7B3681F277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5C54D3E-97E8-8C7F-E5E8-F1582E88CEE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61125B8-79C9-2EBF-7EBB-3B1337B16268}"/>
              </a:ext>
            </a:extLst>
          </p:cNvPr>
          <p:cNvSpPr>
            <a:spLocks noGrp="1"/>
          </p:cNvSpPr>
          <p:nvPr>
            <p:ph type="sldNum" sz="quarter" idx="5"/>
          </p:nvPr>
        </p:nvSpPr>
        <p:spPr/>
        <p:txBody>
          <a:bodyPr/>
          <a:lstStyle/>
          <a:p>
            <a:fld id="{B3E8125A-D8BB-E74B-8C6E-AB7BD2C997CF}" type="slidenum">
              <a:rPr lang="en-US" smtClean="0"/>
              <a:t>156</a:t>
            </a:fld>
            <a:endParaRPr lang="en-US"/>
          </a:p>
        </p:txBody>
      </p:sp>
    </p:spTree>
    <p:extLst>
      <p:ext uri="{BB962C8B-B14F-4D97-AF65-F5344CB8AC3E}">
        <p14:creationId xmlns:p14="http://schemas.microsoft.com/office/powerpoint/2010/main" val="1654167154"/>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405473-AD64-36D4-8907-10D103F7EA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C4D4F8-7ACE-D607-E141-864B2C22A3E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E7CB37D8-9A4F-B62C-61AC-7E66E1CBED7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62BE15-79B8-9AE8-2E3B-2A09560BC668}"/>
              </a:ext>
            </a:extLst>
          </p:cNvPr>
          <p:cNvSpPr>
            <a:spLocks noGrp="1"/>
          </p:cNvSpPr>
          <p:nvPr>
            <p:ph type="sldNum" sz="quarter" idx="5"/>
          </p:nvPr>
        </p:nvSpPr>
        <p:spPr/>
        <p:txBody>
          <a:bodyPr/>
          <a:lstStyle/>
          <a:p>
            <a:fld id="{B3E8125A-D8BB-E74B-8C6E-AB7BD2C997CF}" type="slidenum">
              <a:rPr lang="en-US" smtClean="0"/>
              <a:t>157</a:t>
            </a:fld>
            <a:endParaRPr lang="en-US"/>
          </a:p>
        </p:txBody>
      </p:sp>
    </p:spTree>
    <p:extLst>
      <p:ext uri="{BB962C8B-B14F-4D97-AF65-F5344CB8AC3E}">
        <p14:creationId xmlns:p14="http://schemas.microsoft.com/office/powerpoint/2010/main" val="1447172378"/>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3D020-CDB1-CC14-94F7-F208237DFE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EB4C42-85BF-E507-8C08-7D2A21CC0B1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3B6FD86-6A2A-A853-91B3-8D34E44E6B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27ADD66-FA17-4A6B-75DF-B65F084ED952}"/>
              </a:ext>
            </a:extLst>
          </p:cNvPr>
          <p:cNvSpPr>
            <a:spLocks noGrp="1"/>
          </p:cNvSpPr>
          <p:nvPr>
            <p:ph type="sldNum" sz="quarter" idx="5"/>
          </p:nvPr>
        </p:nvSpPr>
        <p:spPr/>
        <p:txBody>
          <a:bodyPr/>
          <a:lstStyle/>
          <a:p>
            <a:fld id="{B3E8125A-D8BB-E74B-8C6E-AB7BD2C997CF}" type="slidenum">
              <a:rPr lang="en-US" smtClean="0"/>
              <a:t>158</a:t>
            </a:fld>
            <a:endParaRPr lang="en-US"/>
          </a:p>
        </p:txBody>
      </p:sp>
    </p:spTree>
    <p:extLst>
      <p:ext uri="{BB962C8B-B14F-4D97-AF65-F5344CB8AC3E}">
        <p14:creationId xmlns:p14="http://schemas.microsoft.com/office/powerpoint/2010/main" val="1330759065"/>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49C498-DCDE-B684-8E67-2C43E76A57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9E7F04-A0B5-7095-01E3-B06E588CF4B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FF85032-6102-1C80-7867-166C24F5474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10EF1C-CA63-19B5-AE5D-365A97AE43FA}"/>
              </a:ext>
            </a:extLst>
          </p:cNvPr>
          <p:cNvSpPr>
            <a:spLocks noGrp="1"/>
          </p:cNvSpPr>
          <p:nvPr>
            <p:ph type="sldNum" sz="quarter" idx="5"/>
          </p:nvPr>
        </p:nvSpPr>
        <p:spPr/>
        <p:txBody>
          <a:bodyPr/>
          <a:lstStyle/>
          <a:p>
            <a:fld id="{B3E8125A-D8BB-E74B-8C6E-AB7BD2C997CF}" type="slidenum">
              <a:rPr lang="en-US" smtClean="0"/>
              <a:t>159</a:t>
            </a:fld>
            <a:endParaRPr lang="en-US"/>
          </a:p>
        </p:txBody>
      </p:sp>
    </p:spTree>
    <p:extLst>
      <p:ext uri="{BB962C8B-B14F-4D97-AF65-F5344CB8AC3E}">
        <p14:creationId xmlns:p14="http://schemas.microsoft.com/office/powerpoint/2010/main" val="1015520358"/>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52E013-0020-DB59-E355-BD032C7234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46B5B4-923D-1966-B0CD-4673E4C3874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9BC6DEC-9FCA-4AEE-8CC1-0684E0ACD53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0ED5BB-BF44-673A-2194-5226021A55D8}"/>
              </a:ext>
            </a:extLst>
          </p:cNvPr>
          <p:cNvSpPr>
            <a:spLocks noGrp="1"/>
          </p:cNvSpPr>
          <p:nvPr>
            <p:ph type="sldNum" sz="quarter" idx="5"/>
          </p:nvPr>
        </p:nvSpPr>
        <p:spPr/>
        <p:txBody>
          <a:bodyPr/>
          <a:lstStyle/>
          <a:p>
            <a:fld id="{B3E8125A-D8BB-E74B-8C6E-AB7BD2C997CF}" type="slidenum">
              <a:rPr lang="en-US" smtClean="0"/>
              <a:t>160</a:t>
            </a:fld>
            <a:endParaRPr lang="en-US"/>
          </a:p>
        </p:txBody>
      </p:sp>
    </p:spTree>
    <p:extLst>
      <p:ext uri="{BB962C8B-B14F-4D97-AF65-F5344CB8AC3E}">
        <p14:creationId xmlns:p14="http://schemas.microsoft.com/office/powerpoint/2010/main" val="2131245975"/>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161</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 simple way to implement the above integral is to have two for loops iterating over the distributions, then we find </a:t>
            </a:r>
            <a:r>
              <a:rPr lang="en-US" dirty="0" err="1"/>
              <a:t>pariwsie</a:t>
            </a:r>
            <a:r>
              <a:rPr lang="en-US" dirty="0"/>
              <a:t> differences of the iterating elements and see </a:t>
            </a:r>
            <a:r>
              <a:rPr lang="en-US" dirty="0" err="1"/>
              <a:t>wehter</a:t>
            </a:r>
            <a:r>
              <a:rPr lang="en-US" dirty="0"/>
              <a:t> they are above that threshold or not. </a:t>
            </a:r>
          </a:p>
        </p:txBody>
      </p:sp>
      <p:sp>
        <p:nvSpPr>
          <p:cNvPr id="4" name="Slide Number Placeholder 3"/>
          <p:cNvSpPr>
            <a:spLocks noGrp="1"/>
          </p:cNvSpPr>
          <p:nvPr>
            <p:ph type="sldNum" sz="quarter" idx="5"/>
          </p:nvPr>
        </p:nvSpPr>
        <p:spPr/>
        <p:txBody>
          <a:bodyPr/>
          <a:lstStyle/>
          <a:p>
            <a:fld id="{5AD2936D-68DF-C34D-84E6-1FDAB4C19BCF}" type="slidenum">
              <a:rPr lang="en-US" smtClean="0"/>
              <a:t>165</a:t>
            </a:fld>
            <a:endParaRPr lang="en-US"/>
          </a:p>
        </p:txBody>
      </p:sp>
    </p:spTree>
    <p:extLst>
      <p:ext uri="{BB962C8B-B14F-4D97-AF65-F5344CB8AC3E}">
        <p14:creationId xmlns:p14="http://schemas.microsoft.com/office/powerpoint/2010/main" val="3291870796"/>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176</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177</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4/9/26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2.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3.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0.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3.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3.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3.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4.xml"/></Relationships>
</file>

<file path=ppt/slides/_rels/slide73.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61.xml"/><Relationship Id="rId1" Type="http://schemas.openxmlformats.org/officeDocument/2006/relationships/slideLayout" Target="../slideLayouts/slideLayout2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4.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4.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4.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4.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4.xml"/></Relationships>
</file>

<file path=ppt/slides/_rels/slide99.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87.xml"/><Relationship Id="rId1" Type="http://schemas.openxmlformats.org/officeDocument/2006/relationships/slideLayout" Target="../slideLayouts/slideLayout24.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4.xml"/></Relationships>
</file>

<file path=ppt/slides/_rels/slide10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9.xml"/><Relationship Id="rId1" Type="http://schemas.openxmlformats.org/officeDocument/2006/relationships/slideLayout" Target="../slideLayouts/slideLayout24.xml"/></Relationships>
</file>

<file path=ppt/slides/_rels/slide10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0.xml"/><Relationship Id="rId1" Type="http://schemas.openxmlformats.org/officeDocument/2006/relationships/slideLayout" Target="../slideLayouts/slideLayout24.xml"/></Relationships>
</file>

<file path=ppt/slides/_rels/slide103.xml.rels><?xml version="1.0" encoding="UTF-8" standalone="yes"?>
<Relationships xmlns="http://schemas.openxmlformats.org/package/2006/relationships"><Relationship Id="rId3" Type="http://schemas.openxmlformats.org/officeDocument/2006/relationships/image" Target="../media/image5.emf"/><Relationship Id="rId7" Type="http://schemas.openxmlformats.org/officeDocument/2006/relationships/image" Target="../media/image15.png"/><Relationship Id="rId2" Type="http://schemas.openxmlformats.org/officeDocument/2006/relationships/notesSlide" Target="../notesSlides/notesSlide91.xml"/><Relationship Id="rId1" Type="http://schemas.openxmlformats.org/officeDocument/2006/relationships/slideLayout" Target="../slideLayouts/slideLayout24.xml"/><Relationship Id="rId6" Type="http://schemas.openxmlformats.org/officeDocument/2006/relationships/image" Target="../media/image17.png"/><Relationship Id="rId5" Type="http://schemas.openxmlformats.org/officeDocument/2006/relationships/image" Target="../media/image16.png"/></Relationships>
</file>

<file path=ppt/slides/_rels/slide10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2.xml"/><Relationship Id="rId1" Type="http://schemas.openxmlformats.org/officeDocument/2006/relationships/slideLayout" Target="../slideLayouts/slideLayout24.xml"/></Relationships>
</file>

<file path=ppt/slides/_rels/slide10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3.xml"/><Relationship Id="rId1" Type="http://schemas.openxmlformats.org/officeDocument/2006/relationships/slideLayout" Target="../slideLayouts/slideLayout24.xml"/></Relationships>
</file>

<file path=ppt/slides/_rels/slide10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4.xml"/><Relationship Id="rId1" Type="http://schemas.openxmlformats.org/officeDocument/2006/relationships/slideLayout" Target="../slideLayouts/slideLayout24.xml"/></Relationships>
</file>

<file path=ppt/slides/_rels/slide10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95.xml"/><Relationship Id="rId1" Type="http://schemas.openxmlformats.org/officeDocument/2006/relationships/slideLayout" Target="../slideLayouts/slideLayout24.xml"/></Relationships>
</file>

<file path=ppt/slides/_rels/slide108.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96.xml"/><Relationship Id="rId1" Type="http://schemas.openxmlformats.org/officeDocument/2006/relationships/slideLayout" Target="../slideLayouts/slideLayout24.xml"/></Relationships>
</file>

<file path=ppt/slides/_rels/slide109.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97.xml"/><Relationship Id="rId1" Type="http://schemas.openxmlformats.org/officeDocument/2006/relationships/slideLayout" Target="../slideLayouts/slideLayout24.xml"/></Relationships>
</file>

<file path=ppt/slides/_rels/slide110.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98.xml"/><Relationship Id="rId1" Type="http://schemas.openxmlformats.org/officeDocument/2006/relationships/slideLayout" Target="../slideLayouts/slideLayout24.xml"/></Relationships>
</file>

<file path=ppt/slides/_rels/slide111.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99.xml"/><Relationship Id="rId1" Type="http://schemas.openxmlformats.org/officeDocument/2006/relationships/slideLayout" Target="../slideLayouts/slideLayout24.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4.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4.xml"/></Relationships>
</file>

<file path=ppt/slides/_rels/slide114.xml.rels><?xml version="1.0" encoding="UTF-8" standalone="yes"?>
<Relationships xmlns="http://schemas.openxmlformats.org/package/2006/relationships"><Relationship Id="rId2" Type="http://schemas.openxmlformats.org/officeDocument/2006/relationships/image" Target="../media/image22.emf"/><Relationship Id="rId1" Type="http://schemas.openxmlformats.org/officeDocument/2006/relationships/slideLayout" Target="../slideLayouts/slideLayout24.xml"/></Relationships>
</file>

<file path=ppt/slides/_rels/slide115.xml.rels><?xml version="1.0" encoding="UTF-8" standalone="yes"?>
<Relationships xmlns="http://schemas.openxmlformats.org/package/2006/relationships"><Relationship Id="rId2" Type="http://schemas.openxmlformats.org/officeDocument/2006/relationships/image" Target="../media/image22.emf"/><Relationship Id="rId1" Type="http://schemas.openxmlformats.org/officeDocument/2006/relationships/slideLayout" Target="../slideLayouts/slideLayout24.xml"/></Relationships>
</file>

<file path=ppt/slides/_rels/slide116.xml.rels><?xml version="1.0" encoding="UTF-8" standalone="yes"?>
<Relationships xmlns="http://schemas.openxmlformats.org/package/2006/relationships"><Relationship Id="rId2" Type="http://schemas.openxmlformats.org/officeDocument/2006/relationships/image" Target="../media/image23.emf"/><Relationship Id="rId1" Type="http://schemas.openxmlformats.org/officeDocument/2006/relationships/slideLayout" Target="../slideLayouts/slideLayout24.xml"/></Relationships>
</file>

<file path=ppt/slides/_rels/slide117.xml.rels><?xml version="1.0" encoding="UTF-8" standalone="yes"?>
<Relationships xmlns="http://schemas.openxmlformats.org/package/2006/relationships"><Relationship Id="rId2" Type="http://schemas.openxmlformats.org/officeDocument/2006/relationships/image" Target="../media/image23.emf"/><Relationship Id="rId1" Type="http://schemas.openxmlformats.org/officeDocument/2006/relationships/slideLayout" Target="../slideLayouts/slideLayout24.xml"/></Relationships>
</file>

<file path=ppt/slides/_rels/slide118.xml.rels><?xml version="1.0" encoding="UTF-8" standalone="yes"?>
<Relationships xmlns="http://schemas.openxmlformats.org/package/2006/relationships"><Relationship Id="rId3" Type="http://schemas.openxmlformats.org/officeDocument/2006/relationships/image" Target="../media/image24.emf"/><Relationship Id="rId2" Type="http://schemas.openxmlformats.org/officeDocument/2006/relationships/notesSlide" Target="../notesSlides/notesSlide102.xml"/><Relationship Id="rId1" Type="http://schemas.openxmlformats.org/officeDocument/2006/relationships/slideLayout" Target="../slideLayouts/slideLayout23.xml"/></Relationships>
</file>

<file path=ppt/slides/_rels/slide119.xml.rels><?xml version="1.0" encoding="UTF-8" standalone="yes"?>
<Relationships xmlns="http://schemas.openxmlformats.org/package/2006/relationships"><Relationship Id="rId3" Type="http://schemas.openxmlformats.org/officeDocument/2006/relationships/image" Target="../media/image25.emf"/><Relationship Id="rId2" Type="http://schemas.openxmlformats.org/officeDocument/2006/relationships/notesSlide" Target="../notesSlides/notesSlide103.xml"/><Relationship Id="rId1" Type="http://schemas.openxmlformats.org/officeDocument/2006/relationships/slideLayout" Target="../slideLayouts/slideLayout23.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1.xml.rels><?xml version="1.0" encoding="UTF-8" standalone="yes"?>
<Relationships xmlns="http://schemas.openxmlformats.org/package/2006/relationships"><Relationship Id="rId3" Type="http://schemas.openxmlformats.org/officeDocument/2006/relationships/image" Target="../media/image26.svg"/><Relationship Id="rId2" Type="http://schemas.openxmlformats.org/officeDocument/2006/relationships/notesSlide" Target="../notesSlides/notesSlide104.xml"/><Relationship Id="rId1" Type="http://schemas.openxmlformats.org/officeDocument/2006/relationships/slideLayout" Target="../slideLayouts/slideLayout12.xml"/><Relationship Id="rId6" Type="http://schemas.openxmlformats.org/officeDocument/2006/relationships/image" Target="../media/image29.svg"/><Relationship Id="rId5" Type="http://schemas.openxmlformats.org/officeDocument/2006/relationships/image" Target="../media/image28.svg"/><Relationship Id="rId4" Type="http://schemas.openxmlformats.org/officeDocument/2006/relationships/image" Target="../media/image27.svg"/></Relationships>
</file>

<file path=ppt/slides/_rels/slide122.xml.rels><?xml version="1.0" encoding="UTF-8" standalone="yes"?>
<Relationships xmlns="http://schemas.openxmlformats.org/package/2006/relationships"><Relationship Id="rId3" Type="http://schemas.openxmlformats.org/officeDocument/2006/relationships/image" Target="../media/image30.svg"/><Relationship Id="rId2" Type="http://schemas.openxmlformats.org/officeDocument/2006/relationships/notesSlide" Target="../notesSlides/notesSlide105.xml"/><Relationship Id="rId1" Type="http://schemas.openxmlformats.org/officeDocument/2006/relationships/slideLayout" Target="../slideLayouts/slideLayout13.xml"/></Relationships>
</file>

<file path=ppt/slides/_rels/slide123.xml.rels><?xml version="1.0" encoding="UTF-8" standalone="yes"?>
<Relationships xmlns="http://schemas.openxmlformats.org/package/2006/relationships"><Relationship Id="rId3" Type="http://schemas.openxmlformats.org/officeDocument/2006/relationships/image" Target="../media/image30.svg"/><Relationship Id="rId7" Type="http://schemas.openxmlformats.org/officeDocument/2006/relationships/image" Target="../media/image34.svg"/><Relationship Id="rId2" Type="http://schemas.openxmlformats.org/officeDocument/2006/relationships/notesSlide" Target="../notesSlides/notesSlide106.xml"/><Relationship Id="rId1" Type="http://schemas.openxmlformats.org/officeDocument/2006/relationships/slideLayout" Target="../slideLayouts/slideLayout13.xml"/><Relationship Id="rId6" Type="http://schemas.openxmlformats.org/officeDocument/2006/relationships/image" Target="../media/image33.svg"/><Relationship Id="rId5" Type="http://schemas.openxmlformats.org/officeDocument/2006/relationships/image" Target="../media/image32.svg"/><Relationship Id="rId4" Type="http://schemas.openxmlformats.org/officeDocument/2006/relationships/image" Target="../media/image31.svg"/></Relationships>
</file>

<file path=ppt/slides/_rels/slide124.xml.rels><?xml version="1.0" encoding="UTF-8" standalone="yes"?>
<Relationships xmlns="http://schemas.openxmlformats.org/package/2006/relationships"><Relationship Id="rId3" Type="http://schemas.openxmlformats.org/officeDocument/2006/relationships/image" Target="../media/image31.svg"/><Relationship Id="rId7" Type="http://schemas.openxmlformats.org/officeDocument/2006/relationships/image" Target="../media/image34.svg"/><Relationship Id="rId2" Type="http://schemas.openxmlformats.org/officeDocument/2006/relationships/image" Target="../media/image30.svg"/><Relationship Id="rId1" Type="http://schemas.openxmlformats.org/officeDocument/2006/relationships/slideLayout" Target="../slideLayouts/slideLayout13.xml"/><Relationship Id="rId6" Type="http://schemas.openxmlformats.org/officeDocument/2006/relationships/image" Target="../media/image35.svg"/><Relationship Id="rId5" Type="http://schemas.openxmlformats.org/officeDocument/2006/relationships/image" Target="../media/image33.svg"/><Relationship Id="rId4" Type="http://schemas.openxmlformats.org/officeDocument/2006/relationships/image" Target="../media/image32.svg"/></Relationships>
</file>

<file path=ppt/slides/_rels/slide125.xml.rels><?xml version="1.0" encoding="UTF-8" standalone="yes"?>
<Relationships xmlns="http://schemas.openxmlformats.org/package/2006/relationships"><Relationship Id="rId8" Type="http://schemas.openxmlformats.org/officeDocument/2006/relationships/image" Target="../media/image35.svg"/><Relationship Id="rId3" Type="http://schemas.openxmlformats.org/officeDocument/2006/relationships/image" Target="../media/image30.svg"/><Relationship Id="rId7" Type="http://schemas.openxmlformats.org/officeDocument/2006/relationships/image" Target="../media/image34.svg"/><Relationship Id="rId2" Type="http://schemas.openxmlformats.org/officeDocument/2006/relationships/notesSlide" Target="../notesSlides/notesSlide107.xml"/><Relationship Id="rId1" Type="http://schemas.openxmlformats.org/officeDocument/2006/relationships/slideLayout" Target="../slideLayouts/slideLayout13.xml"/><Relationship Id="rId6" Type="http://schemas.openxmlformats.org/officeDocument/2006/relationships/image" Target="../media/image33.svg"/><Relationship Id="rId5" Type="http://schemas.openxmlformats.org/officeDocument/2006/relationships/image" Target="../media/image32.svg"/><Relationship Id="rId4" Type="http://schemas.openxmlformats.org/officeDocument/2006/relationships/image" Target="../media/image31.svg"/></Relationships>
</file>

<file path=ppt/slides/_rels/slide126.xml.rels><?xml version="1.0" encoding="UTF-8" standalone="yes"?>
<Relationships xmlns="http://schemas.openxmlformats.org/package/2006/relationships"><Relationship Id="rId8" Type="http://schemas.openxmlformats.org/officeDocument/2006/relationships/image" Target="../media/image34.svg"/><Relationship Id="rId3" Type="http://schemas.openxmlformats.org/officeDocument/2006/relationships/image" Target="../media/image30.svg"/><Relationship Id="rId7" Type="http://schemas.openxmlformats.org/officeDocument/2006/relationships/image" Target="../media/image35.svg"/><Relationship Id="rId2" Type="http://schemas.openxmlformats.org/officeDocument/2006/relationships/notesSlide" Target="../notesSlides/notesSlide108.xml"/><Relationship Id="rId1" Type="http://schemas.openxmlformats.org/officeDocument/2006/relationships/slideLayout" Target="../slideLayouts/slideLayout13.xml"/><Relationship Id="rId6" Type="http://schemas.openxmlformats.org/officeDocument/2006/relationships/image" Target="../media/image33.svg"/><Relationship Id="rId5" Type="http://schemas.openxmlformats.org/officeDocument/2006/relationships/image" Target="../media/image32.svg"/><Relationship Id="rId4" Type="http://schemas.openxmlformats.org/officeDocument/2006/relationships/image" Target="../media/image31.svg"/></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13.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0.xml"/><Relationship Id="rId1" Type="http://schemas.openxmlformats.org/officeDocument/2006/relationships/slideLayout" Target="../slideLayouts/slideLayout13.xml"/></Relationships>
</file>

<file path=ppt/slides/_rels/slide13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1.xml"/><Relationship Id="rId1" Type="http://schemas.openxmlformats.org/officeDocument/2006/relationships/slideLayout" Target="../slideLayouts/slideLayout13.xml"/></Relationships>
</file>

<file path=ppt/slides/_rels/slide13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2.xml"/><Relationship Id="rId1" Type="http://schemas.openxmlformats.org/officeDocument/2006/relationships/slideLayout" Target="../slideLayouts/slideLayout13.xml"/></Relationships>
</file>

<file path=ppt/slides/_rels/slide13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3.xml"/><Relationship Id="rId1" Type="http://schemas.openxmlformats.org/officeDocument/2006/relationships/slideLayout" Target="../slideLayouts/slideLayout13.xml"/></Relationships>
</file>

<file path=ppt/slides/_rels/slide13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4.xml"/><Relationship Id="rId1" Type="http://schemas.openxmlformats.org/officeDocument/2006/relationships/slideLayout" Target="../slideLayouts/slideLayout13.xml"/></Relationships>
</file>

<file path=ppt/slides/_rels/slide134.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35.xml.rels><?xml version="1.0" encoding="UTF-8" standalone="yes"?>
<Relationships xmlns="http://schemas.openxmlformats.org/package/2006/relationships"><Relationship Id="rId3" Type="http://schemas.openxmlformats.org/officeDocument/2006/relationships/image" Target="../media/image36.svg"/><Relationship Id="rId7" Type="http://schemas.openxmlformats.org/officeDocument/2006/relationships/image" Target="../media/image40.png"/><Relationship Id="rId2" Type="http://schemas.openxmlformats.org/officeDocument/2006/relationships/notesSlide" Target="../notesSlides/notesSlide115.xml"/><Relationship Id="rId1" Type="http://schemas.openxmlformats.org/officeDocument/2006/relationships/slideLayout" Target="../slideLayouts/slideLayout13.xml"/><Relationship Id="rId6" Type="http://schemas.openxmlformats.org/officeDocument/2006/relationships/image" Target="../media/image39.svg"/><Relationship Id="rId5" Type="http://schemas.openxmlformats.org/officeDocument/2006/relationships/image" Target="../media/image38.svg"/><Relationship Id="rId4" Type="http://schemas.openxmlformats.org/officeDocument/2006/relationships/image" Target="../media/image37.svg"/></Relationships>
</file>

<file path=ppt/slides/_rels/slide136.xml.rels><?xml version="1.0" encoding="UTF-8" standalone="yes"?>
<Relationships xmlns="http://schemas.openxmlformats.org/package/2006/relationships"><Relationship Id="rId3" Type="http://schemas.openxmlformats.org/officeDocument/2006/relationships/image" Target="../media/image37.svg"/><Relationship Id="rId2" Type="http://schemas.openxmlformats.org/officeDocument/2006/relationships/image" Target="../media/image36.svg"/><Relationship Id="rId1" Type="http://schemas.openxmlformats.org/officeDocument/2006/relationships/slideLayout" Target="../slideLayouts/slideLayout13.xml"/><Relationship Id="rId6" Type="http://schemas.openxmlformats.org/officeDocument/2006/relationships/image" Target="../media/image40.png"/><Relationship Id="rId5" Type="http://schemas.openxmlformats.org/officeDocument/2006/relationships/image" Target="../media/image39.svg"/><Relationship Id="rId4" Type="http://schemas.openxmlformats.org/officeDocument/2006/relationships/image" Target="../media/image38.svg"/></Relationships>
</file>

<file path=ppt/slides/_rels/slide137.xml.rels><?xml version="1.0" encoding="UTF-8" standalone="yes"?>
<Relationships xmlns="http://schemas.openxmlformats.org/package/2006/relationships"><Relationship Id="rId3" Type="http://schemas.openxmlformats.org/officeDocument/2006/relationships/image" Target="../media/image36.svg"/><Relationship Id="rId7" Type="http://schemas.openxmlformats.org/officeDocument/2006/relationships/image" Target="../media/image40.png"/><Relationship Id="rId2" Type="http://schemas.openxmlformats.org/officeDocument/2006/relationships/notesSlide" Target="../notesSlides/notesSlide116.xml"/><Relationship Id="rId1" Type="http://schemas.openxmlformats.org/officeDocument/2006/relationships/slideLayout" Target="../slideLayouts/slideLayout13.xml"/><Relationship Id="rId6" Type="http://schemas.openxmlformats.org/officeDocument/2006/relationships/image" Target="../media/image39.svg"/><Relationship Id="rId5" Type="http://schemas.openxmlformats.org/officeDocument/2006/relationships/image" Target="../media/image38.svg"/><Relationship Id="rId4" Type="http://schemas.openxmlformats.org/officeDocument/2006/relationships/image" Target="../media/image37.svg"/></Relationships>
</file>

<file path=ppt/slides/_rels/slide138.xml.rels><?xml version="1.0" encoding="UTF-8" standalone="yes"?>
<Relationships xmlns="http://schemas.openxmlformats.org/package/2006/relationships"><Relationship Id="rId8" Type="http://schemas.openxmlformats.org/officeDocument/2006/relationships/image" Target="../media/image360.png"/><Relationship Id="rId3" Type="http://schemas.openxmlformats.org/officeDocument/2006/relationships/image" Target="../media/image40.png"/><Relationship Id="rId7" Type="http://schemas.openxmlformats.org/officeDocument/2006/relationships/image" Target="../media/image35.png"/><Relationship Id="rId2" Type="http://schemas.openxmlformats.org/officeDocument/2006/relationships/notesSlide" Target="../notesSlides/notesSlide117.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39.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40.png"/><Relationship Id="rId7" Type="http://schemas.openxmlformats.org/officeDocument/2006/relationships/image" Target="../media/image34.png"/><Relationship Id="rId2" Type="http://schemas.openxmlformats.org/officeDocument/2006/relationships/notesSlide" Target="../notesSlides/notesSlide118.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0.png"/></Relationships>
</file>

<file path=ppt/slides/_rels/slide140.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0.png"/><Relationship Id="rId7"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13.xml"/><Relationship Id="rId6" Type="http://schemas.openxmlformats.org/officeDocument/2006/relationships/image" Target="../media/image40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0.png"/><Relationship Id="rId9" Type="http://schemas.openxmlformats.org/officeDocument/2006/relationships/image" Target="../media/image330.png"/></Relationships>
</file>

<file path=ppt/slides/_rels/slide141.xml.rels><?xml version="1.0" encoding="UTF-8" standalone="yes"?>
<Relationships xmlns="http://schemas.openxmlformats.org/package/2006/relationships"><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40.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s>
</file>

<file path=ppt/slides/_rels/slide14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40.png"/><Relationship Id="rId1" Type="http://schemas.openxmlformats.org/officeDocument/2006/relationships/slideLayout" Target="../slideLayouts/slideLayout13.xml"/></Relationships>
</file>

<file path=ppt/slides/_rels/slide14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19.xml"/><Relationship Id="rId1" Type="http://schemas.openxmlformats.org/officeDocument/2006/relationships/slideLayout" Target="../slideLayouts/slideLayout13.xml"/></Relationships>
</file>

<file path=ppt/slides/_rels/slide144.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0.png"/><Relationship Id="rId1" Type="http://schemas.openxmlformats.org/officeDocument/2006/relationships/slideLayout" Target="../slideLayouts/slideLayout13.xml"/></Relationships>
</file>

<file path=ppt/slides/_rels/slide145.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20.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21.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13.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13.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13.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13.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13.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13.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13.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13.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13.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13.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13.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13.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13.xml"/></Relationships>
</file>

<file path=ppt/slides/_rels/slide160.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13.xml"/></Relationships>
</file>

<file path=ppt/slides/_rels/slide161.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13.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37.xml"/><Relationship Id="rId1" Type="http://schemas.openxmlformats.org/officeDocument/2006/relationships/slideLayout" Target="../slideLayouts/slideLayout13.xml"/></Relationships>
</file>

<file path=ppt/slides/_rels/slide166.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67.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24.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0.xml.rels><?xml version="1.0" encoding="UTF-8" standalone="yes"?>
<Relationships xmlns="http://schemas.openxmlformats.org/package/2006/relationships"><Relationship Id="rId2" Type="http://schemas.openxmlformats.org/officeDocument/2006/relationships/image" Target="../media/image41.svg"/><Relationship Id="rId1" Type="http://schemas.openxmlformats.org/officeDocument/2006/relationships/slideLayout" Target="../slideLayouts/slideLayout13.xml"/></Relationships>
</file>

<file path=ppt/slides/_rels/slide171.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3.xml"/></Relationships>
</file>

<file path=ppt/slides/_rels/slide172.xml.rels><?xml version="1.0" encoding="UTF-8" standalone="yes"?>
<Relationships xmlns="http://schemas.openxmlformats.org/package/2006/relationships"><Relationship Id="rId2" Type="http://schemas.openxmlformats.org/officeDocument/2006/relationships/image" Target="../media/image42.emf"/><Relationship Id="rId1" Type="http://schemas.openxmlformats.org/officeDocument/2006/relationships/slideLayout" Target="../slideLayouts/slideLayout13.xml"/></Relationships>
</file>

<file path=ppt/slides/_rels/slide173.xml.rels><?xml version="1.0" encoding="UTF-8" standalone="yes"?>
<Relationships xmlns="http://schemas.openxmlformats.org/package/2006/relationships"><Relationship Id="rId2" Type="http://schemas.openxmlformats.org/officeDocument/2006/relationships/image" Target="../media/image42.emf"/><Relationship Id="rId1" Type="http://schemas.openxmlformats.org/officeDocument/2006/relationships/slideLayout" Target="../slideLayouts/slideLayout13.xml"/></Relationships>
</file>

<file path=ppt/slides/_rels/slide174.xml.rels><?xml version="1.0" encoding="UTF-8" standalone="yes"?>
<Relationships xmlns="http://schemas.openxmlformats.org/package/2006/relationships"><Relationship Id="rId2" Type="http://schemas.openxmlformats.org/officeDocument/2006/relationships/image" Target="../media/image42.emf"/><Relationship Id="rId1" Type="http://schemas.openxmlformats.org/officeDocument/2006/relationships/slideLayout" Target="../slideLayouts/slideLayout13.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9.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13.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Jinyang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676952"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412603"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extLst>
              <p:ext uri="{D42A27DB-BD31-4B8C-83A1-F6EECF244321}">
                <p14:modId xmlns:p14="http://schemas.microsoft.com/office/powerpoint/2010/main" val="3652191560"/>
              </p:ext>
            </p:extLst>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50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50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50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50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50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1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1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1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1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1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par>
                                <p:cTn id="86" presetID="1" presetClass="entr" presetSubtype="0" fill="hold" nodeType="withEffect">
                                  <p:stCondLst>
                                    <p:cond delay="0"/>
                                  </p:stCondLst>
                                  <p:childTnLst>
                                    <p:set>
                                      <p:cBhvr>
                                        <p:cTn id="87" dur="1" fill="hold">
                                          <p:stCondLst>
                                            <p:cond delay="0"/>
                                          </p:stCondLst>
                                        </p:cTn>
                                        <p:tgtEl>
                                          <p:spTgt spid="68"/>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69"/>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70"/>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nodeType="clickEffect">
                                  <p:stCondLst>
                                    <p:cond delay="0"/>
                                  </p:stCondLst>
                                  <p:childTnLst>
                                    <p:set>
                                      <p:cBhvr>
                                        <p:cTn id="95" dur="1" fill="hold">
                                          <p:stCondLst>
                                            <p:cond delay="0"/>
                                          </p:stCondLst>
                                        </p:cTn>
                                        <p:tgtEl>
                                          <p:spTgt spid="4"/>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A125855-B733-2B08-176A-9DF5C17171A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3854971-1DA4-EEBF-A051-08B768C60B5F}"/>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5E67BC4-E9B2-3605-F291-6D5D33332174}"/>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3212DA7A-4C72-E76E-2CC9-A478CAB3E24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2A431262-33C7-3651-A014-A1F36CAC2749}"/>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17BDA3DC-2308-3C31-D463-2A475F57BA9A}"/>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74434CC-1287-3BA1-141E-CC2B2A532D03}"/>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602C5289-55E0-5829-B693-7FB33E73ACF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0B01591A-66FB-4809-3854-C94093FBF37C}"/>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9D1492FC-107B-37DF-3D3B-443D178D37D7}"/>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CFC978EE-B338-806E-6DA8-EE5C137FF44D}"/>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C9D18AC6-992A-436E-BAAE-2C2E6C573274}"/>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878A44FD-59B3-7DE3-95CA-0F1A73AE43F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F909ECE-86EF-0867-D04A-164ADE26D8C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EDD0E4EC-12FD-177B-59CA-20098DD5A09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B3CEA591-C865-3372-B0C1-C4AB4F0D6F76}"/>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71AC848-4D44-CC28-113C-D7CAF6BC801C}"/>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799E622-D20F-4545-A135-247E2F80EEE7}"/>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246AF8D0-43AC-FE9F-EB15-44E707AD47FF}"/>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D50DF75B-526E-4DB1-D739-8218DDDDE943}"/>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DE66B632-4B59-196C-A369-7B7F046BFDE6}"/>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FFD1D996-9C94-1B19-384D-C6268549AD3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933864C3-211E-3B50-A195-A4F2ECEF0AE6}"/>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883F470A-00A9-F9FA-33AA-67A42292EFF0}"/>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1C839141-5219-5393-929C-E8F60145107B}"/>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DBE8794A-E38C-E6A6-2F34-50B9E138EA82}"/>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BF7E9612-AE5B-C2BE-B6EE-994F268F218A}"/>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8D8F3E2B-7DC8-1BA8-BA8B-F8B43FF6CE6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11DDC1E-81D6-FBB3-B3B6-C0A1A95EAB01}"/>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1B1D633-0FD0-1977-A217-94AF75AAFE3E}"/>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F0BAE924-1531-7F3A-CDEC-F15B7374851E}"/>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094A5BB-FFBF-E72B-ED95-9C5E4DD3AD92}"/>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0EA9679D-0EB3-8834-BCD0-4EB764166188}"/>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EC25FC0-0B7A-E224-E7D0-A9457AD8C689}"/>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80B5B5B-3FF9-825D-5B5D-04FE714DB27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2CAB459-3FEB-DB8B-6E0C-CFDC5B3C39B2}"/>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DBAD60A-3895-FFCC-EEBF-3205852E87CC}"/>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3A315756-4CD9-CC12-D59C-90C5E0B5D2EC}"/>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D41BBE30-BB5B-850A-58E3-16C75711EF49}"/>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404F5841-0094-2FDD-9C0D-D67F03BE3738}"/>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AE7D5AA9-91B3-3C82-8DA3-C962BF7BF50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95359389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B1D3885-CD0B-43F6-8F7C-BE71E7B22A8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7939A6D-FE76-2980-2105-68AB2F381EB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3DDFDC85-1C4F-4F7C-CC78-726C433F49DA}"/>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4271FC7A-8115-C216-95FA-3E213459A7B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C3E28231-A724-9182-45B3-D62F374C14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385C8897-899F-73B9-1320-3E4BA3406CEC}"/>
              </a:ext>
            </a:extLst>
          </p:cNvPr>
          <p:cNvSpPr/>
          <p:nvPr/>
        </p:nvSpPr>
        <p:spPr>
          <a:xfrm>
            <a:off x="362471" y="3892319"/>
            <a:ext cx="5585950" cy="750465"/>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2800" b="0" i="0" u="none" strike="noStrike" kern="1200" cap="none" spc="0" normalizeH="0" baseline="0" noProof="0" dirty="0">
                <a:ln>
                  <a:noFill/>
                </a:ln>
                <a:solidFill>
                  <a:prstClr val="white"/>
                </a:solidFill>
                <a:effectLst/>
                <a:uLnTx/>
                <a:uFillTx/>
                <a:latin typeface="Aptos" panose="02110004020202020204"/>
                <a:ea typeface="+mn-ea"/>
                <a:cs typeface="+mn-cs"/>
              </a:rPr>
              <a:t>Round Robin Packet Spraying</a:t>
            </a:r>
            <a:endParaRPr kumimoji="0" sz="2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796AE246-27DF-19CA-D213-41634D0416AF}"/>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CE89DDF-2D8F-686D-2BEF-1D79FF2E04F7}"/>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7FC7C541-7BD2-EA6D-DED6-1D17B23C836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D940F081-7337-E458-584F-D858887C4266}"/>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12AF7C04-2D18-EEC1-59C8-6BDB79E9B6AC}"/>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DF9642AC-5987-19B8-46C8-B1A8CAA3E2E0}"/>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9BFF484F-7214-68E9-AA75-DB38CA6D5B3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AD4338E1-E2C5-36CD-D8DF-4020C6C1D54E}"/>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62BCB214-2742-04E5-DDF6-D59A2CD8D21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C0A55D26-123C-0E55-0D82-27A1DCC388D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19511CDA-C7F9-0233-5688-A436BF7AD50A}"/>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D58F334A-D5DC-46A1-51B4-01B0621AE740}"/>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1FDD3246-C1B9-E70C-B23F-8A5BB36FCAE3}"/>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7AF15DFE-4D76-C789-2331-31BCA60982A0}"/>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270D5C42-8C4E-D6DF-BD11-1FB1F9FD099E}"/>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4FECEAF8-EBF2-8278-5A6F-E4B29EABF253}"/>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F5FC23D-19D7-9FBB-23DF-7A0BE3B7DB12}"/>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A78F26CE-6F6D-2C1A-A672-A75A69A1E94F}"/>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717163FA-DC3F-92E7-FF7A-8BD2DB17CF92}"/>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0D59E96-EDDD-0609-0FB4-66F19E88CE51}"/>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41A4FC-6CD0-8FE1-E081-3183FECE9E20}"/>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1F02F01E-C397-D157-C9DF-2E09CBCD414C}"/>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7DECCBED-9668-B2FE-2901-98904087C77F}"/>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880576F0-B38E-0795-9D2E-A57FFA58381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5B1BA10-B380-00C9-1FE1-2EB87F6C9AB9}"/>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545ECD0F-9798-8B95-B887-9DE021AC07AD}"/>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9509EA26-37A4-B77B-BF56-2324F3F5D4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28C25FB2-8FD8-7CE0-55BF-9306CB01B38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E4D48159-90E7-906A-CEC9-93F38B5C28FF}"/>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15F7CCDF-6E64-9A2C-AF6A-75A2A6DC7409}"/>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F88D721-B0AD-8C6E-B2F4-9D12067224B9}"/>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C5FE45AA-3270-F4D1-8922-DB39AA132456}"/>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6213EBC8-628E-3EB2-6F8E-56736A38274E}"/>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9537AAD6-7530-14A0-1174-4D099984C3B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F848E462-C8ED-2BBB-7D6A-2EBD90BA8BC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F630360-4412-1127-17DA-52D03B76CFF8}"/>
              </a:ext>
            </a:extLst>
          </p:cNvPr>
          <p:cNvSpPr txBox="1"/>
          <p:nvPr/>
        </p:nvSpPr>
        <p:spPr>
          <a:xfrm>
            <a:off x="1192817" y="4628748"/>
            <a:ext cx="9877666" cy="1938992"/>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Latency spikes affect some links for some short interval of time</a:t>
            </a:r>
          </a:p>
          <a:p>
            <a:pPr marL="342900" indent="-342900">
              <a:buFont typeface="Arial" panose="020B0604020202020204" pitchFamily="34" charset="0"/>
              <a:buChar char="•"/>
            </a:pPr>
            <a:r>
              <a:rPr lang="en-US" sz="2400" dirty="0">
                <a:highlight>
                  <a:srgbClr val="00FF00"/>
                </a:highlight>
              </a:rPr>
              <a:t>RRPS dynamically adjusts parent-child relationships after each message</a:t>
            </a:r>
          </a:p>
          <a:p>
            <a:pPr marL="342900" indent="-342900">
              <a:buFont typeface="Arial" panose="020B0604020202020204" pitchFamily="34" charset="0"/>
              <a:buChar char="•"/>
            </a:pPr>
            <a:r>
              <a:rPr lang="en-US" sz="2400" dirty="0">
                <a:highlight>
                  <a:srgbClr val="00FF00"/>
                </a:highlight>
              </a:rPr>
              <a:t>No link is used for a consecutive sequence of messages</a:t>
            </a:r>
          </a:p>
          <a:p>
            <a:pPr marL="342900" indent="-342900">
              <a:buFont typeface="Arial" panose="020B0604020202020204" pitchFamily="34" charset="0"/>
              <a:buChar char="•"/>
            </a:pPr>
            <a:r>
              <a:rPr lang="en-US" sz="2400" dirty="0">
                <a:highlight>
                  <a:srgbClr val="00FF00"/>
                </a:highlight>
              </a:rPr>
              <a:t>Latency spike is only able to affect a small number of messages</a:t>
            </a:r>
          </a:p>
        </p:txBody>
      </p:sp>
    </p:spTree>
    <p:extLst>
      <p:ext uri="{BB962C8B-B14F-4D97-AF65-F5344CB8AC3E}">
        <p14:creationId xmlns:p14="http://schemas.microsoft.com/office/powerpoint/2010/main" val="12333178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C1AB244-ECF3-A741-27B8-663F248AF07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85DA82-B5CD-B65D-C037-5018A3E8FED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257A9D84-CD25-EF80-6B0B-A344B421013B}"/>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2435AD77-DA4E-C376-A300-318A32061E03}"/>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638B74F3-2142-8B04-DB73-9302DF16F245}"/>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7410CEC8-2854-4051-DFC4-57F3F6CC5475}"/>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07FD64F-FDBF-BF7F-4DF1-A68D802632FD}"/>
              </a:ext>
            </a:extLst>
          </p:cNvPr>
          <p:cNvSpPr/>
          <p:nvPr/>
        </p:nvSpPr>
        <p:spPr>
          <a:xfrm>
            <a:off x="581553" y="3746548"/>
            <a:ext cx="7420630" cy="10594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32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439B3E02-6E29-8026-DFBA-17A490C5D0B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1429762-C8A3-49BC-1EB5-9DBC09C198F0}"/>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A3B5B128-A278-FA6E-2521-075ADE03FACE}"/>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277F207D-DEB7-C08E-C4E4-D5C21227FE41}"/>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348279C-6ECC-19DA-11FE-F17F4EDD7599}"/>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13A137EC-798B-AB3F-35FA-25757D6EA075}"/>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624D8F8-A304-515E-9DC1-4D90743BE15F}"/>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A5B6EECD-C309-BBF1-1DBB-017B3843D9B5}"/>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360A3346-BF47-BC76-E3F6-BB8FF890F313}"/>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1F1C220-80BA-13E1-71B0-37A4AFA5FCC3}"/>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198CD4CA-96C0-06B9-9C1F-C7B20D4919BB}"/>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926632C-0500-A7C8-F856-27E3042D237B}"/>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A3158CA5-EA4E-6269-C88D-6E6626337078}"/>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802AD4D-ADE7-618C-C58A-301848AA3639}"/>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6A00D6F4-B827-9CDB-22B7-13C81DA62DBA}"/>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C4B69DF9-F194-186D-574E-A9066B07134F}"/>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65F0875-256D-6598-F578-E413DB383A2D}"/>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F05BA2D-3F53-F853-C268-F0E2D252288F}"/>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7FF100E9-EF4C-D89F-7A12-10A7F1FC0504}"/>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E50391-3DE4-697C-FDDB-64496BB656C3}"/>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7B67AD6-BD98-D14B-590E-B86C784E8B92}"/>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0180D1C-A425-54DF-1A1C-CE2428CC4935}"/>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50D4E6D6-E9ED-A3A7-B173-D616F5E3A619}"/>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7E8AEE32-7440-15E9-16E7-5DED46D8E9B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B70798C-8FF4-80B5-984C-7EE7CCF0218C}"/>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268E6C40-D118-EB37-E8BC-C34FAE14A9FF}"/>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8479134F-136A-97D3-BBC3-A8C2CD93CFEF}"/>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13BCD89B-B432-C1C1-E98F-1B971E9361CD}"/>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C6F66C3B-CA63-D7DD-F9B0-FB3A5804116A}"/>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E9244500-A4CE-6798-BABD-CB1EC11D9118}"/>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9CB29D03-6637-2AD3-47AF-C5E9A400AB48}"/>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8339A7A0-4F1C-4245-FC9E-557DCDB14EC5}"/>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BB7AF242-B00F-F359-99D9-A2E08620B7F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C2F455DD-90E1-1D45-A8C4-1FF85067B1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7BC26A72-B9AB-1861-796C-B3CE045D89BC}"/>
              </a:ext>
            </a:extLst>
          </p:cNvPr>
          <p:cNvSpPr txBox="1"/>
          <p:nvPr/>
        </p:nvSpPr>
        <p:spPr>
          <a:xfrm>
            <a:off x="929770" y="4797996"/>
            <a:ext cx="10846101" cy="1569660"/>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Proxies can show straggler behavior, delaying the forwarding of a message</a:t>
            </a:r>
          </a:p>
          <a:p>
            <a:pPr marL="342900" indent="-342900">
              <a:buFont typeface="Arial" panose="020B0604020202020204" pitchFamily="34" charset="0"/>
              <a:buChar char="•"/>
            </a:pPr>
            <a:r>
              <a:rPr lang="en-US" sz="2400" dirty="0">
                <a:highlight>
                  <a:srgbClr val="00FF00"/>
                </a:highlight>
              </a:rPr>
              <a:t>Each proxy node gets multiple parents, each parent sends a copy of message to the child node</a:t>
            </a:r>
          </a:p>
          <a:p>
            <a:pPr marL="342900" indent="-342900">
              <a:buFont typeface="Arial" panose="020B0604020202020204" pitchFamily="34" charset="0"/>
              <a:buChar char="•"/>
            </a:pPr>
            <a:r>
              <a:rPr lang="en-US" sz="2400" dirty="0">
                <a:highlight>
                  <a:srgbClr val="00FF00"/>
                </a:highlight>
              </a:rPr>
              <a:t>If one parent is a straggler, some other parent may be healthy</a:t>
            </a:r>
          </a:p>
        </p:txBody>
      </p:sp>
    </p:spTree>
    <p:extLst>
      <p:ext uri="{BB962C8B-B14F-4D97-AF65-F5344CB8AC3E}">
        <p14:creationId xmlns:p14="http://schemas.microsoft.com/office/powerpoint/2010/main" val="11951926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1097D3A-C684-EE17-C188-F42B3BEEF67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4E4512A-0222-5958-4C1F-81503E9E8D6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CB89D26B-E10A-999E-6B4A-1B73385BA166}"/>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68EAB3E9-CA7C-F973-1498-F49A75374B01}"/>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FA0DEADC-F87A-E951-B45F-630840EACBC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B843428-E891-64D1-100C-2CA38DF70E9F}"/>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0D9B4B0C-1661-D6A4-013B-CDDC0DB5E5B5}"/>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73F2D60-8CB9-13CE-859C-98B6D2BF88FA}"/>
              </a:ext>
            </a:extLst>
          </p:cNvPr>
          <p:cNvSpPr/>
          <p:nvPr/>
        </p:nvSpPr>
        <p:spPr>
          <a:xfrm>
            <a:off x="1542622" y="3838635"/>
            <a:ext cx="6734086" cy="907249"/>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44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44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12D8B368-85BC-5BCE-1B5D-0BD334569B81}"/>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CCF0D6D3-8EA8-6C7A-E498-3281D3EC95A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A3C03CE8-A136-4F9E-7A26-F771DF96D8A5}"/>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02519C8F-CD97-F20A-E73C-95A1605DC8DF}"/>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F85C145F-B246-3BA6-C4D2-AF9494EC8F99}"/>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96B7F8B9-0CD5-F712-42EC-F4CA6BA5D636}"/>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93909CC4-BF69-61B3-91DD-7A7AEB7D2BE9}"/>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F2C910D-C573-52B1-6ECA-0EAA403FE8AC}"/>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0B4D5232-F7C4-2173-6771-6202036E0AB8}"/>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9FC35ABF-6115-DC61-D5F5-BF4FAE5A56BE}"/>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991BF227-8DDA-3ACF-4D4F-6CDC8A21568E}"/>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4C72EC87-873C-FED4-79A2-CE19DAAD1195}"/>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009AA7AD-696F-23F9-D487-D709B8062C65}"/>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3AD98510-0965-66B8-C447-FE8E475300C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207E17FB-552C-FBAA-6DAE-74E57D906B21}"/>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606A3BC4-4BF5-6310-4879-FBD8C54AC4E2}"/>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B60D5A6-9831-10A0-2710-C42A44BEA70E}"/>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9DAF838-107A-374C-1496-349FFAB04B20}"/>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B3D7544-E715-022C-3212-6DD88F1228B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C463A0B-AF8C-49D8-9830-55858FB8B52A}"/>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363CAF1-DBA1-2F47-F97C-2E7CE3AD3BED}"/>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AF42186A-3994-E8F8-AE17-9B1C02C7EC43}"/>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AA708597-06AA-6620-0414-3F62BE764BCC}"/>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D26A6622-637F-EED7-0405-7D07B1C0917A}"/>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ED6004D2-A20B-1BA2-31D6-E4C41867FA3A}"/>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5BEE8D72-3437-BD93-A266-E99DDD15E617}"/>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3CF5767-0677-725E-9197-7473414CF530}"/>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75BD8F55-FCB6-C46D-5D8F-025A79098444}"/>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076F8ECA-A82D-CBE7-BFA6-1EF10D8E0D35}"/>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AFA64C2E-FDE8-67DA-98EB-EB47F66C3D6A}"/>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02389F17-AF80-7979-38CF-12DED080F31C}"/>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F5C444E5-AAC2-BE75-FD2E-D1AE63B3EF13}"/>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9E6E556B-E52B-F6D5-A2AB-3A0658FA20F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B878FF9-E0DB-11AF-DE42-C33A2141B507}"/>
              </a:ext>
            </a:extLst>
          </p:cNvPr>
          <p:cNvSpPr txBox="1"/>
          <p:nvPr/>
        </p:nvSpPr>
        <p:spPr>
          <a:xfrm>
            <a:off x="268596" y="4814484"/>
            <a:ext cx="11551489" cy="1569660"/>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A trader/MPs VM can also show straggler behavior</a:t>
            </a:r>
          </a:p>
          <a:p>
            <a:pPr marL="342900" indent="-342900">
              <a:buFont typeface="Arial" panose="020B0604020202020204" pitchFamily="34" charset="0"/>
              <a:buChar char="•"/>
            </a:pPr>
            <a:r>
              <a:rPr lang="en-US" sz="2400" dirty="0">
                <a:highlight>
                  <a:srgbClr val="00FF00"/>
                </a:highlight>
              </a:rPr>
              <a:t>Each MP gets two VMs, both running the same trading algorithm, both receiving the same input and both generating the same output</a:t>
            </a:r>
          </a:p>
          <a:p>
            <a:pPr marL="342900" indent="-342900">
              <a:buFont typeface="Arial" panose="020B0604020202020204" pitchFamily="34" charset="0"/>
              <a:buChar char="•"/>
            </a:pPr>
            <a:r>
              <a:rPr lang="en-US" sz="2400" dirty="0">
                <a:highlight>
                  <a:srgbClr val="00FF00"/>
                </a:highlight>
              </a:rPr>
              <a:t>An MP is able to receive messages on time</a:t>
            </a:r>
          </a:p>
        </p:txBody>
      </p:sp>
    </p:spTree>
    <p:extLst>
      <p:ext uri="{BB962C8B-B14F-4D97-AF65-F5344CB8AC3E}">
        <p14:creationId xmlns:p14="http://schemas.microsoft.com/office/powerpoint/2010/main" val="35891806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A767310-2A54-39F3-3B45-D9186FD997E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3FC1F68-B2E1-6000-059A-011063DE32DB}"/>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9A2DBCB-BDD2-8A66-E383-BFDD81E8E05F}"/>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09B65EB8-1B76-B2E3-8749-B5F54A060CDD}"/>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D46F0CFB-BD76-11A5-E617-36023A5F9D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29A06A9-65B0-8C15-4EDB-71999EB57926}"/>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C42F9366-A320-5235-A0EE-14483548A4D1}"/>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AD044B11-7836-135B-7276-B3E56632C3CD}"/>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0F8856C-4A6D-D2E4-E5B7-923B8F945BD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84182F3A-5776-D75C-0672-FF7A8619783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7462F01D-09C4-690D-99A5-33C23147CF3E}"/>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19D5BB5-664E-0D0A-236D-CC5BF69F772B}"/>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31265CDC-FD3A-7012-4770-C7A97F8123C2}"/>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DEE966EA-C66D-9294-F832-0AD44BF855E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517177-2CE1-66A8-494B-F239B437728F}"/>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882B346D-2C3D-60FF-ACA3-1D4346E79DF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0A2A6FE-6042-23CD-FF86-E5F1DF38236D}"/>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329EE9C-F016-2617-FC47-020323ABC031}"/>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B9AA0C4C-D535-3172-F8BC-B5FCAB5C46F0}"/>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FB68BEEA-F2F2-9265-C6C0-C9216C848FAA}"/>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7B40C7D5-02A3-9914-B734-6E02AEF63EAA}"/>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2A371FD7-02DD-2030-F8DF-B00B18CE9954}"/>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5D11C0AD-4182-4BBE-B1A1-2173BCC5599A}"/>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BB92300B-DAEA-AC87-3699-26AD5FD33BD9}"/>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775E0AE-B1F2-8743-A0F7-9C0201723343}"/>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14DD9AE-B70C-F14E-B7B2-C427CADD4E2B}"/>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69984846-CBA1-3B48-2311-23D6F0BF9FD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3C5904A-5C36-6AC8-13DD-E95332B4B5C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2C65044-3A7D-C320-B869-776D969A36B0}"/>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5040CB4-665C-23A5-B1E2-58BA2C286B4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D9438D0-EAD0-ECD0-D599-A7A540C1809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AAE1F9B6-A9D2-7D3B-053F-B533CCAEB0A1}"/>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4535521F-ECB6-024B-0900-088CEEB21C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F1243751-6A4E-235A-ED01-7030F2251B2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86D4543B-DE68-B67C-4D67-749A4E66F9A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9D475DC-3784-1373-11DE-C8E7CCD519BD}"/>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8AF57703-D443-0128-F674-CD28F39E6D60}"/>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38082E0-19EF-2956-8362-8C837DE554BF}"/>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D143D8-556B-B142-5249-2218242E991B}"/>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D9429A2E-E7E8-8CCC-26EC-8E83298B223E}"/>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DA07394C-8844-F95E-2AEF-72F4AA4B810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2" name="TextBox 1">
            <a:extLst>
              <a:ext uri="{FF2B5EF4-FFF2-40B4-BE49-F238E27FC236}">
                <a16:creationId xmlns:a16="http://schemas.microsoft.com/office/drawing/2014/main" id="{21BE1E5B-E0DB-7B4C-33CE-F6DEEAF6C093}"/>
              </a:ext>
            </a:extLst>
          </p:cNvPr>
          <p:cNvSpPr txBox="1"/>
          <p:nvPr/>
        </p:nvSpPr>
        <p:spPr>
          <a:xfrm>
            <a:off x="725915" y="4189904"/>
            <a:ext cx="105182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Multicast latency becomes stable</a:t>
            </a:r>
          </a:p>
          <a:p>
            <a:pPr marL="742950" lvl="1" indent="-285750">
              <a:buFont typeface="Arial" panose="020B0604020202020204" pitchFamily="34" charset="0"/>
              <a:buChar char="•"/>
            </a:pPr>
            <a:r>
              <a:rPr lang="en-US" sz="2800" dirty="0"/>
              <a:t>Calculated deadlines in “hold-and-release” become effective</a:t>
            </a:r>
          </a:p>
          <a:p>
            <a:pPr marL="285750" indent="-285750">
              <a:buFont typeface="Arial" panose="020B0604020202020204" pitchFamily="34" charset="0"/>
              <a:buChar char="•"/>
            </a:pPr>
            <a:r>
              <a:rPr lang="en-US" sz="2800" dirty="0"/>
              <a:t>Multicast latency becomes low</a:t>
            </a:r>
          </a:p>
          <a:p>
            <a:pPr marL="742950" lvl="1" indent="-285750">
              <a:buFont typeface="Arial" panose="020B0604020202020204" pitchFamily="34" charset="0"/>
              <a:buChar char="•"/>
            </a:pPr>
            <a:r>
              <a:rPr lang="en-US" sz="2800" dirty="0"/>
              <a:t>Fairness achieved without large deadlines</a:t>
            </a:r>
          </a:p>
        </p:txBody>
      </p:sp>
    </p:spTree>
    <p:extLst>
      <p:ext uri="{BB962C8B-B14F-4D97-AF65-F5344CB8AC3E}">
        <p14:creationId xmlns:p14="http://schemas.microsoft.com/office/powerpoint/2010/main" val="49087137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F5991C-A78B-14CF-BA22-53FB6A22D29F}"/>
              </a:ext>
            </a:extLst>
          </p:cNvPr>
          <p:cNvSpPr>
            <a:spLocks noGrp="1"/>
          </p:cNvSpPr>
          <p:nvPr>
            <p:ph type="title"/>
          </p:nvPr>
        </p:nvSpPr>
        <p:spPr/>
        <p:txBody>
          <a:bodyPr>
            <a:normAutofit fontScale="90000"/>
          </a:bodyPr>
          <a:lstStyle/>
          <a:p>
            <a:endParaRPr lang="en-US"/>
          </a:p>
        </p:txBody>
      </p:sp>
      <p:sp>
        <p:nvSpPr>
          <p:cNvPr id="3" name="Text Placeholder 2">
            <a:extLst>
              <a:ext uri="{FF2B5EF4-FFF2-40B4-BE49-F238E27FC236}">
                <a16:creationId xmlns:a16="http://schemas.microsoft.com/office/drawing/2014/main" id="{790E77E8-617D-2D77-B621-C365D9CE9FBF}"/>
              </a:ext>
            </a:extLst>
          </p:cNvPr>
          <p:cNvSpPr>
            <a:spLocks noGrp="1"/>
          </p:cNvSpPr>
          <p:nvPr>
            <p:ph type="body" idx="1"/>
          </p:nvPr>
        </p:nvSpPr>
        <p:spPr/>
        <p:txBody>
          <a:bodyPr/>
          <a:lstStyle/>
          <a:p>
            <a:endParaRPr lang="en-US"/>
          </a:p>
        </p:txBody>
      </p:sp>
      <p:sp>
        <p:nvSpPr>
          <p:cNvPr id="4" name="Rectangle 3">
            <a:extLst>
              <a:ext uri="{FF2B5EF4-FFF2-40B4-BE49-F238E27FC236}">
                <a16:creationId xmlns:a16="http://schemas.microsoft.com/office/drawing/2014/main" id="{711BADD7-ED57-CF35-A93F-C38411AF0E3F}"/>
              </a:ext>
            </a:extLst>
          </p:cNvPr>
          <p:cNvSpPr/>
          <p:nvPr/>
        </p:nvSpPr>
        <p:spPr>
          <a:xfrm>
            <a:off x="-144379" y="-182880"/>
            <a:ext cx="12686097" cy="7315200"/>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2478842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00F20D2E-A8BC-1FA2-F8AF-71E5BF96B4E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1CC2786-B806-90FE-3AB7-C46F55565B7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AB92DA7-5F4E-467E-6522-613C30CF81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876D37-D07E-2EBC-0AA7-228AAF7E045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92A0E0E-C168-41CE-99FF-12DA9214460D}"/>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868CE1F-05AE-7D1A-3CB8-7D98352E4FC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635C6225-C6CC-0DEB-16FA-9260AB10E5EB}"/>
              </a:ext>
            </a:extLst>
          </p:cNvPr>
          <p:cNvSpPr/>
          <p:nvPr/>
        </p:nvSpPr>
        <p:spPr>
          <a:xfrm>
            <a:off x="3412605" y="4938726"/>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C4B75DB5-2E16-09EB-ED58-6CB61000BB0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5571E53-1711-7FDC-203A-419E0AF6F03C}"/>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82C61B8E-116B-3DAD-D7AB-0DD367800E76}"/>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4A90E491-D377-C07B-7D42-0BAFD984F3BD}"/>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1DF74FDE-57CA-C5A0-708F-ADFD6C02E7E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767125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2" grpId="0" animBg="1"/>
      <p:bldP spid="13" grpId="0" animBg="1"/>
      <p:bldP spid="14" grpId="0"/>
      <p:bldP spid="15"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A4B6861-FEE9-3C12-C0F9-467AD0AFA5A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696BF6D-4DCD-F366-B757-E2569A59A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29FDB0C5-2E2F-F7E3-AD15-218C632A2F3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4880554-7FBD-0077-AF4D-E216888EA36A}"/>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F08A14C-B05B-CBA0-0E64-567553163F9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456B6A4-D09B-F418-3AFF-EA72533549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BCCAB93-5613-9F76-300A-1365E49754D8}"/>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18BFEC7-EB6F-473D-7C56-D96D079B424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160AE9BD-EEA4-DD5B-B7C3-D71829101825}"/>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E9F7848C-4261-9A9D-43D5-598BB86F6DB8}"/>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7DEF6852-C11C-198F-E118-D0FE58D8757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8A1A792-D8E5-8C30-ED09-CDADB24205E8}"/>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59A09C97-E76A-FFC2-3CBB-15AD521CC312}"/>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596F28D-DE0B-6F9A-C4B7-BF3F788A2A50}"/>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BC2ACA84-978D-5189-7E93-1AAEE41706C0}"/>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1184844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F39A2D-AECE-D1FF-9225-21172983F02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FC0039A-4D59-7B35-AEB3-1BE7B21A1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5013E08-5946-A1C9-1AD9-AA0EFD8B4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36BFFAA-85A5-8640-255D-3FCB8EFD00B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8CE92D-A617-0A3E-6905-4BC9B5DDDFE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D69C2B5-E380-6766-46CD-0AFA1F9A4E82}"/>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967E58-E484-387A-8A71-20957DE9E59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72A438E-8800-0F07-C461-72D6065BCAD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2318448C-AFF9-3816-9579-ED9692133DA9}"/>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D37ED4ED-D51B-E8B6-A7C0-A92673C2B89E}"/>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6AFFB50D-9531-0E2A-AA5F-CA996ADBA61E}"/>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DC9B728-C00D-F632-1A88-2E1634E0D6C2}"/>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07BBEE8-C445-2215-44CA-CAD0FE68B5C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00F2081-71EB-CC13-4A68-AA10819A3A83}"/>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D48C84AD-5CFA-2669-DFC2-DB851DCC126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13574756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1171B5-74FD-1F6C-F8CB-F7AB326224D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C3C831-473A-A416-81A7-D43BA954789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6E9BB99-BD6D-8B50-8696-804BD389B81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A33FB97-7462-1B3E-F292-3128DF73754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E44BF3A-D50B-2F90-3BF8-C12DD1866CF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CE5802D-CA06-5C33-8003-D9A738B188A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F3719975-8131-1A11-BF85-108C6BE04DF7}"/>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18C09C2B-D5A6-1739-0C62-D0BF52BFD71C}"/>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335C06DB-355F-C1AD-3778-3A7EBB620684}"/>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A4AB9E3E-9F67-F049-6E0A-F7B6E45A2603}"/>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A618391B-5E9C-1957-D429-5CE9348B7230}"/>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E24D68-12BE-1A10-5424-584CD3FA92EA}"/>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F4AEAFE3-AC6C-92C0-79CD-2BC1C92F8C6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5C01159E-FE9D-5DD1-3E57-18A7D54A6479}"/>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8E00D0E8-6564-EED9-6319-09CC1C1A0C91}"/>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32069483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B7D99C0-CB1B-1785-1407-FB72F5EE38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A5A7E51-FA8A-FB8E-B9E3-7DE55CAB43B4}"/>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537D1C6-4D9E-A570-4E6D-120EB68525F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E336F7C-7D75-AA6A-5671-BE7531370B53}"/>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34C1480-D217-EF4B-F94D-751F3171508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D54F144-B90E-3B6D-95D1-5297B631CB1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7A001D7-64DC-77CB-63CF-CBC80DEE9863}"/>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51DA49A-5AB7-51FD-4C4E-5AB12DBB1E1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3083B3F-F864-6B06-A46F-15CCD9BE8DA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9AACBB9A-6D13-56FA-E847-A09607D59700}"/>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43CFAB1D-DAF4-DA69-D56D-A604F97A6DCC}"/>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4485A184-A5B0-CE01-09BA-C8875E11FBA4}"/>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D21DE86-ADD4-1D2C-6E87-C8EF06EB4ABC}"/>
              </a:ext>
            </a:extLst>
          </p:cNvPr>
          <p:cNvSpPr/>
          <p:nvPr/>
        </p:nvSpPr>
        <p:spPr>
          <a:xfrm>
            <a:off x="4312289" y="2594021"/>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1367578B-2B64-8DEF-4574-055AAA12EBBA}"/>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30091A6F-4A83-06E8-1F4D-141A11C1C36C}"/>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
        <p:nvSpPr>
          <p:cNvPr id="16" name="TextBox 15">
            <a:extLst>
              <a:ext uri="{FF2B5EF4-FFF2-40B4-BE49-F238E27FC236}">
                <a16:creationId xmlns:a16="http://schemas.microsoft.com/office/drawing/2014/main" id="{D11922E2-1090-1522-15ED-A57A86F7DA86}"/>
              </a:ext>
            </a:extLst>
          </p:cNvPr>
          <p:cNvSpPr txBox="1"/>
          <p:nvPr/>
        </p:nvSpPr>
        <p:spPr>
          <a:xfrm>
            <a:off x="7908786" y="3647798"/>
            <a:ext cx="2423933" cy="461665"/>
          </a:xfrm>
          <a:prstGeom prst="rect">
            <a:avLst/>
          </a:prstGeom>
          <a:noFill/>
        </p:spPr>
        <p:txBody>
          <a:bodyPr wrap="none" rtlCol="0">
            <a:spAutoFit/>
          </a:bodyPr>
          <a:lstStyle/>
          <a:p>
            <a:r>
              <a:rPr lang="en-US" sz="2400" dirty="0"/>
              <a:t>Latency Fairness</a:t>
            </a:r>
          </a:p>
        </p:txBody>
      </p:sp>
      <p:pic>
        <p:nvPicPr>
          <p:cNvPr id="18" name="Graphic 17" descr="Checkbox Checked with solid fill">
            <a:extLst>
              <a:ext uri="{FF2B5EF4-FFF2-40B4-BE49-F238E27FC236}">
                <a16:creationId xmlns:a16="http://schemas.microsoft.com/office/drawing/2014/main" id="{EF90A329-D45D-2524-798B-13AEA9A599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12000" y="3421430"/>
            <a:ext cx="914400" cy="914400"/>
          </a:xfrm>
          <a:prstGeom prst="rect">
            <a:avLst/>
          </a:prstGeom>
        </p:spPr>
      </p:pic>
    </p:spTree>
    <p:extLst>
      <p:ext uri="{BB962C8B-B14F-4D97-AF65-F5344CB8AC3E}">
        <p14:creationId xmlns:p14="http://schemas.microsoft.com/office/powerpoint/2010/main" val="12819156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A0466BB-8427-635D-D0A0-3AEC734214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99BF24-7325-780B-3FFA-567A86DAFCE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3E4C6D3-1C87-69DF-D1B0-5F2FF8D13D5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5BB4678-B69A-A005-5DAA-CD1EF449B13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9106BC-68B9-5921-541D-5BCD669CA71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C4646F4-0798-A111-653B-3CFB103CE855}"/>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11B771D-40FE-C42C-B70D-66A86D98BD0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1ED236C-29F2-42E2-D229-B0264539BFA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Tree>
    <p:extLst>
      <p:ext uri="{BB962C8B-B14F-4D97-AF65-F5344CB8AC3E}">
        <p14:creationId xmlns:p14="http://schemas.microsoft.com/office/powerpoint/2010/main" val="10243466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D6A39A-A047-D56A-FFB3-347F88EE74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896347-C30B-959C-A093-8A98164261F1}"/>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9172D55-6549-DBC4-79FD-B5FF15DAC10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66395A3-369D-07BF-6780-ADE38C8B18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96291E3-F16D-1629-38D2-435DD163857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2F83455-F2A7-CC00-0B50-1AD7BF1D6D4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2D88365-6A6A-936A-5CFB-A6E8CF08F68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485890-24A7-82A5-D9DC-77FC91E013B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A1A2017-41D6-A0D0-764D-FA938874B45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90ED04EB-7ECD-8F98-4FD8-A139976C1DFD}"/>
              </a:ext>
            </a:extLst>
          </p:cNvPr>
          <p:cNvSpPr/>
          <p:nvPr/>
        </p:nvSpPr>
        <p:spPr>
          <a:xfrm>
            <a:off x="3440238"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CDF8CD1A-8962-70FD-ABF8-62AB0F665CFF}"/>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1C75746-6F24-1DA5-1AA5-2EBF87D54AF6}"/>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118047E-7033-4189-2735-DE8E0F2AE889}"/>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3A0129C6-E6E9-602A-036C-CD4033E5DF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4000671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11" grpId="0" animBg="1"/>
      <p:bldP spid="12" grpId="0" animBg="1"/>
      <p:bldP spid="13" grpId="0" animBg="1"/>
      <p:bldP spid="14" grpId="0"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72A58AC-71DA-8209-16B1-13BE25AB679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DBE45E9-0DF2-AFF4-7884-7ABB02F4642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A8634CC-CFEF-DF91-ED03-6861370F813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0C4B15-05D8-A8C9-AE60-CDFB6C9FAB56}"/>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6193D1E-324A-D05E-4294-39FEB1EA284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A2E920E-F612-6DF3-CE12-E604B8F07F2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7F5D352-E61F-5C2B-9236-22713768684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B090F87-5F0B-D56F-CDAD-981FABD556E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04CFFD2-B726-8665-B578-84980A5B41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47C4CD1-0098-7651-F5D3-FFA8079F5E6F}"/>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D76CC8D2-7B93-B40E-EED4-28956C50DE2E}"/>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F349C93-717D-90C6-1604-BA2A186B8B12}"/>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644581EC-6309-DA9B-574A-4C337D889BA4}"/>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43325E1B-1FE8-26A1-38DC-ACAA0B7DAE1E}"/>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2200008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D87F592-7C8D-DF83-575D-EA063FEAB5D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2CBDFDE-3B16-4612-3922-080F7F16EC2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8BB094E8-143C-8582-3603-82281431567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83725F4-FB0F-AA1F-066B-6C5AE255998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3E54E6B-412F-A306-1527-529611892C32}"/>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97613A9-93CA-FE2F-A754-0C7DAE1F144D}"/>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C286FAA-FB80-637E-A111-57FF0EAF54DA}"/>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6442C7F-DF63-66FC-F0A9-FDB6187D5AC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A5DFFA30-8837-14C8-807F-EBC1BE55BD9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61F55E6-CCA8-1938-E68C-DB6A192F9638}"/>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145DF826-6ED1-6450-82EA-973818072520}"/>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5D48220-0A80-3D27-A67A-EB1D5BE5FE4D}"/>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E403801-424D-A55C-C39E-290172B3C303}"/>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DD61AE34-971D-773C-34B2-0F2DCA48BA77}"/>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22288573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4EB6376-3B31-0860-5D4D-91A3AB4ACA5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309F6C5-9C7E-B858-603A-A9032EA52E1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3B89F1A-7BCD-5665-0F9B-596696F9CD6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CD04627-2129-291E-6CC0-6CFE802172F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7752556-0888-8D93-5930-FDED2D241A8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4DC585B-58A8-FD20-94E8-1CE3823DC0C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940236A-BD21-052D-E23F-2B3C960D6C24}"/>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F9B18DB-0B39-0FA2-25D9-920013B889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5BE9C94-ADA4-E7E9-B424-E98E5406CDA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1D19A33-20C2-246E-9CA7-CB369A709174}"/>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94E53D-28AD-F79A-FF48-C7C23D93CA1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BD1FC1D-4171-F57D-F211-D2097AA9B495}"/>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0EF99A0A-ACE8-684C-3AD5-17212C74F271}"/>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BA463A03-FF93-CBD0-FD9D-13E2BA804B7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62441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B8009A7-49D3-E480-64CC-2773069D986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FD698ED-4A3A-0A7E-D8F7-BF02E5A514C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B973978-80F8-4385-C567-CD7D8C2A767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DAE1F54-B2AF-7088-B86A-5A30C6EB42A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23F3226-52C9-EDC3-083A-B1A38408E72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FC3A7A7C-6544-AE8E-E5F5-B6C36FF791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8628248-75D3-EE56-C841-4967200F377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B3E03A5-7C30-86A4-7127-85E1D9D731E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3BF53F1-1A95-0728-4252-30476E083E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B60CD74-04CC-6BEC-7939-E9DEF828743D}"/>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315ED59-904E-0578-8D6E-9F61F094FA76}"/>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080425B2-C1BF-8C66-D84E-C3698C9C2D08}"/>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D9876C19-C00B-F20D-95F5-D20D4F386E6A}"/>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886EFF47-3355-00E1-DD28-6F3DB6187961}"/>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3943264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E3860A9-7D3F-2908-9F33-E79FCE1C8F2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42D02FD-4756-2526-C917-C41BF143DEB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8F46CCD-2184-FCCE-EA68-69A468748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E0ABAE6-F539-06D6-D0EC-9B0D9331C94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75C54B1-19FA-5DE8-17F6-9BC2CE5AD7C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B9D76B4-CC7A-7A38-9DBF-05044703855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747E822-5381-9FCE-D31B-AC0A88F1919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D91241B-8880-EE49-54FE-4B2DD6C32694}"/>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23E8A153-32A7-A648-1A8C-EB3A96510BE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E8D9778-57A0-21FA-1CE3-E73EDB24728E}"/>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21750F-8FFE-415C-A793-F937FC0E713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C9DBB7B-8E58-940A-FE76-F0BE88634082}"/>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BE89FC79-AB17-320A-D6ED-31B2BF5ED911}"/>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951C3EB-0F17-E3C2-C2B3-AD321B01D67C}"/>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5BE41155-5C0C-312A-4D16-165558956FF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68088940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B02366C-483D-4419-3522-95041C8DA69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42B9FA3-7CDB-B329-E7C9-3862F39CA45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3B257BC-D96E-6DDB-4DD1-080B26A8BBA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7A40766-E9BD-F197-0A59-A45A2315B7D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D187010-1F2F-8B99-1881-45CDA845931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423CDF7A-9A4D-8E14-D3E7-031F1ADA54A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2D1FA61C-9F94-E471-5BD4-91C69E0ADB5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6AAD620-B6D8-1CA4-14B1-BD76986BC473}"/>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897D79D6-D3EB-4362-28EF-DD1A57F74ED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B7F211DA-CB9F-9F9D-B8FD-754EC2547611}"/>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B650238F-216B-1B44-8782-DE466A198BE2}"/>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9B84C2EF-BDCF-F77B-40B0-F155A938FEE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2155580A-90D7-0120-211E-9BA7EE3648E6}"/>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D66C280-7562-2C67-D569-B87D5D3E43D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1DAE0DE8-D456-60C0-8E68-EE17FA3B6462}"/>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04953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D31CD0-C604-993A-30DC-33422D2EDF0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5D531B3-C683-94B0-ECCF-EA37F7D9FE9A}"/>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2750AEF-4E38-AE28-A8AD-FACA3FC3BE8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12AB386-294D-E88C-8A3E-73E31BF4278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6FC19D5-0D2F-3043-3D89-B29B1C61E05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87C09B2-5767-339C-BBD8-AF07BF9D608E}"/>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2198ACF-B622-2875-7EC7-B7173B2E3FD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C9F3C71B-D006-1A0E-5FD4-FBBBFAB2FB7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3B31962C-DA0B-2D83-44D3-8914BB887B1D}"/>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5" name="TextBox 14">
            <a:extLst>
              <a:ext uri="{FF2B5EF4-FFF2-40B4-BE49-F238E27FC236}">
                <a16:creationId xmlns:a16="http://schemas.microsoft.com/office/drawing/2014/main" id="{310B6ABF-AF00-8D4D-CE3C-16D73E8E697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3696DD3-0609-7DA6-A9D4-296C1CB8864B}"/>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9" name="Direct Access Storage 18">
            <a:extLst>
              <a:ext uri="{FF2B5EF4-FFF2-40B4-BE49-F238E27FC236}">
                <a16:creationId xmlns:a16="http://schemas.microsoft.com/office/drawing/2014/main" id="{26BE66D2-DDAC-57A5-02D5-6BCB06DED416}"/>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D115882D-5AC5-1CEE-7FE8-FB853DFC24BA}"/>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C16DB99-6E91-7AE4-03E9-F8DA810EC93D}"/>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BED5F533-CF18-906B-8CEF-C55C045C0157}"/>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89875928-DBFE-BB37-A5C3-D0824AC8B9FB}"/>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8074646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AC620E1-079B-EA73-F402-DCE52673F5B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C2866DC-9698-C944-88E2-5DB46EFB5FE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87E6F6F-59E9-4C17-3A1D-0F388275255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FAA233-8CB9-B7BB-9583-CCC3F624B75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5F976B7-64EB-E8A4-6832-3AB4E63AC0D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D4773EB-FE30-91E4-2F6E-45EA511256B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0D47057-A3D7-1CC2-751D-0ED98F2B994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1574C53-B53B-B0CA-D7B3-7B4AAD67E50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030E4A30-3398-6679-D056-ED00151A8F5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2" name="Google Shape;139;p21">
            <a:extLst>
              <a:ext uri="{FF2B5EF4-FFF2-40B4-BE49-F238E27FC236}">
                <a16:creationId xmlns:a16="http://schemas.microsoft.com/office/drawing/2014/main" id="{F67AD413-EC47-5C6F-7416-57E1F0E6408A}"/>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41DFCAF-CBCE-17DE-1F53-2BDF406CA58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DDD8810-7F58-C28A-3A47-43AA21678B1F}"/>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F93DB1D-775F-ECF5-41CA-803435D8FA5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742589E6-E40C-0DAD-34FE-BAE483F391CC}"/>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Direct Access Storage 17">
            <a:extLst>
              <a:ext uri="{FF2B5EF4-FFF2-40B4-BE49-F238E27FC236}">
                <a16:creationId xmlns:a16="http://schemas.microsoft.com/office/drawing/2014/main" id="{7F6678EC-23EC-1F23-9FD2-35207B93090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3BC3E83A-96C8-FFE5-4A1E-E19D8582DE84}"/>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371558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6255CD-015B-B386-ECB0-FEA334C397C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0DF5FE1-587E-F664-E3E7-D7791318187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B6F010E-F97B-CF77-E16D-F3F3CBC7DE7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DBB4AEE-A9EA-0EFD-C7DC-3F4ADCF0547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AB6798F5-182D-6629-EA2C-6FEE88B3C078}"/>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9312636-4121-3E63-F3A5-56894DFB9C8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648B308-9C15-836E-730C-7309D7374B2B}"/>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2979618-8049-28B1-8984-BA7A6233382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ADBFBA-2907-E476-E8AC-F847F02BC690}"/>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199567F6-D333-07B9-A452-1382F2EF9D2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941CA07-C852-FC0A-CFAE-AAFC0587DBD5}"/>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A6D630D-3192-66B1-B4FA-587A5369E1BC}"/>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1203FCB-FDD1-D611-258A-6B07321CF56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9563A24A-CAB0-F917-1863-D9F235235F5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DC8EFE0A-00B0-8847-6BDB-D7B209811EB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B89994B-9593-49C1-DFA9-AC317769BB1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1C46B326-69AF-59ED-2F41-E28FA7968832}"/>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Tree>
    <p:extLst>
      <p:ext uri="{BB962C8B-B14F-4D97-AF65-F5344CB8AC3E}">
        <p14:creationId xmlns:p14="http://schemas.microsoft.com/office/powerpoint/2010/main" val="30686049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BFD8566-BCE7-78CB-8D41-35BCE50742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889B21-B0A7-C6A4-B560-182E15F7040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A10A19E-AF5C-BC07-3AAE-7130CE7300A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F34E8A0-B05C-68A3-A4B5-8CC8E9650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6AE957C-8BEC-3714-73A6-EF4CA8D9C1B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CA701AE-7FE4-5A00-C63C-DA4FE7834F57}"/>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393C0A0-5B89-EAFE-280A-37FBBCAF249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CDAFA31-7CB8-3711-D0F9-FA85F12997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05A398E7-1CB7-41FD-721C-A315EE56CF6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B739BC1-5C41-DEE9-6EC1-98700D12C04B}"/>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6A3A74B-DFA9-8E94-C580-39A375F8F37F}"/>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5C17941E-B28F-F8DB-FCB5-F9A171B663CE}"/>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63E1E5E-92DE-DC39-4B4D-AB84413AB025}"/>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BC616BE-BCB6-8F5B-DCCC-95DDFE75B104}"/>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3C13541B-6EAA-AD00-5389-C8BEDB06D0C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89C7861-5F99-22D6-1536-34F71E273D4E}"/>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2C4C6BC-FE03-043A-280B-6D274196E1B0}"/>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FDC105B-9820-1EE0-8434-FCBC92609F79}"/>
              </a:ext>
            </a:extLst>
          </p:cNvPr>
          <p:cNvSpPr/>
          <p:nvPr/>
        </p:nvSpPr>
        <p:spPr>
          <a:xfrm>
            <a:off x="3412605" y="494451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6768201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BF51A9-35E7-46CD-CC44-3186FAABB65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C81C142-1560-1348-3094-456A372AF0E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EECAA3E-5064-F0F5-515C-96A4802C165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E372C93-BE63-5625-9560-2AC0F5BB2BE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906243FA-F241-0826-158A-7BC8A60DB2A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FEE7150-646D-7DB8-B11D-AF3CA6C7CAC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B5969CB-D916-DAE5-D897-2AF669EDA72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DFAF7D7-7724-5644-7EB8-A6D7BEBFFE7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8EAB89-2670-1EF8-96DB-D6A664850A5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F2001BE0-6323-DC21-C673-9A3233DC433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E535CDD-58FF-28DB-6CBD-5EBCD79E18A6}"/>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161EC40-354F-0E94-AEEA-1ACC37F0C537}"/>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2230877E-7F94-A578-143E-EDAF4E5A123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5883BD2-997D-B761-363E-368367184E2C}"/>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F553F00F-EFB9-3AE2-8FC1-C06637910D0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AE0264B-B8AF-14D4-B22B-6A9773301EC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FF399FB2-1604-4304-E555-16AF713C6447}"/>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C437D42-AE37-6349-BB7F-F875E132DBE9}"/>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0219727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360AD03-A3E5-DE1B-8732-5923C7947C7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1A4E672-9E63-F540-1560-F0092D19E21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8A8E5C7-AD81-F4F2-AE39-0327127A5D6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7CEFE84-136E-7050-5494-7C188A7F967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A26F104-AE2A-FAC8-A401-F5143CB963B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51907DE-B157-82A5-57AE-3B53EC20B9A1}"/>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967F0C5-03D5-75E3-D0A0-3DED2CD5B85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FAB9EF9-7256-4260-62CA-FD7731FEB05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5415A7B0-ED8B-05A1-24D9-F8771E8DA9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26CD21CD-EC7F-8791-97F0-D536E0F5286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AF7A43E4-4AB8-15E9-6EC0-078E1A2A7F90}"/>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94AAC8A6-EE0E-B5EF-1E38-828CC7FFC346}"/>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8D2F7AD-152E-C85F-21E0-FC410DC071D9}"/>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FE261E1-A766-06FB-44DF-B5F7012E8D30}"/>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28B7D40-A0CA-B094-5F03-91821894338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4412D1DD-9729-BA80-FB95-0971EABBE077}"/>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F8B09A3-38CD-DF35-86B1-609435841FD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F8302AB6-A3C5-DD37-91F2-85ADE3370CF1}"/>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156786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A0BA53B-E134-A23E-A5D0-DB554BD6EB0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E9F037D-C8EE-3A7C-6699-1F4613C663F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AD9249-DCCB-EB45-81C4-818310E4DDD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F0ECEDC-7C4C-E2D3-D103-2944F4D3903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0F39FB0-90CD-3887-90F1-C2FFCB8581F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145D4B6-BB09-06C9-7EAA-E939D8C10C2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67164C9-7BA2-D9DD-7191-D174AC6F832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7E9BAC3-4916-85F5-F5B8-3E91FC9DB1E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54A3367-42CB-11AE-95AE-867B187ACD3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9FE8FA5-0477-CDC2-EDC3-68A0957677E2}"/>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B9D1ED5-A9ED-8406-39FF-F88AF5CEFA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7F202192-3020-166F-0D83-BEB616356127}"/>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97BCF16-23FF-5518-6437-425DBEBB0FFC}"/>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CB60523-C593-E7F9-46D3-202138DCE1B2}"/>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583BE954-70F6-46D0-EED9-00080B1D32E9}"/>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6E72B26D-7A4C-382B-8EB8-659B53A3DB83}"/>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D248AD1B-6A27-779E-DE0D-7DDCDC1E75CD}"/>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27920631-F835-B149-A7EC-458CBC9EF636}"/>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26118301-C923-EBAC-E8C1-DEC1D94C8EA3}"/>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Tree>
    <p:extLst>
      <p:ext uri="{BB962C8B-B14F-4D97-AF65-F5344CB8AC3E}">
        <p14:creationId xmlns:p14="http://schemas.microsoft.com/office/powerpoint/2010/main" val="255492790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260E996-DDC6-5220-15D2-8DA81AF33E6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C1E3C0C-213C-01AF-8C11-C08CEA1E51E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DF26BCE-ED48-AED6-0684-AB36306CB1E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41EDECB-CCD2-B262-CDDB-B82BF988D7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B8D4522-A12E-E439-659C-02123BC6F10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6988982-01B0-5E61-41C6-EB3D3E9E71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54F339-F94F-6AD7-8633-C1A19F6513F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6E36A6-C17D-8D21-713B-CC8FA7883D4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F5A40EC-D3B1-41C2-7677-94F4FC48DD6D}"/>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0C3250AD-567C-547B-0BBC-2A5CA39A093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80259DF-2074-B809-5DDF-9C7CE81417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0DF7D7B-02E9-A0EC-A9AB-4B6B825ADC14}"/>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486990B-8E28-ACCE-3B57-F8F18DC6A903}"/>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6FA2761-82FA-D1B8-E3E6-B308B93D561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B5EFAD94-ECD6-98C3-27E5-1EF5058E002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E2D585B-8F69-1548-2CBB-C038C588653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6E565E6D-9B1F-9F23-C837-EC31302A4C9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02D8DF55-9D48-EF27-3F37-91AB2943323F}"/>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6C4F619D-59DF-0108-9BD2-FDA0C6A80EE8}"/>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
        <p:nvSpPr>
          <p:cNvPr id="19" name="Rounded Rectangle 18">
            <a:extLst>
              <a:ext uri="{FF2B5EF4-FFF2-40B4-BE49-F238E27FC236}">
                <a16:creationId xmlns:a16="http://schemas.microsoft.com/office/drawing/2014/main" id="{FC9E0472-6EAF-4A76-12C8-B823F223C6C3}"/>
              </a:ext>
            </a:extLst>
          </p:cNvPr>
          <p:cNvSpPr/>
          <p:nvPr/>
        </p:nvSpPr>
        <p:spPr>
          <a:xfrm>
            <a:off x="268438" y="3802830"/>
            <a:ext cx="4295052" cy="1837904"/>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Correct if clock error negligible compared to the time granularity of interest</a:t>
            </a:r>
          </a:p>
        </p:txBody>
      </p:sp>
    </p:spTree>
    <p:extLst>
      <p:ext uri="{BB962C8B-B14F-4D97-AF65-F5344CB8AC3E}">
        <p14:creationId xmlns:p14="http://schemas.microsoft.com/office/powerpoint/2010/main" val="35319686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4A0DB41-A571-DAA1-B7CC-9911C87A2C5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86A2DA-AE5B-6F8C-3A63-B606B84BADC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568D402-C109-A90E-B051-633E5792789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3068D1C-A3E4-43CC-9FB2-4AE026B1F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3335980-86B2-3E20-18DD-78B827DFF78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591E359-B87F-F123-6774-167ED0991A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D65EF4-02F3-DD04-BCC6-F56B2042BA6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EE4DF499-82D1-B9DC-E827-763EE079C86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5E058FA-C687-F3E8-DBA3-DCB4101D6CCA}"/>
              </a:ext>
            </a:extLst>
          </p:cNvPr>
          <p:cNvSpPr txBox="1"/>
          <p:nvPr/>
        </p:nvSpPr>
        <p:spPr>
          <a:xfrm>
            <a:off x="6452716" y="1874761"/>
            <a:ext cx="5426110"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Performance is not good!</a:t>
            </a:r>
          </a:p>
          <a:p>
            <a:pPr marL="285750" indent="-285750">
              <a:buFont typeface="Arial" panose="020B0604020202020204" pitchFamily="34" charset="0"/>
              <a:buChar char="•"/>
            </a:pPr>
            <a:r>
              <a:rPr lang="en-US" sz="2800" dirty="0"/>
              <a:t>Due to bursty nature of the workload, </a:t>
            </a:r>
            <a:r>
              <a:rPr lang="en-US" sz="2800" dirty="0" err="1"/>
              <a:t>incast</a:t>
            </a:r>
            <a:r>
              <a:rPr lang="en-US" sz="2800" dirty="0"/>
              <a:t> congestion at the exchange/sequencer occurs</a:t>
            </a:r>
          </a:p>
          <a:p>
            <a:pPr marL="285750" indent="-285750">
              <a:buFont typeface="Arial" panose="020B0604020202020204" pitchFamily="34" charset="0"/>
              <a:buChar char="•"/>
            </a:pPr>
            <a:endParaRPr lang="en-US" sz="2800" dirty="0"/>
          </a:p>
        </p:txBody>
      </p:sp>
      <p:sp>
        <p:nvSpPr>
          <p:cNvPr id="11" name="Direct Access Storage 10">
            <a:extLst>
              <a:ext uri="{FF2B5EF4-FFF2-40B4-BE49-F238E27FC236}">
                <a16:creationId xmlns:a16="http://schemas.microsoft.com/office/drawing/2014/main" id="{35D54E57-8094-3890-1671-24068C45D8C5}"/>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16880457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3539519-D53C-FB2B-3390-005E3FE3BFC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6914FE-421B-EFFA-4537-416212C2BCB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B7ECED6D-566D-5705-E1D7-5676D5D426D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649D16A-1064-6A7B-FE13-DDE27A9BA72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5A8345D1-DC72-8B41-92DF-2CBC2F14CD7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A4DA52A-72FF-7845-6EF8-DD187070EE5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6882F1-0504-0915-FF41-340AEFEBC396}"/>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3435850-9F73-E332-1296-967B86DDF31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B7E92A9-A1BA-93E8-EF5B-BA76B795458F}"/>
              </a:ext>
            </a:extLst>
          </p:cNvPr>
          <p:cNvSpPr/>
          <p:nvPr/>
        </p:nvSpPr>
        <p:spPr>
          <a:xfrm>
            <a:off x="3704489" y="2759739"/>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3" name="Google Shape;135;p21">
            <a:extLst>
              <a:ext uri="{FF2B5EF4-FFF2-40B4-BE49-F238E27FC236}">
                <a16:creationId xmlns:a16="http://schemas.microsoft.com/office/drawing/2014/main" id="{995904E0-EA03-908B-49B9-C1CCCB8170B8}"/>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886A739-3BB7-F83B-39F1-FB83C4155FD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C78B48C-AF42-E65F-4DA0-A78056CD4519}"/>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8DDAB416-2245-E9AC-C44E-C4B1D5D66847}"/>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2E181875-9C5B-158A-E6AC-EEA19E5D4B86}"/>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B3A8B114-9527-0A39-2224-FCB914FC8A59}"/>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D2D5424B-B6FA-D269-17CE-35778109C7B9}"/>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818AF79C-C6C3-1D3D-3D10-C1EE58A92A16}"/>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01C3CCC-EB5E-630E-593E-5063FD42C50F}"/>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17EB700-CDD7-8A9B-12F5-1216B41A4176}"/>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D7D74EF2-55FC-64E8-555E-0C3B408CA13C}"/>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DCE758D-8214-88DF-B0B2-034B67966A87}"/>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631225E5-01FE-CD69-2AF1-CAAADD2D238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9A667FE1-883D-EBB0-8F98-8017ADC035F6}"/>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59CD47B-8929-410B-71F5-ABB1C7947304}"/>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D0AFC11-A989-A1D7-015C-78AEEBC40122}"/>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1EF3923-3164-D975-DB9D-BE60D925CDE1}"/>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74DE975-847E-DE94-EE45-8A15EFCBA3F4}"/>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D4F99129-0FD2-51CD-8F27-FDED9E67C453}"/>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1403CEF3-1644-2BF8-3B6E-4DB6DC507B83}"/>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7E65E1B8-4145-9E21-8AC1-21A56A8C4F23}"/>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544914C4-4BC3-C78F-C25A-788474786C0B}"/>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9929FD46-DEB3-AA6E-73C5-F1B854C91091}"/>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BC26F426-7A99-B54E-2C6F-29437F536072}"/>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4ADB9F72-BF88-53B5-F74F-B046F615AF6C}"/>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2EB28D9-6494-579A-8158-EED0D81DE979}"/>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97E45C05-96A8-9C0C-B187-9160F54E0C82}"/>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DD88CE7-F7A0-4E57-5FF8-E34BC20F72A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BA8F277D-86BE-31AD-908A-5F7240C5DB0D}"/>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85404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5405717-5C59-446A-1E08-5BB78501EB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66B860F-5293-25F3-BD7B-9A46B27012C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8C77876-FC7B-E34F-B682-6C79ABCDD4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D6F1D62-51F7-45F6-7D69-3D5C2321E9A1}"/>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19A7D3F-461B-3A59-12DD-402D35F53C07}"/>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31045269-0B80-55F8-EBAD-AA0C4F81282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B98E1B6-CAA8-7715-4902-CC00D45080DF}"/>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9E970D0-5AFC-26B3-D1B7-42146E54CA1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18F1D9C-3116-528E-43F6-E4BF698B8D53}"/>
              </a:ext>
            </a:extLst>
          </p:cNvPr>
          <p:cNvSpPr/>
          <p:nvPr/>
        </p:nvSpPr>
        <p:spPr>
          <a:xfrm>
            <a:off x="4702887" y="273832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5973FA77-151E-5123-6348-20BB04BB42FA}"/>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DA9134F9-DDE7-19C0-9BB8-AFBACD25B541}"/>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A53CB905-BB76-9951-644D-FB86B7729608}"/>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C6D9973-DF31-7649-5776-E0B610396CCB}"/>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ACE6482-94B7-1DD0-9885-065C69BFC3D0}"/>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421705AF-C9BB-729A-4312-2C6008454EA2}"/>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F795BFC7-7A58-1B34-9303-59BFF0CF7A24}"/>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758B11F-AC79-DB06-86A9-573862B2AF5E}"/>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FDD8CD8F-7072-7646-DB55-01391225BBD6}"/>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B8D5BEE-5FFE-92AC-929C-E148E2E07507}"/>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4F03DAE5-E49E-FFA5-8DE1-F78DA9C9A7AE}"/>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F7ECEB1A-BEB7-3B2B-96AF-0F89F44E2DA3}"/>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BB380995-B0D2-E230-2C60-6787566BD768}"/>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3205507-B4DA-E27F-BC41-8D8C78FB711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773550-9FF4-C549-FD37-15D1B2E9E86B}"/>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E6B58235-7848-6AD1-AE7A-49972C13090F}"/>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E70A150-02D1-7CD2-8B39-50C89ADDBFF2}"/>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10D0AABD-22AA-9FF6-1FD0-DBF8FA51BA1A}"/>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7D975D1-8EFB-2391-30D2-68C4B102C8C7}"/>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8FF11AE-E4D6-93A6-8401-179CD00B8852}"/>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C24E00D-3A08-AA2C-4E62-FADEA1184C0C}"/>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0419E3E-E55D-B31D-5341-C094847D127D}"/>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D5F38BC-B1F2-BC95-2D24-9EDAE935618B}"/>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D148CCEE-42E9-EE8E-ED9F-0181F8E7B845}"/>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BBE05125-2D2E-B1ED-07E2-14288A4A61D9}"/>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574DBB-0B9A-8B97-C6AE-E14E8707DE01}"/>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B1A9162B-3039-4394-46AA-4FEF8BADFFE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4650BC2-86CD-9C24-54B1-5414462F7E3D}"/>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E863C9DF-4FC7-D112-E5E9-B6C6FE13A297}"/>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B9BA2B86-EDCF-1F22-010F-D010FD441F2C}"/>
              </a:ext>
            </a:extLst>
          </p:cNvPr>
          <p:cNvSpPr/>
          <p:nvPr/>
        </p:nvSpPr>
        <p:spPr>
          <a:xfrm>
            <a:off x="5181835" y="274030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199604A-6870-640A-2F15-A334C7E67C39}"/>
              </a:ext>
            </a:extLst>
          </p:cNvPr>
          <p:cNvSpPr/>
          <p:nvPr/>
        </p:nvSpPr>
        <p:spPr>
          <a:xfrm>
            <a:off x="4209728" y="303220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67E7F5B-B153-21C7-EBAA-524956FFCB27}"/>
              </a:ext>
            </a:extLst>
          </p:cNvPr>
          <p:cNvSpPr/>
          <p:nvPr/>
        </p:nvSpPr>
        <p:spPr>
          <a:xfrm>
            <a:off x="4712483" y="304717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8384D637-3D11-670D-60B9-850B0A370ECB}"/>
              </a:ext>
            </a:extLst>
          </p:cNvPr>
          <p:cNvSpPr/>
          <p:nvPr/>
        </p:nvSpPr>
        <p:spPr>
          <a:xfrm>
            <a:off x="5208929" y="30565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8E8B5C2A-E6FD-9DD5-6885-2E37DB4FE6B6}"/>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9DC3ED66-E9B8-89AD-8453-9F12EBF1D0C9}"/>
              </a:ext>
            </a:extLst>
          </p:cNvPr>
          <p:cNvSpPr/>
          <p:nvPr/>
        </p:nvSpPr>
        <p:spPr>
          <a:xfrm>
            <a:off x="4209728" y="2745126"/>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987F5CDE-FEE9-2DEB-2051-B348D712B73B}"/>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41673414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3E6DC54-9BF0-14D7-3FE5-0ED9A6DCDC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D2A39FE-0600-94F4-A773-B906EB8EC76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055933-D6F2-C2DC-1D67-4943F53C496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95A8E3A-F68F-A212-5A0A-428790194ED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E60F022-63AB-7F13-77C8-BD51FA4E1DB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17D063-66BD-22CA-B3F8-45745B0040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81874DD-3FF0-F6AE-3879-665CC29586AC}"/>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7D8E018-877E-5FC4-B809-586F1ED148E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C01CCF9-94D0-C5FC-1948-2C93A1763BCC}"/>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4EC96579-C188-C88A-24FF-E1FD54F69577}"/>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78A957D4-0A6F-33BE-A08E-F5E401A7986C}"/>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07B0DE07-FAB8-B229-A289-D348074C5B6F}"/>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CA10364E-B11B-B2D7-10CE-3C2E760559E1}"/>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EB5DFE8-CA1D-48D2-4EE8-FA5B0316D0EA}"/>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F34E0483-F1D3-EA2C-764D-6DB7A7D38A9A}"/>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CFD75010-21F5-A629-27FF-CCDB18EE3C67}"/>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99AB2CB-B2C1-6E20-C116-C5058D35CF05}"/>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1E5E1EE-7D3C-EFAF-AA2C-8F23EADD171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0E545789-4055-6A1B-6A79-F400C67EB98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11CBAE5B-8058-0ACB-7B67-EF1DAC08CD96}"/>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745F4FB7-A452-385A-FB97-991D9988D032}"/>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82DA5C86-5134-1FFA-820D-A69D37B04FC2}"/>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EF2624-ECDC-93C4-066C-9D387CB7E20F}"/>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1B9FAEB8-C4D6-067E-45D9-F8E0B9EF9815}"/>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437C48-6DB2-8777-E9B2-A685AC83D796}"/>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AEC97CE8-25B6-C648-EF78-69D595859B28}"/>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C60F944-EFE9-BD7B-F3ED-FDB54748EBE6}"/>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9C0CFE5-84D6-9D66-5997-30A78D7D3B96}"/>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F96F6473-5BFC-A210-CB9D-67B9F039CA76}"/>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55378C76-99C8-62AB-4B98-F3DB75200EF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C5D585BB-183B-00E6-6E49-75CBD38A5536}"/>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10FB598-FBDD-A8BB-8788-5E5771DF3639}"/>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18A5FA94-9998-0FDD-C610-072FDFE13270}"/>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9D561322-2F9E-89A9-D992-04E93F5FDBBE}"/>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E4083D69-71E1-95E6-D99A-016364A28382}"/>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F0854C64-ED48-9C51-6B9C-11ECE2EED6BC}"/>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B5977CB-F17E-46C2-E8E7-7A835582B9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4641364C-5489-75E7-31C2-25260BD63FA9}"/>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0F41AB25-6780-A0A0-33FA-29772E596AD8}"/>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1CA04759-995A-E588-B697-379C22EF1CA4}"/>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7851C21-164F-1E28-8E94-5B709C5F904D}"/>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5B323378-BAE1-ED71-C549-76F7091EE5BC}"/>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4F62B37-4757-7356-943A-0B7D2BEF6C49}"/>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749554A-7A47-56C5-2770-4486BD260E31}"/>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278A08AE-BEF1-D0BB-A550-5DF07D6F23FD}"/>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169381572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B93F628-85FE-D75A-12D8-0A00E4829F1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3EEB37-9E42-8E80-92EF-DF3A2B27426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1A0958A-B1D2-C1A3-8A01-73916FB4DBE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83CA9E1-2C6A-5F64-6A99-41CFCC6E610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CFD7384-5CC1-AA9C-D593-5AA7BA45312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E71C461-5AB7-E8A1-AB9E-1FCABBC7C12F}"/>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A171942B-2468-53EB-EABB-6168FE55497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B898753-2608-3A1A-8170-BA8BD8DC7BD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75283C0-FE24-E71F-AA10-974F47320FFE}"/>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182825B9-A4FD-6212-0F5F-CF82DF5D31EC}"/>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5E7C85C3-3590-A754-EA51-0BAD04B8BA6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DC77BB63-0660-D27C-8E93-DA91694EABA2}"/>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BBF1E6B3-406E-66AC-ADCA-FDA752484B3C}"/>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8A0F04FE-1C94-7464-8E19-9E237B820159}"/>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7FC8A6B7-2329-5A04-BE56-DDAFAFCD1837}"/>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221B78D9-3C25-55FD-4E0C-4031658FF458}"/>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DFA58AC-3D7F-8DF5-5A4A-BF7C24403A7B}"/>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B977F00-476F-A4EE-9DD9-303FCD33F80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E6CE6BA8-1A7F-86F7-0918-36369CE1B07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6D4A1A66-BA1A-5372-1E6B-05226FF45527}"/>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223E7771-D8B6-DA2D-7417-AA2FA8D1D6F6}"/>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50DDC0E-142B-D35C-7CB6-8B348FC5384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CD2B94F2-5DBF-D237-8415-34AFBDDA2D2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209991AD-B59F-7F96-C017-16CFB4EF1A0A}"/>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EA7639-B32B-E490-A3B8-A49AA7F5E4D0}"/>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F69FAABB-EAC2-DDAC-10BF-E9EA6B172FB9}"/>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C404F908-52D7-542A-6C0B-EC90005DACC2}"/>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7CCFDA4-D2C3-91A5-8A46-0006086BD095}"/>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AD51AF0-05A7-FBAF-CF55-F77054D5FFEF}"/>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8C9D5F43-FD35-7C66-A378-50AA4D51246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498D75C8-7006-9D20-B516-9FD0E8BE9901}"/>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FE4F0A3-738A-66A3-279D-E18C4F0B27F4}"/>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016B02E-4599-DC74-CFEF-9C0B7306219F}"/>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B42EDC-2103-1058-59E3-C4E361450BBD}"/>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39D2CCC7-C93F-4F26-A259-524577EFEFED}"/>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D98E60DA-8FA3-B3DC-0E7D-1C19964E1CD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73BC774-A092-1161-1BE0-75CD6C59DA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98746FB-8933-70AC-6226-AF9FAF77FEA9}"/>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B00E49F-225C-6F12-0591-318A60C066A0}"/>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09A4C543-8705-D037-2573-9F3E11D8A0F1}"/>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C614B85-B967-6F00-0DAD-660BAE2139F9}"/>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EAD5B72-6361-246A-448E-88DCEEBF0C68}"/>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F66E56F8-5C09-3627-3C85-81C5ED8D414D}"/>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TextBox 45">
            <a:extLst>
              <a:ext uri="{FF2B5EF4-FFF2-40B4-BE49-F238E27FC236}">
                <a16:creationId xmlns:a16="http://schemas.microsoft.com/office/drawing/2014/main" id="{7A018A3C-6F7A-401B-9DC6-1AB4297739FD}"/>
              </a:ext>
            </a:extLst>
          </p:cNvPr>
          <p:cNvSpPr txBox="1"/>
          <p:nvPr/>
        </p:nvSpPr>
        <p:spPr>
          <a:xfrm>
            <a:off x="7264958" y="1356967"/>
            <a:ext cx="4391130" cy="5262979"/>
          </a:xfrm>
          <a:prstGeom prst="rect">
            <a:avLst/>
          </a:prstGeom>
          <a:noFill/>
        </p:spPr>
        <p:txBody>
          <a:bodyPr wrap="square" rtlCol="0">
            <a:spAutoFit/>
          </a:bodyPr>
          <a:lstStyle/>
          <a:p>
            <a:pPr marL="285750" indent="-285750">
              <a:buFont typeface="Arial" panose="020B0604020202020204" pitchFamily="34" charset="0"/>
              <a:buChar char="•"/>
            </a:pPr>
            <a:r>
              <a:rPr lang="en-US" sz="2800" dirty="0"/>
              <a:t>Achieves same effect as the synchronous network</a:t>
            </a:r>
          </a:p>
          <a:p>
            <a:pPr marL="285750" indent="-285750">
              <a:buFont typeface="Arial" panose="020B0604020202020204" pitchFamily="34" charset="0"/>
              <a:buChar char="•"/>
            </a:pPr>
            <a:r>
              <a:rPr lang="en-US" sz="2800" dirty="0"/>
              <a:t>Queues form at the intermediate nodes during bursty activity</a:t>
            </a:r>
          </a:p>
          <a:p>
            <a:pPr marL="742950" lvl="1" indent="-285750">
              <a:buFont typeface="Arial" panose="020B0604020202020204" pitchFamily="34" charset="0"/>
              <a:buChar char="•"/>
            </a:pPr>
            <a:r>
              <a:rPr lang="en-US" sz="2800" dirty="0"/>
              <a:t>Opportunity to service the queues smartly</a:t>
            </a:r>
          </a:p>
          <a:p>
            <a:pPr marL="742950" lvl="1" indent="-285750">
              <a:buFont typeface="Arial" panose="020B0604020202020204" pitchFamily="34" charset="0"/>
              <a:buChar char="•"/>
            </a:pPr>
            <a:r>
              <a:rPr lang="en-US" sz="2800" dirty="0"/>
              <a:t>Developed a priority queue to service queues that maintains fairness under some strict assumptions</a:t>
            </a:r>
          </a:p>
        </p:txBody>
      </p:sp>
    </p:spTree>
    <p:extLst>
      <p:ext uri="{BB962C8B-B14F-4D97-AF65-F5344CB8AC3E}">
        <p14:creationId xmlns:p14="http://schemas.microsoft.com/office/powerpoint/2010/main" val="373434150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uiExpand="1" build="p"/>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265A8F5-437B-3DA7-F0AF-9A59E6BCD2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1321A3-DB96-6A18-D256-BE41A1ECFDF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740CE66-C90A-704E-14F2-A755CF12F2F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46A39FF-5DBB-903A-BD98-93E88A6EC159}"/>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D32D00B-A097-465D-E8D1-C089E74D90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4DF973A-D4F8-798F-4387-1371CB31E7A6}"/>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86A6B74-A993-EDBD-AD78-6040F2714773}"/>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5ACFBB8F-C4FD-32E5-FEE4-F61E3E9422B6}"/>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90A5E4-7ED0-D071-3C1F-B1EE526337F4}"/>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CD46A8A8-F9F9-C63D-275C-8AB3129C4512}"/>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AE6C8985-EB97-98E3-EFE4-2B67BEB6356C}"/>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8D59301D-68C4-B1AA-F9FA-7DD767E9CE6B}"/>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18C3C03-2CBE-D2BE-0B78-9E45E1508001}"/>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76112FB0-BAC0-AA4C-FDEA-46B7903F97A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E98A94CB-B297-5A32-DC9E-31784D8E1A24}"/>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1CCEBC2A-D63A-BBC6-1765-13B913EF5EE3}"/>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9B861EF-98E2-68E4-ABED-B7E25739E3E8}"/>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B4491334-F87A-9904-9153-7C2F06493599}"/>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EDAFFAD-AB8C-1A22-0B26-35661B036438}"/>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AB3A30DD-C912-3735-B0E2-3052E6171FC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18146F5D-8740-F25E-7AF3-C35231E8D68B}"/>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CE771D63-3A59-4F81-D333-86CAC6B7E5F6}"/>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4E316A53-4EEF-9DD2-399A-BA86DDC2F9E6}"/>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3441E7-B220-A6EB-0EE9-35EF9E933947}"/>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D20FEDF-2CFE-AD5D-93B3-D26EE8A492BF}"/>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0581A2C9-824A-19E6-D380-070A1D139EF8}"/>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F045D7ED-215A-D018-E2FD-1CEC9761276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BB60582-554C-4BD5-C948-92AAB7AEC817}"/>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CB0620C5-6E32-A6B1-69E0-C6FFADECE9B6}"/>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323EDAE-9819-0786-7211-A0ED64246861}"/>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715A6B2-8808-33A5-6827-C798099F369D}"/>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83DA90C-F40A-9CD7-0671-443886BDF186}"/>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574B3098-A1ED-9A80-702B-A390724277EE}"/>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7D0C5659-DC62-D93D-C783-EFD2BB322D5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7331BB6-BAE9-2F79-E9B8-415A705E49FB}"/>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4BF66BE3-2FD5-5601-D250-C0BD6FC966B1}"/>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8A5629E9-0474-54CF-32DE-470F2CFA14A6}"/>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32EC026-32AC-4545-6EA1-EC92952495B2}"/>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B4EB033F-BCED-D48E-F51E-2D1A77FCA351}"/>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47EEC851-9E45-E267-CC53-7BC4BBF2AAE7}"/>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C66301DC-FB3E-0922-11CC-A0D569BDF00E}"/>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AA36979-0C16-2DD5-38BF-B20B0C8A9557}"/>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B3F8F385-75DF-8C12-5573-1E02702AD529}"/>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DD5C2C01-73C2-5C56-6D7C-451EFFC32330}"/>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132148159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6FCFFF1-1923-F60E-2707-2633691247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99BE44-584A-751C-9104-2AA8E90CE16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0897206-9727-D303-5E74-1555F73DBDF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307C8F3-CDEF-7815-8243-04ABE8051B7D}"/>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1CD18CAC-CA21-C21B-5929-C9146CEDF9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59C84B-CC45-36A8-5F72-A1C581104A2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FC4C562-2ABD-3433-780E-CF43873C6019}"/>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985863A-F7B8-F978-DBA0-5380CD92B61E}"/>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FC4A23-BB6E-6B03-8275-D546ECDFD8F8}"/>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7B7363A-7B5E-7751-C405-255B7A0ACC3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C2C80B60-7FA9-7941-0AFA-EDF9CFBF7451}"/>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2A49F291-722E-F8C7-8942-6F06349FA886}"/>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2B7BEABE-DDA3-7E8A-668D-23E5760BBF1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5DA56D1-0325-8274-EE82-D8A314D38BB7}"/>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551FB8C3-A4E0-4490-B5DB-8A5E18E52593}"/>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C962A4F-189D-950A-0614-F3B68FF1DFE2}"/>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C6FC15D-BF04-F4F9-2C03-9484B5A655ED}"/>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C5B556FA-F5EE-A2CE-4638-47AA65EB83F5}"/>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630EFFA8-CEDE-31B4-BDFE-F8520F3D8504}"/>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0EBB3218-E60A-7FFE-9F85-BB47B0FA5778}"/>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49BCD907-004D-2EE2-5559-E8326BAC2B56}"/>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030880F5-27D7-21E3-69C9-8B3851BA60C1}"/>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2999CF-E5B2-950D-E4BA-75F6BCFF2FE5}"/>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577C6394-916F-9297-2B23-FDA356FDA402}"/>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AE0B477-A015-29D7-9AEB-48A4DFBB88B2}"/>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D1B99AE3-F1AC-4926-D06C-79E2DEC4DC47}"/>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1EC0E91-CB17-1CDA-34AC-06A142566FA3}"/>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7CFEA26-2B35-682B-E7D4-36ACB545D016}"/>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72930E7-1196-AACE-A370-40079A1025A1}"/>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A111476F-2393-69E3-9FB5-66B606B5345C}"/>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32A5EB60-3905-51F1-0DD6-0053607A4346}"/>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57471F1-7BDA-04B1-BE83-ECA55B873A31}"/>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9E3CCF3-4EA3-B646-3115-24E410DF6027}"/>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EFEE3BE-56AF-85BA-9D42-3CEA393E7A1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7FC6BBED-85F2-89DD-D600-EBECB9D5ECB3}"/>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04F48B31-8CC0-D72C-75C4-633122D41AB8}"/>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A493006A-8193-1DA6-C7D8-E3B67DE30D27}"/>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7532EDD2-AA4E-38FF-941F-22F1FA8C885E}"/>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7B55BB0-0771-86B6-ED56-1EE13809AA1B}"/>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F289DF0-2E18-093B-9B88-B029B821E2F1}"/>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45CF5BCC-C563-6EA3-B4EA-4EEBFAF83AF9}"/>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A67C9F7-D761-9800-0333-A5E8193582E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D6956E4-047E-E7D3-59A9-C57688D27076}"/>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7EC59B29-3A63-4273-140C-A84476B1FFF5}"/>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E2A403F4-F974-6F27-A911-F90D375473A8}"/>
              </a:ext>
            </a:extLst>
          </p:cNvPr>
          <p:cNvSpPr/>
          <p:nvPr/>
        </p:nvSpPr>
        <p:spPr>
          <a:xfrm>
            <a:off x="4979953"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3F6EC890-7A27-FEA7-7411-D3C28A37DD53}"/>
              </a:ext>
            </a:extLst>
          </p:cNvPr>
          <p:cNvSpPr/>
          <p:nvPr/>
        </p:nvSpPr>
        <p:spPr>
          <a:xfrm>
            <a:off x="5175561"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5BDB936-0410-2A36-7B29-AC1FE42EFE73}"/>
              </a:ext>
            </a:extLst>
          </p:cNvPr>
          <p:cNvSpPr/>
          <p:nvPr/>
        </p:nvSpPr>
        <p:spPr>
          <a:xfrm>
            <a:off x="5385065" y="2078287"/>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9D083B07-91F2-937C-19B3-27AFF227F3D6}"/>
              </a:ext>
            </a:extLst>
          </p:cNvPr>
          <p:cNvSpPr/>
          <p:nvPr/>
        </p:nvSpPr>
        <p:spPr>
          <a:xfrm>
            <a:off x="4979953" y="183952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57B17BB-8EEB-DE6C-D6BE-E892E6A5D8A5}"/>
              </a:ext>
            </a:extLst>
          </p:cNvPr>
          <p:cNvSpPr/>
          <p:nvPr/>
        </p:nvSpPr>
        <p:spPr>
          <a:xfrm>
            <a:off x="5175561" y="1830098"/>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829BB3AA-46F4-13AE-AA80-CCBBE979EFBB}"/>
              </a:ext>
            </a:extLst>
          </p:cNvPr>
          <p:cNvSpPr/>
          <p:nvPr/>
        </p:nvSpPr>
        <p:spPr>
          <a:xfrm>
            <a:off x="5385065" y="183062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81507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2944A2A-56AE-4BAE-39A2-086ADC25E04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DAFEF3-DBC9-3278-CDAC-D77CA4F507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A9E0FAA-F0DD-64ED-617D-8DF3E58F1A0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89372AA-1552-C76F-EEFB-B1F2A31E34C5}"/>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E20BF38E-2EC4-1E95-43FE-CA51250EC119}"/>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C8C7089-0EE6-8350-F70B-94349974FF7C}"/>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1DC20785-0842-C80A-7B14-A2849074B03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E3BD738-4E85-F251-4789-0823EC2135BB}"/>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5BA8D7D-1E2C-FC70-CF20-2E69ADC98C17}"/>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1DCE6F8-32EE-FFB5-840D-98EADD9D4C7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FFB8DF1E-5B31-2D5E-FAF2-650D31B6DE5F}"/>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14E37E93-C6FB-B50E-CCF9-AC83AB57BEB0}"/>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FC52C3D1-86CE-E581-A72B-A5AEB7A7FE6E}"/>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C7429870-4765-9502-5E0D-3E04E62B3A7E}"/>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2F52A766-F828-C5D7-479A-C2D76E836801}"/>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0DAAFF3B-D4DA-E44F-27FF-26B021C9B91D}"/>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30288DA-8142-4111-C28B-F076A72985E7}"/>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80132B10-C5C4-E800-27A7-76C4976E222B}"/>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7A072D9B-76AE-70F9-CCEE-361894D8511A}"/>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B0BC1730-AAC3-8630-9BBC-D5DCF62EFD9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94756202-AE2A-3B73-1AFD-EEB6F3CDD4DD}"/>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703BA435-5F4A-56E4-3E38-543180D05985}"/>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DB387FF-A75E-BE29-7211-3BF12CFAA7CC}"/>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6353A504-2826-2E85-C0BD-DD1A70E53100}"/>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0B786A3-79B6-65FE-6E15-47590117CA58}"/>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661E5BB8-AC02-D6CF-52D8-38678CA7F783}"/>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2BA1932-3F8C-714A-490B-D7AF8ED9F40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FA9EEBD-A7A9-4A7F-1663-42ADC8273590}"/>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FE89A3E-F9F4-FAA6-A4CA-33FE8D20E40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4FCA8B40-154B-3F6D-3F92-93AA5E46F3F9}"/>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8F9A6B8-73BD-B4FB-B873-83250191558C}"/>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240D28EA-4669-0FAA-F023-C27ADD50038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3B21DB9-D771-5840-6D94-5855EDD73801}"/>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C2484F6-F7FA-F4FC-D0FC-E5294F9A12DA}"/>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DDEF3FCA-47B9-886E-AE44-B8F6E599F198}"/>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5C0248A4-912F-F2FB-9050-CE81B327CEF0}"/>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24EA1377-FEE8-E271-E7C2-5009DA65E303}"/>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137E5D08-B132-90F9-E07D-9198494CB17B}"/>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480F962-B3FA-01DE-9D4D-4F47E6CF80D3}"/>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A18F25B6-36EF-EA54-579B-3328A6BCCF5A}"/>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3FE46590-0EF6-059E-051D-FAB43E6D9BD4}"/>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A159DADF-6F71-AE7B-C8C4-5426E30CECBD}"/>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09852D9-E62B-0AA5-D07C-13FCD3C34AAA}"/>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33468E7B-9DFC-E2AE-D58D-506B3275793C}"/>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8E307AEC-8CB5-1EEB-74EE-94AE382E9D7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4FDE2BFF-F9D2-5197-4083-CC31D43E7C87}"/>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4BD9228C-516B-72D0-EF80-A9876ADCE4D3}"/>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3B39BAF-09A2-4790-6579-FB27D5496912}"/>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6A88238-4327-784C-0440-B37C743E7EE9}"/>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BDF28FCF-D15D-21F4-B059-F5630D618AA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6ED9524B-E657-1D1C-FE79-1682CEDE3E51}"/>
              </a:ext>
            </a:extLst>
          </p:cNvPr>
          <p:cNvSpPr txBox="1"/>
          <p:nvPr/>
        </p:nvSpPr>
        <p:spPr>
          <a:xfrm>
            <a:off x="5184949" y="2592475"/>
            <a:ext cx="6189498" cy="3416320"/>
          </a:xfrm>
          <a:prstGeom prst="rect">
            <a:avLst/>
          </a:prstGeom>
          <a:noFill/>
        </p:spPr>
        <p:txBody>
          <a:bodyPr wrap="square" rtlCol="0">
            <a:spAutoFit/>
          </a:bodyPr>
          <a:lstStyle/>
          <a:p>
            <a:pPr marL="342900" indent="-342900">
              <a:buFont typeface="+mj-lt"/>
              <a:buAutoNum type="arabicPeriod"/>
            </a:pPr>
            <a:r>
              <a:rPr lang="en-US" sz="2400" dirty="0"/>
              <a:t>Identifies orders that will wait in the Limit Order Book at the exchange upon reaching the exchange</a:t>
            </a:r>
          </a:p>
          <a:p>
            <a:pPr marL="342900" indent="-342900">
              <a:buFont typeface="+mj-lt"/>
              <a:buAutoNum type="arabicPeriod"/>
            </a:pPr>
            <a:r>
              <a:rPr lang="en-US" sz="2400" dirty="0"/>
              <a:t>De-prioritizes such “non-critical” orders while scheduling</a:t>
            </a:r>
          </a:p>
          <a:p>
            <a:pPr marL="342900" indent="-342900">
              <a:buFont typeface="+mj-lt"/>
              <a:buAutoNum type="arabicPeriod"/>
            </a:pPr>
            <a:r>
              <a:rPr lang="en-US" sz="2400" dirty="0"/>
              <a:t>Critical orders get priority</a:t>
            </a:r>
          </a:p>
          <a:p>
            <a:pPr marL="342900" indent="-342900">
              <a:buFont typeface="+mj-lt"/>
              <a:buAutoNum type="arabicPeriod"/>
            </a:pPr>
            <a:r>
              <a:rPr lang="en-US" sz="2400" dirty="0"/>
              <a:t>Frees up resources of the exchange server i.e., the exchange receives orders that need to be executed right away</a:t>
            </a:r>
          </a:p>
        </p:txBody>
      </p:sp>
    </p:spTree>
    <p:extLst>
      <p:ext uri="{BB962C8B-B14F-4D97-AF65-F5344CB8AC3E}">
        <p14:creationId xmlns:p14="http://schemas.microsoft.com/office/powerpoint/2010/main" val="34741584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4A5F148-D0A6-15D5-A489-963623259B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EBE781-3C26-1574-A63F-8A6A64E6810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F34834B-3A4B-FE91-9F85-AA8E80309E2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E2E8505-EBBF-D473-72FB-DE190C7F33F1}"/>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244DDC-39F7-06B7-3141-A798EA1A6991}"/>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86B5490-F759-7673-70F3-001EA43D7AC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B5161A9-4220-A611-E481-47904A7708D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E48316F-6BED-A89D-0E8C-07E31B741BF2}"/>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129E09E7-97D4-06AE-F981-DEF4B679365F}"/>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3BC1FDD4-7D58-2D17-71CB-BEE39F4143A3}"/>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7A803C6-DBFE-8E7E-1A7C-4F6BE47158D2}"/>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7D37213-1D04-CE61-EDA2-885515F80099}"/>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97E783B1-7C98-0E27-0368-F4869F72715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F7ACCC8B-6D04-8367-CEAA-499413EC4C0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1B9D8DB8-0E10-0588-9F23-375B5132295D}"/>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2C52689-5743-8044-3D3D-D08B288CDC51}"/>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0E3167E-A431-33D5-363E-78E5D7C1A9BC}"/>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73E9FF0-E01A-70FF-AA2A-1EFFAB256517}"/>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2F50501-A574-9C7C-3DFE-3B933DE86F82}"/>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3BF35501-FFBE-710E-1854-86403DC4AEE0}"/>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516BC01-9786-16EC-D1B5-CD109F5A864E}"/>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DFEBD95-C1DD-DB1E-A5C3-A24058A2A568}"/>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50BCC6C-361A-8AB3-D2BE-36F6C7FA33D9}"/>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4B291E09-D4CB-E7A9-448B-C258A118CA89}"/>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4469C9D1-D4E8-98F8-0B0D-DA4B8B9E57A5}"/>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5A4F556-D00F-214E-F436-D692561659AC}"/>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3A925799-69D4-AF13-5085-3952D347A4C5}"/>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873E5D93-A755-41AD-8F70-4DC8747C23EF}"/>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3C123FD2-B9FD-A5A9-68B6-38347365A6E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B5D976D2-44D6-26E3-CC2B-F3F477AF891A}"/>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E2952B3-78AC-E6E1-4B03-04B59D25F115}"/>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32B1F0D-8B7A-6AC1-1556-B54EF7F67F5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2FAABA71-6558-D0ED-5439-2F097137595C}"/>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24E453-3331-2CAF-FC4B-FE59B65FF253}"/>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C1554F-6A66-C565-68B3-67305FCADF9D}"/>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8CB34D38-79B2-9F68-87D0-5CA42062A664}"/>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4F6E17C1-024D-87D3-58AB-024AC6A9D9F9}"/>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DA53E3F2-3202-8B5E-E7D8-77D18DD48BC3}"/>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0B2F83AF-C0A9-DC67-7888-DAF590B4DE0E}"/>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00AE2D3-9206-2360-93CA-7717F3E79A22}"/>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4B2B4B6-478E-46E8-53C8-3009CCFFBAC7}"/>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EECD05FC-671C-28FD-D070-3AA3D94D29B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E611B69-DCC3-FB35-53B7-1DBA9E6BEE2B}"/>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C64ADC30-27D4-2CE4-F7B7-E6974D03401B}"/>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05A6A13C-E3D2-46BE-1310-B766DAEC681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042C7257-5C40-6907-6551-370102E602AF}"/>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26D627E-8F16-2D66-94DD-34C83416F45C}"/>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635C932-E436-47E8-DD09-0234C2A1B2C0}"/>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C645F66B-B80A-C3E7-E354-F868388F8A9A}"/>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CFD5395F-4D6C-49AD-70AE-A5F228EEFC9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BAA49797-A3EC-638C-C352-4B962805FD06}"/>
              </a:ext>
            </a:extLst>
          </p:cNvPr>
          <p:cNvSpPr txBox="1"/>
          <p:nvPr/>
        </p:nvSpPr>
        <p:spPr>
          <a:xfrm>
            <a:off x="5184949" y="2592475"/>
            <a:ext cx="6189498" cy="2308324"/>
          </a:xfrm>
          <a:prstGeom prst="rect">
            <a:avLst/>
          </a:prstGeom>
          <a:noFill/>
        </p:spPr>
        <p:txBody>
          <a:bodyPr wrap="square" rtlCol="0">
            <a:spAutoFit/>
          </a:bodyPr>
          <a:lstStyle/>
          <a:p>
            <a:pPr marL="342900" indent="-342900">
              <a:buFont typeface="+mj-lt"/>
              <a:buAutoNum type="arabicPeriod"/>
            </a:pPr>
            <a:r>
              <a:rPr lang="en-US" sz="2400" dirty="0"/>
              <a:t>LOQ identifies how the exchange processes orders </a:t>
            </a:r>
            <a:r>
              <a:rPr lang="en-US" sz="2400" dirty="0">
                <a:sym typeface="Wingdings" pitchFamily="2" charset="2"/>
              </a:rPr>
              <a:t> how the exchange reorders the sequence of received orders before executing them</a:t>
            </a:r>
          </a:p>
          <a:p>
            <a:pPr marL="342900" indent="-342900">
              <a:buFont typeface="+mj-lt"/>
              <a:buAutoNum type="arabicPeriod"/>
            </a:pPr>
            <a:r>
              <a:rPr lang="en-US" sz="2400" dirty="0"/>
              <a:t>Offloads some of that reordering to the intermediate nodes</a:t>
            </a:r>
          </a:p>
        </p:txBody>
      </p:sp>
    </p:spTree>
    <p:extLst>
      <p:ext uri="{BB962C8B-B14F-4D97-AF65-F5344CB8AC3E}">
        <p14:creationId xmlns:p14="http://schemas.microsoft.com/office/powerpoint/2010/main" val="26535794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8B02A4-8D97-6B45-7120-0A5E8BBFBDA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6F91E35-E154-26BC-6F2E-1BC0197990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00371011-A501-BDEA-FD60-DAE8654B13F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2" name="Oval 51">
            <a:extLst>
              <a:ext uri="{FF2B5EF4-FFF2-40B4-BE49-F238E27FC236}">
                <a16:creationId xmlns:a16="http://schemas.microsoft.com/office/drawing/2014/main" id="{B19E1590-2A2A-96D8-C998-9820D91D9379}"/>
              </a:ext>
            </a:extLst>
          </p:cNvPr>
          <p:cNvSpPr/>
          <p:nvPr/>
        </p:nvSpPr>
        <p:spPr>
          <a:xfrm>
            <a:off x="4036207"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$5</a:t>
            </a:r>
          </a:p>
        </p:txBody>
      </p:sp>
      <p:sp>
        <p:nvSpPr>
          <p:cNvPr id="53" name="Oval 52">
            <a:extLst>
              <a:ext uri="{FF2B5EF4-FFF2-40B4-BE49-F238E27FC236}">
                <a16:creationId xmlns:a16="http://schemas.microsoft.com/office/drawing/2014/main" id="{A468BF91-F262-041D-5E06-EC6CD6E33051}"/>
              </a:ext>
            </a:extLst>
          </p:cNvPr>
          <p:cNvSpPr/>
          <p:nvPr/>
        </p:nvSpPr>
        <p:spPr>
          <a:xfrm>
            <a:off x="1443065" y="324331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$1</a:t>
            </a:r>
          </a:p>
        </p:txBody>
      </p:sp>
      <p:sp>
        <p:nvSpPr>
          <p:cNvPr id="54" name="Oval 53">
            <a:extLst>
              <a:ext uri="{FF2B5EF4-FFF2-40B4-BE49-F238E27FC236}">
                <a16:creationId xmlns:a16="http://schemas.microsoft.com/office/drawing/2014/main" id="{1187F72A-5810-8850-F7A1-18282A03BA12}"/>
              </a:ext>
            </a:extLst>
          </p:cNvPr>
          <p:cNvSpPr/>
          <p:nvPr/>
        </p:nvSpPr>
        <p:spPr>
          <a:xfrm>
            <a:off x="2739635"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$4</a:t>
            </a:r>
          </a:p>
        </p:txBody>
      </p:sp>
      <p:sp>
        <p:nvSpPr>
          <p:cNvPr id="55" name="Oval 54">
            <a:extLst>
              <a:ext uri="{FF2B5EF4-FFF2-40B4-BE49-F238E27FC236}">
                <a16:creationId xmlns:a16="http://schemas.microsoft.com/office/drawing/2014/main" id="{1892A2D9-F031-D938-B194-E7B0B330CB8D}"/>
              </a:ext>
            </a:extLst>
          </p:cNvPr>
          <p:cNvSpPr/>
          <p:nvPr/>
        </p:nvSpPr>
        <p:spPr>
          <a:xfrm>
            <a:off x="5293570" y="324331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$2</a:t>
            </a:r>
          </a:p>
        </p:txBody>
      </p:sp>
      <p:sp>
        <p:nvSpPr>
          <p:cNvPr id="56" name="Down Arrow 55">
            <a:extLst>
              <a:ext uri="{FF2B5EF4-FFF2-40B4-BE49-F238E27FC236}">
                <a16:creationId xmlns:a16="http://schemas.microsoft.com/office/drawing/2014/main" id="{6B1424D7-20E0-2CE1-E91A-AA51448FCBB6}"/>
              </a:ext>
            </a:extLst>
          </p:cNvPr>
          <p:cNvSpPr/>
          <p:nvPr/>
        </p:nvSpPr>
        <p:spPr>
          <a:xfrm>
            <a:off x="6121886" y="341693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7" name="Down Arrow 56">
            <a:extLst>
              <a:ext uri="{FF2B5EF4-FFF2-40B4-BE49-F238E27FC236}">
                <a16:creationId xmlns:a16="http://schemas.microsoft.com/office/drawing/2014/main" id="{562481FE-101A-C450-39A3-499E6601310A}"/>
              </a:ext>
            </a:extLst>
          </p:cNvPr>
          <p:cNvSpPr/>
          <p:nvPr/>
        </p:nvSpPr>
        <p:spPr>
          <a:xfrm>
            <a:off x="2203553" y="341693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8" name="Down Arrow 57">
            <a:extLst>
              <a:ext uri="{FF2B5EF4-FFF2-40B4-BE49-F238E27FC236}">
                <a16:creationId xmlns:a16="http://schemas.microsoft.com/office/drawing/2014/main" id="{C04DC55F-40E0-EFBF-8FF8-20B2CF7B084E}"/>
              </a:ext>
            </a:extLst>
          </p:cNvPr>
          <p:cNvSpPr/>
          <p:nvPr/>
        </p:nvSpPr>
        <p:spPr>
          <a:xfrm>
            <a:off x="2201813" y="385583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9" name="Down Arrow 58">
            <a:extLst>
              <a:ext uri="{FF2B5EF4-FFF2-40B4-BE49-F238E27FC236}">
                <a16:creationId xmlns:a16="http://schemas.microsoft.com/office/drawing/2014/main" id="{59A3492A-7644-AAF6-E914-49F810B61312}"/>
              </a:ext>
            </a:extLst>
          </p:cNvPr>
          <p:cNvSpPr/>
          <p:nvPr/>
        </p:nvSpPr>
        <p:spPr>
          <a:xfrm rot="10800000">
            <a:off x="3580722" y="352089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0" name="Down Arrow 59">
            <a:extLst>
              <a:ext uri="{FF2B5EF4-FFF2-40B4-BE49-F238E27FC236}">
                <a16:creationId xmlns:a16="http://schemas.microsoft.com/office/drawing/2014/main" id="{D872814D-A44F-47C4-5EEC-28B3F498E8D7}"/>
              </a:ext>
            </a:extLst>
          </p:cNvPr>
          <p:cNvSpPr/>
          <p:nvPr/>
        </p:nvSpPr>
        <p:spPr>
          <a:xfrm rot="10800000">
            <a:off x="4823777" y="371354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1" name="Down Arrow 60">
            <a:extLst>
              <a:ext uri="{FF2B5EF4-FFF2-40B4-BE49-F238E27FC236}">
                <a16:creationId xmlns:a16="http://schemas.microsoft.com/office/drawing/2014/main" id="{EF8A0F85-100E-3F1C-05CD-0203A24C06BF}"/>
              </a:ext>
            </a:extLst>
          </p:cNvPr>
          <p:cNvSpPr/>
          <p:nvPr/>
        </p:nvSpPr>
        <p:spPr>
          <a:xfrm rot="10800000">
            <a:off x="4823775" y="324331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pic>
        <p:nvPicPr>
          <p:cNvPr id="62" name="Picture 61">
            <a:extLst>
              <a:ext uri="{FF2B5EF4-FFF2-40B4-BE49-F238E27FC236}">
                <a16:creationId xmlns:a16="http://schemas.microsoft.com/office/drawing/2014/main" id="{B3D0E223-8C6C-83A1-7DEE-6CEA1C8414AF}"/>
              </a:ext>
            </a:extLst>
          </p:cNvPr>
          <p:cNvPicPr>
            <a:picLocks noChangeAspect="1"/>
          </p:cNvPicPr>
          <p:nvPr/>
        </p:nvPicPr>
        <p:blipFill>
          <a:blip r:embed="rId3"/>
          <a:stretch>
            <a:fillRect/>
          </a:stretch>
        </p:blipFill>
        <p:spPr>
          <a:xfrm>
            <a:off x="7342948" y="2190409"/>
            <a:ext cx="4218835" cy="3130959"/>
          </a:xfrm>
          <a:prstGeom prst="rect">
            <a:avLst/>
          </a:prstGeom>
        </p:spPr>
      </p:pic>
      <p:sp>
        <p:nvSpPr>
          <p:cNvPr id="63" name="Google Shape;408;p35">
            <a:extLst>
              <a:ext uri="{FF2B5EF4-FFF2-40B4-BE49-F238E27FC236}">
                <a16:creationId xmlns:a16="http://schemas.microsoft.com/office/drawing/2014/main" id="{7F67FEE8-D159-EE20-3CC6-82546B84129B}"/>
              </a:ext>
            </a:extLst>
          </p:cNvPr>
          <p:cNvSpPr/>
          <p:nvPr/>
        </p:nvSpPr>
        <p:spPr>
          <a:xfrm>
            <a:off x="1993850" y="5492637"/>
            <a:ext cx="7938400" cy="985200"/>
          </a:xfrm>
          <a:prstGeom prst="roundRect">
            <a:avLst>
              <a:gd name="adj" fmla="val 16667"/>
            </a:avLst>
          </a:prstGeom>
          <a:solidFill>
            <a:srgbClr val="FF0000"/>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algn="ctr">
              <a:defRPr/>
            </a:pPr>
            <a:r>
              <a:rPr lang="en-US" sz="2400" dirty="0">
                <a:solidFill>
                  <a:prstClr val="white"/>
                </a:solidFill>
              </a:rPr>
              <a:t>Naively doing such prioritization will not preserve fairness. </a:t>
            </a:r>
          </a:p>
        </p:txBody>
      </p:sp>
    </p:spTree>
    <p:extLst>
      <p:ext uri="{BB962C8B-B14F-4D97-AF65-F5344CB8AC3E}">
        <p14:creationId xmlns:p14="http://schemas.microsoft.com/office/powerpoint/2010/main" val="4288037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anim calcmode="lin" valueType="num">
                                      <p:cBhvr additive="base">
                                        <p:cTn id="11" dur="500" fill="hold"/>
                                        <p:tgtEl>
                                          <p:spTgt spid="55"/>
                                        </p:tgtEl>
                                        <p:attrNameLst>
                                          <p:attrName>ppt_x</p:attrName>
                                        </p:attrNameLst>
                                      </p:cBhvr>
                                      <p:tavLst>
                                        <p:tav tm="0">
                                          <p:val>
                                            <p:strVal val="#ppt_x"/>
                                          </p:val>
                                        </p:tav>
                                        <p:tav tm="100000">
                                          <p:val>
                                            <p:strVal val="#ppt_x"/>
                                          </p:val>
                                        </p:tav>
                                      </p:tavLst>
                                    </p:anim>
                                    <p:anim calcmode="lin" valueType="num">
                                      <p:cBhvr additive="base">
                                        <p:cTn id="12" dur="500" fill="hold"/>
                                        <p:tgtEl>
                                          <p:spTgt spid="55"/>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2"/>
                                        </p:tgtEl>
                                        <p:attrNameLst>
                                          <p:attrName>style.visibility</p:attrName>
                                        </p:attrNameLst>
                                      </p:cBhvr>
                                      <p:to>
                                        <p:strVal val="visible"/>
                                      </p:to>
                                    </p:set>
                                    <p:anim calcmode="lin" valueType="num">
                                      <p:cBhvr additive="base">
                                        <p:cTn id="15" dur="500" fill="hold"/>
                                        <p:tgtEl>
                                          <p:spTgt spid="52"/>
                                        </p:tgtEl>
                                        <p:attrNameLst>
                                          <p:attrName>ppt_x</p:attrName>
                                        </p:attrNameLst>
                                      </p:cBhvr>
                                      <p:tavLst>
                                        <p:tav tm="0">
                                          <p:val>
                                            <p:strVal val="#ppt_x"/>
                                          </p:val>
                                        </p:tav>
                                        <p:tav tm="100000">
                                          <p:val>
                                            <p:strVal val="#ppt_x"/>
                                          </p:val>
                                        </p:tav>
                                      </p:tavLst>
                                    </p:anim>
                                    <p:anim calcmode="lin" valueType="num">
                                      <p:cBhvr additive="base">
                                        <p:cTn id="16" dur="500" fill="hold"/>
                                        <p:tgtEl>
                                          <p:spTgt spid="52"/>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54"/>
                                        </p:tgtEl>
                                        <p:attrNameLst>
                                          <p:attrName>style.visibility</p:attrName>
                                        </p:attrNameLst>
                                      </p:cBhvr>
                                      <p:to>
                                        <p:strVal val="visible"/>
                                      </p:to>
                                    </p:set>
                                    <p:anim calcmode="lin" valueType="num">
                                      <p:cBhvr additive="base">
                                        <p:cTn id="19" dur="500" fill="hold"/>
                                        <p:tgtEl>
                                          <p:spTgt spid="54"/>
                                        </p:tgtEl>
                                        <p:attrNameLst>
                                          <p:attrName>ppt_x</p:attrName>
                                        </p:attrNameLst>
                                      </p:cBhvr>
                                      <p:tavLst>
                                        <p:tav tm="0">
                                          <p:val>
                                            <p:strVal val="#ppt_x"/>
                                          </p:val>
                                        </p:tav>
                                        <p:tav tm="100000">
                                          <p:val>
                                            <p:strVal val="#ppt_x"/>
                                          </p:val>
                                        </p:tav>
                                      </p:tavLst>
                                    </p:anim>
                                    <p:anim calcmode="lin" valueType="num">
                                      <p:cBhvr additive="base">
                                        <p:cTn id="20" dur="500" fill="hold"/>
                                        <p:tgtEl>
                                          <p:spTgt spid="5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anim calcmode="lin" valueType="num">
                                      <p:cBhvr additive="base">
                                        <p:cTn id="23" dur="500" fill="hold"/>
                                        <p:tgtEl>
                                          <p:spTgt spid="53"/>
                                        </p:tgtEl>
                                        <p:attrNameLst>
                                          <p:attrName>ppt_x</p:attrName>
                                        </p:attrNameLst>
                                      </p:cBhvr>
                                      <p:tavLst>
                                        <p:tav tm="0">
                                          <p:val>
                                            <p:strVal val="#ppt_x"/>
                                          </p:val>
                                        </p:tav>
                                        <p:tav tm="100000">
                                          <p:val>
                                            <p:strVal val="#ppt_x"/>
                                          </p:val>
                                        </p:tav>
                                      </p:tavLst>
                                    </p:anim>
                                    <p:anim calcmode="lin" valueType="num">
                                      <p:cBhvr additive="base">
                                        <p:cTn id="24" dur="500" fill="hold"/>
                                        <p:tgtEl>
                                          <p:spTgt spid="53"/>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Lst>
  </p:timing>
</p:sld>
</file>

<file path=ppt/slides/slide100.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61C5A68F-599D-5ECA-5D94-24102C3BD7DC}"/>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69C98737-C59E-3AAF-97FB-71FACD1323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52EA76A5-18F9-430A-E999-975FAB4476AA}"/>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3" name="TextBox 2">
            <a:extLst>
              <a:ext uri="{FF2B5EF4-FFF2-40B4-BE49-F238E27FC236}">
                <a16:creationId xmlns:a16="http://schemas.microsoft.com/office/drawing/2014/main" id="{7BA3D48D-D2CA-496F-1EBD-02A6D033A419}"/>
              </a:ext>
            </a:extLst>
          </p:cNvPr>
          <p:cNvSpPr txBox="1"/>
          <p:nvPr/>
        </p:nvSpPr>
        <p:spPr>
          <a:xfrm>
            <a:off x="2850078" y="3059668"/>
            <a:ext cx="918841" cy="369332"/>
          </a:xfrm>
          <a:prstGeom prst="rect">
            <a:avLst/>
          </a:prstGeom>
          <a:noFill/>
        </p:spPr>
        <p:txBody>
          <a:bodyPr wrap="none" rtlCol="0">
            <a:spAutoFit/>
          </a:bodyPr>
          <a:lstStyle/>
          <a:p>
            <a:r>
              <a:rPr lang="en-US" dirty="0">
                <a:solidFill>
                  <a:srgbClr val="7030A0"/>
                </a:solidFill>
              </a:rPr>
              <a:t>Update</a:t>
            </a:r>
          </a:p>
        </p:txBody>
      </p:sp>
      <p:sp>
        <p:nvSpPr>
          <p:cNvPr id="4" name="TextBox 3">
            <a:extLst>
              <a:ext uri="{FF2B5EF4-FFF2-40B4-BE49-F238E27FC236}">
                <a16:creationId xmlns:a16="http://schemas.microsoft.com/office/drawing/2014/main" id="{65E4F87A-32A4-B199-FFE0-C4ED560C88A6}"/>
              </a:ext>
            </a:extLst>
          </p:cNvPr>
          <p:cNvSpPr txBox="1"/>
          <p:nvPr/>
        </p:nvSpPr>
        <p:spPr>
          <a:xfrm>
            <a:off x="700866" y="3082820"/>
            <a:ext cx="1097416" cy="461665"/>
          </a:xfrm>
          <a:prstGeom prst="rect">
            <a:avLst/>
          </a:prstGeom>
          <a:noFill/>
        </p:spPr>
        <p:txBody>
          <a:bodyPr wrap="none" rtlCol="0">
            <a:spAutoFit/>
          </a:bodyPr>
          <a:lstStyle/>
          <a:p>
            <a:r>
              <a:rPr lang="en-US" sz="2400" dirty="0">
                <a:solidFill>
                  <a:srgbClr val="7030A0"/>
                </a:solidFill>
              </a:rPr>
              <a:t>Market</a:t>
            </a:r>
          </a:p>
        </p:txBody>
      </p:sp>
      <p:sp>
        <p:nvSpPr>
          <p:cNvPr id="5" name="TextBox 4">
            <a:extLst>
              <a:ext uri="{FF2B5EF4-FFF2-40B4-BE49-F238E27FC236}">
                <a16:creationId xmlns:a16="http://schemas.microsoft.com/office/drawing/2014/main" id="{25293979-BDFF-180F-04E1-916E916DED9A}"/>
              </a:ext>
            </a:extLst>
          </p:cNvPr>
          <p:cNvSpPr txBox="1"/>
          <p:nvPr/>
        </p:nvSpPr>
        <p:spPr>
          <a:xfrm>
            <a:off x="783771" y="4736918"/>
            <a:ext cx="746486" cy="461665"/>
          </a:xfrm>
          <a:prstGeom prst="rect">
            <a:avLst/>
          </a:prstGeom>
          <a:noFill/>
        </p:spPr>
        <p:txBody>
          <a:bodyPr wrap="none" rtlCol="0">
            <a:spAutoFit/>
          </a:bodyPr>
          <a:lstStyle/>
          <a:p>
            <a:r>
              <a:rPr lang="en-US" sz="2400" dirty="0">
                <a:solidFill>
                  <a:schemeClr val="accent6"/>
                </a:solidFill>
              </a:rPr>
              <a:t>MPs</a:t>
            </a:r>
          </a:p>
        </p:txBody>
      </p:sp>
      <p:cxnSp>
        <p:nvCxnSpPr>
          <p:cNvPr id="7" name="Straight Arrow Connector 6">
            <a:extLst>
              <a:ext uri="{FF2B5EF4-FFF2-40B4-BE49-F238E27FC236}">
                <a16:creationId xmlns:a16="http://schemas.microsoft.com/office/drawing/2014/main" id="{160FA4AC-A9C0-7AAD-E2A3-30CFF87A397F}"/>
              </a:ext>
            </a:extLst>
          </p:cNvPr>
          <p:cNvCxnSpPr>
            <a:cxnSpLocks/>
          </p:cNvCxnSpPr>
          <p:nvPr/>
        </p:nvCxnSpPr>
        <p:spPr>
          <a:xfrm>
            <a:off x="2101932" y="5628904"/>
            <a:ext cx="7101445" cy="0"/>
          </a:xfrm>
          <a:prstGeom prst="straightConnector1">
            <a:avLst/>
          </a:prstGeom>
          <a:ln w="76200">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2A6A0F9E-39CA-F892-CEB8-F0E13C175337}"/>
              </a:ext>
            </a:extLst>
          </p:cNvPr>
          <p:cNvSpPr txBox="1"/>
          <p:nvPr/>
        </p:nvSpPr>
        <p:spPr>
          <a:xfrm>
            <a:off x="4983881" y="5750325"/>
            <a:ext cx="668773" cy="369332"/>
          </a:xfrm>
          <a:prstGeom prst="rect">
            <a:avLst/>
          </a:prstGeom>
          <a:noFill/>
        </p:spPr>
        <p:txBody>
          <a:bodyPr wrap="none" rtlCol="0">
            <a:spAutoFit/>
          </a:bodyPr>
          <a:lstStyle/>
          <a:p>
            <a:r>
              <a:rPr lang="en-US" dirty="0"/>
              <a:t>Time</a:t>
            </a:r>
          </a:p>
        </p:txBody>
      </p:sp>
      <p:sp>
        <p:nvSpPr>
          <p:cNvPr id="11" name="TextBox 10">
            <a:extLst>
              <a:ext uri="{FF2B5EF4-FFF2-40B4-BE49-F238E27FC236}">
                <a16:creationId xmlns:a16="http://schemas.microsoft.com/office/drawing/2014/main" id="{92886439-965C-0B0C-19AD-FE9D9DC1F442}"/>
              </a:ext>
            </a:extLst>
          </p:cNvPr>
          <p:cNvSpPr txBox="1"/>
          <p:nvPr/>
        </p:nvSpPr>
        <p:spPr>
          <a:xfrm>
            <a:off x="5400526" y="3045953"/>
            <a:ext cx="918841" cy="369332"/>
          </a:xfrm>
          <a:prstGeom prst="rect">
            <a:avLst/>
          </a:prstGeom>
          <a:noFill/>
        </p:spPr>
        <p:txBody>
          <a:bodyPr wrap="none" rtlCol="0">
            <a:spAutoFit/>
          </a:bodyPr>
          <a:lstStyle/>
          <a:p>
            <a:r>
              <a:rPr lang="en-US" dirty="0">
                <a:solidFill>
                  <a:srgbClr val="7030A0"/>
                </a:solidFill>
              </a:rPr>
              <a:t>Update</a:t>
            </a:r>
          </a:p>
        </p:txBody>
      </p:sp>
      <p:sp>
        <p:nvSpPr>
          <p:cNvPr id="12" name="TextBox 11">
            <a:extLst>
              <a:ext uri="{FF2B5EF4-FFF2-40B4-BE49-F238E27FC236}">
                <a16:creationId xmlns:a16="http://schemas.microsoft.com/office/drawing/2014/main" id="{361BF379-BFA2-D2FF-6845-230A96D024BA}"/>
              </a:ext>
            </a:extLst>
          </p:cNvPr>
          <p:cNvSpPr txBox="1"/>
          <p:nvPr/>
        </p:nvSpPr>
        <p:spPr>
          <a:xfrm>
            <a:off x="8147195" y="3059668"/>
            <a:ext cx="918841" cy="369332"/>
          </a:xfrm>
          <a:prstGeom prst="rect">
            <a:avLst/>
          </a:prstGeom>
          <a:noFill/>
        </p:spPr>
        <p:txBody>
          <a:bodyPr wrap="none" rtlCol="0">
            <a:spAutoFit/>
          </a:bodyPr>
          <a:lstStyle/>
          <a:p>
            <a:r>
              <a:rPr lang="en-US" dirty="0">
                <a:solidFill>
                  <a:srgbClr val="7030A0"/>
                </a:solidFill>
              </a:rPr>
              <a:t>Update</a:t>
            </a:r>
          </a:p>
        </p:txBody>
      </p:sp>
      <p:cxnSp>
        <p:nvCxnSpPr>
          <p:cNvPr id="14" name="Straight Arrow Connector 13">
            <a:extLst>
              <a:ext uri="{FF2B5EF4-FFF2-40B4-BE49-F238E27FC236}">
                <a16:creationId xmlns:a16="http://schemas.microsoft.com/office/drawing/2014/main" id="{ADD273E6-35F8-EE88-363B-23BC33E8DAD9}"/>
              </a:ext>
            </a:extLst>
          </p:cNvPr>
          <p:cNvCxnSpPr>
            <a:cxnSpLocks/>
          </p:cNvCxnSpPr>
          <p:nvPr/>
        </p:nvCxnSpPr>
        <p:spPr>
          <a:xfrm>
            <a:off x="3633849" y="3521333"/>
            <a:ext cx="498764" cy="1329588"/>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7DC898A6-2659-6885-DDDB-4EC5ECFE84F0}"/>
              </a:ext>
            </a:extLst>
          </p:cNvPr>
          <p:cNvSpPr txBox="1"/>
          <p:nvPr/>
        </p:nvSpPr>
        <p:spPr>
          <a:xfrm>
            <a:off x="4132613" y="4905564"/>
            <a:ext cx="865365" cy="369332"/>
          </a:xfrm>
          <a:prstGeom prst="rect">
            <a:avLst/>
          </a:prstGeom>
          <a:noFill/>
        </p:spPr>
        <p:txBody>
          <a:bodyPr wrap="none" rtlCol="0">
            <a:spAutoFit/>
          </a:bodyPr>
          <a:lstStyle/>
          <a:p>
            <a:r>
              <a:rPr lang="en-US" dirty="0">
                <a:solidFill>
                  <a:schemeClr val="accent6"/>
                </a:solidFill>
              </a:rPr>
              <a:t>Orders</a:t>
            </a:r>
          </a:p>
        </p:txBody>
      </p:sp>
      <p:sp>
        <p:nvSpPr>
          <p:cNvPr id="17" name="TextBox 16">
            <a:extLst>
              <a:ext uri="{FF2B5EF4-FFF2-40B4-BE49-F238E27FC236}">
                <a16:creationId xmlns:a16="http://schemas.microsoft.com/office/drawing/2014/main" id="{8754E8DD-1BFF-C77F-B242-67D30E39C2A6}"/>
              </a:ext>
            </a:extLst>
          </p:cNvPr>
          <p:cNvSpPr txBox="1"/>
          <p:nvPr/>
        </p:nvSpPr>
        <p:spPr>
          <a:xfrm>
            <a:off x="6761341" y="4807798"/>
            <a:ext cx="865365" cy="369332"/>
          </a:xfrm>
          <a:prstGeom prst="rect">
            <a:avLst/>
          </a:prstGeom>
          <a:noFill/>
        </p:spPr>
        <p:txBody>
          <a:bodyPr wrap="none" rtlCol="0">
            <a:spAutoFit/>
          </a:bodyPr>
          <a:lstStyle/>
          <a:p>
            <a:r>
              <a:rPr lang="en-US" dirty="0">
                <a:solidFill>
                  <a:schemeClr val="accent6"/>
                </a:solidFill>
              </a:rPr>
              <a:t>Orders</a:t>
            </a:r>
          </a:p>
        </p:txBody>
      </p:sp>
      <p:cxnSp>
        <p:nvCxnSpPr>
          <p:cNvPr id="18" name="Straight Arrow Connector 17">
            <a:extLst>
              <a:ext uri="{FF2B5EF4-FFF2-40B4-BE49-F238E27FC236}">
                <a16:creationId xmlns:a16="http://schemas.microsoft.com/office/drawing/2014/main" id="{01480154-B5A7-AB3E-F363-6A502E4EC71A}"/>
              </a:ext>
            </a:extLst>
          </p:cNvPr>
          <p:cNvCxnSpPr>
            <a:cxnSpLocks/>
          </p:cNvCxnSpPr>
          <p:nvPr/>
        </p:nvCxnSpPr>
        <p:spPr>
          <a:xfrm flipV="1">
            <a:off x="4997978" y="3550490"/>
            <a:ext cx="432682" cy="1257308"/>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355881F7-F540-C796-5F60-6B3DA8748201}"/>
              </a:ext>
            </a:extLst>
          </p:cNvPr>
          <p:cNvCxnSpPr>
            <a:cxnSpLocks/>
          </p:cNvCxnSpPr>
          <p:nvPr/>
        </p:nvCxnSpPr>
        <p:spPr>
          <a:xfrm flipV="1">
            <a:off x="7528956" y="3465444"/>
            <a:ext cx="618239" cy="1270828"/>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D8504693-DE91-803D-8812-7579F00BE4CD}"/>
              </a:ext>
            </a:extLst>
          </p:cNvPr>
          <p:cNvCxnSpPr>
            <a:cxnSpLocks/>
          </p:cNvCxnSpPr>
          <p:nvPr/>
        </p:nvCxnSpPr>
        <p:spPr>
          <a:xfrm>
            <a:off x="6493134" y="3465444"/>
            <a:ext cx="327337" cy="1272920"/>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DA6443F1-829A-5C54-8DBD-23EEC03FA871}"/>
              </a:ext>
            </a:extLst>
          </p:cNvPr>
          <p:cNvSpPr txBox="1"/>
          <p:nvPr/>
        </p:nvSpPr>
        <p:spPr>
          <a:xfrm>
            <a:off x="3633849" y="1336871"/>
            <a:ext cx="2339487" cy="523220"/>
          </a:xfrm>
          <a:prstGeom prst="rect">
            <a:avLst/>
          </a:prstGeom>
          <a:noFill/>
        </p:spPr>
        <p:txBody>
          <a:bodyPr wrap="none" rtlCol="0">
            <a:spAutoFit/>
          </a:bodyPr>
          <a:lstStyle/>
          <a:p>
            <a:r>
              <a:rPr lang="en-US" sz="2800" dirty="0"/>
              <a:t>Trading Model</a:t>
            </a:r>
          </a:p>
        </p:txBody>
      </p:sp>
    </p:spTree>
    <p:extLst>
      <p:ext uri="{BB962C8B-B14F-4D97-AF65-F5344CB8AC3E}">
        <p14:creationId xmlns:p14="http://schemas.microsoft.com/office/powerpoint/2010/main" val="272078462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7"/>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P spid="11" grpId="0"/>
      <p:bldP spid="12" grpId="0"/>
      <p:bldP spid="16" grpId="0"/>
      <p:bldP spid="17" grpId="0"/>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5BFF3C-473C-9076-A18D-957AB1A864F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0BD8CB-2BC6-C9ED-2E66-BCBD8FFA4B3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D29D3625-A110-0F9F-E97D-4F4D81E96C5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AF3FB8B4-5EA9-2F4A-303B-45C0BBDE3DB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6" name="TextBox 5">
            <a:extLst>
              <a:ext uri="{FF2B5EF4-FFF2-40B4-BE49-F238E27FC236}">
                <a16:creationId xmlns:a16="http://schemas.microsoft.com/office/drawing/2014/main" id="{6C1827CD-5C20-B7C9-0FE4-19AB34F1B2F3}"/>
              </a:ext>
            </a:extLst>
          </p:cNvPr>
          <p:cNvSpPr txBox="1"/>
          <p:nvPr/>
        </p:nvSpPr>
        <p:spPr>
          <a:xfrm>
            <a:off x="2602523" y="4511496"/>
            <a:ext cx="6049107" cy="461665"/>
          </a:xfrm>
          <a:prstGeom prst="rect">
            <a:avLst/>
          </a:prstGeom>
          <a:noFill/>
        </p:spPr>
        <p:txBody>
          <a:bodyPr wrap="square" rtlCol="0">
            <a:spAutoFit/>
          </a:bodyPr>
          <a:lstStyle/>
          <a:p>
            <a:pPr marL="285750" indent="-285750">
              <a:buFont typeface="Arial" panose="020B0604020202020204" pitchFamily="34" charset="0"/>
              <a:buChar char="•"/>
            </a:pPr>
            <a:r>
              <a:rPr lang="en-US" sz="2400" dirty="0"/>
              <a:t>Separates rounds of trading</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C390E1-3534-72A0-1835-D4C246EB5D86}"/>
                  </a:ext>
                </a:extLst>
              </p:cNvPr>
              <p:cNvSpPr txBox="1"/>
              <p:nvPr/>
            </p:nvSpPr>
            <p:spPr>
              <a:xfrm>
                <a:off x="2971991" y="3185435"/>
                <a:ext cx="4015522" cy="61555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7" name="TextBox 6">
                <a:extLst>
                  <a:ext uri="{FF2B5EF4-FFF2-40B4-BE49-F238E27FC236}">
                    <a16:creationId xmlns:a16="http://schemas.microsoft.com/office/drawing/2014/main" id="{FAC390E1-3534-72A0-1835-D4C246EB5D86}"/>
                  </a:ext>
                </a:extLst>
              </p:cNvPr>
              <p:cNvSpPr txBox="1">
                <a:spLocks noRot="1" noChangeAspect="1" noMove="1" noResize="1" noEditPoints="1" noAdjustHandles="1" noChangeArrowheads="1" noChangeShapeType="1" noTextEdit="1"/>
              </p:cNvSpPr>
              <p:nvPr/>
            </p:nvSpPr>
            <p:spPr>
              <a:xfrm>
                <a:off x="2971991" y="3185435"/>
                <a:ext cx="4015522" cy="615553"/>
              </a:xfrm>
              <a:prstGeom prst="rect">
                <a:avLst/>
              </a:prstGeom>
              <a:blipFill>
                <a:blip r:embed="rId3"/>
                <a:stretch>
                  <a:fillRect l="-2208" t="-10204" r="-2208"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FF08F5D7-199C-64D2-67DC-C322E45DBCA6}"/>
              </a:ext>
            </a:extLst>
          </p:cNvPr>
          <p:cNvSpPr/>
          <p:nvPr/>
        </p:nvSpPr>
        <p:spPr>
          <a:xfrm>
            <a:off x="4405397" y="2880101"/>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69C1B7AB-68FA-9AED-9A12-D8490CCAA419}"/>
              </a:ext>
            </a:extLst>
          </p:cNvPr>
          <p:cNvSpPr txBox="1"/>
          <p:nvPr/>
        </p:nvSpPr>
        <p:spPr>
          <a:xfrm>
            <a:off x="6987513" y="2006295"/>
            <a:ext cx="4654909" cy="2677656"/>
          </a:xfrm>
          <a:prstGeom prst="rect">
            <a:avLst/>
          </a:prstGeom>
          <a:noFill/>
        </p:spPr>
        <p:txBody>
          <a:bodyPr wrap="square" rtlCol="0">
            <a:spAutoFit/>
          </a:bodyPr>
          <a:lstStyle/>
          <a:p>
            <a:pPr marL="285750" indent="-285750">
              <a:buFont typeface="Arial" panose="020B0604020202020204" pitchFamily="34" charset="0"/>
              <a:buChar char="•"/>
            </a:pPr>
            <a:r>
              <a:rPr lang="en-US" sz="2400" dirty="0"/>
              <a:t>Every time mid price changes, mid-price ID is incremented</a:t>
            </a:r>
            <a:br>
              <a:rPr lang="en-US" sz="2400" dirty="0"/>
            </a:br>
            <a:endParaRPr lang="en-US" sz="2400" dirty="0"/>
          </a:p>
          <a:p>
            <a:pPr marL="285750" indent="-285750">
              <a:buFont typeface="Arial" panose="020B0604020202020204" pitchFamily="34" charset="0"/>
              <a:buChar char="•"/>
            </a:pPr>
            <a:r>
              <a:rPr lang="en-US" sz="2400" dirty="0"/>
              <a:t>All MPs learn about it simultaneously (using outbound fairness mechanisms)</a:t>
            </a:r>
          </a:p>
        </p:txBody>
      </p:sp>
    </p:spTree>
    <p:extLst>
      <p:ext uri="{BB962C8B-B14F-4D97-AF65-F5344CB8AC3E}">
        <p14:creationId xmlns:p14="http://schemas.microsoft.com/office/powerpoint/2010/main" val="116200411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9318F66-40A1-EBCD-5EB3-A426F1B55BA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70E6722-32A5-A5D5-24F1-61EAF1FBD0B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0B9D91A-53CB-B570-7DFC-E6965DCA163F}"/>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7" name="Oval 6">
            <a:extLst>
              <a:ext uri="{FF2B5EF4-FFF2-40B4-BE49-F238E27FC236}">
                <a16:creationId xmlns:a16="http://schemas.microsoft.com/office/drawing/2014/main" id="{5A187B39-4A54-01FC-437D-8596BFA3138F}"/>
              </a:ext>
            </a:extLst>
          </p:cNvPr>
          <p:cNvSpPr/>
          <p:nvPr/>
        </p:nvSpPr>
        <p:spPr>
          <a:xfrm>
            <a:off x="4732854" y="2912654"/>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EDC13810-AE74-06A8-8C4E-0E1A71BCCF2D}"/>
              </a:ext>
            </a:extLst>
          </p:cNvPr>
          <p:cNvSpPr txBox="1"/>
          <p:nvPr/>
        </p:nvSpPr>
        <p:spPr>
          <a:xfrm>
            <a:off x="1795305" y="4636716"/>
            <a:ext cx="8166825"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Critical or not critical?</a:t>
            </a:r>
          </a:p>
        </p:txBody>
      </p:sp>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D6E34FE3-C61D-9E77-2C0B-E14BF17259D2}"/>
                  </a:ext>
                </a:extLst>
              </p:cNvPr>
              <p:cNvSpPr txBox="1"/>
              <p:nvPr/>
            </p:nvSpPr>
            <p:spPr>
              <a:xfrm>
                <a:off x="2532993" y="3185435"/>
                <a:ext cx="5545882"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p:sp>
            <p:nvSpPr>
              <p:cNvPr id="9" name="TextBox 8">
                <a:extLst>
                  <a:ext uri="{FF2B5EF4-FFF2-40B4-BE49-F238E27FC236}">
                    <a16:creationId xmlns:a16="http://schemas.microsoft.com/office/drawing/2014/main" id="{D6E34FE3-C61D-9E77-2C0B-E14BF17259D2}"/>
                  </a:ext>
                </a:extLst>
              </p:cNvPr>
              <p:cNvSpPr txBox="1">
                <a:spLocks noRot="1" noChangeAspect="1" noMove="1" noResize="1" noEditPoints="1" noAdjustHandles="1" noChangeArrowheads="1" noChangeShapeType="1" noTextEdit="1"/>
              </p:cNvSpPr>
              <p:nvPr/>
            </p:nvSpPr>
            <p:spPr>
              <a:xfrm>
                <a:off x="2532993" y="3185435"/>
                <a:ext cx="5545882" cy="615553"/>
              </a:xfrm>
              <a:prstGeom prst="rect">
                <a:avLst/>
              </a:prstGeom>
              <a:blipFill>
                <a:blip r:embed="rId3"/>
                <a:stretch>
                  <a:fillRect t="-10204" b="-34694"/>
                </a:stretch>
              </a:blipFill>
            </p:spPr>
            <p:txBody>
              <a:bodyPr/>
              <a:lstStyle/>
              <a:p>
                <a:r>
                  <a:rPr lang="en-US">
                    <a:noFill/>
                  </a:rPr>
                  <a:t> </a:t>
                </a:r>
              </a:p>
            </p:txBody>
          </p:sp>
        </mc:Fallback>
      </mc:AlternateContent>
      <p:sp>
        <p:nvSpPr>
          <p:cNvPr id="3" name="Rounded Rectangle 2">
            <a:extLst>
              <a:ext uri="{FF2B5EF4-FFF2-40B4-BE49-F238E27FC236}">
                <a16:creationId xmlns:a16="http://schemas.microsoft.com/office/drawing/2014/main" id="{6996BCFC-53EA-AED1-F095-BA524B70DF39}"/>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8FC85CA4-9A34-7B27-28F6-F8CEA820610F}"/>
              </a:ext>
            </a:extLst>
          </p:cNvPr>
          <p:cNvSpPr/>
          <p:nvPr/>
        </p:nvSpPr>
        <p:spPr>
          <a:xfrm>
            <a:off x="3181816" y="2942711"/>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Tree>
    <p:extLst>
      <p:ext uri="{BB962C8B-B14F-4D97-AF65-F5344CB8AC3E}">
        <p14:creationId xmlns:p14="http://schemas.microsoft.com/office/powerpoint/2010/main" val="407759683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1" build="p"/>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C4204E4-BD08-657C-B52F-83C8132CB37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B904925-1AF4-C26A-89F2-720E4A53C922}"/>
              </a:ext>
            </a:extLst>
          </p:cNvPr>
          <p:cNvGraphicFramePr>
            <a:graphicFrameLocks noGrp="1"/>
          </p:cNvGraphicFramePr>
          <p:nvPr>
            <p:extLst>
              <p:ext uri="{D42A27DB-BD31-4B8C-83A1-F6EECF244321}">
                <p14:modId xmlns:p14="http://schemas.microsoft.com/office/powerpoint/2010/main" val="2675472495"/>
              </p:ext>
            </p:extLst>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529AA59-8F9D-96B4-4068-AA4429EE3DC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3" name="Rectangle 2">
            <a:extLst>
              <a:ext uri="{FF2B5EF4-FFF2-40B4-BE49-F238E27FC236}">
                <a16:creationId xmlns:a16="http://schemas.microsoft.com/office/drawing/2014/main" id="{E43295E4-77D1-3813-4D97-AE551489B41B}"/>
              </a:ext>
            </a:extLst>
          </p:cNvPr>
          <p:cNvSpPr/>
          <p:nvPr/>
        </p:nvSpPr>
        <p:spPr>
          <a:xfrm>
            <a:off x="4619691" y="1430580"/>
            <a:ext cx="7453404" cy="4888940"/>
          </a:xfrm>
          <a:prstGeom prst="rect">
            <a:avLst/>
          </a:prstGeom>
          <a:effectLst>
            <a:outerShdw blurRad="50800" dist="38100" dir="8100000" algn="tr"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10" name="Picture 9">
            <a:extLst>
              <a:ext uri="{FF2B5EF4-FFF2-40B4-BE49-F238E27FC236}">
                <a16:creationId xmlns:a16="http://schemas.microsoft.com/office/drawing/2014/main" id="{FA5D8047-C617-A4AE-AF5C-85E7BC007483}"/>
              </a:ext>
            </a:extLst>
          </p:cNvPr>
          <p:cNvPicPr>
            <a:picLocks noChangeAspect="1"/>
          </p:cNvPicPr>
          <p:nvPr/>
        </p:nvPicPr>
        <p:blipFill>
          <a:blip r:embed="rId3"/>
          <a:stretch>
            <a:fillRect/>
          </a:stretch>
        </p:blipFill>
        <p:spPr>
          <a:xfrm>
            <a:off x="4760133" y="1952842"/>
            <a:ext cx="5838757" cy="4333165"/>
          </a:xfrm>
          <a:prstGeom prst="rect">
            <a:avLst/>
          </a:prstGeom>
        </p:spPr>
      </p:pic>
      <p:sp>
        <p:nvSpPr>
          <p:cNvPr id="6" name="TextBox 5">
            <a:extLst>
              <a:ext uri="{FF2B5EF4-FFF2-40B4-BE49-F238E27FC236}">
                <a16:creationId xmlns:a16="http://schemas.microsoft.com/office/drawing/2014/main" id="{E7795C07-9093-0BE1-FE18-DE4F383E5A60}"/>
              </a:ext>
            </a:extLst>
          </p:cNvPr>
          <p:cNvSpPr txBox="1"/>
          <p:nvPr/>
        </p:nvSpPr>
        <p:spPr>
          <a:xfrm>
            <a:off x="4694140" y="1445011"/>
            <a:ext cx="3468427" cy="584775"/>
          </a:xfrm>
          <a:prstGeom prst="rect">
            <a:avLst/>
          </a:prstGeom>
          <a:noFill/>
        </p:spPr>
        <p:txBody>
          <a:bodyPr wrap="square" rtlCol="0">
            <a:spAutoFit/>
          </a:bodyPr>
          <a:lstStyle/>
          <a:p>
            <a:r>
              <a:rPr lang="en-US" sz="3200" dirty="0"/>
              <a:t>Action Window (w)</a:t>
            </a:r>
          </a:p>
        </p:txBody>
      </p:sp>
      <p:sp>
        <p:nvSpPr>
          <p:cNvPr id="12" name="TextBox 11">
            <a:extLst>
              <a:ext uri="{FF2B5EF4-FFF2-40B4-BE49-F238E27FC236}">
                <a16:creationId xmlns:a16="http://schemas.microsoft.com/office/drawing/2014/main" id="{3048FC0A-B7A3-3257-1E94-9B6F7A58306B}"/>
              </a:ext>
            </a:extLst>
          </p:cNvPr>
          <p:cNvSpPr txBox="1"/>
          <p:nvPr/>
        </p:nvSpPr>
        <p:spPr>
          <a:xfrm>
            <a:off x="8162567" y="1445011"/>
            <a:ext cx="3984977" cy="1015663"/>
          </a:xfrm>
          <a:prstGeom prst="rect">
            <a:avLst/>
          </a:prstGeom>
          <a:noFill/>
        </p:spPr>
        <p:txBody>
          <a:bodyPr wrap="square">
            <a:spAutoFit/>
          </a:bodyPr>
          <a:lstStyle/>
          <a:p>
            <a:r>
              <a:rPr lang="en-US" sz="2000" dirty="0"/>
              <a:t>maximum number of price levels above the mid-price that a generated bid can belong to</a:t>
            </a:r>
          </a:p>
        </p:txBody>
      </p:sp>
      <mc:AlternateContent xmlns:mc="http://schemas.openxmlformats.org/markup-compatibility/2006" xmlns:a14="http://schemas.microsoft.com/office/drawing/2010/main">
        <mc:Choice Requires="a14">
          <p:sp>
            <p:nvSpPr>
              <p:cNvPr id="13" name="Rounded Rectangle 12">
                <a:extLst>
                  <a:ext uri="{FF2B5EF4-FFF2-40B4-BE49-F238E27FC236}">
                    <a16:creationId xmlns:a16="http://schemas.microsoft.com/office/drawing/2014/main" id="{345EC131-6428-B3F7-278F-4447B0020525}"/>
                  </a:ext>
                </a:extLst>
              </p:cNvPr>
              <p:cNvSpPr/>
              <p:nvPr/>
            </p:nvSpPr>
            <p:spPr>
              <a:xfrm>
                <a:off x="9780394" y="3527471"/>
                <a:ext cx="1917876" cy="69515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t>p </a:t>
                </a:r>
                <a14:m>
                  <m:oMath xmlns:m="http://schemas.openxmlformats.org/officeDocument/2006/math">
                    <m:r>
                      <a:rPr lang="en-US" sz="3200" b="1" i="1">
                        <a:latin typeface="Cambria Math" panose="02040503050406030204" pitchFamily="18" charset="0"/>
                        <a:ea typeface="Cambria Math" panose="02040503050406030204" pitchFamily="18" charset="0"/>
                      </a:rPr>
                      <m:t>±</m:t>
                    </m:r>
                  </m:oMath>
                </a14:m>
                <a:r>
                  <a:rPr lang="en-US" sz="3200" b="1" i="1" dirty="0"/>
                  <a:t> w</a:t>
                </a:r>
                <a:endParaRPr lang="en-US" sz="3200" dirty="0"/>
              </a:p>
            </p:txBody>
          </p:sp>
        </mc:Choice>
        <mc:Fallback xmlns="">
          <p:sp>
            <p:nvSpPr>
              <p:cNvPr id="13" name="Rounded Rectangle 12">
                <a:extLst>
                  <a:ext uri="{FF2B5EF4-FFF2-40B4-BE49-F238E27FC236}">
                    <a16:creationId xmlns:a16="http://schemas.microsoft.com/office/drawing/2014/main" id="{345EC131-6428-B3F7-278F-4447B0020525}"/>
                  </a:ext>
                </a:extLst>
              </p:cNvPr>
              <p:cNvSpPr>
                <a:spLocks noRot="1" noChangeAspect="1" noMove="1" noResize="1" noEditPoints="1" noAdjustHandles="1" noChangeArrowheads="1" noChangeShapeType="1" noTextEdit="1"/>
              </p:cNvSpPr>
              <p:nvPr/>
            </p:nvSpPr>
            <p:spPr>
              <a:xfrm>
                <a:off x="9780394" y="3527471"/>
                <a:ext cx="1917876" cy="695158"/>
              </a:xfrm>
              <a:prstGeom prst="roundRect">
                <a:avLst/>
              </a:prstGeom>
              <a:blipFill>
                <a:blip r:embed="rId5"/>
                <a:stretch>
                  <a:fillRect t="-1786" b="-21429"/>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ounded Rectangle 13">
                <a:extLst>
                  <a:ext uri="{FF2B5EF4-FFF2-40B4-BE49-F238E27FC236}">
                    <a16:creationId xmlns:a16="http://schemas.microsoft.com/office/drawing/2014/main" id="{859C8AD0-6DBB-E8C7-43E3-CE7535970657}"/>
                  </a:ext>
                </a:extLst>
              </p:cNvPr>
              <p:cNvSpPr/>
              <p:nvPr/>
            </p:nvSpPr>
            <p:spPr>
              <a:xfrm>
                <a:off x="9780394" y="3031123"/>
                <a:ext cx="1917876" cy="49634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i="1" dirty="0"/>
                  <a:t>Critical if price </a:t>
                </a:r>
                <a14:m>
                  <m:oMath xmlns:m="http://schemas.openxmlformats.org/officeDocument/2006/math">
                    <m:r>
                      <a:rPr lang="en-US" b="1" i="1" smtClean="0">
                        <a:latin typeface="Cambria Math" panose="02040503050406030204" pitchFamily="18" charset="0"/>
                        <a:ea typeface="Cambria Math" panose="02040503050406030204" pitchFamily="18" charset="0"/>
                      </a:rPr>
                      <m:t>∈</m:t>
                    </m:r>
                  </m:oMath>
                </a14:m>
                <a:r>
                  <a:rPr lang="en-US" b="1" i="1" dirty="0"/>
                  <a:t>  </a:t>
                </a:r>
                <a:endParaRPr lang="en-US" dirty="0"/>
              </a:p>
            </p:txBody>
          </p:sp>
        </mc:Choice>
        <mc:Fallback xmlns="">
          <p:sp>
            <p:nvSpPr>
              <p:cNvPr id="14" name="Rounded Rectangle 13">
                <a:extLst>
                  <a:ext uri="{FF2B5EF4-FFF2-40B4-BE49-F238E27FC236}">
                    <a16:creationId xmlns:a16="http://schemas.microsoft.com/office/drawing/2014/main" id="{859C8AD0-6DBB-E8C7-43E3-CE7535970657}"/>
                  </a:ext>
                </a:extLst>
              </p:cNvPr>
              <p:cNvSpPr>
                <a:spLocks noRot="1" noChangeAspect="1" noMove="1" noResize="1" noEditPoints="1" noAdjustHandles="1" noChangeArrowheads="1" noChangeShapeType="1" noTextEdit="1"/>
              </p:cNvSpPr>
              <p:nvPr/>
            </p:nvSpPr>
            <p:spPr>
              <a:xfrm>
                <a:off x="9780394" y="3031123"/>
                <a:ext cx="1917876" cy="496348"/>
              </a:xfrm>
              <a:prstGeom prst="roundRect">
                <a:avLst/>
              </a:prstGeom>
              <a:blipFill>
                <a:blip r:embed="rId6"/>
                <a:stretch>
                  <a:fillRect t="-20000" b="-5000"/>
                </a:stretch>
              </a:blipFill>
              <a:ln>
                <a:noFill/>
              </a:ln>
            </p:spPr>
            <p:txBody>
              <a:bodyPr/>
              <a:lstStyle/>
              <a:p>
                <a:r>
                  <a:rPr lang="en-US">
                    <a:noFill/>
                  </a:rPr>
                  <a:t> </a:t>
                </a:r>
              </a:p>
            </p:txBody>
          </p:sp>
        </mc:Fallback>
      </mc:AlternateContent>
      <p:sp>
        <p:nvSpPr>
          <p:cNvPr id="15" name="TextBox 14">
            <a:extLst>
              <a:ext uri="{FF2B5EF4-FFF2-40B4-BE49-F238E27FC236}">
                <a16:creationId xmlns:a16="http://schemas.microsoft.com/office/drawing/2014/main" id="{3E37DB7B-DF64-EE47-3D6F-0AEADADCF4D1}"/>
              </a:ext>
            </a:extLst>
          </p:cNvPr>
          <p:cNvSpPr txBox="1"/>
          <p:nvPr/>
        </p:nvSpPr>
        <p:spPr>
          <a:xfrm>
            <a:off x="9505137" y="4568656"/>
            <a:ext cx="2633951" cy="1015663"/>
          </a:xfrm>
          <a:prstGeom prst="rect">
            <a:avLst/>
          </a:prstGeom>
          <a:noFill/>
        </p:spPr>
        <p:txBody>
          <a:bodyPr wrap="square">
            <a:spAutoFit/>
          </a:bodyPr>
          <a:lstStyle/>
          <a:p>
            <a:r>
              <a:rPr lang="en-US" sz="2000" dirty="0"/>
              <a:t>All action is assumed to happen inside the action window</a:t>
            </a:r>
          </a:p>
        </p:txBody>
      </p:sp>
      <p:sp>
        <p:nvSpPr>
          <p:cNvPr id="11" name="Rounded Rectangle 10">
            <a:extLst>
              <a:ext uri="{FF2B5EF4-FFF2-40B4-BE49-F238E27FC236}">
                <a16:creationId xmlns:a16="http://schemas.microsoft.com/office/drawing/2014/main" id="{EE6705D6-6497-05C3-35C8-70E3D5962454}"/>
              </a:ext>
            </a:extLst>
          </p:cNvPr>
          <p:cNvSpPr/>
          <p:nvPr/>
        </p:nvSpPr>
        <p:spPr>
          <a:xfrm>
            <a:off x="4831823" y="2282034"/>
            <a:ext cx="1294239" cy="71748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highlight>
                  <a:srgbClr val="0000FF"/>
                </a:highlight>
              </a:rPr>
              <a:t>w = 1</a:t>
            </a:r>
            <a:endParaRPr lang="en-US" sz="3200" dirty="0">
              <a:highlight>
                <a:srgbClr val="0000FF"/>
              </a:highlight>
            </a:endParaRPr>
          </a:p>
        </p:txBody>
      </p:sp>
      <p:sp>
        <p:nvSpPr>
          <p:cNvPr id="16" name="Right Brace 15">
            <a:extLst>
              <a:ext uri="{FF2B5EF4-FFF2-40B4-BE49-F238E27FC236}">
                <a16:creationId xmlns:a16="http://schemas.microsoft.com/office/drawing/2014/main" id="{70B4E72B-7230-21A8-64BF-55FA4618AFB1}"/>
              </a:ext>
            </a:extLst>
          </p:cNvPr>
          <p:cNvSpPr/>
          <p:nvPr/>
        </p:nvSpPr>
        <p:spPr>
          <a:xfrm rot="5400000">
            <a:off x="6836770" y="4648732"/>
            <a:ext cx="464652" cy="2378760"/>
          </a:xfrm>
          <a:prstGeom prst="rightBrace">
            <a:avLst/>
          </a:prstGeom>
          <a:ln w="5080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7" name="TextBox 16">
            <a:extLst>
              <a:ext uri="{FF2B5EF4-FFF2-40B4-BE49-F238E27FC236}">
                <a16:creationId xmlns:a16="http://schemas.microsoft.com/office/drawing/2014/main" id="{7603C6A1-B1BF-D415-1745-2D670FCB27AC}"/>
              </a:ext>
            </a:extLst>
          </p:cNvPr>
          <p:cNvSpPr txBox="1"/>
          <p:nvPr/>
        </p:nvSpPr>
        <p:spPr>
          <a:xfrm>
            <a:off x="6022520" y="5869886"/>
            <a:ext cx="620683" cy="369332"/>
          </a:xfrm>
          <a:prstGeom prst="rect">
            <a:avLst/>
          </a:prstGeom>
          <a:noFill/>
        </p:spPr>
        <p:txBody>
          <a:bodyPr wrap="none" rtlCol="0">
            <a:spAutoFit/>
          </a:bodyPr>
          <a:lstStyle/>
          <a:p>
            <a:r>
              <a:rPr lang="en-US" dirty="0"/>
              <a:t>Bids</a:t>
            </a:r>
          </a:p>
        </p:txBody>
      </p:sp>
      <p:sp>
        <p:nvSpPr>
          <p:cNvPr id="18" name="Right Brace 17">
            <a:extLst>
              <a:ext uri="{FF2B5EF4-FFF2-40B4-BE49-F238E27FC236}">
                <a16:creationId xmlns:a16="http://schemas.microsoft.com/office/drawing/2014/main" id="{DD9B71AE-E971-E074-3EAF-E3914A01CF0C}"/>
              </a:ext>
            </a:extLst>
          </p:cNvPr>
          <p:cNvSpPr/>
          <p:nvPr/>
        </p:nvSpPr>
        <p:spPr>
          <a:xfrm rot="5400000">
            <a:off x="8092143" y="4711692"/>
            <a:ext cx="464652" cy="2378760"/>
          </a:xfrm>
          <a:prstGeom prst="rightBrace">
            <a:avLst/>
          </a:prstGeom>
          <a:ln w="5080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TextBox 18">
            <a:extLst>
              <a:ext uri="{FF2B5EF4-FFF2-40B4-BE49-F238E27FC236}">
                <a16:creationId xmlns:a16="http://schemas.microsoft.com/office/drawing/2014/main" id="{984709C0-7163-2ABE-DBB2-D8E0228ABA3C}"/>
              </a:ext>
            </a:extLst>
          </p:cNvPr>
          <p:cNvSpPr txBox="1"/>
          <p:nvPr/>
        </p:nvSpPr>
        <p:spPr>
          <a:xfrm>
            <a:off x="8781592" y="5853568"/>
            <a:ext cx="657552" cy="369332"/>
          </a:xfrm>
          <a:prstGeom prst="rect">
            <a:avLst/>
          </a:prstGeom>
          <a:noFill/>
          <a:ln>
            <a:noFill/>
          </a:ln>
        </p:spPr>
        <p:txBody>
          <a:bodyPr wrap="none" rtlCol="0">
            <a:spAutoFit/>
          </a:bodyPr>
          <a:lstStyle/>
          <a:p>
            <a:r>
              <a:rPr lang="en-US" dirty="0"/>
              <a:t>Asks</a:t>
            </a:r>
          </a:p>
        </p:txBody>
      </p:sp>
      <p:sp>
        <p:nvSpPr>
          <p:cNvPr id="20" name="TextBox 19">
            <a:extLst>
              <a:ext uri="{FF2B5EF4-FFF2-40B4-BE49-F238E27FC236}">
                <a16:creationId xmlns:a16="http://schemas.microsoft.com/office/drawing/2014/main" id="{552F9D95-8EAC-91DB-5B9A-7B141A7B94CC}"/>
              </a:ext>
            </a:extLst>
          </p:cNvPr>
          <p:cNvSpPr txBox="1"/>
          <p:nvPr/>
        </p:nvSpPr>
        <p:spPr>
          <a:xfrm>
            <a:off x="7467755" y="4568656"/>
            <a:ext cx="423512" cy="646331"/>
          </a:xfrm>
          <a:prstGeom prst="rect">
            <a:avLst/>
          </a:prstGeom>
          <a:noFill/>
        </p:spPr>
        <p:txBody>
          <a:bodyPr wrap="square" rtlCol="0">
            <a:spAutoFit/>
          </a:bodyPr>
          <a:lstStyle/>
          <a:p>
            <a:r>
              <a:rPr lang="en-US" sz="3600" b="1" i="1" dirty="0"/>
              <a:t>p</a:t>
            </a:r>
            <a:endParaRPr lang="en-US" dirty="0"/>
          </a:p>
        </p:txBody>
      </p:sp>
      <p:sp>
        <p:nvSpPr>
          <p:cNvPr id="21" name="Rounded Rectangle 20">
            <a:extLst>
              <a:ext uri="{FF2B5EF4-FFF2-40B4-BE49-F238E27FC236}">
                <a16:creationId xmlns:a16="http://schemas.microsoft.com/office/drawing/2014/main" id="{475A78DB-5A42-D139-4ACE-CC366A1E19E1}"/>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5B8AFB7F-8E42-B4B2-450F-5B2DF8B06A46}"/>
              </a:ext>
            </a:extLst>
          </p:cNvPr>
          <p:cNvSpPr/>
          <p:nvPr/>
        </p:nvSpPr>
        <p:spPr>
          <a:xfrm>
            <a:off x="2199861" y="3027581"/>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FD8A95B2-2BB5-D260-8D7B-3A9EE5B24E1D}"/>
                  </a:ext>
                </a:extLst>
              </p:cNvPr>
              <p:cNvSpPr txBox="1"/>
              <p:nvPr/>
            </p:nvSpPr>
            <p:spPr>
              <a:xfrm>
                <a:off x="-673389" y="3357398"/>
                <a:ext cx="5545882"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p:sp>
            <p:nvSpPr>
              <p:cNvPr id="22" name="TextBox 21">
                <a:extLst>
                  <a:ext uri="{FF2B5EF4-FFF2-40B4-BE49-F238E27FC236}">
                    <a16:creationId xmlns:a16="http://schemas.microsoft.com/office/drawing/2014/main" id="{FD8A95B2-2BB5-D260-8D7B-3A9EE5B24E1D}"/>
                  </a:ext>
                </a:extLst>
              </p:cNvPr>
              <p:cNvSpPr txBox="1">
                <a:spLocks noRot="1" noChangeAspect="1" noMove="1" noResize="1" noEditPoints="1" noAdjustHandles="1" noChangeArrowheads="1" noChangeShapeType="1" noTextEdit="1"/>
              </p:cNvSpPr>
              <p:nvPr/>
            </p:nvSpPr>
            <p:spPr>
              <a:xfrm>
                <a:off x="-673389" y="3357398"/>
                <a:ext cx="5545882" cy="615553"/>
              </a:xfrm>
              <a:prstGeom prst="rect">
                <a:avLst/>
              </a:prstGeom>
              <a:blipFill>
                <a:blip r:embed="rId7"/>
                <a:stretch>
                  <a:fillRect t="-8163" b="-36735"/>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2EFDC4C0-17ED-7932-3334-242115842E0B}"/>
              </a:ext>
            </a:extLst>
          </p:cNvPr>
          <p:cNvSpPr/>
          <p:nvPr/>
        </p:nvSpPr>
        <p:spPr>
          <a:xfrm>
            <a:off x="648823" y="3057638"/>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70EADF17-C056-61A5-0559-7525B1D98E8D}"/>
              </a:ext>
            </a:extLst>
          </p:cNvPr>
          <p:cNvSpPr txBox="1"/>
          <p:nvPr/>
        </p:nvSpPr>
        <p:spPr>
          <a:xfrm>
            <a:off x="179568" y="4974718"/>
            <a:ext cx="3938343" cy="1200329"/>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Critical or not critical?</a:t>
            </a:r>
          </a:p>
        </p:txBody>
      </p:sp>
    </p:spTree>
    <p:extLst>
      <p:ext uri="{BB962C8B-B14F-4D97-AF65-F5344CB8AC3E}">
        <p14:creationId xmlns:p14="http://schemas.microsoft.com/office/powerpoint/2010/main" val="106526526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animBg="1"/>
      <p:bldP spid="14" grpId="0" animBg="1"/>
      <p:bldP spid="15" grpId="0"/>
      <p:bldP spid="11" grpId="0" animBg="1"/>
      <p:bldP spid="16" grpId="0" animBg="1"/>
      <p:bldP spid="17" grpId="0"/>
      <p:bldP spid="18" grpId="0" animBg="1"/>
      <p:bldP spid="19" grpId="0"/>
      <p:bldP spid="20" grpId="0"/>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AD37841-57F6-D520-394A-5431A00BA85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C31050-E352-BF30-FB37-8D5E718A58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A9B4C79C-5C6C-81BD-7757-F6B76179317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21" name="Rounded Rectangle 20">
            <a:extLst>
              <a:ext uri="{FF2B5EF4-FFF2-40B4-BE49-F238E27FC236}">
                <a16:creationId xmlns:a16="http://schemas.microsoft.com/office/drawing/2014/main" id="{CAD64933-C64C-23EF-6412-8EA84D7E5A54}"/>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A0520890-FCC2-59B0-6FD7-102368D3EE64}"/>
              </a:ext>
            </a:extLst>
          </p:cNvPr>
          <p:cNvSpPr/>
          <p:nvPr/>
        </p:nvSpPr>
        <p:spPr>
          <a:xfrm>
            <a:off x="5010918" y="3075838"/>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7555419B-24DB-EEAA-D574-65A802153C50}"/>
                  </a:ext>
                </a:extLst>
              </p:cNvPr>
              <p:cNvSpPr txBox="1"/>
              <p:nvPr/>
            </p:nvSpPr>
            <p:spPr>
              <a:xfrm>
                <a:off x="1943015" y="3458066"/>
                <a:ext cx="6135806"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m:t>
                      </m:r>
                      <m:r>
                        <a:rPr lang="en-US" sz="4000" b="0" i="1" smtClean="0">
                          <a:latin typeface="Cambria Math" panose="02040503050406030204" pitchFamily="18" charset="0"/>
                        </a:rPr>
                        <m:t>        </m:t>
                      </m:r>
                      <m:r>
                        <a:rPr lang="en-US" sz="4000" b="0" i="1" smtClean="0">
                          <a:latin typeface="Cambria Math" panose="02040503050406030204" pitchFamily="18" charset="0"/>
                        </a:rPr>
                        <m:t>&gt;</m:t>
                      </m:r>
                    </m:oMath>
                  </m:oMathPara>
                </a14:m>
                <a:endParaRPr lang="en-US" sz="4000" dirty="0"/>
              </a:p>
            </p:txBody>
          </p:sp>
        </mc:Choice>
        <mc:Fallback>
          <p:sp>
            <p:nvSpPr>
              <p:cNvPr id="22" name="TextBox 21">
                <a:extLst>
                  <a:ext uri="{FF2B5EF4-FFF2-40B4-BE49-F238E27FC236}">
                    <a16:creationId xmlns:a16="http://schemas.microsoft.com/office/drawing/2014/main" id="{7555419B-24DB-EEAA-D574-65A802153C50}"/>
                  </a:ext>
                </a:extLst>
              </p:cNvPr>
              <p:cNvSpPr txBox="1">
                <a:spLocks noRot="1" noChangeAspect="1" noMove="1" noResize="1" noEditPoints="1" noAdjustHandles="1" noChangeArrowheads="1" noChangeShapeType="1" noTextEdit="1"/>
              </p:cNvSpPr>
              <p:nvPr/>
            </p:nvSpPr>
            <p:spPr>
              <a:xfrm>
                <a:off x="1943015" y="3458066"/>
                <a:ext cx="6135806" cy="615553"/>
              </a:xfrm>
              <a:prstGeom prst="rect">
                <a:avLst/>
              </a:prstGeom>
              <a:blipFill>
                <a:blip r:embed="rId3"/>
                <a:stretch>
                  <a:fillRect t="-10204" b="-36735"/>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CB3596A1-997F-FF90-8669-1349898530C8}"/>
              </a:ext>
            </a:extLst>
          </p:cNvPr>
          <p:cNvSpPr/>
          <p:nvPr/>
        </p:nvSpPr>
        <p:spPr>
          <a:xfrm>
            <a:off x="3408460" y="3098705"/>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8D187986-A904-5B11-516A-78483D1EB5EC}"/>
              </a:ext>
            </a:extLst>
          </p:cNvPr>
          <p:cNvSpPr txBox="1"/>
          <p:nvPr/>
        </p:nvSpPr>
        <p:spPr>
          <a:xfrm>
            <a:off x="1448356" y="4883630"/>
            <a:ext cx="8746677" cy="461665"/>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p:txBody>
      </p:sp>
    </p:spTree>
    <p:extLst>
      <p:ext uri="{BB962C8B-B14F-4D97-AF65-F5344CB8AC3E}">
        <p14:creationId xmlns:p14="http://schemas.microsoft.com/office/powerpoint/2010/main" val="29738966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810312-2209-ADA2-D945-95484F9E7AB5}"/>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5D7CE4B-085D-0791-C065-8945A091724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7F4A888-523A-85BC-4CD1-2D32315868A9}"/>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21" name="Rounded Rectangle 20">
            <a:extLst>
              <a:ext uri="{FF2B5EF4-FFF2-40B4-BE49-F238E27FC236}">
                <a16:creationId xmlns:a16="http://schemas.microsoft.com/office/drawing/2014/main" id="{E85D9986-35CE-EB8C-576B-47D8D02083B1}"/>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A52FFFA7-660B-6035-F185-77BF48E0DEDA}"/>
              </a:ext>
            </a:extLst>
          </p:cNvPr>
          <p:cNvSpPr/>
          <p:nvPr/>
        </p:nvSpPr>
        <p:spPr>
          <a:xfrm>
            <a:off x="5010918" y="3075838"/>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811181A6-22B2-FF81-5F9D-C3E0698979C8}"/>
                  </a:ext>
                </a:extLst>
              </p:cNvPr>
              <p:cNvSpPr txBox="1"/>
              <p:nvPr/>
            </p:nvSpPr>
            <p:spPr>
              <a:xfrm>
                <a:off x="2437673" y="3429000"/>
                <a:ext cx="6135806"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m:t>
                      </m:r>
                      <m:r>
                        <a:rPr lang="en-US" sz="4000" b="0" i="1" smtClean="0">
                          <a:latin typeface="Cambria Math" panose="02040503050406030204" pitchFamily="18" charset="0"/>
                        </a:rPr>
                        <m:t>                 </m:t>
                      </m:r>
                      <m:r>
                        <a:rPr lang="en-US" sz="4000" b="0" i="1" smtClean="0">
                          <a:latin typeface="Cambria Math" panose="02040503050406030204" pitchFamily="18" charset="0"/>
                        </a:rPr>
                        <m:t>&gt;</m:t>
                      </m:r>
                    </m:oMath>
                  </m:oMathPara>
                </a14:m>
                <a:endParaRPr lang="en-US" sz="4000" dirty="0"/>
              </a:p>
            </p:txBody>
          </p:sp>
        </mc:Choice>
        <mc:Fallback>
          <p:sp>
            <p:nvSpPr>
              <p:cNvPr id="22" name="TextBox 21">
                <a:extLst>
                  <a:ext uri="{FF2B5EF4-FFF2-40B4-BE49-F238E27FC236}">
                    <a16:creationId xmlns:a16="http://schemas.microsoft.com/office/drawing/2014/main" id="{811181A6-22B2-FF81-5F9D-C3E0698979C8}"/>
                  </a:ext>
                </a:extLst>
              </p:cNvPr>
              <p:cNvSpPr txBox="1">
                <a:spLocks noRot="1" noChangeAspect="1" noMove="1" noResize="1" noEditPoints="1" noAdjustHandles="1" noChangeArrowheads="1" noChangeShapeType="1" noTextEdit="1"/>
              </p:cNvSpPr>
              <p:nvPr/>
            </p:nvSpPr>
            <p:spPr>
              <a:xfrm>
                <a:off x="2437673" y="3429000"/>
                <a:ext cx="6135806" cy="615553"/>
              </a:xfrm>
              <a:prstGeom prst="rect">
                <a:avLst/>
              </a:prstGeom>
              <a:blipFill>
                <a:blip r:embed="rId3"/>
                <a:stretch>
                  <a:fillRect t="-10204" b="-34694"/>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CB2642E3-F2E6-154B-E916-A1C589D92445}"/>
              </a:ext>
            </a:extLst>
          </p:cNvPr>
          <p:cNvSpPr/>
          <p:nvPr/>
        </p:nvSpPr>
        <p:spPr>
          <a:xfrm>
            <a:off x="3408460" y="3098705"/>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61D5D305-038B-F804-DF45-99B3E2630606}"/>
              </a:ext>
            </a:extLst>
          </p:cNvPr>
          <p:cNvSpPr txBox="1"/>
          <p:nvPr/>
        </p:nvSpPr>
        <p:spPr>
          <a:xfrm>
            <a:off x="1037948" y="4777166"/>
            <a:ext cx="10498221"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With in each category, preserves timestamp based ordering</a:t>
            </a:r>
          </a:p>
        </p:txBody>
      </p:sp>
      <p:sp>
        <p:nvSpPr>
          <p:cNvPr id="5" name="Oval 4">
            <a:extLst>
              <a:ext uri="{FF2B5EF4-FFF2-40B4-BE49-F238E27FC236}">
                <a16:creationId xmlns:a16="http://schemas.microsoft.com/office/drawing/2014/main" id="{BB861A7A-699A-106D-7BEE-DEA96CC60ED0}"/>
              </a:ext>
            </a:extLst>
          </p:cNvPr>
          <p:cNvSpPr/>
          <p:nvPr/>
        </p:nvSpPr>
        <p:spPr>
          <a:xfrm>
            <a:off x="6425484" y="3098705"/>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Tree>
    <p:extLst>
      <p:ext uri="{BB962C8B-B14F-4D97-AF65-F5344CB8AC3E}">
        <p14:creationId xmlns:p14="http://schemas.microsoft.com/office/powerpoint/2010/main" val="2041933133"/>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uiExpand="1" build="p"/>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212BFCE-C41B-D5AC-E121-EF57F240CAE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666436AA-E0DC-4FB8-F004-545FF1EEB2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5E9F70B-2F55-E284-F33E-461A789B9F2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21" name="Rounded Rectangle 20">
            <a:extLst>
              <a:ext uri="{FF2B5EF4-FFF2-40B4-BE49-F238E27FC236}">
                <a16:creationId xmlns:a16="http://schemas.microsoft.com/office/drawing/2014/main" id="{4A219029-710A-80B5-465C-8419C176D9BF}"/>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82E2CA99-4131-90B4-9EAF-3E51E25450A2}"/>
              </a:ext>
            </a:extLst>
          </p:cNvPr>
          <p:cNvSpPr/>
          <p:nvPr/>
        </p:nvSpPr>
        <p:spPr>
          <a:xfrm>
            <a:off x="4999043" y="2275604"/>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3B18EB39-4DA5-6F4A-86AE-4EA8D86BC15B}"/>
                  </a:ext>
                </a:extLst>
              </p:cNvPr>
              <p:cNvSpPr txBox="1"/>
              <p:nvPr/>
            </p:nvSpPr>
            <p:spPr>
              <a:xfrm>
                <a:off x="2425798" y="2628766"/>
                <a:ext cx="6135806"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m:t>
                      </m:r>
                      <m:r>
                        <a:rPr lang="en-US" sz="4000" b="0" i="1" smtClean="0">
                          <a:latin typeface="Cambria Math" panose="02040503050406030204" pitchFamily="18" charset="0"/>
                        </a:rPr>
                        <m:t>                 </m:t>
                      </m:r>
                      <m:r>
                        <a:rPr lang="en-US" sz="4000" b="0" i="1" smtClean="0">
                          <a:latin typeface="Cambria Math" panose="02040503050406030204" pitchFamily="18" charset="0"/>
                        </a:rPr>
                        <m:t>&gt;</m:t>
                      </m:r>
                    </m:oMath>
                  </m:oMathPara>
                </a14:m>
                <a:endParaRPr lang="en-US" sz="4000" dirty="0"/>
              </a:p>
            </p:txBody>
          </p:sp>
        </mc:Choice>
        <mc:Fallback>
          <p:sp>
            <p:nvSpPr>
              <p:cNvPr id="22" name="TextBox 21">
                <a:extLst>
                  <a:ext uri="{FF2B5EF4-FFF2-40B4-BE49-F238E27FC236}">
                    <a16:creationId xmlns:a16="http://schemas.microsoft.com/office/drawing/2014/main" id="{3B18EB39-4DA5-6F4A-86AE-4EA8D86BC15B}"/>
                  </a:ext>
                </a:extLst>
              </p:cNvPr>
              <p:cNvSpPr txBox="1">
                <a:spLocks noRot="1" noChangeAspect="1" noMove="1" noResize="1" noEditPoints="1" noAdjustHandles="1" noChangeArrowheads="1" noChangeShapeType="1" noTextEdit="1"/>
              </p:cNvSpPr>
              <p:nvPr/>
            </p:nvSpPr>
            <p:spPr>
              <a:xfrm>
                <a:off x="2425798" y="2628766"/>
                <a:ext cx="6135806" cy="615553"/>
              </a:xfrm>
              <a:prstGeom prst="rect">
                <a:avLst/>
              </a:prstGeom>
              <a:blipFill>
                <a:blip r:embed="rId3"/>
                <a:stretch>
                  <a:fillRect t="-8000" b="-36000"/>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45995A69-3E90-57B3-EC2D-62F5D908AB2D}"/>
              </a:ext>
            </a:extLst>
          </p:cNvPr>
          <p:cNvSpPr/>
          <p:nvPr/>
        </p:nvSpPr>
        <p:spPr>
          <a:xfrm>
            <a:off x="3396585" y="2298471"/>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FF3A2832-6B77-2328-1DCA-C614E5A5EDD3}"/>
              </a:ext>
            </a:extLst>
          </p:cNvPr>
          <p:cNvSpPr txBox="1"/>
          <p:nvPr/>
        </p:nvSpPr>
        <p:spPr>
          <a:xfrm>
            <a:off x="1026073" y="3976932"/>
            <a:ext cx="10498221" cy="2308324"/>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With in each category, preserves timestamp based ordering</a:t>
            </a:r>
          </a:p>
          <a:p>
            <a:pPr marL="285750" indent="-285750">
              <a:buFont typeface="Arial" panose="020B0604020202020204" pitchFamily="34" charset="0"/>
              <a:buChar char="•"/>
            </a:pPr>
            <a:r>
              <a:rPr lang="en-US" sz="2400" dirty="0"/>
              <a:t>Assumption: </a:t>
            </a:r>
          </a:p>
          <a:p>
            <a:pPr marL="742950" lvl="1" indent="-285750">
              <a:buFont typeface="Arial" panose="020B0604020202020204" pitchFamily="34" charset="0"/>
              <a:buChar char="•"/>
            </a:pPr>
            <a:r>
              <a:rPr lang="en-US" sz="2400" dirty="0"/>
              <a:t>Trading happens in rounds: no older order from a prior mid-price ID can execute in such a way that a newly assigned non-critical tag becomes invalid before it reaches the exchange server</a:t>
            </a:r>
          </a:p>
        </p:txBody>
      </p:sp>
      <p:sp>
        <p:nvSpPr>
          <p:cNvPr id="5" name="Oval 4">
            <a:extLst>
              <a:ext uri="{FF2B5EF4-FFF2-40B4-BE49-F238E27FC236}">
                <a16:creationId xmlns:a16="http://schemas.microsoft.com/office/drawing/2014/main" id="{3A40EB44-84A2-A5A7-52B8-675128808AD4}"/>
              </a:ext>
            </a:extLst>
          </p:cNvPr>
          <p:cNvSpPr/>
          <p:nvPr/>
        </p:nvSpPr>
        <p:spPr>
          <a:xfrm>
            <a:off x="6413609" y="2298471"/>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Tree>
    <p:extLst>
      <p:ext uri="{BB962C8B-B14F-4D97-AF65-F5344CB8AC3E}">
        <p14:creationId xmlns:p14="http://schemas.microsoft.com/office/powerpoint/2010/main" val="380182371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7.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4F3F7AE8-4391-1C78-9BB0-B1379CE149A4}"/>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3D6925F3-7CB8-5C77-61F4-719BEF0AA40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9EF95C84-A000-0801-8538-21C59B960709}"/>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21" name="Rounded Rectangle 20">
            <a:extLst>
              <a:ext uri="{FF2B5EF4-FFF2-40B4-BE49-F238E27FC236}">
                <a16:creationId xmlns:a16="http://schemas.microsoft.com/office/drawing/2014/main" id="{99D386DF-F5F9-015F-641C-9955BCE2C9B3}"/>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5846B54D-B92A-88FA-667C-850EB6E809AC}"/>
              </a:ext>
            </a:extLst>
          </p:cNvPr>
          <p:cNvSpPr/>
          <p:nvPr/>
        </p:nvSpPr>
        <p:spPr>
          <a:xfrm>
            <a:off x="5010918" y="3075838"/>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A5463A52-E3DD-03FA-C110-ADC5E2253FE0}"/>
                  </a:ext>
                </a:extLst>
              </p:cNvPr>
              <p:cNvSpPr txBox="1"/>
              <p:nvPr/>
            </p:nvSpPr>
            <p:spPr>
              <a:xfrm>
                <a:off x="2437673" y="3429000"/>
                <a:ext cx="5545882"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m:t>
                      </m:r>
                      <m:r>
                        <a:rPr lang="en-US" sz="4000" b="0" i="1" smtClean="0">
                          <a:latin typeface="Cambria Math" panose="02040503050406030204" pitchFamily="18" charset="0"/>
                        </a:rPr>
                        <m:t>          </m:t>
                      </m:r>
                      <m:r>
                        <a:rPr lang="en-US" sz="4000" b="0" i="1" smtClean="0">
                          <a:latin typeface="Cambria Math" panose="02040503050406030204" pitchFamily="18" charset="0"/>
                        </a:rPr>
                        <m:t>&gt;</m:t>
                      </m:r>
                    </m:oMath>
                  </m:oMathPara>
                </a14:m>
                <a:endParaRPr lang="en-US" sz="4000" dirty="0"/>
              </a:p>
            </p:txBody>
          </p:sp>
        </mc:Choice>
        <mc:Fallback>
          <p:sp>
            <p:nvSpPr>
              <p:cNvPr id="22" name="TextBox 21">
                <a:extLst>
                  <a:ext uri="{FF2B5EF4-FFF2-40B4-BE49-F238E27FC236}">
                    <a16:creationId xmlns:a16="http://schemas.microsoft.com/office/drawing/2014/main" id="{A5463A52-E3DD-03FA-C110-ADC5E2253FE0}"/>
                  </a:ext>
                </a:extLst>
              </p:cNvPr>
              <p:cNvSpPr txBox="1">
                <a:spLocks noRot="1" noChangeAspect="1" noMove="1" noResize="1" noEditPoints="1" noAdjustHandles="1" noChangeArrowheads="1" noChangeShapeType="1" noTextEdit="1"/>
              </p:cNvSpPr>
              <p:nvPr/>
            </p:nvSpPr>
            <p:spPr>
              <a:xfrm>
                <a:off x="2437673" y="3429000"/>
                <a:ext cx="5545882" cy="615553"/>
              </a:xfrm>
              <a:prstGeom prst="rect">
                <a:avLst/>
              </a:prstGeom>
              <a:blipFill>
                <a:blip r:embed="rId3"/>
                <a:stretch>
                  <a:fillRect t="-10204" b="-34694"/>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86480FFD-4C78-4AB8-FB7C-C51E4F86DF04}"/>
              </a:ext>
            </a:extLst>
          </p:cNvPr>
          <p:cNvSpPr/>
          <p:nvPr/>
        </p:nvSpPr>
        <p:spPr>
          <a:xfrm>
            <a:off x="3408460" y="3098705"/>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1FDF9C3F-6C5F-7DC8-1386-D23EEC8A76C7}"/>
              </a:ext>
            </a:extLst>
          </p:cNvPr>
          <p:cNvSpPr txBox="1"/>
          <p:nvPr/>
        </p:nvSpPr>
        <p:spPr>
          <a:xfrm>
            <a:off x="1448357" y="4883630"/>
            <a:ext cx="7125122"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endParaRPr lang="en-US" sz="2400" dirty="0"/>
          </a:p>
        </p:txBody>
      </p:sp>
    </p:spTree>
    <p:extLst>
      <p:ext uri="{BB962C8B-B14F-4D97-AF65-F5344CB8AC3E}">
        <p14:creationId xmlns:p14="http://schemas.microsoft.com/office/powerpoint/2010/main" val="524449433"/>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build="p"/>
    </p:bldLst>
  </p:timing>
</p:sld>
</file>

<file path=ppt/slides/slide108.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6248E1B0-2AE4-3922-331A-934C52381AF6}"/>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0451792-9F9B-0C30-2936-21B044E8682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DAF1C9B-C3BD-9A3B-4303-96BA3BF24A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7FF81811-637B-B4A5-3957-789223D5225E}"/>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07A4C28-3853-2620-FEEB-9CF8AD8D68CD}"/>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CF7DBD0-C25E-508A-ABCA-F679BA3C904C}"/>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DB0B3E39-9662-73AF-3F3F-952324C76F27}"/>
              </a:ext>
            </a:extLst>
          </p:cNvPr>
          <p:cNvSpPr txBox="1"/>
          <p:nvPr/>
        </p:nvSpPr>
        <p:spPr>
          <a:xfrm>
            <a:off x="220390" y="4128885"/>
            <a:ext cx="11788730" cy="2246769"/>
          </a:xfrm>
          <a:prstGeom prst="rect">
            <a:avLst/>
          </a:prstGeom>
          <a:noFill/>
        </p:spPr>
        <p:txBody>
          <a:bodyPr wrap="square" rtlCol="0">
            <a:spAutoFit/>
          </a:bodyPr>
          <a:lstStyle/>
          <a:p>
            <a:pPr marL="457200" indent="-457200">
              <a:buFont typeface="Arial" panose="020B0604020202020204" pitchFamily="34" charset="0"/>
              <a:buChar char="•"/>
            </a:pPr>
            <a:r>
              <a:rPr lang="en-US" sz="2800" dirty="0"/>
              <a:t>Within each category (critical/non-critical), the behavior is the same as it would have been in a synchronous network</a:t>
            </a:r>
          </a:p>
          <a:p>
            <a:pPr marL="457200" indent="-457200">
              <a:buFont typeface="Arial" panose="020B0604020202020204" pitchFamily="34" charset="0"/>
              <a:buChar char="•"/>
            </a:pPr>
            <a:r>
              <a:rPr lang="en-US" sz="2800" dirty="0"/>
              <a:t>All critical orders arrive at the exchange before any non-critical</a:t>
            </a:r>
          </a:p>
          <a:p>
            <a:pPr marL="914400" lvl="1" indent="-457200">
              <a:buFont typeface="Arial" panose="020B0604020202020204" pitchFamily="34" charset="0"/>
              <a:buChar char="•"/>
            </a:pPr>
            <a:r>
              <a:rPr lang="en-US" sz="2800" dirty="0"/>
              <a:t>That’s also fine because no no-critical order would be executed before any critical order</a:t>
            </a:r>
          </a:p>
        </p:txBody>
      </p:sp>
      <p:sp>
        <p:nvSpPr>
          <p:cNvPr id="3" name="Rounded Rectangle 2">
            <a:extLst>
              <a:ext uri="{FF2B5EF4-FFF2-40B4-BE49-F238E27FC236}">
                <a16:creationId xmlns:a16="http://schemas.microsoft.com/office/drawing/2014/main" id="{EE3F07AC-482D-112C-095A-23942DF1379D}"/>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350830254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09.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BE8C1A4C-5F77-970B-5877-FAB3BEFD482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F23D42-35E7-C942-E5C6-212BFD5B5F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CE0ACAE-0238-7861-6F7B-978BBFC68FD4}"/>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82EBD02E-7FFA-CE2B-0203-A0E7D06B13AF}"/>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2E28AB0C-91ED-9A7C-9737-7E22FA5F69F9}"/>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8E38727-AA55-C410-0F0E-9D0B783A3ECE}"/>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62D1A08C-7E93-B101-23E0-56DBE79D4910}"/>
              </a:ext>
            </a:extLst>
          </p:cNvPr>
          <p:cNvSpPr txBox="1"/>
          <p:nvPr/>
        </p:nvSpPr>
        <p:spPr>
          <a:xfrm>
            <a:off x="375920" y="4577760"/>
            <a:ext cx="12327210" cy="1569660"/>
          </a:xfrm>
          <a:prstGeom prst="rect">
            <a:avLst/>
          </a:prstGeom>
          <a:noFill/>
        </p:spPr>
        <p:txBody>
          <a:bodyPr wrap="square" rtlCol="0">
            <a:spAutoFit/>
          </a:bodyPr>
          <a:lstStyle/>
          <a:p>
            <a:pPr marL="457200" indent="-457200">
              <a:buFont typeface="Arial" panose="020B0604020202020204" pitchFamily="34" charset="0"/>
              <a:buChar char="•"/>
            </a:pPr>
            <a:r>
              <a:rPr lang="en-US" sz="2400" dirty="0"/>
              <a:t>There is a problem</a:t>
            </a:r>
          </a:p>
          <a:p>
            <a:pPr marL="457200" indent="-457200">
              <a:buFont typeface="Arial" panose="020B0604020202020204" pitchFamily="34" charset="0"/>
              <a:buChar char="•"/>
            </a:pPr>
            <a:r>
              <a:rPr lang="en-US" sz="2400" dirty="0"/>
              <a:t>Criticality definition dependent on the mid-price but mid-price can move</a:t>
            </a:r>
          </a:p>
          <a:p>
            <a:pPr marL="457200" indent="-457200">
              <a:buFont typeface="Arial" panose="020B0604020202020204" pitchFamily="34" charset="0"/>
              <a:buChar char="•"/>
            </a:pPr>
            <a:r>
              <a:rPr lang="en-US" sz="2400" dirty="0"/>
              <a:t>Two orders can co-reside </a:t>
            </a:r>
            <a:r>
              <a:rPr lang="en-US" sz="2400" dirty="0" err="1"/>
              <a:t>s.t.</a:t>
            </a:r>
            <a:r>
              <a:rPr lang="en-US" sz="2400" dirty="0"/>
              <a:t> one was generated after the mid-price changed</a:t>
            </a:r>
          </a:p>
          <a:p>
            <a:pPr marL="457200" indent="-457200">
              <a:buFont typeface="Arial" panose="020B0604020202020204" pitchFamily="34" charset="0"/>
              <a:buChar char="•"/>
            </a:pPr>
            <a:r>
              <a:rPr lang="en-US" sz="2400" dirty="0"/>
              <a:t>Can we have some ordering decision between such two orders? Difficult!</a:t>
            </a:r>
          </a:p>
        </p:txBody>
      </p:sp>
      <p:sp>
        <p:nvSpPr>
          <p:cNvPr id="3" name="Rounded Rectangle 2">
            <a:extLst>
              <a:ext uri="{FF2B5EF4-FFF2-40B4-BE49-F238E27FC236}">
                <a16:creationId xmlns:a16="http://schemas.microsoft.com/office/drawing/2014/main" id="{2CE0093C-5B25-8C18-A7D6-70F465D7B4AD}"/>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3200781171"/>
      </p:ext>
    </p:extLst>
  </p:cSld>
  <p:clrMapOvr>
    <a:masterClrMapping/>
  </p:clrMapOvr>
  <p:transition>
    <p:push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slides/slide110.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AAE0B575-1651-3AFD-F21C-09F2B4EB945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926CEE-56D0-8F72-9BC4-BB73E5A8974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F9C237F-2325-AA67-45D1-C68F34ED780C}"/>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A083A8E6-5590-7566-8AA5-42AF36E9CF90}"/>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D8E6C332-A83C-A413-629B-FC65D9CD2AE5}"/>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6ABCD78-F6BA-3A9E-A84D-53C5C51A5AC4}"/>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66ABCD78-F6BA-3A9E-A84D-53C5C51A5AC4}"/>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70A8221-10AD-946F-2034-6E8D4375491C}"/>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F54DE534-7B32-3423-7E6E-D2AC0DC0CE24}"/>
              </a:ext>
            </a:extLst>
          </p:cNvPr>
          <p:cNvSpPr txBox="1"/>
          <p:nvPr/>
        </p:nvSpPr>
        <p:spPr>
          <a:xfrm>
            <a:off x="269392" y="4203128"/>
            <a:ext cx="10822075"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First element of the ranking tuple: mid-price ID</a:t>
            </a:r>
          </a:p>
          <a:p>
            <a:pPr marL="285750" indent="-285750">
              <a:buFont typeface="Arial" panose="020B0604020202020204" pitchFamily="34" charset="0"/>
              <a:buChar char="•"/>
            </a:pPr>
            <a:r>
              <a:rPr lang="en-US" sz="2800" dirty="0"/>
              <a:t>Every time mid-price moves (and MPs receive the info from the exchange), mid-price ID is incremented</a:t>
            </a:r>
          </a:p>
          <a:p>
            <a:pPr marL="285750" indent="-285750">
              <a:buFont typeface="Arial" panose="020B0604020202020204" pitchFamily="34" charset="0"/>
              <a:buChar char="•"/>
            </a:pPr>
            <a:r>
              <a:rPr lang="en-US" sz="2800" dirty="0"/>
              <a:t>All the orders with old mid-price presented to the exchange before any order with a new mid-price</a:t>
            </a:r>
          </a:p>
        </p:txBody>
      </p:sp>
      <p:sp>
        <p:nvSpPr>
          <p:cNvPr id="9" name="Rounded Rectangle 8">
            <a:extLst>
              <a:ext uri="{FF2B5EF4-FFF2-40B4-BE49-F238E27FC236}">
                <a16:creationId xmlns:a16="http://schemas.microsoft.com/office/drawing/2014/main" id="{F474F005-ED43-8D21-26E0-415DDAD694C9}"/>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2137735428"/>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111.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4D73A42D-80C0-293D-CDDF-50CE7C88061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385A105-CDE2-C3A5-4D07-8AEA051F7AE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44435C9-9D35-AEBC-DFCD-5272CFB334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C93E3044-3277-AC9A-0C34-E285F2E3E86F}"/>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5539DB6-B5C3-C730-990A-A3D49F37E119}"/>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8BC652A-D288-1D98-AE8A-F12CA973ACB0}"/>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D8BC652A-D288-1D98-AE8A-F12CA973ACB0}"/>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6060C77-7179-3BC1-61F5-D9B3E9CD4062}"/>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Rounded Rectangle 7">
            <a:extLst>
              <a:ext uri="{FF2B5EF4-FFF2-40B4-BE49-F238E27FC236}">
                <a16:creationId xmlns:a16="http://schemas.microsoft.com/office/drawing/2014/main" id="{47245149-74B2-DDF4-1906-C03A47EA76B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1889821421"/>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78349F0-CEFC-4BF5-E2AA-073FE874671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2976286B-A5B5-69A8-B011-5E252BE0F27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FF4A78D9-EAF6-0A4C-BDAE-5EAADFC40360}"/>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9" name="Google Shape;407;p35">
            <a:extLst>
              <a:ext uri="{FF2B5EF4-FFF2-40B4-BE49-F238E27FC236}">
                <a16:creationId xmlns:a16="http://schemas.microsoft.com/office/drawing/2014/main" id="{EC0CD311-8256-C445-E26C-F3D71C05F916}"/>
              </a:ext>
            </a:extLst>
          </p:cNvPr>
          <p:cNvSpPr txBox="1">
            <a:spLocks/>
          </p:cNvSpPr>
          <p:nvPr/>
        </p:nvSpPr>
        <p:spPr>
          <a:xfrm>
            <a:off x="415600" y="2504146"/>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&lt;                      ,              ,      &gt;</a:t>
            </a:r>
          </a:p>
          <a:p>
            <a:pPr>
              <a:buFont typeface="Arial" panose="020B0604020202020204" pitchFamily="34" charset="0"/>
              <a:buChar char="-"/>
            </a:pPr>
            <a:r>
              <a:rPr lang="en-US" sz="2400" dirty="0"/>
              <a:t>LOQ lexicographically sorts the received orders based on the above tuple</a:t>
            </a:r>
          </a:p>
        </p:txBody>
      </p:sp>
      <p:sp>
        <p:nvSpPr>
          <p:cNvPr id="10" name="Oval 9">
            <a:extLst>
              <a:ext uri="{FF2B5EF4-FFF2-40B4-BE49-F238E27FC236}">
                <a16:creationId xmlns:a16="http://schemas.microsoft.com/office/drawing/2014/main" id="{DD01CA64-E04E-DB78-0364-BE2FF7B83ED1}"/>
              </a:ext>
            </a:extLst>
          </p:cNvPr>
          <p:cNvSpPr/>
          <p:nvPr/>
        </p:nvSpPr>
        <p:spPr>
          <a:xfrm>
            <a:off x="2886866" y="2265624"/>
            <a:ext cx="1276141"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tx1"/>
                </a:solidFill>
              </a:rPr>
              <a:t>ts</a:t>
            </a:r>
            <a:endParaRPr lang="en-US" sz="4000" dirty="0">
              <a:solidFill>
                <a:schemeClr val="tx1"/>
              </a:solidFill>
            </a:endParaRPr>
          </a:p>
        </p:txBody>
      </p:sp>
      <p:sp>
        <p:nvSpPr>
          <p:cNvPr id="11" name="Oval 10">
            <a:extLst>
              <a:ext uri="{FF2B5EF4-FFF2-40B4-BE49-F238E27FC236}">
                <a16:creationId xmlns:a16="http://schemas.microsoft.com/office/drawing/2014/main" id="{29ECBB07-41A1-838E-D39A-4D1C11353772}"/>
              </a:ext>
            </a:extLst>
          </p:cNvPr>
          <p:cNvSpPr/>
          <p:nvPr/>
        </p:nvSpPr>
        <p:spPr>
          <a:xfrm>
            <a:off x="2102046" y="2265625"/>
            <a:ext cx="1505313"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Critical</a:t>
            </a:r>
          </a:p>
        </p:txBody>
      </p:sp>
      <p:sp>
        <p:nvSpPr>
          <p:cNvPr id="12" name="Oval 11">
            <a:extLst>
              <a:ext uri="{FF2B5EF4-FFF2-40B4-BE49-F238E27FC236}">
                <a16:creationId xmlns:a16="http://schemas.microsoft.com/office/drawing/2014/main" id="{0602F33C-76A1-D77E-ECFF-66732FE1D1F8}"/>
              </a:ext>
            </a:extLst>
          </p:cNvPr>
          <p:cNvSpPr/>
          <p:nvPr/>
        </p:nvSpPr>
        <p:spPr>
          <a:xfrm>
            <a:off x="-140048" y="2265625"/>
            <a:ext cx="3523545"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Mid-price ID</a:t>
            </a:r>
          </a:p>
        </p:txBody>
      </p:sp>
      <p:sp>
        <p:nvSpPr>
          <p:cNvPr id="13" name="Google Shape;407;p35">
            <a:extLst>
              <a:ext uri="{FF2B5EF4-FFF2-40B4-BE49-F238E27FC236}">
                <a16:creationId xmlns:a16="http://schemas.microsoft.com/office/drawing/2014/main" id="{2E871AC9-881D-DEFA-AB74-8987B7BEFB78}"/>
              </a:ext>
            </a:extLst>
          </p:cNvPr>
          <p:cNvSpPr txBox="1">
            <a:spLocks/>
          </p:cNvSpPr>
          <p:nvPr/>
        </p:nvSpPr>
        <p:spPr>
          <a:xfrm>
            <a:off x="415600" y="3549710"/>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LOQ enhances the order matching rate of the exchange while lowering the latency for matched orders</a:t>
            </a:r>
          </a:p>
        </p:txBody>
      </p:sp>
      <p:sp>
        <p:nvSpPr>
          <p:cNvPr id="3" name="Rounded Rectangle 2">
            <a:extLst>
              <a:ext uri="{FF2B5EF4-FFF2-40B4-BE49-F238E27FC236}">
                <a16:creationId xmlns:a16="http://schemas.microsoft.com/office/drawing/2014/main" id="{442ED2A8-464E-8F73-DCC5-AE4BFFF6CA9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Google Shape;407;p35">
            <a:extLst>
              <a:ext uri="{FF2B5EF4-FFF2-40B4-BE49-F238E27FC236}">
                <a16:creationId xmlns:a16="http://schemas.microsoft.com/office/drawing/2014/main" id="{2CDB5725-7236-A943-4C67-4A16B4C30945}"/>
              </a:ext>
            </a:extLst>
          </p:cNvPr>
          <p:cNvSpPr txBox="1">
            <a:spLocks/>
          </p:cNvSpPr>
          <p:nvPr/>
        </p:nvSpPr>
        <p:spPr>
          <a:xfrm>
            <a:off x="415600" y="4468069"/>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endParaRPr lang="en-US" sz="2000" dirty="0"/>
          </a:p>
        </p:txBody>
      </p:sp>
    </p:spTree>
    <p:extLst>
      <p:ext uri="{BB962C8B-B14F-4D97-AF65-F5344CB8AC3E}">
        <p14:creationId xmlns:p14="http://schemas.microsoft.com/office/powerpoint/2010/main" val="20957528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nodePh="1">
                                  <p:stCondLst>
                                    <p:cond delay="0"/>
                                  </p:stCondLst>
                                  <p:endCondLst>
                                    <p:cond evt="begin" delay="0">
                                      <p:tn val="9"/>
                                    </p:cond>
                                  </p:end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4" grpId="0"/>
    </p:bldLst>
  </p:timing>
</p:sld>
</file>

<file path=ppt/slides/slide113.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289476" y="1150491"/>
            <a:ext cx="5574190" cy="5501032"/>
          </a:xfrm>
          <a:prstGeom prst="rect">
            <a:avLst/>
          </a:prstGeom>
        </p:spPr>
        <p:txBody>
          <a:bodyPr spcFirstLastPara="1" wrap="square" lIns="121900" tIns="121900" rIns="121900" bIns="121900" anchor="t" anchorCtr="0">
            <a:noAutofit/>
          </a:bodyPr>
          <a:lstStyle/>
          <a:p>
            <a:pPr>
              <a:buChar char="-"/>
            </a:pPr>
            <a:r>
              <a:rPr lang="en-US" sz="3200" dirty="0"/>
              <a:t>Latency fairness in cloud financial exchanges can be realized using </a:t>
            </a:r>
            <a:br>
              <a:rPr lang="en-US" sz="3200" dirty="0"/>
            </a:br>
            <a:r>
              <a:rPr lang="en-US" sz="3200" dirty="0"/>
              <a:t>synchronized clocks</a:t>
            </a:r>
            <a:br>
              <a:rPr lang="en-US" sz="3200" dirty="0"/>
            </a:br>
            <a:endParaRPr lang="en-US" sz="3200" dirty="0"/>
          </a:p>
          <a:p>
            <a:pPr>
              <a:buChar char="-"/>
            </a:pPr>
            <a:r>
              <a:rPr lang="en-US" sz="3200" dirty="0"/>
              <a:t>Mechanisms for improving performance while </a:t>
            </a:r>
            <a:br>
              <a:rPr lang="en-US" sz="3200" dirty="0"/>
            </a:br>
            <a:r>
              <a:rPr lang="en-US" sz="3200" dirty="0"/>
              <a:t>retaining performance are also possible</a:t>
            </a:r>
            <a:br>
              <a:rPr lang="en-US" sz="3200" dirty="0"/>
            </a:br>
            <a:endParaRPr lang="en-US" sz="3200" dirty="0"/>
          </a:p>
          <a:p>
            <a:pPr>
              <a:buChar char="-"/>
            </a:pPr>
            <a:r>
              <a:rPr lang="en-US" sz="3200" dirty="0"/>
              <a:t>Such exchanges present a new operating point</a:t>
            </a:r>
          </a:p>
        </p:txBody>
      </p:sp>
      <p:pic>
        <p:nvPicPr>
          <p:cNvPr id="2" name="Picture 1">
            <a:extLst>
              <a:ext uri="{FF2B5EF4-FFF2-40B4-BE49-F238E27FC236}">
                <a16:creationId xmlns:a16="http://schemas.microsoft.com/office/drawing/2014/main" id="{4CCD7C0E-BE44-7BCF-001C-7FF80CFE607F}"/>
              </a:ext>
            </a:extLst>
          </p:cNvPr>
          <p:cNvPicPr>
            <a:picLocks noChangeAspect="1"/>
          </p:cNvPicPr>
          <p:nvPr/>
        </p:nvPicPr>
        <p:blipFill>
          <a:blip r:embed="rId3"/>
          <a:stretch>
            <a:fillRect/>
          </a:stretch>
        </p:blipFill>
        <p:spPr>
          <a:xfrm>
            <a:off x="5737542" y="1356967"/>
            <a:ext cx="6397318" cy="3598491"/>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1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1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1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1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53221" y="4861753"/>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4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A955386A-E9BB-B335-859D-ED9757E75200}"/>
                  </a:ext>
                </a:extLst>
              </p:cNvPr>
              <p:cNvSpPr txBox="1"/>
              <p:nvPr/>
            </p:nvSpPr>
            <p:spPr>
              <a:xfrm>
                <a:off x="3876395" y="1947720"/>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6" name="TextBox 5">
                <a:extLst>
                  <a:ext uri="{FF2B5EF4-FFF2-40B4-BE49-F238E27FC236}">
                    <a16:creationId xmlns:a16="http://schemas.microsoft.com/office/drawing/2014/main" id="{A955386A-E9BB-B335-859D-ED9757E75200}"/>
                  </a:ext>
                </a:extLst>
              </p:cNvPr>
              <p:cNvSpPr txBox="1">
                <a:spLocks noRot="1" noChangeAspect="1" noMove="1" noResize="1" noEditPoints="1" noAdjustHandles="1" noChangeArrowheads="1" noChangeShapeType="1" noTextEdit="1"/>
              </p:cNvSpPr>
              <p:nvPr/>
            </p:nvSpPr>
            <p:spPr>
              <a:xfrm>
                <a:off x="3876395" y="1947720"/>
                <a:ext cx="4284763" cy="1031436"/>
              </a:xfrm>
              <a:prstGeom prst="rect">
                <a:avLst/>
              </a:prstGeom>
              <a:blipFill>
                <a:blip r:embed="rId3"/>
                <a:stretch>
                  <a:fillRect l="-1479" t="-173171" r="-1479" b="-240244"/>
                </a:stretch>
              </a:blipFill>
            </p:spPr>
            <p:txBody>
              <a:bodyPr/>
              <a:lstStyle/>
              <a:p>
                <a:r>
                  <a:rPr lang="en-US">
                    <a:noFill/>
                  </a:rPr>
                  <a:t> </a:t>
                </a:r>
              </a:p>
            </p:txBody>
          </p:sp>
        </mc:Fallback>
      </mc:AlternateContent>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304EB-34D9-C951-FCD7-C80EA3F9DDA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11F3E789-9597-24C5-93F6-A82B46EFBC2F}"/>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846A2ED-F61C-8927-2217-C6D6DE68173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7FA0E4A3-3CF5-24AF-D615-0876E05D7003}"/>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05BFD68E-25F1-7FC1-1136-63F2B840534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Oval 3">
            <a:extLst>
              <a:ext uri="{FF2B5EF4-FFF2-40B4-BE49-F238E27FC236}">
                <a16:creationId xmlns:a16="http://schemas.microsoft.com/office/drawing/2014/main" id="{3A751E77-097D-85C4-3B13-477D7FBCF5F6}"/>
              </a:ext>
            </a:extLst>
          </p:cNvPr>
          <p:cNvSpPr/>
          <p:nvPr/>
        </p:nvSpPr>
        <p:spPr>
          <a:xfrm>
            <a:off x="416560" y="290219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7" name="Oval 6">
            <a:extLst>
              <a:ext uri="{FF2B5EF4-FFF2-40B4-BE49-F238E27FC236}">
                <a16:creationId xmlns:a16="http://schemas.microsoft.com/office/drawing/2014/main" id="{5C251123-1696-4E96-27CC-C452C28D22B2}"/>
              </a:ext>
            </a:extLst>
          </p:cNvPr>
          <p:cNvSpPr/>
          <p:nvPr/>
        </p:nvSpPr>
        <p:spPr>
          <a:xfrm>
            <a:off x="2661752" y="19189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8" name="Oval 7">
            <a:extLst>
              <a:ext uri="{FF2B5EF4-FFF2-40B4-BE49-F238E27FC236}">
                <a16:creationId xmlns:a16="http://schemas.microsoft.com/office/drawing/2014/main" id="{C159F21F-415D-4A65-F9D8-E8FBED937E23}"/>
              </a:ext>
            </a:extLst>
          </p:cNvPr>
          <p:cNvSpPr/>
          <p:nvPr/>
        </p:nvSpPr>
        <p:spPr>
          <a:xfrm>
            <a:off x="4244965" y="3609202"/>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9" name="Right Arrow 8">
            <a:extLst>
              <a:ext uri="{FF2B5EF4-FFF2-40B4-BE49-F238E27FC236}">
                <a16:creationId xmlns:a16="http://schemas.microsoft.com/office/drawing/2014/main" id="{44366E91-1DC6-D81B-65D9-DB1E72EAC9B1}"/>
              </a:ext>
            </a:extLst>
          </p:cNvPr>
          <p:cNvSpPr/>
          <p:nvPr/>
        </p:nvSpPr>
        <p:spPr>
          <a:xfrm rot="20185536">
            <a:off x="1628117" y="25627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ight Arrow 10">
            <a:extLst>
              <a:ext uri="{FF2B5EF4-FFF2-40B4-BE49-F238E27FC236}">
                <a16:creationId xmlns:a16="http://schemas.microsoft.com/office/drawing/2014/main" id="{00963573-5A18-5C81-727D-3E3D4D1463CC}"/>
              </a:ext>
            </a:extLst>
          </p:cNvPr>
          <p:cNvSpPr/>
          <p:nvPr/>
        </p:nvSpPr>
        <p:spPr>
          <a:xfrm rot="3221364">
            <a:off x="3739520" y="30705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14F23EB-9C27-CCEF-B410-1C8B8827A8DD}"/>
              </a:ext>
            </a:extLst>
          </p:cNvPr>
          <p:cNvSpPr/>
          <p:nvPr/>
        </p:nvSpPr>
        <p:spPr>
          <a:xfrm rot="11578444">
            <a:off x="2324348" y="3637742"/>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Multiply 12">
            <a:extLst>
              <a:ext uri="{FF2B5EF4-FFF2-40B4-BE49-F238E27FC236}">
                <a16:creationId xmlns:a16="http://schemas.microsoft.com/office/drawing/2014/main" id="{2BC9C8BC-25B1-F205-A175-FDA9BC74E57F}"/>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0B349C9-D31C-0B2E-2F44-2BB2F9747AEB}"/>
              </a:ext>
            </a:extLst>
          </p:cNvPr>
          <p:cNvSpPr txBox="1"/>
          <p:nvPr/>
        </p:nvSpPr>
        <p:spPr>
          <a:xfrm>
            <a:off x="426722" y="4606730"/>
            <a:ext cx="5171440" cy="1323439"/>
          </a:xfrm>
          <a:prstGeom prst="rect">
            <a:avLst/>
          </a:prstGeom>
          <a:noFill/>
        </p:spPr>
        <p:txBody>
          <a:bodyPr wrap="square" rtlCol="0">
            <a:spAutoFit/>
          </a:bodyPr>
          <a:lstStyle/>
          <a:p>
            <a:r>
              <a:rPr lang="en-US" sz="4000" dirty="0"/>
              <a:t>In practice, cycles are present.</a:t>
            </a:r>
          </a:p>
        </p:txBody>
      </p:sp>
      <p:sp>
        <p:nvSpPr>
          <p:cNvPr id="15" name="TextBox 14">
            <a:extLst>
              <a:ext uri="{FF2B5EF4-FFF2-40B4-BE49-F238E27FC236}">
                <a16:creationId xmlns:a16="http://schemas.microsoft.com/office/drawing/2014/main" id="{F6C8A1C5-D248-F4EE-4B44-D101AE7D0E94}"/>
              </a:ext>
            </a:extLst>
          </p:cNvPr>
          <p:cNvSpPr txBox="1"/>
          <p:nvPr/>
        </p:nvSpPr>
        <p:spPr>
          <a:xfrm>
            <a:off x="426721" y="5930169"/>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203920776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
        <p:nvSpPr>
          <p:cNvPr id="3" name="Oval 2">
            <a:extLst>
              <a:ext uri="{FF2B5EF4-FFF2-40B4-BE49-F238E27FC236}">
                <a16:creationId xmlns:a16="http://schemas.microsoft.com/office/drawing/2014/main" id="{EBF0BAEF-D117-E2CC-876F-630BF2F66290}"/>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59B9F52C-E5A2-A81C-A0A5-3DD75457E5D0}"/>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83EFD9F-26C7-0C9F-543F-EBD1FAF9D597}"/>
              </a:ext>
            </a:extLst>
          </p:cNvPr>
          <p:cNvSpPr/>
          <p:nvPr/>
        </p:nvSpPr>
        <p:spPr>
          <a:xfrm>
            <a:off x="4007658" y="2504440"/>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4" name="Oval 3">
            <a:extLst>
              <a:ext uri="{FF2B5EF4-FFF2-40B4-BE49-F238E27FC236}">
                <a16:creationId xmlns:a16="http://schemas.microsoft.com/office/drawing/2014/main" id="{50F9C645-1778-F657-1202-B5C1363B9FE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Down Arrow 4">
            <a:extLst>
              <a:ext uri="{FF2B5EF4-FFF2-40B4-BE49-F238E27FC236}">
                <a16:creationId xmlns:a16="http://schemas.microsoft.com/office/drawing/2014/main" id="{B8417718-15F2-B0F5-37CE-F07144165EDF}"/>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4CC2D-2DA6-6DBA-9BFA-90F93529B1D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3D5A1F7-313C-346F-42E7-E58A0939547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F052475-C6BF-BF04-6FFD-6E70E2EE0E51}"/>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93EA7D12-C9C0-9669-206D-3714A032B606}"/>
              </a:ext>
            </a:extLst>
          </p:cNvPr>
          <p:cNvSpPr txBox="1"/>
          <p:nvPr/>
        </p:nvSpPr>
        <p:spPr>
          <a:xfrm>
            <a:off x="5679440" y="1570079"/>
            <a:ext cx="2346960" cy="954107"/>
          </a:xfrm>
          <a:prstGeom prst="rect">
            <a:avLst/>
          </a:prstGeom>
          <a:noFill/>
        </p:spPr>
        <p:txBody>
          <a:bodyPr wrap="square" rtlCol="0">
            <a:spAutoFit/>
          </a:bodyPr>
          <a:lstStyle/>
          <a:p>
            <a:r>
              <a:rPr lang="en-US" sz="2800" dirty="0"/>
              <a:t>Aggregated votes per pair</a:t>
            </a:r>
          </a:p>
        </p:txBody>
      </p:sp>
      <p:sp>
        <p:nvSpPr>
          <p:cNvPr id="7" name="TextBox 6">
            <a:extLst>
              <a:ext uri="{FF2B5EF4-FFF2-40B4-BE49-F238E27FC236}">
                <a16:creationId xmlns:a16="http://schemas.microsoft.com/office/drawing/2014/main" id="{606E8898-5FA8-7750-1C10-E0507F7A3ABC}"/>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0" name="TextBox 9">
            <a:extLst>
              <a:ext uri="{FF2B5EF4-FFF2-40B4-BE49-F238E27FC236}">
                <a16:creationId xmlns:a16="http://schemas.microsoft.com/office/drawing/2014/main" id="{B90AD1E2-D02D-273A-E0DD-51092A6DB27D}"/>
              </a:ext>
            </a:extLst>
          </p:cNvPr>
          <p:cNvSpPr txBox="1"/>
          <p:nvPr/>
        </p:nvSpPr>
        <p:spPr>
          <a:xfrm>
            <a:off x="7416800" y="2773679"/>
            <a:ext cx="1385316" cy="461665"/>
          </a:xfrm>
          <a:prstGeom prst="rect">
            <a:avLst/>
          </a:prstGeom>
          <a:noFill/>
        </p:spPr>
        <p:txBody>
          <a:bodyPr wrap="none" rtlCol="0">
            <a:spAutoFit/>
          </a:bodyPr>
          <a:lstStyle/>
          <a:p>
            <a:r>
              <a:rPr lang="en-US" sz="2400" dirty="0"/>
              <a:t>B </a:t>
            </a:r>
            <a:r>
              <a:rPr lang="en-US" sz="2400" dirty="0">
                <a:sym typeface="Wingdings" pitchFamily="2" charset="2"/>
              </a:rPr>
              <a:t> A</a:t>
            </a:r>
            <a:r>
              <a:rPr lang="en-US" sz="2400" dirty="0"/>
              <a:t> (1)</a:t>
            </a:r>
          </a:p>
        </p:txBody>
      </p:sp>
      <p:sp>
        <p:nvSpPr>
          <p:cNvPr id="11" name="TextBox 10">
            <a:extLst>
              <a:ext uri="{FF2B5EF4-FFF2-40B4-BE49-F238E27FC236}">
                <a16:creationId xmlns:a16="http://schemas.microsoft.com/office/drawing/2014/main" id="{B9E075C7-9D5A-4030-0F84-CF56F8B6190B}"/>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2" name="TextBox 11">
            <a:extLst>
              <a:ext uri="{FF2B5EF4-FFF2-40B4-BE49-F238E27FC236}">
                <a16:creationId xmlns:a16="http://schemas.microsoft.com/office/drawing/2014/main" id="{5BE21E30-5198-CD9C-C181-B42F117A4A49}"/>
              </a:ext>
            </a:extLst>
          </p:cNvPr>
          <p:cNvSpPr txBox="1"/>
          <p:nvPr/>
        </p:nvSpPr>
        <p:spPr>
          <a:xfrm>
            <a:off x="7416800" y="3160991"/>
            <a:ext cx="1417376" cy="461665"/>
          </a:xfrm>
          <a:prstGeom prst="rect">
            <a:avLst/>
          </a:prstGeom>
          <a:noFill/>
        </p:spPr>
        <p:txBody>
          <a:bodyPr wrap="none" rtlCol="0">
            <a:spAutoFit/>
          </a:bodyPr>
          <a:lstStyle/>
          <a:p>
            <a:r>
              <a:rPr lang="en-US" sz="2400" dirty="0"/>
              <a:t>C </a:t>
            </a:r>
            <a:r>
              <a:rPr lang="en-US" sz="2400" dirty="0">
                <a:sym typeface="Wingdings" pitchFamily="2" charset="2"/>
              </a:rPr>
              <a:t> B</a:t>
            </a:r>
            <a:r>
              <a:rPr lang="en-US" sz="2400" dirty="0"/>
              <a:t> (1)</a:t>
            </a:r>
          </a:p>
        </p:txBody>
      </p:sp>
      <p:sp>
        <p:nvSpPr>
          <p:cNvPr id="13" name="TextBox 12">
            <a:extLst>
              <a:ext uri="{FF2B5EF4-FFF2-40B4-BE49-F238E27FC236}">
                <a16:creationId xmlns:a16="http://schemas.microsoft.com/office/drawing/2014/main" id="{B71D9F53-AAE6-6FDC-3DD8-7B5CAE299E7C}"/>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14" name="TextBox 13">
            <a:extLst>
              <a:ext uri="{FF2B5EF4-FFF2-40B4-BE49-F238E27FC236}">
                <a16:creationId xmlns:a16="http://schemas.microsoft.com/office/drawing/2014/main" id="{E4FFFC4D-C148-15BC-8306-180A41148925}"/>
              </a:ext>
            </a:extLst>
          </p:cNvPr>
          <p:cNvSpPr txBox="1"/>
          <p:nvPr/>
        </p:nvSpPr>
        <p:spPr>
          <a:xfrm>
            <a:off x="7416800" y="3548303"/>
            <a:ext cx="1412566" cy="461665"/>
          </a:xfrm>
          <a:prstGeom prst="rect">
            <a:avLst/>
          </a:prstGeom>
          <a:noFill/>
        </p:spPr>
        <p:txBody>
          <a:bodyPr wrap="none" rtlCol="0">
            <a:spAutoFit/>
          </a:bodyPr>
          <a:lstStyle/>
          <a:p>
            <a:r>
              <a:rPr lang="en-US" sz="2400" dirty="0"/>
              <a:t>A </a:t>
            </a:r>
            <a:r>
              <a:rPr lang="en-US" sz="2400" dirty="0">
                <a:sym typeface="Wingdings" pitchFamily="2" charset="2"/>
              </a:rPr>
              <a:t> C</a:t>
            </a:r>
            <a:r>
              <a:rPr lang="en-US" sz="2400" dirty="0"/>
              <a:t> (1)</a:t>
            </a:r>
          </a:p>
        </p:txBody>
      </p:sp>
      <p:sp>
        <p:nvSpPr>
          <p:cNvPr id="15" name="Oval 14">
            <a:extLst>
              <a:ext uri="{FF2B5EF4-FFF2-40B4-BE49-F238E27FC236}">
                <a16:creationId xmlns:a16="http://schemas.microsoft.com/office/drawing/2014/main" id="{F3F3FD5A-84DA-0AE9-A93A-1E7C2CCDC80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6" name="Down Arrow 15">
            <a:extLst>
              <a:ext uri="{FF2B5EF4-FFF2-40B4-BE49-F238E27FC236}">
                <a16:creationId xmlns:a16="http://schemas.microsoft.com/office/drawing/2014/main" id="{5B41FEEA-FF87-1DFD-9914-2C344F663A0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846199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4" grpId="0"/>
    </p:bld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E156B-35F4-E7FB-8A71-30DE555B7DDD}"/>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240F730-8B89-A4C5-1CCF-C46B89E042C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64A2FCEE-C7FE-120A-D2F8-922F05A1F670}"/>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D0EAC023-AA95-5C73-E312-E9EDE91D931E}"/>
              </a:ext>
            </a:extLst>
          </p:cNvPr>
          <p:cNvSpPr txBox="1"/>
          <p:nvPr/>
        </p:nvSpPr>
        <p:spPr>
          <a:xfrm>
            <a:off x="5262008" y="1309793"/>
            <a:ext cx="2799516" cy="1384995"/>
          </a:xfrm>
          <a:prstGeom prst="rect">
            <a:avLst/>
          </a:prstGeom>
          <a:noFill/>
        </p:spPr>
        <p:txBody>
          <a:bodyPr wrap="square" rtlCol="0">
            <a:spAutoFit/>
          </a:bodyPr>
          <a:lstStyle/>
          <a:p>
            <a:r>
              <a:rPr lang="en-US" sz="2800" dirty="0"/>
              <a:t>Majority based on aggregated votes per pair</a:t>
            </a:r>
          </a:p>
        </p:txBody>
      </p:sp>
      <p:sp>
        <p:nvSpPr>
          <p:cNvPr id="7" name="TextBox 6">
            <a:extLst>
              <a:ext uri="{FF2B5EF4-FFF2-40B4-BE49-F238E27FC236}">
                <a16:creationId xmlns:a16="http://schemas.microsoft.com/office/drawing/2014/main" id="{99A9DE38-1311-EE61-0AF5-3ADDAF6B0F39}"/>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1" name="TextBox 10">
            <a:extLst>
              <a:ext uri="{FF2B5EF4-FFF2-40B4-BE49-F238E27FC236}">
                <a16:creationId xmlns:a16="http://schemas.microsoft.com/office/drawing/2014/main" id="{7A2ECAB2-75BA-4D9E-3E06-47B8760934AA}"/>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3" name="TextBox 12">
            <a:extLst>
              <a:ext uri="{FF2B5EF4-FFF2-40B4-BE49-F238E27FC236}">
                <a16:creationId xmlns:a16="http://schemas.microsoft.com/office/drawing/2014/main" id="{A452927E-B0E5-221D-6C30-B93942A21AA2}"/>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2" name="Oval 1">
            <a:extLst>
              <a:ext uri="{FF2B5EF4-FFF2-40B4-BE49-F238E27FC236}">
                <a16:creationId xmlns:a16="http://schemas.microsoft.com/office/drawing/2014/main" id="{75F73D23-58BF-5CA2-FBAE-8C4F3711377F}"/>
              </a:ext>
            </a:extLst>
          </p:cNvPr>
          <p:cNvSpPr/>
          <p:nvPr/>
        </p:nvSpPr>
        <p:spPr>
          <a:xfrm>
            <a:off x="5750560" y="4580914"/>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4" name="Oval 3">
            <a:extLst>
              <a:ext uri="{FF2B5EF4-FFF2-40B4-BE49-F238E27FC236}">
                <a16:creationId xmlns:a16="http://schemas.microsoft.com/office/drawing/2014/main" id="{BFBE57CD-0B18-7F96-E27F-0284B06E679C}"/>
              </a:ext>
            </a:extLst>
          </p:cNvPr>
          <p:cNvSpPr/>
          <p:nvPr/>
        </p:nvSpPr>
        <p:spPr>
          <a:xfrm>
            <a:off x="7995752" y="3597666"/>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8" name="Right Arrow 7">
            <a:extLst>
              <a:ext uri="{FF2B5EF4-FFF2-40B4-BE49-F238E27FC236}">
                <a16:creationId xmlns:a16="http://schemas.microsoft.com/office/drawing/2014/main" id="{E059E62E-BDE6-E4E6-7E78-621DFEEEE034}"/>
              </a:ext>
            </a:extLst>
          </p:cNvPr>
          <p:cNvSpPr/>
          <p:nvPr/>
        </p:nvSpPr>
        <p:spPr>
          <a:xfrm rot="20185536">
            <a:off x="6962117" y="42414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86818319-4DEF-A37E-5AC6-FC4978A16D1C}"/>
              </a:ext>
            </a:extLst>
          </p:cNvPr>
          <p:cNvSpPr/>
          <p:nvPr/>
        </p:nvSpPr>
        <p:spPr>
          <a:xfrm rot="3221364">
            <a:off x="9073520" y="47492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11981A4E-5F85-09E7-8B74-39AB74D6CBA9}"/>
              </a:ext>
            </a:extLst>
          </p:cNvPr>
          <p:cNvSpPr/>
          <p:nvPr/>
        </p:nvSpPr>
        <p:spPr>
          <a:xfrm>
            <a:off x="9536604" y="53679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7" name="Right Arrow 16">
            <a:extLst>
              <a:ext uri="{FF2B5EF4-FFF2-40B4-BE49-F238E27FC236}">
                <a16:creationId xmlns:a16="http://schemas.microsoft.com/office/drawing/2014/main" id="{64039D33-58C1-9210-F435-3802649A1972}"/>
              </a:ext>
            </a:extLst>
          </p:cNvPr>
          <p:cNvSpPr/>
          <p:nvPr/>
        </p:nvSpPr>
        <p:spPr>
          <a:xfrm rot="12197055">
            <a:off x="7633697" y="563438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5B757F21-9F74-9925-8D1F-E1904EC19EF1}"/>
              </a:ext>
            </a:extLst>
          </p:cNvPr>
          <p:cNvSpPr txBox="1"/>
          <p:nvPr/>
        </p:nvSpPr>
        <p:spPr>
          <a:xfrm>
            <a:off x="9131102" y="1561573"/>
            <a:ext cx="1957312" cy="954107"/>
          </a:xfrm>
          <a:prstGeom prst="rect">
            <a:avLst/>
          </a:prstGeom>
          <a:solidFill>
            <a:srgbClr val="FF0000"/>
          </a:solidFill>
        </p:spPr>
        <p:txBody>
          <a:bodyPr wrap="square" rtlCol="0">
            <a:spAutoFit/>
          </a:bodyPr>
          <a:lstStyle/>
          <a:p>
            <a:r>
              <a:rPr lang="en-US" sz="2800" dirty="0">
                <a:solidFill>
                  <a:schemeClr val="bg1"/>
                </a:solidFill>
              </a:rPr>
              <a:t>Intransitive relation</a:t>
            </a:r>
          </a:p>
        </p:txBody>
      </p:sp>
      <p:sp>
        <p:nvSpPr>
          <p:cNvPr id="19" name="Up Arrow 18">
            <a:extLst>
              <a:ext uri="{FF2B5EF4-FFF2-40B4-BE49-F238E27FC236}">
                <a16:creationId xmlns:a16="http://schemas.microsoft.com/office/drawing/2014/main" id="{93125CF0-1149-3D7A-1C48-E02AAD0B9E27}"/>
              </a:ext>
            </a:extLst>
          </p:cNvPr>
          <p:cNvSpPr/>
          <p:nvPr/>
        </p:nvSpPr>
        <p:spPr>
          <a:xfrm rot="16200000">
            <a:off x="8297264" y="1669837"/>
            <a:ext cx="274152" cy="664906"/>
          </a:xfrm>
          <a:prstGeom prst="up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B9C1DB57-2EAD-D429-B1A3-7C50DBB4CCFB}"/>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1" name="Down Arrow 20">
            <a:extLst>
              <a:ext uri="{FF2B5EF4-FFF2-40B4-BE49-F238E27FC236}">
                <a16:creationId xmlns:a16="http://schemas.microsoft.com/office/drawing/2014/main" id="{8C9BE66D-9239-1D9C-1790-D84677FE3734}"/>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5225171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8" grpId="0" animBg="1"/>
      <p:bldP spid="9" grpId="0" animBg="1"/>
      <p:bldP spid="16" grpId="0" animBg="1"/>
      <p:bldP spid="17" grpId="0" animBg="1"/>
      <p:bldP spid="18" grpId="0" animBg="1"/>
      <p:bldP spid="19" grpId="0" animBg="1"/>
    </p:bld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24" name="Oval 23">
            <a:extLst>
              <a:ext uri="{FF2B5EF4-FFF2-40B4-BE49-F238E27FC236}">
                <a16:creationId xmlns:a16="http://schemas.microsoft.com/office/drawing/2014/main" id="{2AD3AEC3-0588-E89D-87D0-F27CEED48C1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05171265-8AAA-36C1-3E89-43B3954F363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146BBEB0-5D5B-52FD-DEA5-BBEA91C1887F}"/>
              </a:ext>
            </a:extLst>
          </p:cNvPr>
          <p:cNvSpPr/>
          <p:nvPr/>
        </p:nvSpPr>
        <p:spPr>
          <a:xfrm>
            <a:off x="1251284" y="2935705"/>
            <a:ext cx="1732548" cy="4932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Winners</a:t>
            </a:r>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D4EC36-01FC-6485-2AA8-C8658385236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2395DD2F-ABB9-4503-7EB4-9AF90D2618B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0555FD7B-1674-A3DB-7CD6-01582488CD3A}"/>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24" name="Oval 23">
            <a:extLst>
              <a:ext uri="{FF2B5EF4-FFF2-40B4-BE49-F238E27FC236}">
                <a16:creationId xmlns:a16="http://schemas.microsoft.com/office/drawing/2014/main" id="{BEC28C30-36A7-082F-A474-5746FFD518A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58EE668D-1808-5176-CE4C-FC1DAD6E3D7B}"/>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225D8D70-C327-405C-D954-5001F9D828EC}"/>
              </a:ext>
            </a:extLst>
          </p:cNvPr>
          <p:cNvSpPr/>
          <p:nvPr/>
        </p:nvSpPr>
        <p:spPr>
          <a:xfrm>
            <a:off x="1211037" y="3370045"/>
            <a:ext cx="1694047" cy="117909"/>
          </a:xfrm>
          <a:custGeom>
            <a:avLst/>
            <a:gdLst>
              <a:gd name="csX0" fmla="*/ 0 w 1694047"/>
              <a:gd name="csY0" fmla="*/ 0 h 117909"/>
              <a:gd name="csX1" fmla="*/ 598563 w 1694047"/>
              <a:gd name="csY1" fmla="*/ 0 h 117909"/>
              <a:gd name="csX2" fmla="*/ 1180186 w 1694047"/>
              <a:gd name="csY2" fmla="*/ 0 h 117909"/>
              <a:gd name="csX3" fmla="*/ 1694047 w 1694047"/>
              <a:gd name="csY3" fmla="*/ 0 h 117909"/>
              <a:gd name="csX4" fmla="*/ 1694047 w 1694047"/>
              <a:gd name="csY4" fmla="*/ 117909 h 117909"/>
              <a:gd name="csX5" fmla="*/ 1163246 w 1694047"/>
              <a:gd name="csY5" fmla="*/ 117909 h 117909"/>
              <a:gd name="csX6" fmla="*/ 598563 w 1694047"/>
              <a:gd name="csY6" fmla="*/ 117909 h 117909"/>
              <a:gd name="csX7" fmla="*/ 0 w 1694047"/>
              <a:gd name="csY7" fmla="*/ 117909 h 117909"/>
              <a:gd name="csX8" fmla="*/ 0 w 1694047"/>
              <a:gd name="csY8" fmla="*/ 0 h 1179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694047" h="117909" fill="none" extrusionOk="0">
                <a:moveTo>
                  <a:pt x="0" y="0"/>
                </a:moveTo>
                <a:cubicBezTo>
                  <a:pt x="278806" y="-2531"/>
                  <a:pt x="464307" y="68144"/>
                  <a:pt x="598563" y="0"/>
                </a:cubicBezTo>
                <a:cubicBezTo>
                  <a:pt x="732819" y="-68144"/>
                  <a:pt x="1060663" y="36313"/>
                  <a:pt x="1180186" y="0"/>
                </a:cubicBezTo>
                <a:cubicBezTo>
                  <a:pt x="1299709" y="-36313"/>
                  <a:pt x="1588118" y="44253"/>
                  <a:pt x="1694047" y="0"/>
                </a:cubicBezTo>
                <a:cubicBezTo>
                  <a:pt x="1701930" y="24249"/>
                  <a:pt x="1682628" y="94266"/>
                  <a:pt x="1694047" y="117909"/>
                </a:cubicBezTo>
                <a:cubicBezTo>
                  <a:pt x="1538736" y="178579"/>
                  <a:pt x="1395881" y="66265"/>
                  <a:pt x="1163246" y="117909"/>
                </a:cubicBezTo>
                <a:cubicBezTo>
                  <a:pt x="930611" y="169553"/>
                  <a:pt x="712018" y="53794"/>
                  <a:pt x="598563" y="117909"/>
                </a:cubicBezTo>
                <a:cubicBezTo>
                  <a:pt x="485108" y="182024"/>
                  <a:pt x="133942" y="91579"/>
                  <a:pt x="0" y="117909"/>
                </a:cubicBezTo>
                <a:cubicBezTo>
                  <a:pt x="-2175" y="83152"/>
                  <a:pt x="6275" y="58157"/>
                  <a:pt x="0" y="0"/>
                </a:cubicBezTo>
                <a:close/>
              </a:path>
              <a:path w="1694047" h="117909" stroke="0" extrusionOk="0">
                <a:moveTo>
                  <a:pt x="0" y="0"/>
                </a:moveTo>
                <a:cubicBezTo>
                  <a:pt x="149099" y="-34213"/>
                  <a:pt x="361070" y="49167"/>
                  <a:pt x="547742" y="0"/>
                </a:cubicBezTo>
                <a:cubicBezTo>
                  <a:pt x="734414" y="-49167"/>
                  <a:pt x="858670" y="57767"/>
                  <a:pt x="1061603" y="0"/>
                </a:cubicBezTo>
                <a:cubicBezTo>
                  <a:pt x="1264536" y="-57767"/>
                  <a:pt x="1507434" y="26327"/>
                  <a:pt x="1694047" y="0"/>
                </a:cubicBezTo>
                <a:cubicBezTo>
                  <a:pt x="1700938" y="29595"/>
                  <a:pt x="1682016" y="59515"/>
                  <a:pt x="1694047" y="117909"/>
                </a:cubicBezTo>
                <a:cubicBezTo>
                  <a:pt x="1503012" y="138442"/>
                  <a:pt x="1365515" y="112085"/>
                  <a:pt x="1163246" y="117909"/>
                </a:cubicBezTo>
                <a:cubicBezTo>
                  <a:pt x="960977" y="123733"/>
                  <a:pt x="814142" y="64915"/>
                  <a:pt x="564682" y="117909"/>
                </a:cubicBezTo>
                <a:cubicBezTo>
                  <a:pt x="315222" y="170903"/>
                  <a:pt x="273342" y="99638"/>
                  <a:pt x="0" y="117909"/>
                </a:cubicBezTo>
                <a:cubicBezTo>
                  <a:pt x="-13544" y="63608"/>
                  <a:pt x="5843" y="41784"/>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9682555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D654A4-F33A-1F4F-67B8-EAE78BC8032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68E6989D-76DC-F83D-96D4-D771393CD23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6E6327C3-C4B8-50AD-6E44-4F978CC81B79}"/>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3" name="Oval 12">
            <a:extLst>
              <a:ext uri="{FF2B5EF4-FFF2-40B4-BE49-F238E27FC236}">
                <a16:creationId xmlns:a16="http://schemas.microsoft.com/office/drawing/2014/main" id="{25007A3D-C51F-5E41-CDFD-484D9738F863}"/>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2731EF35-9ACE-58C6-6FDB-EC71282C36A4}"/>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3091481E-9F18-B168-0DD7-FEDE66686DDC}"/>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7BD188EA-535B-F762-D608-57A1FC8F969D}"/>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5721620B-142D-276F-A44A-CE8691F8B6B0}"/>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51EF488-4C64-1BEE-BDDA-6EBAEE1FE43F}"/>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554DCE3-E9F0-BF00-E067-E267284DBCBE}"/>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EDAA926F-CC80-18F7-7082-2595BC4B36B7}"/>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0E19B5A1-4986-5BC3-5E2F-1C963B063DE7}"/>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6A9EE674-CE92-8593-1AD0-74BE2CB2EF0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8624219-7642-B9D7-018A-764DB2B5E880}"/>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AD6F073F-3A8E-5335-161F-6A5C27405806}"/>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B07B0309-C2B8-2D75-5287-893285E2AFF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B9B90EE-7E87-93C8-27CB-10229AC8F351}"/>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Tree>
    <p:extLst>
      <p:ext uri="{BB962C8B-B14F-4D97-AF65-F5344CB8AC3E}">
        <p14:creationId xmlns:p14="http://schemas.microsoft.com/office/powerpoint/2010/main" val="199165118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5" grpId="0"/>
    </p:bld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475CE7-98A2-0311-6AA8-A11B5E4B37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CC8C8F5-D8A1-DBCC-B00B-95CD04F4416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3" name="Oval 12">
            <a:extLst>
              <a:ext uri="{FF2B5EF4-FFF2-40B4-BE49-F238E27FC236}">
                <a16:creationId xmlns:a16="http://schemas.microsoft.com/office/drawing/2014/main" id="{27358102-0581-8BCA-D4C8-DF19150DA0C2}"/>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AFDA93B9-9B03-9E2C-200F-CE7D9411DBB6}"/>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A0D2AC53-3F7C-6BE7-7166-EC9E34E1091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CD5B325-F773-8A2F-DA74-F10B3388E237}"/>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75D591F2-D38B-06C6-65FD-3D29B37E921F}"/>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5565D34E-A53B-57B8-C6CC-13093239FFC7}"/>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EEC9B05-E240-0134-E1D5-9C86027C16BF}"/>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85C92DE1-06FD-448E-12AC-A24480D280FE}"/>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455F7256-643F-66BD-FD60-B27C9908101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32343AFE-73FD-C19F-D612-B1BD09072FB7}"/>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29FCFFFE-1293-B02A-567E-14FA28EA9108}"/>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ED8057D8-622C-3768-F2D8-5700BA7EE075}"/>
              </a:ext>
            </a:extLst>
          </p:cNvPr>
          <p:cNvSpPr/>
          <p:nvPr/>
        </p:nvSpPr>
        <p:spPr>
          <a:xfrm>
            <a:off x="2101156" y="2696941"/>
            <a:ext cx="1449646" cy="1316623"/>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E1993619-9279-0F7F-A11D-789D38B834C5}"/>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5" name="Oval 4">
            <a:extLst>
              <a:ext uri="{FF2B5EF4-FFF2-40B4-BE49-F238E27FC236}">
                <a16:creationId xmlns:a16="http://schemas.microsoft.com/office/drawing/2014/main" id="{2422BF97-B3D1-E731-C381-BC43F9A2811D}"/>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6" name="Down Arrow 5">
            <a:extLst>
              <a:ext uri="{FF2B5EF4-FFF2-40B4-BE49-F238E27FC236}">
                <a16:creationId xmlns:a16="http://schemas.microsoft.com/office/drawing/2014/main" id="{0E6A3BF3-106B-3414-4B4F-22E358B4A023}"/>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2F9A7702-1C5E-538E-9D32-7E435F44C3FE}"/>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highlight>
                  <a:srgbClr val="FF0000"/>
                </a:highlight>
              </a:rPr>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Tree>
    <p:extLst>
      <p:ext uri="{BB962C8B-B14F-4D97-AF65-F5344CB8AC3E}">
        <p14:creationId xmlns:p14="http://schemas.microsoft.com/office/powerpoint/2010/main" val="133272462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56876-B893-AD8D-60E2-ADA2A6D1DA0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718C860-5D78-ADF4-D292-E365602B05B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131368BF-11F4-133D-2000-31CD5E24173A}"/>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E599DAEA-D1F8-9E73-3E0C-D19EBD7BFB6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8D6E30E1-0EFC-288D-CFDB-3D9B419890BE}"/>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E8CCF9B2-AFF3-45BA-64FD-FB659B76B97D}"/>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99AE0AA6-B1D2-A851-42F5-B86A1017EE3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4FB92F4-E75C-4A17-F05E-2967E0B64EB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E3F7A29D-EE3A-EF60-4F23-70360919F069}"/>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2ADFB075-439C-6480-D63F-25E69A27B4B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777AC70-284F-7C5E-D695-BD4A7EB3A17D}"/>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AF10313E-7B6D-D198-B789-6F89D99680E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2D57A98-2DE7-4CC6-2876-E8CB70790888}"/>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41ECA3F-0820-50C9-F75A-28077591D02E}"/>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6" name="Oval 5">
            <a:extLst>
              <a:ext uri="{FF2B5EF4-FFF2-40B4-BE49-F238E27FC236}">
                <a16:creationId xmlns:a16="http://schemas.microsoft.com/office/drawing/2014/main" id="{DEC2AA9B-357F-F14C-4CB7-0DEFD0566DE9}"/>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7" name="Down Arrow 6">
            <a:extLst>
              <a:ext uri="{FF2B5EF4-FFF2-40B4-BE49-F238E27FC236}">
                <a16:creationId xmlns:a16="http://schemas.microsoft.com/office/drawing/2014/main" id="{75226C25-726B-4F7F-C50A-5CE4F317DBC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603F8A3-A8D0-F029-25F7-85F02788F9BE}"/>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highlight>
                  <a:srgbClr val="FF0000"/>
                </a:highlight>
              </a:rPr>
              <a:t>Extract and emit</a:t>
            </a:r>
          </a:p>
          <a:p>
            <a:pPr marL="285750" indent="-285750">
              <a:buFont typeface="Arial" panose="020B0604020202020204" pitchFamily="34" charset="0"/>
              <a:buChar char="•"/>
            </a:pPr>
            <a:r>
              <a:rPr lang="en-US" sz="2400" i="1" dirty="0"/>
              <a:t>Repeat</a:t>
            </a:r>
          </a:p>
        </p:txBody>
      </p:sp>
    </p:spTree>
    <p:extLst>
      <p:ext uri="{BB962C8B-B14F-4D97-AF65-F5344CB8AC3E}">
        <p14:creationId xmlns:p14="http://schemas.microsoft.com/office/powerpoint/2010/main" val="392005618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E44B4-645E-DC40-4D93-6C48DBE2411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8C881C3-1AA2-DDF4-2C5F-AC11BABD832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23E4789A-9BCE-809F-0A70-779451EE8251}"/>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4AB61277-FB39-F966-8E52-A2A448FA57D3}"/>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C2CC29A6-1067-409F-9A49-7E35E78F9675}"/>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87784A84-C715-D9EE-2DF9-0A71C7930BFC}"/>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E6F50E20-BED2-A8C4-0EE6-3ED06235236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D360EBC5-F002-5411-E7EB-EAD8C469950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7E3FAEF4-E214-AA18-E12F-C9BBFCB2736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B4BAFAE3-4BE5-436E-859C-AE6554E509AB}"/>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9EAE323-EA2E-B963-C194-5F3814DDB71F}"/>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75689C-1C39-FD08-85E2-74B31EB8D4D5}"/>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0C9CA79B-2FF3-22F0-81A2-1E2A3AFDB9E5}"/>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D1E2C747-B2CD-375D-8FA9-2A0DEBDC8243}"/>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7" name="Oval 6">
            <a:extLst>
              <a:ext uri="{FF2B5EF4-FFF2-40B4-BE49-F238E27FC236}">
                <a16:creationId xmlns:a16="http://schemas.microsoft.com/office/drawing/2014/main" id="{ABA46EAD-9D19-4A1A-F895-B3A9170A1B4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32BD20C7-CBF1-4431-85F6-3F3624C2290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45D55983-306C-A04B-ECB0-66AF7FE52A2E}"/>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highlight>
                  <a:srgbClr val="FF0000"/>
                </a:highlight>
              </a:rPr>
              <a:t>Repeat</a:t>
            </a:r>
          </a:p>
        </p:txBody>
      </p:sp>
    </p:spTree>
    <p:extLst>
      <p:ext uri="{BB962C8B-B14F-4D97-AF65-F5344CB8AC3E}">
        <p14:creationId xmlns:p14="http://schemas.microsoft.com/office/powerpoint/2010/main" val="137825622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6B8C1-A1C7-E0D2-C4B0-9D8BFA1784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4D676FB-0819-D93A-9DD1-4D2025A3A40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312D7D45-536F-6CB9-5C32-D069206B0700}"/>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B1F072ED-A628-5926-B4A1-1542A16C4491}"/>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F417404-E926-5A8F-7242-0E1C76BEC558}"/>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DFBFB66B-A2CF-0F18-BF4C-D8D6077E4AC9}"/>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1D7F556-98CD-CC18-C580-4062BC1A403C}"/>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9ED2B373-4333-145F-EC18-A74CB91788F0}"/>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0511C0F4-D82C-BBF3-669D-0E25735308F5}"/>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CFE42EA1-9407-BE00-2497-238223EF0BDC}"/>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5D8ACA85-7C13-D9F2-8B3F-D83F34511734}"/>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28F1050E-05D5-8701-3755-2724CF28E2DC}"/>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556302A-5067-CC9D-DD97-85F75867E12D}"/>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959396F-F035-11FF-5780-367F1DD5D40A}"/>
              </a:ext>
            </a:extLst>
          </p:cNvPr>
          <p:cNvSpPr/>
          <p:nvPr/>
        </p:nvSpPr>
        <p:spPr>
          <a:xfrm>
            <a:off x="3141064" y="2696148"/>
            <a:ext cx="3637281" cy="293309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02C5E5BA-B96C-E9F5-FEB0-0FD431CD117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7" name="Oval 6">
            <a:extLst>
              <a:ext uri="{FF2B5EF4-FFF2-40B4-BE49-F238E27FC236}">
                <a16:creationId xmlns:a16="http://schemas.microsoft.com/office/drawing/2014/main" id="{E24067E8-1318-0FF4-F592-EC78D300E59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E3803C16-8E92-5B9D-374E-657C91AFFF4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174234C-8754-12CD-88DD-4E01A2B2FFAD}"/>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highlight>
                  <a:srgbClr val="FF0000"/>
                </a:highlight>
              </a:rPr>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Tree>
    <p:extLst>
      <p:ext uri="{BB962C8B-B14F-4D97-AF65-F5344CB8AC3E}">
        <p14:creationId xmlns:p14="http://schemas.microsoft.com/office/powerpoint/2010/main" val="323261540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7B77BC-14A6-E89E-251F-B50F8374C2C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2EF7586-CBEF-8D92-D8B9-15AD2281E3A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1" name="Oval 20">
            <a:extLst>
              <a:ext uri="{FF2B5EF4-FFF2-40B4-BE49-F238E27FC236}">
                <a16:creationId xmlns:a16="http://schemas.microsoft.com/office/drawing/2014/main" id="{B84CBAB8-4442-3659-70FB-2024452112A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3" name="TextBox 2">
            <a:extLst>
              <a:ext uri="{FF2B5EF4-FFF2-40B4-BE49-F238E27FC236}">
                <a16:creationId xmlns:a16="http://schemas.microsoft.com/office/drawing/2014/main" id="{327980F3-D29F-67ED-1984-7C2FFD635F0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1166DC9B-F25D-36CC-C72D-87BB01E328E1}"/>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2E1B10FF-B20B-D9D1-222B-5A80A3C72048}"/>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26127C3A-FF52-235A-332E-1796E6E166B9}"/>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TextBox 6">
            <a:extLst>
              <a:ext uri="{FF2B5EF4-FFF2-40B4-BE49-F238E27FC236}">
                <a16:creationId xmlns:a16="http://schemas.microsoft.com/office/drawing/2014/main" id="{F3E533C0-E6D0-D267-9360-9D02A12DC081}"/>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8" name="Oval 7">
            <a:extLst>
              <a:ext uri="{FF2B5EF4-FFF2-40B4-BE49-F238E27FC236}">
                <a16:creationId xmlns:a16="http://schemas.microsoft.com/office/drawing/2014/main" id="{EB0BE7FE-8396-49EF-BA65-EF0DC38513A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9" name="Down Arrow 8">
            <a:extLst>
              <a:ext uri="{FF2B5EF4-FFF2-40B4-BE49-F238E27FC236}">
                <a16:creationId xmlns:a16="http://schemas.microsoft.com/office/drawing/2014/main" id="{9F9FDA61-FB65-2265-7933-E05DBAC2903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66332B1C-7ADA-B00A-13C0-6FDC1BFD3AC9}"/>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highlight>
                  <a:srgbClr val="FF0000"/>
                </a:highlight>
              </a:rPr>
              <a:t>Extract and emit</a:t>
            </a:r>
          </a:p>
          <a:p>
            <a:pPr marL="285750" indent="-285750">
              <a:buFont typeface="Arial" panose="020B0604020202020204" pitchFamily="34" charset="0"/>
              <a:buChar char="•"/>
            </a:pPr>
            <a:r>
              <a:rPr lang="en-US" sz="2400" i="1" dirty="0"/>
              <a:t>Repeat</a:t>
            </a:r>
          </a:p>
        </p:txBody>
      </p:sp>
    </p:spTree>
    <p:extLst>
      <p:ext uri="{BB962C8B-B14F-4D97-AF65-F5344CB8AC3E}">
        <p14:creationId xmlns:p14="http://schemas.microsoft.com/office/powerpoint/2010/main" val="11272881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ED9BB-BF0E-3A6C-9285-8D57E34FA079}"/>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D21C1C5-DEAB-2D4A-22EB-B7CB84F8B801}"/>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DD86B1A1-FA68-D7D7-A48A-6D69E14EB141}"/>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9F8911C-2FC4-FCE7-BE1C-A3C08A8DD997}"/>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66D7896-4C49-946F-8D6B-30DB6EFDA3BD}"/>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79CB4233-81F4-1B2D-A71F-2022941B72DE}"/>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0764F8BB-A3A2-ECA4-C904-B33B75B8A85D}"/>
              </a:ext>
            </a:extLst>
          </p:cNvPr>
          <p:cNvSpPr/>
          <p:nvPr/>
        </p:nvSpPr>
        <p:spPr>
          <a:xfrm>
            <a:off x="4199463" y="5511221"/>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50598CF-741F-3A52-E6D5-8BF30B9F34B5}"/>
              </a:ext>
            </a:extLst>
          </p:cNvPr>
          <p:cNvSpPr txBox="1"/>
          <p:nvPr/>
        </p:nvSpPr>
        <p:spPr>
          <a:xfrm>
            <a:off x="4353673" y="5638202"/>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EEAC26A2-F0A7-B0F2-4572-DA3767223198}"/>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1" name="Oval 10">
            <a:extLst>
              <a:ext uri="{FF2B5EF4-FFF2-40B4-BE49-F238E27FC236}">
                <a16:creationId xmlns:a16="http://schemas.microsoft.com/office/drawing/2014/main" id="{9651BB2B-542C-CB12-1E66-D8F57E286B2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2" name="Down Arrow 11">
            <a:extLst>
              <a:ext uri="{FF2B5EF4-FFF2-40B4-BE49-F238E27FC236}">
                <a16:creationId xmlns:a16="http://schemas.microsoft.com/office/drawing/2014/main" id="{F691F9D3-BF96-3C2A-504E-8B0174CE6761}"/>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B5AC294-562D-95F9-EB3C-2A5610D30004}"/>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Tree>
    <p:extLst>
      <p:ext uri="{BB962C8B-B14F-4D97-AF65-F5344CB8AC3E}">
        <p14:creationId xmlns:p14="http://schemas.microsoft.com/office/powerpoint/2010/main" val="5215552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3A698C-B08E-D425-A12D-FC67B30C40A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7801879-393E-E285-93CA-151F89EA8A25}"/>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682FE5C6-FB51-0F97-25D4-7218F4B9A7BC}"/>
              </a:ext>
            </a:extLst>
          </p:cNvPr>
          <p:cNvSpPr txBox="1"/>
          <p:nvPr/>
        </p:nvSpPr>
        <p:spPr>
          <a:xfrm>
            <a:off x="3627120" y="3729486"/>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0FE1F3D-9012-AC0D-5262-A9874A8EA6E2}"/>
              </a:ext>
            </a:extLst>
          </p:cNvPr>
          <p:cNvSpPr/>
          <p:nvPr/>
        </p:nvSpPr>
        <p:spPr>
          <a:xfrm>
            <a:off x="3467943" y="3540948"/>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8C757572-A191-81C7-914A-F6893A33F09A}"/>
              </a:ext>
            </a:extLst>
          </p:cNvPr>
          <p:cNvSpPr/>
          <p:nvPr/>
        </p:nvSpPr>
        <p:spPr>
          <a:xfrm>
            <a:off x="4504262" y="3545450"/>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AB288C5B-BE8F-6670-1706-9D04B06772BB}"/>
              </a:ext>
            </a:extLst>
          </p:cNvPr>
          <p:cNvSpPr txBox="1"/>
          <p:nvPr/>
        </p:nvSpPr>
        <p:spPr>
          <a:xfrm>
            <a:off x="4690170" y="3729486"/>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588325B6-BCB6-AD1F-D3B8-048F16D56FB3}"/>
              </a:ext>
            </a:extLst>
          </p:cNvPr>
          <p:cNvSpPr/>
          <p:nvPr/>
        </p:nvSpPr>
        <p:spPr>
          <a:xfrm>
            <a:off x="6363543" y="3540947"/>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D29A48CF-D490-E2C4-C0D2-52DF2C49B768}"/>
              </a:ext>
            </a:extLst>
          </p:cNvPr>
          <p:cNvSpPr txBox="1"/>
          <p:nvPr/>
        </p:nvSpPr>
        <p:spPr>
          <a:xfrm>
            <a:off x="6837680" y="3820926"/>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EE99B8A5-4F5F-8647-9E24-0E991730765B}"/>
              </a:ext>
            </a:extLst>
          </p:cNvPr>
          <p:cNvSpPr txBox="1"/>
          <p:nvPr/>
        </p:nvSpPr>
        <p:spPr>
          <a:xfrm>
            <a:off x="6517753" y="3667928"/>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F3581AF8-5AC9-02AE-164B-F7F15CB1D573}"/>
              </a:ext>
            </a:extLst>
          </p:cNvPr>
          <p:cNvSpPr txBox="1"/>
          <p:nvPr/>
        </p:nvSpPr>
        <p:spPr>
          <a:xfrm>
            <a:off x="4152103" y="4761342"/>
            <a:ext cx="2137701" cy="523220"/>
          </a:xfrm>
          <a:prstGeom prst="rect">
            <a:avLst/>
          </a:prstGeom>
          <a:noFill/>
        </p:spPr>
        <p:txBody>
          <a:bodyPr wrap="none" rtlCol="0">
            <a:spAutoFit/>
          </a:bodyPr>
          <a:lstStyle/>
          <a:p>
            <a:r>
              <a:rPr lang="en-US" sz="2800" dirty="0"/>
              <a:t>Partial Order</a:t>
            </a:r>
          </a:p>
        </p:txBody>
      </p:sp>
      <p:sp>
        <p:nvSpPr>
          <p:cNvPr id="11" name="TextBox 10">
            <a:extLst>
              <a:ext uri="{FF2B5EF4-FFF2-40B4-BE49-F238E27FC236}">
                <a16:creationId xmlns:a16="http://schemas.microsoft.com/office/drawing/2014/main" id="{F6CB34BF-5ACD-74D0-D4D7-63270535D12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2" name="Oval 11">
            <a:extLst>
              <a:ext uri="{FF2B5EF4-FFF2-40B4-BE49-F238E27FC236}">
                <a16:creationId xmlns:a16="http://schemas.microsoft.com/office/drawing/2014/main" id="{2DCDDD90-463A-22B6-4B74-99E7990D212F}"/>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3" name="Down Arrow 12">
            <a:extLst>
              <a:ext uri="{FF2B5EF4-FFF2-40B4-BE49-F238E27FC236}">
                <a16:creationId xmlns:a16="http://schemas.microsoft.com/office/drawing/2014/main" id="{D7EB0A2F-A48E-FB06-77CF-FED54B2EF5E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9744456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8136971" cy="461665"/>
          </a:xfrm>
          <a:prstGeom prst="rect">
            <a:avLst/>
          </a:prstGeom>
          <a:noFill/>
          <a:ln>
            <a:solidFill>
              <a:srgbClr val="7030A0"/>
            </a:solidFill>
          </a:ln>
        </p:spPr>
        <p:txBody>
          <a:bodyPr wrap="none" rtlCol="0">
            <a:spAutoFit/>
          </a:bodyPr>
          <a:lstStyle/>
          <a:p>
            <a:r>
              <a:rPr lang="en-US" sz="2400" dirty="0"/>
              <a:t>Find the smallest timestamp </a:t>
            </a:r>
            <a:r>
              <a:rPr lang="en-US" sz="2400" dirty="0">
                <a:solidFill>
                  <a:schemeClr val="accent6"/>
                </a:solidFill>
              </a:rPr>
              <a:t>T’</a:t>
            </a:r>
            <a:r>
              <a:rPr lang="en-US" sz="2400" dirty="0"/>
              <a:t> for which P(</a:t>
            </a:r>
            <a:r>
              <a:rPr lang="en-US" sz="2400" dirty="0">
                <a:solidFill>
                  <a:srgbClr val="FF0000"/>
                </a:solidFill>
              </a:rPr>
              <a:t>T</a:t>
            </a:r>
            <a:r>
              <a:rPr lang="en-US" sz="2400" dirty="0"/>
              <a:t> &lt; </a:t>
            </a:r>
            <a:r>
              <a:rPr lang="en-US" sz="2400" dirty="0">
                <a:solidFill>
                  <a:srgbClr val="FF0000"/>
                </a:solidFill>
              </a:rPr>
              <a:t>T’</a:t>
            </a:r>
            <a:r>
              <a:rPr lang="en-US" sz="2400" dirty="0"/>
              <a:t>)</a:t>
            </a:r>
            <a:r>
              <a:rPr lang="en-US" sz="2400" dirty="0">
                <a:solidFill>
                  <a:srgbClr val="FF0000"/>
                </a:solidFill>
              </a:rPr>
              <a:t> </a:t>
            </a:r>
            <a:r>
              <a:rPr lang="en-US" sz="2400" dirty="0"/>
              <a:t>is very high</a:t>
            </a:r>
          </a:p>
        </p:txBody>
      </p:sp>
      <p:sp>
        <p:nvSpPr>
          <p:cNvPr id="11" name="TextBox 10">
            <a:extLst>
              <a:ext uri="{FF2B5EF4-FFF2-40B4-BE49-F238E27FC236}">
                <a16:creationId xmlns:a16="http://schemas.microsoft.com/office/drawing/2014/main" id="{AEDEC7F6-CF5E-3398-42C9-557382ECD3B4}"/>
              </a:ext>
            </a:extLst>
          </p:cNvPr>
          <p:cNvSpPr txBox="1"/>
          <p:nvPr/>
        </p:nvSpPr>
        <p:spPr>
          <a:xfrm>
            <a:off x="1924638" y="5771343"/>
            <a:ext cx="9144235" cy="461665"/>
          </a:xfrm>
          <a:prstGeom prst="rect">
            <a:avLst/>
          </a:prstGeom>
          <a:noFill/>
          <a:ln>
            <a:solidFill>
              <a:srgbClr val="7030A0"/>
            </a:solidFill>
          </a:ln>
        </p:spPr>
        <p:txBody>
          <a:bodyPr wrap="none" rtlCol="0">
            <a:spAutoFit/>
          </a:bodyPr>
          <a:lstStyle/>
          <a:p>
            <a:r>
              <a:rPr lang="en-US" sz="2400" dirty="0"/>
              <a:t>i.e., </a:t>
            </a:r>
            <a:r>
              <a:rPr lang="en-US" sz="2400" dirty="0">
                <a:solidFill>
                  <a:schemeClr val="accent6"/>
                </a:solidFill>
              </a:rPr>
              <a:t>T’</a:t>
            </a:r>
            <a:r>
              <a:rPr lang="en-US" sz="2400" dirty="0"/>
              <a:t> and any timestamp greater than </a:t>
            </a:r>
            <a:r>
              <a:rPr lang="en-US" sz="2400" dirty="0">
                <a:solidFill>
                  <a:schemeClr val="accent6"/>
                </a:solidFill>
              </a:rPr>
              <a:t>T’</a:t>
            </a:r>
            <a:r>
              <a:rPr lang="en-US" sz="2400" dirty="0"/>
              <a:t> will likely be ordered after </a:t>
            </a:r>
            <a:r>
              <a:rPr lang="en-US" sz="2400" dirty="0">
                <a:solidFill>
                  <a:schemeClr val="accent6"/>
                </a:solidFill>
              </a:rPr>
              <a:t>T</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11" grpId="0" animBg="1"/>
    </p:bldLst>
  </p:timing>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88179" cy="461665"/>
          </a:xfrm>
          <a:prstGeom prst="rect">
            <a:avLst/>
          </a:prstGeom>
          <a:solidFill>
            <a:schemeClr val="accent6">
              <a:lumMod val="60000"/>
              <a:lumOff val="40000"/>
            </a:schemeClr>
          </a:solidFill>
        </p:spPr>
        <p:txBody>
          <a:bodyPr wrap="none" rtlCol="0">
            <a:spAutoFit/>
          </a:bodyPr>
          <a:lstStyle/>
          <a:p>
            <a:r>
              <a:rPr lang="en-US" sz="2400" dirty="0"/>
              <a:t>Wait for events before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6558270" cy="461665"/>
          </a:xfrm>
          <a:prstGeom prst="rect">
            <a:avLst/>
          </a:prstGeom>
          <a:solidFill>
            <a:schemeClr val="accent6">
              <a:lumMod val="60000"/>
              <a:lumOff val="40000"/>
            </a:schemeClr>
          </a:solidFill>
        </p:spPr>
        <p:txBody>
          <a:bodyPr wrap="none" rtlCol="0">
            <a:spAutoFit/>
          </a:bodyPr>
          <a:lstStyle/>
          <a:p>
            <a:r>
              <a:rPr lang="en-US" sz="2400" dirty="0"/>
              <a:t>Run fair ordering algorithm on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additive="base">
                                        <p:cTn id="11" dur="500" fill="hold"/>
                                        <p:tgtEl>
                                          <p:spTgt spid="9"/>
                                        </p:tgtEl>
                                        <p:attrNameLst>
                                          <p:attrName>ppt_x</p:attrName>
                                        </p:attrNameLst>
                                      </p:cBhvr>
                                      <p:tavLst>
                                        <p:tav tm="0">
                                          <p:val>
                                            <p:strVal val="1+#ppt_w/2"/>
                                          </p:val>
                                        </p:tav>
                                        <p:tav tm="100000">
                                          <p:val>
                                            <p:strVal val="#ppt_x"/>
                                          </p:val>
                                        </p:tav>
                                      </p:tavLst>
                                    </p:anim>
                                    <p:anim calcmode="lin" valueType="num">
                                      <p:cBhvr additive="base">
                                        <p:cTn id="12"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2"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 calcmode="lin" valueType="num">
                                      <p:cBhvr additive="base">
                                        <p:cTn id="17" dur="500" fill="hold"/>
                                        <p:tgtEl>
                                          <p:spTgt spid="10"/>
                                        </p:tgtEl>
                                        <p:attrNameLst>
                                          <p:attrName>ppt_x</p:attrName>
                                        </p:attrNameLst>
                                      </p:cBhvr>
                                      <p:tavLst>
                                        <p:tav tm="0">
                                          <p:val>
                                            <p:strVal val="1+#ppt_w/2"/>
                                          </p:val>
                                        </p:tav>
                                        <p:tav tm="100000">
                                          <p:val>
                                            <p:strVal val="#ppt_x"/>
                                          </p:val>
                                        </p:tav>
                                      </p:tavLst>
                                    </p:anim>
                                    <p:anim calcmode="lin" valueType="num">
                                      <p:cBhvr additive="base">
                                        <p:cTn id="18"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88179" cy="461665"/>
          </a:xfrm>
          <a:prstGeom prst="rect">
            <a:avLst/>
          </a:prstGeom>
          <a:solidFill>
            <a:schemeClr val="accent6">
              <a:lumMod val="60000"/>
              <a:lumOff val="40000"/>
            </a:schemeClr>
          </a:solidFill>
        </p:spPr>
        <p:txBody>
          <a:bodyPr wrap="none" rtlCol="0">
            <a:spAutoFit/>
          </a:bodyPr>
          <a:lstStyle/>
          <a:p>
            <a:r>
              <a:rPr lang="en-US" sz="2400" dirty="0"/>
              <a:t>Wait for events before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6558270" cy="461665"/>
          </a:xfrm>
          <a:prstGeom prst="rect">
            <a:avLst/>
          </a:prstGeom>
          <a:solidFill>
            <a:schemeClr val="accent6">
              <a:lumMod val="60000"/>
              <a:lumOff val="40000"/>
            </a:schemeClr>
          </a:solidFill>
        </p:spPr>
        <p:txBody>
          <a:bodyPr wrap="none" rtlCol="0">
            <a:spAutoFit/>
          </a:bodyPr>
          <a:lstStyle/>
          <a:p>
            <a:r>
              <a:rPr lang="en-US" sz="2400" dirty="0"/>
              <a:t>Run fair ordering algorithm on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0.00469 -4.44444E-6 L -0.02578 -0.05856 C -0.03203 -0.07175 -0.04154 -0.0787 -0.05156 -0.0787 C -0.06289 -0.0787 -0.07201 -0.07175 -0.07826 -0.05856 L -0.10859 -4.44444E-6 " pathEditMode="relative" rAng="0" ptsTypes="AAAAA">
                                      <p:cBhvr>
                                        <p:cTn id="6" dur="2000" fill="hold"/>
                                        <p:tgtEl>
                                          <p:spTgt spid="9"/>
                                        </p:tgtEl>
                                        <p:attrNameLst>
                                          <p:attrName>ppt_x</p:attrName>
                                          <p:attrName>ppt_y</p:attrName>
                                        </p:attrNameLst>
                                      </p:cBhvr>
                                      <p:rCtr x="-5664" y="-3935"/>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6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A4AAE10-4FC1-143A-CB40-6E940DA6C5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042839-8303-D181-B5BC-718124AE7FF7}"/>
              </a:ext>
            </a:extLst>
          </p:cNvPr>
          <p:cNvSpPr>
            <a:spLocks noGrp="1"/>
          </p:cNvSpPr>
          <p:nvPr>
            <p:ph type="title"/>
          </p:nvPr>
        </p:nvSpPr>
        <p:spPr/>
        <p:txBody>
          <a:bodyPr/>
          <a:lstStyle/>
          <a:p>
            <a:r>
              <a:rPr lang="en-US" dirty="0"/>
              <a:t>Computation Optimization</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2187903-9018-F97A-30C3-8268CB32D2E2}"/>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D2187903-9018-F97A-30C3-8268CB32D2E2}"/>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3"/>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19" name="TextBox 18">
            <a:extLst>
              <a:ext uri="{FF2B5EF4-FFF2-40B4-BE49-F238E27FC236}">
                <a16:creationId xmlns:a16="http://schemas.microsoft.com/office/drawing/2014/main" id="{D43C520E-18E1-7472-E65A-7B29056892F5}"/>
              </a:ext>
            </a:extLst>
          </p:cNvPr>
          <p:cNvSpPr txBox="1"/>
          <p:nvPr/>
        </p:nvSpPr>
        <p:spPr>
          <a:xfrm>
            <a:off x="1981200" y="3627120"/>
            <a:ext cx="5852160" cy="954107"/>
          </a:xfrm>
          <a:prstGeom prst="rect">
            <a:avLst/>
          </a:prstGeom>
          <a:solidFill>
            <a:srgbClr val="FF0000"/>
          </a:solidFill>
        </p:spPr>
        <p:txBody>
          <a:bodyPr wrap="square" rtlCol="0">
            <a:spAutoFit/>
          </a:bodyPr>
          <a:lstStyle/>
          <a:p>
            <a:pPr marL="342900" indent="-342900">
              <a:buFont typeface="Arial" panose="020B0604020202020204" pitchFamily="34" charset="0"/>
              <a:buChar char="•"/>
            </a:pPr>
            <a:r>
              <a:rPr lang="en-US" sz="2800" dirty="0">
                <a:solidFill>
                  <a:schemeClr val="bg1"/>
                </a:solidFill>
              </a:rPr>
              <a:t>Quadratic time complexity for computing the pairwise probability</a:t>
            </a:r>
          </a:p>
        </p:txBody>
      </p:sp>
      <p:sp>
        <p:nvSpPr>
          <p:cNvPr id="4" name="TextBox 3">
            <a:extLst>
              <a:ext uri="{FF2B5EF4-FFF2-40B4-BE49-F238E27FC236}">
                <a16:creationId xmlns:a16="http://schemas.microsoft.com/office/drawing/2014/main" id="{4030B866-16BA-6FE5-2094-BA3641796418}"/>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273986712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16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7A5AF48-C538-FCAB-8697-CCD5DDFF89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5FA459-4C61-65A0-DD22-F45E95A22419}"/>
              </a:ext>
            </a:extLst>
          </p:cNvPr>
          <p:cNvSpPr>
            <a:spLocks noGrp="1"/>
          </p:cNvSpPr>
          <p:nvPr>
            <p:ph type="title"/>
          </p:nvPr>
        </p:nvSpPr>
        <p:spPr/>
        <p:txBody>
          <a:bodyPr/>
          <a:lstStyle/>
          <a:p>
            <a:r>
              <a:rPr lang="en-US" dirty="0"/>
              <a:t>Computation Optimization</a:t>
            </a:r>
          </a:p>
        </p:txBody>
      </p:sp>
      <p:sp>
        <p:nvSpPr>
          <p:cNvPr id="14" name="Up Arrow 13">
            <a:extLst>
              <a:ext uri="{FF2B5EF4-FFF2-40B4-BE49-F238E27FC236}">
                <a16:creationId xmlns:a16="http://schemas.microsoft.com/office/drawing/2014/main" id="{2799420D-0F5C-0F2B-18F7-53397028F398}"/>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21FA8D68-4BB7-DF32-8925-8BCDB84FCBD0}"/>
              </a:ext>
            </a:extLst>
          </p:cNvPr>
          <p:cNvSpPr txBox="1"/>
          <p:nvPr/>
        </p:nvSpPr>
        <p:spPr>
          <a:xfrm>
            <a:off x="2123605" y="4014434"/>
            <a:ext cx="7005403" cy="1384995"/>
          </a:xfrm>
          <a:prstGeom prst="rect">
            <a:avLst/>
          </a:prstGeom>
          <a:noFill/>
        </p:spPr>
        <p:txBody>
          <a:bodyPr wrap="square" rtlCol="0">
            <a:spAutoFit/>
          </a:bodyPr>
          <a:lstStyle/>
          <a:p>
            <a:r>
              <a:rPr lang="en-US" sz="2800" dirty="0"/>
              <a:t>Although the value of individual timestamps is not bounded, their difference will always fall in a relatively small range</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C5782940-89CB-C60F-03C7-A38B021AE4C4}"/>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4" name="TextBox 3">
                <a:extLst>
                  <a:ext uri="{FF2B5EF4-FFF2-40B4-BE49-F238E27FC236}">
                    <a16:creationId xmlns:a16="http://schemas.microsoft.com/office/drawing/2014/main" id="{C5782940-89CB-C60F-03C7-A38B021AE4C4}"/>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5" name="TextBox 4">
            <a:extLst>
              <a:ext uri="{FF2B5EF4-FFF2-40B4-BE49-F238E27FC236}">
                <a16:creationId xmlns:a16="http://schemas.microsoft.com/office/drawing/2014/main" id="{F831CBAF-964E-14A0-AACC-610B4079948B}"/>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381306241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8" grpId="0"/>
    </p:bldLst>
  </p:timing>
</p:sld>
</file>

<file path=ppt/slides/slide16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60EB20C-6615-B196-D134-6FEB43CA6B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36B0CF-18E4-5C9D-02EE-D9F751B86072}"/>
              </a:ext>
            </a:extLst>
          </p:cNvPr>
          <p:cNvSpPr>
            <a:spLocks noGrp="1"/>
          </p:cNvSpPr>
          <p:nvPr>
            <p:ph type="title"/>
          </p:nvPr>
        </p:nvSpPr>
        <p:spPr/>
        <p:txBody>
          <a:bodyPr/>
          <a:lstStyle/>
          <a:p>
            <a:r>
              <a:rPr lang="en-US" dirty="0"/>
              <a:t>Computation Optimization</a:t>
            </a:r>
          </a:p>
        </p:txBody>
      </p:sp>
      <p:sp>
        <p:nvSpPr>
          <p:cNvPr id="14" name="Up Arrow 13">
            <a:extLst>
              <a:ext uri="{FF2B5EF4-FFF2-40B4-BE49-F238E27FC236}">
                <a16:creationId xmlns:a16="http://schemas.microsoft.com/office/drawing/2014/main" id="{B029D89A-6964-2462-6A7C-9520D78FEEAB}"/>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DBFCB72-359D-3323-5AA9-E7C1E08AFAFD}"/>
              </a:ext>
            </a:extLst>
          </p:cNvPr>
          <p:cNvSpPr txBox="1"/>
          <p:nvPr/>
        </p:nvSpPr>
        <p:spPr>
          <a:xfrm>
            <a:off x="2123605" y="4014434"/>
            <a:ext cx="7005403" cy="1569660"/>
          </a:xfrm>
          <a:prstGeom prst="rect">
            <a:avLst/>
          </a:prstGeom>
          <a:noFill/>
        </p:spPr>
        <p:txBody>
          <a:bodyPr wrap="square" rtlCol="0">
            <a:spAutoFit/>
          </a:bodyPr>
          <a:lstStyle/>
          <a:p>
            <a:r>
              <a:rPr lang="en-US" sz="2800" dirty="0"/>
              <a:t>Although the value of individual timestamps is not bounded, their difference will always fall in a relatively </a:t>
            </a:r>
            <a:r>
              <a:rPr lang="en-US" sz="4000" dirty="0">
                <a:solidFill>
                  <a:schemeClr val="accent6"/>
                </a:solidFill>
              </a:rPr>
              <a:t>small range</a:t>
            </a:r>
            <a:endParaRPr lang="en-US" sz="2800" dirty="0">
              <a:solidFill>
                <a:schemeClr val="accent6"/>
              </a:solidFill>
            </a:endParaRPr>
          </a:p>
        </p:txBody>
      </p:sp>
      <p:sp>
        <p:nvSpPr>
          <p:cNvPr id="3" name="TextBox 2">
            <a:extLst>
              <a:ext uri="{FF2B5EF4-FFF2-40B4-BE49-F238E27FC236}">
                <a16:creationId xmlns:a16="http://schemas.microsoft.com/office/drawing/2014/main" id="{48EBA444-CF95-62A5-D5B9-23DFCB4554EA}"/>
              </a:ext>
            </a:extLst>
          </p:cNvPr>
          <p:cNvSpPr txBox="1"/>
          <p:nvPr/>
        </p:nvSpPr>
        <p:spPr>
          <a:xfrm>
            <a:off x="5387682" y="5639239"/>
            <a:ext cx="4152275" cy="954107"/>
          </a:xfrm>
          <a:prstGeom prst="rect">
            <a:avLst/>
          </a:prstGeom>
          <a:noFill/>
        </p:spPr>
        <p:txBody>
          <a:bodyPr wrap="square" rtlCol="0">
            <a:spAutoFit/>
          </a:bodyPr>
          <a:lstStyle/>
          <a:p>
            <a:r>
              <a:rPr lang="en-US" sz="2800" dirty="0"/>
              <a:t>Precompute to enable faster calculation</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9E0D226-63F4-2375-5259-AE6A7A3C31F8}"/>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5" name="TextBox 4">
                <a:extLst>
                  <a:ext uri="{FF2B5EF4-FFF2-40B4-BE49-F238E27FC236}">
                    <a16:creationId xmlns:a16="http://schemas.microsoft.com/office/drawing/2014/main" id="{E9E0D226-63F4-2375-5259-AE6A7A3C31F8}"/>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7" name="TextBox 6">
            <a:extLst>
              <a:ext uri="{FF2B5EF4-FFF2-40B4-BE49-F238E27FC236}">
                <a16:creationId xmlns:a16="http://schemas.microsoft.com/office/drawing/2014/main" id="{32FA8AA9-94B6-5EB5-1737-80E6E9F03C63}"/>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41863689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68.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p:txBody>
      </p:sp>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Lst>
  </p:timing>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CC9CCD-0F55-4384-8AE3-75EB02B026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DC4118-87A2-BCAF-7D9A-07A273561C32}"/>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8599AD4D-A439-2368-7EDD-618EB1E803B0}"/>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p:txBody>
      </p:sp>
      <p:sp>
        <p:nvSpPr>
          <p:cNvPr id="3" name="Can 2">
            <a:extLst>
              <a:ext uri="{FF2B5EF4-FFF2-40B4-BE49-F238E27FC236}">
                <a16:creationId xmlns:a16="http://schemas.microsoft.com/office/drawing/2014/main" id="{8538C34A-2C2F-C1E7-45D1-D48A726DE4EA}"/>
              </a:ext>
            </a:extLst>
          </p:cNvPr>
          <p:cNvSpPr/>
          <p:nvPr/>
        </p:nvSpPr>
        <p:spPr>
          <a:xfrm>
            <a:off x="2030931" y="3166988"/>
            <a:ext cx="1241659" cy="524023"/>
          </a:xfrm>
          <a:prstGeom prst="can">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Server</a:t>
            </a:r>
          </a:p>
        </p:txBody>
      </p:sp>
      <p:sp>
        <p:nvSpPr>
          <p:cNvPr id="5" name="Oval 4">
            <a:extLst>
              <a:ext uri="{FF2B5EF4-FFF2-40B4-BE49-F238E27FC236}">
                <a16:creationId xmlns:a16="http://schemas.microsoft.com/office/drawing/2014/main" id="{A75E3BB4-85A6-CB92-ADB1-E71DC21894CB}"/>
              </a:ext>
            </a:extLst>
          </p:cNvPr>
          <p:cNvSpPr/>
          <p:nvPr/>
        </p:nvSpPr>
        <p:spPr>
          <a:xfrm>
            <a:off x="1578543"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D7565FEF-418B-DB0E-8444-ACF73C19B521}"/>
              </a:ext>
            </a:extLst>
          </p:cNvPr>
          <p:cNvSpPr/>
          <p:nvPr/>
        </p:nvSpPr>
        <p:spPr>
          <a:xfrm>
            <a:off x="2141621"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0DBC1B18-1D70-C1E1-3C90-E0C307510573}"/>
              </a:ext>
            </a:extLst>
          </p:cNvPr>
          <p:cNvSpPr/>
          <p:nvPr/>
        </p:nvSpPr>
        <p:spPr>
          <a:xfrm>
            <a:off x="2743200"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C2D31292-2539-E5D4-1D3C-821AB8F80A5E}"/>
              </a:ext>
            </a:extLst>
          </p:cNvPr>
          <p:cNvSpPr/>
          <p:nvPr/>
        </p:nvSpPr>
        <p:spPr>
          <a:xfrm>
            <a:off x="3344779"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1B87672-136A-427C-C35C-C0FC894E0344}"/>
              </a:ext>
            </a:extLst>
          </p:cNvPr>
          <p:cNvSpPr txBox="1"/>
          <p:nvPr/>
        </p:nvSpPr>
        <p:spPr>
          <a:xfrm>
            <a:off x="2296250" y="4774131"/>
            <a:ext cx="893899" cy="369332"/>
          </a:xfrm>
          <a:prstGeom prst="rect">
            <a:avLst/>
          </a:prstGeom>
          <a:noFill/>
        </p:spPr>
        <p:txBody>
          <a:bodyPr wrap="none" rtlCol="0">
            <a:spAutoFit/>
          </a:bodyPr>
          <a:lstStyle/>
          <a:p>
            <a:r>
              <a:rPr lang="en-US" dirty="0"/>
              <a:t>Clients</a:t>
            </a:r>
          </a:p>
        </p:txBody>
      </p:sp>
      <p:pic>
        <p:nvPicPr>
          <p:cNvPr id="11" name="Graphic 10" descr="Alarm clock outline">
            <a:extLst>
              <a:ext uri="{FF2B5EF4-FFF2-40B4-BE49-F238E27FC236}">
                <a16:creationId xmlns:a16="http://schemas.microsoft.com/office/drawing/2014/main" id="{313BA8E7-249E-D670-E5DA-C8AB9257EA2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296250" y="2842489"/>
            <a:ext cx="628048" cy="628048"/>
          </a:xfrm>
          <a:prstGeom prst="rect">
            <a:avLst/>
          </a:prstGeom>
        </p:spPr>
      </p:pic>
      <p:pic>
        <p:nvPicPr>
          <p:cNvPr id="12" name="Graphic 11" descr="Alarm clock outline">
            <a:extLst>
              <a:ext uri="{FF2B5EF4-FFF2-40B4-BE49-F238E27FC236}">
                <a16:creationId xmlns:a16="http://schemas.microsoft.com/office/drawing/2014/main" id="{4D04F87F-3A44-574B-F241-EFAE9601125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570206" y="3964491"/>
            <a:ext cx="499226" cy="499226"/>
          </a:xfrm>
          <a:prstGeom prst="rect">
            <a:avLst/>
          </a:prstGeom>
        </p:spPr>
      </p:pic>
      <p:sp>
        <p:nvSpPr>
          <p:cNvPr id="17" name="Right Arrow 16">
            <a:extLst>
              <a:ext uri="{FF2B5EF4-FFF2-40B4-BE49-F238E27FC236}">
                <a16:creationId xmlns:a16="http://schemas.microsoft.com/office/drawing/2014/main" id="{A6F09AAA-DBEB-092C-17A7-34957865742E}"/>
              </a:ext>
            </a:extLst>
          </p:cNvPr>
          <p:cNvSpPr/>
          <p:nvPr/>
        </p:nvSpPr>
        <p:spPr>
          <a:xfrm rot="17901766">
            <a:off x="1856552" y="3862876"/>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ight Arrow 17">
            <a:extLst>
              <a:ext uri="{FF2B5EF4-FFF2-40B4-BE49-F238E27FC236}">
                <a16:creationId xmlns:a16="http://schemas.microsoft.com/office/drawing/2014/main" id="{BCF4C024-1983-DCF4-4843-E48FBF1B7B88}"/>
              </a:ext>
            </a:extLst>
          </p:cNvPr>
          <p:cNvSpPr/>
          <p:nvPr/>
        </p:nvSpPr>
        <p:spPr>
          <a:xfrm rot="14838417">
            <a:off x="2972437" y="3850574"/>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ight Arrow 18">
            <a:extLst>
              <a:ext uri="{FF2B5EF4-FFF2-40B4-BE49-F238E27FC236}">
                <a16:creationId xmlns:a16="http://schemas.microsoft.com/office/drawing/2014/main" id="{2D8A947F-2A62-8509-7217-21E26DB51DCB}"/>
              </a:ext>
            </a:extLst>
          </p:cNvPr>
          <p:cNvSpPr/>
          <p:nvPr/>
        </p:nvSpPr>
        <p:spPr>
          <a:xfrm rot="16853916">
            <a:off x="2228752" y="3884395"/>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ight Arrow 19">
            <a:extLst>
              <a:ext uri="{FF2B5EF4-FFF2-40B4-BE49-F238E27FC236}">
                <a16:creationId xmlns:a16="http://schemas.microsoft.com/office/drawing/2014/main" id="{3716D3D9-6F4F-DE83-A26F-6CB3D13E25A7}"/>
              </a:ext>
            </a:extLst>
          </p:cNvPr>
          <p:cNvSpPr/>
          <p:nvPr/>
        </p:nvSpPr>
        <p:spPr>
          <a:xfrm rot="15218196">
            <a:off x="2652922" y="3870173"/>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Graphic 13" descr="Alarm clock outline">
            <a:extLst>
              <a:ext uri="{FF2B5EF4-FFF2-40B4-BE49-F238E27FC236}">
                <a16:creationId xmlns:a16="http://schemas.microsoft.com/office/drawing/2014/main" id="{06D8CEA4-0276-D34C-3324-F39D1A3C8A0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334194" y="3968188"/>
            <a:ext cx="499226" cy="499226"/>
          </a:xfrm>
          <a:prstGeom prst="rect">
            <a:avLst/>
          </a:prstGeom>
        </p:spPr>
      </p:pic>
      <p:pic>
        <p:nvPicPr>
          <p:cNvPr id="15" name="Graphic 14" descr="Alarm clock outline">
            <a:extLst>
              <a:ext uri="{FF2B5EF4-FFF2-40B4-BE49-F238E27FC236}">
                <a16:creationId xmlns:a16="http://schemas.microsoft.com/office/drawing/2014/main" id="{479D49E6-94FB-916C-70DD-8B1B4B64D23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722345" y="3959680"/>
            <a:ext cx="499226" cy="499226"/>
          </a:xfrm>
          <a:prstGeom prst="rect">
            <a:avLst/>
          </a:prstGeom>
        </p:spPr>
      </p:pic>
      <p:pic>
        <p:nvPicPr>
          <p:cNvPr id="16" name="Graphic 15" descr="Alarm clock outline">
            <a:extLst>
              <a:ext uri="{FF2B5EF4-FFF2-40B4-BE49-F238E27FC236}">
                <a16:creationId xmlns:a16="http://schemas.microsoft.com/office/drawing/2014/main" id="{688DD1FF-2192-70AC-028C-ECC4A80707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182370" y="3959680"/>
            <a:ext cx="499226" cy="499226"/>
          </a:xfrm>
          <a:prstGeom prst="rect">
            <a:avLst/>
          </a:prstGeom>
        </p:spPr>
      </p:pic>
      <p:sp>
        <p:nvSpPr>
          <p:cNvPr id="21" name="Freeform 20">
            <a:extLst>
              <a:ext uri="{FF2B5EF4-FFF2-40B4-BE49-F238E27FC236}">
                <a16:creationId xmlns:a16="http://schemas.microsoft.com/office/drawing/2014/main" id="{F831BC3D-9A6A-2D56-6AEA-DDC1CF29F336}"/>
              </a:ext>
            </a:extLst>
          </p:cNvPr>
          <p:cNvSpPr/>
          <p:nvPr/>
        </p:nvSpPr>
        <p:spPr>
          <a:xfrm>
            <a:off x="3395758" y="3413969"/>
            <a:ext cx="2172900" cy="524023"/>
          </a:xfrm>
          <a:custGeom>
            <a:avLst/>
            <a:gdLst>
              <a:gd name="csX0" fmla="*/ 1973179 w 1973179"/>
              <a:gd name="csY0" fmla="*/ 154079 h 702719"/>
              <a:gd name="csX1" fmla="*/ 1915427 w 1973179"/>
              <a:gd name="csY1" fmla="*/ 134829 h 702719"/>
              <a:gd name="csX2" fmla="*/ 1876926 w 1973179"/>
              <a:gd name="csY2" fmla="*/ 115578 h 702719"/>
              <a:gd name="csX3" fmla="*/ 1848051 w 1973179"/>
              <a:gd name="csY3" fmla="*/ 96328 h 702719"/>
              <a:gd name="csX4" fmla="*/ 1809550 w 1973179"/>
              <a:gd name="csY4" fmla="*/ 86702 h 702719"/>
              <a:gd name="csX5" fmla="*/ 1742173 w 1973179"/>
              <a:gd name="csY5" fmla="*/ 48201 h 702719"/>
              <a:gd name="csX6" fmla="*/ 1694046 w 1973179"/>
              <a:gd name="csY6" fmla="*/ 38576 h 702719"/>
              <a:gd name="csX7" fmla="*/ 1655545 w 1973179"/>
              <a:gd name="csY7" fmla="*/ 28951 h 702719"/>
              <a:gd name="csX8" fmla="*/ 1511166 w 1973179"/>
              <a:gd name="csY8" fmla="*/ 75 h 702719"/>
              <a:gd name="csX9" fmla="*/ 1289785 w 1973179"/>
              <a:gd name="csY9" fmla="*/ 38576 h 702719"/>
              <a:gd name="csX10" fmla="*/ 1232034 w 1973179"/>
              <a:gd name="csY10" fmla="*/ 105953 h 702719"/>
              <a:gd name="csX11" fmla="*/ 1164657 w 1973179"/>
              <a:gd name="csY11" fmla="*/ 231081 h 702719"/>
              <a:gd name="csX12" fmla="*/ 1155032 w 1973179"/>
              <a:gd name="csY12" fmla="*/ 269582 h 702719"/>
              <a:gd name="csX13" fmla="*/ 1174282 w 1973179"/>
              <a:gd name="csY13" fmla="*/ 577591 h 702719"/>
              <a:gd name="csX14" fmla="*/ 1232034 w 1973179"/>
              <a:gd name="csY14" fmla="*/ 654593 h 702719"/>
              <a:gd name="csX15" fmla="*/ 1260910 w 1973179"/>
              <a:gd name="csY15" fmla="*/ 683469 h 702719"/>
              <a:gd name="csX16" fmla="*/ 1318661 w 1973179"/>
              <a:gd name="csY16" fmla="*/ 702719 h 702719"/>
              <a:gd name="csX17" fmla="*/ 1395663 w 1973179"/>
              <a:gd name="csY17" fmla="*/ 683469 h 702719"/>
              <a:gd name="csX18" fmla="*/ 1453415 w 1973179"/>
              <a:gd name="csY18" fmla="*/ 587216 h 702719"/>
              <a:gd name="csX19" fmla="*/ 1453415 w 1973179"/>
              <a:gd name="csY19" fmla="*/ 336959 h 702719"/>
              <a:gd name="csX20" fmla="*/ 1395663 w 1973179"/>
              <a:gd name="csY20" fmla="*/ 269582 h 702719"/>
              <a:gd name="csX21" fmla="*/ 1366787 w 1973179"/>
              <a:gd name="csY21" fmla="*/ 240707 h 702719"/>
              <a:gd name="csX22" fmla="*/ 1280160 w 1973179"/>
              <a:gd name="csY22" fmla="*/ 173330 h 702719"/>
              <a:gd name="csX23" fmla="*/ 1193533 w 1973179"/>
              <a:gd name="csY23" fmla="*/ 134829 h 702719"/>
              <a:gd name="csX24" fmla="*/ 1145406 w 1973179"/>
              <a:gd name="csY24" fmla="*/ 125203 h 702719"/>
              <a:gd name="csX25" fmla="*/ 1106905 w 1973179"/>
              <a:gd name="csY25" fmla="*/ 115578 h 702719"/>
              <a:gd name="csX26" fmla="*/ 904775 w 1973179"/>
              <a:gd name="csY26" fmla="*/ 125203 h 702719"/>
              <a:gd name="csX27" fmla="*/ 837398 w 1973179"/>
              <a:gd name="csY27" fmla="*/ 163704 h 702719"/>
              <a:gd name="csX28" fmla="*/ 693019 w 1973179"/>
              <a:gd name="csY28" fmla="*/ 250332 h 702719"/>
              <a:gd name="csX29" fmla="*/ 664143 w 1973179"/>
              <a:gd name="csY29" fmla="*/ 269582 h 702719"/>
              <a:gd name="csX30" fmla="*/ 529390 w 1973179"/>
              <a:gd name="csY30" fmla="*/ 385086 h 702719"/>
              <a:gd name="csX31" fmla="*/ 490889 w 1973179"/>
              <a:gd name="csY31" fmla="*/ 433212 h 702719"/>
              <a:gd name="csX32" fmla="*/ 394636 w 1973179"/>
              <a:gd name="csY32" fmla="*/ 510214 h 702719"/>
              <a:gd name="csX33" fmla="*/ 336884 w 1973179"/>
              <a:gd name="csY33" fmla="*/ 529464 h 702719"/>
              <a:gd name="csX34" fmla="*/ 298383 w 1973179"/>
              <a:gd name="csY34" fmla="*/ 558340 h 702719"/>
              <a:gd name="csX35" fmla="*/ 269507 w 1973179"/>
              <a:gd name="csY35" fmla="*/ 567966 h 702719"/>
              <a:gd name="csX36" fmla="*/ 202131 w 1973179"/>
              <a:gd name="csY36" fmla="*/ 587216 h 702719"/>
              <a:gd name="csX37" fmla="*/ 38501 w 1973179"/>
              <a:gd name="csY37" fmla="*/ 577591 h 702719"/>
              <a:gd name="csX38" fmla="*/ 57752 w 1973179"/>
              <a:gd name="csY38" fmla="*/ 606467 h 702719"/>
              <a:gd name="csX39" fmla="*/ 115503 w 1973179"/>
              <a:gd name="csY39" fmla="*/ 664218 h 702719"/>
              <a:gd name="csX40" fmla="*/ 105878 w 1973179"/>
              <a:gd name="csY40" fmla="*/ 664218 h 702719"/>
              <a:gd name="csX41" fmla="*/ 77002 w 1973179"/>
              <a:gd name="csY41" fmla="*/ 644968 h 702719"/>
              <a:gd name="csX42" fmla="*/ 48126 w 1973179"/>
              <a:gd name="csY42" fmla="*/ 606467 h 702719"/>
              <a:gd name="csX43" fmla="*/ 28876 w 1973179"/>
              <a:gd name="csY43" fmla="*/ 577591 h 702719"/>
              <a:gd name="csX44" fmla="*/ 0 w 1973179"/>
              <a:gd name="csY44" fmla="*/ 548715 h 702719"/>
              <a:gd name="csX45" fmla="*/ 28876 w 1973179"/>
              <a:gd name="csY45" fmla="*/ 519839 h 702719"/>
              <a:gd name="csX46" fmla="*/ 105878 w 1973179"/>
              <a:gd name="csY46" fmla="*/ 481338 h 702719"/>
              <a:gd name="csX47" fmla="*/ 182880 w 1973179"/>
              <a:gd name="csY47" fmla="*/ 413961 h 702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Lst>
            <a:rect l="l" t="t" r="r" b="b"/>
            <a:pathLst>
              <a:path w="1973179" h="702719">
                <a:moveTo>
                  <a:pt x="1973179" y="154079"/>
                </a:moveTo>
                <a:cubicBezTo>
                  <a:pt x="1953928" y="147662"/>
                  <a:pt x="1934268" y="142365"/>
                  <a:pt x="1915427" y="134829"/>
                </a:cubicBezTo>
                <a:cubicBezTo>
                  <a:pt x="1902105" y="129500"/>
                  <a:pt x="1889384" y="122697"/>
                  <a:pt x="1876926" y="115578"/>
                </a:cubicBezTo>
                <a:cubicBezTo>
                  <a:pt x="1866882" y="109839"/>
                  <a:pt x="1858683" y="100885"/>
                  <a:pt x="1848051" y="96328"/>
                </a:cubicBezTo>
                <a:cubicBezTo>
                  <a:pt x="1835892" y="91117"/>
                  <a:pt x="1822384" y="89911"/>
                  <a:pt x="1809550" y="86702"/>
                </a:cubicBezTo>
                <a:cubicBezTo>
                  <a:pt x="1787091" y="73868"/>
                  <a:pt x="1766050" y="58150"/>
                  <a:pt x="1742173" y="48201"/>
                </a:cubicBezTo>
                <a:cubicBezTo>
                  <a:pt x="1727071" y="41909"/>
                  <a:pt x="1710016" y="42125"/>
                  <a:pt x="1694046" y="38576"/>
                </a:cubicBezTo>
                <a:cubicBezTo>
                  <a:pt x="1681132" y="35706"/>
                  <a:pt x="1668490" y="31676"/>
                  <a:pt x="1655545" y="28951"/>
                </a:cubicBezTo>
                <a:cubicBezTo>
                  <a:pt x="1607518" y="18840"/>
                  <a:pt x="1511166" y="75"/>
                  <a:pt x="1511166" y="75"/>
                </a:cubicBezTo>
                <a:cubicBezTo>
                  <a:pt x="1477571" y="3435"/>
                  <a:pt x="1341749" y="-13388"/>
                  <a:pt x="1289785" y="38576"/>
                </a:cubicBezTo>
                <a:cubicBezTo>
                  <a:pt x="1268869" y="59492"/>
                  <a:pt x="1248155" y="81152"/>
                  <a:pt x="1232034" y="105953"/>
                </a:cubicBezTo>
                <a:cubicBezTo>
                  <a:pt x="1206217" y="145671"/>
                  <a:pt x="1164657" y="231081"/>
                  <a:pt x="1164657" y="231081"/>
                </a:cubicBezTo>
                <a:cubicBezTo>
                  <a:pt x="1161449" y="243915"/>
                  <a:pt x="1156903" y="256486"/>
                  <a:pt x="1155032" y="269582"/>
                </a:cubicBezTo>
                <a:cubicBezTo>
                  <a:pt x="1139288" y="379789"/>
                  <a:pt x="1138904" y="459666"/>
                  <a:pt x="1174282" y="577591"/>
                </a:cubicBezTo>
                <a:cubicBezTo>
                  <a:pt x="1183501" y="608322"/>
                  <a:pt x="1211717" y="629761"/>
                  <a:pt x="1232034" y="654593"/>
                </a:cubicBezTo>
                <a:cubicBezTo>
                  <a:pt x="1240654" y="665128"/>
                  <a:pt x="1249011" y="676858"/>
                  <a:pt x="1260910" y="683469"/>
                </a:cubicBezTo>
                <a:cubicBezTo>
                  <a:pt x="1278648" y="693323"/>
                  <a:pt x="1318661" y="702719"/>
                  <a:pt x="1318661" y="702719"/>
                </a:cubicBezTo>
                <a:cubicBezTo>
                  <a:pt x="1344328" y="696302"/>
                  <a:pt x="1373649" y="698145"/>
                  <a:pt x="1395663" y="683469"/>
                </a:cubicBezTo>
                <a:cubicBezTo>
                  <a:pt x="1413084" y="671855"/>
                  <a:pt x="1441826" y="610393"/>
                  <a:pt x="1453415" y="587216"/>
                </a:cubicBezTo>
                <a:cubicBezTo>
                  <a:pt x="1473087" y="488854"/>
                  <a:pt x="1476936" y="489843"/>
                  <a:pt x="1453415" y="336959"/>
                </a:cubicBezTo>
                <a:cubicBezTo>
                  <a:pt x="1446180" y="289930"/>
                  <a:pt x="1423043" y="292398"/>
                  <a:pt x="1395663" y="269582"/>
                </a:cubicBezTo>
                <a:cubicBezTo>
                  <a:pt x="1385206" y="260868"/>
                  <a:pt x="1376961" y="249750"/>
                  <a:pt x="1366787" y="240707"/>
                </a:cubicBezTo>
                <a:cubicBezTo>
                  <a:pt x="1344114" y="220553"/>
                  <a:pt x="1309590" y="190147"/>
                  <a:pt x="1280160" y="173330"/>
                </a:cubicBezTo>
                <a:cubicBezTo>
                  <a:pt x="1259200" y="161353"/>
                  <a:pt x="1215251" y="141344"/>
                  <a:pt x="1193533" y="134829"/>
                </a:cubicBezTo>
                <a:cubicBezTo>
                  <a:pt x="1177863" y="130128"/>
                  <a:pt x="1161376" y="128752"/>
                  <a:pt x="1145406" y="125203"/>
                </a:cubicBezTo>
                <a:cubicBezTo>
                  <a:pt x="1132492" y="122333"/>
                  <a:pt x="1119739" y="118786"/>
                  <a:pt x="1106905" y="115578"/>
                </a:cubicBezTo>
                <a:cubicBezTo>
                  <a:pt x="1039528" y="118786"/>
                  <a:pt x="971748" y="117166"/>
                  <a:pt x="904775" y="125203"/>
                </a:cubicBezTo>
                <a:cubicBezTo>
                  <a:pt x="885634" y="127500"/>
                  <a:pt x="854263" y="154335"/>
                  <a:pt x="837398" y="163704"/>
                </a:cubicBezTo>
                <a:cubicBezTo>
                  <a:pt x="704214" y="237694"/>
                  <a:pt x="869133" y="132923"/>
                  <a:pt x="693019" y="250332"/>
                </a:cubicBezTo>
                <a:cubicBezTo>
                  <a:pt x="683394" y="256749"/>
                  <a:pt x="672926" y="262054"/>
                  <a:pt x="664143" y="269582"/>
                </a:cubicBezTo>
                <a:cubicBezTo>
                  <a:pt x="619225" y="308083"/>
                  <a:pt x="566347" y="338890"/>
                  <a:pt x="529390" y="385086"/>
                </a:cubicBezTo>
                <a:cubicBezTo>
                  <a:pt x="516556" y="401128"/>
                  <a:pt x="504538" y="417857"/>
                  <a:pt x="490889" y="433212"/>
                </a:cubicBezTo>
                <a:cubicBezTo>
                  <a:pt x="462242" y="465439"/>
                  <a:pt x="434072" y="490496"/>
                  <a:pt x="394636" y="510214"/>
                </a:cubicBezTo>
                <a:cubicBezTo>
                  <a:pt x="376486" y="519289"/>
                  <a:pt x="356135" y="523047"/>
                  <a:pt x="336884" y="529464"/>
                </a:cubicBezTo>
                <a:cubicBezTo>
                  <a:pt x="324050" y="539089"/>
                  <a:pt x="312311" y="550381"/>
                  <a:pt x="298383" y="558340"/>
                </a:cubicBezTo>
                <a:cubicBezTo>
                  <a:pt x="289574" y="563374"/>
                  <a:pt x="279263" y="565179"/>
                  <a:pt x="269507" y="567966"/>
                </a:cubicBezTo>
                <a:cubicBezTo>
                  <a:pt x="184888" y="592144"/>
                  <a:pt x="271377" y="564134"/>
                  <a:pt x="202131" y="587216"/>
                </a:cubicBezTo>
                <a:cubicBezTo>
                  <a:pt x="147588" y="584008"/>
                  <a:pt x="92659" y="570370"/>
                  <a:pt x="38501" y="577591"/>
                </a:cubicBezTo>
                <a:cubicBezTo>
                  <a:pt x="27034" y="579120"/>
                  <a:pt x="50066" y="597821"/>
                  <a:pt x="57752" y="606467"/>
                </a:cubicBezTo>
                <a:cubicBezTo>
                  <a:pt x="75839" y="626815"/>
                  <a:pt x="96253" y="644968"/>
                  <a:pt x="115503" y="664218"/>
                </a:cubicBezTo>
                <a:cubicBezTo>
                  <a:pt x="160963" y="709678"/>
                  <a:pt x="149093" y="695085"/>
                  <a:pt x="105878" y="664218"/>
                </a:cubicBezTo>
                <a:cubicBezTo>
                  <a:pt x="96465" y="657494"/>
                  <a:pt x="86627" y="651385"/>
                  <a:pt x="77002" y="644968"/>
                </a:cubicBezTo>
                <a:cubicBezTo>
                  <a:pt x="67377" y="632134"/>
                  <a:pt x="57450" y="619521"/>
                  <a:pt x="48126" y="606467"/>
                </a:cubicBezTo>
                <a:cubicBezTo>
                  <a:pt x="41402" y="597054"/>
                  <a:pt x="36282" y="586478"/>
                  <a:pt x="28876" y="577591"/>
                </a:cubicBezTo>
                <a:cubicBezTo>
                  <a:pt x="20162" y="567134"/>
                  <a:pt x="9625" y="558340"/>
                  <a:pt x="0" y="548715"/>
                </a:cubicBezTo>
                <a:cubicBezTo>
                  <a:pt x="9625" y="539090"/>
                  <a:pt x="17333" y="527053"/>
                  <a:pt x="28876" y="519839"/>
                </a:cubicBezTo>
                <a:cubicBezTo>
                  <a:pt x="83542" y="485673"/>
                  <a:pt x="65439" y="517283"/>
                  <a:pt x="105878" y="481338"/>
                </a:cubicBezTo>
                <a:cubicBezTo>
                  <a:pt x="186654" y="409538"/>
                  <a:pt x="134550" y="438129"/>
                  <a:pt x="182880" y="413961"/>
                </a:cubicBezTo>
              </a:path>
            </a:pathLst>
          </a:cu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243D18D6-225E-7489-E528-EE9296D512E6}"/>
              </a:ext>
            </a:extLst>
          </p:cNvPr>
          <p:cNvSpPr txBox="1"/>
          <p:nvPr/>
        </p:nvSpPr>
        <p:spPr>
          <a:xfrm>
            <a:off x="4300878" y="3918329"/>
            <a:ext cx="1157305" cy="369332"/>
          </a:xfrm>
          <a:prstGeom prst="rect">
            <a:avLst/>
          </a:prstGeom>
          <a:noFill/>
        </p:spPr>
        <p:txBody>
          <a:bodyPr wrap="none" rtlCol="0">
            <a:spAutoFit/>
          </a:bodyPr>
          <a:lstStyle/>
          <a:p>
            <a:r>
              <a:rPr lang="en-US" dirty="0"/>
              <a:t>Latencies</a:t>
            </a:r>
          </a:p>
        </p:txBody>
      </p:sp>
      <p:sp>
        <p:nvSpPr>
          <p:cNvPr id="23" name="Rectangle 22">
            <a:extLst>
              <a:ext uri="{FF2B5EF4-FFF2-40B4-BE49-F238E27FC236}">
                <a16:creationId xmlns:a16="http://schemas.microsoft.com/office/drawing/2014/main" id="{D0CE98FB-422F-97F5-39A0-25A76044B035}"/>
              </a:ext>
            </a:extLst>
          </p:cNvPr>
          <p:cNvSpPr/>
          <p:nvPr/>
        </p:nvSpPr>
        <p:spPr>
          <a:xfrm>
            <a:off x="6190827" y="3344385"/>
            <a:ext cx="4167095" cy="188655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2400" dirty="0"/>
              <a:t>Fat tree data center topology </a:t>
            </a:r>
            <a:br>
              <a:rPr lang="en-US" sz="2400" dirty="0"/>
            </a:br>
            <a:r>
              <a:rPr lang="en-US" sz="2400" dirty="0"/>
              <a:t>+</a:t>
            </a:r>
            <a:br>
              <a:rPr lang="en-US" sz="2400" dirty="0"/>
            </a:br>
            <a:r>
              <a:rPr lang="en-US" sz="2400" dirty="0"/>
              <a:t>data center wide workload</a:t>
            </a:r>
          </a:p>
        </p:txBody>
      </p:sp>
      <p:sp>
        <p:nvSpPr>
          <p:cNvPr id="24" name="TextBox 23">
            <a:extLst>
              <a:ext uri="{FF2B5EF4-FFF2-40B4-BE49-F238E27FC236}">
                <a16:creationId xmlns:a16="http://schemas.microsoft.com/office/drawing/2014/main" id="{51889CE2-34E8-A4A2-379B-790FD82F42C8}"/>
              </a:ext>
            </a:extLst>
          </p:cNvPr>
          <p:cNvSpPr txBox="1"/>
          <p:nvPr/>
        </p:nvSpPr>
        <p:spPr>
          <a:xfrm>
            <a:off x="6179377" y="3352902"/>
            <a:ext cx="2094997" cy="369332"/>
          </a:xfrm>
          <a:prstGeom prst="rect">
            <a:avLst/>
          </a:prstGeom>
          <a:noFill/>
        </p:spPr>
        <p:txBody>
          <a:bodyPr wrap="none" rtlCol="0">
            <a:spAutoFit/>
          </a:bodyPr>
          <a:lstStyle/>
          <a:p>
            <a:r>
              <a:rPr lang="en-US" dirty="0"/>
              <a:t>Another Simulation</a:t>
            </a:r>
          </a:p>
        </p:txBody>
      </p:sp>
    </p:spTree>
    <p:extLst>
      <p:ext uri="{BB962C8B-B14F-4D97-AF65-F5344CB8AC3E}">
        <p14:creationId xmlns:p14="http://schemas.microsoft.com/office/powerpoint/2010/main" val="58184852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19" grpId="0" animBg="1"/>
      <p:bldP spid="20" grpId="0" animBg="1"/>
      <p:bldP spid="21" grpId="0" animBg="1"/>
      <p:bldP spid="22" grpId="0"/>
      <p:bldP spid="23" grpId="0" animBg="1"/>
      <p:bldP spid="24" grpId="0"/>
    </p:bldLst>
  </p:timing>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8EE3B4-25CD-F0ED-7E39-1B55B11F1A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7AE2E3-32E5-BEC1-B898-83958DB32BE4}"/>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D80854DA-8294-A314-056A-853402CF059C}"/>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Clients are fed with a schedule to generate events at specific “simulator” timestamps</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69ED099F-14E2-0BBD-5216-B39DBF6F497A}"/>
                  </a:ext>
                </a:extLst>
              </p:cNvPr>
              <p:cNvSpPr txBox="1"/>
              <p:nvPr/>
            </p:nvSpPr>
            <p:spPr>
              <a:xfrm>
                <a:off x="1253016" y="4395148"/>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xmlns="">
          <p:sp>
            <p:nvSpPr>
              <p:cNvPr id="18" name="TextBox 17">
                <a:extLst>
                  <a:ext uri="{FF2B5EF4-FFF2-40B4-BE49-F238E27FC236}">
                    <a16:creationId xmlns:a16="http://schemas.microsoft.com/office/drawing/2014/main" id="{69ED099F-14E2-0BBD-5216-B39DBF6F497A}"/>
                  </a:ext>
                </a:extLst>
              </p:cNvPr>
              <p:cNvSpPr txBox="1">
                <a:spLocks noRot="1" noChangeAspect="1" noMove="1" noResize="1" noEditPoints="1" noAdjustHandles="1" noChangeArrowheads="1" noChangeShapeType="1" noTextEdit="1"/>
              </p:cNvSpPr>
              <p:nvPr/>
            </p:nvSpPr>
            <p:spPr>
              <a:xfrm>
                <a:off x="1253016" y="4395148"/>
                <a:ext cx="11717473" cy="954107"/>
              </a:xfrm>
              <a:prstGeom prst="rect">
                <a:avLst/>
              </a:prstGeom>
              <a:blipFill>
                <a:blip r:embed="rId2"/>
                <a:stretch>
                  <a:fillRect l="-866" t="-7895" b="-15789"/>
                </a:stretch>
              </a:blipFill>
            </p:spPr>
            <p:txBody>
              <a:bodyPr/>
              <a:lstStyle/>
              <a:p>
                <a:r>
                  <a:rPr lang="en-US">
                    <a:noFill/>
                  </a:rPr>
                  <a:t> </a:t>
                </a:r>
              </a:p>
            </p:txBody>
          </p:sp>
        </mc:Fallback>
      </mc:AlternateContent>
    </p:spTree>
    <p:extLst>
      <p:ext uri="{BB962C8B-B14F-4D97-AF65-F5344CB8AC3E}">
        <p14:creationId xmlns:p14="http://schemas.microsoft.com/office/powerpoint/2010/main" val="2521597487"/>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6348</TotalTime>
  <Words>6994</Words>
  <Application>Microsoft Macintosh PowerPoint</Application>
  <PresentationFormat>Widescreen</PresentationFormat>
  <Paragraphs>1757</Paragraphs>
  <Slides>178</Slides>
  <Notes>140</Notes>
  <HiddenSlides>10</HiddenSlides>
  <MMClips>0</MMClips>
  <ScaleCrop>false</ScaleCrop>
  <HeadingPairs>
    <vt:vector size="8" baseType="variant">
      <vt:variant>
        <vt:lpstr>Fonts Used</vt:lpstr>
      </vt:variant>
      <vt:variant>
        <vt:i4>6</vt:i4>
      </vt:variant>
      <vt:variant>
        <vt:lpstr>Theme</vt:lpstr>
      </vt:variant>
      <vt:variant>
        <vt:i4>2</vt:i4>
      </vt:variant>
      <vt:variant>
        <vt:lpstr>Embedded OLE Servers</vt:lpstr>
      </vt:variant>
      <vt:variant>
        <vt:i4>1</vt:i4>
      </vt:variant>
      <vt:variant>
        <vt:lpstr>Slide Titles</vt:lpstr>
      </vt:variant>
      <vt:variant>
        <vt:i4>178</vt:i4>
      </vt:variant>
    </vt:vector>
  </HeadingPairs>
  <TitlesOfParts>
    <vt:vector size="187" baseType="lpstr">
      <vt:lpstr>Aptos</vt:lpstr>
      <vt:lpstr>Aptos Display</vt:lpstr>
      <vt:lpstr>Arial</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Computation Optimization</vt:lpstr>
      <vt:lpstr>Computation Optimization</vt:lpstr>
      <vt:lpstr>Computation Optimization</vt:lpstr>
      <vt:lpstr>Evaluation</vt:lpstr>
      <vt:lpstr>Setup</vt:lpstr>
      <vt:lpstr>Setup</vt:lpstr>
      <vt:lpstr>Setup</vt:lpstr>
      <vt:lpstr>Fairness</vt:lpstr>
      <vt:lpstr>Fairness</vt:lpstr>
      <vt:lpstr>Fairness</vt:lpstr>
      <vt:lpstr>Remarks</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583</cp:revision>
  <dcterms:created xsi:type="dcterms:W3CDTF">2026-04-04T21:04:51Z</dcterms:created>
  <dcterms:modified xsi:type="dcterms:W3CDTF">2026-04-10T00:14:56Z</dcterms:modified>
</cp:coreProperties>
</file>