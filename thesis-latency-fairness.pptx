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6"/>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892" r:id="rId68"/>
    <p:sldId id="1893" r:id="rId69"/>
    <p:sldId id="1895" r:id="rId70"/>
    <p:sldId id="1894" r:id="rId71"/>
    <p:sldId id="1897" r:id="rId72"/>
    <p:sldId id="1898" r:id="rId73"/>
    <p:sldId id="1899" r:id="rId74"/>
    <p:sldId id="1900" r:id="rId75"/>
    <p:sldId id="1901" r:id="rId76"/>
    <p:sldId id="1902" r:id="rId77"/>
    <p:sldId id="1903" r:id="rId78"/>
    <p:sldId id="1904" r:id="rId79"/>
    <p:sldId id="1905" r:id="rId80"/>
    <p:sldId id="1906" r:id="rId81"/>
    <p:sldId id="335" r:id="rId82"/>
    <p:sldId id="1915" r:id="rId83"/>
    <p:sldId id="1907" r:id="rId84"/>
    <p:sldId id="1908" r:id="rId85"/>
    <p:sldId id="1909" r:id="rId86"/>
    <p:sldId id="1910" r:id="rId87"/>
    <p:sldId id="350" r:id="rId88"/>
    <p:sldId id="359" r:id="rId89"/>
    <p:sldId id="427" r:id="rId90"/>
    <p:sldId id="360" r:id="rId91"/>
    <p:sldId id="428" r:id="rId92"/>
    <p:sldId id="353" r:id="rId93"/>
    <p:sldId id="432" r:id="rId94"/>
    <p:sldId id="1856" r:id="rId95"/>
    <p:sldId id="1857" r:id="rId96"/>
    <p:sldId id="351" r:id="rId97"/>
    <p:sldId id="352" r:id="rId98"/>
    <p:sldId id="1858" r:id="rId99"/>
    <p:sldId id="354" r:id="rId100"/>
    <p:sldId id="355" r:id="rId101"/>
    <p:sldId id="1859" r:id="rId102"/>
    <p:sldId id="357" r:id="rId103"/>
    <p:sldId id="358" r:id="rId104"/>
    <p:sldId id="1860" r:id="rId105"/>
    <p:sldId id="1861" r:id="rId106"/>
    <p:sldId id="393" r:id="rId107"/>
    <p:sldId id="1862" r:id="rId108"/>
    <p:sldId id="402" r:id="rId109"/>
    <p:sldId id="1863" r:id="rId110"/>
    <p:sldId id="1864" r:id="rId111"/>
    <p:sldId id="415" r:id="rId112"/>
    <p:sldId id="340" r:id="rId113"/>
    <p:sldId id="1865" r:id="rId114"/>
    <p:sldId id="1866" r:id="rId115"/>
    <p:sldId id="1867" r:id="rId116"/>
    <p:sldId id="412" r:id="rId117"/>
    <p:sldId id="1868" r:id="rId118"/>
    <p:sldId id="1869" r:id="rId119"/>
    <p:sldId id="413" r:id="rId120"/>
    <p:sldId id="1870" r:id="rId121"/>
    <p:sldId id="1871" r:id="rId122"/>
    <p:sldId id="1872" r:id="rId123"/>
    <p:sldId id="419" r:id="rId124"/>
    <p:sldId id="1914" r:id="rId125"/>
    <p:sldId id="1873" r:id="rId126"/>
    <p:sldId id="421" r:id="rId127"/>
    <p:sldId id="1878" r:id="rId128"/>
    <p:sldId id="1879" r:id="rId129"/>
    <p:sldId id="1874" r:id="rId130"/>
    <p:sldId id="1875" r:id="rId131"/>
    <p:sldId id="1876" r:id="rId132"/>
    <p:sldId id="1877" r:id="rId133"/>
    <p:sldId id="1912" r:id="rId134"/>
    <p:sldId id="1913" r:id="rId135"/>
    <p:sldId id="1880" r:id="rId136"/>
    <p:sldId id="1881" r:id="rId137"/>
    <p:sldId id="1882" r:id="rId138"/>
    <p:sldId id="1883" r:id="rId139"/>
    <p:sldId id="1884" r:id="rId140"/>
    <p:sldId id="1885" r:id="rId141"/>
    <p:sldId id="1887" r:id="rId142"/>
    <p:sldId id="1886" r:id="rId143"/>
    <p:sldId id="1888" r:id="rId144"/>
    <p:sldId id="1890" r:id="rId1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880"/>
    <p:restoredTop sz="91073"/>
  </p:normalViewPr>
  <p:slideViewPr>
    <p:cSldViewPr snapToGrid="0">
      <p:cViewPr varScale="1">
        <p:scale>
          <a:sx n="126" d="100"/>
          <a:sy n="126" d="100"/>
        </p:scale>
        <p:origin x="200" y="5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theme" Target="theme/theme1.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tableStyles" Target="tableStyles.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notesMaster" Target="notesMasters/notesMaster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96</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141</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142</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8.xml"/><Relationship Id="rId1" Type="http://schemas.openxmlformats.org/officeDocument/2006/relationships/slideLayout" Target="../slideLayouts/slideLayout23.xml"/><Relationship Id="rId5" Type="http://schemas.openxmlformats.org/officeDocument/2006/relationships/image" Target="../media/image15.png"/><Relationship Id="rId4" Type="http://schemas.openxmlformats.org/officeDocument/2006/relationships/image" Target="../media/image16.png"/></Relationships>
</file>

<file path=ppt/slides/_rels/slide8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77.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95.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8.xml"/><Relationship Id="rId1" Type="http://schemas.openxmlformats.org/officeDocument/2006/relationships/slideLayout" Target="../slideLayouts/slideLayout13.xml"/></Relationships>
</file>

<file path=ppt/slides/_rels/slide96.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7.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98.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9.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8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7.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10.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11.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12.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91.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5.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4.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4.xml"/></Relationships>
</file>

<file path=ppt/slides/_rels/slide13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a:buFont typeface="Arial"/>
              <a:buChar char="-"/>
            </a:pPr>
            <a:r>
              <a:rPr lang="en-US" sz="2400" b="1" i="1" dirty="0"/>
              <a:t>w </a:t>
            </a:r>
            <a:r>
              <a:rPr lang="en-US" sz="2400" dirty="0"/>
              <a:t>is a parameter that can be set by the exchange operator</a:t>
            </a:r>
          </a:p>
          <a:p>
            <a:pPr lvl="1">
              <a:buFont typeface="Arial"/>
              <a:buChar char="-"/>
            </a:pPr>
            <a:r>
              <a:rPr lang="en-US" sz="2000" dirty="0"/>
              <a:t>Reflects irrationality tolerance</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xmlns="">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a:t>
                </a:r>
                <a14:m>
                  <m:oMath xmlns:m="http://schemas.openxmlformats.org/officeDocument/2006/math">
                    <m:r>
                      <a:rPr lang="en-US" sz="3200" b="1" i="1" smtClean="0">
                        <a:latin typeface="Cambria Math" panose="02040503050406030204" pitchFamily="18" charset="0"/>
                        <a:ea typeface="Cambria Math" panose="02040503050406030204" pitchFamily="18" charset="0"/>
                      </a:rPr>
                      <m:t>∈</m:t>
                    </m:r>
                  </m:oMath>
                </a14:m>
                <a:r>
                  <a:rPr lang="en-US" sz="3200" b="1" i="1" dirty="0"/>
                  <a:t>  </a:t>
                </a:r>
                <a:endParaRPr lang="en-US" sz="3200" dirty="0"/>
              </a:p>
            </p:txBody>
          </p:sp>
        </mc:Choice>
        <mc:Fallback xmlns="">
          <p:sp>
            <p:nvSpPr>
              <p:cNvPr id="7" name="Rounded Rectangle 6">
                <a:extLst>
                  <a:ext uri="{FF2B5EF4-FFF2-40B4-BE49-F238E27FC236}">
                    <a16:creationId xmlns:a16="http://schemas.microsoft.com/office/drawing/2014/main" id="{93A6B951-6CDE-64E9-D608-1453718AD4E6}"/>
                  </a:ext>
                </a:extLst>
              </p:cNvPr>
              <p:cNvSpPr>
                <a:spLocks noRot="1" noChangeAspect="1" noMove="1" noResize="1" noEditPoints="1" noAdjustHandles="1" noChangeArrowheads="1" noChangeShapeType="1" noTextEdit="1"/>
              </p:cNvSpPr>
              <p:nvPr/>
            </p:nvSpPr>
            <p:spPr>
              <a:xfrm>
                <a:off x="9142939" y="2703008"/>
                <a:ext cx="2454514" cy="947048"/>
              </a:xfrm>
              <a:prstGeom prst="roundRect">
                <a:avLst/>
              </a:prstGeom>
              <a:blipFill>
                <a:blip r:embed="rId5"/>
                <a:stretch>
                  <a:fillRect t="-13158" b="-276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a:t>
            </a:r>
            <a:r>
              <a:rPr lang="en-US" sz="2800"/>
              <a:t>with tightly </a:t>
            </a:r>
            <a:r>
              <a:rPr lang="en-US" sz="2800" dirty="0"/>
              <a:t>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A59F3483-C2C3-5146-ECB7-5F29016060AB}"/>
              </a:ext>
            </a:extLst>
          </p:cNvPr>
          <p:cNvSpPr txBox="1"/>
          <p:nvPr/>
        </p:nvSpPr>
        <p:spPr>
          <a:xfrm>
            <a:off x="786510" y="1899920"/>
            <a:ext cx="9759570" cy="584775"/>
          </a:xfrm>
          <a:prstGeom prst="rect">
            <a:avLst/>
          </a:prstGeom>
          <a:noFill/>
        </p:spPr>
        <p:txBody>
          <a:bodyPr wrap="square" rtlCol="0">
            <a:spAutoFit/>
          </a:bodyPr>
          <a:lstStyle/>
          <a:p>
            <a:pPr marL="457200" indent="-457200">
              <a:buFont typeface="Arial" panose="020B0604020202020204" pitchFamily="34" charset="0"/>
              <a:buChar char="•"/>
            </a:pPr>
            <a:r>
              <a:rPr lang="en-US" sz="3200" dirty="0"/>
              <a:t>Intransitivity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5" name="TextBox 4">
            <a:extLst>
              <a:ext uri="{FF2B5EF4-FFF2-40B4-BE49-F238E27FC236}">
                <a16:creationId xmlns:a16="http://schemas.microsoft.com/office/drawing/2014/main" id="{092F98D2-66C4-B08C-5B6C-53E460CE4D06}"/>
              </a:ext>
            </a:extLst>
          </p:cNvPr>
          <p:cNvSpPr txBox="1"/>
          <p:nvPr/>
        </p:nvSpPr>
        <p:spPr>
          <a:xfrm>
            <a:off x="5547360" y="2644170"/>
            <a:ext cx="3616960" cy="1569660"/>
          </a:xfrm>
          <a:prstGeom prst="rect">
            <a:avLst/>
          </a:prstGeom>
          <a:noFill/>
        </p:spPr>
        <p:txBody>
          <a:bodyPr wrap="square" rtlCol="0">
            <a:spAutoFit/>
          </a:bodyPr>
          <a:lstStyle/>
          <a:p>
            <a:pPr marL="457200" indent="-457200">
              <a:buFont typeface="Arial" panose="020B0604020202020204" pitchFamily="34" charset="0"/>
              <a:buChar char="•"/>
            </a:pPr>
            <a:r>
              <a:rPr lang="en-US" sz="3200" dirty="0"/>
              <a:t>A wins over B</a:t>
            </a:r>
          </a:p>
          <a:p>
            <a:pPr marL="457200" indent="-457200">
              <a:buFont typeface="Arial" panose="020B0604020202020204" pitchFamily="34" charset="0"/>
              <a:buChar char="•"/>
            </a:pPr>
            <a:r>
              <a:rPr lang="en-US" sz="3200" dirty="0"/>
              <a:t>B wins over C</a:t>
            </a:r>
          </a:p>
          <a:p>
            <a:pPr marL="457200" indent="-457200">
              <a:buFont typeface="Arial" panose="020B0604020202020204" pitchFamily="34" charset="0"/>
              <a:buChar char="•"/>
            </a:pPr>
            <a:r>
              <a:rPr lang="en-US" sz="3200" dirty="0"/>
              <a:t>C wins over A</a:t>
            </a:r>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43C36298-8C94-D201-27B0-7BF152D0322E}"/>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4B1F4F-AB95-C6D1-931E-5E59074F2D43}"/>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3280</TotalTime>
  <Words>4891</Words>
  <Application>Microsoft Macintosh PowerPoint</Application>
  <PresentationFormat>Widescreen</PresentationFormat>
  <Paragraphs>1196</Paragraphs>
  <Slides>143</Slides>
  <Notes>104</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143</vt:i4>
      </vt:variant>
    </vt:vector>
  </HeadingPairs>
  <TitlesOfParts>
    <vt:vector size="153"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363</cp:revision>
  <dcterms:created xsi:type="dcterms:W3CDTF">2026-04-04T21:04:51Z</dcterms:created>
  <dcterms:modified xsi:type="dcterms:W3CDTF">2026-04-07T20:29:06Z</dcterms:modified>
</cp:coreProperties>
</file>