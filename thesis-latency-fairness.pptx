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9"/>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916" r:id="rId68"/>
    <p:sldId id="1917" r:id="rId69"/>
    <p:sldId id="1918" r:id="rId70"/>
    <p:sldId id="1919" r:id="rId71"/>
    <p:sldId id="1892" r:id="rId72"/>
    <p:sldId id="1893" r:id="rId73"/>
    <p:sldId id="1920" r:id="rId74"/>
    <p:sldId id="1921" r:id="rId75"/>
    <p:sldId id="1922" r:id="rId76"/>
    <p:sldId id="1923" r:id="rId77"/>
    <p:sldId id="1924" r:id="rId78"/>
    <p:sldId id="1925" r:id="rId79"/>
    <p:sldId id="1926" r:id="rId80"/>
    <p:sldId id="1927" r:id="rId81"/>
    <p:sldId id="1928" r:id="rId82"/>
    <p:sldId id="1929" r:id="rId83"/>
    <p:sldId id="1930" r:id="rId84"/>
    <p:sldId id="1931" r:id="rId85"/>
    <p:sldId id="1932" r:id="rId86"/>
    <p:sldId id="1933" r:id="rId87"/>
    <p:sldId id="1895" r:id="rId88"/>
    <p:sldId id="1894" r:id="rId89"/>
    <p:sldId id="1897" r:id="rId90"/>
    <p:sldId id="1898" r:id="rId91"/>
    <p:sldId id="1899" r:id="rId92"/>
    <p:sldId id="1900" r:id="rId93"/>
    <p:sldId id="1901" r:id="rId94"/>
    <p:sldId id="1902" r:id="rId95"/>
    <p:sldId id="1903" r:id="rId96"/>
    <p:sldId id="1904" r:id="rId97"/>
    <p:sldId id="1905" r:id="rId98"/>
    <p:sldId id="1906" r:id="rId99"/>
    <p:sldId id="1934" r:id="rId100"/>
    <p:sldId id="1915" r:id="rId101"/>
    <p:sldId id="1907" r:id="rId102"/>
    <p:sldId id="1908" r:id="rId103"/>
    <p:sldId id="1909" r:id="rId104"/>
    <p:sldId id="1910" r:id="rId105"/>
    <p:sldId id="350" r:id="rId106"/>
    <p:sldId id="359" r:id="rId107"/>
    <p:sldId id="427" r:id="rId108"/>
    <p:sldId id="360" r:id="rId109"/>
    <p:sldId id="428" r:id="rId110"/>
    <p:sldId id="353" r:id="rId111"/>
    <p:sldId id="432" r:id="rId112"/>
    <p:sldId id="1856" r:id="rId113"/>
    <p:sldId id="1857" r:id="rId114"/>
    <p:sldId id="351" r:id="rId115"/>
    <p:sldId id="352" r:id="rId116"/>
    <p:sldId id="1858" r:id="rId117"/>
    <p:sldId id="354" r:id="rId118"/>
    <p:sldId id="355" r:id="rId119"/>
    <p:sldId id="1859" r:id="rId120"/>
    <p:sldId id="357" r:id="rId121"/>
    <p:sldId id="358" r:id="rId122"/>
    <p:sldId id="1860" r:id="rId123"/>
    <p:sldId id="1861" r:id="rId124"/>
    <p:sldId id="393" r:id="rId125"/>
    <p:sldId id="1862" r:id="rId126"/>
    <p:sldId id="402" r:id="rId127"/>
    <p:sldId id="1863" r:id="rId128"/>
    <p:sldId id="1864" r:id="rId129"/>
    <p:sldId id="415" r:id="rId130"/>
    <p:sldId id="340" r:id="rId131"/>
    <p:sldId id="1865" r:id="rId132"/>
    <p:sldId id="1866" r:id="rId133"/>
    <p:sldId id="1867" r:id="rId134"/>
    <p:sldId id="412" r:id="rId135"/>
    <p:sldId id="1868" r:id="rId136"/>
    <p:sldId id="1869" r:id="rId137"/>
    <p:sldId id="413" r:id="rId138"/>
    <p:sldId id="1870" r:id="rId139"/>
    <p:sldId id="1936" r:id="rId140"/>
    <p:sldId id="1872" r:id="rId141"/>
    <p:sldId id="419" r:id="rId142"/>
    <p:sldId id="1914" r:id="rId143"/>
    <p:sldId id="1937" r:id="rId144"/>
    <p:sldId id="1873" r:id="rId145"/>
    <p:sldId id="1938" r:id="rId146"/>
    <p:sldId id="1939" r:id="rId147"/>
    <p:sldId id="1941" r:id="rId148"/>
    <p:sldId id="1942" r:id="rId149"/>
    <p:sldId id="1944" r:id="rId150"/>
    <p:sldId id="1945" r:id="rId151"/>
    <p:sldId id="1946" r:id="rId152"/>
    <p:sldId id="1879" r:id="rId153"/>
    <p:sldId id="1874" r:id="rId154"/>
    <p:sldId id="1876" r:id="rId155"/>
    <p:sldId id="1877" r:id="rId156"/>
    <p:sldId id="1912" r:id="rId157"/>
    <p:sldId id="1935" r:id="rId158"/>
    <p:sldId id="1913" r:id="rId159"/>
    <p:sldId id="1880" r:id="rId160"/>
    <p:sldId id="1881" r:id="rId161"/>
    <p:sldId id="1882" r:id="rId162"/>
    <p:sldId id="1883" r:id="rId163"/>
    <p:sldId id="1884" r:id="rId164"/>
    <p:sldId id="1885" r:id="rId165"/>
    <p:sldId id="1886" r:id="rId166"/>
    <p:sldId id="1888" r:id="rId167"/>
    <p:sldId id="1890" r:id="rId16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p:restoredTop sz="91111"/>
  </p:normalViewPr>
  <p:slideViewPr>
    <p:cSldViewPr snapToGrid="0">
      <p:cViewPr varScale="1">
        <p:scale>
          <a:sx n="121" d="100"/>
          <a:sy n="121" d="100"/>
        </p:scale>
        <p:origin x="2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presProps" Target="presProps.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viewProps" Target="viewProps.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2" Type="http://schemas.openxmlformats.org/officeDocument/2006/relationships/theme" Target="theme/theme1.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tableStyles" Target="tableStyles.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5DA9A-C409-5626-0683-4401565D1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1EEB-844C-244D-5CA5-9DA78453E8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4681B-51C9-763D-1B9E-5EAFFB5CB3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6FD68F-5363-8636-9023-16F2473CE1B4}"/>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55100570"/>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155</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164</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165</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7.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9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4.xml"/><Relationship Id="rId1" Type="http://schemas.openxmlformats.org/officeDocument/2006/relationships/slideLayout" Target="../slideLayouts/slideLayout23.xml"/></Relationships>
</file>

<file path=ppt/slides/_rels/slide110.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5.xml"/><Relationship Id="rId1" Type="http://schemas.openxmlformats.org/officeDocument/2006/relationships/slideLayout" Target="../slideLayouts/slideLayout2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96.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5.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16.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99.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7.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0.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8.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29.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0.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0.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4.xml"/></Relationships>
</file>

<file path=ppt/slides/_rels/slide15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9.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11527" y="4568504"/>
            <a:ext cx="2455610" cy="1323439"/>
          </a:xfrm>
          <a:prstGeom prst="rect">
            <a:avLst/>
          </a:prstGeom>
          <a:noFill/>
        </p:spPr>
        <p:txBody>
          <a:bodyPr wrap="square">
            <a:spAutoFit/>
          </a:bodyPr>
          <a:lstStyle/>
          <a:p>
            <a:r>
              <a:rPr lang="en-US" sz="2000" dirty="0"/>
              <a:t>For a fixed mid-price, all action happens inside the action window</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a:p>
            <a:pPr marL="457200" indent="-457200">
              <a:buFont typeface="Arial" panose="020B0604020202020204" pitchFamily="34" charset="0"/>
              <a:buChar char="•"/>
            </a:pPr>
            <a:endParaRPr lang="en-US" sz="3200" dirty="0"/>
          </a:p>
        </p:txBody>
      </p:sp>
      <p:sp>
        <p:nvSpPr>
          <p:cNvPr id="13" name="Oval 12">
            <a:extLst>
              <a:ext uri="{FF2B5EF4-FFF2-40B4-BE49-F238E27FC236}">
                <a16:creationId xmlns:a16="http://schemas.microsoft.com/office/drawing/2014/main" id="{050CC62E-738B-55BE-4F7D-67ED250EB61F}"/>
              </a:ext>
            </a:extLst>
          </p:cNvPr>
          <p:cNvSpPr/>
          <p:nvPr/>
        </p:nvSpPr>
        <p:spPr>
          <a:xfrm>
            <a:off x="2639607" y="421998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083ACC91-F7EE-7045-3A78-5748F4F01863}"/>
              </a:ext>
            </a:extLst>
          </p:cNvPr>
          <p:cNvSpPr/>
          <p:nvPr/>
        </p:nvSpPr>
        <p:spPr>
          <a:xfrm>
            <a:off x="3762097" y="528040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0C3FDC58-C507-06B7-F7ED-475B88F9C15B}"/>
              </a:ext>
            </a:extLst>
          </p:cNvPr>
          <p:cNvSpPr/>
          <p:nvPr/>
        </p:nvSpPr>
        <p:spPr>
          <a:xfrm rot="19622934">
            <a:off x="4336436" y="473443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66363314-E0E2-E504-98CC-42889C772241}"/>
              </a:ext>
            </a:extLst>
          </p:cNvPr>
          <p:cNvSpPr/>
          <p:nvPr/>
        </p:nvSpPr>
        <p:spPr>
          <a:xfrm rot="4623171">
            <a:off x="5580277" y="474644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3146D2C-F48D-605E-10FB-36E611AF204F}"/>
              </a:ext>
            </a:extLst>
          </p:cNvPr>
          <p:cNvSpPr/>
          <p:nvPr/>
        </p:nvSpPr>
        <p:spPr>
          <a:xfrm>
            <a:off x="4922058" y="398549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AEED8338-087F-2EAC-9F1A-CFF86AC1A0F1}"/>
              </a:ext>
            </a:extLst>
          </p:cNvPr>
          <p:cNvSpPr/>
          <p:nvPr/>
        </p:nvSpPr>
        <p:spPr>
          <a:xfrm rot="11192711">
            <a:off x="5064199" y="56666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4CAD9A0C-086A-342B-3DC0-AD7F1876405E}"/>
              </a:ext>
            </a:extLst>
          </p:cNvPr>
          <p:cNvSpPr/>
          <p:nvPr/>
        </p:nvSpPr>
        <p:spPr>
          <a:xfrm>
            <a:off x="5890893" y="541625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5E3EC9E2-A572-36EE-87CD-218150446EC0}"/>
              </a:ext>
            </a:extLst>
          </p:cNvPr>
          <p:cNvSpPr/>
          <p:nvPr/>
        </p:nvSpPr>
        <p:spPr>
          <a:xfrm rot="3453542">
            <a:off x="3131940" y="51932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7A54B19-DC4C-BB56-DE03-5C23409E4FCF}"/>
              </a:ext>
            </a:extLst>
          </p:cNvPr>
          <p:cNvSpPr/>
          <p:nvPr/>
        </p:nvSpPr>
        <p:spPr>
          <a:xfrm>
            <a:off x="6742355" y="407841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702BE4F-5D61-E274-E4B5-37A83D8A4613}"/>
              </a:ext>
            </a:extLst>
          </p:cNvPr>
          <p:cNvSpPr/>
          <p:nvPr/>
        </p:nvSpPr>
        <p:spPr>
          <a:xfrm rot="18602062">
            <a:off x="6561357" y="502790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A77220B4-9F12-0F75-F016-44154D721522}"/>
              </a:ext>
            </a:extLst>
          </p:cNvPr>
          <p:cNvSpPr/>
          <p:nvPr/>
        </p:nvSpPr>
        <p:spPr>
          <a:xfrm rot="652415">
            <a:off x="6028969" y="419109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B4B1B-094A-E823-8F33-6613A6ADFFD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32F81F1-4DBA-1F63-D7AA-C832C10F0A0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CE8FF82-F722-05AE-DCBE-A1180BCF33AB}"/>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662E595E-80AF-FE6D-9813-EC0403AD109D}"/>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F1CA5E6C-FD38-2757-5DF5-8EFC6A34D259}"/>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8686A957-9E8C-89CE-5406-C703C6C3137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7BCF427-7AE0-1F9B-9F15-1859AE4DB3B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E2D4D3B-E40E-0616-E56A-F60A1C7DE02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D0319F9B-025E-9C59-B07A-77F0DF1DFE43}"/>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781927F-0F08-71DB-CF87-3D018535B4D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66A53936-27FA-E3A0-72CD-9BDFC76AD426}"/>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48BEDE3-EA25-8CC2-8DAA-2092F3DEAF33}"/>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D85684D-F2E8-4282-4AAF-75A4B3C8A9E2}"/>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9933572-2598-B64F-E7C2-F5A4E436F345}"/>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8A7E8C3-5F65-D450-8BA3-0C8EC4AE6C1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5042092-674A-BF08-8678-614EE886A926}"/>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179713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0ECA48D-6230-1473-B9A8-82A75690B8E1}"/>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3329501" y="4917440"/>
            <a:ext cx="4673587" cy="523220"/>
          </a:xfrm>
          <a:prstGeom prst="rect">
            <a:avLst/>
          </a:prstGeom>
          <a:noFill/>
        </p:spPr>
        <p:txBody>
          <a:bodyPr wrap="none" rtlCol="0">
            <a:spAutoFit/>
          </a:bodyPr>
          <a:lstStyle/>
          <a:p>
            <a:r>
              <a:rPr lang="en-US" sz="2800" dirty="0"/>
              <a:t>Partial Order (Not total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noFill/>
          <a:ln>
            <a:solidFill>
              <a:srgbClr val="7030A0"/>
            </a:solidFill>
          </a:ln>
        </p:spPr>
        <p:txBody>
          <a:bodyPr wrap="none" rtlCol="0">
            <a:spAutoFit/>
          </a:bodyPr>
          <a:lstStyle/>
          <a:p>
            <a:r>
              <a:rPr lang="en-US" sz="2400" dirty="0"/>
              <a:t>All timestamps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noFill/>
          <a:ln>
            <a:solidFill>
              <a:srgbClr val="7030A0"/>
            </a:solidFill>
          </a:ln>
        </p:spPr>
        <p:txBody>
          <a:bodyPr wrap="none" rtlCol="0">
            <a:spAutoFit/>
          </a:bodyPr>
          <a:lstStyle/>
          <a:p>
            <a:r>
              <a:rPr lang="en-US" sz="2400" dirty="0"/>
              <a:t>One frontier per client calculated</a:t>
            </a:r>
          </a:p>
        </p:txBody>
      </p:sp>
      <p:sp>
        <p:nvSpPr>
          <p:cNvPr id="10" name="TextBox 9">
            <a:extLst>
              <a:ext uri="{FF2B5EF4-FFF2-40B4-BE49-F238E27FC236}">
                <a16:creationId xmlns:a16="http://schemas.microsoft.com/office/drawing/2014/main" id="{930A9923-4EB3-60EE-C35D-2EB6CBB2D501}"/>
              </a:ext>
            </a:extLst>
          </p:cNvPr>
          <p:cNvSpPr txBox="1"/>
          <p:nvPr/>
        </p:nvSpPr>
        <p:spPr>
          <a:xfrm>
            <a:off x="5709483" y="2829121"/>
            <a:ext cx="6289478" cy="2246769"/>
          </a:xfrm>
          <a:prstGeom prst="rect">
            <a:avLst/>
          </a:prstGeom>
          <a:solidFill>
            <a:schemeClr val="bg2">
              <a:lumMod val="25000"/>
            </a:schemeClr>
          </a:solidFill>
        </p:spPr>
        <p:txBody>
          <a:bodyPr wrap="square" rtlCol="0">
            <a:spAutoFit/>
          </a:bodyPr>
          <a:lstStyle/>
          <a:p>
            <a:r>
              <a:rPr lang="en-US" sz="2800" dirty="0">
                <a:solidFill>
                  <a:schemeClr val="bg1"/>
                </a:solidFill>
              </a:rPr>
              <a:t>Stable frontier f of a timestamp t:</a:t>
            </a:r>
            <a:br>
              <a:rPr lang="en-US" sz="2800" dirty="0">
                <a:solidFill>
                  <a:schemeClr val="bg1"/>
                </a:solidFill>
              </a:rPr>
            </a:br>
            <a:br>
              <a:rPr lang="en-US" sz="2800" dirty="0">
                <a:solidFill>
                  <a:schemeClr val="bg1"/>
                </a:solidFill>
              </a:rPr>
            </a:br>
            <a:r>
              <a:rPr lang="en-US" sz="2800" dirty="0">
                <a:solidFill>
                  <a:schemeClr val="bg1"/>
                </a:solidFill>
              </a:rPr>
              <a:t>A timestamp f such that any timestamp larger than the f will likely not need to be ordered before 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3674</TotalTime>
  <Words>6104</Words>
  <Application>Microsoft Macintosh PowerPoint</Application>
  <PresentationFormat>Widescreen</PresentationFormat>
  <Paragraphs>1602</Paragraphs>
  <Slides>166</Slides>
  <Notes>130</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166</vt:i4>
      </vt:variant>
    </vt:vector>
  </HeadingPairs>
  <TitlesOfParts>
    <vt:vector size="176"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455</cp:revision>
  <dcterms:created xsi:type="dcterms:W3CDTF">2026-04-04T21:04:51Z</dcterms:created>
  <dcterms:modified xsi:type="dcterms:W3CDTF">2026-04-08T03:39:16Z</dcterms:modified>
</cp:coreProperties>
</file>