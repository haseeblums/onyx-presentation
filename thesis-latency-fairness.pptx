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80"/>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09" r:id="rId41"/>
    <p:sldId id="423" r:id="rId42"/>
    <p:sldId id="425" r:id="rId43"/>
    <p:sldId id="414" r:id="rId44"/>
    <p:sldId id="416" r:id="rId45"/>
    <p:sldId id="391" r:id="rId46"/>
    <p:sldId id="408" r:id="rId47"/>
    <p:sldId id="394" r:id="rId48"/>
    <p:sldId id="395" r:id="rId49"/>
    <p:sldId id="396" r:id="rId50"/>
    <p:sldId id="397" r:id="rId51"/>
    <p:sldId id="398" r:id="rId52"/>
    <p:sldId id="399" r:id="rId53"/>
    <p:sldId id="400" r:id="rId54"/>
    <p:sldId id="401" r:id="rId55"/>
    <p:sldId id="403" r:id="rId56"/>
    <p:sldId id="404" r:id="rId57"/>
    <p:sldId id="405" r:id="rId58"/>
    <p:sldId id="410" r:id="rId59"/>
    <p:sldId id="407" r:id="rId60"/>
    <p:sldId id="312" r:id="rId61"/>
    <p:sldId id="1852" r:id="rId62"/>
    <p:sldId id="1853" r:id="rId63"/>
    <p:sldId id="1855" r:id="rId64"/>
    <p:sldId id="1950" r:id="rId65"/>
    <p:sldId id="1947" r:id="rId66"/>
    <p:sldId id="1911" r:id="rId67"/>
    <p:sldId id="1948" r:id="rId68"/>
    <p:sldId id="1949" r:id="rId69"/>
    <p:sldId id="1951" r:id="rId70"/>
    <p:sldId id="314" r:id="rId71"/>
    <p:sldId id="1916" r:id="rId72"/>
    <p:sldId id="1917" r:id="rId73"/>
    <p:sldId id="1918" r:id="rId74"/>
    <p:sldId id="1919" r:id="rId75"/>
    <p:sldId id="1892" r:id="rId76"/>
    <p:sldId id="1893" r:id="rId77"/>
    <p:sldId id="1920" r:id="rId78"/>
    <p:sldId id="1921" r:id="rId79"/>
    <p:sldId id="1922" r:id="rId80"/>
    <p:sldId id="1923" r:id="rId81"/>
    <p:sldId id="1924" r:id="rId82"/>
    <p:sldId id="1925" r:id="rId83"/>
    <p:sldId id="1926" r:id="rId84"/>
    <p:sldId id="1927" r:id="rId85"/>
    <p:sldId id="1928" r:id="rId86"/>
    <p:sldId id="1929" r:id="rId87"/>
    <p:sldId id="1930" r:id="rId88"/>
    <p:sldId id="1931" r:id="rId89"/>
    <p:sldId id="1932" r:id="rId90"/>
    <p:sldId id="1933" r:id="rId91"/>
    <p:sldId id="1895" r:id="rId92"/>
    <p:sldId id="1894" r:id="rId93"/>
    <p:sldId id="1897" r:id="rId94"/>
    <p:sldId id="1898" r:id="rId95"/>
    <p:sldId id="1899" r:id="rId96"/>
    <p:sldId id="1900" r:id="rId97"/>
    <p:sldId id="1901" r:id="rId98"/>
    <p:sldId id="1902" r:id="rId99"/>
    <p:sldId id="1903" r:id="rId100"/>
    <p:sldId id="1904" r:id="rId101"/>
    <p:sldId id="1960" r:id="rId102"/>
    <p:sldId id="1905" r:id="rId103"/>
    <p:sldId id="1906" r:id="rId104"/>
    <p:sldId id="1934" r:id="rId105"/>
    <p:sldId id="1957" r:id="rId106"/>
    <p:sldId id="1959" r:id="rId107"/>
    <p:sldId id="1958" r:id="rId108"/>
    <p:sldId id="1915" r:id="rId109"/>
    <p:sldId id="1907" r:id="rId110"/>
    <p:sldId id="1908" r:id="rId111"/>
    <p:sldId id="1909" r:id="rId112"/>
    <p:sldId id="1910" r:id="rId113"/>
    <p:sldId id="350" r:id="rId114"/>
    <p:sldId id="359" r:id="rId115"/>
    <p:sldId id="427" r:id="rId116"/>
    <p:sldId id="360" r:id="rId117"/>
    <p:sldId id="428" r:id="rId118"/>
    <p:sldId id="353" r:id="rId119"/>
    <p:sldId id="432" r:id="rId120"/>
    <p:sldId id="1856" r:id="rId121"/>
    <p:sldId id="1857" r:id="rId122"/>
    <p:sldId id="351" r:id="rId123"/>
    <p:sldId id="352" r:id="rId124"/>
    <p:sldId id="1858" r:id="rId125"/>
    <p:sldId id="354" r:id="rId126"/>
    <p:sldId id="355" r:id="rId127"/>
    <p:sldId id="1859" r:id="rId128"/>
    <p:sldId id="357" r:id="rId129"/>
    <p:sldId id="358" r:id="rId130"/>
    <p:sldId id="1860" r:id="rId131"/>
    <p:sldId id="1861" r:id="rId132"/>
    <p:sldId id="393" r:id="rId133"/>
    <p:sldId id="1862" r:id="rId134"/>
    <p:sldId id="402" r:id="rId135"/>
    <p:sldId id="1864" r:id="rId136"/>
    <p:sldId id="415" r:id="rId137"/>
    <p:sldId id="340" r:id="rId138"/>
    <p:sldId id="1865" r:id="rId139"/>
    <p:sldId id="1866" r:id="rId140"/>
    <p:sldId id="1867" r:id="rId141"/>
    <p:sldId id="412" r:id="rId142"/>
    <p:sldId id="1868" r:id="rId143"/>
    <p:sldId id="1869" r:id="rId144"/>
    <p:sldId id="413" r:id="rId145"/>
    <p:sldId id="1870" r:id="rId146"/>
    <p:sldId id="1936" r:id="rId147"/>
    <p:sldId id="1872" r:id="rId148"/>
    <p:sldId id="419" r:id="rId149"/>
    <p:sldId id="1914" r:id="rId150"/>
    <p:sldId id="1937" r:id="rId151"/>
    <p:sldId id="1873" r:id="rId152"/>
    <p:sldId id="1953" r:id="rId153"/>
    <p:sldId id="1952" r:id="rId154"/>
    <p:sldId id="1939" r:id="rId155"/>
    <p:sldId id="1941" r:id="rId156"/>
    <p:sldId id="1942" r:id="rId157"/>
    <p:sldId id="1954" r:id="rId158"/>
    <p:sldId id="1944" r:id="rId159"/>
    <p:sldId id="1945" r:id="rId160"/>
    <p:sldId id="1946" r:id="rId161"/>
    <p:sldId id="1879" r:id="rId162"/>
    <p:sldId id="1874" r:id="rId163"/>
    <p:sldId id="1876" r:id="rId164"/>
    <p:sldId id="1877" r:id="rId165"/>
    <p:sldId id="1912" r:id="rId166"/>
    <p:sldId id="1935" r:id="rId167"/>
    <p:sldId id="1913" r:id="rId168"/>
    <p:sldId id="1880" r:id="rId169"/>
    <p:sldId id="1881" r:id="rId170"/>
    <p:sldId id="1956" r:id="rId171"/>
    <p:sldId id="1955" r:id="rId172"/>
    <p:sldId id="1882" r:id="rId173"/>
    <p:sldId id="1883" r:id="rId174"/>
    <p:sldId id="1884" r:id="rId175"/>
    <p:sldId id="1885" r:id="rId176"/>
    <p:sldId id="1886" r:id="rId177"/>
    <p:sldId id="1888" r:id="rId178"/>
    <p:sldId id="1890" r:id="rId17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7DB"/>
    <a:srgbClr val="FF24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902"/>
    <p:restoredTop sz="91046"/>
  </p:normalViewPr>
  <p:slideViewPr>
    <p:cSldViewPr snapToGrid="0">
      <p:cViewPr varScale="1">
        <p:scale>
          <a:sx n="108" d="100"/>
          <a:sy n="108" d="100"/>
        </p:scale>
        <p:origin x="208" y="4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slide" Target="slides/slide168.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181" Type="http://schemas.openxmlformats.org/officeDocument/2006/relationships/presProps" Target="presProps.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slide" Target="slides/slide169.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182" Type="http://schemas.openxmlformats.org/officeDocument/2006/relationships/viewProps" Target="viewProps.xml"/><Relationship Id="rId6" Type="http://schemas.openxmlformats.org/officeDocument/2006/relationships/slide" Target="slides/slide4.xml"/><Relationship Id="rId23" Type="http://schemas.openxmlformats.org/officeDocument/2006/relationships/slide" Target="slides/slide21.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77" Type="http://schemas.openxmlformats.org/officeDocument/2006/relationships/slide" Target="slides/slide175.xml"/><Relationship Id="rId172" Type="http://schemas.openxmlformats.org/officeDocument/2006/relationships/slide" Target="slides/slide170.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slide" Target="slides/slide165.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183" Type="http://schemas.openxmlformats.org/officeDocument/2006/relationships/theme" Target="theme/theme1.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178" Type="http://schemas.openxmlformats.org/officeDocument/2006/relationships/slide" Target="slides/slide176.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73" Type="http://schemas.openxmlformats.org/officeDocument/2006/relationships/slide" Target="slides/slide171.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184" Type="http://schemas.openxmlformats.org/officeDocument/2006/relationships/tableStyles" Target="tableStyles.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74" Type="http://schemas.openxmlformats.org/officeDocument/2006/relationships/slide" Target="slides/slide172.xml"/><Relationship Id="rId179" Type="http://schemas.openxmlformats.org/officeDocument/2006/relationships/slide" Target="slides/slide177.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slide" Target="slides/slide167.xml"/><Relationship Id="rId4" Type="http://schemas.openxmlformats.org/officeDocument/2006/relationships/slide" Target="slides/slide2.xml"/><Relationship Id="rId9" Type="http://schemas.openxmlformats.org/officeDocument/2006/relationships/slide" Target="slides/slide7.xml"/><Relationship Id="rId180" Type="http://schemas.openxmlformats.org/officeDocument/2006/relationships/notesMaster" Target="notesMasters/notesMaster1.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75" Type="http://schemas.openxmlformats.org/officeDocument/2006/relationships/slide" Target="slides/slide173.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6" Type="http://schemas.openxmlformats.org/officeDocument/2006/relationships/slide" Target="slides/slide174.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 Id="rId1" Type="http://schemas.openxmlformats.org/officeDocument/2006/relationships/slideMaster" Target="slideMasters/slideMaster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 Scalable And Latency Fair Order Submission Service</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A Scalable And Latency Fair Multicast Service</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Multicast Service</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Order Submission Service</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As </a:t>
            </a:r>
            <a:r>
              <a:rPr lang="en-US" dirty="0" err="1"/>
              <a:t>trisks</a:t>
            </a:r>
            <a:endParaRPr lang="en-US" dirty="0"/>
          </a:p>
        </p:txBody>
      </p:sp>
      <p:sp>
        <p:nvSpPr>
          <p:cNvPr id="4" name="Slide Number Placeholder 3"/>
          <p:cNvSpPr>
            <a:spLocks noGrp="1"/>
          </p:cNvSpPr>
          <p:nvPr>
            <p:ph type="sldNum" sz="quarter" idx="5"/>
          </p:nvPr>
        </p:nvSpPr>
        <p:spPr/>
        <p:txBody>
          <a:bodyPr/>
          <a:lstStyle/>
          <a:p>
            <a:fld id="{5AD2936D-68DF-C34D-84E6-1FDAB4C19BCF}" type="slidenum">
              <a:rPr lang="en-US" smtClean="0"/>
              <a:t>2</a:t>
            </a:fld>
            <a:endParaRPr lang="en-US"/>
          </a:p>
        </p:txBody>
      </p:sp>
    </p:spTree>
    <p:extLst>
      <p:ext uri="{BB962C8B-B14F-4D97-AF65-F5344CB8AC3E}">
        <p14:creationId xmlns:p14="http://schemas.microsoft.com/office/powerpoint/2010/main" val="6424233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325BE27-1DE8-71DD-D4FA-0AB86532D8F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3D512D-6418-3DF7-ED63-9522E5E232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B941AC4-1F97-0471-FFDE-1DB61DBF61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594376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534CCBE-9DFD-B6AC-F994-35A9E0B87FD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7727C3B-F07A-6964-7840-4BA054F17A9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4A4ADE-09A9-8732-C6CD-F5639F1E97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1189116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E0EA22-2D1A-855F-324F-A6BB049B3EE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1E133B3-50E6-4140-AA90-8BD3DBA851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4A2884A-2551-F094-A5AB-563D5B52E2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3050223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12A137-95A3-A90C-76DF-21F8357870B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9E53244-6D91-85AC-B90F-19A1B5DD90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C2E63D5-BFCD-49E7-E081-690B3ADA3C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3725975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FDA9F15-FA84-2E47-C7F6-FF65E392ED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D04A01B-3EA5-B9D2-FE0E-FE587C918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27B1EF1-1F42-B2B1-835C-A38BB537B06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290108503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57CC4-5283-2505-2805-347E4DC7268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416938A-EB85-CCD5-A1D3-D0EF28B0C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5E427ED-2546-7D1A-B8C4-25F60C9EF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3182617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2A2364-F04A-3D94-671B-A379C7DA96A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3A8123-5514-CE0B-5D8A-4EFE860571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800CFAB-D3AC-1A0E-34BF-D534EEAF27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9551993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762E644-E074-CE05-0A03-B668EE041E6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AB52CB7-83A8-19FE-7CC3-03051FE78F4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0393CB0-B1AE-A04D-F068-08C1F76B285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28787480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85B9DC0-AF7C-3BAE-1881-AF86DFC6976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B908A56-73F3-D0EB-80BF-7985CD119F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B8BEDD6-EC29-460D-5CFC-67FEF61ADAE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20228773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99B29B2-7CDD-D76A-57D7-5EECE88A3D4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8D32555-EEDB-064A-47D6-17919E2A47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11CED9A-7311-8B99-FFE6-EC80E39775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460250"/>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Majority of trades are speed races, i.e., it happens in rounds. And fairness is definitely preserved in speed races. But in some contrived cases where some orders are delayed enough that they arrive at the exchange after some rounds, we think there might be an issue. </a:t>
            </a: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br>
              <a:rPr lang="en-US" dirty="0"/>
            </a:br>
            <a:r>
              <a:rPr lang="en-US" dirty="0"/>
              <a:t>100K orders per second, cumulative by 100 MPs</a:t>
            </a:r>
          </a:p>
          <a:p>
            <a:pPr marL="0" lvl="0" indent="0" algn="l" rtl="0">
              <a:spcBef>
                <a:spcPts val="0"/>
              </a:spcBef>
              <a:spcAft>
                <a:spcPts val="0"/>
              </a:spcAft>
              <a:buNone/>
            </a:pPr>
            <a:r>
              <a:rPr lang="en-US" dirty="0"/>
              <a:t>Periodic burst makes 20x load</a:t>
            </a:r>
          </a:p>
          <a:p>
            <a:pPr marL="0" lvl="0" indent="0" algn="l" rtl="0">
              <a:spcBef>
                <a:spcPts val="0"/>
              </a:spcBef>
              <a:spcAft>
                <a:spcPts val="0"/>
              </a:spcAft>
              <a:buNone/>
            </a:pPr>
            <a:r>
              <a:rPr lang="en-US" dirty="0"/>
              <a:t>Every 3</a:t>
            </a:r>
            <a:r>
              <a:rPr lang="en-US" baseline="30000" dirty="0"/>
              <a:t>rd</a:t>
            </a:r>
            <a:r>
              <a:rPr lang="en-US" dirty="0"/>
              <a:t> second, a burst occurs</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128</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130</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131</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132</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134</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136</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137</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138</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142</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33BB-1352-8263-8A69-B1E0A74DA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B3B61B-7E63-B7B9-73A2-51477B1AF37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D8787A-DBB4-8371-2354-7B993180B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F9EF73-CFB5-7A5A-0224-8B28CED9DB3B}"/>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1894470266"/>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146</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147</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148</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8CA5B-4690-9AFD-975D-3FC598E48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7EC7B4-01F1-F45E-830D-612EAD8B105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4D38846-5B3B-C0B6-78C5-2EE9613F79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A6669F-5358-BDB9-26A5-67A7F92726BE}"/>
              </a:ext>
            </a:extLst>
          </p:cNvPr>
          <p:cNvSpPr>
            <a:spLocks noGrp="1"/>
          </p:cNvSpPr>
          <p:nvPr>
            <p:ph type="sldNum" sz="quarter" idx="5"/>
          </p:nvPr>
        </p:nvSpPr>
        <p:spPr/>
        <p:txBody>
          <a:bodyPr/>
          <a:lstStyle/>
          <a:p>
            <a:fld id="{B3E8125A-D8BB-E74B-8C6E-AB7BD2C997CF}" type="slidenum">
              <a:rPr lang="en-US" smtClean="0"/>
              <a:t>149</a:t>
            </a:fld>
            <a:endParaRPr lang="en-US"/>
          </a:p>
        </p:txBody>
      </p:sp>
    </p:spTree>
    <p:extLst>
      <p:ext uri="{BB962C8B-B14F-4D97-AF65-F5344CB8AC3E}">
        <p14:creationId xmlns:p14="http://schemas.microsoft.com/office/powerpoint/2010/main" val="1378094932"/>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150</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1D68F-516B-F76E-84CB-07AAE8F942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A6E98D-3EFE-EB4A-EF20-E29DBF02C4F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C433161-CC56-2AD3-D858-D1BDF628EA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49C7EB-946C-5AE2-E672-6366495F6F79}"/>
              </a:ext>
            </a:extLst>
          </p:cNvPr>
          <p:cNvSpPr>
            <a:spLocks noGrp="1"/>
          </p:cNvSpPr>
          <p:nvPr>
            <p:ph type="sldNum" sz="quarter" idx="5"/>
          </p:nvPr>
        </p:nvSpPr>
        <p:spPr/>
        <p:txBody>
          <a:bodyPr/>
          <a:lstStyle/>
          <a:p>
            <a:fld id="{B3E8125A-D8BB-E74B-8C6E-AB7BD2C997CF}" type="slidenum">
              <a:rPr lang="en-US" smtClean="0"/>
              <a:t>151</a:t>
            </a:fld>
            <a:endParaRPr lang="en-US"/>
          </a:p>
        </p:txBody>
      </p:sp>
    </p:spTree>
    <p:extLst>
      <p:ext uri="{BB962C8B-B14F-4D97-AF65-F5344CB8AC3E}">
        <p14:creationId xmlns:p14="http://schemas.microsoft.com/office/powerpoint/2010/main" val="3797802722"/>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CCB9A-7048-62FA-7E94-1371540C8C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8EB2FB-C8C9-573E-3D26-5141A5D772F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73917-F2A6-6F1C-ABAE-48E647D127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84976E-95C5-D940-DC3F-E23003E1C690}"/>
              </a:ext>
            </a:extLst>
          </p:cNvPr>
          <p:cNvSpPr>
            <a:spLocks noGrp="1"/>
          </p:cNvSpPr>
          <p:nvPr>
            <p:ph type="sldNum" sz="quarter" idx="5"/>
          </p:nvPr>
        </p:nvSpPr>
        <p:spPr/>
        <p:txBody>
          <a:bodyPr/>
          <a:lstStyle/>
          <a:p>
            <a:fld id="{B3E8125A-D8BB-E74B-8C6E-AB7BD2C997CF}" type="slidenum">
              <a:rPr lang="en-US" smtClean="0"/>
              <a:t>152</a:t>
            </a:fld>
            <a:endParaRPr lang="en-US"/>
          </a:p>
        </p:txBody>
      </p:sp>
    </p:spTree>
    <p:extLst>
      <p:ext uri="{BB962C8B-B14F-4D97-AF65-F5344CB8AC3E}">
        <p14:creationId xmlns:p14="http://schemas.microsoft.com/office/powerpoint/2010/main" val="1619121683"/>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4ADB6-B8B5-99D6-13D0-BC2E07881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92A9B2-DF23-C422-4478-FD4D5D307A2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79D87EF-9060-8177-1333-42F0935703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BECA7A-8B64-3590-EEB3-331AD3FB919D}"/>
              </a:ext>
            </a:extLst>
          </p:cNvPr>
          <p:cNvSpPr>
            <a:spLocks noGrp="1"/>
          </p:cNvSpPr>
          <p:nvPr>
            <p:ph type="sldNum" sz="quarter" idx="5"/>
          </p:nvPr>
        </p:nvSpPr>
        <p:spPr/>
        <p:txBody>
          <a:bodyPr/>
          <a:lstStyle/>
          <a:p>
            <a:fld id="{B3E8125A-D8BB-E74B-8C6E-AB7BD2C997CF}" type="slidenum">
              <a:rPr lang="en-US" smtClean="0"/>
              <a:t>153</a:t>
            </a:fld>
            <a:endParaRPr lang="en-US"/>
          </a:p>
        </p:txBody>
      </p:sp>
    </p:spTree>
    <p:extLst>
      <p:ext uri="{BB962C8B-B14F-4D97-AF65-F5344CB8AC3E}">
        <p14:creationId xmlns:p14="http://schemas.microsoft.com/office/powerpoint/2010/main" val="1623281042"/>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5422-D5D5-3123-3AAE-D58541986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6563B6-2630-BEE5-2E3B-B18A6479696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E60B2D9-A92B-76A7-23E4-6E99425DE3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1FFCDD-4695-C04C-74D6-A933BB28C905}"/>
              </a:ext>
            </a:extLst>
          </p:cNvPr>
          <p:cNvSpPr>
            <a:spLocks noGrp="1"/>
          </p:cNvSpPr>
          <p:nvPr>
            <p:ph type="sldNum" sz="quarter" idx="5"/>
          </p:nvPr>
        </p:nvSpPr>
        <p:spPr/>
        <p:txBody>
          <a:bodyPr/>
          <a:lstStyle/>
          <a:p>
            <a:fld id="{B3E8125A-D8BB-E74B-8C6E-AB7BD2C997CF}" type="slidenum">
              <a:rPr lang="en-US" smtClean="0"/>
              <a:t>154</a:t>
            </a:fld>
            <a:endParaRPr lang="en-US"/>
          </a:p>
        </p:txBody>
      </p:sp>
    </p:spTree>
    <p:extLst>
      <p:ext uri="{BB962C8B-B14F-4D97-AF65-F5344CB8AC3E}">
        <p14:creationId xmlns:p14="http://schemas.microsoft.com/office/powerpoint/2010/main" val="1364117773"/>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FF4F0-4FD0-6E70-74A7-87B25449D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AB64-9F9C-450A-DEA4-D7B3681F277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54D3E-97E8-8C7F-E5E8-F1582E88CE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1125B8-79C9-2EBF-7EBB-3B1337B16268}"/>
              </a:ext>
            </a:extLst>
          </p:cNvPr>
          <p:cNvSpPr>
            <a:spLocks noGrp="1"/>
          </p:cNvSpPr>
          <p:nvPr>
            <p:ph type="sldNum" sz="quarter" idx="5"/>
          </p:nvPr>
        </p:nvSpPr>
        <p:spPr/>
        <p:txBody>
          <a:bodyPr/>
          <a:lstStyle/>
          <a:p>
            <a:fld id="{B3E8125A-D8BB-E74B-8C6E-AB7BD2C997CF}" type="slidenum">
              <a:rPr lang="en-US" smtClean="0"/>
              <a:t>155</a:t>
            </a:fld>
            <a:endParaRPr lang="en-US"/>
          </a:p>
        </p:txBody>
      </p:sp>
    </p:spTree>
    <p:extLst>
      <p:ext uri="{BB962C8B-B14F-4D97-AF65-F5344CB8AC3E}">
        <p14:creationId xmlns:p14="http://schemas.microsoft.com/office/powerpoint/2010/main" val="1654167154"/>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405473-AD64-36D4-8907-10D103F7EA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C4D4F8-7ACE-D607-E141-864B2C22A3E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7CB37D8-9A4F-B62C-61AC-7E66E1CBED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62BE15-79B8-9AE8-2E3B-2A09560BC668}"/>
              </a:ext>
            </a:extLst>
          </p:cNvPr>
          <p:cNvSpPr>
            <a:spLocks noGrp="1"/>
          </p:cNvSpPr>
          <p:nvPr>
            <p:ph type="sldNum" sz="quarter" idx="5"/>
          </p:nvPr>
        </p:nvSpPr>
        <p:spPr/>
        <p:txBody>
          <a:bodyPr/>
          <a:lstStyle/>
          <a:p>
            <a:fld id="{B3E8125A-D8BB-E74B-8C6E-AB7BD2C997CF}" type="slidenum">
              <a:rPr lang="en-US" smtClean="0"/>
              <a:t>156</a:t>
            </a:fld>
            <a:endParaRPr lang="en-US"/>
          </a:p>
        </p:txBody>
      </p:sp>
    </p:spTree>
    <p:extLst>
      <p:ext uri="{BB962C8B-B14F-4D97-AF65-F5344CB8AC3E}">
        <p14:creationId xmlns:p14="http://schemas.microsoft.com/office/powerpoint/2010/main" val="1447172378"/>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3D020-CDB1-CC14-94F7-F208237DF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B4C42-85BF-E507-8C08-7D2A21CC0B1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3B6FD86-6A2A-A853-91B3-8D34E44E6B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ADD66-FA17-4A6B-75DF-B65F084ED952}"/>
              </a:ext>
            </a:extLst>
          </p:cNvPr>
          <p:cNvSpPr>
            <a:spLocks noGrp="1"/>
          </p:cNvSpPr>
          <p:nvPr>
            <p:ph type="sldNum" sz="quarter" idx="5"/>
          </p:nvPr>
        </p:nvSpPr>
        <p:spPr/>
        <p:txBody>
          <a:bodyPr/>
          <a:lstStyle/>
          <a:p>
            <a:fld id="{B3E8125A-D8BB-E74B-8C6E-AB7BD2C997CF}" type="slidenum">
              <a:rPr lang="en-US" smtClean="0"/>
              <a:t>157</a:t>
            </a:fld>
            <a:endParaRPr lang="en-US"/>
          </a:p>
        </p:txBody>
      </p:sp>
    </p:spTree>
    <p:extLst>
      <p:ext uri="{BB962C8B-B14F-4D97-AF65-F5344CB8AC3E}">
        <p14:creationId xmlns:p14="http://schemas.microsoft.com/office/powerpoint/2010/main" val="1330759065"/>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9C498-DCDE-B684-8E67-2C43E76A5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9E7F04-A0B5-7095-01E3-B06E588CF4B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FF85032-6102-1C80-7867-166C24F547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10EF1C-CA63-19B5-AE5D-365A97AE43FA}"/>
              </a:ext>
            </a:extLst>
          </p:cNvPr>
          <p:cNvSpPr>
            <a:spLocks noGrp="1"/>
          </p:cNvSpPr>
          <p:nvPr>
            <p:ph type="sldNum" sz="quarter" idx="5"/>
          </p:nvPr>
        </p:nvSpPr>
        <p:spPr/>
        <p:txBody>
          <a:bodyPr/>
          <a:lstStyle/>
          <a:p>
            <a:fld id="{B3E8125A-D8BB-E74B-8C6E-AB7BD2C997CF}" type="slidenum">
              <a:rPr lang="en-US" smtClean="0"/>
              <a:t>158</a:t>
            </a:fld>
            <a:endParaRPr lang="en-US"/>
          </a:p>
        </p:txBody>
      </p:sp>
    </p:spTree>
    <p:extLst>
      <p:ext uri="{BB962C8B-B14F-4D97-AF65-F5344CB8AC3E}">
        <p14:creationId xmlns:p14="http://schemas.microsoft.com/office/powerpoint/2010/main" val="1015520358"/>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2E013-0020-DB59-E355-BD032C7234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6B5B4-923D-1966-B0CD-4673E4C3874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9BC6DEC-9FCA-4AEE-8CC1-0684E0ACD5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0ED5BB-BF44-673A-2194-5226021A55D8}"/>
              </a:ext>
            </a:extLst>
          </p:cNvPr>
          <p:cNvSpPr>
            <a:spLocks noGrp="1"/>
          </p:cNvSpPr>
          <p:nvPr>
            <p:ph type="sldNum" sz="quarter" idx="5"/>
          </p:nvPr>
        </p:nvSpPr>
        <p:spPr/>
        <p:txBody>
          <a:bodyPr/>
          <a:lstStyle/>
          <a:p>
            <a:fld id="{B3E8125A-D8BB-E74B-8C6E-AB7BD2C997CF}" type="slidenum">
              <a:rPr lang="en-US" smtClean="0"/>
              <a:t>159</a:t>
            </a:fld>
            <a:endParaRPr lang="en-US"/>
          </a:p>
        </p:txBody>
      </p:sp>
    </p:spTree>
    <p:extLst>
      <p:ext uri="{BB962C8B-B14F-4D97-AF65-F5344CB8AC3E}">
        <p14:creationId xmlns:p14="http://schemas.microsoft.com/office/powerpoint/2010/main" val="213124597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160</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 simple way to implement the above integral is to have two for loops iterating over the distributions, then we find </a:t>
            </a:r>
            <a:r>
              <a:rPr lang="en-US" dirty="0" err="1"/>
              <a:t>pariwsie</a:t>
            </a:r>
            <a:r>
              <a:rPr lang="en-US" dirty="0"/>
              <a:t> differences of the iterating elements and see </a:t>
            </a:r>
            <a:r>
              <a:rPr lang="en-US" dirty="0" err="1"/>
              <a:t>wehter</a:t>
            </a:r>
            <a:r>
              <a:rPr lang="en-US" dirty="0"/>
              <a:t> they are above that threshold or not. </a:t>
            </a:r>
          </a:p>
        </p:txBody>
      </p:sp>
      <p:sp>
        <p:nvSpPr>
          <p:cNvPr id="4" name="Slide Number Placeholder 3"/>
          <p:cNvSpPr>
            <a:spLocks noGrp="1"/>
          </p:cNvSpPr>
          <p:nvPr>
            <p:ph type="sldNum" sz="quarter" idx="5"/>
          </p:nvPr>
        </p:nvSpPr>
        <p:spPr/>
        <p:txBody>
          <a:bodyPr/>
          <a:lstStyle/>
          <a:p>
            <a:fld id="{5AD2936D-68DF-C34D-84E6-1FDAB4C19BCF}" type="slidenum">
              <a:rPr lang="en-US" smtClean="0"/>
              <a:t>164</a:t>
            </a:fld>
            <a:endParaRPr lang="en-US"/>
          </a:p>
        </p:txBody>
      </p:sp>
    </p:spTree>
    <p:extLst>
      <p:ext uri="{BB962C8B-B14F-4D97-AF65-F5344CB8AC3E}">
        <p14:creationId xmlns:p14="http://schemas.microsoft.com/office/powerpoint/2010/main" val="3291870796"/>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175</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176</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4/9/26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2.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0.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3.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4.xml"/></Relationships>
</file>

<file path=ppt/slides/_rels/slide99.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0.xml"/><Relationship Id="rId1" Type="http://schemas.openxmlformats.org/officeDocument/2006/relationships/slideLayout" Target="../slideLayouts/slideLayout24.xml"/></Relationships>
</file>

<file path=ppt/slides/_rels/slide103.xml.rels><?xml version="1.0" encoding="UTF-8" standalone="yes"?>
<Relationships xmlns="http://schemas.openxmlformats.org/package/2006/relationships"><Relationship Id="rId3" Type="http://schemas.openxmlformats.org/officeDocument/2006/relationships/image" Target="../media/image5.emf"/><Relationship Id="rId7" Type="http://schemas.openxmlformats.org/officeDocument/2006/relationships/image" Target="../media/image15.png"/><Relationship Id="rId2" Type="http://schemas.openxmlformats.org/officeDocument/2006/relationships/notesSlide" Target="../notesSlides/notesSlide91.xml"/><Relationship Id="rId1" Type="http://schemas.openxmlformats.org/officeDocument/2006/relationships/slideLayout" Target="../slideLayouts/slideLayout24.xml"/><Relationship Id="rId6" Type="http://schemas.openxmlformats.org/officeDocument/2006/relationships/image" Target="../media/image17.png"/><Relationship Id="rId5" Type="http://schemas.openxmlformats.org/officeDocument/2006/relationships/image" Target="../media/image16.png"/></Relationships>
</file>

<file path=ppt/slides/_rels/slide10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3.xml"/><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4.xml"/><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5.xml"/><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6.xml"/><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7.xml"/><Relationship Id="rId1" Type="http://schemas.openxmlformats.org/officeDocument/2006/relationships/slideLayout" Target="../slideLayouts/slideLayout24.xml"/></Relationships>
</file>

<file path=ppt/slides/_rels/slide110.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8.xml"/><Relationship Id="rId1" Type="http://schemas.openxmlformats.org/officeDocument/2006/relationships/slideLayout" Target="../slideLayouts/slideLayout24.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4.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4.xml"/></Relationships>
</file>

<file path=ppt/slides/_rels/slide113.xml.rels><?xml version="1.0" encoding="UTF-8" standalone="yes"?>
<Relationships xmlns="http://schemas.openxmlformats.org/package/2006/relationships"><Relationship Id="rId2" Type="http://schemas.openxmlformats.org/officeDocument/2006/relationships/image" Target="../media/image21.emf"/><Relationship Id="rId1" Type="http://schemas.openxmlformats.org/officeDocument/2006/relationships/slideLayout" Target="../slideLayouts/slideLayout24.xml"/></Relationships>
</file>

<file path=ppt/slides/_rels/slide114.xml.rels><?xml version="1.0" encoding="UTF-8" standalone="yes"?>
<Relationships xmlns="http://schemas.openxmlformats.org/package/2006/relationships"><Relationship Id="rId2" Type="http://schemas.openxmlformats.org/officeDocument/2006/relationships/image" Target="../media/image21.emf"/><Relationship Id="rId1" Type="http://schemas.openxmlformats.org/officeDocument/2006/relationships/slideLayout" Target="../slideLayouts/slideLayout24.xml"/></Relationships>
</file>

<file path=ppt/slides/_rels/slide115.xml.rels><?xml version="1.0" encoding="UTF-8" standalone="yes"?>
<Relationships xmlns="http://schemas.openxmlformats.org/package/2006/relationships"><Relationship Id="rId2" Type="http://schemas.openxmlformats.org/officeDocument/2006/relationships/image" Target="../media/image22.emf"/><Relationship Id="rId1" Type="http://schemas.openxmlformats.org/officeDocument/2006/relationships/slideLayout" Target="../slideLayouts/slideLayout24.xml"/></Relationships>
</file>

<file path=ppt/slides/_rels/slide116.xml.rels><?xml version="1.0" encoding="UTF-8" standalone="yes"?>
<Relationships xmlns="http://schemas.openxmlformats.org/package/2006/relationships"><Relationship Id="rId2" Type="http://schemas.openxmlformats.org/officeDocument/2006/relationships/image" Target="../media/image22.emf"/><Relationship Id="rId1" Type="http://schemas.openxmlformats.org/officeDocument/2006/relationships/slideLayout" Target="../slideLayouts/slideLayout24.xml"/></Relationships>
</file>

<file path=ppt/slides/_rels/slide117.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notesSlide" Target="../notesSlides/notesSlide101.xml"/><Relationship Id="rId1" Type="http://schemas.openxmlformats.org/officeDocument/2006/relationships/slideLayout" Target="../slideLayouts/slideLayout23.xml"/></Relationships>
</file>

<file path=ppt/slides/_rels/slide118.xml.rels><?xml version="1.0" encoding="UTF-8" standalone="yes"?>
<Relationships xmlns="http://schemas.openxmlformats.org/package/2006/relationships"><Relationship Id="rId3" Type="http://schemas.openxmlformats.org/officeDocument/2006/relationships/image" Target="../media/image24.emf"/><Relationship Id="rId2" Type="http://schemas.openxmlformats.org/officeDocument/2006/relationships/notesSlide" Target="../notesSlides/notesSlide102.xml"/><Relationship Id="rId1" Type="http://schemas.openxmlformats.org/officeDocument/2006/relationships/slideLayout" Target="../slideLayouts/slideLayout2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0.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103.xml"/><Relationship Id="rId1" Type="http://schemas.openxmlformats.org/officeDocument/2006/relationships/slideLayout" Target="../slideLayouts/slideLayout12.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121.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notesSlide" Target="../notesSlides/notesSlide104.xml"/><Relationship Id="rId1" Type="http://schemas.openxmlformats.org/officeDocument/2006/relationships/slideLayout" Target="../slideLayouts/slideLayout13.xml"/></Relationships>
</file>

<file path=ppt/slides/_rels/slide122.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svg"/><Relationship Id="rId2" Type="http://schemas.openxmlformats.org/officeDocument/2006/relationships/notesSlide" Target="../notesSlides/notesSlide105.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23.xml.rels><?xml version="1.0" encoding="UTF-8" standalone="yes"?>
<Relationships xmlns="http://schemas.openxmlformats.org/package/2006/relationships"><Relationship Id="rId3" Type="http://schemas.openxmlformats.org/officeDocument/2006/relationships/image" Target="../media/image30.svg"/><Relationship Id="rId7" Type="http://schemas.openxmlformats.org/officeDocument/2006/relationships/image" Target="../media/image33.svg"/><Relationship Id="rId2" Type="http://schemas.openxmlformats.org/officeDocument/2006/relationships/image" Target="../media/image29.svg"/><Relationship Id="rId1" Type="http://schemas.openxmlformats.org/officeDocument/2006/relationships/slideLayout" Target="../slideLayouts/slideLayout13.xml"/><Relationship Id="rId6" Type="http://schemas.openxmlformats.org/officeDocument/2006/relationships/image" Target="../media/image34.svg"/><Relationship Id="rId5" Type="http://schemas.openxmlformats.org/officeDocument/2006/relationships/image" Target="../media/image32.svg"/><Relationship Id="rId4" Type="http://schemas.openxmlformats.org/officeDocument/2006/relationships/image" Target="../media/image31.svg"/></Relationships>
</file>

<file path=ppt/slides/_rels/slide124.xml.rels><?xml version="1.0" encoding="UTF-8" standalone="yes"?>
<Relationships xmlns="http://schemas.openxmlformats.org/package/2006/relationships"><Relationship Id="rId8" Type="http://schemas.openxmlformats.org/officeDocument/2006/relationships/image" Target="../media/image34.svg"/><Relationship Id="rId3" Type="http://schemas.openxmlformats.org/officeDocument/2006/relationships/image" Target="../media/image29.svg"/><Relationship Id="rId7" Type="http://schemas.openxmlformats.org/officeDocument/2006/relationships/image" Target="../media/image33.svg"/><Relationship Id="rId2" Type="http://schemas.openxmlformats.org/officeDocument/2006/relationships/notesSlide" Target="../notesSlides/notesSlide106.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25.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9.svg"/><Relationship Id="rId7" Type="http://schemas.openxmlformats.org/officeDocument/2006/relationships/image" Target="../media/image34.svg"/><Relationship Id="rId2" Type="http://schemas.openxmlformats.org/officeDocument/2006/relationships/notesSlide" Target="../notesSlides/notesSlide107.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9.xml"/><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0.xml"/><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1.xml"/><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2.xml"/><Relationship Id="rId1" Type="http://schemas.openxmlformats.org/officeDocument/2006/relationships/slideLayout" Target="../slideLayouts/slideLayout13.xml"/></Relationships>
</file>

<file path=ppt/slides/_rels/slide13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3.xml"/><Relationship Id="rId1" Type="http://schemas.openxmlformats.org/officeDocument/2006/relationships/slideLayout" Target="../slideLayouts/slideLayout13.xml"/></Relationships>
</file>

<file path=ppt/slides/_rels/slide13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34.xml.rels><?xml version="1.0" encoding="UTF-8" standalone="yes"?>
<Relationships xmlns="http://schemas.openxmlformats.org/package/2006/relationships"><Relationship Id="rId3" Type="http://schemas.openxmlformats.org/officeDocument/2006/relationships/image" Target="../media/image35.svg"/><Relationship Id="rId7" Type="http://schemas.openxmlformats.org/officeDocument/2006/relationships/image" Target="../media/image39.png"/><Relationship Id="rId2" Type="http://schemas.openxmlformats.org/officeDocument/2006/relationships/notesSlide" Target="../notesSlides/notesSlide114.xml"/><Relationship Id="rId1" Type="http://schemas.openxmlformats.org/officeDocument/2006/relationships/slideLayout" Target="../slideLayouts/slideLayout13.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s>
</file>

<file path=ppt/slides/_rels/slide135.xml.rels><?xml version="1.0" encoding="UTF-8" standalone="yes"?>
<Relationships xmlns="http://schemas.openxmlformats.org/package/2006/relationships"><Relationship Id="rId3" Type="http://schemas.openxmlformats.org/officeDocument/2006/relationships/image" Target="../media/image36.svg"/><Relationship Id="rId2" Type="http://schemas.openxmlformats.org/officeDocument/2006/relationships/image" Target="../media/image35.svg"/><Relationship Id="rId1" Type="http://schemas.openxmlformats.org/officeDocument/2006/relationships/slideLayout" Target="../slideLayouts/slideLayout13.xml"/><Relationship Id="rId6" Type="http://schemas.openxmlformats.org/officeDocument/2006/relationships/image" Target="../media/image39.png"/><Relationship Id="rId5" Type="http://schemas.openxmlformats.org/officeDocument/2006/relationships/image" Target="../media/image38.svg"/><Relationship Id="rId4" Type="http://schemas.openxmlformats.org/officeDocument/2006/relationships/image" Target="../media/image37.svg"/></Relationships>
</file>

<file path=ppt/slides/_rels/slide136.xml.rels><?xml version="1.0" encoding="UTF-8" standalone="yes"?>
<Relationships xmlns="http://schemas.openxmlformats.org/package/2006/relationships"><Relationship Id="rId3" Type="http://schemas.openxmlformats.org/officeDocument/2006/relationships/image" Target="../media/image35.svg"/><Relationship Id="rId7" Type="http://schemas.openxmlformats.org/officeDocument/2006/relationships/image" Target="../media/image39.png"/><Relationship Id="rId2" Type="http://schemas.openxmlformats.org/officeDocument/2006/relationships/notesSlide" Target="../notesSlides/notesSlide115.xml"/><Relationship Id="rId1" Type="http://schemas.openxmlformats.org/officeDocument/2006/relationships/slideLayout" Target="../slideLayouts/slideLayout13.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s>
</file>

<file path=ppt/slides/_rels/slide137.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9.png"/><Relationship Id="rId7" Type="http://schemas.openxmlformats.org/officeDocument/2006/relationships/image" Target="../media/image35.png"/><Relationship Id="rId2" Type="http://schemas.openxmlformats.org/officeDocument/2006/relationships/notesSlide" Target="../notesSlides/notesSlide116.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8.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9.png"/><Relationship Id="rId7" Type="http://schemas.openxmlformats.org/officeDocument/2006/relationships/image" Target="../media/image34.png"/><Relationship Id="rId2" Type="http://schemas.openxmlformats.org/officeDocument/2006/relationships/notesSlide" Target="../notesSlides/notesSlide117.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39.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9.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0.png"/><Relationship Id="rId9" Type="http://schemas.openxmlformats.org/officeDocument/2006/relationships/image" Target="../media/image330.png"/></Relationships>
</file>

<file path=ppt/slides/_rels/slide140.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9.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4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18.xml"/><Relationship Id="rId1" Type="http://schemas.openxmlformats.org/officeDocument/2006/relationships/slideLayout" Target="../slideLayouts/slideLayout13.xml"/></Relationships>
</file>

<file path=ppt/slides/_rels/slide14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19.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20.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13.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1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36.xml"/><Relationship Id="rId1" Type="http://schemas.openxmlformats.org/officeDocument/2006/relationships/slideLayout" Target="../slideLayouts/slideLayout13.xml"/></Relationships>
</file>

<file path=ppt/slides/_rels/slide165.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6.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4.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9.xml.rels><?xml version="1.0" encoding="UTF-8" standalone="yes"?>
<Relationships xmlns="http://schemas.openxmlformats.org/package/2006/relationships"><Relationship Id="rId2" Type="http://schemas.openxmlformats.org/officeDocument/2006/relationships/image" Target="../media/image40.svg"/><Relationship Id="rId1" Type="http://schemas.openxmlformats.org/officeDocument/2006/relationships/slideLayout" Target="../slideLayouts/slideLayout13.xml"/></Relationships>
</file>

<file path=ppt/slides/_rels/slide170.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3.xml"/></Relationships>
</file>

<file path=ppt/slides/_rels/slide171.xml.rels><?xml version="1.0" encoding="UTF-8" standalone="yes"?>
<Relationships xmlns="http://schemas.openxmlformats.org/package/2006/relationships"><Relationship Id="rId2" Type="http://schemas.openxmlformats.org/officeDocument/2006/relationships/image" Target="../media/image41.emf"/><Relationship Id="rId1" Type="http://schemas.openxmlformats.org/officeDocument/2006/relationships/slideLayout" Target="../slideLayouts/slideLayout13.xml"/></Relationships>
</file>

<file path=ppt/slides/_rels/slide172.xml.rels><?xml version="1.0" encoding="UTF-8" standalone="yes"?>
<Relationships xmlns="http://schemas.openxmlformats.org/package/2006/relationships"><Relationship Id="rId2" Type="http://schemas.openxmlformats.org/officeDocument/2006/relationships/image" Target="../media/image41.emf"/><Relationship Id="rId1" Type="http://schemas.openxmlformats.org/officeDocument/2006/relationships/slideLayout" Target="../slideLayouts/slideLayout13.xml"/></Relationships>
</file>

<file path=ppt/slides/_rels/slide173.xml.rels><?xml version="1.0" encoding="UTF-8" standalone="yes"?>
<Relationships xmlns="http://schemas.openxmlformats.org/package/2006/relationships"><Relationship Id="rId2" Type="http://schemas.openxmlformats.org/officeDocument/2006/relationships/image" Target="../media/image41.emf"/><Relationship Id="rId1" Type="http://schemas.openxmlformats.org/officeDocument/2006/relationships/slideLayout" Target="../slideLayouts/slideLayout1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8.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13.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Jinyang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extLst>
              <p:ext uri="{D42A27DB-BD31-4B8C-83A1-F6EECF244321}">
                <p14:modId xmlns:p14="http://schemas.microsoft.com/office/powerpoint/2010/main" val="3652191560"/>
              </p:ext>
            </p:extLst>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A125855-B733-2B08-176A-9DF5C17171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3854971-1DA4-EEBF-A051-08B768C60B5F}"/>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5E67BC4-E9B2-3605-F291-6D5D33332174}"/>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3212DA7A-4C72-E76E-2CC9-A478CAB3E24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2A431262-33C7-3651-A014-A1F36CAC2749}"/>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17BDA3DC-2308-3C31-D463-2A475F57BA9A}"/>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74434CC-1287-3BA1-141E-CC2B2A532D03}"/>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602C5289-55E0-5829-B693-7FB33E73ACF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0B01591A-66FB-4809-3854-C94093FBF37C}"/>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9D1492FC-107B-37DF-3D3B-443D178D37D7}"/>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CFC978EE-B338-806E-6DA8-EE5C137FF44D}"/>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C9D18AC6-992A-436E-BAAE-2C2E6C573274}"/>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878A44FD-59B3-7DE3-95CA-0F1A73AE43F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F909ECE-86EF-0867-D04A-164ADE26D8C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EDD0E4EC-12FD-177B-59CA-20098DD5A09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B3CEA591-C865-3372-B0C1-C4AB4F0D6F76}"/>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71AC848-4D44-CC28-113C-D7CAF6BC801C}"/>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799E622-D20F-4545-A135-247E2F80EEE7}"/>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246AF8D0-43AC-FE9F-EB15-44E707AD47FF}"/>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D50DF75B-526E-4DB1-D739-8218DDDDE943}"/>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DE66B632-4B59-196C-A369-7B7F046BFDE6}"/>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FFD1D996-9C94-1B19-384D-C6268549AD3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933864C3-211E-3B50-A195-A4F2ECEF0AE6}"/>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883F470A-00A9-F9FA-33AA-67A42292EFF0}"/>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1C839141-5219-5393-929C-E8F60145107B}"/>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DBE8794A-E38C-E6A6-2F34-50B9E138EA82}"/>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BF7E9612-AE5B-C2BE-B6EE-994F268F218A}"/>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8D8F3E2B-7DC8-1BA8-BA8B-F8B43FF6CE6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11DDC1E-81D6-FBB3-B3B6-C0A1A95EAB01}"/>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1B1D633-0FD0-1977-A217-94AF75AAFE3E}"/>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F0BAE924-1531-7F3A-CDEC-F15B7374851E}"/>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094A5BB-FFBF-E72B-ED95-9C5E4DD3AD92}"/>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0EA9679D-0EB3-8834-BCD0-4EB764166188}"/>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EC25FC0-0B7A-E224-E7D0-A9457AD8C689}"/>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80B5B5B-3FF9-825D-5B5D-04FE714DB27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2CAB459-3FEB-DB8B-6E0C-CFDC5B3C39B2}"/>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DBAD60A-3895-FFCC-EEBF-3205852E87CC}"/>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3A315756-4CD9-CC12-D59C-90C5E0B5D2EC}"/>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D41BBE30-BB5B-850A-58E3-16C75711EF49}"/>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404F5841-0094-2FDD-9C0D-D67F03BE3738}"/>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AE7D5AA9-91B3-3C82-8DA3-C962BF7BF50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5359389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B1D3885-CD0B-43F6-8F7C-BE71E7B22A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939A6D-FE76-2980-2105-68AB2F381EB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3DDFDC85-1C4F-4F7C-CC78-726C433F49DA}"/>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4271FC7A-8115-C216-95FA-3E213459A7B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C3E28231-A724-9182-45B3-D62F374C14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385C8897-899F-73B9-1320-3E4BA3406CEC}"/>
              </a:ext>
            </a:extLst>
          </p:cNvPr>
          <p:cNvSpPr/>
          <p:nvPr/>
        </p:nvSpPr>
        <p:spPr>
          <a:xfrm>
            <a:off x="362471" y="3892319"/>
            <a:ext cx="5585950" cy="750465"/>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800" b="0" i="0" u="none" strike="noStrike" kern="1200" cap="none" spc="0" normalizeH="0" baseline="0" noProof="0" dirty="0">
                <a:ln>
                  <a:noFill/>
                </a:ln>
                <a:solidFill>
                  <a:prstClr val="white"/>
                </a:solidFill>
                <a:effectLst/>
                <a:uLnTx/>
                <a:uFillTx/>
                <a:latin typeface="Aptos" panose="02110004020202020204"/>
                <a:ea typeface="+mn-ea"/>
                <a:cs typeface="+mn-cs"/>
              </a:rPr>
              <a:t>Round Robin Packet Spraying</a:t>
            </a:r>
            <a:endParaRPr kumimoji="0" sz="2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796AE246-27DF-19CA-D213-41634D0416AF}"/>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CE89DDF-2D8F-686D-2BEF-1D79FF2E04F7}"/>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7FC7C541-7BD2-EA6D-DED6-1D17B23C836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D940F081-7337-E458-584F-D858887C4266}"/>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12AF7C04-2D18-EEC1-59C8-6BDB79E9B6AC}"/>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DF9642AC-5987-19B8-46C8-B1A8CAA3E2E0}"/>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9BFF484F-7214-68E9-AA75-DB38CA6D5B3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AD4338E1-E2C5-36CD-D8DF-4020C6C1D54E}"/>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62BCB214-2742-04E5-DDF6-D59A2CD8D21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C0A55D26-123C-0E55-0D82-27A1DCC388D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19511CDA-C7F9-0233-5688-A436BF7AD50A}"/>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D58F334A-D5DC-46A1-51B4-01B0621AE740}"/>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1FDD3246-C1B9-E70C-B23F-8A5BB36FCAE3}"/>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7AF15DFE-4D76-C789-2331-31BCA60982A0}"/>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270D5C42-8C4E-D6DF-BD11-1FB1F9FD099E}"/>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4FECEAF8-EBF2-8278-5A6F-E4B29EABF253}"/>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F5FC23D-19D7-9FBB-23DF-7A0BE3B7DB12}"/>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A78F26CE-6F6D-2C1A-A672-A75A69A1E94F}"/>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717163FA-DC3F-92E7-FF7A-8BD2DB17CF92}"/>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0D59E96-EDDD-0609-0FB4-66F19E88CE51}"/>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41A4FC-6CD0-8FE1-E081-3183FECE9E20}"/>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1F02F01E-C397-D157-C9DF-2E09CBCD414C}"/>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7DECCBED-9668-B2FE-2901-98904087C77F}"/>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880576F0-B38E-0795-9D2E-A57FFA58381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5B1BA10-B380-00C9-1FE1-2EB87F6C9AB9}"/>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545ECD0F-9798-8B95-B887-9DE021AC07AD}"/>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9509EA26-37A4-B77B-BF56-2324F3F5D4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28C25FB2-8FD8-7CE0-55BF-9306CB01B38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E4D48159-90E7-906A-CEC9-93F38B5C28FF}"/>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15F7CCDF-6E64-9A2C-AF6A-75A2A6DC7409}"/>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F88D721-B0AD-8C6E-B2F4-9D12067224B9}"/>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C5FE45AA-3270-F4D1-8922-DB39AA132456}"/>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6213EBC8-628E-3EB2-6F8E-56736A38274E}"/>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9537AAD6-7530-14A0-1174-4D099984C3B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F848E462-C8ED-2BBB-7D6A-2EBD90BA8BC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F630360-4412-1127-17DA-52D03B76CFF8}"/>
              </a:ext>
            </a:extLst>
          </p:cNvPr>
          <p:cNvSpPr txBox="1"/>
          <p:nvPr/>
        </p:nvSpPr>
        <p:spPr>
          <a:xfrm>
            <a:off x="1192817" y="4628748"/>
            <a:ext cx="9877666" cy="1938992"/>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Latency spikes affect some links for some short interval of time</a:t>
            </a:r>
          </a:p>
          <a:p>
            <a:pPr marL="342900" indent="-342900">
              <a:buFont typeface="Arial" panose="020B0604020202020204" pitchFamily="34" charset="0"/>
              <a:buChar char="•"/>
            </a:pPr>
            <a:r>
              <a:rPr lang="en-US" sz="2400" dirty="0">
                <a:highlight>
                  <a:srgbClr val="00FF00"/>
                </a:highlight>
              </a:rPr>
              <a:t>RRPS dynamically adjusts parent-child relationships after each message</a:t>
            </a:r>
          </a:p>
          <a:p>
            <a:pPr marL="342900" indent="-342900">
              <a:buFont typeface="Arial" panose="020B0604020202020204" pitchFamily="34" charset="0"/>
              <a:buChar char="•"/>
            </a:pPr>
            <a:r>
              <a:rPr lang="en-US" sz="2400" dirty="0">
                <a:highlight>
                  <a:srgbClr val="00FF00"/>
                </a:highlight>
              </a:rPr>
              <a:t>No link is used for a consecutive sequence of messages</a:t>
            </a:r>
          </a:p>
          <a:p>
            <a:pPr marL="342900" indent="-342900">
              <a:buFont typeface="Arial" panose="020B0604020202020204" pitchFamily="34" charset="0"/>
              <a:buChar char="•"/>
            </a:pPr>
            <a:r>
              <a:rPr lang="en-US" sz="2400" dirty="0">
                <a:highlight>
                  <a:srgbClr val="00FF00"/>
                </a:highlight>
              </a:rPr>
              <a:t>Latency spike is only able to affect a small number of messages</a:t>
            </a:r>
          </a:p>
        </p:txBody>
      </p:sp>
    </p:spTree>
    <p:extLst>
      <p:ext uri="{BB962C8B-B14F-4D97-AF65-F5344CB8AC3E}">
        <p14:creationId xmlns:p14="http://schemas.microsoft.com/office/powerpoint/2010/main" val="1233317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581553" y="3746548"/>
            <a:ext cx="7420630" cy="10594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32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7BC26A72-B9AB-1861-796C-B3CE045D89BC}"/>
              </a:ext>
            </a:extLst>
          </p:cNvPr>
          <p:cNvSpPr txBox="1"/>
          <p:nvPr/>
        </p:nvSpPr>
        <p:spPr>
          <a:xfrm>
            <a:off x="929770" y="4797996"/>
            <a:ext cx="10846101"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Proxies can show straggler behavior, delaying the forwarding of a message</a:t>
            </a:r>
          </a:p>
          <a:p>
            <a:pPr marL="342900" indent="-342900">
              <a:buFont typeface="Arial" panose="020B0604020202020204" pitchFamily="34" charset="0"/>
              <a:buChar char="•"/>
            </a:pPr>
            <a:r>
              <a:rPr lang="en-US" sz="2400" dirty="0">
                <a:highlight>
                  <a:srgbClr val="00FF00"/>
                </a:highlight>
              </a:rPr>
              <a:t>Each proxy node gets multiple parents, each parent sends a copy of message to the child node</a:t>
            </a:r>
          </a:p>
          <a:p>
            <a:pPr marL="342900" indent="-342900">
              <a:buFont typeface="Arial" panose="020B0604020202020204" pitchFamily="34" charset="0"/>
              <a:buChar char="•"/>
            </a:pPr>
            <a:r>
              <a:rPr lang="en-US" sz="2400" dirty="0">
                <a:highlight>
                  <a:srgbClr val="00FF00"/>
                </a:highlight>
              </a:rPr>
              <a:t>If one parent is a straggler, some other parent may be healthy</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097D3A-C684-EE17-C188-F42B3BEEF67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E4512A-0222-5958-4C1F-81503E9E8D6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CB89D26B-E10A-999E-6B4A-1B73385BA166}"/>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68EAB3E9-CA7C-F973-1498-F49A75374B01}"/>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FA0DEADC-F87A-E951-B45F-630840EACBC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B843428-E891-64D1-100C-2CA38DF70E9F}"/>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0D9B4B0C-1661-D6A4-013B-CDDC0DB5E5B5}"/>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73F2D60-8CB9-13CE-859C-98B6D2BF88FA}"/>
              </a:ext>
            </a:extLst>
          </p:cNvPr>
          <p:cNvSpPr/>
          <p:nvPr/>
        </p:nvSpPr>
        <p:spPr>
          <a:xfrm>
            <a:off x="1542622" y="3838635"/>
            <a:ext cx="6734086" cy="907249"/>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44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4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12D8B368-85BC-5BCE-1B5D-0BD334569B81}"/>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CCF0D6D3-8EA8-6C7A-E498-3281D3EC95A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A3C03CE8-A136-4F9E-7A26-F771DF96D8A5}"/>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02519C8F-CD97-F20A-E73C-95A1605DC8DF}"/>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F85C145F-B246-3BA6-C4D2-AF9494EC8F99}"/>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96B7F8B9-0CD5-F712-42EC-F4CA6BA5D636}"/>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93909CC4-BF69-61B3-91DD-7A7AEB7D2BE9}"/>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F2C910D-C573-52B1-6ECA-0EAA403FE8AC}"/>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0B4D5232-F7C4-2173-6771-6202036E0AB8}"/>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9FC35ABF-6115-DC61-D5F5-BF4FAE5A56BE}"/>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991BF227-8DDA-3ACF-4D4F-6CDC8A21568E}"/>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4C72EC87-873C-FED4-79A2-CE19DAAD1195}"/>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009AA7AD-696F-23F9-D487-D709B8062C65}"/>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3AD98510-0965-66B8-C447-FE8E475300C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207E17FB-552C-FBAA-6DAE-74E57D906B21}"/>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606A3BC4-4BF5-6310-4879-FBD8C54AC4E2}"/>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B60D5A6-9831-10A0-2710-C42A44BEA70E}"/>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9DAF838-107A-374C-1496-349FFAB04B20}"/>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B3D7544-E715-022C-3212-6DD88F1228B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C463A0B-AF8C-49D8-9830-55858FB8B52A}"/>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363CAF1-DBA1-2F47-F97C-2E7CE3AD3BED}"/>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AF42186A-3994-E8F8-AE17-9B1C02C7EC43}"/>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AA708597-06AA-6620-0414-3F62BE764BCC}"/>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D26A6622-637F-EED7-0405-7D07B1C0917A}"/>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ED6004D2-A20B-1BA2-31D6-E4C41867FA3A}"/>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5BEE8D72-3437-BD93-A266-E99DDD15E617}"/>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3CF5767-0677-725E-9197-7473414CF530}"/>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75BD8F55-FCB6-C46D-5D8F-025A79098444}"/>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076F8ECA-A82D-CBE7-BFA6-1EF10D8E0D35}"/>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AFA64C2E-FDE8-67DA-98EB-EB47F66C3D6A}"/>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02389F17-AF80-7979-38CF-12DED080F31C}"/>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F5C444E5-AAC2-BE75-FD2E-D1AE63B3EF13}"/>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9E6E556B-E52B-F6D5-A2AB-3A0658FA20F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B878FF9-E0DB-11AF-DE42-C33A2141B507}"/>
              </a:ext>
            </a:extLst>
          </p:cNvPr>
          <p:cNvSpPr txBox="1"/>
          <p:nvPr/>
        </p:nvSpPr>
        <p:spPr>
          <a:xfrm>
            <a:off x="268596" y="4814484"/>
            <a:ext cx="11551489"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A trader/MPs VM can also show straggler behavior</a:t>
            </a:r>
          </a:p>
          <a:p>
            <a:pPr marL="342900" indent="-342900">
              <a:buFont typeface="Arial" panose="020B0604020202020204" pitchFamily="34" charset="0"/>
              <a:buChar char="•"/>
            </a:pPr>
            <a:r>
              <a:rPr lang="en-US" sz="2400" dirty="0">
                <a:highlight>
                  <a:srgbClr val="00FF00"/>
                </a:highlight>
              </a:rPr>
              <a:t>Each MP gets two VMs, both running the same trading algorithm, both receiving the same input and both generating the same output</a:t>
            </a:r>
          </a:p>
          <a:p>
            <a:pPr marL="342900" indent="-342900">
              <a:buFont typeface="Arial" panose="020B0604020202020204" pitchFamily="34" charset="0"/>
              <a:buChar char="•"/>
            </a:pPr>
            <a:r>
              <a:rPr lang="en-US" sz="2400" dirty="0">
                <a:highlight>
                  <a:srgbClr val="00FF00"/>
                </a:highlight>
              </a:rPr>
              <a:t>An MP is able to receive messages on time</a:t>
            </a:r>
          </a:p>
        </p:txBody>
      </p:sp>
    </p:spTree>
    <p:extLst>
      <p:ext uri="{BB962C8B-B14F-4D97-AF65-F5344CB8AC3E}">
        <p14:creationId xmlns:p14="http://schemas.microsoft.com/office/powerpoint/2010/main" val="3589180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A767310-2A54-39F3-3B45-D9186FD997E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3FC1F68-B2E1-6000-059A-011063DE32DB}"/>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9A2DBCB-BDD2-8A66-E383-BFDD81E8E05F}"/>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09B65EB8-1B76-B2E3-8749-B5F54A060CDD}"/>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D46F0CFB-BD76-11A5-E617-36023A5F9D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29A06A9-65B0-8C15-4EDB-71999EB57926}"/>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C42F9366-A320-5235-A0EE-14483548A4D1}"/>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AD044B11-7836-135B-7276-B3E56632C3CD}"/>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0F8856C-4A6D-D2E4-E5B7-923B8F945BD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84182F3A-5776-D75C-0672-FF7A8619783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7462F01D-09C4-690D-99A5-33C23147CF3E}"/>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19D5BB5-664E-0D0A-236D-CC5BF69F772B}"/>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31265CDC-FD3A-7012-4770-C7A97F8123C2}"/>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DEE966EA-C66D-9294-F832-0AD44BF855E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517177-2CE1-66A8-494B-F239B437728F}"/>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882B346D-2C3D-60FF-ACA3-1D4346E79DF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0A2A6FE-6042-23CD-FF86-E5F1DF38236D}"/>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329EE9C-F016-2617-FC47-020323ABC031}"/>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B9AA0C4C-D535-3172-F8BC-B5FCAB5C46F0}"/>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FB68BEEA-F2F2-9265-C6C0-C9216C848FAA}"/>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7B40C7D5-02A3-9914-B734-6E02AEF63EAA}"/>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2A371FD7-02DD-2030-F8DF-B00B18CE9954}"/>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5D11C0AD-4182-4BBE-B1A1-2173BCC5599A}"/>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BB92300B-DAEA-AC87-3699-26AD5FD33BD9}"/>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775E0AE-B1F2-8743-A0F7-9C0201723343}"/>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14DD9AE-B70C-F14E-B7B2-C427CADD4E2B}"/>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69984846-CBA1-3B48-2311-23D6F0BF9FD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3C5904A-5C36-6AC8-13DD-E95332B4B5C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2C65044-3A7D-C320-B869-776D969A36B0}"/>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5040CB4-665C-23A5-B1E2-58BA2C286B4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D9438D0-EAD0-ECD0-D599-A7A540C1809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AAE1F9B6-A9D2-7D3B-053F-B533CCAEB0A1}"/>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4535521F-ECB6-024B-0900-088CEEB21C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F1243751-6A4E-235A-ED01-7030F2251B2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86D4543B-DE68-B67C-4D67-749A4E66F9A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9D475DC-3784-1373-11DE-C8E7CCD519BD}"/>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8AF57703-D443-0128-F674-CD28F39E6D60}"/>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38082E0-19EF-2956-8362-8C837DE554BF}"/>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D143D8-556B-B142-5249-2218242E991B}"/>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D9429A2E-E7E8-8CCC-26EC-8E83298B223E}"/>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DA07394C-8844-F95E-2AEF-72F4AA4B810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21BE1E5B-E0DB-7B4C-33CE-F6DEEAF6C093}"/>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49087137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5991C-A78B-14CF-BA22-53FB6A22D29F}"/>
              </a:ext>
            </a:extLst>
          </p:cNvPr>
          <p:cNvSpPr>
            <a:spLocks noGrp="1"/>
          </p:cNvSpPr>
          <p:nvPr>
            <p:ph type="title"/>
          </p:nvPr>
        </p:nvSpPr>
        <p:spPr/>
        <p:txBody>
          <a:bodyPr>
            <a:normAutofit fontScale="90000"/>
          </a:bodyPr>
          <a:lstStyle/>
          <a:p>
            <a:endParaRPr lang="en-US"/>
          </a:p>
        </p:txBody>
      </p:sp>
      <p:sp>
        <p:nvSpPr>
          <p:cNvPr id="3" name="Text Placeholder 2">
            <a:extLst>
              <a:ext uri="{FF2B5EF4-FFF2-40B4-BE49-F238E27FC236}">
                <a16:creationId xmlns:a16="http://schemas.microsoft.com/office/drawing/2014/main" id="{790E77E8-617D-2D77-B621-C365D9CE9FBF}"/>
              </a:ext>
            </a:extLst>
          </p:cNvPr>
          <p:cNvSpPr>
            <a:spLocks noGrp="1"/>
          </p:cNvSpPr>
          <p:nvPr>
            <p:ph type="body" idx="1"/>
          </p:nvPr>
        </p:nvSpPr>
        <p:spPr/>
        <p:txBody>
          <a:bodyPr/>
          <a:lstStyle/>
          <a:p>
            <a:endParaRPr lang="en-US"/>
          </a:p>
        </p:txBody>
      </p:sp>
      <p:sp>
        <p:nvSpPr>
          <p:cNvPr id="4" name="Rectangle 3">
            <a:extLst>
              <a:ext uri="{FF2B5EF4-FFF2-40B4-BE49-F238E27FC236}">
                <a16:creationId xmlns:a16="http://schemas.microsoft.com/office/drawing/2014/main" id="{711BADD7-ED57-CF35-A93F-C38411AF0E3F}"/>
              </a:ext>
            </a:extLst>
          </p:cNvPr>
          <p:cNvSpPr/>
          <p:nvPr/>
        </p:nvSpPr>
        <p:spPr>
          <a:xfrm>
            <a:off x="-144379" y="-182880"/>
            <a:ext cx="12686097" cy="7315200"/>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2478842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Correct if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Tries 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100.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61C5A68F-599D-5ECA-5D94-24102C3BD7DC}"/>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69C98737-C59E-3AAF-97FB-71FACD1323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52EA76A5-18F9-430A-E999-975FAB4476AA}"/>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3" name="TextBox 2">
            <a:extLst>
              <a:ext uri="{FF2B5EF4-FFF2-40B4-BE49-F238E27FC236}">
                <a16:creationId xmlns:a16="http://schemas.microsoft.com/office/drawing/2014/main" id="{7BA3D48D-D2CA-496F-1EBD-02A6D033A419}"/>
              </a:ext>
            </a:extLst>
          </p:cNvPr>
          <p:cNvSpPr txBox="1"/>
          <p:nvPr/>
        </p:nvSpPr>
        <p:spPr>
          <a:xfrm>
            <a:off x="2850078" y="3059668"/>
            <a:ext cx="918841" cy="369332"/>
          </a:xfrm>
          <a:prstGeom prst="rect">
            <a:avLst/>
          </a:prstGeom>
          <a:noFill/>
        </p:spPr>
        <p:txBody>
          <a:bodyPr wrap="none" rtlCol="0">
            <a:spAutoFit/>
          </a:bodyPr>
          <a:lstStyle/>
          <a:p>
            <a:r>
              <a:rPr lang="en-US" dirty="0">
                <a:solidFill>
                  <a:srgbClr val="7030A0"/>
                </a:solidFill>
              </a:rPr>
              <a:t>Update</a:t>
            </a:r>
          </a:p>
        </p:txBody>
      </p:sp>
      <p:sp>
        <p:nvSpPr>
          <p:cNvPr id="4" name="TextBox 3">
            <a:extLst>
              <a:ext uri="{FF2B5EF4-FFF2-40B4-BE49-F238E27FC236}">
                <a16:creationId xmlns:a16="http://schemas.microsoft.com/office/drawing/2014/main" id="{65E4F87A-32A4-B199-FFE0-C4ED560C88A6}"/>
              </a:ext>
            </a:extLst>
          </p:cNvPr>
          <p:cNvSpPr txBox="1"/>
          <p:nvPr/>
        </p:nvSpPr>
        <p:spPr>
          <a:xfrm>
            <a:off x="700866" y="3082820"/>
            <a:ext cx="1097416" cy="461665"/>
          </a:xfrm>
          <a:prstGeom prst="rect">
            <a:avLst/>
          </a:prstGeom>
          <a:noFill/>
        </p:spPr>
        <p:txBody>
          <a:bodyPr wrap="none" rtlCol="0">
            <a:spAutoFit/>
          </a:bodyPr>
          <a:lstStyle/>
          <a:p>
            <a:r>
              <a:rPr lang="en-US" sz="2400" dirty="0">
                <a:solidFill>
                  <a:srgbClr val="7030A0"/>
                </a:solidFill>
              </a:rPr>
              <a:t>Market</a:t>
            </a:r>
          </a:p>
        </p:txBody>
      </p:sp>
      <p:sp>
        <p:nvSpPr>
          <p:cNvPr id="5" name="TextBox 4">
            <a:extLst>
              <a:ext uri="{FF2B5EF4-FFF2-40B4-BE49-F238E27FC236}">
                <a16:creationId xmlns:a16="http://schemas.microsoft.com/office/drawing/2014/main" id="{25293979-BDFF-180F-04E1-916E916DED9A}"/>
              </a:ext>
            </a:extLst>
          </p:cNvPr>
          <p:cNvSpPr txBox="1"/>
          <p:nvPr/>
        </p:nvSpPr>
        <p:spPr>
          <a:xfrm>
            <a:off x="783771" y="4736918"/>
            <a:ext cx="746486" cy="461665"/>
          </a:xfrm>
          <a:prstGeom prst="rect">
            <a:avLst/>
          </a:prstGeom>
          <a:noFill/>
        </p:spPr>
        <p:txBody>
          <a:bodyPr wrap="none" rtlCol="0">
            <a:spAutoFit/>
          </a:bodyPr>
          <a:lstStyle/>
          <a:p>
            <a:r>
              <a:rPr lang="en-US" sz="2400" dirty="0">
                <a:solidFill>
                  <a:schemeClr val="accent6"/>
                </a:solidFill>
              </a:rPr>
              <a:t>MPs</a:t>
            </a:r>
          </a:p>
        </p:txBody>
      </p:sp>
      <p:cxnSp>
        <p:nvCxnSpPr>
          <p:cNvPr id="7" name="Straight Arrow Connector 6">
            <a:extLst>
              <a:ext uri="{FF2B5EF4-FFF2-40B4-BE49-F238E27FC236}">
                <a16:creationId xmlns:a16="http://schemas.microsoft.com/office/drawing/2014/main" id="{160FA4AC-A9C0-7AAD-E2A3-30CFF87A397F}"/>
              </a:ext>
            </a:extLst>
          </p:cNvPr>
          <p:cNvCxnSpPr>
            <a:cxnSpLocks/>
          </p:cNvCxnSpPr>
          <p:nvPr/>
        </p:nvCxnSpPr>
        <p:spPr>
          <a:xfrm>
            <a:off x="2101932" y="5628904"/>
            <a:ext cx="7101445" cy="0"/>
          </a:xfrm>
          <a:prstGeom prst="straightConnector1">
            <a:avLst/>
          </a:prstGeom>
          <a:ln w="76200">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2A6A0F9E-39CA-F892-CEB8-F0E13C175337}"/>
              </a:ext>
            </a:extLst>
          </p:cNvPr>
          <p:cNvSpPr txBox="1"/>
          <p:nvPr/>
        </p:nvSpPr>
        <p:spPr>
          <a:xfrm>
            <a:off x="4983881" y="5750325"/>
            <a:ext cx="668773" cy="369332"/>
          </a:xfrm>
          <a:prstGeom prst="rect">
            <a:avLst/>
          </a:prstGeom>
          <a:noFill/>
        </p:spPr>
        <p:txBody>
          <a:bodyPr wrap="none" rtlCol="0">
            <a:spAutoFit/>
          </a:bodyPr>
          <a:lstStyle/>
          <a:p>
            <a:r>
              <a:rPr lang="en-US" dirty="0"/>
              <a:t>Time</a:t>
            </a:r>
          </a:p>
        </p:txBody>
      </p:sp>
      <p:sp>
        <p:nvSpPr>
          <p:cNvPr id="11" name="TextBox 10">
            <a:extLst>
              <a:ext uri="{FF2B5EF4-FFF2-40B4-BE49-F238E27FC236}">
                <a16:creationId xmlns:a16="http://schemas.microsoft.com/office/drawing/2014/main" id="{92886439-965C-0B0C-19AD-FE9D9DC1F442}"/>
              </a:ext>
            </a:extLst>
          </p:cNvPr>
          <p:cNvSpPr txBox="1"/>
          <p:nvPr/>
        </p:nvSpPr>
        <p:spPr>
          <a:xfrm>
            <a:off x="5400526" y="3045953"/>
            <a:ext cx="918841" cy="369332"/>
          </a:xfrm>
          <a:prstGeom prst="rect">
            <a:avLst/>
          </a:prstGeom>
          <a:noFill/>
        </p:spPr>
        <p:txBody>
          <a:bodyPr wrap="none" rtlCol="0">
            <a:spAutoFit/>
          </a:bodyPr>
          <a:lstStyle/>
          <a:p>
            <a:r>
              <a:rPr lang="en-US" dirty="0">
                <a:solidFill>
                  <a:srgbClr val="7030A0"/>
                </a:solidFill>
              </a:rPr>
              <a:t>Update</a:t>
            </a:r>
          </a:p>
        </p:txBody>
      </p:sp>
      <p:sp>
        <p:nvSpPr>
          <p:cNvPr id="12" name="TextBox 11">
            <a:extLst>
              <a:ext uri="{FF2B5EF4-FFF2-40B4-BE49-F238E27FC236}">
                <a16:creationId xmlns:a16="http://schemas.microsoft.com/office/drawing/2014/main" id="{361BF379-BFA2-D2FF-6845-230A96D024BA}"/>
              </a:ext>
            </a:extLst>
          </p:cNvPr>
          <p:cNvSpPr txBox="1"/>
          <p:nvPr/>
        </p:nvSpPr>
        <p:spPr>
          <a:xfrm>
            <a:off x="8147195" y="3059668"/>
            <a:ext cx="918841" cy="369332"/>
          </a:xfrm>
          <a:prstGeom prst="rect">
            <a:avLst/>
          </a:prstGeom>
          <a:noFill/>
        </p:spPr>
        <p:txBody>
          <a:bodyPr wrap="none" rtlCol="0">
            <a:spAutoFit/>
          </a:bodyPr>
          <a:lstStyle/>
          <a:p>
            <a:r>
              <a:rPr lang="en-US" dirty="0">
                <a:solidFill>
                  <a:srgbClr val="7030A0"/>
                </a:solidFill>
              </a:rPr>
              <a:t>Update</a:t>
            </a:r>
          </a:p>
        </p:txBody>
      </p:sp>
      <p:cxnSp>
        <p:nvCxnSpPr>
          <p:cNvPr id="14" name="Straight Arrow Connector 13">
            <a:extLst>
              <a:ext uri="{FF2B5EF4-FFF2-40B4-BE49-F238E27FC236}">
                <a16:creationId xmlns:a16="http://schemas.microsoft.com/office/drawing/2014/main" id="{ADD273E6-35F8-EE88-363B-23BC33E8DAD9}"/>
              </a:ext>
            </a:extLst>
          </p:cNvPr>
          <p:cNvCxnSpPr>
            <a:cxnSpLocks/>
          </p:cNvCxnSpPr>
          <p:nvPr/>
        </p:nvCxnSpPr>
        <p:spPr>
          <a:xfrm>
            <a:off x="3633849" y="3521333"/>
            <a:ext cx="498764" cy="132958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7DC898A6-2659-6885-DDDB-4EC5ECFE84F0}"/>
              </a:ext>
            </a:extLst>
          </p:cNvPr>
          <p:cNvSpPr txBox="1"/>
          <p:nvPr/>
        </p:nvSpPr>
        <p:spPr>
          <a:xfrm>
            <a:off x="4132613" y="4905564"/>
            <a:ext cx="865365" cy="369332"/>
          </a:xfrm>
          <a:prstGeom prst="rect">
            <a:avLst/>
          </a:prstGeom>
          <a:noFill/>
        </p:spPr>
        <p:txBody>
          <a:bodyPr wrap="none" rtlCol="0">
            <a:spAutoFit/>
          </a:bodyPr>
          <a:lstStyle/>
          <a:p>
            <a:r>
              <a:rPr lang="en-US" dirty="0">
                <a:solidFill>
                  <a:schemeClr val="accent6"/>
                </a:solidFill>
              </a:rPr>
              <a:t>Orders</a:t>
            </a:r>
          </a:p>
        </p:txBody>
      </p:sp>
      <p:sp>
        <p:nvSpPr>
          <p:cNvPr id="17" name="TextBox 16">
            <a:extLst>
              <a:ext uri="{FF2B5EF4-FFF2-40B4-BE49-F238E27FC236}">
                <a16:creationId xmlns:a16="http://schemas.microsoft.com/office/drawing/2014/main" id="{8754E8DD-1BFF-C77F-B242-67D30E39C2A6}"/>
              </a:ext>
            </a:extLst>
          </p:cNvPr>
          <p:cNvSpPr txBox="1"/>
          <p:nvPr/>
        </p:nvSpPr>
        <p:spPr>
          <a:xfrm>
            <a:off x="6761341" y="4807798"/>
            <a:ext cx="865365" cy="369332"/>
          </a:xfrm>
          <a:prstGeom prst="rect">
            <a:avLst/>
          </a:prstGeom>
          <a:noFill/>
        </p:spPr>
        <p:txBody>
          <a:bodyPr wrap="none" rtlCol="0">
            <a:spAutoFit/>
          </a:bodyPr>
          <a:lstStyle/>
          <a:p>
            <a:r>
              <a:rPr lang="en-US" dirty="0">
                <a:solidFill>
                  <a:schemeClr val="accent6"/>
                </a:solidFill>
              </a:rPr>
              <a:t>Orders</a:t>
            </a:r>
          </a:p>
        </p:txBody>
      </p:sp>
      <p:cxnSp>
        <p:nvCxnSpPr>
          <p:cNvPr id="18" name="Straight Arrow Connector 17">
            <a:extLst>
              <a:ext uri="{FF2B5EF4-FFF2-40B4-BE49-F238E27FC236}">
                <a16:creationId xmlns:a16="http://schemas.microsoft.com/office/drawing/2014/main" id="{01480154-B5A7-AB3E-F363-6A502E4EC71A}"/>
              </a:ext>
            </a:extLst>
          </p:cNvPr>
          <p:cNvCxnSpPr>
            <a:cxnSpLocks/>
          </p:cNvCxnSpPr>
          <p:nvPr/>
        </p:nvCxnSpPr>
        <p:spPr>
          <a:xfrm flipV="1">
            <a:off x="4997978" y="3550490"/>
            <a:ext cx="432682" cy="125730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355881F7-F540-C796-5F60-6B3DA8748201}"/>
              </a:ext>
            </a:extLst>
          </p:cNvPr>
          <p:cNvCxnSpPr>
            <a:cxnSpLocks/>
          </p:cNvCxnSpPr>
          <p:nvPr/>
        </p:nvCxnSpPr>
        <p:spPr>
          <a:xfrm flipV="1">
            <a:off x="7528956" y="3465444"/>
            <a:ext cx="618239" cy="127082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D8504693-DE91-803D-8812-7579F00BE4CD}"/>
              </a:ext>
            </a:extLst>
          </p:cNvPr>
          <p:cNvCxnSpPr>
            <a:cxnSpLocks/>
          </p:cNvCxnSpPr>
          <p:nvPr/>
        </p:nvCxnSpPr>
        <p:spPr>
          <a:xfrm>
            <a:off x="6493134" y="3465444"/>
            <a:ext cx="327337" cy="1272920"/>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DA6443F1-829A-5C54-8DBD-23EEC03FA871}"/>
              </a:ext>
            </a:extLst>
          </p:cNvPr>
          <p:cNvSpPr txBox="1"/>
          <p:nvPr/>
        </p:nvSpPr>
        <p:spPr>
          <a:xfrm>
            <a:off x="3633849" y="1336871"/>
            <a:ext cx="2339487" cy="523220"/>
          </a:xfrm>
          <a:prstGeom prst="rect">
            <a:avLst/>
          </a:prstGeom>
          <a:noFill/>
        </p:spPr>
        <p:txBody>
          <a:bodyPr wrap="none" rtlCol="0">
            <a:spAutoFit/>
          </a:bodyPr>
          <a:lstStyle/>
          <a:p>
            <a:r>
              <a:rPr lang="en-US" sz="2800" dirty="0"/>
              <a:t>Trading Model</a:t>
            </a:r>
          </a:p>
        </p:txBody>
      </p:sp>
    </p:spTree>
    <p:extLst>
      <p:ext uri="{BB962C8B-B14F-4D97-AF65-F5344CB8AC3E}">
        <p14:creationId xmlns:p14="http://schemas.microsoft.com/office/powerpoint/2010/main" val="272078462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11" grpId="0"/>
      <p:bldP spid="12" grpId="0"/>
      <p:bldP spid="16" grpId="0"/>
      <p:bldP spid="17"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461665"/>
          </a:xfrm>
          <a:prstGeom prst="rect">
            <a:avLst/>
          </a:prstGeom>
          <a:noFill/>
        </p:spPr>
        <p:txBody>
          <a:bodyPr wrap="square" rtlCol="0">
            <a:spAutoFit/>
          </a:bodyPr>
          <a:lstStyle/>
          <a:p>
            <a:pPr marL="285750" indent="-285750">
              <a:buFont typeface="Arial" panose="020B0604020202020204" pitchFamily="34" charset="0"/>
              <a:buChar char="•"/>
            </a:pPr>
            <a:r>
              <a:rPr lang="en-US" sz="2400" dirty="0"/>
              <a:t>Separates rounds of trading</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FF08F5D7-199C-64D2-67DC-C322E45DBCA6}"/>
              </a:ext>
            </a:extLst>
          </p:cNvPr>
          <p:cNvSpPr/>
          <p:nvPr/>
        </p:nvSpPr>
        <p:spPr>
          <a:xfrm>
            <a:off x="4405397" y="288010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69C1B7AB-68FA-9AED-9A12-D8490CCAA419}"/>
              </a:ext>
            </a:extLst>
          </p:cNvPr>
          <p:cNvSpPr txBox="1"/>
          <p:nvPr/>
        </p:nvSpPr>
        <p:spPr>
          <a:xfrm>
            <a:off x="6987513" y="2006295"/>
            <a:ext cx="4654909" cy="2308324"/>
          </a:xfrm>
          <a:prstGeom prst="rect">
            <a:avLst/>
          </a:prstGeom>
          <a:noFill/>
        </p:spPr>
        <p:txBody>
          <a:bodyPr wrap="square" rtlCol="0">
            <a:spAutoFit/>
          </a:bodyPr>
          <a:lstStyle/>
          <a:p>
            <a:pPr marL="285750" indent="-285750">
              <a:buFont typeface="Arial" panose="020B0604020202020204" pitchFamily="34" charset="0"/>
              <a:buChar char="•"/>
            </a:pPr>
            <a:r>
              <a:rPr lang="en-US" sz="2400" dirty="0"/>
              <a:t>Every time mid price changes, mid-price ID is incremented</a:t>
            </a:r>
            <a:br>
              <a:rPr lang="en-US" sz="2400" dirty="0"/>
            </a:br>
            <a:endParaRPr lang="en-US" sz="2400" dirty="0"/>
          </a:p>
          <a:p>
            <a:pPr marL="285750" indent="-285750">
              <a:buFont typeface="Arial" panose="020B0604020202020204" pitchFamily="34" charset="0"/>
              <a:buChar char="•"/>
            </a:pPr>
            <a:r>
              <a:rPr lang="en-US" sz="2400" dirty="0"/>
              <a:t>All MPs learn about it </a:t>
            </a:r>
            <a:r>
              <a:rPr lang="en-US" sz="2400" dirty="0" err="1"/>
              <a:t>simultaneosuly</a:t>
            </a:r>
            <a:r>
              <a:rPr lang="en-US" sz="2400" dirty="0"/>
              <a:t> (using outbound fairness mechanisms</a:t>
            </a:r>
          </a:p>
        </p:txBody>
      </p:sp>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7" name="Oval 6">
            <a:extLst>
              <a:ext uri="{FF2B5EF4-FFF2-40B4-BE49-F238E27FC236}">
                <a16:creationId xmlns:a16="http://schemas.microsoft.com/office/drawing/2014/main" id="{5A187B39-4A54-01FC-437D-8596BFA3138F}"/>
              </a:ext>
            </a:extLst>
          </p:cNvPr>
          <p:cNvSpPr/>
          <p:nvPr/>
        </p:nvSpPr>
        <p:spPr>
          <a:xfrm>
            <a:off x="4732854" y="2912654"/>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Critical or not critical?</a:t>
            </a:r>
          </a:p>
        </p:txBody>
      </p: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D6E34FE3-C61D-9E77-2C0B-E14BF17259D2}"/>
                  </a:ext>
                </a:extLst>
              </p:cNvPr>
              <p:cNvSpPr txBox="1"/>
              <p:nvPr/>
            </p:nvSpPr>
            <p:spPr>
              <a:xfrm>
                <a:off x="2532993" y="3185435"/>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532993" y="3185435"/>
                <a:ext cx="5545882" cy="615553"/>
              </a:xfrm>
              <a:prstGeom prst="rect">
                <a:avLst/>
              </a:prstGeom>
              <a:blipFill>
                <a:blip r:embed="rId3"/>
                <a:stretch>
                  <a:fillRect t="-10204" b="-34694"/>
                </a:stretch>
              </a:blipFill>
            </p:spPr>
            <p:txBody>
              <a:bodyPr/>
              <a:lstStyle/>
              <a:p>
                <a:r>
                  <a:rPr lang="en-US">
                    <a:noFill/>
                  </a:rPr>
                  <a:t> </a:t>
                </a:r>
              </a:p>
            </p:txBody>
          </p:sp>
        </mc:Fallback>
      </mc:AlternateContent>
      <p:sp>
        <p:nvSpPr>
          <p:cNvPr id="3" name="Rounded Rectangle 2">
            <a:extLst>
              <a:ext uri="{FF2B5EF4-FFF2-40B4-BE49-F238E27FC236}">
                <a16:creationId xmlns:a16="http://schemas.microsoft.com/office/drawing/2014/main" id="{6996BCFC-53EA-AED1-F095-BA524B70DF3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8FC85CA4-9A34-7B27-28F6-F8CEA820610F}"/>
              </a:ext>
            </a:extLst>
          </p:cNvPr>
          <p:cNvSpPr/>
          <p:nvPr/>
        </p:nvSpPr>
        <p:spPr>
          <a:xfrm>
            <a:off x="3181816" y="294271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C4204E4-BD08-657C-B52F-83C8132CB37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904925-1AF4-C26A-89F2-720E4A53C922}"/>
              </a:ext>
            </a:extLst>
          </p:cNvPr>
          <p:cNvGraphicFramePr>
            <a:graphicFrameLocks noGrp="1"/>
          </p:cNvGraphicFramePr>
          <p:nvPr>
            <p:extLst>
              <p:ext uri="{D42A27DB-BD31-4B8C-83A1-F6EECF244321}">
                <p14:modId xmlns:p14="http://schemas.microsoft.com/office/powerpoint/2010/main" val="2675472495"/>
              </p:ext>
            </p:extLst>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529AA59-8F9D-96B4-4068-AA4429EE3DC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3" name="Rectangle 2">
            <a:extLst>
              <a:ext uri="{FF2B5EF4-FFF2-40B4-BE49-F238E27FC236}">
                <a16:creationId xmlns:a16="http://schemas.microsoft.com/office/drawing/2014/main" id="{E43295E4-77D1-3813-4D97-AE551489B41B}"/>
              </a:ext>
            </a:extLst>
          </p:cNvPr>
          <p:cNvSpPr/>
          <p:nvPr/>
        </p:nvSpPr>
        <p:spPr>
          <a:xfrm>
            <a:off x="4619691" y="1430580"/>
            <a:ext cx="7453404" cy="4888940"/>
          </a:xfrm>
          <a:prstGeom prst="rect">
            <a:avLst/>
          </a:prstGeom>
          <a:effectLst>
            <a:outerShdw blurRad="50800" dist="38100" dir="8100000" algn="tr"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FA5D8047-C617-A4AE-AF5C-85E7BC007483}"/>
              </a:ext>
            </a:extLst>
          </p:cNvPr>
          <p:cNvPicPr>
            <a:picLocks noChangeAspect="1"/>
          </p:cNvPicPr>
          <p:nvPr/>
        </p:nvPicPr>
        <p:blipFill>
          <a:blip r:embed="rId3"/>
          <a:stretch>
            <a:fillRect/>
          </a:stretch>
        </p:blipFill>
        <p:spPr>
          <a:xfrm>
            <a:off x="4760133" y="1952842"/>
            <a:ext cx="5838757" cy="4333165"/>
          </a:xfrm>
          <a:prstGeom prst="rect">
            <a:avLst/>
          </a:prstGeom>
        </p:spPr>
      </p:pic>
      <p:sp>
        <p:nvSpPr>
          <p:cNvPr id="6" name="TextBox 5">
            <a:extLst>
              <a:ext uri="{FF2B5EF4-FFF2-40B4-BE49-F238E27FC236}">
                <a16:creationId xmlns:a16="http://schemas.microsoft.com/office/drawing/2014/main" id="{E7795C07-9093-0BE1-FE18-DE4F383E5A60}"/>
              </a:ext>
            </a:extLst>
          </p:cNvPr>
          <p:cNvSpPr txBox="1"/>
          <p:nvPr/>
        </p:nvSpPr>
        <p:spPr>
          <a:xfrm>
            <a:off x="4694140" y="1445011"/>
            <a:ext cx="3468427" cy="584775"/>
          </a:xfrm>
          <a:prstGeom prst="rect">
            <a:avLst/>
          </a:prstGeom>
          <a:noFill/>
        </p:spPr>
        <p:txBody>
          <a:bodyPr wrap="square" rtlCol="0">
            <a:spAutoFit/>
          </a:bodyPr>
          <a:lstStyle/>
          <a:p>
            <a:r>
              <a:rPr lang="en-US" sz="3200" dirty="0"/>
              <a:t>Action Window (w)</a:t>
            </a:r>
          </a:p>
        </p:txBody>
      </p:sp>
      <p:sp>
        <p:nvSpPr>
          <p:cNvPr id="12" name="TextBox 11">
            <a:extLst>
              <a:ext uri="{FF2B5EF4-FFF2-40B4-BE49-F238E27FC236}">
                <a16:creationId xmlns:a16="http://schemas.microsoft.com/office/drawing/2014/main" id="{3048FC0A-B7A3-3257-1E94-9B6F7A58306B}"/>
              </a:ext>
            </a:extLst>
          </p:cNvPr>
          <p:cNvSpPr txBox="1"/>
          <p:nvPr/>
        </p:nvSpPr>
        <p:spPr>
          <a:xfrm>
            <a:off x="8162567" y="1445011"/>
            <a:ext cx="3984977" cy="1015663"/>
          </a:xfrm>
          <a:prstGeom prst="rect">
            <a:avLst/>
          </a:prstGeom>
          <a:noFill/>
        </p:spPr>
        <p:txBody>
          <a:bodyPr wrap="square">
            <a:spAutoFit/>
          </a:bodyPr>
          <a:lstStyle/>
          <a:p>
            <a:r>
              <a:rPr lang="en-US" sz="2000" dirty="0"/>
              <a:t>maximum number of price levels above the mid-price that a generated bid can belong to</a:t>
            </a:r>
          </a:p>
        </p:txBody>
      </p:sp>
      <mc:AlternateContent xmlns:mc="http://schemas.openxmlformats.org/markup-compatibility/2006" xmlns:a14="http://schemas.microsoft.com/office/drawing/2010/main">
        <mc:Choice Requires="a14">
          <p:sp>
            <p:nvSpPr>
              <p:cNvPr id="13" name="Rounded Rectangle 12">
                <a:extLst>
                  <a:ext uri="{FF2B5EF4-FFF2-40B4-BE49-F238E27FC236}">
                    <a16:creationId xmlns:a16="http://schemas.microsoft.com/office/drawing/2014/main" id="{345EC131-6428-B3F7-278F-4447B0020525}"/>
                  </a:ext>
                </a:extLst>
              </p:cNvPr>
              <p:cNvSpPr/>
              <p:nvPr/>
            </p:nvSpPr>
            <p:spPr>
              <a:xfrm>
                <a:off x="9780394" y="3527471"/>
                <a:ext cx="1917876" cy="69515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p </a:t>
                </a:r>
                <a14:m>
                  <m:oMath xmlns:m="http://schemas.openxmlformats.org/officeDocument/2006/math">
                    <m:r>
                      <a:rPr lang="en-US" sz="3200" b="1" i="1">
                        <a:latin typeface="Cambria Math" panose="02040503050406030204" pitchFamily="18" charset="0"/>
                        <a:ea typeface="Cambria Math" panose="02040503050406030204" pitchFamily="18" charset="0"/>
                      </a:rPr>
                      <m:t>±</m:t>
                    </m:r>
                  </m:oMath>
                </a14:m>
                <a:r>
                  <a:rPr lang="en-US" sz="3200" b="1" i="1" dirty="0"/>
                  <a:t> w</a:t>
                </a:r>
                <a:endParaRPr lang="en-US" sz="3200" dirty="0"/>
              </a:p>
            </p:txBody>
          </p:sp>
        </mc:Choice>
        <mc:Fallback xmlns="">
          <p:sp>
            <p:nvSpPr>
              <p:cNvPr id="13" name="Rounded Rectangle 12">
                <a:extLst>
                  <a:ext uri="{FF2B5EF4-FFF2-40B4-BE49-F238E27FC236}">
                    <a16:creationId xmlns:a16="http://schemas.microsoft.com/office/drawing/2014/main" id="{345EC131-6428-B3F7-278F-4447B0020525}"/>
                  </a:ext>
                </a:extLst>
              </p:cNvPr>
              <p:cNvSpPr>
                <a:spLocks noRot="1" noChangeAspect="1" noMove="1" noResize="1" noEditPoints="1" noAdjustHandles="1" noChangeArrowheads="1" noChangeShapeType="1" noTextEdit="1"/>
              </p:cNvSpPr>
              <p:nvPr/>
            </p:nvSpPr>
            <p:spPr>
              <a:xfrm>
                <a:off x="9780394" y="3527471"/>
                <a:ext cx="1917876" cy="695158"/>
              </a:xfrm>
              <a:prstGeom prst="roundRect">
                <a:avLst/>
              </a:prstGeom>
              <a:blipFill>
                <a:blip r:embed="rId5"/>
                <a:stretch>
                  <a:fillRect t="-1786" b="-214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ounded Rectangle 13">
                <a:extLst>
                  <a:ext uri="{FF2B5EF4-FFF2-40B4-BE49-F238E27FC236}">
                    <a16:creationId xmlns:a16="http://schemas.microsoft.com/office/drawing/2014/main" id="{859C8AD0-6DBB-E8C7-43E3-CE7535970657}"/>
                  </a:ext>
                </a:extLst>
              </p:cNvPr>
              <p:cNvSpPr/>
              <p:nvPr/>
            </p:nvSpPr>
            <p:spPr>
              <a:xfrm>
                <a:off x="9780394" y="3031123"/>
                <a:ext cx="1917876" cy="4963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t>Critical if price </a:t>
                </a:r>
                <a14:m>
                  <m:oMath xmlns:m="http://schemas.openxmlformats.org/officeDocument/2006/math">
                    <m:r>
                      <a:rPr lang="en-US" b="1" i="1" smtClean="0">
                        <a:latin typeface="Cambria Math" panose="02040503050406030204" pitchFamily="18" charset="0"/>
                        <a:ea typeface="Cambria Math" panose="02040503050406030204" pitchFamily="18" charset="0"/>
                      </a:rPr>
                      <m:t>∈</m:t>
                    </m:r>
                  </m:oMath>
                </a14:m>
                <a:r>
                  <a:rPr lang="en-US" b="1" i="1" dirty="0"/>
                  <a:t>  </a:t>
                </a:r>
                <a:endParaRPr lang="en-US" dirty="0"/>
              </a:p>
            </p:txBody>
          </p:sp>
        </mc:Choice>
        <mc:Fallback xmlns="">
          <p:sp>
            <p:nvSpPr>
              <p:cNvPr id="14" name="Rounded Rectangle 13">
                <a:extLst>
                  <a:ext uri="{FF2B5EF4-FFF2-40B4-BE49-F238E27FC236}">
                    <a16:creationId xmlns:a16="http://schemas.microsoft.com/office/drawing/2014/main" id="{859C8AD0-6DBB-E8C7-43E3-CE7535970657}"/>
                  </a:ext>
                </a:extLst>
              </p:cNvPr>
              <p:cNvSpPr>
                <a:spLocks noRot="1" noChangeAspect="1" noMove="1" noResize="1" noEditPoints="1" noAdjustHandles="1" noChangeArrowheads="1" noChangeShapeType="1" noTextEdit="1"/>
              </p:cNvSpPr>
              <p:nvPr/>
            </p:nvSpPr>
            <p:spPr>
              <a:xfrm>
                <a:off x="9780394" y="3031123"/>
                <a:ext cx="1917876" cy="496348"/>
              </a:xfrm>
              <a:prstGeom prst="roundRect">
                <a:avLst/>
              </a:prstGeom>
              <a:blipFill>
                <a:blip r:embed="rId6"/>
                <a:stretch>
                  <a:fillRect t="-20000" b="-5000"/>
                </a:stretch>
              </a:blipFill>
              <a:ln>
                <a:noFill/>
              </a:ln>
            </p:spPr>
            <p:txBody>
              <a:bodyPr/>
              <a:lstStyle/>
              <a:p>
                <a:r>
                  <a:rPr lang="en-US">
                    <a:noFill/>
                  </a:rPr>
                  <a:t> </a:t>
                </a:r>
              </a:p>
            </p:txBody>
          </p:sp>
        </mc:Fallback>
      </mc:AlternateContent>
      <p:sp>
        <p:nvSpPr>
          <p:cNvPr id="15" name="TextBox 14">
            <a:extLst>
              <a:ext uri="{FF2B5EF4-FFF2-40B4-BE49-F238E27FC236}">
                <a16:creationId xmlns:a16="http://schemas.microsoft.com/office/drawing/2014/main" id="{3E37DB7B-DF64-EE47-3D6F-0AEADADCF4D1}"/>
              </a:ext>
            </a:extLst>
          </p:cNvPr>
          <p:cNvSpPr txBox="1"/>
          <p:nvPr/>
        </p:nvSpPr>
        <p:spPr>
          <a:xfrm>
            <a:off x="9505137" y="4568656"/>
            <a:ext cx="2633951" cy="1323439"/>
          </a:xfrm>
          <a:prstGeom prst="rect">
            <a:avLst/>
          </a:prstGeom>
          <a:noFill/>
        </p:spPr>
        <p:txBody>
          <a:bodyPr wrap="square">
            <a:spAutoFit/>
          </a:bodyPr>
          <a:lstStyle/>
          <a:p>
            <a:r>
              <a:rPr lang="en-US" sz="2000" dirty="0"/>
              <a:t>For a fixed mid-price, all action is assumed to happen inside the action window</a:t>
            </a:r>
          </a:p>
        </p:txBody>
      </p:sp>
      <p:sp>
        <p:nvSpPr>
          <p:cNvPr id="11" name="Rounded Rectangle 10">
            <a:extLst>
              <a:ext uri="{FF2B5EF4-FFF2-40B4-BE49-F238E27FC236}">
                <a16:creationId xmlns:a16="http://schemas.microsoft.com/office/drawing/2014/main" id="{EE6705D6-6497-05C3-35C8-70E3D5962454}"/>
              </a:ext>
            </a:extLst>
          </p:cNvPr>
          <p:cNvSpPr/>
          <p:nvPr/>
        </p:nvSpPr>
        <p:spPr>
          <a:xfrm>
            <a:off x="4831823" y="2282034"/>
            <a:ext cx="1294239" cy="71748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highlight>
                  <a:srgbClr val="0000FF"/>
                </a:highlight>
              </a:rPr>
              <a:t>w = 1</a:t>
            </a:r>
            <a:endParaRPr lang="en-US" sz="3200" dirty="0">
              <a:highlight>
                <a:srgbClr val="0000FF"/>
              </a:highlight>
            </a:endParaRPr>
          </a:p>
        </p:txBody>
      </p:sp>
      <p:sp>
        <p:nvSpPr>
          <p:cNvPr id="16" name="Right Brace 15">
            <a:extLst>
              <a:ext uri="{FF2B5EF4-FFF2-40B4-BE49-F238E27FC236}">
                <a16:creationId xmlns:a16="http://schemas.microsoft.com/office/drawing/2014/main" id="{70B4E72B-7230-21A8-64BF-55FA4618AFB1}"/>
              </a:ext>
            </a:extLst>
          </p:cNvPr>
          <p:cNvSpPr/>
          <p:nvPr/>
        </p:nvSpPr>
        <p:spPr>
          <a:xfrm rot="5400000">
            <a:off x="6836770" y="4648732"/>
            <a:ext cx="464652" cy="2378760"/>
          </a:xfrm>
          <a:prstGeom prst="rightBrace">
            <a:avLst/>
          </a:prstGeom>
          <a:ln w="5080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7603C6A1-B1BF-D415-1745-2D670FCB27AC}"/>
              </a:ext>
            </a:extLst>
          </p:cNvPr>
          <p:cNvSpPr txBox="1"/>
          <p:nvPr/>
        </p:nvSpPr>
        <p:spPr>
          <a:xfrm>
            <a:off x="6022520" y="5869886"/>
            <a:ext cx="620683" cy="369332"/>
          </a:xfrm>
          <a:prstGeom prst="rect">
            <a:avLst/>
          </a:prstGeom>
          <a:noFill/>
        </p:spPr>
        <p:txBody>
          <a:bodyPr wrap="none" rtlCol="0">
            <a:spAutoFit/>
          </a:bodyPr>
          <a:lstStyle/>
          <a:p>
            <a:r>
              <a:rPr lang="en-US" dirty="0"/>
              <a:t>Bids</a:t>
            </a:r>
          </a:p>
        </p:txBody>
      </p:sp>
      <p:sp>
        <p:nvSpPr>
          <p:cNvPr id="18" name="Right Brace 17">
            <a:extLst>
              <a:ext uri="{FF2B5EF4-FFF2-40B4-BE49-F238E27FC236}">
                <a16:creationId xmlns:a16="http://schemas.microsoft.com/office/drawing/2014/main" id="{DD9B71AE-E971-E074-3EAF-E3914A01CF0C}"/>
              </a:ext>
            </a:extLst>
          </p:cNvPr>
          <p:cNvSpPr/>
          <p:nvPr/>
        </p:nvSpPr>
        <p:spPr>
          <a:xfrm rot="5400000">
            <a:off x="8092143" y="4711692"/>
            <a:ext cx="464652" cy="2378760"/>
          </a:xfrm>
          <a:prstGeom prst="rightBrace">
            <a:avLst/>
          </a:prstGeom>
          <a:ln w="5080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TextBox 18">
            <a:extLst>
              <a:ext uri="{FF2B5EF4-FFF2-40B4-BE49-F238E27FC236}">
                <a16:creationId xmlns:a16="http://schemas.microsoft.com/office/drawing/2014/main" id="{984709C0-7163-2ABE-DBB2-D8E0228ABA3C}"/>
              </a:ext>
            </a:extLst>
          </p:cNvPr>
          <p:cNvSpPr txBox="1"/>
          <p:nvPr/>
        </p:nvSpPr>
        <p:spPr>
          <a:xfrm>
            <a:off x="8781592" y="5853568"/>
            <a:ext cx="657552" cy="369332"/>
          </a:xfrm>
          <a:prstGeom prst="rect">
            <a:avLst/>
          </a:prstGeom>
          <a:noFill/>
          <a:ln>
            <a:noFill/>
          </a:ln>
        </p:spPr>
        <p:txBody>
          <a:bodyPr wrap="none" rtlCol="0">
            <a:spAutoFit/>
          </a:bodyPr>
          <a:lstStyle/>
          <a:p>
            <a:r>
              <a:rPr lang="en-US" dirty="0"/>
              <a:t>Asks</a:t>
            </a:r>
          </a:p>
        </p:txBody>
      </p:sp>
      <p:sp>
        <p:nvSpPr>
          <p:cNvPr id="20" name="TextBox 19">
            <a:extLst>
              <a:ext uri="{FF2B5EF4-FFF2-40B4-BE49-F238E27FC236}">
                <a16:creationId xmlns:a16="http://schemas.microsoft.com/office/drawing/2014/main" id="{552F9D95-8EAC-91DB-5B9A-7B141A7B94CC}"/>
              </a:ext>
            </a:extLst>
          </p:cNvPr>
          <p:cNvSpPr txBox="1"/>
          <p:nvPr/>
        </p:nvSpPr>
        <p:spPr>
          <a:xfrm>
            <a:off x="7467755" y="4568656"/>
            <a:ext cx="423512" cy="646331"/>
          </a:xfrm>
          <a:prstGeom prst="rect">
            <a:avLst/>
          </a:prstGeom>
          <a:noFill/>
        </p:spPr>
        <p:txBody>
          <a:bodyPr wrap="square" rtlCol="0">
            <a:spAutoFit/>
          </a:bodyPr>
          <a:lstStyle/>
          <a:p>
            <a:r>
              <a:rPr lang="en-US" sz="3600" b="1" i="1" dirty="0"/>
              <a:t>p</a:t>
            </a:r>
            <a:endParaRPr lang="en-US" dirty="0"/>
          </a:p>
        </p:txBody>
      </p:sp>
      <p:sp>
        <p:nvSpPr>
          <p:cNvPr id="21" name="Rounded Rectangle 20">
            <a:extLst>
              <a:ext uri="{FF2B5EF4-FFF2-40B4-BE49-F238E27FC236}">
                <a16:creationId xmlns:a16="http://schemas.microsoft.com/office/drawing/2014/main" id="{475A78DB-5A42-D139-4ACE-CC366A1E19E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5B8AFB7F-8E42-B4B2-450F-5B2DF8B06A46}"/>
              </a:ext>
            </a:extLst>
          </p:cNvPr>
          <p:cNvSpPr/>
          <p:nvPr/>
        </p:nvSpPr>
        <p:spPr>
          <a:xfrm>
            <a:off x="2199861" y="3027581"/>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FD8A95B2-2BB5-D260-8D7B-3A9EE5B24E1D}"/>
                  </a:ext>
                </a:extLst>
              </p:cNvPr>
              <p:cNvSpPr txBox="1"/>
              <p:nvPr/>
            </p:nvSpPr>
            <p:spPr>
              <a:xfrm>
                <a:off x="-673389" y="3357398"/>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22" name="TextBox 21">
                <a:extLst>
                  <a:ext uri="{FF2B5EF4-FFF2-40B4-BE49-F238E27FC236}">
                    <a16:creationId xmlns:a16="http://schemas.microsoft.com/office/drawing/2014/main" id="{FD8A95B2-2BB5-D260-8D7B-3A9EE5B24E1D}"/>
                  </a:ext>
                </a:extLst>
              </p:cNvPr>
              <p:cNvSpPr txBox="1">
                <a:spLocks noRot="1" noChangeAspect="1" noMove="1" noResize="1" noEditPoints="1" noAdjustHandles="1" noChangeArrowheads="1" noChangeShapeType="1" noTextEdit="1"/>
              </p:cNvSpPr>
              <p:nvPr/>
            </p:nvSpPr>
            <p:spPr>
              <a:xfrm>
                <a:off x="-673389" y="3357398"/>
                <a:ext cx="5545882" cy="615553"/>
              </a:xfrm>
              <a:prstGeom prst="rect">
                <a:avLst/>
              </a:prstGeom>
              <a:blipFill>
                <a:blip r:embed="rId7"/>
                <a:stretch>
                  <a:fillRect t="-8163" b="-36735"/>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2EFDC4C0-17ED-7932-3334-242115842E0B}"/>
              </a:ext>
            </a:extLst>
          </p:cNvPr>
          <p:cNvSpPr/>
          <p:nvPr/>
        </p:nvSpPr>
        <p:spPr>
          <a:xfrm>
            <a:off x="648823" y="3057638"/>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70EADF17-C056-61A5-0559-7525B1D98E8D}"/>
              </a:ext>
            </a:extLst>
          </p:cNvPr>
          <p:cNvSpPr txBox="1"/>
          <p:nvPr/>
        </p:nvSpPr>
        <p:spPr>
          <a:xfrm>
            <a:off x="179568" y="4974718"/>
            <a:ext cx="3938343"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Critical or not critical?</a:t>
            </a:r>
          </a:p>
        </p:txBody>
      </p:sp>
    </p:spTree>
    <p:extLst>
      <p:ext uri="{BB962C8B-B14F-4D97-AF65-F5344CB8AC3E}">
        <p14:creationId xmlns:p14="http://schemas.microsoft.com/office/powerpoint/2010/main" val="106526526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P spid="14" grpId="0" animBg="1"/>
      <p:bldP spid="15" grpId="0"/>
      <p:bldP spid="11" grpId="0" animBg="1"/>
      <p:bldP spid="16" grpId="0" animBg="1"/>
      <p:bldP spid="17" grpId="0"/>
      <p:bldP spid="18" grpId="0" animBg="1"/>
      <p:bldP spid="19" grpId="0"/>
      <p:bldP spid="20" grpId="0"/>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D37841-57F6-D520-394A-5431A00BA85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C31050-E352-BF30-FB37-8D5E718A58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A9B4C79C-5C6C-81BD-7757-F6B76179317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CAD64933-C64C-23EF-6412-8EA84D7E5A54}"/>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A0520890-FCC2-59B0-6FD7-102368D3EE64}"/>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7555419B-24DB-EEAA-D574-65A802153C50}"/>
                  </a:ext>
                </a:extLst>
              </p:cNvPr>
              <p:cNvSpPr txBox="1"/>
              <p:nvPr/>
            </p:nvSpPr>
            <p:spPr>
              <a:xfrm>
                <a:off x="1943015" y="3458066"/>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m:t>
                      </m:r>
                      <m:r>
                        <a:rPr lang="en-US" sz="4000" b="0" i="1" smtClean="0">
                          <a:latin typeface="Cambria Math" panose="02040503050406030204" pitchFamily="18" charset="0"/>
                        </a:rPr>
                        <m:t>        </m:t>
                      </m:r>
                      <m:r>
                        <a:rPr lang="en-US" sz="4000" b="0" i="1" smtClean="0">
                          <a:latin typeface="Cambria Math" panose="02040503050406030204" pitchFamily="18" charset="0"/>
                        </a:rPr>
                        <m:t>&gt;</m:t>
                      </m:r>
                    </m:oMath>
                  </m:oMathPara>
                </a14:m>
                <a:endParaRPr lang="en-US" sz="4000" dirty="0"/>
              </a:p>
            </p:txBody>
          </p:sp>
        </mc:Choice>
        <mc:Fallback>
          <p:sp>
            <p:nvSpPr>
              <p:cNvPr id="22" name="TextBox 21">
                <a:extLst>
                  <a:ext uri="{FF2B5EF4-FFF2-40B4-BE49-F238E27FC236}">
                    <a16:creationId xmlns:a16="http://schemas.microsoft.com/office/drawing/2014/main" id="{7555419B-24DB-EEAA-D574-65A802153C50}"/>
                  </a:ext>
                </a:extLst>
              </p:cNvPr>
              <p:cNvSpPr txBox="1">
                <a:spLocks noRot="1" noChangeAspect="1" noMove="1" noResize="1" noEditPoints="1" noAdjustHandles="1" noChangeArrowheads="1" noChangeShapeType="1" noTextEdit="1"/>
              </p:cNvSpPr>
              <p:nvPr/>
            </p:nvSpPr>
            <p:spPr>
              <a:xfrm>
                <a:off x="1943015" y="3458066"/>
                <a:ext cx="6135806" cy="615553"/>
              </a:xfrm>
              <a:prstGeom prst="rect">
                <a:avLst/>
              </a:prstGeom>
              <a:blipFill>
                <a:blip r:embed="rId3"/>
                <a:stretch>
                  <a:fillRect t="-10204" b="-36735"/>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CB3596A1-997F-FF90-8669-1349898530C8}"/>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8D187986-A904-5B11-516A-78483D1EB5EC}"/>
              </a:ext>
            </a:extLst>
          </p:cNvPr>
          <p:cNvSpPr txBox="1"/>
          <p:nvPr/>
        </p:nvSpPr>
        <p:spPr>
          <a:xfrm>
            <a:off x="1448356" y="4883630"/>
            <a:ext cx="8746677" cy="461665"/>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p:txBody>
      </p:sp>
    </p:spTree>
    <p:extLst>
      <p:ext uri="{BB962C8B-B14F-4D97-AF65-F5344CB8AC3E}">
        <p14:creationId xmlns:p14="http://schemas.microsoft.com/office/powerpoint/2010/main" val="29738966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810312-2209-ADA2-D945-95484F9E7AB5}"/>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5D7CE4B-085D-0791-C065-8945A091724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7F4A888-523A-85BC-4CD1-2D32315868A9}"/>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E85D9986-35CE-EB8C-576B-47D8D02083B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A52FFFA7-660B-6035-F185-77BF48E0DEDA}"/>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811181A6-22B2-FF81-5F9D-C3E0698979C8}"/>
                  </a:ext>
                </a:extLst>
              </p:cNvPr>
              <p:cNvSpPr txBox="1"/>
              <p:nvPr/>
            </p:nvSpPr>
            <p:spPr>
              <a:xfrm>
                <a:off x="2437673" y="3429000"/>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m:t>
                      </m:r>
                      <m:r>
                        <a:rPr lang="en-US" sz="4000" b="0" i="1" smtClean="0">
                          <a:latin typeface="Cambria Math" panose="02040503050406030204" pitchFamily="18" charset="0"/>
                        </a:rPr>
                        <m:t>                 </m:t>
                      </m:r>
                      <m:r>
                        <a:rPr lang="en-US" sz="4000" b="0" i="1" smtClean="0">
                          <a:latin typeface="Cambria Math" panose="02040503050406030204" pitchFamily="18" charset="0"/>
                        </a:rPr>
                        <m:t>&gt;</m:t>
                      </m:r>
                    </m:oMath>
                  </m:oMathPara>
                </a14:m>
                <a:endParaRPr lang="en-US" sz="4000" dirty="0"/>
              </a:p>
            </p:txBody>
          </p:sp>
        </mc:Choice>
        <mc:Fallback>
          <p:sp>
            <p:nvSpPr>
              <p:cNvPr id="22" name="TextBox 21">
                <a:extLst>
                  <a:ext uri="{FF2B5EF4-FFF2-40B4-BE49-F238E27FC236}">
                    <a16:creationId xmlns:a16="http://schemas.microsoft.com/office/drawing/2014/main" id="{811181A6-22B2-FF81-5F9D-C3E0698979C8}"/>
                  </a:ext>
                </a:extLst>
              </p:cNvPr>
              <p:cNvSpPr txBox="1">
                <a:spLocks noRot="1" noChangeAspect="1" noMove="1" noResize="1" noEditPoints="1" noAdjustHandles="1" noChangeArrowheads="1" noChangeShapeType="1" noTextEdit="1"/>
              </p:cNvSpPr>
              <p:nvPr/>
            </p:nvSpPr>
            <p:spPr>
              <a:xfrm>
                <a:off x="2437673" y="3429000"/>
                <a:ext cx="6135806" cy="615553"/>
              </a:xfrm>
              <a:prstGeom prst="rect">
                <a:avLst/>
              </a:prstGeom>
              <a:blipFill>
                <a:blip r:embed="rId3"/>
                <a:stretch>
                  <a:fillRect t="-10204" b="-34694"/>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CB2642E3-F2E6-154B-E916-A1C589D92445}"/>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61D5D305-038B-F804-DF45-99B3E2630606}"/>
              </a:ext>
            </a:extLst>
          </p:cNvPr>
          <p:cNvSpPr txBox="1"/>
          <p:nvPr/>
        </p:nvSpPr>
        <p:spPr>
          <a:xfrm>
            <a:off x="1037948" y="4777166"/>
            <a:ext cx="10498221" cy="1938992"/>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With in each category, preserve timestamp based ordering</a:t>
            </a:r>
          </a:p>
          <a:p>
            <a:pPr marL="285750" indent="-285750">
              <a:buFont typeface="Arial" panose="020B0604020202020204" pitchFamily="34" charset="0"/>
              <a:buChar char="•"/>
            </a:pPr>
            <a:r>
              <a:rPr lang="en-US" sz="2400" dirty="0"/>
              <a:t>Assumption: no non-critical order with some mid-price ID </a:t>
            </a:r>
            <a:r>
              <a:rPr lang="en-US" sz="2400" i="1" dirty="0"/>
              <a:t>m</a:t>
            </a:r>
            <a:r>
              <a:rPr lang="en-US" sz="2400" dirty="0"/>
              <a:t> becomes executable before all critical orders with mid-price ID m have been executed</a:t>
            </a:r>
          </a:p>
          <a:p>
            <a:pPr marL="285750" indent="-285750">
              <a:buFont typeface="Arial" panose="020B0604020202020204" pitchFamily="34" charset="0"/>
              <a:buChar char="•"/>
            </a:pPr>
            <a:endParaRPr lang="en-US" sz="2400" dirty="0"/>
          </a:p>
        </p:txBody>
      </p:sp>
      <p:sp>
        <p:nvSpPr>
          <p:cNvPr id="5" name="Oval 4">
            <a:extLst>
              <a:ext uri="{FF2B5EF4-FFF2-40B4-BE49-F238E27FC236}">
                <a16:creationId xmlns:a16="http://schemas.microsoft.com/office/drawing/2014/main" id="{BB861A7A-699A-106D-7BEE-DEA96CC60ED0}"/>
              </a:ext>
            </a:extLst>
          </p:cNvPr>
          <p:cNvSpPr/>
          <p:nvPr/>
        </p:nvSpPr>
        <p:spPr>
          <a:xfrm>
            <a:off x="6425484" y="3098705"/>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Tree>
    <p:extLst>
      <p:ext uri="{BB962C8B-B14F-4D97-AF65-F5344CB8AC3E}">
        <p14:creationId xmlns:p14="http://schemas.microsoft.com/office/powerpoint/2010/main" val="2041933133"/>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4F3F7AE8-4391-1C78-9BB0-B1379CE149A4}"/>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3D6925F3-7CB8-5C77-61F4-719BEF0AA40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9EF95C84-A000-0801-8538-21C59B960709}"/>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99D386DF-F5F9-015F-641C-9955BCE2C9B3}"/>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5846B54D-B92A-88FA-667C-850EB6E809AC}"/>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A5463A52-E3DD-03FA-C110-ADC5E2253FE0}"/>
                  </a:ext>
                </a:extLst>
              </p:cNvPr>
              <p:cNvSpPr txBox="1"/>
              <p:nvPr/>
            </p:nvSpPr>
            <p:spPr>
              <a:xfrm>
                <a:off x="2437673" y="3429000"/>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m:t>
                      </m:r>
                      <m:r>
                        <a:rPr lang="en-US" sz="4000" b="0" i="1" smtClean="0">
                          <a:latin typeface="Cambria Math" panose="02040503050406030204" pitchFamily="18" charset="0"/>
                        </a:rPr>
                        <m:t>          </m:t>
                      </m:r>
                      <m:r>
                        <a:rPr lang="en-US" sz="4000" b="0" i="1" smtClean="0">
                          <a:latin typeface="Cambria Math" panose="02040503050406030204" pitchFamily="18" charset="0"/>
                        </a:rPr>
                        <m:t>&gt;</m:t>
                      </m:r>
                    </m:oMath>
                  </m:oMathPara>
                </a14:m>
                <a:endParaRPr lang="en-US" sz="4000" dirty="0"/>
              </a:p>
            </p:txBody>
          </p:sp>
        </mc:Choice>
        <mc:Fallback>
          <p:sp>
            <p:nvSpPr>
              <p:cNvPr id="22" name="TextBox 21">
                <a:extLst>
                  <a:ext uri="{FF2B5EF4-FFF2-40B4-BE49-F238E27FC236}">
                    <a16:creationId xmlns:a16="http://schemas.microsoft.com/office/drawing/2014/main" id="{A5463A52-E3DD-03FA-C110-ADC5E2253FE0}"/>
                  </a:ext>
                </a:extLst>
              </p:cNvPr>
              <p:cNvSpPr txBox="1">
                <a:spLocks noRot="1" noChangeAspect="1" noMove="1" noResize="1" noEditPoints="1" noAdjustHandles="1" noChangeArrowheads="1" noChangeShapeType="1" noTextEdit="1"/>
              </p:cNvSpPr>
              <p:nvPr/>
            </p:nvSpPr>
            <p:spPr>
              <a:xfrm>
                <a:off x="2437673" y="3429000"/>
                <a:ext cx="5545882" cy="615553"/>
              </a:xfrm>
              <a:prstGeom prst="rect">
                <a:avLst/>
              </a:prstGeom>
              <a:blipFill>
                <a:blip r:embed="rId3"/>
                <a:stretch>
                  <a:fillRect t="-10204" b="-34694"/>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86480FFD-4C78-4AB8-FB7C-C51E4F86DF04}"/>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1FDF9C3F-6C5F-7DC8-1386-D23EEC8A76C7}"/>
              </a:ext>
            </a:extLst>
          </p:cNvPr>
          <p:cNvSpPr txBox="1"/>
          <p:nvPr/>
        </p:nvSpPr>
        <p:spPr>
          <a:xfrm>
            <a:off x="1448357" y="4883630"/>
            <a:ext cx="7125122"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endParaRPr lang="en-US" sz="2400" dirty="0"/>
          </a:p>
        </p:txBody>
      </p:sp>
    </p:spTree>
    <p:extLst>
      <p:ext uri="{BB962C8B-B14F-4D97-AF65-F5344CB8AC3E}">
        <p14:creationId xmlns:p14="http://schemas.microsoft.com/office/powerpoint/2010/main" val="524449433"/>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build="p"/>
    </p:bldLst>
  </p:timing>
</p:sld>
</file>

<file path=ppt/slides/slide107.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6248E1B0-2AE4-3922-331A-934C52381AF6}"/>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0451792-9F9B-0C30-2936-21B044E868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DAF1C9B-C3BD-9A3B-4303-96BA3BF24A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7FF81811-637B-B4A5-3957-789223D5225E}"/>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07A4C28-3853-2620-FEEB-9CF8AD8D68CD}"/>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CF7DBD0-C25E-508A-ABCA-F679BA3C904C}"/>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B0B3E39-9662-73AF-3F3F-952324C76F27}"/>
              </a:ext>
            </a:extLst>
          </p:cNvPr>
          <p:cNvSpPr txBox="1"/>
          <p:nvPr/>
        </p:nvSpPr>
        <p:spPr>
          <a:xfrm>
            <a:off x="220390" y="4128885"/>
            <a:ext cx="11788730" cy="2246769"/>
          </a:xfrm>
          <a:prstGeom prst="rect">
            <a:avLst/>
          </a:prstGeom>
          <a:noFill/>
        </p:spPr>
        <p:txBody>
          <a:bodyPr wrap="square" rtlCol="0">
            <a:spAutoFit/>
          </a:bodyPr>
          <a:lstStyle/>
          <a:p>
            <a:pPr marL="457200" indent="-457200">
              <a:buFont typeface="Arial" panose="020B0604020202020204" pitchFamily="34" charset="0"/>
              <a:buChar char="•"/>
            </a:pPr>
            <a:r>
              <a:rPr lang="en-US" sz="2800" dirty="0"/>
              <a:t>Within each category (critical/non-critical), the behavior is the same as it would have been in a synchronous network</a:t>
            </a:r>
          </a:p>
          <a:p>
            <a:pPr marL="457200" indent="-457200">
              <a:buFont typeface="Arial" panose="020B0604020202020204" pitchFamily="34" charset="0"/>
              <a:buChar char="•"/>
            </a:pPr>
            <a:r>
              <a:rPr lang="en-US" sz="2800" dirty="0"/>
              <a:t>All critical orders arrive at the exchange before any non-critical</a:t>
            </a:r>
          </a:p>
          <a:p>
            <a:pPr marL="914400" lvl="1" indent="-457200">
              <a:buFont typeface="Arial" panose="020B0604020202020204" pitchFamily="34" charset="0"/>
              <a:buChar char="•"/>
            </a:pPr>
            <a:r>
              <a:rPr lang="en-US" sz="2800" dirty="0"/>
              <a:t>That’s also fine because no no-critical order would be executed before any critical order</a:t>
            </a:r>
          </a:p>
        </p:txBody>
      </p:sp>
      <p:sp>
        <p:nvSpPr>
          <p:cNvPr id="3" name="Rounded Rectangle 2">
            <a:extLst>
              <a:ext uri="{FF2B5EF4-FFF2-40B4-BE49-F238E27FC236}">
                <a16:creationId xmlns:a16="http://schemas.microsoft.com/office/drawing/2014/main" id="{EE3F07AC-482D-112C-095A-23942DF1379D}"/>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350830254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375920" y="4577760"/>
            <a:ext cx="12327210" cy="1569660"/>
          </a:xfrm>
          <a:prstGeom prst="rect">
            <a:avLst/>
          </a:prstGeom>
          <a:noFill/>
        </p:spPr>
        <p:txBody>
          <a:bodyPr wrap="square" rtlCol="0">
            <a:spAutoFit/>
          </a:bodyPr>
          <a:lstStyle/>
          <a:p>
            <a:pPr marL="457200" indent="-457200">
              <a:buFont typeface="Arial" panose="020B0604020202020204" pitchFamily="34" charset="0"/>
              <a:buChar char="•"/>
            </a:pPr>
            <a:r>
              <a:rPr lang="en-US" sz="2400" dirty="0"/>
              <a:t>There is a problem</a:t>
            </a:r>
          </a:p>
          <a:p>
            <a:pPr marL="457200" indent="-457200">
              <a:buFont typeface="Arial" panose="020B0604020202020204" pitchFamily="34" charset="0"/>
              <a:buChar char="•"/>
            </a:pPr>
            <a:r>
              <a:rPr lang="en-US" sz="2400" dirty="0"/>
              <a:t>Criticality definition dependent on the mid-price but mid-price can move</a:t>
            </a:r>
          </a:p>
          <a:p>
            <a:pPr marL="457200" indent="-457200">
              <a:buFont typeface="Arial" panose="020B0604020202020204" pitchFamily="34" charset="0"/>
              <a:buChar char="•"/>
            </a:pPr>
            <a:r>
              <a:rPr lang="en-US" sz="2400" dirty="0"/>
              <a:t>Two orders can co-reside </a:t>
            </a:r>
            <a:r>
              <a:rPr lang="en-US" sz="2400" dirty="0" err="1"/>
              <a:t>s.t.</a:t>
            </a:r>
            <a:r>
              <a:rPr lang="en-US" sz="2400" dirty="0"/>
              <a:t> one was generated after the mid-price changed</a:t>
            </a:r>
          </a:p>
          <a:p>
            <a:pPr marL="457200" indent="-457200">
              <a:buFont typeface="Arial" panose="020B0604020202020204" pitchFamily="34" charset="0"/>
              <a:buChar char="•"/>
            </a:pPr>
            <a:r>
              <a:rPr lang="en-US" sz="2400" dirty="0"/>
              <a:t>Can we have some ordering decision between such two orders? Difficult!</a:t>
            </a:r>
          </a:p>
        </p:txBody>
      </p:sp>
      <p:sp>
        <p:nvSpPr>
          <p:cNvPr id="3" name="Rounded Rectangle 2">
            <a:extLst>
              <a:ext uri="{FF2B5EF4-FFF2-40B4-BE49-F238E27FC236}">
                <a16:creationId xmlns:a16="http://schemas.microsoft.com/office/drawing/2014/main" id="{2CE0093C-5B25-8C18-A7D6-70F465D7B4AD}"/>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3200781171"/>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
        <p:nvSpPr>
          <p:cNvPr id="9" name="Rounded Rectangle 8">
            <a:extLst>
              <a:ext uri="{FF2B5EF4-FFF2-40B4-BE49-F238E27FC236}">
                <a16:creationId xmlns:a16="http://schemas.microsoft.com/office/drawing/2014/main" id="{F474F005-ED43-8D21-26E0-415DDAD694C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10.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Rounded Rectangle 7">
            <a:extLst>
              <a:ext uri="{FF2B5EF4-FFF2-40B4-BE49-F238E27FC236}">
                <a16:creationId xmlns:a16="http://schemas.microsoft.com/office/drawing/2014/main" id="{47245149-74B2-DDF4-1906-C03A47EA76B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lowering the latency for matched orders</a:t>
            </a:r>
          </a:p>
        </p:txBody>
      </p:sp>
      <p:sp>
        <p:nvSpPr>
          <p:cNvPr id="3" name="Rounded Rectangle 2">
            <a:extLst>
              <a:ext uri="{FF2B5EF4-FFF2-40B4-BE49-F238E27FC236}">
                <a16:creationId xmlns:a16="http://schemas.microsoft.com/office/drawing/2014/main" id="{442ED2A8-464E-8F73-DCC5-AE4BFFF6CA9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Google Shape;407;p35">
            <a:extLst>
              <a:ext uri="{FF2B5EF4-FFF2-40B4-BE49-F238E27FC236}">
                <a16:creationId xmlns:a16="http://schemas.microsoft.com/office/drawing/2014/main" id="{2CDB5725-7236-A943-4C67-4A16B4C30945}"/>
              </a:ext>
            </a:extLst>
          </p:cNvPr>
          <p:cNvSpPr txBox="1">
            <a:spLocks/>
          </p:cNvSpPr>
          <p:nvPr/>
        </p:nvSpPr>
        <p:spPr>
          <a:xfrm>
            <a:off x="415600" y="4468069"/>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endParaRPr lang="en-US" sz="2000" dirty="0"/>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nodePh="1">
                                  <p:stCondLst>
                                    <p:cond delay="0"/>
                                  </p:stCondLst>
                                  <p:endCondLst>
                                    <p:cond evt="begin" delay="0">
                                      <p:tn val="9"/>
                                    </p:cond>
                                  </p:end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4" grpId="0"/>
    </p:bldLst>
  </p:timing>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A955386A-E9BB-B335-859D-ED9757E75200}"/>
                  </a:ext>
                </a:extLst>
              </p:cNvPr>
              <p:cNvSpPr txBox="1"/>
              <p:nvPr/>
            </p:nvSpPr>
            <p:spPr>
              <a:xfrm>
                <a:off x="3876395" y="1947720"/>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6" name="TextBox 5">
                <a:extLst>
                  <a:ext uri="{FF2B5EF4-FFF2-40B4-BE49-F238E27FC236}">
                    <a16:creationId xmlns:a16="http://schemas.microsoft.com/office/drawing/2014/main" id="{A955386A-E9BB-B335-859D-ED9757E75200}"/>
                  </a:ext>
                </a:extLst>
              </p:cNvPr>
              <p:cNvSpPr txBox="1">
                <a:spLocks noRot="1" noChangeAspect="1" noMove="1" noResize="1" noEditPoints="1" noAdjustHandles="1" noChangeArrowheads="1" noChangeShapeType="1" noTextEdit="1"/>
              </p:cNvSpPr>
              <p:nvPr/>
            </p:nvSpPr>
            <p:spPr>
              <a:xfrm>
                <a:off x="3876395" y="1947720"/>
                <a:ext cx="4284763" cy="1031436"/>
              </a:xfrm>
              <a:prstGeom prst="rect">
                <a:avLst/>
              </a:prstGeom>
              <a:blipFill>
                <a:blip r:embed="rId3"/>
                <a:stretch>
                  <a:fillRect l="-1479" t="-173171" r="-1479" b="-240244"/>
                </a:stretch>
              </a:blipFill>
            </p:spPr>
            <p:txBody>
              <a:bodyPr/>
              <a:lstStyle/>
              <a:p>
                <a:r>
                  <a:rPr lang="en-US">
                    <a:noFill/>
                  </a:rPr>
                  <a:t> </a:t>
                </a:r>
              </a:p>
            </p:txBody>
          </p:sp>
        </mc:Fallback>
      </mc:AlternateContent>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304EB-34D9-C951-FCD7-C80EA3F9DDA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11F3E789-9597-24C5-93F6-A82B46EFBC2F}"/>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846A2ED-F61C-8927-2217-C6D6DE68173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7FA0E4A3-3CF5-24AF-D615-0876E05D7003}"/>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05BFD68E-25F1-7FC1-1136-63F2B840534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Oval 3">
            <a:extLst>
              <a:ext uri="{FF2B5EF4-FFF2-40B4-BE49-F238E27FC236}">
                <a16:creationId xmlns:a16="http://schemas.microsoft.com/office/drawing/2014/main" id="{3A751E77-097D-85C4-3B13-477D7FBCF5F6}"/>
              </a:ext>
            </a:extLst>
          </p:cNvPr>
          <p:cNvSpPr/>
          <p:nvPr/>
        </p:nvSpPr>
        <p:spPr>
          <a:xfrm>
            <a:off x="416560" y="290219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7" name="Oval 6">
            <a:extLst>
              <a:ext uri="{FF2B5EF4-FFF2-40B4-BE49-F238E27FC236}">
                <a16:creationId xmlns:a16="http://schemas.microsoft.com/office/drawing/2014/main" id="{5C251123-1696-4E96-27CC-C452C28D22B2}"/>
              </a:ext>
            </a:extLst>
          </p:cNvPr>
          <p:cNvSpPr/>
          <p:nvPr/>
        </p:nvSpPr>
        <p:spPr>
          <a:xfrm>
            <a:off x="2661752" y="19189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8" name="Oval 7">
            <a:extLst>
              <a:ext uri="{FF2B5EF4-FFF2-40B4-BE49-F238E27FC236}">
                <a16:creationId xmlns:a16="http://schemas.microsoft.com/office/drawing/2014/main" id="{C159F21F-415D-4A65-F9D8-E8FBED937E23}"/>
              </a:ext>
            </a:extLst>
          </p:cNvPr>
          <p:cNvSpPr/>
          <p:nvPr/>
        </p:nvSpPr>
        <p:spPr>
          <a:xfrm>
            <a:off x="4244965" y="3609202"/>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9" name="Right Arrow 8">
            <a:extLst>
              <a:ext uri="{FF2B5EF4-FFF2-40B4-BE49-F238E27FC236}">
                <a16:creationId xmlns:a16="http://schemas.microsoft.com/office/drawing/2014/main" id="{44366E91-1DC6-D81B-65D9-DB1E72EAC9B1}"/>
              </a:ext>
            </a:extLst>
          </p:cNvPr>
          <p:cNvSpPr/>
          <p:nvPr/>
        </p:nvSpPr>
        <p:spPr>
          <a:xfrm rot="20185536">
            <a:off x="1628117" y="25627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00963573-5A18-5C81-727D-3E3D4D1463CC}"/>
              </a:ext>
            </a:extLst>
          </p:cNvPr>
          <p:cNvSpPr/>
          <p:nvPr/>
        </p:nvSpPr>
        <p:spPr>
          <a:xfrm rot="3221364">
            <a:off x="3739520" y="30705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14F23EB-9C27-CCEF-B410-1C8B8827A8DD}"/>
              </a:ext>
            </a:extLst>
          </p:cNvPr>
          <p:cNvSpPr/>
          <p:nvPr/>
        </p:nvSpPr>
        <p:spPr>
          <a:xfrm rot="11578444">
            <a:off x="2324348" y="3637742"/>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Multiply 12">
            <a:extLst>
              <a:ext uri="{FF2B5EF4-FFF2-40B4-BE49-F238E27FC236}">
                <a16:creationId xmlns:a16="http://schemas.microsoft.com/office/drawing/2014/main" id="{2BC9C8BC-25B1-F205-A175-FDA9BC74E57F}"/>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0B349C9-D31C-0B2E-2F44-2BB2F9747AEB}"/>
              </a:ext>
            </a:extLst>
          </p:cNvPr>
          <p:cNvSpPr txBox="1"/>
          <p:nvPr/>
        </p:nvSpPr>
        <p:spPr>
          <a:xfrm>
            <a:off x="426722" y="4606730"/>
            <a:ext cx="5171440" cy="1323439"/>
          </a:xfrm>
          <a:prstGeom prst="rect">
            <a:avLst/>
          </a:prstGeom>
          <a:noFill/>
        </p:spPr>
        <p:txBody>
          <a:bodyPr wrap="square" rtlCol="0">
            <a:spAutoFit/>
          </a:bodyPr>
          <a:lstStyle/>
          <a:p>
            <a:r>
              <a:rPr lang="en-US" sz="4000" dirty="0"/>
              <a:t>In practice, cycles are present.</a:t>
            </a:r>
          </a:p>
        </p:txBody>
      </p:sp>
      <p:sp>
        <p:nvSpPr>
          <p:cNvPr id="15" name="TextBox 14">
            <a:extLst>
              <a:ext uri="{FF2B5EF4-FFF2-40B4-BE49-F238E27FC236}">
                <a16:creationId xmlns:a16="http://schemas.microsoft.com/office/drawing/2014/main" id="{F6C8A1C5-D248-F4EE-4B44-D101AE7D0E94}"/>
              </a:ext>
            </a:extLst>
          </p:cNvPr>
          <p:cNvSpPr txBox="1"/>
          <p:nvPr/>
        </p:nvSpPr>
        <p:spPr>
          <a:xfrm>
            <a:off x="426721" y="5930169"/>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20392077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
        <p:nvSpPr>
          <p:cNvPr id="3" name="Oval 2">
            <a:extLst>
              <a:ext uri="{FF2B5EF4-FFF2-40B4-BE49-F238E27FC236}">
                <a16:creationId xmlns:a16="http://schemas.microsoft.com/office/drawing/2014/main" id="{EBF0BAEF-D117-E2CC-876F-630BF2F66290}"/>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59B9F52C-E5A2-A81C-A0A5-3DD75457E5D0}"/>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4" name="Oval 3">
            <a:extLst>
              <a:ext uri="{FF2B5EF4-FFF2-40B4-BE49-F238E27FC236}">
                <a16:creationId xmlns:a16="http://schemas.microsoft.com/office/drawing/2014/main" id="{50F9C645-1778-F657-1202-B5C1363B9FE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Down Arrow 4">
            <a:extLst>
              <a:ext uri="{FF2B5EF4-FFF2-40B4-BE49-F238E27FC236}">
                <a16:creationId xmlns:a16="http://schemas.microsoft.com/office/drawing/2014/main" id="{B8417718-15F2-B0F5-37CE-F07144165EDF}"/>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93EA7D12-C9C0-9669-206D-3714A032B606}"/>
              </a:ext>
            </a:extLst>
          </p:cNvPr>
          <p:cNvSpPr txBox="1"/>
          <p:nvPr/>
        </p:nvSpPr>
        <p:spPr>
          <a:xfrm>
            <a:off x="5679440" y="1570079"/>
            <a:ext cx="2346960" cy="954107"/>
          </a:xfrm>
          <a:prstGeom prst="rect">
            <a:avLst/>
          </a:prstGeom>
          <a:noFill/>
        </p:spPr>
        <p:txBody>
          <a:bodyPr wrap="square" rtlCol="0">
            <a:spAutoFit/>
          </a:bodyPr>
          <a:lstStyle/>
          <a:p>
            <a:r>
              <a:rPr lang="en-US" sz="2800" dirty="0"/>
              <a:t>Aggregated votes per pair</a:t>
            </a:r>
          </a:p>
        </p:txBody>
      </p:sp>
      <p:sp>
        <p:nvSpPr>
          <p:cNvPr id="7" name="TextBox 6">
            <a:extLst>
              <a:ext uri="{FF2B5EF4-FFF2-40B4-BE49-F238E27FC236}">
                <a16:creationId xmlns:a16="http://schemas.microsoft.com/office/drawing/2014/main" id="{606E8898-5FA8-7750-1C10-E0507F7A3ABC}"/>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0" name="TextBox 9">
            <a:extLst>
              <a:ext uri="{FF2B5EF4-FFF2-40B4-BE49-F238E27FC236}">
                <a16:creationId xmlns:a16="http://schemas.microsoft.com/office/drawing/2014/main" id="{B90AD1E2-D02D-273A-E0DD-51092A6DB27D}"/>
              </a:ext>
            </a:extLst>
          </p:cNvPr>
          <p:cNvSpPr txBox="1"/>
          <p:nvPr/>
        </p:nvSpPr>
        <p:spPr>
          <a:xfrm>
            <a:off x="7416800" y="2773679"/>
            <a:ext cx="1385316" cy="461665"/>
          </a:xfrm>
          <a:prstGeom prst="rect">
            <a:avLst/>
          </a:prstGeom>
          <a:noFill/>
        </p:spPr>
        <p:txBody>
          <a:bodyPr wrap="none" rtlCol="0">
            <a:spAutoFit/>
          </a:bodyPr>
          <a:lstStyle/>
          <a:p>
            <a:r>
              <a:rPr lang="en-US" sz="2400" dirty="0"/>
              <a:t>B </a:t>
            </a:r>
            <a:r>
              <a:rPr lang="en-US" sz="2400" dirty="0">
                <a:sym typeface="Wingdings" pitchFamily="2" charset="2"/>
              </a:rPr>
              <a:t> A</a:t>
            </a:r>
            <a:r>
              <a:rPr lang="en-US" sz="2400" dirty="0"/>
              <a:t> (1)</a:t>
            </a:r>
          </a:p>
        </p:txBody>
      </p:sp>
      <p:sp>
        <p:nvSpPr>
          <p:cNvPr id="11" name="TextBox 10">
            <a:extLst>
              <a:ext uri="{FF2B5EF4-FFF2-40B4-BE49-F238E27FC236}">
                <a16:creationId xmlns:a16="http://schemas.microsoft.com/office/drawing/2014/main" id="{B9E075C7-9D5A-4030-0F84-CF56F8B6190B}"/>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2" name="TextBox 11">
            <a:extLst>
              <a:ext uri="{FF2B5EF4-FFF2-40B4-BE49-F238E27FC236}">
                <a16:creationId xmlns:a16="http://schemas.microsoft.com/office/drawing/2014/main" id="{5BE21E30-5198-CD9C-C181-B42F117A4A49}"/>
              </a:ext>
            </a:extLst>
          </p:cNvPr>
          <p:cNvSpPr txBox="1"/>
          <p:nvPr/>
        </p:nvSpPr>
        <p:spPr>
          <a:xfrm>
            <a:off x="7416800" y="3160991"/>
            <a:ext cx="1417376" cy="461665"/>
          </a:xfrm>
          <a:prstGeom prst="rect">
            <a:avLst/>
          </a:prstGeom>
          <a:noFill/>
        </p:spPr>
        <p:txBody>
          <a:bodyPr wrap="none" rtlCol="0">
            <a:spAutoFit/>
          </a:bodyPr>
          <a:lstStyle/>
          <a:p>
            <a:r>
              <a:rPr lang="en-US" sz="2400" dirty="0"/>
              <a:t>C </a:t>
            </a:r>
            <a:r>
              <a:rPr lang="en-US" sz="2400" dirty="0">
                <a:sym typeface="Wingdings" pitchFamily="2" charset="2"/>
              </a:rPr>
              <a:t> B</a:t>
            </a:r>
            <a:r>
              <a:rPr lang="en-US" sz="2400" dirty="0"/>
              <a:t> (1)</a:t>
            </a:r>
          </a:p>
        </p:txBody>
      </p:sp>
      <p:sp>
        <p:nvSpPr>
          <p:cNvPr id="13" name="TextBox 12">
            <a:extLst>
              <a:ext uri="{FF2B5EF4-FFF2-40B4-BE49-F238E27FC236}">
                <a16:creationId xmlns:a16="http://schemas.microsoft.com/office/drawing/2014/main" id="{B71D9F53-AAE6-6FDC-3DD8-7B5CAE299E7C}"/>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14" name="TextBox 13">
            <a:extLst>
              <a:ext uri="{FF2B5EF4-FFF2-40B4-BE49-F238E27FC236}">
                <a16:creationId xmlns:a16="http://schemas.microsoft.com/office/drawing/2014/main" id="{E4FFFC4D-C148-15BC-8306-180A41148925}"/>
              </a:ext>
            </a:extLst>
          </p:cNvPr>
          <p:cNvSpPr txBox="1"/>
          <p:nvPr/>
        </p:nvSpPr>
        <p:spPr>
          <a:xfrm>
            <a:off x="7416800" y="3548303"/>
            <a:ext cx="1412566" cy="461665"/>
          </a:xfrm>
          <a:prstGeom prst="rect">
            <a:avLst/>
          </a:prstGeom>
          <a:noFill/>
        </p:spPr>
        <p:txBody>
          <a:bodyPr wrap="none" rtlCol="0">
            <a:spAutoFit/>
          </a:bodyPr>
          <a:lstStyle/>
          <a:p>
            <a:r>
              <a:rPr lang="en-US" sz="2400" dirty="0"/>
              <a:t>A </a:t>
            </a:r>
            <a:r>
              <a:rPr lang="en-US" sz="2400" dirty="0">
                <a:sym typeface="Wingdings" pitchFamily="2" charset="2"/>
              </a:rPr>
              <a:t> C</a:t>
            </a:r>
            <a:r>
              <a:rPr lang="en-US" sz="2400" dirty="0"/>
              <a:t> (1)</a:t>
            </a:r>
          </a:p>
        </p:txBody>
      </p:sp>
      <p:sp>
        <p:nvSpPr>
          <p:cNvPr id="15" name="Oval 14">
            <a:extLst>
              <a:ext uri="{FF2B5EF4-FFF2-40B4-BE49-F238E27FC236}">
                <a16:creationId xmlns:a16="http://schemas.microsoft.com/office/drawing/2014/main" id="{F3F3FD5A-84DA-0AE9-A93A-1E7C2CCDC80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6" name="Down Arrow 15">
            <a:extLst>
              <a:ext uri="{FF2B5EF4-FFF2-40B4-BE49-F238E27FC236}">
                <a16:creationId xmlns:a16="http://schemas.microsoft.com/office/drawing/2014/main" id="{5B41FEEA-FF87-1DFD-9914-2C344F663A0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E156B-35F4-E7FB-8A71-30DE555B7DDD}"/>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240F730-8B89-A4C5-1CCF-C46B89E042C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64A2FCEE-C7FE-120A-D2F8-922F05A1F670}"/>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D0EAC023-AA95-5C73-E312-E9EDE91D931E}"/>
              </a:ext>
            </a:extLst>
          </p:cNvPr>
          <p:cNvSpPr txBox="1"/>
          <p:nvPr/>
        </p:nvSpPr>
        <p:spPr>
          <a:xfrm>
            <a:off x="5262008" y="1309793"/>
            <a:ext cx="2799516" cy="1384995"/>
          </a:xfrm>
          <a:prstGeom prst="rect">
            <a:avLst/>
          </a:prstGeom>
          <a:noFill/>
        </p:spPr>
        <p:txBody>
          <a:bodyPr wrap="square" rtlCol="0">
            <a:spAutoFit/>
          </a:bodyPr>
          <a:lstStyle/>
          <a:p>
            <a:r>
              <a:rPr lang="en-US" sz="2800" dirty="0"/>
              <a:t>Majority based on aggregated votes per pair</a:t>
            </a:r>
          </a:p>
        </p:txBody>
      </p:sp>
      <p:sp>
        <p:nvSpPr>
          <p:cNvPr id="7" name="TextBox 6">
            <a:extLst>
              <a:ext uri="{FF2B5EF4-FFF2-40B4-BE49-F238E27FC236}">
                <a16:creationId xmlns:a16="http://schemas.microsoft.com/office/drawing/2014/main" id="{99A9DE38-1311-EE61-0AF5-3ADDAF6B0F39}"/>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1" name="TextBox 10">
            <a:extLst>
              <a:ext uri="{FF2B5EF4-FFF2-40B4-BE49-F238E27FC236}">
                <a16:creationId xmlns:a16="http://schemas.microsoft.com/office/drawing/2014/main" id="{7A2ECAB2-75BA-4D9E-3E06-47B8760934AA}"/>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3" name="TextBox 12">
            <a:extLst>
              <a:ext uri="{FF2B5EF4-FFF2-40B4-BE49-F238E27FC236}">
                <a16:creationId xmlns:a16="http://schemas.microsoft.com/office/drawing/2014/main" id="{A452927E-B0E5-221D-6C30-B93942A21AA2}"/>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2" name="Oval 1">
            <a:extLst>
              <a:ext uri="{FF2B5EF4-FFF2-40B4-BE49-F238E27FC236}">
                <a16:creationId xmlns:a16="http://schemas.microsoft.com/office/drawing/2014/main" id="{75F73D23-58BF-5CA2-FBAE-8C4F3711377F}"/>
              </a:ext>
            </a:extLst>
          </p:cNvPr>
          <p:cNvSpPr/>
          <p:nvPr/>
        </p:nvSpPr>
        <p:spPr>
          <a:xfrm>
            <a:off x="5750560" y="4580914"/>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4" name="Oval 3">
            <a:extLst>
              <a:ext uri="{FF2B5EF4-FFF2-40B4-BE49-F238E27FC236}">
                <a16:creationId xmlns:a16="http://schemas.microsoft.com/office/drawing/2014/main" id="{BFBE57CD-0B18-7F96-E27F-0284B06E679C}"/>
              </a:ext>
            </a:extLst>
          </p:cNvPr>
          <p:cNvSpPr/>
          <p:nvPr/>
        </p:nvSpPr>
        <p:spPr>
          <a:xfrm>
            <a:off x="7995752" y="3597666"/>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8" name="Right Arrow 7">
            <a:extLst>
              <a:ext uri="{FF2B5EF4-FFF2-40B4-BE49-F238E27FC236}">
                <a16:creationId xmlns:a16="http://schemas.microsoft.com/office/drawing/2014/main" id="{E059E62E-BDE6-E4E6-7E78-621DFEEEE034}"/>
              </a:ext>
            </a:extLst>
          </p:cNvPr>
          <p:cNvSpPr/>
          <p:nvPr/>
        </p:nvSpPr>
        <p:spPr>
          <a:xfrm rot="20185536">
            <a:off x="6962117" y="42414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86818319-4DEF-A37E-5AC6-FC4978A16D1C}"/>
              </a:ext>
            </a:extLst>
          </p:cNvPr>
          <p:cNvSpPr/>
          <p:nvPr/>
        </p:nvSpPr>
        <p:spPr>
          <a:xfrm rot="3221364">
            <a:off x="9073520" y="47492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11981A4E-5F85-09E7-8B74-39AB74D6CBA9}"/>
              </a:ext>
            </a:extLst>
          </p:cNvPr>
          <p:cNvSpPr/>
          <p:nvPr/>
        </p:nvSpPr>
        <p:spPr>
          <a:xfrm>
            <a:off x="9536604" y="53679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7" name="Right Arrow 16">
            <a:extLst>
              <a:ext uri="{FF2B5EF4-FFF2-40B4-BE49-F238E27FC236}">
                <a16:creationId xmlns:a16="http://schemas.microsoft.com/office/drawing/2014/main" id="{64039D33-58C1-9210-F435-3802649A1972}"/>
              </a:ext>
            </a:extLst>
          </p:cNvPr>
          <p:cNvSpPr/>
          <p:nvPr/>
        </p:nvSpPr>
        <p:spPr>
          <a:xfrm rot="12197055">
            <a:off x="7633697" y="563438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B757F21-9F74-9925-8D1F-E1904EC19EF1}"/>
              </a:ext>
            </a:extLst>
          </p:cNvPr>
          <p:cNvSpPr txBox="1"/>
          <p:nvPr/>
        </p:nvSpPr>
        <p:spPr>
          <a:xfrm>
            <a:off x="9131102" y="1561573"/>
            <a:ext cx="1957312" cy="954107"/>
          </a:xfrm>
          <a:prstGeom prst="rect">
            <a:avLst/>
          </a:prstGeom>
          <a:solidFill>
            <a:srgbClr val="FF0000"/>
          </a:solidFill>
        </p:spPr>
        <p:txBody>
          <a:bodyPr wrap="square" rtlCol="0">
            <a:spAutoFit/>
          </a:bodyPr>
          <a:lstStyle/>
          <a:p>
            <a:r>
              <a:rPr lang="en-US" sz="2800" dirty="0">
                <a:solidFill>
                  <a:schemeClr val="bg1"/>
                </a:solidFill>
              </a:rPr>
              <a:t>Intransitive relation</a:t>
            </a:r>
          </a:p>
        </p:txBody>
      </p:sp>
      <p:sp>
        <p:nvSpPr>
          <p:cNvPr id="19" name="Up Arrow 18">
            <a:extLst>
              <a:ext uri="{FF2B5EF4-FFF2-40B4-BE49-F238E27FC236}">
                <a16:creationId xmlns:a16="http://schemas.microsoft.com/office/drawing/2014/main" id="{93125CF0-1149-3D7A-1C48-E02AAD0B9E27}"/>
              </a:ext>
            </a:extLst>
          </p:cNvPr>
          <p:cNvSpPr/>
          <p:nvPr/>
        </p:nvSpPr>
        <p:spPr>
          <a:xfrm rot="16200000">
            <a:off x="8297264" y="1669837"/>
            <a:ext cx="274152" cy="664906"/>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B9C1DB57-2EAD-D429-B1A3-7C50DBB4CCFB}"/>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1" name="Down Arrow 20">
            <a:extLst>
              <a:ext uri="{FF2B5EF4-FFF2-40B4-BE49-F238E27FC236}">
                <a16:creationId xmlns:a16="http://schemas.microsoft.com/office/drawing/2014/main" id="{8C9BE66D-9239-1D9C-1790-D84677FE3734}"/>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22517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P spid="9" grpId="0" animBg="1"/>
      <p:bldP spid="16" grpId="0" animBg="1"/>
      <p:bldP spid="17" grpId="0" animBg="1"/>
      <p:bldP spid="18" grpId="0" animBg="1"/>
      <p:bldP spid="19"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2AD3AEC3-0588-E89D-87D0-F27CEED48C1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05171265-8AAA-36C1-3E89-43B3954F363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46BBEB0-5D5B-52FD-DEA5-BBEA91C1887F}"/>
              </a:ext>
            </a:extLst>
          </p:cNvPr>
          <p:cNvSpPr/>
          <p:nvPr/>
        </p:nvSpPr>
        <p:spPr>
          <a:xfrm>
            <a:off x="1251284" y="2935705"/>
            <a:ext cx="1732548" cy="4932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Winners</a:t>
            </a:r>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4EC36-01FC-6485-2AA8-C8658385236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2395DD2F-ABB9-4503-7EB4-9AF90D2618B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0555FD7B-1674-A3DB-7CD6-01582488CD3A}"/>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BEC28C30-36A7-082F-A474-5746FFD518A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58EE668D-1808-5176-CE4C-FC1DAD6E3D7B}"/>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25D8D70-C327-405C-D954-5001F9D828EC}"/>
              </a:ext>
            </a:extLst>
          </p:cNvPr>
          <p:cNvSpPr/>
          <p:nvPr/>
        </p:nvSpPr>
        <p:spPr>
          <a:xfrm>
            <a:off x="1211037" y="3370045"/>
            <a:ext cx="1694047" cy="117909"/>
          </a:xfrm>
          <a:custGeom>
            <a:avLst/>
            <a:gdLst>
              <a:gd name="csX0" fmla="*/ 0 w 1694047"/>
              <a:gd name="csY0" fmla="*/ 0 h 117909"/>
              <a:gd name="csX1" fmla="*/ 598563 w 1694047"/>
              <a:gd name="csY1" fmla="*/ 0 h 117909"/>
              <a:gd name="csX2" fmla="*/ 1180186 w 1694047"/>
              <a:gd name="csY2" fmla="*/ 0 h 117909"/>
              <a:gd name="csX3" fmla="*/ 1694047 w 1694047"/>
              <a:gd name="csY3" fmla="*/ 0 h 117909"/>
              <a:gd name="csX4" fmla="*/ 1694047 w 1694047"/>
              <a:gd name="csY4" fmla="*/ 117909 h 117909"/>
              <a:gd name="csX5" fmla="*/ 1163246 w 1694047"/>
              <a:gd name="csY5" fmla="*/ 117909 h 117909"/>
              <a:gd name="csX6" fmla="*/ 598563 w 1694047"/>
              <a:gd name="csY6" fmla="*/ 117909 h 117909"/>
              <a:gd name="csX7" fmla="*/ 0 w 1694047"/>
              <a:gd name="csY7" fmla="*/ 117909 h 117909"/>
              <a:gd name="csX8" fmla="*/ 0 w 1694047"/>
              <a:gd name="csY8" fmla="*/ 0 h 1179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694047" h="117909" fill="none" extrusionOk="0">
                <a:moveTo>
                  <a:pt x="0" y="0"/>
                </a:moveTo>
                <a:cubicBezTo>
                  <a:pt x="278806" y="-2531"/>
                  <a:pt x="464307" y="68144"/>
                  <a:pt x="598563" y="0"/>
                </a:cubicBezTo>
                <a:cubicBezTo>
                  <a:pt x="732819" y="-68144"/>
                  <a:pt x="1060663" y="36313"/>
                  <a:pt x="1180186" y="0"/>
                </a:cubicBezTo>
                <a:cubicBezTo>
                  <a:pt x="1299709" y="-36313"/>
                  <a:pt x="1588118" y="44253"/>
                  <a:pt x="1694047" y="0"/>
                </a:cubicBezTo>
                <a:cubicBezTo>
                  <a:pt x="1701930" y="24249"/>
                  <a:pt x="1682628" y="94266"/>
                  <a:pt x="1694047" y="117909"/>
                </a:cubicBezTo>
                <a:cubicBezTo>
                  <a:pt x="1538736" y="178579"/>
                  <a:pt x="1395881" y="66265"/>
                  <a:pt x="1163246" y="117909"/>
                </a:cubicBezTo>
                <a:cubicBezTo>
                  <a:pt x="930611" y="169553"/>
                  <a:pt x="712018" y="53794"/>
                  <a:pt x="598563" y="117909"/>
                </a:cubicBezTo>
                <a:cubicBezTo>
                  <a:pt x="485108" y="182024"/>
                  <a:pt x="133942" y="91579"/>
                  <a:pt x="0" y="117909"/>
                </a:cubicBezTo>
                <a:cubicBezTo>
                  <a:pt x="-2175" y="83152"/>
                  <a:pt x="6275" y="58157"/>
                  <a:pt x="0" y="0"/>
                </a:cubicBezTo>
                <a:close/>
              </a:path>
              <a:path w="1694047" h="117909" stroke="0" extrusionOk="0">
                <a:moveTo>
                  <a:pt x="0" y="0"/>
                </a:moveTo>
                <a:cubicBezTo>
                  <a:pt x="149099" y="-34213"/>
                  <a:pt x="361070" y="49167"/>
                  <a:pt x="547742" y="0"/>
                </a:cubicBezTo>
                <a:cubicBezTo>
                  <a:pt x="734414" y="-49167"/>
                  <a:pt x="858670" y="57767"/>
                  <a:pt x="1061603" y="0"/>
                </a:cubicBezTo>
                <a:cubicBezTo>
                  <a:pt x="1264536" y="-57767"/>
                  <a:pt x="1507434" y="26327"/>
                  <a:pt x="1694047" y="0"/>
                </a:cubicBezTo>
                <a:cubicBezTo>
                  <a:pt x="1700938" y="29595"/>
                  <a:pt x="1682016" y="59515"/>
                  <a:pt x="1694047" y="117909"/>
                </a:cubicBezTo>
                <a:cubicBezTo>
                  <a:pt x="1503012" y="138442"/>
                  <a:pt x="1365515" y="112085"/>
                  <a:pt x="1163246" y="117909"/>
                </a:cubicBezTo>
                <a:cubicBezTo>
                  <a:pt x="960977" y="123733"/>
                  <a:pt x="814142" y="64915"/>
                  <a:pt x="564682" y="117909"/>
                </a:cubicBezTo>
                <a:cubicBezTo>
                  <a:pt x="315222" y="170903"/>
                  <a:pt x="273342" y="99638"/>
                  <a:pt x="0" y="117909"/>
                </a:cubicBezTo>
                <a:cubicBezTo>
                  <a:pt x="-13544" y="63608"/>
                  <a:pt x="5843" y="41784"/>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682555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654A4-F33A-1F4F-67B8-EAE78BC8032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68E6989D-76DC-F83D-96D4-D771393CD23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6E6327C3-C4B8-50AD-6E44-4F978CC81B79}"/>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3" name="Oval 12">
            <a:extLst>
              <a:ext uri="{FF2B5EF4-FFF2-40B4-BE49-F238E27FC236}">
                <a16:creationId xmlns:a16="http://schemas.microsoft.com/office/drawing/2014/main" id="{25007A3D-C51F-5E41-CDFD-484D9738F863}"/>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2731EF35-9ACE-58C6-6FDB-EC71282C36A4}"/>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3091481E-9F18-B168-0DD7-FEDE66686DDC}"/>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7BD188EA-535B-F762-D608-57A1FC8F969D}"/>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721620B-142D-276F-A44A-CE8691F8B6B0}"/>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51EF488-4C64-1BEE-BDDA-6EBAEE1FE43F}"/>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554DCE3-E9F0-BF00-E067-E267284DBCBE}"/>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EDAA926F-CC80-18F7-7082-2595BC4B36B7}"/>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0E19B5A1-4986-5BC3-5E2F-1C963B063DE7}"/>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6A9EE674-CE92-8593-1AD0-74BE2CB2EF0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8624219-7642-B9D7-018A-764DB2B5E880}"/>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AD6F073F-3A8E-5335-161F-6A5C27405806}"/>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B07B0309-C2B8-2D75-5287-893285E2AFF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B9B90EE-7E87-93C8-27CB-10229AC8F351}"/>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99165118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5" grpId="0"/>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5CE7-98A2-0311-6AA8-A11B5E4B37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CC8C8F5-D8A1-DBCC-B00B-95CD04F4416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3" name="Oval 12">
            <a:extLst>
              <a:ext uri="{FF2B5EF4-FFF2-40B4-BE49-F238E27FC236}">
                <a16:creationId xmlns:a16="http://schemas.microsoft.com/office/drawing/2014/main" id="{27358102-0581-8BCA-D4C8-DF19150DA0C2}"/>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AFDA93B9-9B03-9E2C-200F-CE7D9411DBB6}"/>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A0D2AC53-3F7C-6BE7-7166-EC9E34E1091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CD5B325-F773-8A2F-DA74-F10B3388E23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75D591F2-D38B-06C6-65FD-3D29B37E921F}"/>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5565D34E-A53B-57B8-C6CC-13093239FFC7}"/>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EEC9B05-E240-0134-E1D5-9C86027C16BF}"/>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85C92DE1-06FD-448E-12AC-A24480D280FE}"/>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455F7256-643F-66BD-FD60-B27C9908101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2343AFE-73FD-C19F-D612-B1BD09072FB7}"/>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9FCFFFE-1293-B02A-567E-14FA28EA9108}"/>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ED8057D8-622C-3768-F2D8-5700BA7EE075}"/>
              </a:ext>
            </a:extLst>
          </p:cNvPr>
          <p:cNvSpPr/>
          <p:nvPr/>
        </p:nvSpPr>
        <p:spPr>
          <a:xfrm>
            <a:off x="2101156" y="2696941"/>
            <a:ext cx="1449646" cy="1316623"/>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1993619-9279-0F7F-A11D-789D38B834C5}"/>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5" name="Oval 4">
            <a:extLst>
              <a:ext uri="{FF2B5EF4-FFF2-40B4-BE49-F238E27FC236}">
                <a16:creationId xmlns:a16="http://schemas.microsoft.com/office/drawing/2014/main" id="{2422BF97-B3D1-E731-C381-BC43F9A2811D}"/>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6" name="Down Arrow 5">
            <a:extLst>
              <a:ext uri="{FF2B5EF4-FFF2-40B4-BE49-F238E27FC236}">
                <a16:creationId xmlns:a16="http://schemas.microsoft.com/office/drawing/2014/main" id="{0E6A3BF3-106B-3414-4B4F-22E358B4A023}"/>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F9A7702-1C5E-538E-9D32-7E435F44C3F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highlight>
                  <a:srgbClr val="FF0000"/>
                </a:highlight>
              </a:rPr>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33272462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56876-B893-AD8D-60E2-ADA2A6D1DA0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718C860-5D78-ADF4-D292-E365602B05B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131368BF-11F4-133D-2000-31CD5E24173A}"/>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E599DAEA-D1F8-9E73-3E0C-D19EBD7BFB6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8D6E30E1-0EFC-288D-CFDB-3D9B419890BE}"/>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8CCF9B2-AFF3-45BA-64FD-FB659B76B97D}"/>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99AE0AA6-B1D2-A851-42F5-B86A1017EE3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4FB92F4-E75C-4A17-F05E-2967E0B64EB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E3F7A29D-EE3A-EF60-4F23-70360919F069}"/>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2ADFB075-439C-6480-D63F-25E69A27B4B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777AC70-284F-7C5E-D695-BD4A7EB3A17D}"/>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F10313E-7B6D-D198-B789-6F89D99680E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2D57A98-2DE7-4CC6-2876-E8CB70790888}"/>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1ECA3F-0820-50C9-F75A-28077591D02E}"/>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6" name="Oval 5">
            <a:extLst>
              <a:ext uri="{FF2B5EF4-FFF2-40B4-BE49-F238E27FC236}">
                <a16:creationId xmlns:a16="http://schemas.microsoft.com/office/drawing/2014/main" id="{DEC2AA9B-357F-F14C-4CB7-0DEFD0566DE9}"/>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7" name="Down Arrow 6">
            <a:extLst>
              <a:ext uri="{FF2B5EF4-FFF2-40B4-BE49-F238E27FC236}">
                <a16:creationId xmlns:a16="http://schemas.microsoft.com/office/drawing/2014/main" id="{75226C25-726B-4F7F-C50A-5CE4F317DBC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603F8A3-A8D0-F029-25F7-85F02788F9B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highlight>
                  <a:srgbClr val="FF0000"/>
                </a:highlight>
              </a:rPr>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392005618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E44B4-645E-DC40-4D93-6C48DBE2411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8C881C3-1AA2-DDF4-2C5F-AC11BABD832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23E4789A-9BCE-809F-0A70-779451EE8251}"/>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4AB61277-FB39-F966-8E52-A2A448FA57D3}"/>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C2CC29A6-1067-409F-9A49-7E35E78F9675}"/>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7784A84-C715-D9EE-2DF9-0A71C7930BF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E6F50E20-BED2-A8C4-0EE6-3ED06235236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D360EBC5-F002-5411-E7EB-EAD8C469950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7E3FAEF4-E214-AA18-E12F-C9BBFCB2736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B4BAFAE3-4BE5-436E-859C-AE6554E509AB}"/>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9EAE323-EA2E-B963-C194-5F3814DDB71F}"/>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75689C-1C39-FD08-85E2-74B31EB8D4D5}"/>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0C9CA79B-2FF3-22F0-81A2-1E2A3AFDB9E5}"/>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1E2C747-B2CD-375D-8FA9-2A0DEBDC8243}"/>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ABA46EAD-9D19-4A1A-F895-B3A9170A1B4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32BD20C7-CBF1-4431-85F6-3F3624C2290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5D55983-306C-A04B-ECB0-66AF7FE52A2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highlight>
                  <a:srgbClr val="FF0000"/>
                </a:highlight>
              </a:rPr>
              <a:t>Repeat</a:t>
            </a:r>
          </a:p>
        </p:txBody>
      </p:sp>
    </p:spTree>
    <p:extLst>
      <p:ext uri="{BB962C8B-B14F-4D97-AF65-F5344CB8AC3E}">
        <p14:creationId xmlns:p14="http://schemas.microsoft.com/office/powerpoint/2010/main" val="137825622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6B8C1-A1C7-E0D2-C4B0-9D8BFA1784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4D676FB-0819-D93A-9DD1-4D2025A3A40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312D7D45-536F-6CB9-5C32-D069206B0700}"/>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B1F072ED-A628-5926-B4A1-1542A16C4491}"/>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F417404-E926-5A8F-7242-0E1C76BEC558}"/>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DFBFB66B-A2CF-0F18-BF4C-D8D6077E4AC9}"/>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1D7F556-98CD-CC18-C580-4062BC1A403C}"/>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9ED2B373-4333-145F-EC18-A74CB91788F0}"/>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0511C0F4-D82C-BBF3-669D-0E25735308F5}"/>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CFE42EA1-9407-BE00-2497-238223EF0BDC}"/>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5D8ACA85-7C13-D9F2-8B3F-D83F34511734}"/>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28F1050E-05D5-8701-3755-2724CF28E2DC}"/>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556302A-5067-CC9D-DD97-85F75867E12D}"/>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959396F-F035-11FF-5780-367F1DD5D40A}"/>
              </a:ext>
            </a:extLst>
          </p:cNvPr>
          <p:cNvSpPr/>
          <p:nvPr/>
        </p:nvSpPr>
        <p:spPr>
          <a:xfrm>
            <a:off x="3141064" y="2696148"/>
            <a:ext cx="3637281" cy="293309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02C5E5BA-B96C-E9F5-FEB0-0FD431CD117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E24067E8-1318-0FF4-F592-EC78D300E59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E3803C16-8E92-5B9D-374E-657C91AFFF4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74234C-8754-12CD-88DD-4E01A2B2FFAD}"/>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highlight>
                  <a:srgbClr val="FF0000"/>
                </a:highlight>
              </a:rPr>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323261540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B77BC-14A6-E89E-251F-B50F8374C2C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2EF7586-CBEF-8D92-D8B9-15AD2281E3A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1" name="Oval 20">
            <a:extLst>
              <a:ext uri="{FF2B5EF4-FFF2-40B4-BE49-F238E27FC236}">
                <a16:creationId xmlns:a16="http://schemas.microsoft.com/office/drawing/2014/main" id="{B84CBAB8-4442-3659-70FB-2024452112A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3" name="TextBox 2">
            <a:extLst>
              <a:ext uri="{FF2B5EF4-FFF2-40B4-BE49-F238E27FC236}">
                <a16:creationId xmlns:a16="http://schemas.microsoft.com/office/drawing/2014/main" id="{327980F3-D29F-67ED-1984-7C2FFD635F0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1166DC9B-F25D-36CC-C72D-87BB01E328E1}"/>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E1B10FF-B20B-D9D1-222B-5A80A3C72048}"/>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6127C3A-FF52-235A-332E-1796E6E166B9}"/>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TextBox 6">
            <a:extLst>
              <a:ext uri="{FF2B5EF4-FFF2-40B4-BE49-F238E27FC236}">
                <a16:creationId xmlns:a16="http://schemas.microsoft.com/office/drawing/2014/main" id="{F3E533C0-E6D0-D267-9360-9D02A12DC081}"/>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8" name="Oval 7">
            <a:extLst>
              <a:ext uri="{FF2B5EF4-FFF2-40B4-BE49-F238E27FC236}">
                <a16:creationId xmlns:a16="http://schemas.microsoft.com/office/drawing/2014/main" id="{EB0BE7FE-8396-49EF-BA65-EF0DC38513A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9" name="Down Arrow 8">
            <a:extLst>
              <a:ext uri="{FF2B5EF4-FFF2-40B4-BE49-F238E27FC236}">
                <a16:creationId xmlns:a16="http://schemas.microsoft.com/office/drawing/2014/main" id="{9F9FDA61-FB65-2265-7933-E05DBAC2903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6332B1C-7ADA-B00A-13C0-6FDC1BFD3AC9}"/>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highlight>
                  <a:srgbClr val="FF0000"/>
                </a:highlight>
              </a:rPr>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1272881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ED9BB-BF0E-3A6C-9285-8D57E34FA079}"/>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D21C1C5-DEAB-2D4A-22EB-B7CB84F8B801}"/>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DD86B1A1-FA68-D7D7-A48A-6D69E14EB141}"/>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9F8911C-2FC4-FCE7-BE1C-A3C08A8DD997}"/>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66D7896-4C49-946F-8D6B-30DB6EFDA3BD}"/>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9CB4233-81F4-1B2D-A71F-2022941B72DE}"/>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0764F8BB-A3A2-ECA4-C904-B33B75B8A85D}"/>
              </a:ext>
            </a:extLst>
          </p:cNvPr>
          <p:cNvSpPr/>
          <p:nvPr/>
        </p:nvSpPr>
        <p:spPr>
          <a:xfrm>
            <a:off x="4199463" y="5511221"/>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50598CF-741F-3A52-E6D5-8BF30B9F34B5}"/>
              </a:ext>
            </a:extLst>
          </p:cNvPr>
          <p:cNvSpPr txBox="1"/>
          <p:nvPr/>
        </p:nvSpPr>
        <p:spPr>
          <a:xfrm>
            <a:off x="4353673" y="5638202"/>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EEAC26A2-F0A7-B0F2-4572-DA3767223198}"/>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1" name="Oval 10">
            <a:extLst>
              <a:ext uri="{FF2B5EF4-FFF2-40B4-BE49-F238E27FC236}">
                <a16:creationId xmlns:a16="http://schemas.microsoft.com/office/drawing/2014/main" id="{9651BB2B-542C-CB12-1E66-D8F57E286B2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2" name="Down Arrow 11">
            <a:extLst>
              <a:ext uri="{FF2B5EF4-FFF2-40B4-BE49-F238E27FC236}">
                <a16:creationId xmlns:a16="http://schemas.microsoft.com/office/drawing/2014/main" id="{F691F9D3-BF96-3C2A-504E-8B0174CE6761}"/>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B5AC294-562D-95F9-EB3C-2A5610D30004}"/>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5215552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A698C-B08E-D425-A12D-FC67B30C40A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7801879-393E-E285-93CA-151F89EA8A25}"/>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682FE5C6-FB51-0F97-25D4-7218F4B9A7BC}"/>
              </a:ext>
            </a:extLst>
          </p:cNvPr>
          <p:cNvSpPr txBox="1"/>
          <p:nvPr/>
        </p:nvSpPr>
        <p:spPr>
          <a:xfrm>
            <a:off x="3627120" y="3729486"/>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0FE1F3D-9012-AC0D-5262-A9874A8EA6E2}"/>
              </a:ext>
            </a:extLst>
          </p:cNvPr>
          <p:cNvSpPr/>
          <p:nvPr/>
        </p:nvSpPr>
        <p:spPr>
          <a:xfrm>
            <a:off x="3467943" y="3540948"/>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C757572-A191-81C7-914A-F6893A33F09A}"/>
              </a:ext>
            </a:extLst>
          </p:cNvPr>
          <p:cNvSpPr/>
          <p:nvPr/>
        </p:nvSpPr>
        <p:spPr>
          <a:xfrm>
            <a:off x="4504262" y="3545450"/>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B288C5B-BE8F-6670-1706-9D04B06772BB}"/>
              </a:ext>
            </a:extLst>
          </p:cNvPr>
          <p:cNvSpPr txBox="1"/>
          <p:nvPr/>
        </p:nvSpPr>
        <p:spPr>
          <a:xfrm>
            <a:off x="4690170" y="3729486"/>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588325B6-BCB6-AD1F-D3B8-048F16D56FB3}"/>
              </a:ext>
            </a:extLst>
          </p:cNvPr>
          <p:cNvSpPr/>
          <p:nvPr/>
        </p:nvSpPr>
        <p:spPr>
          <a:xfrm>
            <a:off x="6363543" y="3540947"/>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29A48CF-D490-E2C4-C0D2-52DF2C49B768}"/>
              </a:ext>
            </a:extLst>
          </p:cNvPr>
          <p:cNvSpPr txBox="1"/>
          <p:nvPr/>
        </p:nvSpPr>
        <p:spPr>
          <a:xfrm>
            <a:off x="6837680" y="3820926"/>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EE99B8A5-4F5F-8647-9E24-0E991730765B}"/>
              </a:ext>
            </a:extLst>
          </p:cNvPr>
          <p:cNvSpPr txBox="1"/>
          <p:nvPr/>
        </p:nvSpPr>
        <p:spPr>
          <a:xfrm>
            <a:off x="6517753" y="3667928"/>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F3581AF8-5AC9-02AE-164B-F7F15CB1D573}"/>
              </a:ext>
            </a:extLst>
          </p:cNvPr>
          <p:cNvSpPr txBox="1"/>
          <p:nvPr/>
        </p:nvSpPr>
        <p:spPr>
          <a:xfrm>
            <a:off x="4152103" y="4761342"/>
            <a:ext cx="2137701" cy="523220"/>
          </a:xfrm>
          <a:prstGeom prst="rect">
            <a:avLst/>
          </a:prstGeom>
          <a:noFill/>
        </p:spPr>
        <p:txBody>
          <a:bodyPr wrap="none" rtlCol="0">
            <a:spAutoFit/>
          </a:bodyPr>
          <a:lstStyle/>
          <a:p>
            <a:r>
              <a:rPr lang="en-US" sz="2800" dirty="0"/>
              <a:t>Partial Order</a:t>
            </a:r>
          </a:p>
        </p:txBody>
      </p:sp>
      <p:sp>
        <p:nvSpPr>
          <p:cNvPr id="11" name="TextBox 10">
            <a:extLst>
              <a:ext uri="{FF2B5EF4-FFF2-40B4-BE49-F238E27FC236}">
                <a16:creationId xmlns:a16="http://schemas.microsoft.com/office/drawing/2014/main" id="{F6CB34BF-5ACD-74D0-D4D7-63270535D12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2" name="Oval 11">
            <a:extLst>
              <a:ext uri="{FF2B5EF4-FFF2-40B4-BE49-F238E27FC236}">
                <a16:creationId xmlns:a16="http://schemas.microsoft.com/office/drawing/2014/main" id="{2DCDDD90-463A-22B6-4B74-99E7990D212F}"/>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3" name="Down Arrow 12">
            <a:extLst>
              <a:ext uri="{FF2B5EF4-FFF2-40B4-BE49-F238E27FC236}">
                <a16:creationId xmlns:a16="http://schemas.microsoft.com/office/drawing/2014/main" id="{D7EB0A2F-A48E-FB06-77CF-FED54B2EF5E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744456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8136971" cy="461665"/>
          </a:xfrm>
          <a:prstGeom prst="rect">
            <a:avLst/>
          </a:prstGeom>
          <a:noFill/>
          <a:ln>
            <a:solidFill>
              <a:srgbClr val="7030A0"/>
            </a:solidFill>
          </a:ln>
        </p:spPr>
        <p:txBody>
          <a:bodyPr wrap="none" rtlCol="0">
            <a:spAutoFit/>
          </a:bodyPr>
          <a:lstStyle/>
          <a:p>
            <a:r>
              <a:rPr lang="en-US" sz="2400" dirty="0"/>
              <a:t>Find the smallest timestamp </a:t>
            </a:r>
            <a:r>
              <a:rPr lang="en-US" sz="2400" dirty="0">
                <a:solidFill>
                  <a:schemeClr val="accent6"/>
                </a:solidFill>
              </a:rPr>
              <a:t>T’</a:t>
            </a:r>
            <a:r>
              <a:rPr lang="en-US" sz="2400" dirty="0"/>
              <a:t> for which P(</a:t>
            </a:r>
            <a:r>
              <a:rPr lang="en-US" sz="2400" dirty="0">
                <a:solidFill>
                  <a:srgbClr val="FF0000"/>
                </a:solidFill>
              </a:rPr>
              <a:t>T</a:t>
            </a:r>
            <a:r>
              <a:rPr lang="en-US" sz="2400" dirty="0"/>
              <a:t> &lt; </a:t>
            </a:r>
            <a:r>
              <a:rPr lang="en-US" sz="2400" dirty="0">
                <a:solidFill>
                  <a:srgbClr val="FF0000"/>
                </a:solidFill>
              </a:rPr>
              <a:t>T’</a:t>
            </a:r>
            <a:r>
              <a:rPr lang="en-US" sz="2400" dirty="0"/>
              <a:t>)</a:t>
            </a:r>
            <a:r>
              <a:rPr lang="en-US" sz="2400" dirty="0">
                <a:solidFill>
                  <a:srgbClr val="FF0000"/>
                </a:solidFill>
              </a:rPr>
              <a:t> </a:t>
            </a:r>
            <a:r>
              <a:rPr lang="en-US" sz="2400" dirty="0"/>
              <a:t>is very high</a:t>
            </a:r>
          </a:p>
        </p:txBody>
      </p:sp>
      <p:sp>
        <p:nvSpPr>
          <p:cNvPr id="11" name="TextBox 10">
            <a:extLst>
              <a:ext uri="{FF2B5EF4-FFF2-40B4-BE49-F238E27FC236}">
                <a16:creationId xmlns:a16="http://schemas.microsoft.com/office/drawing/2014/main" id="{AEDEC7F6-CF5E-3398-42C9-557382ECD3B4}"/>
              </a:ext>
            </a:extLst>
          </p:cNvPr>
          <p:cNvSpPr txBox="1"/>
          <p:nvPr/>
        </p:nvSpPr>
        <p:spPr>
          <a:xfrm>
            <a:off x="1924638" y="5771343"/>
            <a:ext cx="9144235" cy="461665"/>
          </a:xfrm>
          <a:prstGeom prst="rect">
            <a:avLst/>
          </a:prstGeom>
          <a:noFill/>
          <a:ln>
            <a:solidFill>
              <a:srgbClr val="7030A0"/>
            </a:solidFill>
          </a:ln>
        </p:spPr>
        <p:txBody>
          <a:bodyPr wrap="none" rtlCol="0">
            <a:spAutoFit/>
          </a:bodyPr>
          <a:lstStyle/>
          <a:p>
            <a:r>
              <a:rPr lang="en-US" sz="2400" dirty="0"/>
              <a:t>i.e., </a:t>
            </a:r>
            <a:r>
              <a:rPr lang="en-US" sz="2400" dirty="0">
                <a:solidFill>
                  <a:schemeClr val="accent6"/>
                </a:solidFill>
              </a:rPr>
              <a:t>T’</a:t>
            </a:r>
            <a:r>
              <a:rPr lang="en-US" sz="2400" dirty="0"/>
              <a:t> and any timestamp greater than </a:t>
            </a:r>
            <a:r>
              <a:rPr lang="en-US" sz="2400" dirty="0">
                <a:solidFill>
                  <a:schemeClr val="accent6"/>
                </a:solidFill>
              </a:rPr>
              <a:t>T’</a:t>
            </a:r>
            <a:r>
              <a:rPr lang="en-US" sz="2400" dirty="0"/>
              <a:t> will likely be ordered after </a:t>
            </a:r>
            <a:r>
              <a:rPr lang="en-US" sz="2400" dirty="0">
                <a:solidFill>
                  <a:schemeClr val="accent6"/>
                </a:solidFill>
              </a:rPr>
              <a:t>T</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11" grpId="0" animBg="1"/>
    </p:bldLst>
  </p:timing>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1+#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1+#ppt_w/2"/>
                                          </p:val>
                                        </p:tav>
                                        <p:tav tm="100000">
                                          <p:val>
                                            <p:strVal val="#ppt_x"/>
                                          </p:val>
                                        </p:tav>
                                      </p:tavLst>
                                    </p:anim>
                                    <p:anim calcmode="lin" valueType="num">
                                      <p:cBhvr additive="base">
                                        <p:cTn id="18"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6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3"/>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19" name="TextBox 18">
            <a:extLst>
              <a:ext uri="{FF2B5EF4-FFF2-40B4-BE49-F238E27FC236}">
                <a16:creationId xmlns:a16="http://schemas.microsoft.com/office/drawing/2014/main" id="{D43C520E-18E1-7472-E65A-7B29056892F5}"/>
              </a:ext>
            </a:extLst>
          </p:cNvPr>
          <p:cNvSpPr txBox="1"/>
          <p:nvPr/>
        </p:nvSpPr>
        <p:spPr>
          <a:xfrm>
            <a:off x="1981200" y="3627120"/>
            <a:ext cx="5852160" cy="954107"/>
          </a:xfrm>
          <a:prstGeom prst="rect">
            <a:avLst/>
          </a:prstGeom>
          <a:solidFill>
            <a:srgbClr val="FF0000"/>
          </a:solidFill>
        </p:spPr>
        <p:txBody>
          <a:bodyPr wrap="square" rtlCol="0">
            <a:spAutoFit/>
          </a:bodyPr>
          <a:lstStyle/>
          <a:p>
            <a:pPr marL="342900" indent="-342900">
              <a:buFont typeface="Arial" panose="020B0604020202020204" pitchFamily="34" charset="0"/>
              <a:buChar char="•"/>
            </a:pPr>
            <a:r>
              <a:rPr lang="en-US" sz="2800" dirty="0">
                <a:solidFill>
                  <a:schemeClr val="bg1"/>
                </a:solidFill>
              </a:rPr>
              <a:t>Quadratic time complexity for computing the pairwise probability</a:t>
            </a:r>
          </a:p>
        </p:txBody>
      </p:sp>
      <p:sp>
        <p:nvSpPr>
          <p:cNvPr id="4" name="TextBox 3">
            <a:extLst>
              <a:ext uri="{FF2B5EF4-FFF2-40B4-BE49-F238E27FC236}">
                <a16:creationId xmlns:a16="http://schemas.microsoft.com/office/drawing/2014/main" id="{4030B866-16BA-6FE5-2094-BA3641796418}"/>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6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A5AF48-C538-FCAB-8697-CCD5DDFF89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FA459-4C61-65A0-DD22-F45E95A22419}"/>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2799420D-0F5C-0F2B-18F7-53397028F398}"/>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1FA8D68-4BB7-DF32-8925-8BCDB84FCBD0}"/>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their difference will always fall in a relatively small range</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C5782940-89CB-C60F-03C7-A38B021AE4C4}"/>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4" name="TextBox 3">
                <a:extLst>
                  <a:ext uri="{FF2B5EF4-FFF2-40B4-BE49-F238E27FC236}">
                    <a16:creationId xmlns:a16="http://schemas.microsoft.com/office/drawing/2014/main" id="{C5782940-89CB-C60F-03C7-A38B021AE4C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5" name="TextBox 4">
            <a:extLst>
              <a:ext uri="{FF2B5EF4-FFF2-40B4-BE49-F238E27FC236}">
                <a16:creationId xmlns:a16="http://schemas.microsoft.com/office/drawing/2014/main" id="{F831CBAF-964E-14A0-AACC-610B4079948B}"/>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38130624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6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9E0D226-63F4-2375-5259-AE6A7A3C31F8}"/>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5" name="TextBox 4">
                <a:extLst>
                  <a:ext uri="{FF2B5EF4-FFF2-40B4-BE49-F238E27FC236}">
                    <a16:creationId xmlns:a16="http://schemas.microsoft.com/office/drawing/2014/main" id="{E9E0D226-63F4-2375-5259-AE6A7A3C31F8}"/>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7" name="TextBox 6">
            <a:extLst>
              <a:ext uri="{FF2B5EF4-FFF2-40B4-BE49-F238E27FC236}">
                <a16:creationId xmlns:a16="http://schemas.microsoft.com/office/drawing/2014/main" id="{32FA8AA9-94B6-5EB5-1737-80E6E9F03C63}"/>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Lst>
  </p:timing>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C9CCD-0F55-4384-8AE3-75EB02B026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DC4118-87A2-BCAF-7D9A-07A273561C32}"/>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8599AD4D-A439-2368-7EDD-618EB1E803B0}"/>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
        <p:nvSpPr>
          <p:cNvPr id="3" name="Can 2">
            <a:extLst>
              <a:ext uri="{FF2B5EF4-FFF2-40B4-BE49-F238E27FC236}">
                <a16:creationId xmlns:a16="http://schemas.microsoft.com/office/drawing/2014/main" id="{8538C34A-2C2F-C1E7-45D1-D48A726DE4EA}"/>
              </a:ext>
            </a:extLst>
          </p:cNvPr>
          <p:cNvSpPr/>
          <p:nvPr/>
        </p:nvSpPr>
        <p:spPr>
          <a:xfrm>
            <a:off x="2030931" y="3166988"/>
            <a:ext cx="1241659" cy="524023"/>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Server</a:t>
            </a:r>
          </a:p>
        </p:txBody>
      </p:sp>
      <p:sp>
        <p:nvSpPr>
          <p:cNvPr id="5" name="Oval 4">
            <a:extLst>
              <a:ext uri="{FF2B5EF4-FFF2-40B4-BE49-F238E27FC236}">
                <a16:creationId xmlns:a16="http://schemas.microsoft.com/office/drawing/2014/main" id="{A75E3BB4-85A6-CB92-ADB1-E71DC21894CB}"/>
              </a:ext>
            </a:extLst>
          </p:cNvPr>
          <p:cNvSpPr/>
          <p:nvPr/>
        </p:nvSpPr>
        <p:spPr>
          <a:xfrm>
            <a:off x="1578543"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D7565FEF-418B-DB0E-8444-ACF73C19B521}"/>
              </a:ext>
            </a:extLst>
          </p:cNvPr>
          <p:cNvSpPr/>
          <p:nvPr/>
        </p:nvSpPr>
        <p:spPr>
          <a:xfrm>
            <a:off x="2141621"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0DBC1B18-1D70-C1E1-3C90-E0C307510573}"/>
              </a:ext>
            </a:extLst>
          </p:cNvPr>
          <p:cNvSpPr/>
          <p:nvPr/>
        </p:nvSpPr>
        <p:spPr>
          <a:xfrm>
            <a:off x="2743200"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C2D31292-2539-E5D4-1D3C-821AB8F80A5E}"/>
              </a:ext>
            </a:extLst>
          </p:cNvPr>
          <p:cNvSpPr/>
          <p:nvPr/>
        </p:nvSpPr>
        <p:spPr>
          <a:xfrm>
            <a:off x="3344779"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B87672-136A-427C-C35C-C0FC894E0344}"/>
              </a:ext>
            </a:extLst>
          </p:cNvPr>
          <p:cNvSpPr txBox="1"/>
          <p:nvPr/>
        </p:nvSpPr>
        <p:spPr>
          <a:xfrm>
            <a:off x="2296250" y="4774131"/>
            <a:ext cx="893899" cy="369332"/>
          </a:xfrm>
          <a:prstGeom prst="rect">
            <a:avLst/>
          </a:prstGeom>
          <a:noFill/>
        </p:spPr>
        <p:txBody>
          <a:bodyPr wrap="none" rtlCol="0">
            <a:spAutoFit/>
          </a:bodyPr>
          <a:lstStyle/>
          <a:p>
            <a:r>
              <a:rPr lang="en-US" dirty="0"/>
              <a:t>Clients</a:t>
            </a:r>
          </a:p>
        </p:txBody>
      </p:sp>
      <p:pic>
        <p:nvPicPr>
          <p:cNvPr id="11" name="Graphic 10" descr="Alarm clock outline">
            <a:extLst>
              <a:ext uri="{FF2B5EF4-FFF2-40B4-BE49-F238E27FC236}">
                <a16:creationId xmlns:a16="http://schemas.microsoft.com/office/drawing/2014/main" id="{313BA8E7-249E-D670-E5DA-C8AB9257EA2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296250" y="2842489"/>
            <a:ext cx="628048" cy="628048"/>
          </a:xfrm>
          <a:prstGeom prst="rect">
            <a:avLst/>
          </a:prstGeom>
        </p:spPr>
      </p:pic>
      <p:pic>
        <p:nvPicPr>
          <p:cNvPr id="12" name="Graphic 11" descr="Alarm clock outline">
            <a:extLst>
              <a:ext uri="{FF2B5EF4-FFF2-40B4-BE49-F238E27FC236}">
                <a16:creationId xmlns:a16="http://schemas.microsoft.com/office/drawing/2014/main" id="{4D04F87F-3A44-574B-F241-EFAE9601125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570206" y="3964491"/>
            <a:ext cx="499226" cy="499226"/>
          </a:xfrm>
          <a:prstGeom prst="rect">
            <a:avLst/>
          </a:prstGeom>
        </p:spPr>
      </p:pic>
      <p:sp>
        <p:nvSpPr>
          <p:cNvPr id="17" name="Right Arrow 16">
            <a:extLst>
              <a:ext uri="{FF2B5EF4-FFF2-40B4-BE49-F238E27FC236}">
                <a16:creationId xmlns:a16="http://schemas.microsoft.com/office/drawing/2014/main" id="{A6F09AAA-DBEB-092C-17A7-34957865742E}"/>
              </a:ext>
            </a:extLst>
          </p:cNvPr>
          <p:cNvSpPr/>
          <p:nvPr/>
        </p:nvSpPr>
        <p:spPr>
          <a:xfrm rot="17901766">
            <a:off x="1856552" y="3862876"/>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ight Arrow 17">
            <a:extLst>
              <a:ext uri="{FF2B5EF4-FFF2-40B4-BE49-F238E27FC236}">
                <a16:creationId xmlns:a16="http://schemas.microsoft.com/office/drawing/2014/main" id="{BCF4C024-1983-DCF4-4843-E48FBF1B7B88}"/>
              </a:ext>
            </a:extLst>
          </p:cNvPr>
          <p:cNvSpPr/>
          <p:nvPr/>
        </p:nvSpPr>
        <p:spPr>
          <a:xfrm rot="14838417">
            <a:off x="2972437" y="3850574"/>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ight Arrow 18">
            <a:extLst>
              <a:ext uri="{FF2B5EF4-FFF2-40B4-BE49-F238E27FC236}">
                <a16:creationId xmlns:a16="http://schemas.microsoft.com/office/drawing/2014/main" id="{2D8A947F-2A62-8509-7217-21E26DB51DCB}"/>
              </a:ext>
            </a:extLst>
          </p:cNvPr>
          <p:cNvSpPr/>
          <p:nvPr/>
        </p:nvSpPr>
        <p:spPr>
          <a:xfrm rot="16853916">
            <a:off x="2228752" y="3884395"/>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3716D3D9-6F4F-DE83-A26F-6CB3D13E25A7}"/>
              </a:ext>
            </a:extLst>
          </p:cNvPr>
          <p:cNvSpPr/>
          <p:nvPr/>
        </p:nvSpPr>
        <p:spPr>
          <a:xfrm rot="15218196">
            <a:off x="2652922" y="3870173"/>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descr="Alarm clock outline">
            <a:extLst>
              <a:ext uri="{FF2B5EF4-FFF2-40B4-BE49-F238E27FC236}">
                <a16:creationId xmlns:a16="http://schemas.microsoft.com/office/drawing/2014/main" id="{06D8CEA4-0276-D34C-3324-F39D1A3C8A0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334194" y="3968188"/>
            <a:ext cx="499226" cy="499226"/>
          </a:xfrm>
          <a:prstGeom prst="rect">
            <a:avLst/>
          </a:prstGeom>
        </p:spPr>
      </p:pic>
      <p:pic>
        <p:nvPicPr>
          <p:cNvPr id="15" name="Graphic 14" descr="Alarm clock outline">
            <a:extLst>
              <a:ext uri="{FF2B5EF4-FFF2-40B4-BE49-F238E27FC236}">
                <a16:creationId xmlns:a16="http://schemas.microsoft.com/office/drawing/2014/main" id="{479D49E6-94FB-916C-70DD-8B1B4B64D23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22345" y="3959680"/>
            <a:ext cx="499226" cy="499226"/>
          </a:xfrm>
          <a:prstGeom prst="rect">
            <a:avLst/>
          </a:prstGeom>
        </p:spPr>
      </p:pic>
      <p:pic>
        <p:nvPicPr>
          <p:cNvPr id="16" name="Graphic 15" descr="Alarm clock outline">
            <a:extLst>
              <a:ext uri="{FF2B5EF4-FFF2-40B4-BE49-F238E27FC236}">
                <a16:creationId xmlns:a16="http://schemas.microsoft.com/office/drawing/2014/main" id="{688DD1FF-2192-70AC-028C-ECC4A80707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82370" y="3959680"/>
            <a:ext cx="499226" cy="499226"/>
          </a:xfrm>
          <a:prstGeom prst="rect">
            <a:avLst/>
          </a:prstGeom>
        </p:spPr>
      </p:pic>
      <p:sp>
        <p:nvSpPr>
          <p:cNvPr id="21" name="Freeform 20">
            <a:extLst>
              <a:ext uri="{FF2B5EF4-FFF2-40B4-BE49-F238E27FC236}">
                <a16:creationId xmlns:a16="http://schemas.microsoft.com/office/drawing/2014/main" id="{F831BC3D-9A6A-2D56-6AEA-DDC1CF29F336}"/>
              </a:ext>
            </a:extLst>
          </p:cNvPr>
          <p:cNvSpPr/>
          <p:nvPr/>
        </p:nvSpPr>
        <p:spPr>
          <a:xfrm>
            <a:off x="3395758" y="3413969"/>
            <a:ext cx="2172900" cy="524023"/>
          </a:xfrm>
          <a:custGeom>
            <a:avLst/>
            <a:gdLst>
              <a:gd name="csX0" fmla="*/ 1973179 w 1973179"/>
              <a:gd name="csY0" fmla="*/ 154079 h 702719"/>
              <a:gd name="csX1" fmla="*/ 1915427 w 1973179"/>
              <a:gd name="csY1" fmla="*/ 134829 h 702719"/>
              <a:gd name="csX2" fmla="*/ 1876926 w 1973179"/>
              <a:gd name="csY2" fmla="*/ 115578 h 702719"/>
              <a:gd name="csX3" fmla="*/ 1848051 w 1973179"/>
              <a:gd name="csY3" fmla="*/ 96328 h 702719"/>
              <a:gd name="csX4" fmla="*/ 1809550 w 1973179"/>
              <a:gd name="csY4" fmla="*/ 86702 h 702719"/>
              <a:gd name="csX5" fmla="*/ 1742173 w 1973179"/>
              <a:gd name="csY5" fmla="*/ 48201 h 702719"/>
              <a:gd name="csX6" fmla="*/ 1694046 w 1973179"/>
              <a:gd name="csY6" fmla="*/ 38576 h 702719"/>
              <a:gd name="csX7" fmla="*/ 1655545 w 1973179"/>
              <a:gd name="csY7" fmla="*/ 28951 h 702719"/>
              <a:gd name="csX8" fmla="*/ 1511166 w 1973179"/>
              <a:gd name="csY8" fmla="*/ 75 h 702719"/>
              <a:gd name="csX9" fmla="*/ 1289785 w 1973179"/>
              <a:gd name="csY9" fmla="*/ 38576 h 702719"/>
              <a:gd name="csX10" fmla="*/ 1232034 w 1973179"/>
              <a:gd name="csY10" fmla="*/ 105953 h 702719"/>
              <a:gd name="csX11" fmla="*/ 1164657 w 1973179"/>
              <a:gd name="csY11" fmla="*/ 231081 h 702719"/>
              <a:gd name="csX12" fmla="*/ 1155032 w 1973179"/>
              <a:gd name="csY12" fmla="*/ 269582 h 702719"/>
              <a:gd name="csX13" fmla="*/ 1174282 w 1973179"/>
              <a:gd name="csY13" fmla="*/ 577591 h 702719"/>
              <a:gd name="csX14" fmla="*/ 1232034 w 1973179"/>
              <a:gd name="csY14" fmla="*/ 654593 h 702719"/>
              <a:gd name="csX15" fmla="*/ 1260910 w 1973179"/>
              <a:gd name="csY15" fmla="*/ 683469 h 702719"/>
              <a:gd name="csX16" fmla="*/ 1318661 w 1973179"/>
              <a:gd name="csY16" fmla="*/ 702719 h 702719"/>
              <a:gd name="csX17" fmla="*/ 1395663 w 1973179"/>
              <a:gd name="csY17" fmla="*/ 683469 h 702719"/>
              <a:gd name="csX18" fmla="*/ 1453415 w 1973179"/>
              <a:gd name="csY18" fmla="*/ 587216 h 702719"/>
              <a:gd name="csX19" fmla="*/ 1453415 w 1973179"/>
              <a:gd name="csY19" fmla="*/ 336959 h 702719"/>
              <a:gd name="csX20" fmla="*/ 1395663 w 1973179"/>
              <a:gd name="csY20" fmla="*/ 269582 h 702719"/>
              <a:gd name="csX21" fmla="*/ 1366787 w 1973179"/>
              <a:gd name="csY21" fmla="*/ 240707 h 702719"/>
              <a:gd name="csX22" fmla="*/ 1280160 w 1973179"/>
              <a:gd name="csY22" fmla="*/ 173330 h 702719"/>
              <a:gd name="csX23" fmla="*/ 1193533 w 1973179"/>
              <a:gd name="csY23" fmla="*/ 134829 h 702719"/>
              <a:gd name="csX24" fmla="*/ 1145406 w 1973179"/>
              <a:gd name="csY24" fmla="*/ 125203 h 702719"/>
              <a:gd name="csX25" fmla="*/ 1106905 w 1973179"/>
              <a:gd name="csY25" fmla="*/ 115578 h 702719"/>
              <a:gd name="csX26" fmla="*/ 904775 w 1973179"/>
              <a:gd name="csY26" fmla="*/ 125203 h 702719"/>
              <a:gd name="csX27" fmla="*/ 837398 w 1973179"/>
              <a:gd name="csY27" fmla="*/ 163704 h 702719"/>
              <a:gd name="csX28" fmla="*/ 693019 w 1973179"/>
              <a:gd name="csY28" fmla="*/ 250332 h 702719"/>
              <a:gd name="csX29" fmla="*/ 664143 w 1973179"/>
              <a:gd name="csY29" fmla="*/ 269582 h 702719"/>
              <a:gd name="csX30" fmla="*/ 529390 w 1973179"/>
              <a:gd name="csY30" fmla="*/ 385086 h 702719"/>
              <a:gd name="csX31" fmla="*/ 490889 w 1973179"/>
              <a:gd name="csY31" fmla="*/ 433212 h 702719"/>
              <a:gd name="csX32" fmla="*/ 394636 w 1973179"/>
              <a:gd name="csY32" fmla="*/ 510214 h 702719"/>
              <a:gd name="csX33" fmla="*/ 336884 w 1973179"/>
              <a:gd name="csY33" fmla="*/ 529464 h 702719"/>
              <a:gd name="csX34" fmla="*/ 298383 w 1973179"/>
              <a:gd name="csY34" fmla="*/ 558340 h 702719"/>
              <a:gd name="csX35" fmla="*/ 269507 w 1973179"/>
              <a:gd name="csY35" fmla="*/ 567966 h 702719"/>
              <a:gd name="csX36" fmla="*/ 202131 w 1973179"/>
              <a:gd name="csY36" fmla="*/ 587216 h 702719"/>
              <a:gd name="csX37" fmla="*/ 38501 w 1973179"/>
              <a:gd name="csY37" fmla="*/ 577591 h 702719"/>
              <a:gd name="csX38" fmla="*/ 57752 w 1973179"/>
              <a:gd name="csY38" fmla="*/ 606467 h 702719"/>
              <a:gd name="csX39" fmla="*/ 115503 w 1973179"/>
              <a:gd name="csY39" fmla="*/ 664218 h 702719"/>
              <a:gd name="csX40" fmla="*/ 105878 w 1973179"/>
              <a:gd name="csY40" fmla="*/ 664218 h 702719"/>
              <a:gd name="csX41" fmla="*/ 77002 w 1973179"/>
              <a:gd name="csY41" fmla="*/ 644968 h 702719"/>
              <a:gd name="csX42" fmla="*/ 48126 w 1973179"/>
              <a:gd name="csY42" fmla="*/ 606467 h 702719"/>
              <a:gd name="csX43" fmla="*/ 28876 w 1973179"/>
              <a:gd name="csY43" fmla="*/ 577591 h 702719"/>
              <a:gd name="csX44" fmla="*/ 0 w 1973179"/>
              <a:gd name="csY44" fmla="*/ 548715 h 702719"/>
              <a:gd name="csX45" fmla="*/ 28876 w 1973179"/>
              <a:gd name="csY45" fmla="*/ 519839 h 702719"/>
              <a:gd name="csX46" fmla="*/ 105878 w 1973179"/>
              <a:gd name="csY46" fmla="*/ 481338 h 702719"/>
              <a:gd name="csX47" fmla="*/ 182880 w 1973179"/>
              <a:gd name="csY47" fmla="*/ 413961 h 702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1973179" h="702719">
                <a:moveTo>
                  <a:pt x="1973179" y="154079"/>
                </a:moveTo>
                <a:cubicBezTo>
                  <a:pt x="1953928" y="147662"/>
                  <a:pt x="1934268" y="142365"/>
                  <a:pt x="1915427" y="134829"/>
                </a:cubicBezTo>
                <a:cubicBezTo>
                  <a:pt x="1902105" y="129500"/>
                  <a:pt x="1889384" y="122697"/>
                  <a:pt x="1876926" y="115578"/>
                </a:cubicBezTo>
                <a:cubicBezTo>
                  <a:pt x="1866882" y="109839"/>
                  <a:pt x="1858683" y="100885"/>
                  <a:pt x="1848051" y="96328"/>
                </a:cubicBezTo>
                <a:cubicBezTo>
                  <a:pt x="1835892" y="91117"/>
                  <a:pt x="1822384" y="89911"/>
                  <a:pt x="1809550" y="86702"/>
                </a:cubicBezTo>
                <a:cubicBezTo>
                  <a:pt x="1787091" y="73868"/>
                  <a:pt x="1766050" y="58150"/>
                  <a:pt x="1742173" y="48201"/>
                </a:cubicBezTo>
                <a:cubicBezTo>
                  <a:pt x="1727071" y="41909"/>
                  <a:pt x="1710016" y="42125"/>
                  <a:pt x="1694046" y="38576"/>
                </a:cubicBezTo>
                <a:cubicBezTo>
                  <a:pt x="1681132" y="35706"/>
                  <a:pt x="1668490" y="31676"/>
                  <a:pt x="1655545" y="28951"/>
                </a:cubicBezTo>
                <a:cubicBezTo>
                  <a:pt x="1607518" y="18840"/>
                  <a:pt x="1511166" y="75"/>
                  <a:pt x="1511166" y="75"/>
                </a:cubicBezTo>
                <a:cubicBezTo>
                  <a:pt x="1477571" y="3435"/>
                  <a:pt x="1341749" y="-13388"/>
                  <a:pt x="1289785" y="38576"/>
                </a:cubicBezTo>
                <a:cubicBezTo>
                  <a:pt x="1268869" y="59492"/>
                  <a:pt x="1248155" y="81152"/>
                  <a:pt x="1232034" y="105953"/>
                </a:cubicBezTo>
                <a:cubicBezTo>
                  <a:pt x="1206217" y="145671"/>
                  <a:pt x="1164657" y="231081"/>
                  <a:pt x="1164657" y="231081"/>
                </a:cubicBezTo>
                <a:cubicBezTo>
                  <a:pt x="1161449" y="243915"/>
                  <a:pt x="1156903" y="256486"/>
                  <a:pt x="1155032" y="269582"/>
                </a:cubicBezTo>
                <a:cubicBezTo>
                  <a:pt x="1139288" y="379789"/>
                  <a:pt x="1138904" y="459666"/>
                  <a:pt x="1174282" y="577591"/>
                </a:cubicBezTo>
                <a:cubicBezTo>
                  <a:pt x="1183501" y="608322"/>
                  <a:pt x="1211717" y="629761"/>
                  <a:pt x="1232034" y="654593"/>
                </a:cubicBezTo>
                <a:cubicBezTo>
                  <a:pt x="1240654" y="665128"/>
                  <a:pt x="1249011" y="676858"/>
                  <a:pt x="1260910" y="683469"/>
                </a:cubicBezTo>
                <a:cubicBezTo>
                  <a:pt x="1278648" y="693323"/>
                  <a:pt x="1318661" y="702719"/>
                  <a:pt x="1318661" y="702719"/>
                </a:cubicBezTo>
                <a:cubicBezTo>
                  <a:pt x="1344328" y="696302"/>
                  <a:pt x="1373649" y="698145"/>
                  <a:pt x="1395663" y="683469"/>
                </a:cubicBezTo>
                <a:cubicBezTo>
                  <a:pt x="1413084" y="671855"/>
                  <a:pt x="1441826" y="610393"/>
                  <a:pt x="1453415" y="587216"/>
                </a:cubicBezTo>
                <a:cubicBezTo>
                  <a:pt x="1473087" y="488854"/>
                  <a:pt x="1476936" y="489843"/>
                  <a:pt x="1453415" y="336959"/>
                </a:cubicBezTo>
                <a:cubicBezTo>
                  <a:pt x="1446180" y="289930"/>
                  <a:pt x="1423043" y="292398"/>
                  <a:pt x="1395663" y="269582"/>
                </a:cubicBezTo>
                <a:cubicBezTo>
                  <a:pt x="1385206" y="260868"/>
                  <a:pt x="1376961" y="249750"/>
                  <a:pt x="1366787" y="240707"/>
                </a:cubicBezTo>
                <a:cubicBezTo>
                  <a:pt x="1344114" y="220553"/>
                  <a:pt x="1309590" y="190147"/>
                  <a:pt x="1280160" y="173330"/>
                </a:cubicBezTo>
                <a:cubicBezTo>
                  <a:pt x="1259200" y="161353"/>
                  <a:pt x="1215251" y="141344"/>
                  <a:pt x="1193533" y="134829"/>
                </a:cubicBezTo>
                <a:cubicBezTo>
                  <a:pt x="1177863" y="130128"/>
                  <a:pt x="1161376" y="128752"/>
                  <a:pt x="1145406" y="125203"/>
                </a:cubicBezTo>
                <a:cubicBezTo>
                  <a:pt x="1132492" y="122333"/>
                  <a:pt x="1119739" y="118786"/>
                  <a:pt x="1106905" y="115578"/>
                </a:cubicBezTo>
                <a:cubicBezTo>
                  <a:pt x="1039528" y="118786"/>
                  <a:pt x="971748" y="117166"/>
                  <a:pt x="904775" y="125203"/>
                </a:cubicBezTo>
                <a:cubicBezTo>
                  <a:pt x="885634" y="127500"/>
                  <a:pt x="854263" y="154335"/>
                  <a:pt x="837398" y="163704"/>
                </a:cubicBezTo>
                <a:cubicBezTo>
                  <a:pt x="704214" y="237694"/>
                  <a:pt x="869133" y="132923"/>
                  <a:pt x="693019" y="250332"/>
                </a:cubicBezTo>
                <a:cubicBezTo>
                  <a:pt x="683394" y="256749"/>
                  <a:pt x="672926" y="262054"/>
                  <a:pt x="664143" y="269582"/>
                </a:cubicBezTo>
                <a:cubicBezTo>
                  <a:pt x="619225" y="308083"/>
                  <a:pt x="566347" y="338890"/>
                  <a:pt x="529390" y="385086"/>
                </a:cubicBezTo>
                <a:cubicBezTo>
                  <a:pt x="516556" y="401128"/>
                  <a:pt x="504538" y="417857"/>
                  <a:pt x="490889" y="433212"/>
                </a:cubicBezTo>
                <a:cubicBezTo>
                  <a:pt x="462242" y="465439"/>
                  <a:pt x="434072" y="490496"/>
                  <a:pt x="394636" y="510214"/>
                </a:cubicBezTo>
                <a:cubicBezTo>
                  <a:pt x="376486" y="519289"/>
                  <a:pt x="356135" y="523047"/>
                  <a:pt x="336884" y="529464"/>
                </a:cubicBezTo>
                <a:cubicBezTo>
                  <a:pt x="324050" y="539089"/>
                  <a:pt x="312311" y="550381"/>
                  <a:pt x="298383" y="558340"/>
                </a:cubicBezTo>
                <a:cubicBezTo>
                  <a:pt x="289574" y="563374"/>
                  <a:pt x="279263" y="565179"/>
                  <a:pt x="269507" y="567966"/>
                </a:cubicBezTo>
                <a:cubicBezTo>
                  <a:pt x="184888" y="592144"/>
                  <a:pt x="271377" y="564134"/>
                  <a:pt x="202131" y="587216"/>
                </a:cubicBezTo>
                <a:cubicBezTo>
                  <a:pt x="147588" y="584008"/>
                  <a:pt x="92659" y="570370"/>
                  <a:pt x="38501" y="577591"/>
                </a:cubicBezTo>
                <a:cubicBezTo>
                  <a:pt x="27034" y="579120"/>
                  <a:pt x="50066" y="597821"/>
                  <a:pt x="57752" y="606467"/>
                </a:cubicBezTo>
                <a:cubicBezTo>
                  <a:pt x="75839" y="626815"/>
                  <a:pt x="96253" y="644968"/>
                  <a:pt x="115503" y="664218"/>
                </a:cubicBezTo>
                <a:cubicBezTo>
                  <a:pt x="160963" y="709678"/>
                  <a:pt x="149093" y="695085"/>
                  <a:pt x="105878" y="664218"/>
                </a:cubicBezTo>
                <a:cubicBezTo>
                  <a:pt x="96465" y="657494"/>
                  <a:pt x="86627" y="651385"/>
                  <a:pt x="77002" y="644968"/>
                </a:cubicBezTo>
                <a:cubicBezTo>
                  <a:pt x="67377" y="632134"/>
                  <a:pt x="57450" y="619521"/>
                  <a:pt x="48126" y="606467"/>
                </a:cubicBezTo>
                <a:cubicBezTo>
                  <a:pt x="41402" y="597054"/>
                  <a:pt x="36282" y="586478"/>
                  <a:pt x="28876" y="577591"/>
                </a:cubicBezTo>
                <a:cubicBezTo>
                  <a:pt x="20162" y="567134"/>
                  <a:pt x="9625" y="558340"/>
                  <a:pt x="0" y="548715"/>
                </a:cubicBezTo>
                <a:cubicBezTo>
                  <a:pt x="9625" y="539090"/>
                  <a:pt x="17333" y="527053"/>
                  <a:pt x="28876" y="519839"/>
                </a:cubicBezTo>
                <a:cubicBezTo>
                  <a:pt x="83542" y="485673"/>
                  <a:pt x="65439" y="517283"/>
                  <a:pt x="105878" y="481338"/>
                </a:cubicBezTo>
                <a:cubicBezTo>
                  <a:pt x="186654" y="409538"/>
                  <a:pt x="134550" y="438129"/>
                  <a:pt x="182880" y="413961"/>
                </a:cubicBezTo>
              </a:path>
            </a:pathLst>
          </a:cu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243D18D6-225E-7489-E528-EE9296D512E6}"/>
              </a:ext>
            </a:extLst>
          </p:cNvPr>
          <p:cNvSpPr txBox="1"/>
          <p:nvPr/>
        </p:nvSpPr>
        <p:spPr>
          <a:xfrm>
            <a:off x="4300878" y="3918329"/>
            <a:ext cx="1157305" cy="369332"/>
          </a:xfrm>
          <a:prstGeom prst="rect">
            <a:avLst/>
          </a:prstGeom>
          <a:noFill/>
        </p:spPr>
        <p:txBody>
          <a:bodyPr wrap="none" rtlCol="0">
            <a:spAutoFit/>
          </a:bodyPr>
          <a:lstStyle/>
          <a:p>
            <a:r>
              <a:rPr lang="en-US" dirty="0"/>
              <a:t>Latencies</a:t>
            </a:r>
          </a:p>
        </p:txBody>
      </p:sp>
      <p:sp>
        <p:nvSpPr>
          <p:cNvPr id="23" name="Rectangle 22">
            <a:extLst>
              <a:ext uri="{FF2B5EF4-FFF2-40B4-BE49-F238E27FC236}">
                <a16:creationId xmlns:a16="http://schemas.microsoft.com/office/drawing/2014/main" id="{D0CE98FB-422F-97F5-39A0-25A76044B035}"/>
              </a:ext>
            </a:extLst>
          </p:cNvPr>
          <p:cNvSpPr/>
          <p:nvPr/>
        </p:nvSpPr>
        <p:spPr>
          <a:xfrm>
            <a:off x="6190827" y="3344385"/>
            <a:ext cx="4167095" cy="18865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2400" dirty="0"/>
              <a:t>Fat tree data center topology </a:t>
            </a:r>
            <a:br>
              <a:rPr lang="en-US" sz="2400" dirty="0"/>
            </a:br>
            <a:r>
              <a:rPr lang="en-US" sz="2400" dirty="0"/>
              <a:t>+</a:t>
            </a:r>
            <a:br>
              <a:rPr lang="en-US" sz="2400" dirty="0"/>
            </a:br>
            <a:r>
              <a:rPr lang="en-US" sz="2400" dirty="0"/>
              <a:t>data center wide workload</a:t>
            </a:r>
          </a:p>
        </p:txBody>
      </p:sp>
      <p:sp>
        <p:nvSpPr>
          <p:cNvPr id="24" name="TextBox 23">
            <a:extLst>
              <a:ext uri="{FF2B5EF4-FFF2-40B4-BE49-F238E27FC236}">
                <a16:creationId xmlns:a16="http://schemas.microsoft.com/office/drawing/2014/main" id="{51889CE2-34E8-A4A2-379B-790FD82F42C8}"/>
              </a:ext>
            </a:extLst>
          </p:cNvPr>
          <p:cNvSpPr txBox="1"/>
          <p:nvPr/>
        </p:nvSpPr>
        <p:spPr>
          <a:xfrm>
            <a:off x="6179377" y="3352902"/>
            <a:ext cx="2094997" cy="369332"/>
          </a:xfrm>
          <a:prstGeom prst="rect">
            <a:avLst/>
          </a:prstGeom>
          <a:noFill/>
        </p:spPr>
        <p:txBody>
          <a:bodyPr wrap="none" rtlCol="0">
            <a:spAutoFit/>
          </a:bodyPr>
          <a:lstStyle/>
          <a:p>
            <a:r>
              <a:rPr lang="en-US" dirty="0"/>
              <a:t>Another Simulation</a:t>
            </a:r>
          </a:p>
        </p:txBody>
      </p:sp>
    </p:spTree>
    <p:extLst>
      <p:ext uri="{BB962C8B-B14F-4D97-AF65-F5344CB8AC3E}">
        <p14:creationId xmlns:p14="http://schemas.microsoft.com/office/powerpoint/2010/main" val="58184852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19" grpId="0" animBg="1"/>
      <p:bldP spid="20" grpId="0" animBg="1"/>
      <p:bldP spid="21" grpId="0" animBg="1"/>
      <p:bldP spid="22" grpId="0"/>
      <p:bldP spid="23" grpId="0" animBg="1"/>
      <p:bldP spid="24" grpId="0"/>
    </p:bldLst>
  </p:timing>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EE3B4-25CD-F0ED-7E39-1B55B11F1A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7AE2E3-32E5-BEC1-B898-83958DB32BE4}"/>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D80854DA-8294-A314-056A-853402CF059C}"/>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Clients are fed with a schedule to generate events at specific “simulator” timestamps</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69ED099F-14E2-0BBD-5216-B39DBF6F497A}"/>
                  </a:ext>
                </a:extLst>
              </p:cNvPr>
              <p:cNvSpPr txBox="1"/>
              <p:nvPr/>
            </p:nvSpPr>
            <p:spPr>
              <a:xfrm>
                <a:off x="1253016" y="4395148"/>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69ED099F-14E2-0BBD-5216-B39DBF6F497A}"/>
                  </a:ext>
                </a:extLst>
              </p:cNvPr>
              <p:cNvSpPr txBox="1">
                <a:spLocks noRot="1" noChangeAspect="1" noMove="1" noResize="1" noEditPoints="1" noAdjustHandles="1" noChangeArrowheads="1" noChangeShapeType="1" noTextEdit="1"/>
              </p:cNvSpPr>
              <p:nvPr/>
            </p:nvSpPr>
            <p:spPr>
              <a:xfrm>
                <a:off x="1253016" y="4395148"/>
                <a:ext cx="11717473" cy="954107"/>
              </a:xfrm>
              <a:prstGeom prst="rect">
                <a:avLst/>
              </a:prstGeom>
              <a:blipFill>
                <a:blip r:embed="rId2"/>
                <a:stretch>
                  <a:fillRect l="-866" t="-7895" b="-15789"/>
                </a:stretch>
              </a:blipFill>
            </p:spPr>
            <p:txBody>
              <a:bodyPr/>
              <a:lstStyle/>
              <a:p>
                <a:r>
                  <a:rPr lang="en-US">
                    <a:noFill/>
                  </a:rPr>
                  <a:t> </a:t>
                </a:r>
              </a:p>
            </p:txBody>
          </p:sp>
        </mc:Fallback>
      </mc:AlternateContent>
    </p:spTree>
    <p:extLst>
      <p:ext uri="{BB962C8B-B14F-4D97-AF65-F5344CB8AC3E}">
        <p14:creationId xmlns:p14="http://schemas.microsoft.com/office/powerpoint/2010/main" val="252159748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6285</TotalTime>
  <Words>6901</Words>
  <Application>Microsoft Macintosh PowerPoint</Application>
  <PresentationFormat>Widescreen</PresentationFormat>
  <Paragraphs>1744</Paragraphs>
  <Slides>177</Slides>
  <Notes>139</Notes>
  <HiddenSlides>9</HiddenSlides>
  <MMClips>0</MMClips>
  <ScaleCrop>false</ScaleCrop>
  <HeadingPairs>
    <vt:vector size="8" baseType="variant">
      <vt:variant>
        <vt:lpstr>Fonts Used</vt:lpstr>
      </vt:variant>
      <vt:variant>
        <vt:i4>6</vt:i4>
      </vt:variant>
      <vt:variant>
        <vt:lpstr>Theme</vt:lpstr>
      </vt:variant>
      <vt:variant>
        <vt:i4>2</vt:i4>
      </vt:variant>
      <vt:variant>
        <vt:lpstr>Embedded OLE Servers</vt:lpstr>
      </vt:variant>
      <vt:variant>
        <vt:i4>1</vt:i4>
      </vt:variant>
      <vt:variant>
        <vt:lpstr>Slide Titles</vt:lpstr>
      </vt:variant>
      <vt:variant>
        <vt:i4>177</vt:i4>
      </vt:variant>
    </vt:vector>
  </HeadingPairs>
  <TitlesOfParts>
    <vt:vector size="186" baseType="lpstr">
      <vt:lpstr>Aptos</vt:lpstr>
      <vt:lpstr>Aptos Display</vt:lpstr>
      <vt:lpstr>Arial</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Computation Optimization</vt:lpstr>
      <vt:lpstr>Computation Optimization</vt:lpstr>
      <vt:lpstr>Computation Optimization</vt:lpstr>
      <vt:lpstr>Evaluation</vt:lpstr>
      <vt:lpstr>Setup</vt:lpstr>
      <vt:lpstr>Setup</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570</cp:revision>
  <dcterms:created xsi:type="dcterms:W3CDTF">2026-04-04T21:04:51Z</dcterms:created>
  <dcterms:modified xsi:type="dcterms:W3CDTF">2026-04-09T23:11:31Z</dcterms:modified>
</cp:coreProperties>
</file>