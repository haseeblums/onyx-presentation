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431" r:id="rId99"/>
    <p:sldId id="353" r:id="rId100"/>
    <p:sldId id="361" r:id="rId101"/>
    <p:sldId id="432" r:id="rId102"/>
    <p:sldId id="1856" r:id="rId103"/>
    <p:sldId id="1857" r:id="rId104"/>
    <p:sldId id="351" r:id="rId105"/>
    <p:sldId id="352" r:id="rId106"/>
    <p:sldId id="1858" r:id="rId107"/>
    <p:sldId id="354" r:id="rId108"/>
    <p:sldId id="355" r:id="rId109"/>
    <p:sldId id="1859" r:id="rId110"/>
    <p:sldId id="357" r:id="rId111"/>
    <p:sldId id="358" r:id="rId112"/>
    <p:sldId id="1860" r:id="rId113"/>
    <p:sldId id="1861" r:id="rId114"/>
    <p:sldId id="393" r:id="rId115"/>
    <p:sldId id="1862" r:id="rId116"/>
    <p:sldId id="402" r:id="rId117"/>
    <p:sldId id="1863" r:id="rId118"/>
    <p:sldId id="1864" r:id="rId119"/>
    <p:sldId id="415" r:id="rId120"/>
    <p:sldId id="340" r:id="rId121"/>
    <p:sldId id="1865" r:id="rId122"/>
    <p:sldId id="1866" r:id="rId123"/>
    <p:sldId id="1867" r:id="rId124"/>
    <p:sldId id="412" r:id="rId125"/>
    <p:sldId id="1868" r:id="rId126"/>
    <p:sldId id="1869" r:id="rId127"/>
    <p:sldId id="413" r:id="rId128"/>
    <p:sldId id="1870" r:id="rId129"/>
    <p:sldId id="1871" r:id="rId130"/>
    <p:sldId id="1872" r:id="rId131"/>
    <p:sldId id="419" r:id="rId132"/>
    <p:sldId id="1873" r:id="rId133"/>
    <p:sldId id="421" r:id="rId134"/>
    <p:sldId id="1878" r:id="rId135"/>
    <p:sldId id="1879" r:id="rId136"/>
    <p:sldId id="422" r:id="rId137"/>
    <p:sldId id="1874" r:id="rId138"/>
    <p:sldId id="1875" r:id="rId139"/>
    <p:sldId id="1876" r:id="rId140"/>
    <p:sldId id="1877"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3EDC5A67-2ACF-15FB-63A7-6E5C97BDE943}"/>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EB43E55D-C9F5-EBA4-DE57-8C2CC8A7C1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E00A59AB-987B-AF88-FD9D-1AB9DF172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46213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18744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84.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5.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0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1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svg"/></Relationships>
</file>

<file path=ppt/slides/_rels/slide119.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2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1.png"/><Relationship Id="rId7" Type="http://schemas.openxmlformats.org/officeDocument/2006/relationships/image" Target="../media/image35.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0.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slow">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631C6-755D-21F1-0B1C-802B2463035A}"/>
              </a:ext>
            </a:extLst>
          </p:cNvPr>
          <p:cNvSpPr>
            <a:spLocks noGrp="1"/>
          </p:cNvSpPr>
          <p:nvPr>
            <p:ph type="title"/>
          </p:nvPr>
        </p:nvSpPr>
        <p:spPr/>
        <p:txBody>
          <a:bodyPr/>
          <a:lstStyle/>
          <a:p>
            <a:r>
              <a:rPr lang="en-US" dirty="0"/>
              <a:t>Scale</a:t>
            </a:r>
          </a:p>
        </p:txBody>
      </p:sp>
      <p:pic>
        <p:nvPicPr>
          <p:cNvPr id="5" name="Content Placeholder 4" descr="A graph of a number of signals&#10;&#10;AI-generated content may be incorrect.">
            <a:extLst>
              <a:ext uri="{FF2B5EF4-FFF2-40B4-BE49-F238E27FC236}">
                <a16:creationId xmlns:a16="http://schemas.microsoft.com/office/drawing/2014/main" id="{6D2DAB33-89A0-FD52-198D-1A2120C862C8}"/>
              </a:ext>
            </a:extLst>
          </p:cNvPr>
          <p:cNvPicPr>
            <a:picLocks noGrp="1" noChangeAspect="1"/>
          </p:cNvPicPr>
          <p:nvPr>
            <p:ph idx="1"/>
          </p:nvPr>
        </p:nvPicPr>
        <p:blipFill>
          <a:blip r:embed="rId2"/>
          <a:stretch>
            <a:fillRect/>
          </a:stretch>
        </p:blipFill>
        <p:spPr>
          <a:xfrm>
            <a:off x="2536977" y="1704298"/>
            <a:ext cx="6350349" cy="4788577"/>
          </a:xfrm>
        </p:spPr>
      </p:pic>
    </p:spTree>
    <p:extLst>
      <p:ext uri="{BB962C8B-B14F-4D97-AF65-F5344CB8AC3E}">
        <p14:creationId xmlns:p14="http://schemas.microsoft.com/office/powerpoint/2010/main" val="20248377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slow">
    <p:push dir="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FF3FFF1A-7CFF-B87D-F183-FD813AC79A11}"/>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5A02CC88-90E4-C9E8-B74D-B72F79297DF1}"/>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Order Submission Service</a:t>
            </a:r>
          </a:p>
        </p:txBody>
      </p:sp>
      <p:grpSp>
        <p:nvGrpSpPr>
          <p:cNvPr id="8" name="Group 7">
            <a:extLst>
              <a:ext uri="{FF2B5EF4-FFF2-40B4-BE49-F238E27FC236}">
                <a16:creationId xmlns:a16="http://schemas.microsoft.com/office/drawing/2014/main" id="{E37A888D-4320-AE60-B97F-2E89D030B1E6}"/>
              </a:ext>
            </a:extLst>
          </p:cNvPr>
          <p:cNvGrpSpPr/>
          <p:nvPr/>
        </p:nvGrpSpPr>
        <p:grpSpPr>
          <a:xfrm>
            <a:off x="2362200" y="1827027"/>
            <a:ext cx="7467600" cy="6743700"/>
            <a:chOff x="4724400" y="1725267"/>
            <a:chExt cx="7467600" cy="6743700"/>
          </a:xfrm>
        </p:grpSpPr>
        <p:pic>
          <p:nvPicPr>
            <p:cNvPr id="6" name="Picture 5">
              <a:extLst>
                <a:ext uri="{FF2B5EF4-FFF2-40B4-BE49-F238E27FC236}">
                  <a16:creationId xmlns:a16="http://schemas.microsoft.com/office/drawing/2014/main" id="{6E259DBE-46A8-5F52-54A6-73CFA2502AF3}"/>
                </a:ext>
              </a:extLst>
            </p:cNvPr>
            <p:cNvPicPr>
              <a:picLocks noChangeAspect="1"/>
            </p:cNvPicPr>
            <p:nvPr/>
          </p:nvPicPr>
          <p:blipFill>
            <a:blip r:embed="rId3"/>
            <a:stretch>
              <a:fillRect/>
            </a:stretch>
          </p:blipFill>
          <p:spPr>
            <a:xfrm>
              <a:off x="5032700" y="1725267"/>
              <a:ext cx="6743700" cy="6743700"/>
            </a:xfrm>
            <a:prstGeom prst="rect">
              <a:avLst/>
            </a:prstGeom>
          </p:spPr>
        </p:pic>
        <p:sp>
          <p:nvSpPr>
            <p:cNvPr id="7" name="Rectangle 6">
              <a:extLst>
                <a:ext uri="{FF2B5EF4-FFF2-40B4-BE49-F238E27FC236}">
                  <a16:creationId xmlns:a16="http://schemas.microsoft.com/office/drawing/2014/main" id="{0FC359AF-946D-9D89-9885-4120B794C4ED}"/>
                </a:ext>
              </a:extLst>
            </p:cNvPr>
            <p:cNvSpPr/>
            <p:nvPr/>
          </p:nvSpPr>
          <p:spPr>
            <a:xfrm>
              <a:off x="4724400" y="4686300"/>
              <a:ext cx="7467600" cy="308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9" name="Group 18">
            <a:extLst>
              <a:ext uri="{FF2B5EF4-FFF2-40B4-BE49-F238E27FC236}">
                <a16:creationId xmlns:a16="http://schemas.microsoft.com/office/drawing/2014/main" id="{F820D3D9-FF3B-C3A2-BC92-C62D2B72576E}"/>
              </a:ext>
            </a:extLst>
          </p:cNvPr>
          <p:cNvGrpSpPr/>
          <p:nvPr/>
        </p:nvGrpSpPr>
        <p:grpSpPr>
          <a:xfrm>
            <a:off x="7137400" y="1158344"/>
            <a:ext cx="2921000" cy="867306"/>
            <a:chOff x="7137400" y="1158344"/>
            <a:chExt cx="2921000" cy="867306"/>
          </a:xfrm>
        </p:grpSpPr>
        <p:cxnSp>
          <p:nvCxnSpPr>
            <p:cNvPr id="10" name="Straight Connector 9">
              <a:extLst>
                <a:ext uri="{FF2B5EF4-FFF2-40B4-BE49-F238E27FC236}">
                  <a16:creationId xmlns:a16="http://schemas.microsoft.com/office/drawing/2014/main" id="{C8205107-4071-61D3-2B37-2F5CCA860A3E}"/>
                </a:ext>
              </a:extLst>
            </p:cNvPr>
            <p:cNvCxnSpPr>
              <a:cxnSpLocks/>
            </p:cNvCxnSpPr>
            <p:nvPr/>
          </p:nvCxnSpPr>
          <p:spPr>
            <a:xfrm>
              <a:off x="7137400" y="1390234"/>
              <a:ext cx="1267150" cy="0"/>
            </a:xfrm>
            <a:prstGeom prst="line">
              <a:avLst/>
            </a:prstGeom>
            <a:ln w="66675">
              <a:solidFill>
                <a:schemeClr val="accent6">
                  <a:lumMod val="75000"/>
                </a:schemeClr>
              </a:solidFill>
            </a:ln>
          </p:spPr>
          <p:style>
            <a:lnRef idx="3">
              <a:schemeClr val="accent6"/>
            </a:lnRef>
            <a:fillRef idx="0">
              <a:schemeClr val="accent6"/>
            </a:fillRef>
            <a:effectRef idx="2">
              <a:schemeClr val="accent6"/>
            </a:effectRef>
            <a:fontRef idx="minor">
              <a:schemeClr val="tx1"/>
            </a:fontRef>
          </p:style>
        </p:cxnSp>
        <p:cxnSp>
          <p:nvCxnSpPr>
            <p:cNvPr id="14" name="Straight Connector 13">
              <a:extLst>
                <a:ext uri="{FF2B5EF4-FFF2-40B4-BE49-F238E27FC236}">
                  <a16:creationId xmlns:a16="http://schemas.microsoft.com/office/drawing/2014/main" id="{DC400A98-C21B-32F1-8842-29533E43D00E}"/>
                </a:ext>
              </a:extLst>
            </p:cNvPr>
            <p:cNvCxnSpPr>
              <a:cxnSpLocks/>
            </p:cNvCxnSpPr>
            <p:nvPr/>
          </p:nvCxnSpPr>
          <p:spPr>
            <a:xfrm>
              <a:off x="7137400" y="1756601"/>
              <a:ext cx="1267150" cy="0"/>
            </a:xfrm>
            <a:prstGeom prst="line">
              <a:avLst/>
            </a:prstGeom>
            <a:ln w="66675">
              <a:solidFill>
                <a:schemeClr val="tx1"/>
              </a:solidFill>
              <a:prstDash val="dash"/>
            </a:ln>
          </p:spPr>
          <p:style>
            <a:lnRef idx="3">
              <a:schemeClr val="accent6"/>
            </a:lnRef>
            <a:fillRef idx="0">
              <a:schemeClr val="accent6"/>
            </a:fillRef>
            <a:effectRef idx="2">
              <a:schemeClr val="accent6"/>
            </a:effectRef>
            <a:fontRef idx="minor">
              <a:schemeClr val="tx1"/>
            </a:fontRef>
          </p:style>
        </p:cxnSp>
        <p:sp>
          <p:nvSpPr>
            <p:cNvPr id="17" name="TextBox 16">
              <a:extLst>
                <a:ext uri="{FF2B5EF4-FFF2-40B4-BE49-F238E27FC236}">
                  <a16:creationId xmlns:a16="http://schemas.microsoft.com/office/drawing/2014/main" id="{CBC55586-0298-BA1E-A33C-FA26D6EAA071}"/>
                </a:ext>
              </a:extLst>
            </p:cNvPr>
            <p:cNvSpPr txBox="1"/>
            <p:nvPr/>
          </p:nvSpPr>
          <p:spPr>
            <a:xfrm>
              <a:off x="8458200" y="1158344"/>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
          <p:nvSpPr>
            <p:cNvPr id="18" name="TextBox 17">
              <a:extLst>
                <a:ext uri="{FF2B5EF4-FFF2-40B4-BE49-F238E27FC236}">
                  <a16:creationId xmlns:a16="http://schemas.microsoft.com/office/drawing/2014/main" id="{C50C333F-5D8B-2710-915A-9D3AAA37FA96}"/>
                </a:ext>
              </a:extLst>
            </p:cNvPr>
            <p:cNvSpPr txBox="1"/>
            <p:nvPr/>
          </p:nvSpPr>
          <p:spPr>
            <a:xfrm>
              <a:off x="8458200" y="1563985"/>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FIFO</a:t>
              </a:r>
            </a:p>
          </p:txBody>
        </p:sp>
      </p:grpSp>
    </p:spTree>
    <p:extLst>
      <p:ext uri="{BB962C8B-B14F-4D97-AF65-F5344CB8AC3E}">
        <p14:creationId xmlns:p14="http://schemas.microsoft.com/office/powerpoint/2010/main" val="2968297787"/>
      </p:ext>
    </p:extLst>
  </p:cSld>
  <p:clrMapOvr>
    <a:masterClrMapping/>
  </p:clrMapOvr>
  <p:transition spd="slow">
    <p:push dir="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560</TotalTime>
  <Words>4954</Words>
  <Application>Microsoft Macintosh PowerPoint</Application>
  <PresentationFormat>Widescreen</PresentationFormat>
  <Paragraphs>1318</Paragraphs>
  <Slides>139</Slides>
  <Notes>108</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139</vt:i4>
      </vt:variant>
    </vt:vector>
  </HeadingPairs>
  <TitlesOfParts>
    <vt:vector size="14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Scale</vt:lpstr>
      <vt:lpstr>Limit Order Queue Gracefully Handles Bursts</vt:lpstr>
      <vt:lpstr>Order Submission Service</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186</cp:revision>
  <dcterms:created xsi:type="dcterms:W3CDTF">2026-04-04T21:04:51Z</dcterms:created>
  <dcterms:modified xsi:type="dcterms:W3CDTF">2026-04-05T19:15:07Z</dcterms:modified>
</cp:coreProperties>
</file>