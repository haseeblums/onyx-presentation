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61"/>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20" r:id="rId41"/>
    <p:sldId id="409" r:id="rId42"/>
    <p:sldId id="423" r:id="rId43"/>
    <p:sldId id="425" r:id="rId44"/>
    <p:sldId id="414" r:id="rId45"/>
    <p:sldId id="416" r:id="rId46"/>
    <p:sldId id="391" r:id="rId47"/>
    <p:sldId id="408" r:id="rId48"/>
    <p:sldId id="394" r:id="rId49"/>
    <p:sldId id="395" r:id="rId50"/>
    <p:sldId id="396" r:id="rId51"/>
    <p:sldId id="397" r:id="rId52"/>
    <p:sldId id="398" r:id="rId53"/>
    <p:sldId id="399" r:id="rId54"/>
    <p:sldId id="400" r:id="rId55"/>
    <p:sldId id="401" r:id="rId56"/>
    <p:sldId id="403" r:id="rId57"/>
    <p:sldId id="404" r:id="rId58"/>
    <p:sldId id="405" r:id="rId59"/>
    <p:sldId id="410" r:id="rId60"/>
    <p:sldId id="407" r:id="rId61"/>
    <p:sldId id="312" r:id="rId62"/>
    <p:sldId id="1852" r:id="rId63"/>
    <p:sldId id="1853" r:id="rId64"/>
    <p:sldId id="1855" r:id="rId65"/>
    <p:sldId id="1911" r:id="rId66"/>
    <p:sldId id="314" r:id="rId67"/>
    <p:sldId id="1916" r:id="rId68"/>
    <p:sldId id="1917" r:id="rId69"/>
    <p:sldId id="1918" r:id="rId70"/>
    <p:sldId id="1919" r:id="rId71"/>
    <p:sldId id="1892" r:id="rId72"/>
    <p:sldId id="1893" r:id="rId73"/>
    <p:sldId id="1920" r:id="rId74"/>
    <p:sldId id="1921" r:id="rId75"/>
    <p:sldId id="1922" r:id="rId76"/>
    <p:sldId id="1923" r:id="rId77"/>
    <p:sldId id="1924" r:id="rId78"/>
    <p:sldId id="1925" r:id="rId79"/>
    <p:sldId id="1926" r:id="rId80"/>
    <p:sldId id="1927" r:id="rId81"/>
    <p:sldId id="1928" r:id="rId82"/>
    <p:sldId id="1929" r:id="rId83"/>
    <p:sldId id="1930" r:id="rId84"/>
    <p:sldId id="1931" r:id="rId85"/>
    <p:sldId id="1895" r:id="rId86"/>
    <p:sldId id="1894" r:id="rId87"/>
    <p:sldId id="1897" r:id="rId88"/>
    <p:sldId id="1898" r:id="rId89"/>
    <p:sldId id="1899" r:id="rId90"/>
    <p:sldId id="1900" r:id="rId91"/>
    <p:sldId id="1901" r:id="rId92"/>
    <p:sldId id="1902" r:id="rId93"/>
    <p:sldId id="1903" r:id="rId94"/>
    <p:sldId id="1904" r:id="rId95"/>
    <p:sldId id="1905" r:id="rId96"/>
    <p:sldId id="1906" r:id="rId97"/>
    <p:sldId id="335" r:id="rId98"/>
    <p:sldId id="1915" r:id="rId99"/>
    <p:sldId id="1907" r:id="rId100"/>
    <p:sldId id="1908" r:id="rId101"/>
    <p:sldId id="1909" r:id="rId102"/>
    <p:sldId id="1910" r:id="rId103"/>
    <p:sldId id="350" r:id="rId104"/>
    <p:sldId id="359" r:id="rId105"/>
    <p:sldId id="427" r:id="rId106"/>
    <p:sldId id="360" r:id="rId107"/>
    <p:sldId id="428" r:id="rId108"/>
    <p:sldId id="353" r:id="rId109"/>
    <p:sldId id="432" r:id="rId110"/>
    <p:sldId id="1856" r:id="rId111"/>
    <p:sldId id="1857" r:id="rId112"/>
    <p:sldId id="351" r:id="rId113"/>
    <p:sldId id="352" r:id="rId114"/>
    <p:sldId id="1858" r:id="rId115"/>
    <p:sldId id="354" r:id="rId116"/>
    <p:sldId id="355" r:id="rId117"/>
    <p:sldId id="1859" r:id="rId118"/>
    <p:sldId id="357" r:id="rId119"/>
    <p:sldId id="358" r:id="rId120"/>
    <p:sldId id="1860" r:id="rId121"/>
    <p:sldId id="1861" r:id="rId122"/>
    <p:sldId id="393" r:id="rId123"/>
    <p:sldId id="1862" r:id="rId124"/>
    <p:sldId id="402" r:id="rId125"/>
    <p:sldId id="1863" r:id="rId126"/>
    <p:sldId id="1864" r:id="rId127"/>
    <p:sldId id="415" r:id="rId128"/>
    <p:sldId id="340" r:id="rId129"/>
    <p:sldId id="1865" r:id="rId130"/>
    <p:sldId id="1866" r:id="rId131"/>
    <p:sldId id="1867" r:id="rId132"/>
    <p:sldId id="412" r:id="rId133"/>
    <p:sldId id="1868" r:id="rId134"/>
    <p:sldId id="1869" r:id="rId135"/>
    <p:sldId id="413" r:id="rId136"/>
    <p:sldId id="1870" r:id="rId137"/>
    <p:sldId id="1871" r:id="rId138"/>
    <p:sldId id="1872" r:id="rId139"/>
    <p:sldId id="419" r:id="rId140"/>
    <p:sldId id="1914" r:id="rId141"/>
    <p:sldId id="1873" r:id="rId142"/>
    <p:sldId id="421" r:id="rId143"/>
    <p:sldId id="1878" r:id="rId144"/>
    <p:sldId id="1879" r:id="rId145"/>
    <p:sldId id="1874" r:id="rId146"/>
    <p:sldId id="1875" r:id="rId147"/>
    <p:sldId id="1876" r:id="rId148"/>
    <p:sldId id="1877" r:id="rId149"/>
    <p:sldId id="1912" r:id="rId150"/>
    <p:sldId id="1913" r:id="rId151"/>
    <p:sldId id="1880" r:id="rId152"/>
    <p:sldId id="1881" r:id="rId153"/>
    <p:sldId id="1882" r:id="rId154"/>
    <p:sldId id="1883" r:id="rId155"/>
    <p:sldId id="1884" r:id="rId156"/>
    <p:sldId id="1885" r:id="rId157"/>
    <p:sldId id="1886" r:id="rId158"/>
    <p:sldId id="1888" r:id="rId159"/>
    <p:sldId id="1890" r:id="rId16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49E"/>
    <a:srgbClr val="FF27D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966"/>
    <p:restoredTop sz="91073"/>
  </p:normalViewPr>
  <p:slideViewPr>
    <p:cSldViewPr snapToGrid="0">
      <p:cViewPr varScale="1">
        <p:scale>
          <a:sx n="126" d="100"/>
          <a:sy n="126" d="100"/>
        </p:scale>
        <p:origin x="200" y="5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slide" Target="slides/slide143.xml"/><Relationship Id="rId161"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presProps" Target="presProps.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viewProps" Target="viewProps.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tableStyles" Target="tableStyles.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AE790628-03D3-29EB-20BC-3CF52E5B6D6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D87E7F08-E737-A2DE-01BB-2B7A563AC5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748F7E9-1FB0-D3BB-2E07-0345548133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22428915"/>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110</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111</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112</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114</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115</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116</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133</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135</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D9702-D84B-6702-2E90-2FAFEF92B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08C8B-172E-7EFE-B443-3C992B83E8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86C14-0E3C-42F0-C7AD-E9DB5DC369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2BDE3D-A6ED-083D-57AB-1D4C617EDD1A}"/>
              </a:ext>
            </a:extLst>
          </p:cNvPr>
          <p:cNvSpPr>
            <a:spLocks noGrp="1"/>
          </p:cNvSpPr>
          <p:nvPr>
            <p:ph type="sldNum" sz="quarter" idx="5"/>
          </p:nvPr>
        </p:nvSpPr>
        <p:spPr/>
        <p:txBody>
          <a:bodyPr/>
          <a:lstStyle/>
          <a:p>
            <a:fld id="{B3E8125A-D8BB-E74B-8C6E-AB7BD2C997CF}" type="slidenum">
              <a:rPr lang="en-US" smtClean="0"/>
              <a:t>136</a:t>
            </a:fld>
            <a:endParaRPr lang="en-US"/>
          </a:p>
        </p:txBody>
      </p:sp>
    </p:spTree>
    <p:extLst>
      <p:ext uri="{BB962C8B-B14F-4D97-AF65-F5344CB8AC3E}">
        <p14:creationId xmlns:p14="http://schemas.microsoft.com/office/powerpoint/2010/main" val="2802948426"/>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137</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138</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139</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140</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713C-2AE7-B9B7-67F1-E8BBAB2D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7D281-92E9-6280-C096-AF5716587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81798C-BEA8-1EA5-0C8F-3635F0DC94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49A147-44E9-995A-D5CF-F435C655C00C}"/>
              </a:ext>
            </a:extLst>
          </p:cNvPr>
          <p:cNvSpPr>
            <a:spLocks noGrp="1"/>
          </p:cNvSpPr>
          <p:nvPr>
            <p:ph type="sldNum" sz="quarter" idx="5"/>
          </p:nvPr>
        </p:nvSpPr>
        <p:spPr/>
        <p:txBody>
          <a:bodyPr/>
          <a:lstStyle/>
          <a:p>
            <a:fld id="{B3E8125A-D8BB-E74B-8C6E-AB7BD2C997CF}" type="slidenum">
              <a:rPr lang="en-US" smtClean="0"/>
              <a:t>141</a:t>
            </a:fld>
            <a:endParaRPr lang="en-US"/>
          </a:p>
        </p:txBody>
      </p:sp>
    </p:spTree>
    <p:extLst>
      <p:ext uri="{BB962C8B-B14F-4D97-AF65-F5344CB8AC3E}">
        <p14:creationId xmlns:p14="http://schemas.microsoft.com/office/powerpoint/2010/main" val="913734773"/>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50D9C-9991-B067-E2D7-9F0B3FA5F7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F7739F-1B24-E224-30D1-0CB2B062F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65CEA4-9BFA-9272-3F1A-EAFE512BE1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582AE0-50CB-06A4-855A-D8391C62FD8C}"/>
              </a:ext>
            </a:extLst>
          </p:cNvPr>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2192231710"/>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156</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157</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4/7/26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4.xml"/></Relationships>
</file>

<file path=ppt/slides/_rels/slide69.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notesSlide" Target="../notesSlides/notesSlide84.xml"/><Relationship Id="rId1" Type="http://schemas.openxmlformats.org/officeDocument/2006/relationships/slideLayout" Target="../slideLayouts/slideLayout23.xml"/><Relationship Id="rId5" Type="http://schemas.openxmlformats.org/officeDocument/2006/relationships/image" Target="../media/image15.png"/><Relationship Id="rId4" Type="http://schemas.openxmlformats.org/officeDocument/2006/relationships/image" Target="../media/image16.png"/></Relationships>
</file>

<file path=ppt/slides/_rels/slide9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04.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2" Type="http://schemas.openxmlformats.org/officeDocument/2006/relationships/image" Target="../media/image15.emf"/><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2" Type="http://schemas.openxmlformats.org/officeDocument/2006/relationships/image" Target="../media/image15.emf"/><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91.xml"/><Relationship Id="rId1" Type="http://schemas.openxmlformats.org/officeDocument/2006/relationships/slideLayout" Target="../slideLayouts/slideLayout23.xml"/></Relationships>
</file>

<file path=ppt/slides/_rels/slide108.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92.xml"/><Relationship Id="rId1" Type="http://schemas.openxmlformats.org/officeDocument/2006/relationships/slideLayout" Target="../slideLayouts/slideLayout2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0.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notesSlide" Target="../notesSlides/notesSlide93.xml"/><Relationship Id="rId1" Type="http://schemas.openxmlformats.org/officeDocument/2006/relationships/slideLayout" Target="../slideLayouts/slideLayout12.xml"/><Relationship Id="rId6" Type="http://schemas.openxmlformats.org/officeDocument/2006/relationships/image" Target="../media/image21.svg"/><Relationship Id="rId5" Type="http://schemas.openxmlformats.org/officeDocument/2006/relationships/image" Target="../media/image20.svg"/><Relationship Id="rId4" Type="http://schemas.openxmlformats.org/officeDocument/2006/relationships/image" Target="../media/image19.svg"/></Relationships>
</file>

<file path=ppt/slides/_rels/slide111.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notesSlide" Target="../notesSlides/notesSlide94.xml"/><Relationship Id="rId1" Type="http://schemas.openxmlformats.org/officeDocument/2006/relationships/slideLayout" Target="../slideLayouts/slideLayout13.xml"/></Relationships>
</file>

<file path=ppt/slides/_rels/slide112.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6.svg"/><Relationship Id="rId2" Type="http://schemas.openxmlformats.org/officeDocument/2006/relationships/notesSlide" Target="../notesSlides/notesSlide95.xml"/><Relationship Id="rId1" Type="http://schemas.openxmlformats.org/officeDocument/2006/relationships/slideLayout" Target="../slideLayouts/slideLayout13.xml"/><Relationship Id="rId6" Type="http://schemas.openxmlformats.org/officeDocument/2006/relationships/image" Target="../media/image25.svg"/><Relationship Id="rId5" Type="http://schemas.openxmlformats.org/officeDocument/2006/relationships/image" Target="../media/image24.svg"/><Relationship Id="rId4" Type="http://schemas.openxmlformats.org/officeDocument/2006/relationships/image" Target="../media/image23.svg"/></Relationships>
</file>

<file path=ppt/slides/_rels/slide113.xml.rels><?xml version="1.0" encoding="UTF-8" standalone="yes"?>
<Relationships xmlns="http://schemas.openxmlformats.org/package/2006/relationships"><Relationship Id="rId3" Type="http://schemas.openxmlformats.org/officeDocument/2006/relationships/image" Target="../media/image23.svg"/><Relationship Id="rId7" Type="http://schemas.openxmlformats.org/officeDocument/2006/relationships/image" Target="../media/image26.svg"/><Relationship Id="rId2" Type="http://schemas.openxmlformats.org/officeDocument/2006/relationships/image" Target="../media/image22.svg"/><Relationship Id="rId1" Type="http://schemas.openxmlformats.org/officeDocument/2006/relationships/slideLayout" Target="../slideLayouts/slideLayout13.xml"/><Relationship Id="rId6" Type="http://schemas.openxmlformats.org/officeDocument/2006/relationships/image" Target="../media/image27.svg"/><Relationship Id="rId5" Type="http://schemas.openxmlformats.org/officeDocument/2006/relationships/image" Target="../media/image25.svg"/><Relationship Id="rId4" Type="http://schemas.openxmlformats.org/officeDocument/2006/relationships/image" Target="../media/image24.svg"/></Relationships>
</file>

<file path=ppt/slides/_rels/slide114.xml.rels><?xml version="1.0" encoding="UTF-8" standalone="yes"?>
<Relationships xmlns="http://schemas.openxmlformats.org/package/2006/relationships"><Relationship Id="rId8" Type="http://schemas.openxmlformats.org/officeDocument/2006/relationships/image" Target="../media/image27.svg"/><Relationship Id="rId3" Type="http://schemas.openxmlformats.org/officeDocument/2006/relationships/image" Target="../media/image22.svg"/><Relationship Id="rId7" Type="http://schemas.openxmlformats.org/officeDocument/2006/relationships/image" Target="../media/image26.svg"/><Relationship Id="rId2" Type="http://schemas.openxmlformats.org/officeDocument/2006/relationships/notesSlide" Target="../notesSlides/notesSlide96.xml"/><Relationship Id="rId1" Type="http://schemas.openxmlformats.org/officeDocument/2006/relationships/slideLayout" Target="../slideLayouts/slideLayout13.xml"/><Relationship Id="rId6" Type="http://schemas.openxmlformats.org/officeDocument/2006/relationships/image" Target="../media/image25.svg"/><Relationship Id="rId5" Type="http://schemas.openxmlformats.org/officeDocument/2006/relationships/image" Target="../media/image24.svg"/><Relationship Id="rId4" Type="http://schemas.openxmlformats.org/officeDocument/2006/relationships/image" Target="../media/image23.svg"/></Relationships>
</file>

<file path=ppt/slides/_rels/slide115.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2.svg"/><Relationship Id="rId7" Type="http://schemas.openxmlformats.org/officeDocument/2006/relationships/image" Target="../media/image27.svg"/><Relationship Id="rId2" Type="http://schemas.openxmlformats.org/officeDocument/2006/relationships/notesSlide" Target="../notesSlides/notesSlide97.xml"/><Relationship Id="rId1" Type="http://schemas.openxmlformats.org/officeDocument/2006/relationships/slideLayout" Target="../slideLayouts/slideLayout13.xml"/><Relationship Id="rId6" Type="http://schemas.openxmlformats.org/officeDocument/2006/relationships/image" Target="../media/image25.svg"/><Relationship Id="rId5" Type="http://schemas.openxmlformats.org/officeDocument/2006/relationships/image" Target="../media/image24.svg"/><Relationship Id="rId4" Type="http://schemas.openxmlformats.org/officeDocument/2006/relationships/image" Target="../media/image23.svg"/></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9.xml"/><Relationship Id="rId1" Type="http://schemas.openxmlformats.org/officeDocument/2006/relationships/slideLayout" Target="../slideLayouts/slideLayout13.xml"/></Relationships>
</file>

<file path=ppt/slides/_rels/slide1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0.xml"/><Relationship Id="rId1" Type="http://schemas.openxmlformats.org/officeDocument/2006/relationships/slideLayout" Target="../slideLayouts/slideLayout13.xml"/></Relationships>
</file>

<file path=ppt/slides/_rels/slide1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2.xml"/><Relationship Id="rId1" Type="http://schemas.openxmlformats.org/officeDocument/2006/relationships/slideLayout" Target="../slideLayouts/slideLayout13.xml"/></Relationships>
</file>

<file path=ppt/slides/_rels/slide12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3.xml"/><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3" Type="http://schemas.openxmlformats.org/officeDocument/2006/relationships/image" Target="../media/image29.emf"/><Relationship Id="rId2" Type="http://schemas.openxmlformats.org/officeDocument/2006/relationships/image" Target="../media/image28.emf"/><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30.svg"/><Relationship Id="rId7" Type="http://schemas.openxmlformats.org/officeDocument/2006/relationships/image" Target="../media/image34.png"/><Relationship Id="rId2" Type="http://schemas.openxmlformats.org/officeDocument/2006/relationships/notesSlide" Target="../notesSlides/notesSlide104.xml"/><Relationship Id="rId1" Type="http://schemas.openxmlformats.org/officeDocument/2006/relationships/slideLayout" Target="../slideLayouts/slideLayout13.xml"/><Relationship Id="rId6" Type="http://schemas.openxmlformats.org/officeDocument/2006/relationships/image" Target="../media/image33.svg"/><Relationship Id="rId5" Type="http://schemas.openxmlformats.org/officeDocument/2006/relationships/image" Target="../media/image32.svg"/><Relationship Id="rId4" Type="http://schemas.openxmlformats.org/officeDocument/2006/relationships/image" Target="../media/image31.svg"/></Relationships>
</file>

<file path=ppt/slides/_rels/slide126.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image" Target="../media/image30.svg"/><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svg"/><Relationship Id="rId4" Type="http://schemas.openxmlformats.org/officeDocument/2006/relationships/image" Target="../media/image32.svg"/></Relationships>
</file>

<file path=ppt/slides/_rels/slide127.xml.rels><?xml version="1.0" encoding="UTF-8" standalone="yes"?>
<Relationships xmlns="http://schemas.openxmlformats.org/package/2006/relationships"><Relationship Id="rId3" Type="http://schemas.openxmlformats.org/officeDocument/2006/relationships/image" Target="../media/image30.svg"/><Relationship Id="rId7" Type="http://schemas.openxmlformats.org/officeDocument/2006/relationships/image" Target="../media/image34.png"/><Relationship Id="rId2" Type="http://schemas.openxmlformats.org/officeDocument/2006/relationships/notesSlide" Target="../notesSlides/notesSlide105.xml"/><Relationship Id="rId1" Type="http://schemas.openxmlformats.org/officeDocument/2006/relationships/slideLayout" Target="../slideLayouts/slideLayout13.xml"/><Relationship Id="rId6" Type="http://schemas.openxmlformats.org/officeDocument/2006/relationships/image" Target="../media/image33.svg"/><Relationship Id="rId5" Type="http://schemas.openxmlformats.org/officeDocument/2006/relationships/image" Target="../media/image32.svg"/><Relationship Id="rId4" Type="http://schemas.openxmlformats.org/officeDocument/2006/relationships/image" Target="../media/image31.svg"/></Relationships>
</file>

<file path=ppt/slides/_rels/slide128.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4.png"/><Relationship Id="rId7" Type="http://schemas.openxmlformats.org/officeDocument/2006/relationships/image" Target="../media/image35.png"/><Relationship Id="rId2" Type="http://schemas.openxmlformats.org/officeDocument/2006/relationships/notesSlide" Target="../notesSlides/notesSlide106.xml"/><Relationship Id="rId1" Type="http://schemas.openxmlformats.org/officeDocument/2006/relationships/slideLayout" Target="../slideLayouts/slideLayout13.xml"/><Relationship Id="rId6" Type="http://schemas.openxmlformats.org/officeDocument/2006/relationships/image" Target="../media/image340.png"/><Relationship Id="rId5" Type="http://schemas.openxmlformats.org/officeDocument/2006/relationships/image" Target="../media/image330.png"/><Relationship Id="rId4" Type="http://schemas.openxmlformats.org/officeDocument/2006/relationships/image" Target="../media/image32.png"/></Relationships>
</file>

<file path=ppt/slides/_rels/slide129.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4.png"/><Relationship Id="rId7" Type="http://schemas.openxmlformats.org/officeDocument/2006/relationships/image" Target="../media/image340.png"/><Relationship Id="rId2" Type="http://schemas.openxmlformats.org/officeDocument/2006/relationships/notesSlide" Target="../notesSlides/notesSlide107.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0.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4.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0.png"/><Relationship Id="rId4" Type="http://schemas.openxmlformats.org/officeDocument/2006/relationships/image" Target="../media/image38.png"/><Relationship Id="rId9" Type="http://schemas.openxmlformats.org/officeDocument/2006/relationships/image" Target="../media/image330.png"/></Relationships>
</file>

<file path=ppt/slides/_rels/slide131.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0.png"/><Relationship Id="rId2" Type="http://schemas.openxmlformats.org/officeDocument/2006/relationships/image" Target="../media/image34.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3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4.png"/><Relationship Id="rId1" Type="http://schemas.openxmlformats.org/officeDocument/2006/relationships/slideLayout" Target="../slideLayouts/slideLayout13.xml"/></Relationships>
</file>

<file path=ppt/slides/_rels/slide13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3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4.png"/><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09.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10.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13.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13.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4.xml"/></Relationships>
</file>

<file path=ppt/slides/_rels/slide151.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image" Target="../media/image37.emf"/><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image" Target="../media/image37.emf"/><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image" Target="../media/image37.emf"/><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9.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C62B6B2D-E5B8-0AF3-AF6F-2ECCF3BA2481}"/>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Still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6CEE510-D695-CC89-7AF8-17299F6A35D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413">
          <a:extLst>
            <a:ext uri="{FF2B5EF4-FFF2-40B4-BE49-F238E27FC236}">
              <a16:creationId xmlns:a16="http://schemas.microsoft.com/office/drawing/2014/main" id="{D463325E-CA8B-B66B-1CE7-601E7959AEF5}"/>
            </a:ext>
          </a:extLst>
        </p:cNvPr>
        <p:cNvGrpSpPr/>
        <p:nvPr/>
      </p:nvGrpSpPr>
      <p:grpSpPr>
        <a:xfrm>
          <a:off x="0" y="0"/>
          <a:ext cx="0" cy="0"/>
          <a:chOff x="0" y="0"/>
          <a:chExt cx="0" cy="0"/>
        </a:xfrm>
      </p:grpSpPr>
      <p:sp>
        <p:nvSpPr>
          <p:cNvPr id="414" name="Google Shape;414;p36">
            <a:extLst>
              <a:ext uri="{FF2B5EF4-FFF2-40B4-BE49-F238E27FC236}">
                <a16:creationId xmlns:a16="http://schemas.microsoft.com/office/drawing/2014/main" id="{F4069B77-3C55-0051-371E-B6C21D566723}"/>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 action window</a:t>
            </a:r>
            <a:endParaRPr dirty="0"/>
          </a:p>
        </p:txBody>
      </p:sp>
      <p:sp>
        <p:nvSpPr>
          <p:cNvPr id="415" name="Google Shape;415;p36">
            <a:extLst>
              <a:ext uri="{FF2B5EF4-FFF2-40B4-BE49-F238E27FC236}">
                <a16:creationId xmlns:a16="http://schemas.microsoft.com/office/drawing/2014/main" id="{25697C35-86F1-410F-875C-AD5A9A6A69E5}"/>
              </a:ext>
            </a:extLst>
          </p:cNvPr>
          <p:cNvSpPr txBox="1">
            <a:spLocks noGrp="1"/>
          </p:cNvSpPr>
          <p:nvPr>
            <p:ph type="body" idx="1"/>
          </p:nvPr>
        </p:nvSpPr>
        <p:spPr>
          <a:xfrm>
            <a:off x="415601" y="1185899"/>
            <a:ext cx="11423009" cy="1440687"/>
          </a:xfrm>
          <a:prstGeom prst="rect">
            <a:avLst/>
          </a:prstGeom>
        </p:spPr>
        <p:txBody>
          <a:bodyPr spcFirstLastPara="1" wrap="square" lIns="121900" tIns="121900" rIns="121900" bIns="121900" anchor="t" anchorCtr="0">
            <a:normAutofit/>
          </a:bodyPr>
          <a:lstStyle/>
          <a:p>
            <a:pPr>
              <a:buChar char="-"/>
            </a:pPr>
            <a:r>
              <a:rPr lang="en-US" dirty="0"/>
              <a:t>Let’s define an action window </a:t>
            </a:r>
            <a:r>
              <a:rPr lang="en-US" b="1" i="1" dirty="0"/>
              <a:t>w </a:t>
            </a:r>
            <a:r>
              <a:rPr lang="en-US" dirty="0"/>
              <a:t>that defines the maximum number of price levels above (below) the mid-price that a bid (ask) order can belong to</a:t>
            </a:r>
          </a:p>
        </p:txBody>
      </p:sp>
      <p:pic>
        <p:nvPicPr>
          <p:cNvPr id="3" name="Picture 2">
            <a:extLst>
              <a:ext uri="{FF2B5EF4-FFF2-40B4-BE49-F238E27FC236}">
                <a16:creationId xmlns:a16="http://schemas.microsoft.com/office/drawing/2014/main" id="{BA82D93D-6A33-0796-1A7B-AE5CEEB7DFD6}"/>
              </a:ext>
            </a:extLst>
          </p:cNvPr>
          <p:cNvPicPr>
            <a:picLocks noChangeAspect="1"/>
          </p:cNvPicPr>
          <p:nvPr/>
        </p:nvPicPr>
        <p:blipFill>
          <a:blip r:embed="rId3"/>
          <a:stretch>
            <a:fillRect/>
          </a:stretch>
        </p:blipFill>
        <p:spPr>
          <a:xfrm>
            <a:off x="1821804" y="2043173"/>
            <a:ext cx="7399867" cy="3302000"/>
          </a:xfrm>
          <a:prstGeom prst="rect">
            <a:avLst/>
          </a:prstGeom>
        </p:spPr>
      </p:pic>
      <p:sp>
        <p:nvSpPr>
          <p:cNvPr id="4" name="Google Shape;415;p36">
            <a:extLst>
              <a:ext uri="{FF2B5EF4-FFF2-40B4-BE49-F238E27FC236}">
                <a16:creationId xmlns:a16="http://schemas.microsoft.com/office/drawing/2014/main" id="{1C66287C-3F9C-F004-A5B7-25B22772A5B3}"/>
              </a:ext>
            </a:extLst>
          </p:cNvPr>
          <p:cNvSpPr txBox="1">
            <a:spLocks/>
          </p:cNvSpPr>
          <p:nvPr/>
        </p:nvSpPr>
        <p:spPr>
          <a:xfrm>
            <a:off x="558170" y="5187170"/>
            <a:ext cx="11423009" cy="1688417"/>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a:buFont typeface="Arial"/>
              <a:buChar char="-"/>
            </a:pPr>
            <a:r>
              <a:rPr lang="en-US" sz="2400" dirty="0"/>
              <a:t>With </a:t>
            </a:r>
            <a:r>
              <a:rPr lang="en-US" sz="2400" b="1" i="1" dirty="0"/>
              <a:t>w</a:t>
            </a:r>
            <a:r>
              <a:rPr lang="en-US" sz="2400" dirty="0"/>
              <a:t> = 0, any new bid orders has a maximum price equal to the mid-price </a:t>
            </a:r>
          </a:p>
          <a:p>
            <a:pPr>
              <a:buFont typeface="Arial"/>
              <a:buChar char="-"/>
            </a:pPr>
            <a:r>
              <a:rPr lang="en-US" sz="2400" b="1" i="1" dirty="0"/>
              <a:t>w </a:t>
            </a:r>
            <a:r>
              <a:rPr lang="en-US" sz="2400" dirty="0"/>
              <a:t>is a parameter that can be set by the exchange operator</a:t>
            </a:r>
          </a:p>
          <a:p>
            <a:pPr lvl="1">
              <a:buFont typeface="Arial"/>
              <a:buChar char="-"/>
            </a:pPr>
            <a:r>
              <a:rPr lang="en-US" sz="2000" dirty="0"/>
              <a:t>Reflects irrationality tolerance</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5137047B-CDA3-0119-7A66-98F101FFA305}"/>
                  </a:ext>
                </a:extLst>
              </p:cNvPr>
              <p:cNvSpPr/>
              <p:nvPr/>
            </p:nvSpPr>
            <p:spPr>
              <a:xfrm>
                <a:off x="9142939" y="3429000"/>
                <a:ext cx="2454514" cy="1326383"/>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b="1" i="1" dirty="0"/>
                  <a:t>p </a:t>
                </a:r>
                <a14:m>
                  <m:oMath xmlns:m="http://schemas.openxmlformats.org/officeDocument/2006/math">
                    <m:r>
                      <a:rPr lang="en-US" sz="4800" b="1" i="1">
                        <a:latin typeface="Cambria Math" panose="02040503050406030204" pitchFamily="18" charset="0"/>
                        <a:ea typeface="Cambria Math" panose="02040503050406030204" pitchFamily="18" charset="0"/>
                      </a:rPr>
                      <m:t>±</m:t>
                    </m:r>
                  </m:oMath>
                </a14:m>
                <a:r>
                  <a:rPr lang="en-US" sz="4800" b="1" i="1" dirty="0"/>
                  <a:t> w</a:t>
                </a:r>
                <a:endParaRPr lang="en-US" sz="4800" dirty="0"/>
              </a:p>
            </p:txBody>
          </p:sp>
        </mc:Choice>
        <mc:Fallback xmlns="">
          <p:sp>
            <p:nvSpPr>
              <p:cNvPr id="6" name="Rounded Rectangle 5">
                <a:extLst>
                  <a:ext uri="{FF2B5EF4-FFF2-40B4-BE49-F238E27FC236}">
                    <a16:creationId xmlns:a16="http://schemas.microsoft.com/office/drawing/2014/main" id="{5137047B-CDA3-0119-7A66-98F101FFA305}"/>
                  </a:ext>
                </a:extLst>
              </p:cNvPr>
              <p:cNvSpPr>
                <a:spLocks noRot="1" noChangeAspect="1" noMove="1" noResize="1" noEditPoints="1" noAdjustHandles="1" noChangeArrowheads="1" noChangeShapeType="1" noTextEdit="1"/>
              </p:cNvSpPr>
              <p:nvPr/>
            </p:nvSpPr>
            <p:spPr>
              <a:xfrm>
                <a:off x="9142939" y="3429000"/>
                <a:ext cx="2454514" cy="1326383"/>
              </a:xfrm>
              <a:prstGeom prst="roundRect">
                <a:avLst/>
              </a:prstGeom>
              <a:blipFill>
                <a:blip r:embed="rId4"/>
                <a:stretch>
                  <a:fillRect b="-5714"/>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ounded Rectangle 6">
                <a:extLst>
                  <a:ext uri="{FF2B5EF4-FFF2-40B4-BE49-F238E27FC236}">
                    <a16:creationId xmlns:a16="http://schemas.microsoft.com/office/drawing/2014/main" id="{93A6B951-6CDE-64E9-D608-1453718AD4E6}"/>
                  </a:ext>
                </a:extLst>
              </p:cNvPr>
              <p:cNvSpPr/>
              <p:nvPr/>
            </p:nvSpPr>
            <p:spPr>
              <a:xfrm>
                <a:off x="9142939" y="2703008"/>
                <a:ext cx="2454514" cy="9470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Critical if price </a:t>
                </a:r>
                <a14:m>
                  <m:oMath xmlns:m="http://schemas.openxmlformats.org/officeDocument/2006/math">
                    <m:r>
                      <a:rPr lang="en-US" sz="3200" b="1" i="1" smtClean="0">
                        <a:latin typeface="Cambria Math" panose="02040503050406030204" pitchFamily="18" charset="0"/>
                        <a:ea typeface="Cambria Math" panose="02040503050406030204" pitchFamily="18" charset="0"/>
                      </a:rPr>
                      <m:t>∈</m:t>
                    </m:r>
                  </m:oMath>
                </a14:m>
                <a:r>
                  <a:rPr lang="en-US" sz="3200" b="1" i="1" dirty="0"/>
                  <a:t>  </a:t>
                </a:r>
                <a:endParaRPr lang="en-US" sz="3200" dirty="0"/>
              </a:p>
            </p:txBody>
          </p:sp>
        </mc:Choice>
        <mc:Fallback xmlns="">
          <p:sp>
            <p:nvSpPr>
              <p:cNvPr id="7" name="Rounded Rectangle 6">
                <a:extLst>
                  <a:ext uri="{FF2B5EF4-FFF2-40B4-BE49-F238E27FC236}">
                    <a16:creationId xmlns:a16="http://schemas.microsoft.com/office/drawing/2014/main" id="{93A6B951-6CDE-64E9-D608-1453718AD4E6}"/>
                  </a:ext>
                </a:extLst>
              </p:cNvPr>
              <p:cNvSpPr>
                <a:spLocks noRot="1" noChangeAspect="1" noMove="1" noResize="1" noEditPoints="1" noAdjustHandles="1" noChangeArrowheads="1" noChangeShapeType="1" noTextEdit="1"/>
              </p:cNvSpPr>
              <p:nvPr/>
            </p:nvSpPr>
            <p:spPr>
              <a:xfrm>
                <a:off x="9142939" y="2703008"/>
                <a:ext cx="2454514" cy="947048"/>
              </a:xfrm>
              <a:prstGeom prst="roundRect">
                <a:avLst/>
              </a:prstGeom>
              <a:blipFill>
                <a:blip r:embed="rId5"/>
                <a:stretch>
                  <a:fillRect t="-13158" b="-27632"/>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2119557381"/>
      </p:ext>
    </p:extLst>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1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1" end="1"/>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A50C683-BA47-9F82-9A7F-615FD436405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because no no-critical order would be executed before any critical order</a:t>
            </a:r>
          </a:p>
        </p:txBody>
      </p:sp>
    </p:spTree>
    <p:extLst>
      <p:ext uri="{BB962C8B-B14F-4D97-AF65-F5344CB8AC3E}">
        <p14:creationId xmlns:p14="http://schemas.microsoft.com/office/powerpoint/2010/main" val="3508302549"/>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59CBBF83-141C-D028-A3C1-BF4608F6AF1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220390" y="4305058"/>
            <a:ext cx="11751219" cy="1815882"/>
          </a:xfrm>
          <a:prstGeom prst="rect">
            <a:avLst/>
          </a:prstGeom>
          <a:noFill/>
        </p:spPr>
        <p:txBody>
          <a:bodyPr wrap="square" rtlCol="0">
            <a:spAutoFit/>
          </a:bodyPr>
          <a:lstStyle/>
          <a:p>
            <a:pPr marL="457200" indent="-457200">
              <a:buFont typeface="Arial" panose="020B0604020202020204" pitchFamily="34" charset="0"/>
              <a:buChar char="•"/>
            </a:pPr>
            <a:r>
              <a:rPr lang="en-US" sz="2800" dirty="0"/>
              <a:t>There is a problem</a:t>
            </a:r>
          </a:p>
          <a:p>
            <a:pPr marL="457200" indent="-457200">
              <a:buFont typeface="Arial" panose="020B0604020202020204" pitchFamily="34" charset="0"/>
              <a:buChar char="•"/>
            </a:pPr>
            <a:r>
              <a:rPr lang="en-US" sz="2800" dirty="0"/>
              <a:t>Criticality definition dependent on the mid-price but mid-price can move</a:t>
            </a:r>
          </a:p>
          <a:p>
            <a:pPr marL="457200" indent="-457200">
              <a:buFont typeface="Arial" panose="020B0604020202020204" pitchFamily="34" charset="0"/>
              <a:buChar char="•"/>
            </a:pPr>
            <a:r>
              <a:rPr lang="en-US" sz="2800" dirty="0"/>
              <a:t>Orders can co-reside but one was generated after the mid-price changed</a:t>
            </a:r>
          </a:p>
          <a:p>
            <a:pPr marL="457200" indent="-457200">
              <a:buFont typeface="Arial" panose="020B0604020202020204" pitchFamily="34" charset="0"/>
              <a:buChar char="•"/>
            </a:pPr>
            <a:r>
              <a:rPr lang="en-US" sz="2800" dirty="0"/>
              <a:t>Can we have some ordering decision between such two orders? Difficult!</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ECBF04B6-C926-9C0B-AD92-36182A2AEE0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64832116-E465-8487-F712-915772D85ADE}"/>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24475770-670D-F8F8-8BAC-F566CAFC2C6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0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28449-70FF-6CB3-D78A-064F0ACA7EF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556002F-245E-BDBA-F1F6-70C7556986C0}"/>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0941E4A6-36F3-617B-B6C2-A6388CC450E1}"/>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F8A1AED6-495A-7A89-6514-F4817E61FCE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8D863609-EFEE-4E6C-6722-CC2947B8A1E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Multiply 3">
            <a:extLst>
              <a:ext uri="{FF2B5EF4-FFF2-40B4-BE49-F238E27FC236}">
                <a16:creationId xmlns:a16="http://schemas.microsoft.com/office/drawing/2014/main" id="{2D645BA7-DC01-F698-280B-69CFF566B119}"/>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C524F8-0FDE-11F6-1322-2D7F9C6219E5}"/>
              </a:ext>
            </a:extLst>
          </p:cNvPr>
          <p:cNvSpPr txBox="1"/>
          <p:nvPr/>
        </p:nvSpPr>
        <p:spPr>
          <a:xfrm>
            <a:off x="416561" y="2456285"/>
            <a:ext cx="5171440" cy="1323439"/>
          </a:xfrm>
          <a:prstGeom prst="rect">
            <a:avLst/>
          </a:prstGeom>
          <a:noFill/>
        </p:spPr>
        <p:txBody>
          <a:bodyPr wrap="square" rtlCol="0">
            <a:spAutoFit/>
          </a:bodyPr>
          <a:lstStyle/>
          <a:p>
            <a:r>
              <a:rPr lang="en-US" sz="4000" dirty="0"/>
              <a:t>In practice, cycles are present.</a:t>
            </a:r>
          </a:p>
        </p:txBody>
      </p:sp>
      <p:sp>
        <p:nvSpPr>
          <p:cNvPr id="8" name="TextBox 7">
            <a:extLst>
              <a:ext uri="{FF2B5EF4-FFF2-40B4-BE49-F238E27FC236}">
                <a16:creationId xmlns:a16="http://schemas.microsoft.com/office/drawing/2014/main" id="{3A128657-113C-B517-9604-CE5643865473}"/>
              </a:ext>
            </a:extLst>
          </p:cNvPr>
          <p:cNvSpPr txBox="1"/>
          <p:nvPr/>
        </p:nvSpPr>
        <p:spPr>
          <a:xfrm>
            <a:off x="416560" y="3779724"/>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40390056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A59F3483-C2C3-5146-ECB7-5F29016060AB}"/>
              </a:ext>
            </a:extLst>
          </p:cNvPr>
          <p:cNvSpPr txBox="1"/>
          <p:nvPr/>
        </p:nvSpPr>
        <p:spPr>
          <a:xfrm>
            <a:off x="786510" y="1899920"/>
            <a:ext cx="9759570" cy="584775"/>
          </a:xfrm>
          <a:prstGeom prst="rect">
            <a:avLst/>
          </a:prstGeom>
          <a:noFill/>
        </p:spPr>
        <p:txBody>
          <a:bodyPr wrap="square" rtlCol="0">
            <a:spAutoFit/>
          </a:bodyPr>
          <a:lstStyle/>
          <a:p>
            <a:pPr marL="457200" indent="-457200">
              <a:buFont typeface="Arial" panose="020B0604020202020204" pitchFamily="34" charset="0"/>
              <a:buChar char="•"/>
            </a:pPr>
            <a:r>
              <a:rPr lang="en-US" sz="3200" dirty="0"/>
              <a:t>Intransitivity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5" name="TextBox 4">
            <a:extLst>
              <a:ext uri="{FF2B5EF4-FFF2-40B4-BE49-F238E27FC236}">
                <a16:creationId xmlns:a16="http://schemas.microsoft.com/office/drawing/2014/main" id="{092F98D2-66C4-B08C-5B6C-53E460CE4D06}"/>
              </a:ext>
            </a:extLst>
          </p:cNvPr>
          <p:cNvSpPr txBox="1"/>
          <p:nvPr/>
        </p:nvSpPr>
        <p:spPr>
          <a:xfrm>
            <a:off x="5547360" y="2644170"/>
            <a:ext cx="3616960" cy="1569660"/>
          </a:xfrm>
          <a:prstGeom prst="rect">
            <a:avLst/>
          </a:prstGeom>
          <a:noFill/>
        </p:spPr>
        <p:txBody>
          <a:bodyPr wrap="square" rtlCol="0">
            <a:spAutoFit/>
          </a:bodyPr>
          <a:lstStyle/>
          <a:p>
            <a:pPr marL="457200" indent="-457200">
              <a:buFont typeface="Arial" panose="020B0604020202020204" pitchFamily="34" charset="0"/>
              <a:buChar char="•"/>
            </a:pPr>
            <a:r>
              <a:rPr lang="en-US" sz="3200" dirty="0"/>
              <a:t>A wins over B</a:t>
            </a:r>
          </a:p>
          <a:p>
            <a:pPr marL="457200" indent="-457200">
              <a:buFont typeface="Arial" panose="020B0604020202020204" pitchFamily="34" charset="0"/>
              <a:buChar char="•"/>
            </a:pPr>
            <a:r>
              <a:rPr lang="en-US" sz="3200" dirty="0"/>
              <a:t>B wins over C</a:t>
            </a:r>
          </a:p>
          <a:p>
            <a:pPr marL="457200" indent="-457200">
              <a:buFont typeface="Arial" panose="020B0604020202020204" pitchFamily="34" charset="0"/>
              <a:buChar char="•"/>
            </a:pPr>
            <a:r>
              <a:rPr lang="en-US" sz="3200" dirty="0"/>
              <a:t>C wins over A</a:t>
            </a:r>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win over all the candidates not in the set</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A9811-03EF-FA51-56E5-EBB4F69542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E90AE6D-5ADA-72DB-1C18-7908E43FBF8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7DA48C0-7A8E-4EF5-A859-4BA0244FDC64}"/>
              </a:ext>
            </a:extLst>
          </p:cNvPr>
          <p:cNvSpPr txBox="1"/>
          <p:nvPr/>
        </p:nvSpPr>
        <p:spPr>
          <a:xfrm>
            <a:off x="786510" y="1899920"/>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Find the smith set of events</a:t>
            </a:r>
          </a:p>
          <a:p>
            <a:pPr marL="457200" indent="-457200">
              <a:buFont typeface="Arial" panose="020B0604020202020204" pitchFamily="34" charset="0"/>
              <a:buChar char="•"/>
            </a:pPr>
            <a:r>
              <a:rPr lang="en-US" sz="3200" dirty="0"/>
              <a:t>Emit that batch of events</a:t>
            </a:r>
          </a:p>
          <a:p>
            <a:pPr marL="457200" indent="-457200">
              <a:buFont typeface="Arial" panose="020B0604020202020204" pitchFamily="34" charset="0"/>
              <a:buChar char="•"/>
            </a:pPr>
            <a:r>
              <a:rPr lang="en-US" sz="3200" dirty="0"/>
              <a:t>Repeat for the remaining events</a:t>
            </a:r>
          </a:p>
          <a:p>
            <a:pPr marL="457200" indent="-457200">
              <a:buFont typeface="Arial" panose="020B0604020202020204" pitchFamily="34" charset="0"/>
              <a:buChar char="•"/>
            </a:pPr>
            <a:endParaRPr lang="en-US" sz="3200" dirty="0"/>
          </a:p>
        </p:txBody>
      </p:sp>
      <p:sp>
        <p:nvSpPr>
          <p:cNvPr id="3" name="TextBox 2">
            <a:extLst>
              <a:ext uri="{FF2B5EF4-FFF2-40B4-BE49-F238E27FC236}">
                <a16:creationId xmlns:a16="http://schemas.microsoft.com/office/drawing/2014/main" id="{0B7BFE6C-0F03-97D4-0474-39D518662083}"/>
              </a:ext>
            </a:extLst>
          </p:cNvPr>
          <p:cNvSpPr txBox="1"/>
          <p:nvPr/>
        </p:nvSpPr>
        <p:spPr>
          <a:xfrm>
            <a:off x="786510" y="3962023"/>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Forsaking total order for partial order</a:t>
            </a:r>
          </a:p>
          <a:p>
            <a:pPr marL="457200" indent="-457200">
              <a:buFont typeface="Arial" panose="020B0604020202020204" pitchFamily="34" charset="0"/>
              <a:buChar char="•"/>
            </a:pPr>
            <a:r>
              <a:rPr lang="en-US" sz="3200" dirty="0"/>
              <a:t>The downstream application can decide how to deal with events that are left unordered </a:t>
            </a:r>
            <a:r>
              <a:rPr lang="en-US" sz="3200" dirty="0" err="1"/>
              <a:t>w.r.t.</a:t>
            </a:r>
            <a:r>
              <a:rPr lang="en-US" sz="3200" dirty="0"/>
              <a:t> each other</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636598F-A4D2-52EB-CD18-25412D0779D2}"/>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102814688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build="p"/>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A3E66-9551-7C18-48C3-AC53394D116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F97961-9FB7-2E41-63E1-DEF38344F75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4F65D9B4-E493-8515-FAF0-4D0F58985CFB}"/>
              </a:ext>
            </a:extLst>
          </p:cNvPr>
          <p:cNvSpPr txBox="1"/>
          <p:nvPr/>
        </p:nvSpPr>
        <p:spPr>
          <a:xfrm>
            <a:off x="7327826" y="1466287"/>
            <a:ext cx="5180657" cy="1692771"/>
          </a:xfrm>
          <a:prstGeom prst="rect">
            <a:avLst/>
          </a:prstGeom>
          <a:noFill/>
        </p:spPr>
        <p:txBody>
          <a:bodyPr wrap="square" rtlCol="0">
            <a:spAutoFit/>
          </a:bodyPr>
          <a:lstStyle/>
          <a:p>
            <a:pPr marL="457200" indent="-457200">
              <a:buFont typeface="Arial" panose="020B0604020202020204" pitchFamily="34" charset="0"/>
              <a:buChar char="•"/>
            </a:pPr>
            <a:r>
              <a:rPr lang="en-US" sz="2400" dirty="0"/>
              <a:t>Find the smith set of events</a:t>
            </a:r>
          </a:p>
          <a:p>
            <a:pPr marL="457200" indent="-457200">
              <a:buFont typeface="Arial" panose="020B0604020202020204" pitchFamily="34" charset="0"/>
              <a:buChar char="•"/>
            </a:pPr>
            <a:r>
              <a:rPr lang="en-US" sz="2400" dirty="0"/>
              <a:t>Emit that batch of events</a:t>
            </a:r>
          </a:p>
          <a:p>
            <a:pPr marL="457200" indent="-457200">
              <a:buFont typeface="Arial" panose="020B0604020202020204" pitchFamily="34" charset="0"/>
              <a:buChar char="•"/>
            </a:pPr>
            <a:r>
              <a:rPr lang="en-US" sz="2400" dirty="0"/>
              <a:t>Repeat for the remaining events</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C3C6740-91A8-A586-121A-72EF75512F33}"/>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TextBox 4">
            <a:extLst>
              <a:ext uri="{FF2B5EF4-FFF2-40B4-BE49-F238E27FC236}">
                <a16:creationId xmlns:a16="http://schemas.microsoft.com/office/drawing/2014/main" id="{5FD77D0A-A81C-CB49-3A0C-76DD0AC32DDC}"/>
              </a:ext>
            </a:extLst>
          </p:cNvPr>
          <p:cNvSpPr txBox="1"/>
          <p:nvPr/>
        </p:nvSpPr>
        <p:spPr>
          <a:xfrm>
            <a:off x="1135301" y="2667891"/>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Create the likely-happened-before graph 𝒢</a:t>
            </a:r>
          </a:p>
          <a:p>
            <a:pPr marL="457200" indent="-457200">
              <a:buFont typeface="Arial" panose="020B0604020202020204" pitchFamily="34" charset="0"/>
              <a:buChar char="•"/>
            </a:pPr>
            <a:r>
              <a:rPr lang="en-US" sz="3200" dirty="0"/>
              <a:t>Do a Strongly Connected Components (SCC) decomposition, 𝒢 </a:t>
            </a:r>
            <a:r>
              <a:rPr lang="en-US" sz="3200" dirty="0">
                <a:sym typeface="Wingdings" pitchFamily="2" charset="2"/>
              </a:rPr>
              <a:t> </a:t>
            </a:r>
            <a:r>
              <a:rPr lang="en-US" sz="3200" dirty="0"/>
              <a:t>𝒢’</a:t>
            </a:r>
          </a:p>
          <a:p>
            <a:pPr marL="457200" indent="-457200">
              <a:buFont typeface="Arial" panose="020B0604020202020204" pitchFamily="34" charset="0"/>
              <a:buChar char="•"/>
            </a:pPr>
            <a:r>
              <a:rPr lang="en-US" sz="3200" dirty="0"/>
              <a:t>Find topological ordering of 𝒢’</a:t>
            </a:r>
          </a:p>
          <a:p>
            <a:pPr marL="457200" indent="-457200">
              <a:buFont typeface="Arial" panose="020B0604020202020204" pitchFamily="34" charset="0"/>
              <a:buChar char="•"/>
            </a:pPr>
            <a:r>
              <a:rPr lang="en-US" sz="3200" dirty="0"/>
              <a:t>Emit each super-node in 𝒢’ in the topological order</a:t>
            </a:r>
          </a:p>
        </p:txBody>
      </p:sp>
    </p:spTree>
    <p:extLst>
      <p:ext uri="{BB962C8B-B14F-4D97-AF65-F5344CB8AC3E}">
        <p14:creationId xmlns:p14="http://schemas.microsoft.com/office/powerpoint/2010/main" val="328888751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E9DC7-B73D-15A3-2C65-40CE110176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7D421-070A-7969-0A54-490686C7C69E}"/>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7A44D57A-81EA-38A9-516D-2496BE9AB456}"/>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82B6CFDC-F079-9B49-103E-89EDE3081F1F}"/>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EE1CEA4F-048F-15C8-1459-8CEEFE4369C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902708DB-FB7F-BD62-EEEF-BF8B0E69FA47}"/>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A53AAB15-4C87-368E-190C-75E9349DDD48}"/>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2AC00D0-F601-310C-5718-2996C140E74C}"/>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D6B3693C-BDB2-FB76-C591-AD563C1F19AE}"/>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174805847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 presetClass="exit" presetSubtype="10" fill="hold" grpId="0" nodeType="withEffect">
                                  <p:stCondLst>
                                    <p:cond delay="0"/>
                                  </p:stCondLst>
                                  <p:childTnLst>
                                    <p:animEffect transition="out" filter="blinds(horizontal)">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par>
                                <p:cTn id="8" presetID="3" presetClass="exit" presetSubtype="10" fill="hold" grpId="0" nodeType="withEffect">
                                  <p:stCondLst>
                                    <p:cond delay="0"/>
                                  </p:stCondLst>
                                  <p:childTnLst>
                                    <p:animEffect transition="out" filter="blinds(horizontal)">
                                      <p:cBhvr>
                                        <p:cTn id="9" dur="500"/>
                                        <p:tgtEl>
                                          <p:spTgt spid="8"/>
                                        </p:tgtEl>
                                      </p:cBhvr>
                                    </p:animEffect>
                                    <p:set>
                                      <p:cBhvr>
                                        <p:cTn id="10" dur="1" fill="hold">
                                          <p:stCondLst>
                                            <p:cond delay="499"/>
                                          </p:stCondLst>
                                        </p:cTn>
                                        <p:tgtEl>
                                          <p:spTgt spid="8"/>
                                        </p:tgtEl>
                                        <p:attrNameLst>
                                          <p:attrName>style.visibility</p:attrName>
                                        </p:attrNameLst>
                                      </p:cBhvr>
                                      <p:to>
                                        <p:strVal val="hidden"/>
                                      </p:to>
                                    </p:set>
                                  </p:childTnLst>
                                </p:cTn>
                              </p:par>
                              <p:par>
                                <p:cTn id="11" presetID="3" presetClass="exit" presetSubtype="10" fill="hold" grpId="0" nodeType="withEffect">
                                  <p:stCondLst>
                                    <p:cond delay="0"/>
                                  </p:stCondLst>
                                  <p:childTnLst>
                                    <p:animEffect transition="out" filter="blinds(horizontal)">
                                      <p:cBhvr>
                                        <p:cTn id="12" dur="500"/>
                                        <p:tgtEl>
                                          <p:spTgt spid="9"/>
                                        </p:tgtEl>
                                      </p:cBhvr>
                                    </p:animEffect>
                                    <p:set>
                                      <p:cBhvr>
                                        <p:cTn id="13"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2" presetClass="entr" presetSubtype="2"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 calcmode="lin" valueType="num">
                                      <p:cBhvr additive="base">
                                        <p:cTn id="9" dur="500" fill="hold"/>
                                        <p:tgtEl>
                                          <p:spTgt spid="9"/>
                                        </p:tgtEl>
                                        <p:attrNameLst>
                                          <p:attrName>ppt_x</p:attrName>
                                        </p:attrNameLst>
                                      </p:cBhvr>
                                      <p:tavLst>
                                        <p:tav tm="0">
                                          <p:val>
                                            <p:strVal val="1+#ppt_w/2"/>
                                          </p:val>
                                        </p:tav>
                                        <p:tav tm="100000">
                                          <p:val>
                                            <p:strVal val="#ppt_x"/>
                                          </p:val>
                                        </p:tav>
                                      </p:tavLst>
                                    </p:anim>
                                    <p:anim calcmode="lin" valueType="num">
                                      <p:cBhvr additive="base">
                                        <p:cTn id="10"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2"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 calcmode="lin" valueType="num">
                                      <p:cBhvr additive="base">
                                        <p:cTn id="15" dur="500" fill="hold"/>
                                        <p:tgtEl>
                                          <p:spTgt spid="10"/>
                                        </p:tgtEl>
                                        <p:attrNameLst>
                                          <p:attrName>ppt_x</p:attrName>
                                        </p:attrNameLst>
                                      </p:cBhvr>
                                      <p:tavLst>
                                        <p:tav tm="0">
                                          <p:val>
                                            <p:strVal val="1+#ppt_w/2"/>
                                          </p:val>
                                        </p:tav>
                                        <p:tav tm="100000">
                                          <p:val>
                                            <p:strVal val="#ppt_x"/>
                                          </p:val>
                                        </p:tav>
                                      </p:tavLst>
                                    </p:anim>
                                    <p:anim calcmode="lin" valueType="num">
                                      <p:cBhvr additive="base">
                                        <p:cTn id="16"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43C36298-8C94-D201-27B0-7BF152D0322E}"/>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B4B1F4F-AB95-C6D1-931E-5E59074F2D43}"/>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but their difference will always fall in a relatively small range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21ADB6C0-0677-20DF-DD4A-7A1CC4732F04}"/>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12" name="TextBox 11">
                <a:extLst>
                  <a:ext uri="{FF2B5EF4-FFF2-40B4-BE49-F238E27FC236}">
                    <a16:creationId xmlns:a16="http://schemas.microsoft.com/office/drawing/2014/main" id="{21ADB6C0-0677-20DF-DD4A-7A1CC4732F0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but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lnSpcReduction="10000"/>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a:p>
            <a:pPr lvl="1"/>
            <a:r>
              <a:rPr lang="en-US" dirty="0"/>
              <a:t>Better arbitrage finding in financial exchanges</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 finding arbitrage opportunities</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3331</TotalTime>
  <Words>5548</Words>
  <Application>Microsoft Macintosh PowerPoint</Application>
  <PresentationFormat>Widescreen</PresentationFormat>
  <Paragraphs>1475</Paragraphs>
  <Slides>158</Slides>
  <Notes>120</Notes>
  <HiddenSlides>2</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158</vt:i4>
      </vt:variant>
    </vt:vector>
  </HeadingPairs>
  <TitlesOfParts>
    <vt:vector size="168"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Limit Order Queue – action window</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Ordering in an online setting</vt:lpstr>
      <vt:lpstr>Computation Optimization</vt:lpstr>
      <vt:lpstr>Computation Optimization</vt:lpstr>
      <vt:lpstr>Evaluation</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380</cp:revision>
  <dcterms:created xsi:type="dcterms:W3CDTF">2026-04-04T21:04:51Z</dcterms:created>
  <dcterms:modified xsi:type="dcterms:W3CDTF">2026-04-07T21:19:59Z</dcterms:modified>
</cp:coreProperties>
</file>