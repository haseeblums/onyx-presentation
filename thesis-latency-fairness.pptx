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6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5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417" r:id="rId68"/>
    <p:sldId id="418" r:id="rId69"/>
    <p:sldId id="318" r:id="rId70"/>
    <p:sldId id="320" r:id="rId71"/>
    <p:sldId id="321" r:id="rId72"/>
    <p:sldId id="322" r:id="rId73"/>
    <p:sldId id="324" r:id="rId74"/>
    <p:sldId id="325" r:id="rId75"/>
    <p:sldId id="326" r:id="rId76"/>
    <p:sldId id="328" r:id="rId77"/>
    <p:sldId id="329" r:id="rId78"/>
    <p:sldId id="1854" r:id="rId79"/>
    <p:sldId id="429" r:id="rId80"/>
    <p:sldId id="363" r:id="rId81"/>
    <p:sldId id="364" r:id="rId82"/>
    <p:sldId id="365" r:id="rId83"/>
    <p:sldId id="366" r:id="rId84"/>
    <p:sldId id="367" r:id="rId85"/>
    <p:sldId id="368" r:id="rId86"/>
    <p:sldId id="369" r:id="rId87"/>
    <p:sldId id="370" r:id="rId88"/>
    <p:sldId id="371" r:id="rId89"/>
    <p:sldId id="373" r:id="rId90"/>
    <p:sldId id="372" r:id="rId91"/>
    <p:sldId id="374" r:id="rId92"/>
    <p:sldId id="375" r:id="rId93"/>
    <p:sldId id="350" r:id="rId94"/>
    <p:sldId id="359" r:id="rId95"/>
    <p:sldId id="427" r:id="rId96"/>
    <p:sldId id="360" r:id="rId97"/>
    <p:sldId id="428" r:id="rId98"/>
    <p:sldId id="353" r:id="rId99"/>
    <p:sldId id="432" r:id="rId100"/>
    <p:sldId id="1856" r:id="rId101"/>
    <p:sldId id="1857" r:id="rId102"/>
    <p:sldId id="351" r:id="rId103"/>
    <p:sldId id="352" r:id="rId104"/>
    <p:sldId id="1858" r:id="rId105"/>
    <p:sldId id="354" r:id="rId106"/>
    <p:sldId id="355" r:id="rId107"/>
    <p:sldId id="1859" r:id="rId108"/>
    <p:sldId id="357" r:id="rId109"/>
    <p:sldId id="358" r:id="rId110"/>
    <p:sldId id="1860" r:id="rId111"/>
    <p:sldId id="1861" r:id="rId112"/>
    <p:sldId id="393" r:id="rId113"/>
    <p:sldId id="1862" r:id="rId114"/>
    <p:sldId id="402" r:id="rId115"/>
    <p:sldId id="1863" r:id="rId116"/>
    <p:sldId id="1864" r:id="rId117"/>
    <p:sldId id="415" r:id="rId118"/>
    <p:sldId id="340" r:id="rId119"/>
    <p:sldId id="1865" r:id="rId120"/>
    <p:sldId id="1866" r:id="rId121"/>
    <p:sldId id="1867" r:id="rId122"/>
    <p:sldId id="412" r:id="rId123"/>
    <p:sldId id="1868" r:id="rId124"/>
    <p:sldId id="1869" r:id="rId125"/>
    <p:sldId id="413" r:id="rId126"/>
    <p:sldId id="1870" r:id="rId127"/>
    <p:sldId id="1871" r:id="rId128"/>
    <p:sldId id="1872" r:id="rId129"/>
    <p:sldId id="419" r:id="rId130"/>
    <p:sldId id="1873" r:id="rId131"/>
    <p:sldId id="421" r:id="rId132"/>
    <p:sldId id="1878" r:id="rId133"/>
    <p:sldId id="1879" r:id="rId134"/>
    <p:sldId id="422" r:id="rId135"/>
    <p:sldId id="1874" r:id="rId136"/>
    <p:sldId id="1875" r:id="rId137"/>
    <p:sldId id="1876" r:id="rId138"/>
    <p:sldId id="1877" r:id="rId139"/>
    <p:sldId id="1880" r:id="rId140"/>
    <p:sldId id="1881" r:id="rId141"/>
    <p:sldId id="1882" r:id="rId142"/>
    <p:sldId id="1883" r:id="rId143"/>
    <p:sldId id="1884" r:id="rId144"/>
    <p:sldId id="1885" r:id="rId145"/>
    <p:sldId id="1887" r:id="rId146"/>
    <p:sldId id="1886" r:id="rId147"/>
    <p:sldId id="1888" r:id="rId148"/>
    <p:sldId id="1890" r:id="rId1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12"/>
    <p:restoredTop sz="91046"/>
  </p:normalViewPr>
  <p:slideViewPr>
    <p:cSldViewPr snapToGrid="0">
      <p:cViewPr varScale="1">
        <p:scale>
          <a:sx n="121" d="100"/>
          <a:sy n="121" d="100"/>
        </p:scale>
        <p:origin x="40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notesMaster" Target="notesMasters/notesMaster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presProps" Target="presProp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viewProps" Target="viewProp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tableStyles" Target="tableStyle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591EB5DA-D456-4719-81F1-C9231B02DA00}">
      <dgm:prSet/>
      <dgm:spPr/>
      <dgm:t>
        <a:bodyPr/>
        <a:lstStyle/>
        <a:p>
          <a:r>
            <a:rPr lang="en-US" dirty="0"/>
            <a:t>Scheduling Policy</a:t>
          </a:r>
        </a:p>
      </dgm:t>
    </dgm:pt>
    <dgm:pt modelId="{14B7D9CF-7179-4D94-8FB1-1DB0C5FB1C1C}" type="parTrans" cxnId="{CADF82A8-156F-47FA-985E-F78E405FCE4E}">
      <dgm:prSet/>
      <dgm:spPr/>
      <dgm:t>
        <a:bodyPr/>
        <a:lstStyle/>
        <a:p>
          <a:endParaRPr lang="en-US"/>
        </a:p>
      </dgm:t>
    </dgm:pt>
    <dgm:pt modelId="{8625C99A-FC32-46B2-B1C6-A58489CFDD88}" type="sibTrans" cxnId="{CADF82A8-156F-47FA-985E-F78E405FCE4E}">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2"/>
      <dgm:spPr/>
    </dgm:pt>
    <dgm:pt modelId="{0F137DB1-E140-1244-B54D-691FDAD50DEA}" type="pres">
      <dgm:prSet presAssocID="{620C197B-8959-4715-B44A-475E0E427332}" presName="text" presStyleLbl="fgAcc0" presStyleIdx="0" presStyleCnt="2" custScaleX="65157" custScaleY="47747">
        <dgm:presLayoutVars>
          <dgm:chPref val="3"/>
        </dgm:presLayoutVars>
      </dgm:prSet>
      <dgm:spPr/>
    </dgm:pt>
    <dgm:pt modelId="{EF6C8EBF-03DF-9441-B57E-225A94CC1F90}" type="pres">
      <dgm:prSet presAssocID="{620C197B-8959-4715-B44A-475E0E427332}" presName="hierChild2" presStyleCnt="0"/>
      <dgm:spPr/>
    </dgm:pt>
    <dgm:pt modelId="{261EBC69-D250-184B-B07F-4A04A924D2FD}" type="pres">
      <dgm:prSet presAssocID="{591EB5DA-D456-4719-81F1-C9231B02DA00}" presName="hierRoot1" presStyleCnt="0"/>
      <dgm:spPr/>
    </dgm:pt>
    <dgm:pt modelId="{5BE3205E-7013-7541-B0F7-3934FBC36E68}" type="pres">
      <dgm:prSet presAssocID="{591EB5DA-D456-4719-81F1-C9231B02DA00}" presName="composite" presStyleCnt="0"/>
      <dgm:spPr/>
    </dgm:pt>
    <dgm:pt modelId="{5787790F-D557-A44E-8EB2-AB272599E82D}" type="pres">
      <dgm:prSet presAssocID="{591EB5DA-D456-4719-81F1-C9231B02DA00}" presName="background" presStyleLbl="node0" presStyleIdx="1" presStyleCnt="2"/>
      <dgm:spPr/>
    </dgm:pt>
    <dgm:pt modelId="{C384D89C-DE2A-D74A-B4F0-9B134018EC1D}" type="pres">
      <dgm:prSet presAssocID="{591EB5DA-D456-4719-81F1-C9231B02DA00}" presName="text" presStyleLbl="fgAcc0" presStyleIdx="1" presStyleCnt="2" custScaleX="63261" custScaleY="47565">
        <dgm:presLayoutVars>
          <dgm:chPref val="3"/>
        </dgm:presLayoutVars>
      </dgm:prSet>
      <dgm:spPr/>
    </dgm:pt>
    <dgm:pt modelId="{66A372F0-CFD0-2F4E-BEED-456CD7A9471A}" type="pres">
      <dgm:prSet presAssocID="{591EB5DA-D456-4719-81F1-C9231B02DA00}"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DF82A8-156F-47FA-985E-F78E405FCE4E}" srcId="{D5898AC0-2D08-439C-A183-85DC385DF673}" destId="{591EB5DA-D456-4719-81F1-C9231B02DA00}" srcOrd="1" destOrd="0" parTransId="{14B7D9CF-7179-4D94-8FB1-1DB0C5FB1C1C}" sibTransId="{8625C99A-FC32-46B2-B1C6-A58489CFDD88}"/>
    <dgm:cxn modelId="{CA7573CF-01C9-814B-8E00-D0276852FABF}" type="presOf" srcId="{D5898AC0-2D08-439C-A183-85DC385DF673}" destId="{806EB9D5-5515-B246-B245-AAC8A1EAA5BC}" srcOrd="0" destOrd="0" presId="urn:microsoft.com/office/officeart/2005/8/layout/hierarchy1"/>
    <dgm:cxn modelId="{C1B1CCE5-A5A1-4640-B620-1F0859F0F7F4}" type="presOf" srcId="{591EB5DA-D456-4719-81F1-C9231B02DA00}" destId="{C384D89C-DE2A-D74A-B4F0-9B134018EC1D}"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 modelId="{FFCC0A55-D795-3340-97AD-67134B0CFB4E}" type="presParOf" srcId="{806EB9D5-5515-B246-B245-AAC8A1EAA5BC}" destId="{261EBC69-D250-184B-B07F-4A04A924D2FD}" srcOrd="1" destOrd="0" presId="urn:microsoft.com/office/officeart/2005/8/layout/hierarchy1"/>
    <dgm:cxn modelId="{565BF7E4-AEF5-AE4C-8B83-45DEDD18BCA4}" type="presParOf" srcId="{261EBC69-D250-184B-B07F-4A04A924D2FD}" destId="{5BE3205E-7013-7541-B0F7-3934FBC36E68}" srcOrd="0" destOrd="0" presId="urn:microsoft.com/office/officeart/2005/8/layout/hierarchy1"/>
    <dgm:cxn modelId="{B2EE9FAD-C5EB-2042-A506-46B74DF56309}" type="presParOf" srcId="{5BE3205E-7013-7541-B0F7-3934FBC36E68}" destId="{5787790F-D557-A44E-8EB2-AB272599E82D}" srcOrd="0" destOrd="0" presId="urn:microsoft.com/office/officeart/2005/8/layout/hierarchy1"/>
    <dgm:cxn modelId="{1C205091-D87D-6B46-AE2B-34CD1BE691CA}" type="presParOf" srcId="{5BE3205E-7013-7541-B0F7-3934FBC36E68}" destId="{C384D89C-DE2A-D74A-B4F0-9B134018EC1D}" srcOrd="1" destOrd="0" presId="urn:microsoft.com/office/officeart/2005/8/layout/hierarchy1"/>
    <dgm:cxn modelId="{6F087824-345E-384C-A4D6-F104979D84F6}" type="presParOf" srcId="{261EBC69-D250-184B-B07F-4A04A924D2FD}" destId="{66A372F0-CFD0-2F4E-BEED-456CD7A9471A}"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5898AC0-2D08-439C-A183-85DC385DF673}" type="doc">
      <dgm:prSet loTypeId="urn:microsoft.com/office/officeart/2005/8/layout/hierarchy1" loCatId="hierarchy" qsTypeId="urn:microsoft.com/office/officeart/2005/8/quickstyle/simple4" qsCatId="simple" csTypeId="urn:microsoft.com/office/officeart/2005/8/colors/accent1_2" csCatId="accent1" phldr="1"/>
      <dgm:spPr/>
      <dgm:t>
        <a:bodyPr/>
        <a:lstStyle/>
        <a:p>
          <a:endParaRPr lang="en-US"/>
        </a:p>
      </dgm:t>
    </dgm:pt>
    <dgm:pt modelId="{620C197B-8959-4715-B44A-475E0E427332}">
      <dgm:prSet/>
      <dgm:spPr/>
      <dgm:t>
        <a:bodyPr/>
        <a:lstStyle/>
        <a:p>
          <a:r>
            <a:rPr lang="en-US" dirty="0"/>
            <a:t>A sequencer</a:t>
          </a:r>
        </a:p>
      </dgm:t>
    </dgm:pt>
    <dgm:pt modelId="{8CEFA0F6-4CA0-46FD-B072-D696CC30482F}" type="parTrans" cxnId="{59BEACEA-E8C1-4D64-8259-FDB189F50767}">
      <dgm:prSet/>
      <dgm:spPr/>
      <dgm:t>
        <a:bodyPr/>
        <a:lstStyle/>
        <a:p>
          <a:endParaRPr lang="en-US"/>
        </a:p>
      </dgm:t>
    </dgm:pt>
    <dgm:pt modelId="{EC4C8EB8-4020-482D-A43D-745F569D3892}" type="sibTrans" cxnId="{59BEACEA-E8C1-4D64-8259-FDB189F50767}">
      <dgm:prSet/>
      <dgm:spPr/>
      <dgm:t>
        <a:bodyPr/>
        <a:lstStyle/>
        <a:p>
          <a:endParaRPr lang="en-US"/>
        </a:p>
      </dgm:t>
    </dgm:pt>
    <dgm:pt modelId="{806EB9D5-5515-B246-B245-AAC8A1EAA5BC}" type="pres">
      <dgm:prSet presAssocID="{D5898AC0-2D08-439C-A183-85DC385DF673}" presName="hierChild1" presStyleCnt="0">
        <dgm:presLayoutVars>
          <dgm:chPref val="1"/>
          <dgm:dir/>
          <dgm:animOne val="branch"/>
          <dgm:animLvl val="lvl"/>
          <dgm:resizeHandles/>
        </dgm:presLayoutVars>
      </dgm:prSet>
      <dgm:spPr/>
    </dgm:pt>
    <dgm:pt modelId="{D97B835E-8232-694B-8CA3-EDAAA7976AA5}" type="pres">
      <dgm:prSet presAssocID="{620C197B-8959-4715-B44A-475E0E427332}" presName="hierRoot1" presStyleCnt="0"/>
      <dgm:spPr/>
    </dgm:pt>
    <dgm:pt modelId="{90F6FF3A-AF44-D143-94E6-FF7B4A6B3486}" type="pres">
      <dgm:prSet presAssocID="{620C197B-8959-4715-B44A-475E0E427332}" presName="composite" presStyleCnt="0"/>
      <dgm:spPr/>
    </dgm:pt>
    <dgm:pt modelId="{FA5A891E-1476-D94F-A1AF-CCB7E72C1AF5}" type="pres">
      <dgm:prSet presAssocID="{620C197B-8959-4715-B44A-475E0E427332}" presName="background" presStyleLbl="node0" presStyleIdx="0" presStyleCnt="1"/>
      <dgm:spPr/>
    </dgm:pt>
    <dgm:pt modelId="{0F137DB1-E140-1244-B54D-691FDAD50DEA}" type="pres">
      <dgm:prSet presAssocID="{620C197B-8959-4715-B44A-475E0E427332}" presName="text" presStyleLbl="fgAcc0" presStyleIdx="0" presStyleCnt="1" custScaleX="100403" custScaleY="13270" custLinFactNeighborX="1383" custLinFactNeighborY="3234">
        <dgm:presLayoutVars>
          <dgm:chPref val="3"/>
        </dgm:presLayoutVars>
      </dgm:prSet>
      <dgm:spPr/>
    </dgm:pt>
    <dgm:pt modelId="{EF6C8EBF-03DF-9441-B57E-225A94CC1F90}" type="pres">
      <dgm:prSet presAssocID="{620C197B-8959-4715-B44A-475E0E427332}" presName="hierChild2" presStyleCnt="0"/>
      <dgm:spPr/>
    </dgm:pt>
  </dgm:ptLst>
  <dgm:cxnLst>
    <dgm:cxn modelId="{F50FE152-B40A-A24D-B358-9D4827D6F1D3}" type="presOf" srcId="{620C197B-8959-4715-B44A-475E0E427332}" destId="{0F137DB1-E140-1244-B54D-691FDAD50DEA}" srcOrd="0" destOrd="0" presId="urn:microsoft.com/office/officeart/2005/8/layout/hierarchy1"/>
    <dgm:cxn modelId="{CA7573CF-01C9-814B-8E00-D0276852FABF}" type="presOf" srcId="{D5898AC0-2D08-439C-A183-85DC385DF673}" destId="{806EB9D5-5515-B246-B245-AAC8A1EAA5BC}" srcOrd="0" destOrd="0" presId="urn:microsoft.com/office/officeart/2005/8/layout/hierarchy1"/>
    <dgm:cxn modelId="{59BEACEA-E8C1-4D64-8259-FDB189F50767}" srcId="{D5898AC0-2D08-439C-A183-85DC385DF673}" destId="{620C197B-8959-4715-B44A-475E0E427332}" srcOrd="0" destOrd="0" parTransId="{8CEFA0F6-4CA0-46FD-B072-D696CC30482F}" sibTransId="{EC4C8EB8-4020-482D-A43D-745F569D3892}"/>
    <dgm:cxn modelId="{17EDCF41-D354-F746-9B7D-3F8AF995963D}" type="presParOf" srcId="{806EB9D5-5515-B246-B245-AAC8A1EAA5BC}" destId="{D97B835E-8232-694B-8CA3-EDAAA7976AA5}" srcOrd="0" destOrd="0" presId="urn:microsoft.com/office/officeart/2005/8/layout/hierarchy1"/>
    <dgm:cxn modelId="{A4BF74C8-3849-C24E-BB45-08E6919B97A1}" type="presParOf" srcId="{D97B835E-8232-694B-8CA3-EDAAA7976AA5}" destId="{90F6FF3A-AF44-D143-94E6-FF7B4A6B3486}" srcOrd="0" destOrd="0" presId="urn:microsoft.com/office/officeart/2005/8/layout/hierarchy1"/>
    <dgm:cxn modelId="{60A0D589-4464-3F45-9D9C-0088A3B79E52}" type="presParOf" srcId="{90F6FF3A-AF44-D143-94E6-FF7B4A6B3486}" destId="{FA5A891E-1476-D94F-A1AF-CCB7E72C1AF5}" srcOrd="0" destOrd="0" presId="urn:microsoft.com/office/officeart/2005/8/layout/hierarchy1"/>
    <dgm:cxn modelId="{2D6601DB-FC6E-B548-9C95-CDDDFA1F039B}" type="presParOf" srcId="{90F6FF3A-AF44-D143-94E6-FF7B4A6B3486}" destId="{0F137DB1-E140-1244-B54D-691FDAD50DEA}" srcOrd="1" destOrd="0" presId="urn:microsoft.com/office/officeart/2005/8/layout/hierarchy1"/>
    <dgm:cxn modelId="{D7CE6763-C107-834C-813E-A5CE22A4FE8C}" type="presParOf" srcId="{D97B835E-8232-694B-8CA3-EDAAA7976AA5}" destId="{EF6C8EBF-03DF-9441-B57E-225A94CC1F90}"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24" y="741663"/>
          <a:ext cx="4573702" cy="2128269"/>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783270" y="1482611"/>
          <a:ext cx="4573702" cy="212826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Sequencer</a:t>
          </a:r>
        </a:p>
      </dsp:txBody>
      <dsp:txXfrm>
        <a:off x="845605" y="1544946"/>
        <a:ext cx="4449032" cy="2003599"/>
      </dsp:txXfrm>
    </dsp:sp>
    <dsp:sp modelId="{5787790F-D557-A44E-8EB2-AB272599E82D}">
      <dsp:nvSpPr>
        <dsp:cNvPr id="0" name=""/>
        <dsp:cNvSpPr/>
      </dsp:nvSpPr>
      <dsp:spPr>
        <a:xfrm>
          <a:off x="6136917" y="741663"/>
          <a:ext cx="4440612" cy="2120156"/>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C384D89C-DE2A-D74A-B4F0-9B134018EC1D}">
      <dsp:nvSpPr>
        <dsp:cNvPr id="0" name=""/>
        <dsp:cNvSpPr/>
      </dsp:nvSpPr>
      <dsp:spPr>
        <a:xfrm>
          <a:off x="6916863" y="1482611"/>
          <a:ext cx="4440612" cy="212015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13360" tIns="213360" rIns="213360" bIns="213360" numCol="1" spcCol="1270" anchor="ctr" anchorCtr="0">
          <a:noAutofit/>
        </a:bodyPr>
        <a:lstStyle/>
        <a:p>
          <a:pPr marL="0" lvl="0" indent="0" algn="ctr" defTabSz="2489200">
            <a:lnSpc>
              <a:spcPct val="90000"/>
            </a:lnSpc>
            <a:spcBef>
              <a:spcPct val="0"/>
            </a:spcBef>
            <a:spcAft>
              <a:spcPct val="35000"/>
            </a:spcAft>
            <a:buNone/>
          </a:pPr>
          <a:r>
            <a:rPr lang="en-US" sz="5600" kern="1200" dirty="0"/>
            <a:t>Scheduling Policy</a:t>
          </a:r>
        </a:p>
      </dsp:txBody>
      <dsp:txXfrm>
        <a:off x="6978960" y="1544708"/>
        <a:ext cx="4316418" cy="19959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A891E-1476-D94F-A1AF-CCB7E72C1AF5}">
      <dsp:nvSpPr>
        <dsp:cNvPr id="0" name=""/>
        <dsp:cNvSpPr/>
      </dsp:nvSpPr>
      <dsp:spPr>
        <a:xfrm>
          <a:off x="3333" y="1418787"/>
          <a:ext cx="10225824" cy="858215"/>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sp>
    <dsp:sp modelId="{0F137DB1-E140-1244-B54D-691FDAD50DEA}">
      <dsp:nvSpPr>
        <dsp:cNvPr id="0" name=""/>
        <dsp:cNvSpPr/>
      </dsp:nvSpPr>
      <dsp:spPr>
        <a:xfrm>
          <a:off x="1134975" y="2493847"/>
          <a:ext cx="10225824" cy="85821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140970" tIns="140970" rIns="140970" bIns="140970" numCol="1" spcCol="1270" anchor="ctr" anchorCtr="0">
          <a:noAutofit/>
        </a:bodyPr>
        <a:lstStyle/>
        <a:p>
          <a:pPr marL="0" lvl="0" indent="0" algn="ctr" defTabSz="1644650">
            <a:lnSpc>
              <a:spcPct val="90000"/>
            </a:lnSpc>
            <a:spcBef>
              <a:spcPct val="0"/>
            </a:spcBef>
            <a:spcAft>
              <a:spcPct val="35000"/>
            </a:spcAft>
            <a:buNone/>
          </a:pPr>
          <a:r>
            <a:rPr lang="en-US" sz="3700" kern="1200" dirty="0"/>
            <a:t>A sequencer</a:t>
          </a:r>
        </a:p>
      </dsp:txBody>
      <dsp:txXfrm>
        <a:off x="1160111" y="2518983"/>
        <a:ext cx="10175552" cy="80794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C69D56-CC56-301F-1B18-91750643529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6A1CDD-1BA6-54FE-1BCD-351460B8A3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F1A3A01-8787-AF83-FE47-B157C299BD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6160996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862FAC1-06B6-6A16-35EF-40812FA11CD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C108320-4E67-8FC7-AAF6-04628EBA343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C6A1508-CE20-ABDD-4DDD-A259FBC390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21283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46C178-FAF7-8390-48E3-E97685410B5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024B01F-77C7-E70E-C412-A64F10D248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1004435-AD49-13B0-37E5-513FA542A3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90635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73BDC74-D698-CD0A-B18E-E96A87DC3DE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29553DA-735C-C51E-B75C-93F8B320E7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16889A-118B-20E6-20D1-666A43520FB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980482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58E952-A444-6BC1-10E3-5C59C743D1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DA9D3A-129F-1125-C680-6A644545D3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C03AE36-8BAE-71EC-C5C1-B2614494FB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8803351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E61EA46-4348-31E5-4C5F-95F9661DF79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B1376E-9E05-A19B-188F-195D749BDB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A524E29-F30F-DFE9-E98E-15CF43765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998052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51EE8F-E95B-7F79-CC89-45D8AD71936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7036F56-8685-C8E9-6C7B-22A125891F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8D53E4C-FD09-352E-3F22-FF5F3AC53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Results all for GCP, except AWS TGW</a:t>
            </a:r>
            <a:br>
              <a:rPr lang="en-US" dirty="0"/>
            </a:br>
            <a:br>
              <a:rPr lang="en-US" dirty="0"/>
            </a:br>
            <a:r>
              <a:rPr lang="en" dirty="0"/>
              <a:t>&gt;50 % lower latency than the latency provided by AWS TGW</a:t>
            </a:r>
            <a:endParaRPr dirty="0"/>
          </a:p>
        </p:txBody>
      </p:sp>
    </p:spTree>
    <p:extLst>
      <p:ext uri="{BB962C8B-B14F-4D97-AF65-F5344CB8AC3E}">
        <p14:creationId xmlns:p14="http://schemas.microsoft.com/office/powerpoint/2010/main" val="8209485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401630F-EF53-F3B2-BA07-5B5672442F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853A060-0555-8589-BA7E-71504ABD99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2DA8930-C5E5-7B45-65E4-99FC9A3B1E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50842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AA083B-E2E2-66D1-72B7-92C15A3FF9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4771E-AA55-E464-1676-A61BEB162E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3EDEF8A-738D-907F-DE01-767B3ADC0A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147594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6F7E96-0B97-3874-28A1-C3319D1E7ED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AC5363-8224-DD84-8AF3-960F2013FB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5667ACB-3D96-9F08-B2DF-032F2C4589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6777411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000D10F-848D-690B-FDD9-49D382AAE3E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0F343D0-60F5-FB16-2D09-4D6A66F49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08AD56A-5170-7D67-9F68-DABBAB6863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8666346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1A7CDDD-4D4B-C139-DED2-A9E95D685E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3CAE20D-542E-5965-9D17-775D6DE9EA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5F8555-6CA4-0C6B-7118-EFF7993CA0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81493975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A8466929-A9BD-B906-9740-28EDEA9CC44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797E122-BAD1-332F-1053-6E4B5C1B0F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F35DB71D-33A4-CA58-A9B2-79C67B7878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If queues are filled with older and newer orders and we simply prioritize the orders with price closer to the mid-price, it may violate fairness. Perhaps another order in some other queue would have moved mid-price in favor of the order being de-prioritized if everything was FIFO.</a:t>
            </a:r>
            <a:endParaRPr dirty="0"/>
          </a:p>
        </p:txBody>
      </p:sp>
    </p:spTree>
    <p:extLst>
      <p:ext uri="{BB962C8B-B14F-4D97-AF65-F5344CB8AC3E}">
        <p14:creationId xmlns:p14="http://schemas.microsoft.com/office/powerpoint/2010/main" val="191302505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FC51F348-08DF-6F64-A176-0B9B3BE825AB}"/>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246CAFF1-AD31-B28A-3CAC-DB81820480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4085358-8DF5-5BB8-A55E-5052CFFEA4D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06337748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5A25532-197A-CEE0-3B34-C51B9E7AE10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36CBE5C4-18CE-4CEB-7C31-4545CCE852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630F70E5-3169-DE5A-8901-E48A77754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0457290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999D88A-FBA4-327F-3368-5DB70BF8981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17200082-E141-14E2-AF7D-288D1042E1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000BBC74-C772-008B-0D31-0A0D3FB143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Input sequence</a:t>
            </a:r>
            <a:endParaRPr dirty="0"/>
          </a:p>
        </p:txBody>
      </p:sp>
    </p:spTree>
    <p:extLst>
      <p:ext uri="{BB962C8B-B14F-4D97-AF65-F5344CB8AC3E}">
        <p14:creationId xmlns:p14="http://schemas.microsoft.com/office/powerpoint/2010/main" val="5321819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8EC421F-4948-92B5-A060-7ED2960E6DA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427BB44B-5C27-C1ED-4E1A-18FBC517A0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68CD405-DA4D-D4BA-C2BA-3989E43DA50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6043024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C630629-CE26-3575-36A2-A4AAA114D6E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779308D-3A09-93ED-DFE8-0C56455CD3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B84A7A0D-9E15-537B-F7BB-8035141D55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9116548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6A72F045-CCFF-F4B2-1D62-F5E85946C26A}"/>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50F8FB3-CD8B-D23C-BFC8-20EBEBB634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9628D851-126A-2B82-A369-3214177AC4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31945409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1E5D8F42-FDE5-776F-CDED-0C643B4F7971}"/>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C0B85183-6010-FE8C-EADE-A1375C8826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3C4A11A0-7460-ACC9-D915-82F1C18DD0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09032956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8D9418AB-69A3-91CE-E21B-BCA88ADED657}"/>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7AD21553-55D9-AD23-633C-5E0B47ACA9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A6C68183-25C1-EFC4-5503-4C43344FC3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288470370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DFAE7FA-B1E0-A91A-9ABD-13D38BF03778}"/>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BF6E192-3ECB-4723-BA79-716AE319B5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E5A3205-3D92-3ED5-85CB-93286AC0F6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4252673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96F9D58B-28CA-489E-68F8-B7F208B789F9}"/>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D83B2256-A3E3-C2EE-3CB8-E6776FEA038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C08823B9-997A-6F9B-49A2-A42322F3DE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57620984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B210FAD7-574B-786F-32D3-DD27ED8D349F}"/>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363C776-0DA6-E579-AEEC-A4D6A637E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D712B6D9-39BA-9E4F-44E0-0221E18FAC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43078684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CA00969-27D2-6858-9B58-A3F6A3A44206}"/>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5EB0BD48-610E-8CE6-694D-54EF9824D4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E3D63F7C-B162-B262-F466-BE59AEF2AB0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86010038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7A7536A2-A4EC-5DF7-811C-E086FB5914C4}"/>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A132A876-C477-3684-7735-4BA29504F56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5E36694-6B18-6C50-C9F0-A389785FFD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Details in the paper how the function is designed to preserve the fairness while increasing performance</a:t>
            </a:r>
            <a:endParaRPr dirty="0"/>
          </a:p>
        </p:txBody>
      </p:sp>
    </p:spTree>
    <p:extLst>
      <p:ext uri="{BB962C8B-B14F-4D97-AF65-F5344CB8AC3E}">
        <p14:creationId xmlns:p14="http://schemas.microsoft.com/office/powerpoint/2010/main" val="2904074510"/>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115</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4/5/26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4/5/26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4/5/26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3.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4.xml"/><Relationship Id="rId1" Type="http://schemas.openxmlformats.org/officeDocument/2006/relationships/slideLayout" Target="../slideLayouts/slideLayout2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5.xml"/><Relationship Id="rId1" Type="http://schemas.openxmlformats.org/officeDocument/2006/relationships/slideLayout" Target="../slideLayouts/slideLayout2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8.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6.xml"/><Relationship Id="rId1" Type="http://schemas.openxmlformats.org/officeDocument/2006/relationships/slideLayout" Target="../slideLayouts/slideLayout24.xml"/><Relationship Id="rId6" Type="http://schemas.openxmlformats.org/officeDocument/2006/relationships/diagramColors" Target="../diagrams/colors5.xml"/><Relationship Id="rId5" Type="http://schemas.openxmlformats.org/officeDocument/2006/relationships/diagramQuickStyle" Target="../diagrams/quickStyle5.xml"/><Relationship Id="rId10" Type="http://schemas.openxmlformats.org/officeDocument/2006/relationships/image" Target="../media/image10.png"/><Relationship Id="rId4" Type="http://schemas.openxmlformats.org/officeDocument/2006/relationships/diagramLayout" Target="../diagrams/layout5.xml"/><Relationship Id="rId9" Type="http://schemas.openxmlformats.org/officeDocument/2006/relationships/image" Target="../media/image13.svg"/></Relationships>
</file>

<file path=ppt/slides/_rels/slide69.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6.xml"/><Relationship Id="rId7" Type="http://schemas.microsoft.com/office/2007/relationships/diagramDrawing" Target="../diagrams/drawing6.xml"/><Relationship Id="rId12" Type="http://schemas.openxmlformats.org/officeDocument/2006/relationships/image" Target="../media/image16.svg"/><Relationship Id="rId2" Type="http://schemas.openxmlformats.org/officeDocument/2006/relationships/notesSlide" Target="../notesSlides/notesSlide57.xml"/><Relationship Id="rId1" Type="http://schemas.openxmlformats.org/officeDocument/2006/relationships/slideLayout" Target="../slideLayouts/slideLayout24.xml"/><Relationship Id="rId6" Type="http://schemas.openxmlformats.org/officeDocument/2006/relationships/diagramColors" Target="../diagrams/colors6.xml"/><Relationship Id="rId11" Type="http://schemas.openxmlformats.org/officeDocument/2006/relationships/image" Target="../media/image15.svg"/><Relationship Id="rId5" Type="http://schemas.openxmlformats.org/officeDocument/2006/relationships/diagramQuickStyle" Target="../diagrams/quickStyle6.xml"/><Relationship Id="rId10" Type="http://schemas.openxmlformats.org/officeDocument/2006/relationships/image" Target="../media/image13.svg"/><Relationship Id="rId4" Type="http://schemas.openxmlformats.org/officeDocument/2006/relationships/diagramLayout" Target="../diagrams/layout6.xml"/><Relationship Id="rId9" Type="http://schemas.openxmlformats.org/officeDocument/2006/relationships/image" Target="../media/image14.svg"/><Relationship Id="rId14" Type="http://schemas.openxmlformats.org/officeDocument/2006/relationships/image" Target="../media/image18.svg"/></Relationships>
</file>

<file path=ppt/slides/_rels/slide70.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7.xml"/><Relationship Id="rId7" Type="http://schemas.microsoft.com/office/2007/relationships/diagramDrawing" Target="../diagrams/drawing7.xml"/><Relationship Id="rId12" Type="http://schemas.openxmlformats.org/officeDocument/2006/relationships/image" Target="../media/image16.svg"/><Relationship Id="rId2" Type="http://schemas.openxmlformats.org/officeDocument/2006/relationships/notesSlide" Target="../notesSlides/notesSlide58.xml"/><Relationship Id="rId1" Type="http://schemas.openxmlformats.org/officeDocument/2006/relationships/slideLayout" Target="../slideLayouts/slideLayout24.xml"/><Relationship Id="rId6" Type="http://schemas.openxmlformats.org/officeDocument/2006/relationships/diagramColors" Target="../diagrams/colors7.xml"/><Relationship Id="rId11" Type="http://schemas.openxmlformats.org/officeDocument/2006/relationships/image" Target="../media/image15.svg"/><Relationship Id="rId5" Type="http://schemas.openxmlformats.org/officeDocument/2006/relationships/diagramQuickStyle" Target="../diagrams/quickStyle7.xml"/><Relationship Id="rId10" Type="http://schemas.openxmlformats.org/officeDocument/2006/relationships/image" Target="../media/image13.svg"/><Relationship Id="rId4" Type="http://schemas.openxmlformats.org/officeDocument/2006/relationships/diagramLayout" Target="../diagrams/layout7.xml"/><Relationship Id="rId9" Type="http://schemas.openxmlformats.org/officeDocument/2006/relationships/image" Target="../media/image14.svg"/><Relationship Id="rId14" Type="http://schemas.openxmlformats.org/officeDocument/2006/relationships/image" Target="../media/image18.svg"/></Relationships>
</file>

<file path=ppt/slides/_rels/slide71.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8.xml"/><Relationship Id="rId7" Type="http://schemas.microsoft.com/office/2007/relationships/diagramDrawing" Target="../diagrams/drawing8.xml"/><Relationship Id="rId12" Type="http://schemas.openxmlformats.org/officeDocument/2006/relationships/image" Target="../media/image16.svg"/><Relationship Id="rId2" Type="http://schemas.openxmlformats.org/officeDocument/2006/relationships/notesSlide" Target="../notesSlides/notesSlide59.xml"/><Relationship Id="rId1" Type="http://schemas.openxmlformats.org/officeDocument/2006/relationships/slideLayout" Target="../slideLayouts/slideLayout24.xml"/><Relationship Id="rId6" Type="http://schemas.openxmlformats.org/officeDocument/2006/relationships/diagramColors" Target="../diagrams/colors8.xml"/><Relationship Id="rId11" Type="http://schemas.openxmlformats.org/officeDocument/2006/relationships/image" Target="../media/image15.svg"/><Relationship Id="rId5" Type="http://schemas.openxmlformats.org/officeDocument/2006/relationships/diagramQuickStyle" Target="../diagrams/quickStyle8.xml"/><Relationship Id="rId10" Type="http://schemas.openxmlformats.org/officeDocument/2006/relationships/image" Target="../media/image13.svg"/><Relationship Id="rId4" Type="http://schemas.openxmlformats.org/officeDocument/2006/relationships/diagramLayout" Target="../diagrams/layout8.xml"/><Relationship Id="rId9" Type="http://schemas.openxmlformats.org/officeDocument/2006/relationships/image" Target="../media/image14.svg"/><Relationship Id="rId14" Type="http://schemas.openxmlformats.org/officeDocument/2006/relationships/image" Target="../media/image18.svg"/></Relationships>
</file>

<file path=ppt/slides/_rels/slide72.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9.xml"/><Relationship Id="rId7" Type="http://schemas.microsoft.com/office/2007/relationships/diagramDrawing" Target="../diagrams/drawing9.xml"/><Relationship Id="rId12" Type="http://schemas.openxmlformats.org/officeDocument/2006/relationships/image" Target="../media/image16.svg"/><Relationship Id="rId2" Type="http://schemas.openxmlformats.org/officeDocument/2006/relationships/notesSlide" Target="../notesSlides/notesSlide60.xml"/><Relationship Id="rId1" Type="http://schemas.openxmlformats.org/officeDocument/2006/relationships/slideLayout" Target="../slideLayouts/slideLayout24.xml"/><Relationship Id="rId6" Type="http://schemas.openxmlformats.org/officeDocument/2006/relationships/diagramColors" Target="../diagrams/colors9.xml"/><Relationship Id="rId11" Type="http://schemas.openxmlformats.org/officeDocument/2006/relationships/image" Target="../media/image15.svg"/><Relationship Id="rId5" Type="http://schemas.openxmlformats.org/officeDocument/2006/relationships/diagramQuickStyle" Target="../diagrams/quickStyle9.xml"/><Relationship Id="rId10" Type="http://schemas.openxmlformats.org/officeDocument/2006/relationships/image" Target="../media/image13.svg"/><Relationship Id="rId4" Type="http://schemas.openxmlformats.org/officeDocument/2006/relationships/diagramLayout" Target="../diagrams/layout9.xml"/><Relationship Id="rId9" Type="http://schemas.openxmlformats.org/officeDocument/2006/relationships/image" Target="../media/image14.svg"/><Relationship Id="rId14" Type="http://schemas.openxmlformats.org/officeDocument/2006/relationships/image" Target="../media/image18.svg"/></Relationships>
</file>

<file path=ppt/slides/_rels/slide73.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0.xml"/><Relationship Id="rId7" Type="http://schemas.microsoft.com/office/2007/relationships/diagramDrawing" Target="../diagrams/drawing10.xml"/><Relationship Id="rId12" Type="http://schemas.openxmlformats.org/officeDocument/2006/relationships/image" Target="../media/image16.svg"/><Relationship Id="rId2" Type="http://schemas.openxmlformats.org/officeDocument/2006/relationships/notesSlide" Target="../notesSlides/notesSlide61.xml"/><Relationship Id="rId1" Type="http://schemas.openxmlformats.org/officeDocument/2006/relationships/slideLayout" Target="../slideLayouts/slideLayout24.xml"/><Relationship Id="rId6" Type="http://schemas.openxmlformats.org/officeDocument/2006/relationships/diagramColors" Target="../diagrams/colors10.xml"/><Relationship Id="rId11" Type="http://schemas.openxmlformats.org/officeDocument/2006/relationships/image" Target="../media/image15.svg"/><Relationship Id="rId5" Type="http://schemas.openxmlformats.org/officeDocument/2006/relationships/diagramQuickStyle" Target="../diagrams/quickStyle10.xml"/><Relationship Id="rId10" Type="http://schemas.openxmlformats.org/officeDocument/2006/relationships/image" Target="../media/image13.svg"/><Relationship Id="rId4" Type="http://schemas.openxmlformats.org/officeDocument/2006/relationships/diagramLayout" Target="../diagrams/layout10.xml"/><Relationship Id="rId9" Type="http://schemas.openxmlformats.org/officeDocument/2006/relationships/image" Target="../media/image14.svg"/><Relationship Id="rId14" Type="http://schemas.openxmlformats.org/officeDocument/2006/relationships/image" Target="../media/image18.svg"/></Relationships>
</file>

<file path=ppt/slides/_rels/slide74.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1.xml"/><Relationship Id="rId7" Type="http://schemas.microsoft.com/office/2007/relationships/diagramDrawing" Target="../diagrams/drawing11.xml"/><Relationship Id="rId12" Type="http://schemas.openxmlformats.org/officeDocument/2006/relationships/image" Target="../media/image16.svg"/><Relationship Id="rId2" Type="http://schemas.openxmlformats.org/officeDocument/2006/relationships/notesSlide" Target="../notesSlides/notesSlide62.xml"/><Relationship Id="rId1" Type="http://schemas.openxmlformats.org/officeDocument/2006/relationships/slideLayout" Target="../slideLayouts/slideLayout24.xml"/><Relationship Id="rId6" Type="http://schemas.openxmlformats.org/officeDocument/2006/relationships/diagramColors" Target="../diagrams/colors11.xml"/><Relationship Id="rId11" Type="http://schemas.openxmlformats.org/officeDocument/2006/relationships/image" Target="../media/image15.svg"/><Relationship Id="rId5" Type="http://schemas.openxmlformats.org/officeDocument/2006/relationships/diagramQuickStyle" Target="../diagrams/quickStyle11.xml"/><Relationship Id="rId10" Type="http://schemas.openxmlformats.org/officeDocument/2006/relationships/image" Target="../media/image13.svg"/><Relationship Id="rId4" Type="http://schemas.openxmlformats.org/officeDocument/2006/relationships/diagramLayout" Target="../diagrams/layout11.xml"/><Relationship Id="rId9" Type="http://schemas.openxmlformats.org/officeDocument/2006/relationships/image" Target="../media/image14.svg"/><Relationship Id="rId14" Type="http://schemas.openxmlformats.org/officeDocument/2006/relationships/image" Target="../media/image18.svg"/></Relationships>
</file>

<file path=ppt/slides/_rels/slide75.xml.rels><?xml version="1.0" encoding="UTF-8" standalone="yes"?>
<Relationships xmlns="http://schemas.openxmlformats.org/package/2006/relationships"><Relationship Id="rId8" Type="http://schemas.openxmlformats.org/officeDocument/2006/relationships/image" Target="../media/image12.svg"/><Relationship Id="rId13" Type="http://schemas.openxmlformats.org/officeDocument/2006/relationships/image" Target="../media/image17.svg"/><Relationship Id="rId3" Type="http://schemas.openxmlformats.org/officeDocument/2006/relationships/diagramData" Target="../diagrams/data12.xml"/><Relationship Id="rId7" Type="http://schemas.microsoft.com/office/2007/relationships/diagramDrawing" Target="../diagrams/drawing12.xml"/><Relationship Id="rId12" Type="http://schemas.openxmlformats.org/officeDocument/2006/relationships/image" Target="../media/image16.svg"/><Relationship Id="rId2" Type="http://schemas.openxmlformats.org/officeDocument/2006/relationships/notesSlide" Target="../notesSlides/notesSlide63.xml"/><Relationship Id="rId1" Type="http://schemas.openxmlformats.org/officeDocument/2006/relationships/slideLayout" Target="../slideLayouts/slideLayout24.xml"/><Relationship Id="rId6" Type="http://schemas.openxmlformats.org/officeDocument/2006/relationships/diagramColors" Target="../diagrams/colors12.xml"/><Relationship Id="rId11" Type="http://schemas.openxmlformats.org/officeDocument/2006/relationships/image" Target="../media/image15.svg"/><Relationship Id="rId5" Type="http://schemas.openxmlformats.org/officeDocument/2006/relationships/diagramQuickStyle" Target="../diagrams/quickStyle12.xml"/><Relationship Id="rId10" Type="http://schemas.openxmlformats.org/officeDocument/2006/relationships/image" Target="../media/image13.svg"/><Relationship Id="rId4" Type="http://schemas.openxmlformats.org/officeDocument/2006/relationships/diagramLayout" Target="../diagrams/layout12.xml"/><Relationship Id="rId9" Type="http://schemas.openxmlformats.org/officeDocument/2006/relationships/image" Target="../media/image14.svg"/><Relationship Id="rId14" Type="http://schemas.openxmlformats.org/officeDocument/2006/relationships/image" Target="../media/image18.svg"/></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64.xml"/><Relationship Id="rId1" Type="http://schemas.openxmlformats.org/officeDocument/2006/relationships/slideLayout" Target="../slideLayouts/slideLayout24.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3.xml"/></Relationships>
</file>

<file path=ppt/slides/_rels/slide7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6.xml"/><Relationship Id="rId1" Type="http://schemas.openxmlformats.org/officeDocument/2006/relationships/slideLayout" Target="../slideLayouts/slideLayout23.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3.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3.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3.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3.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81.xml"/><Relationship Id="rId1" Type="http://schemas.openxmlformats.org/officeDocument/2006/relationships/slideLayout" Target="../slideLayouts/slideLayout23.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2.xml"/><Relationship Id="rId1" Type="http://schemas.openxmlformats.org/officeDocument/2006/relationships/slideLayout" Target="../slideLayouts/slideLayout2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83.xml"/><Relationship Id="rId1"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image" Target="../media/image24.svg"/></Relationships>
</file>

<file path=ppt/slides/_rels/slide101.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5.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3.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1.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0.svg"/><Relationship Id="rId4" Type="http://schemas.openxmlformats.org/officeDocument/2006/relationships/image" Target="../media/image29.svg"/></Relationships>
</file>

<file path=ppt/slides/_rels/slide104.xml.rels><?xml version="1.0" encoding="UTF-8" standalone="yes"?>
<Relationships xmlns="http://schemas.openxmlformats.org/package/2006/relationships"><Relationship Id="rId8" Type="http://schemas.openxmlformats.org/officeDocument/2006/relationships/image" Target="../media/image32.svg"/><Relationship Id="rId3" Type="http://schemas.openxmlformats.org/officeDocument/2006/relationships/image" Target="../media/image27.svg"/><Relationship Id="rId7" Type="http://schemas.openxmlformats.org/officeDocument/2006/relationships/image" Target="../media/image31.svg"/><Relationship Id="rId2" Type="http://schemas.openxmlformats.org/officeDocument/2006/relationships/notesSlide" Target="../notesSlides/notesSlide86.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5.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2.sv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9.xml"/><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0.xml"/><Relationship Id="rId1" Type="http://schemas.openxmlformats.org/officeDocument/2006/relationships/slideLayout" Target="../slideLayouts/slideLayout13.xml"/></Relationships>
</file>

<file path=ppt/slides/_rels/slide11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93.xml"/><Relationship Id="rId1" Type="http://schemas.openxmlformats.org/officeDocument/2006/relationships/slideLayout" Target="../slideLayouts/slideLayout13.xml"/></Relationships>
</file>

<file path=ppt/slides/_rels/slide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15.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17.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9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9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png"/></Relationships>
</file>

<file path=ppt/slides/_rels/slide12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21.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4.xml"/></Relationships>
</file>

<file path=ppt/slides/_rels/slide13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image" Target="../media/image52.emf"/><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75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75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75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75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75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50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50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50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50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50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4"/>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68"/>
                                        </p:tgtEl>
                                        <p:attrNameLst>
                                          <p:attrName>style.visibility</p:attrName>
                                        </p:attrNameLst>
                                      </p:cBhvr>
                                      <p:to>
                                        <p:strVal val="visible"/>
                                      </p:to>
                                    </p:set>
                                  </p:childTnLst>
                                </p:cTn>
                              </p:par>
                              <p:par>
                                <p:cTn id="92" presetID="1" presetClass="entr" presetSubtype="0" fill="hold" nodeType="withEffect">
                                  <p:stCondLst>
                                    <p:cond delay="0"/>
                                  </p:stCondLst>
                                  <p:childTnLst>
                                    <p:set>
                                      <p:cBhvr>
                                        <p:cTn id="93" dur="1" fill="hold">
                                          <p:stCondLst>
                                            <p:cond delay="0"/>
                                          </p:stCondLst>
                                        </p:cTn>
                                        <p:tgtEl>
                                          <p:spTgt spid="69"/>
                                        </p:tgtEl>
                                        <p:attrNameLst>
                                          <p:attrName>style.visibility</p:attrName>
                                        </p:attrNameLst>
                                      </p:cBhvr>
                                      <p:to>
                                        <p:strVal val="visible"/>
                                      </p:to>
                                    </p:set>
                                  </p:childTnLst>
                                </p:cTn>
                              </p:par>
                              <p:par>
                                <p:cTn id="94" presetID="1" presetClass="entr" presetSubtype="0" fill="hold" nodeType="withEffect">
                                  <p:stCondLst>
                                    <p:cond delay="0"/>
                                  </p:stCondLst>
                                  <p:childTnLst>
                                    <p:set>
                                      <p:cBhvr>
                                        <p:cTn id="95" dur="1" fill="hold">
                                          <p:stCondLst>
                                            <p:cond delay="0"/>
                                          </p:stCondLst>
                                        </p:cTn>
                                        <p:tgtEl>
                                          <p:spTgt spid="70"/>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932F8CB4-7701-4CEA-AC21-DE49ACEEB208}"/>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D7E3CA6-DD34-3DF0-1BC3-9E1EF151ED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40976B0-641A-24BF-42B9-B5A585809F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C1CCAE13-C613-B7F0-03B2-702407F8297B}"/>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E3DE11A1-4100-48AB-9992-09EC6C666BC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0C4843AA-8278-A979-71E2-A5EB550C3A48}"/>
              </a:ext>
            </a:extLst>
          </p:cNvPr>
          <p:cNvSpPr txBox="1"/>
          <p:nvPr/>
        </p:nvSpPr>
        <p:spPr>
          <a:xfrm>
            <a:off x="2490951" y="5310533"/>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EEB62350-34A3-3E74-A6BF-4C9961BADA1F}"/>
              </a:ext>
            </a:extLst>
          </p:cNvPr>
          <p:cNvSpPr txBox="1"/>
          <p:nvPr/>
        </p:nvSpPr>
        <p:spPr>
          <a:xfrm>
            <a:off x="9038897" y="5319332"/>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8538914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548A924-8852-2996-2135-C27F782DF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2C4A3-C6B3-D000-513A-88FAA747703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Scalable Inbound Fairness</a:t>
            </a:r>
          </a:p>
        </p:txBody>
      </p:sp>
      <p:graphicFrame>
        <p:nvGraphicFramePr>
          <p:cNvPr id="5" name="TextBox 1">
            <a:extLst>
              <a:ext uri="{FF2B5EF4-FFF2-40B4-BE49-F238E27FC236}">
                <a16:creationId xmlns:a16="http://schemas.microsoft.com/office/drawing/2014/main" id="{3062C248-7535-FDD4-8695-8D91A7E8BBD3}"/>
              </a:ext>
            </a:extLst>
          </p:cNvPr>
          <p:cNvGraphicFramePr/>
          <p:nvPr/>
        </p:nvGraphicFramePr>
        <p:xfrm>
          <a:off x="415600" y="1547467"/>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 name="Table 1">
            <a:extLst>
              <a:ext uri="{FF2B5EF4-FFF2-40B4-BE49-F238E27FC236}">
                <a16:creationId xmlns:a16="http://schemas.microsoft.com/office/drawing/2014/main" id="{5E232B7F-5CF1-7A5B-773A-0B7F905B05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BD1CF28C-6EEC-D2D5-F09A-76618BE15AD5}"/>
              </a:ext>
            </a:extLst>
          </p:cNvPr>
          <p:cNvSpPr txBox="1"/>
          <p:nvPr/>
        </p:nvSpPr>
        <p:spPr>
          <a:xfrm>
            <a:off x="9412012" y="6546410"/>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Sequencer</a:t>
            </a:r>
          </a:p>
        </p:txBody>
      </p:sp>
      <p:sp>
        <p:nvSpPr>
          <p:cNvPr id="6" name="TextBox 5">
            <a:extLst>
              <a:ext uri="{FF2B5EF4-FFF2-40B4-BE49-F238E27FC236}">
                <a16:creationId xmlns:a16="http://schemas.microsoft.com/office/drawing/2014/main" id="{A9244D84-CF1C-6A96-B8A4-EB8821C1496B}"/>
              </a:ext>
            </a:extLst>
          </p:cNvPr>
          <p:cNvSpPr txBox="1"/>
          <p:nvPr/>
        </p:nvSpPr>
        <p:spPr>
          <a:xfrm>
            <a:off x="10933386" y="6553704"/>
            <a:ext cx="132430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a:t>
            </a:r>
          </a:p>
        </p:txBody>
      </p:sp>
    </p:spTree>
    <p:extLst>
      <p:ext uri="{BB962C8B-B14F-4D97-AF65-F5344CB8AC3E}">
        <p14:creationId xmlns:p14="http://schemas.microsoft.com/office/powerpoint/2010/main" val="3435918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90CA020-B942-1D1D-1CF8-83C7EF8ADF8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BB2B92B8-E904-AC2A-54EE-D9BFA1E8D02E}"/>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49C358E6-EDB7-99E1-40B4-1CC09F2F496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12480" y="1084937"/>
            <a:ext cx="1219200" cy="1219200"/>
          </a:xfrm>
          <a:prstGeom prst="rect">
            <a:avLst/>
          </a:prstGeom>
        </p:spPr>
      </p:pic>
      <p:sp>
        <p:nvSpPr>
          <p:cNvPr id="4" name="TextBox 3">
            <a:extLst>
              <a:ext uri="{FF2B5EF4-FFF2-40B4-BE49-F238E27FC236}">
                <a16:creationId xmlns:a16="http://schemas.microsoft.com/office/drawing/2014/main" id="{2724CD92-C90E-1B5C-AA92-077BAD4613CF}"/>
              </a:ext>
            </a:extLst>
          </p:cNvPr>
          <p:cNvSpPr txBox="1"/>
          <p:nvPr/>
        </p:nvSpPr>
        <p:spPr>
          <a:xfrm>
            <a:off x="9487593" y="1317631"/>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E047F8BE-55A7-1058-82B5-63C06B96324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9886604" y="4720117"/>
            <a:ext cx="1052945" cy="1052945"/>
          </a:xfrm>
          <a:prstGeom prst="rect">
            <a:avLst/>
          </a:prstGeom>
        </p:spPr>
      </p:pic>
      <p:sp>
        <p:nvSpPr>
          <p:cNvPr id="8" name="TextBox 7">
            <a:extLst>
              <a:ext uri="{FF2B5EF4-FFF2-40B4-BE49-F238E27FC236}">
                <a16:creationId xmlns:a16="http://schemas.microsoft.com/office/drawing/2014/main" id="{F590DB5B-A69E-883F-CFAF-CB5B6E14240F}"/>
              </a:ext>
            </a:extLst>
          </p:cNvPr>
          <p:cNvSpPr txBox="1"/>
          <p:nvPr/>
        </p:nvSpPr>
        <p:spPr>
          <a:xfrm>
            <a:off x="8412481" y="5872893"/>
            <a:ext cx="179408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Participants</a:t>
            </a:r>
          </a:p>
        </p:txBody>
      </p:sp>
      <p:pic>
        <p:nvPicPr>
          <p:cNvPr id="9" name="Graphic 8" descr="Processor outline">
            <a:extLst>
              <a:ext uri="{FF2B5EF4-FFF2-40B4-BE49-F238E27FC236}">
                <a16:creationId xmlns:a16="http://schemas.microsoft.com/office/drawing/2014/main" id="{564D0236-01DF-883E-0163-E9E3829853E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68276" y="4720117"/>
            <a:ext cx="1052945" cy="1052945"/>
          </a:xfrm>
          <a:prstGeom prst="rect">
            <a:avLst/>
          </a:prstGeom>
        </p:spPr>
      </p:pic>
      <p:pic>
        <p:nvPicPr>
          <p:cNvPr id="10" name="Graphic 9" descr="Processor outline">
            <a:extLst>
              <a:ext uri="{FF2B5EF4-FFF2-40B4-BE49-F238E27FC236}">
                <a16:creationId xmlns:a16="http://schemas.microsoft.com/office/drawing/2014/main" id="{12FBDE2C-933F-2C22-8FAC-7A3F81361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27440" y="4720118"/>
            <a:ext cx="1052945" cy="1052945"/>
          </a:xfrm>
          <a:prstGeom prst="rect">
            <a:avLst/>
          </a:prstGeom>
        </p:spPr>
      </p:pic>
      <p:cxnSp>
        <p:nvCxnSpPr>
          <p:cNvPr id="12" name="Straight Arrow Connector 11">
            <a:extLst>
              <a:ext uri="{FF2B5EF4-FFF2-40B4-BE49-F238E27FC236}">
                <a16:creationId xmlns:a16="http://schemas.microsoft.com/office/drawing/2014/main" id="{CA19AA89-51B8-06B9-1591-06205CF77F42}"/>
              </a:ext>
            </a:extLst>
          </p:cNvPr>
          <p:cNvCxnSpPr>
            <a:cxnSpLocks/>
          </p:cNvCxnSpPr>
          <p:nvPr/>
        </p:nvCxnSpPr>
        <p:spPr>
          <a:xfrm flipV="1">
            <a:off x="8094747" y="2712887"/>
            <a:ext cx="755743" cy="20075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42BAE11-5267-32A1-6677-9D1C8DD40845}"/>
              </a:ext>
            </a:extLst>
          </p:cNvPr>
          <p:cNvCxnSpPr>
            <a:cxnSpLocks/>
            <a:stCxn id="10" idx="0"/>
          </p:cNvCxnSpPr>
          <p:nvPr/>
        </p:nvCxnSpPr>
        <p:spPr>
          <a:xfrm flipH="1" flipV="1">
            <a:off x="9053690" y="2712887"/>
            <a:ext cx="200223" cy="200723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2674F9D-2413-AB84-5575-DE515AEBD6CE}"/>
              </a:ext>
            </a:extLst>
          </p:cNvPr>
          <p:cNvCxnSpPr>
            <a:cxnSpLocks/>
            <a:stCxn id="7" idx="0"/>
          </p:cNvCxnSpPr>
          <p:nvPr/>
        </p:nvCxnSpPr>
        <p:spPr>
          <a:xfrm flipH="1" flipV="1">
            <a:off x="9253913" y="2712887"/>
            <a:ext cx="1159164" cy="2007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5" name="Google Shape;385;p33">
            <a:extLst>
              <a:ext uri="{FF2B5EF4-FFF2-40B4-BE49-F238E27FC236}">
                <a16:creationId xmlns:a16="http://schemas.microsoft.com/office/drawing/2014/main" id="{B75B6FEB-5A5F-38F8-F9C2-9C11BDCE39A3}"/>
              </a:ext>
            </a:extLst>
          </p:cNvPr>
          <p:cNvSpPr txBox="1">
            <a:spLocks/>
          </p:cNvSpPr>
          <p:nvPr/>
        </p:nvSpPr>
        <p:spPr>
          <a:xfrm>
            <a:off x="645605" y="1528477"/>
            <a:ext cx="6970363" cy="4549600"/>
          </a:xfrm>
          <a:prstGeom prst="rect">
            <a:avLst/>
          </a:prstGeom>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Guarantees that orders are seen by the exchange in non-decreasing order of their (generation) timestamps</a:t>
            </a:r>
            <a:br>
              <a:rPr kumimoji="0" lang="en-US" sz="2400" b="0" i="0" u="none" strike="noStrike" kern="0" cap="none" spc="0" normalizeH="0" baseline="0" noProof="0" dirty="0">
                <a:ln>
                  <a:noFill/>
                </a:ln>
                <a:solidFill>
                  <a:srgbClr val="000000"/>
                </a:solidFill>
                <a:effectLst/>
                <a:uLnTx/>
                <a:uFillTx/>
                <a:latin typeface="Arial"/>
                <a:cs typeface="Arial"/>
                <a:sym typeface="Arial"/>
              </a:rPr>
            </a:b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Assumes clock synchronization</a:t>
            </a: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endParaRPr kumimoji="0" lang="en-US" sz="24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Char char="-"/>
              <a:tabLst/>
              <a:defRPr/>
            </a:pPr>
            <a:r>
              <a:rPr kumimoji="0" lang="en-US" sz="2400" b="0" i="0" u="none" strike="noStrike" kern="0" cap="none" spc="0" normalizeH="0" baseline="0" noProof="0" dirty="0">
                <a:ln>
                  <a:noFill/>
                </a:ln>
                <a:solidFill>
                  <a:srgbClr val="000000"/>
                </a:solidFill>
                <a:effectLst/>
                <a:uLnTx/>
                <a:uFillTx/>
                <a:latin typeface="Arial"/>
                <a:cs typeface="Arial"/>
                <a:sym typeface="Arial"/>
              </a:rPr>
              <a:t> Strawman: Wait a fixed delay before releasing time-ordered messages to Exchange Server</a:t>
            </a:r>
          </a:p>
        </p:txBody>
      </p:sp>
      <p:sp>
        <p:nvSpPr>
          <p:cNvPr id="17" name="Can 16">
            <a:extLst>
              <a:ext uri="{FF2B5EF4-FFF2-40B4-BE49-F238E27FC236}">
                <a16:creationId xmlns:a16="http://schemas.microsoft.com/office/drawing/2014/main" id="{070A3A16-69B6-CA69-75BB-01CE0BD38FAF}"/>
              </a:ext>
            </a:extLst>
          </p:cNvPr>
          <p:cNvSpPr/>
          <p:nvPr/>
        </p:nvSpPr>
        <p:spPr>
          <a:xfrm rot="5400000">
            <a:off x="12905084" y="1708677"/>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3" name="Table 2">
            <a:extLst>
              <a:ext uri="{FF2B5EF4-FFF2-40B4-BE49-F238E27FC236}">
                <a16:creationId xmlns:a16="http://schemas.microsoft.com/office/drawing/2014/main" id="{470FE933-1371-61B9-9F0B-F067AE2BE29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6" name="TextBox 5">
            <a:extLst>
              <a:ext uri="{FF2B5EF4-FFF2-40B4-BE49-F238E27FC236}">
                <a16:creationId xmlns:a16="http://schemas.microsoft.com/office/drawing/2014/main" id="{AC95BC50-5D8C-3C44-D8DC-D6AFF68AFFDD}"/>
              </a:ext>
            </a:extLst>
          </p:cNvPr>
          <p:cNvSpPr txBox="1"/>
          <p:nvPr/>
        </p:nvSpPr>
        <p:spPr>
          <a:xfrm>
            <a:off x="1530079" y="4937575"/>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11" name="TextBox 10">
            <a:extLst>
              <a:ext uri="{FF2B5EF4-FFF2-40B4-BE49-F238E27FC236}">
                <a16:creationId xmlns:a16="http://schemas.microsoft.com/office/drawing/2014/main" id="{2BDDFBFB-BA9D-A65B-7915-D258027486F1}"/>
              </a:ext>
            </a:extLst>
          </p:cNvPr>
          <p:cNvSpPr txBox="1"/>
          <p:nvPr/>
        </p:nvSpPr>
        <p:spPr>
          <a:xfrm>
            <a:off x="3376353" y="4944926"/>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16" name="Picture 15" descr="A black background with a black square&#10;&#10;AI-generated content may be incorrect.">
            <a:extLst>
              <a:ext uri="{FF2B5EF4-FFF2-40B4-BE49-F238E27FC236}">
                <a16:creationId xmlns:a16="http://schemas.microsoft.com/office/drawing/2014/main" id="{A7073347-D37F-5787-B7CD-1BC3F862A482}"/>
              </a:ext>
            </a:extLst>
          </p:cNvPr>
          <p:cNvPicPr>
            <a:picLocks noChangeAspect="1"/>
          </p:cNvPicPr>
          <p:nvPr/>
        </p:nvPicPr>
        <p:blipFill>
          <a:blip r:embed="rId10"/>
          <a:stretch>
            <a:fillRect/>
          </a:stretch>
        </p:blipFill>
        <p:spPr>
          <a:xfrm>
            <a:off x="2095911" y="5360610"/>
            <a:ext cx="2335164" cy="591256"/>
          </a:xfrm>
          <a:prstGeom prst="rect">
            <a:avLst/>
          </a:prstGeom>
        </p:spPr>
      </p:pic>
    </p:spTree>
    <p:extLst>
      <p:ext uri="{BB962C8B-B14F-4D97-AF65-F5344CB8AC3E}">
        <p14:creationId xmlns:p14="http://schemas.microsoft.com/office/powerpoint/2010/main" val="8765647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checkerboard(across)">
                                      <p:cBhvr>
                                        <p:cTn id="7" dur="500"/>
                                        <p:tgtEl>
                                          <p:spTgt spid="12"/>
                                        </p:tgtEl>
                                      </p:cBhvr>
                                    </p:animEffect>
                                  </p:childTnLst>
                                </p:cTn>
                              </p:par>
                              <p:par>
                                <p:cTn id="8" presetID="5" presetClass="entr" presetSubtype="1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checkerboard(across)">
                                      <p:cBhvr>
                                        <p:cTn id="10" dur="500"/>
                                        <p:tgtEl>
                                          <p:spTgt spid="13"/>
                                        </p:tgtEl>
                                      </p:cBhvr>
                                    </p:animEffect>
                                  </p:childTnLst>
                                </p:cTn>
                              </p:par>
                              <p:par>
                                <p:cTn id="11" presetID="5" presetClass="entr" presetSubtype="1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checkerboard(across)">
                                      <p:cBhvr>
                                        <p:cTn id="13" dur="5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0" presetClass="path" presetSubtype="0" accel="50000" decel="50000" fill="hold" grpId="0" nodeType="clickEffect">
                                  <p:stCondLst>
                                    <p:cond delay="0"/>
                                  </p:stCondLst>
                                  <p:childTnLst>
                                    <p:animMotion origin="layout" path="M 0.0082 -0.0243 L -0.33685 -0.00486 " pathEditMode="relative" rAng="0" ptsTypes="AA">
                                      <p:cBhvr>
                                        <p:cTn id="17" dur="500" fill="hold"/>
                                        <p:tgtEl>
                                          <p:spTgt spid="17"/>
                                        </p:tgtEl>
                                        <p:attrNameLst>
                                          <p:attrName>ppt_x</p:attrName>
                                          <p:attrName>ppt_y</p:attrName>
                                        </p:attrNameLst>
                                      </p:cBhvr>
                                      <p:rCtr x="-17253" y="972"/>
                                    </p:animMotion>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15">
                                            <p:txEl>
                                              <p:pRg st="3" end="3"/>
                                            </p:txEl>
                                          </p:spTgt>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9" presetClass="entr" presetSubtype="0"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dissolve">
                                      <p:cBhvr>
                                        <p:cTn id="34" dur="500"/>
                                        <p:tgtEl>
                                          <p:spTgt spid="6"/>
                                        </p:tgtEl>
                                      </p:cBhvr>
                                    </p:animEffect>
                                  </p:childTnLst>
                                </p:cTn>
                              </p:par>
                              <p:par>
                                <p:cTn id="35" presetID="9"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dissolve">
                                      <p:cBhvr>
                                        <p:cTn id="37" dur="500"/>
                                        <p:tgtEl>
                                          <p:spTgt spid="11"/>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uiExpand="1" build="p"/>
      <p:bldP spid="17" grpId="0" animBg="1"/>
      <p:bldP spid="6" grpId="0"/>
      <p:bldP spid="11"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55E82D-D41E-7515-DA77-6D34EB603B5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27859A98-AF2F-F320-5C31-811AD416CDE7}"/>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C6771BB-1616-A77C-CD16-6AA85FDB920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2184D9D4-647B-02F5-EB10-B72EA33E84A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65C091AE-9ACD-A298-9F1C-8DEA2556DD2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60157FA-EB98-59C9-5DCF-182EC3416BE7}"/>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5A65F2AF-DC60-51E7-B507-7CE3D582DA4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A88AB1B7-557B-5B3D-ACEB-DF79C7D9B7B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772281F7-FA5A-3F2D-29E4-0792F5AF4FD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B41C2494-3453-6E3F-A479-28D209936C9C}"/>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5F3421D-39EF-231C-325C-46935A93924B}"/>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BF0F200E-E9E1-F5D0-7C88-CAC6E9440B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E271B35D-4948-8F4E-2EDD-AD139796845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25FA1431-0CF7-D278-BFB7-AF6068D07F32}"/>
              </a:ext>
            </a:extLst>
          </p:cNvPr>
          <p:cNvGrpSpPr/>
          <p:nvPr/>
        </p:nvGrpSpPr>
        <p:grpSpPr>
          <a:xfrm>
            <a:off x="4123381" y="5521682"/>
            <a:ext cx="753419" cy="753419"/>
            <a:chOff x="4123381" y="5521682"/>
            <a:chExt cx="753419" cy="753419"/>
          </a:xfrm>
        </p:grpSpPr>
        <p:pic>
          <p:nvPicPr>
            <p:cNvPr id="11" name="Graphic 10" descr="Envelope outline">
              <a:extLst>
                <a:ext uri="{FF2B5EF4-FFF2-40B4-BE49-F238E27FC236}">
                  <a16:creationId xmlns:a16="http://schemas.microsoft.com/office/drawing/2014/main" id="{2E39D2E7-D249-F938-764F-1DD8EE4D87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7ADA8CC-8053-8FF2-D4C7-D87A6E77B951}"/>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D01A6B9C-FDA9-D925-BB28-2785731C19C1}"/>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C29C8ABC-7AFB-B825-9DE8-D4EC0C857E9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E3160317-FD43-EE10-7814-E5D0311DB50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8E8ED801-7611-4F1B-C8CF-E2BE4E44D813}"/>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2C4BB60B-5169-82DA-E5B9-5181B8A13F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13F17924-9639-5170-A5FC-FEB891EAE7B1}"/>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6817930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2" grpId="0"/>
      <p:bldP spid="12"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BE0239D-9714-FD8A-CA4B-344F6A2BA48C}"/>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9336495C-D774-BF7D-8A3B-5B7C54AAB7C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6E0E3EF1-5465-CDE5-83DC-B9336E01F49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47E7B662-CE9D-B137-6AA8-60D6C2413F3B}"/>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9340D1C2-46D8-97FA-AD01-FBB70F3CCD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F442BDD2-A9F4-2FDB-4C8D-AF2EED14A9EE}"/>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C4FA8925-4087-3E40-C5FC-F5E9077C3BD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2BFDFC4-5187-BE3E-D5B3-D2B4CCDA545B}"/>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8B08C20-1FDE-0DAB-0FD8-3473A61D511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CCDD77D2-97C4-683C-2CC8-801C0017E2F0}"/>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523A96A-321F-F537-E2AC-F718746A8F4A}"/>
              </a:ext>
            </a:extLst>
          </p:cNvPr>
          <p:cNvGrpSpPr/>
          <p:nvPr/>
        </p:nvGrpSpPr>
        <p:grpSpPr>
          <a:xfrm>
            <a:off x="5313966" y="5521682"/>
            <a:ext cx="753419" cy="753419"/>
            <a:chOff x="5313966" y="5521682"/>
            <a:chExt cx="753419" cy="753419"/>
          </a:xfrm>
        </p:grpSpPr>
        <p:pic>
          <p:nvPicPr>
            <p:cNvPr id="16" name="Graphic 15" descr="Envelope outline">
              <a:extLst>
                <a:ext uri="{FF2B5EF4-FFF2-40B4-BE49-F238E27FC236}">
                  <a16:creationId xmlns:a16="http://schemas.microsoft.com/office/drawing/2014/main" id="{CF6556F8-721C-FF0C-D692-60C65EBA405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CDA4ACC-3148-24A5-84B1-2309D3B48D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43C2677-3EAB-57E1-6269-40478A506D24}"/>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4A41C6CE-2AD6-42D6-D874-72290CE3792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7FE3805-B85C-5CF7-DF91-F896AB987EC0}"/>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2230A8EB-3BF4-EFEF-C531-ED21D473B02C}"/>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F03544A3-1AB0-64CD-546D-BA79D5E6BBC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CE7CE68-40C4-AC5E-AA14-B7FFE18DA9CF}"/>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2E0B8D22-A5CC-4D01-1A2A-D4377CA89B19}"/>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102462E8-E092-E711-28CD-2FB1A607CDC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70482652-E9D2-35E5-C1CE-3B227A5D7F5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40539004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611CE59-4653-6276-ED50-021E6D56263D}"/>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18FD49E-7B08-BF54-BDE7-FD6BB06BEFD3}"/>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C233181F-EE23-49FD-FED4-A1659E6C27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82F09D81-2137-5692-6045-6DDD7961DD03}"/>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C39EF82C-06B8-63D9-6948-308C62944B6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D02E7BA2-D6DA-A2DC-6485-50963976DE55}"/>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5EB7D4A-05F1-55EA-D345-F6CCE7FD897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899389C1-A323-8038-1A62-194E366EFBB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C8F8F040-092A-8918-2E3C-0E3193008058}"/>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E83F68C-4839-2CB4-DB31-D33BD42C9B26}"/>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2E050183-C4C3-557C-CAC8-95AE21F44762}"/>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79D5795A-5421-A618-A3A9-5DD3F392008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D7DB40E2-B054-8E95-2AD9-C4F1CCF0AD61}"/>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3AC9A87A-FDC1-068E-F24A-51F052BD6057}"/>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071E582B-B079-D834-BD12-61227A34848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108747C4-59D4-D816-F436-7130427C55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4272AA6D-FFF4-67D9-AA46-E8C043B06B60}"/>
              </a:ext>
            </a:extLst>
          </p:cNvPr>
          <p:cNvGrpSpPr/>
          <p:nvPr/>
        </p:nvGrpSpPr>
        <p:grpSpPr>
          <a:xfrm>
            <a:off x="6473130" y="5544846"/>
            <a:ext cx="753419" cy="753419"/>
            <a:chOff x="6473130" y="5544846"/>
            <a:chExt cx="753419" cy="753419"/>
          </a:xfrm>
        </p:grpSpPr>
        <p:pic>
          <p:nvPicPr>
            <p:cNvPr id="18" name="Graphic 17" descr="Envelope outline">
              <a:extLst>
                <a:ext uri="{FF2B5EF4-FFF2-40B4-BE49-F238E27FC236}">
                  <a16:creationId xmlns:a16="http://schemas.microsoft.com/office/drawing/2014/main" id="{18772611-6DA3-01A1-E443-F3F0F826466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D93423A2-C9DD-B0D8-0E89-0F212DA26849}"/>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16568E75-D2F3-28A8-AEB8-0350858C90D1}"/>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graphicFrame>
        <p:nvGraphicFramePr>
          <p:cNvPr id="6" name="Table 5">
            <a:extLst>
              <a:ext uri="{FF2B5EF4-FFF2-40B4-BE49-F238E27FC236}">
                <a16:creationId xmlns:a16="http://schemas.microsoft.com/office/drawing/2014/main" id="{65374BB8-E0FD-BA6D-AD45-D6A45F11514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2" name="TextBox 11">
            <a:extLst>
              <a:ext uri="{FF2B5EF4-FFF2-40B4-BE49-F238E27FC236}">
                <a16:creationId xmlns:a16="http://schemas.microsoft.com/office/drawing/2014/main" id="{5918FBC3-C82D-FC0C-D9F1-1D45E8576592}"/>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52086029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234167B-C12F-D3CF-BBBF-69E5293EA077}"/>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6A7B9822-C51D-3CF7-CFDA-A5694D8B320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5D771217-788E-1D6E-5586-D24A4F940A9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0106ACAB-5E95-90F6-E160-60ED59DA3F0F}"/>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A0E9D29-DC48-62AD-807C-5377DCA23A8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15C6DFC2-5507-3911-CFCD-B886239FB11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BD67F434-A4C2-AF2A-855D-1D14CEF10D5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462AC4C-E5C0-4C61-A542-A6F943AEBB5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6AC1D063-7047-C8BF-0924-42B31E73FFB2}"/>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3C7150BE-4C6C-E928-D095-50EDB4D1707E}"/>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5876E9C-0573-FAA0-C7FB-53025589F641}"/>
              </a:ext>
            </a:extLst>
          </p:cNvPr>
          <p:cNvGrpSpPr/>
          <p:nvPr/>
        </p:nvGrpSpPr>
        <p:grpSpPr>
          <a:xfrm>
            <a:off x="6356425" y="3549060"/>
            <a:ext cx="753419" cy="753419"/>
            <a:chOff x="5313966" y="5521682"/>
            <a:chExt cx="753419" cy="753419"/>
          </a:xfrm>
        </p:grpSpPr>
        <p:pic>
          <p:nvPicPr>
            <p:cNvPr id="16" name="Graphic 15" descr="Envelope outline">
              <a:extLst>
                <a:ext uri="{FF2B5EF4-FFF2-40B4-BE49-F238E27FC236}">
                  <a16:creationId xmlns:a16="http://schemas.microsoft.com/office/drawing/2014/main" id="{2BD60132-3123-4E08-8CA2-2B92DF2B7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B1C71A84-43CD-0F1A-4189-CD4FBB723660}"/>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D1EEFD75-12F7-9BDA-EEAE-A4620EE20453}"/>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3FC256D2-BF52-A2F0-9512-846BA29F3A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060A0674-53B4-4574-26F8-8F9036604239}"/>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71BFCF83-0939-EB1A-C5D3-8C65596DC2D8}"/>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DF61EB05-4C71-A8D6-7853-92C62C382F7D}"/>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5917D34-A95C-2C1B-5C0A-6D2B6867DE41}"/>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05F75933-C835-92A7-7390-B5114B10600B}"/>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1209E4C5-AB09-A87B-BB10-59F313A0058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aphicFrame>
        <p:nvGraphicFramePr>
          <p:cNvPr id="12" name="Table 11">
            <a:extLst>
              <a:ext uri="{FF2B5EF4-FFF2-40B4-BE49-F238E27FC236}">
                <a16:creationId xmlns:a16="http://schemas.microsoft.com/office/drawing/2014/main" id="{5D91A556-D653-5CDA-7341-C7B294BAF58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3" name="TextBox 12">
            <a:extLst>
              <a:ext uri="{FF2B5EF4-FFF2-40B4-BE49-F238E27FC236}">
                <a16:creationId xmlns:a16="http://schemas.microsoft.com/office/drawing/2014/main" id="{7E4F4F29-A1C2-86AF-8704-37171ECCC71C}"/>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2678842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8E3E709-8CEF-FDA8-334E-D9E7E6A655DA}"/>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E0570CD7-19CF-EE0B-3863-84C2670AE0D0}"/>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2A2530BD-3512-EE22-4881-4DC5D8325B4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F4207E71-D3B2-CB52-A0C5-25EC995BE7C1}"/>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D26EA9A3-D905-02CF-F0DB-C6B054CA064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89B4B4DE-8A40-C73F-F8F2-4C067496EDD4}"/>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A48A9AA4-D925-A781-B266-7B43CDFA67C4}"/>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4D9DBCE5-163D-8797-4A2E-F15D481294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5BE78168-E67E-FCA4-06E0-54DB866937E7}"/>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6A0716B8-1977-7AD4-441D-674FB032B7D2}"/>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F1DCFBA3-66F2-EF5B-7CBC-E134EEF9AE2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8C4E8B56-6578-369F-25E2-F14E2E4FA4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C12D2EB-7655-5ECF-4E36-662848D4215C}"/>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0DCEBE77-B5A5-8BAE-1A07-38BA84866BCD}"/>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EC052D40-1D33-C3D1-40C5-64C2D32695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7986FD76-EC9F-4C1D-9C20-F48E6BC23CE3}"/>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3A5B5B0-9132-0512-212D-04282F86A58A}"/>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9EF27254-355F-703C-A6F3-5A8DB982705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31BB3C77-AF67-134D-003A-759235E32F52}"/>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24E2A79-D13E-3D29-309C-5EB993F0174D}"/>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5D3801E3-361D-F650-2B20-757402D68B46}"/>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710B061D-BDF9-F71C-D803-AFC55F8B0858}"/>
              </a:ext>
            </a:extLst>
          </p:cNvPr>
          <p:cNvGrpSpPr/>
          <p:nvPr/>
        </p:nvGrpSpPr>
        <p:grpSpPr>
          <a:xfrm>
            <a:off x="5343001" y="5544846"/>
            <a:ext cx="753419" cy="753419"/>
            <a:chOff x="5313966" y="5521682"/>
            <a:chExt cx="753419" cy="753419"/>
          </a:xfrm>
        </p:grpSpPr>
        <p:pic>
          <p:nvPicPr>
            <p:cNvPr id="13" name="Graphic 12" descr="Envelope outline">
              <a:extLst>
                <a:ext uri="{FF2B5EF4-FFF2-40B4-BE49-F238E27FC236}">
                  <a16:creationId xmlns:a16="http://schemas.microsoft.com/office/drawing/2014/main" id="{C98CF25C-82DD-7A1B-726D-50AD9CCBDBD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0A61701C-0B78-9582-E1AB-4B0741220BE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E6350A8F-CAD5-5170-F0D6-FFC423AC4EF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1E254DE2-7A90-1197-19E9-68CA029D02D8}"/>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7828277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5C8615B-A32A-51C8-7F92-12417CF481E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5842A7B5-698A-16F4-2641-B2EEB5018A6F}"/>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B181366D-5FD6-5CA4-7820-B5EC8E079D7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E50F4675-67E5-7085-4EF2-84CBC1B1BB6C}"/>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F7D3B5F9-14CD-2F92-BA03-CEB9B6D404A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B6D067BE-32F3-A366-90C1-28356687AE22}"/>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0592E5B2-C9BE-6300-907E-78FC981FCB4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0C15434-C5CC-7A5D-89F7-8BAC9B4B1F0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E1489721-24C6-CCEB-80E4-0BF888E225AB}"/>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04A588EC-A4FC-7BB4-6029-CA20FBD860FD}"/>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5B9424E8-7EA4-F50D-1A20-9F10D31A258E}"/>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ED34272F-3F83-A171-37A1-9AFE7447C57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30F1AA02-07DC-1E08-CC6E-4ED6F7DC97DF}"/>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ED239F68-51BF-D4D0-7B8A-38CB490D0E68}"/>
              </a:ext>
            </a:extLst>
          </p:cNvPr>
          <p:cNvGrpSpPr/>
          <p:nvPr/>
        </p:nvGrpSpPr>
        <p:grpSpPr>
          <a:xfrm>
            <a:off x="5719711" y="3549062"/>
            <a:ext cx="753419" cy="753419"/>
            <a:chOff x="4123381" y="5521682"/>
            <a:chExt cx="753419" cy="753419"/>
          </a:xfrm>
        </p:grpSpPr>
        <p:pic>
          <p:nvPicPr>
            <p:cNvPr id="11" name="Graphic 10" descr="Envelope outline">
              <a:extLst>
                <a:ext uri="{FF2B5EF4-FFF2-40B4-BE49-F238E27FC236}">
                  <a16:creationId xmlns:a16="http://schemas.microsoft.com/office/drawing/2014/main" id="{83E0E7B4-297A-FAB2-0A3B-49A16D503D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FC3F7A94-FAB9-E6C9-6CE0-5E0C650BBEEF}"/>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60C2239B-C014-47B4-7371-EDFC83151473}"/>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CFBEE8CD-6147-59FC-1340-D03B294ADB87}"/>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61A3A418-57BF-15CD-D541-D6989108E6E5}"/>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7C839782-7C61-030F-B53E-4D6D4859FC7E}"/>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38F4F78D-5B10-7A8F-75C3-78B6AE29118F}"/>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5EF82E6B-4FBB-A7A3-FE86-6256B726A338}"/>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FCF5CC08-09B7-246E-825A-8BAC7BD0E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5AA9165F-F41A-BA65-307C-6141F0B5CADD}"/>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2453C236-914A-8DA7-0F42-595CAA46262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A4E348E2-14C2-996F-771A-989191F313C3}"/>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4054532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90ECAF4-814B-3E2F-E0A1-0BDFBDA6CB7E}"/>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452EC6B-2FD7-C30A-F68D-E4C539F87464}"/>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2" name="Graphic 1" descr="Server with solid fill">
            <a:extLst>
              <a:ext uri="{FF2B5EF4-FFF2-40B4-BE49-F238E27FC236}">
                <a16:creationId xmlns:a16="http://schemas.microsoft.com/office/drawing/2014/main" id="{8C3EBAF2-D97D-90FE-27DE-6356E94700E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876800" y="1336318"/>
            <a:ext cx="1219200" cy="1219200"/>
          </a:xfrm>
          <a:prstGeom prst="rect">
            <a:avLst/>
          </a:prstGeom>
        </p:spPr>
      </p:pic>
      <p:sp>
        <p:nvSpPr>
          <p:cNvPr id="4" name="TextBox 3">
            <a:extLst>
              <a:ext uri="{FF2B5EF4-FFF2-40B4-BE49-F238E27FC236}">
                <a16:creationId xmlns:a16="http://schemas.microsoft.com/office/drawing/2014/main" id="{546F8001-1C9B-062A-075F-49BE8414850D}"/>
              </a:ext>
            </a:extLst>
          </p:cNvPr>
          <p:cNvSpPr txBox="1"/>
          <p:nvPr/>
        </p:nvSpPr>
        <p:spPr>
          <a:xfrm>
            <a:off x="5951913" y="1569012"/>
            <a:ext cx="1817716"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7" name="Graphic 6" descr="Processor outline">
            <a:extLst>
              <a:ext uri="{FF2B5EF4-FFF2-40B4-BE49-F238E27FC236}">
                <a16:creationId xmlns:a16="http://schemas.microsoft.com/office/drawing/2014/main" id="{5391F11B-18AA-C3BE-3F87-BE34C6699850}"/>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23368" y="4635916"/>
            <a:ext cx="1052945" cy="1052945"/>
          </a:xfrm>
          <a:prstGeom prst="rect">
            <a:avLst/>
          </a:prstGeom>
        </p:spPr>
      </p:pic>
      <p:sp>
        <p:nvSpPr>
          <p:cNvPr id="8" name="TextBox 7">
            <a:extLst>
              <a:ext uri="{FF2B5EF4-FFF2-40B4-BE49-F238E27FC236}">
                <a16:creationId xmlns:a16="http://schemas.microsoft.com/office/drawing/2014/main" id="{E666C67C-94C8-98AC-3873-EBE2031C2D2A}"/>
              </a:ext>
            </a:extLst>
          </p:cNvPr>
          <p:cNvSpPr txBox="1"/>
          <p:nvPr/>
        </p:nvSpPr>
        <p:spPr>
          <a:xfrm>
            <a:off x="7482532" y="4931555"/>
            <a:ext cx="282160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Clients/Participants</a:t>
            </a:r>
          </a:p>
        </p:txBody>
      </p:sp>
      <p:pic>
        <p:nvPicPr>
          <p:cNvPr id="9" name="Graphic 8" descr="Processor outline">
            <a:extLst>
              <a:ext uri="{FF2B5EF4-FFF2-40B4-BE49-F238E27FC236}">
                <a16:creationId xmlns:a16="http://schemas.microsoft.com/office/drawing/2014/main" id="{1841B34D-CDC5-3A82-6F4E-71925FBAEC7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005040" y="4635916"/>
            <a:ext cx="1052945" cy="1052945"/>
          </a:xfrm>
          <a:prstGeom prst="rect">
            <a:avLst/>
          </a:prstGeom>
        </p:spPr>
      </p:pic>
      <p:pic>
        <p:nvPicPr>
          <p:cNvPr id="10" name="Graphic 9" descr="Processor outline">
            <a:extLst>
              <a:ext uri="{FF2B5EF4-FFF2-40B4-BE49-F238E27FC236}">
                <a16:creationId xmlns:a16="http://schemas.microsoft.com/office/drawing/2014/main" id="{CAC91AA1-72B3-1D5F-D31A-A184908CB33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64204" y="4635917"/>
            <a:ext cx="1052945" cy="1052945"/>
          </a:xfrm>
          <a:prstGeom prst="rect">
            <a:avLst/>
          </a:prstGeom>
        </p:spPr>
      </p:pic>
      <p:sp>
        <p:nvSpPr>
          <p:cNvPr id="17" name="Can 16">
            <a:extLst>
              <a:ext uri="{FF2B5EF4-FFF2-40B4-BE49-F238E27FC236}">
                <a16:creationId xmlns:a16="http://schemas.microsoft.com/office/drawing/2014/main" id="{BBD27018-75D3-177B-04AD-730913079CA0}"/>
              </a:ext>
            </a:extLst>
          </p:cNvPr>
          <p:cNvSpPr/>
          <p:nvPr/>
        </p:nvSpPr>
        <p:spPr>
          <a:xfrm rot="5400000">
            <a:off x="5373186" y="2733933"/>
            <a:ext cx="510231" cy="139013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2152BFA7-55C8-99E3-A582-94FE0D61ACA1}"/>
              </a:ext>
            </a:extLst>
          </p:cNvPr>
          <p:cNvSpPr txBox="1"/>
          <p:nvPr/>
        </p:nvSpPr>
        <p:spPr>
          <a:xfrm>
            <a:off x="158302" y="1973555"/>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attach message generation timestamps to outgoing messages</a:t>
            </a:r>
          </a:p>
        </p:txBody>
      </p:sp>
      <p:grpSp>
        <p:nvGrpSpPr>
          <p:cNvPr id="24" name="Group 23">
            <a:extLst>
              <a:ext uri="{FF2B5EF4-FFF2-40B4-BE49-F238E27FC236}">
                <a16:creationId xmlns:a16="http://schemas.microsoft.com/office/drawing/2014/main" id="{89F17BDB-B704-B4FE-0B43-3F50BCBE9E0F}"/>
              </a:ext>
            </a:extLst>
          </p:cNvPr>
          <p:cNvGrpSpPr/>
          <p:nvPr/>
        </p:nvGrpSpPr>
        <p:grpSpPr>
          <a:xfrm>
            <a:off x="6386306" y="2333813"/>
            <a:ext cx="753419" cy="753419"/>
            <a:chOff x="5313966" y="5521682"/>
            <a:chExt cx="753419" cy="753419"/>
          </a:xfrm>
        </p:grpSpPr>
        <p:pic>
          <p:nvPicPr>
            <p:cNvPr id="16" name="Graphic 15" descr="Envelope outline">
              <a:extLst>
                <a:ext uri="{FF2B5EF4-FFF2-40B4-BE49-F238E27FC236}">
                  <a16:creationId xmlns:a16="http://schemas.microsoft.com/office/drawing/2014/main" id="{1A2ABDE9-FEE9-CF21-E62A-D09F787744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9" name="TextBox 18">
              <a:extLst>
                <a:ext uri="{FF2B5EF4-FFF2-40B4-BE49-F238E27FC236}">
                  <a16:creationId xmlns:a16="http://schemas.microsoft.com/office/drawing/2014/main" id="{420ABEF2-B57F-ED19-7728-B63EAAF868FB}"/>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25" name="Group 24">
            <a:extLst>
              <a:ext uri="{FF2B5EF4-FFF2-40B4-BE49-F238E27FC236}">
                <a16:creationId xmlns:a16="http://schemas.microsoft.com/office/drawing/2014/main" id="{CA289BB4-109F-3BE4-DDD9-17BA3664846E}"/>
              </a:ext>
            </a:extLst>
          </p:cNvPr>
          <p:cNvGrpSpPr/>
          <p:nvPr/>
        </p:nvGrpSpPr>
        <p:grpSpPr>
          <a:xfrm>
            <a:off x="5668039" y="2333813"/>
            <a:ext cx="753419" cy="753419"/>
            <a:chOff x="4123381" y="5521682"/>
            <a:chExt cx="753419" cy="753419"/>
          </a:xfrm>
        </p:grpSpPr>
        <p:pic>
          <p:nvPicPr>
            <p:cNvPr id="11" name="Graphic 10" descr="Envelope outline">
              <a:extLst>
                <a:ext uri="{FF2B5EF4-FFF2-40B4-BE49-F238E27FC236}">
                  <a16:creationId xmlns:a16="http://schemas.microsoft.com/office/drawing/2014/main" id="{9571B5B3-F99E-FE60-33CF-CA616F37852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123381" y="5521682"/>
              <a:ext cx="753419" cy="753419"/>
            </a:xfrm>
            <a:prstGeom prst="rect">
              <a:avLst/>
            </a:prstGeom>
          </p:spPr>
        </p:pic>
        <p:sp>
          <p:nvSpPr>
            <p:cNvPr id="20" name="TextBox 19">
              <a:extLst>
                <a:ext uri="{FF2B5EF4-FFF2-40B4-BE49-F238E27FC236}">
                  <a16:creationId xmlns:a16="http://schemas.microsoft.com/office/drawing/2014/main" id="{3D74DE71-2E8B-AB67-070A-6629965388BE}"/>
                </a:ext>
              </a:extLst>
            </p:cNvPr>
            <p:cNvSpPr txBox="1"/>
            <p:nvPr/>
          </p:nvSpPr>
          <p:spPr>
            <a:xfrm>
              <a:off x="4319427"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23" name="Group 22">
            <a:extLst>
              <a:ext uri="{FF2B5EF4-FFF2-40B4-BE49-F238E27FC236}">
                <a16:creationId xmlns:a16="http://schemas.microsoft.com/office/drawing/2014/main" id="{B6993901-2226-EF73-1A0F-F7DD96E123B6}"/>
              </a:ext>
            </a:extLst>
          </p:cNvPr>
          <p:cNvGrpSpPr/>
          <p:nvPr/>
        </p:nvGrpSpPr>
        <p:grpSpPr>
          <a:xfrm>
            <a:off x="5057985" y="3549060"/>
            <a:ext cx="753419" cy="753419"/>
            <a:chOff x="6473130" y="5544846"/>
            <a:chExt cx="753419" cy="753419"/>
          </a:xfrm>
        </p:grpSpPr>
        <p:pic>
          <p:nvPicPr>
            <p:cNvPr id="18" name="Graphic 17" descr="Envelope outline">
              <a:extLst>
                <a:ext uri="{FF2B5EF4-FFF2-40B4-BE49-F238E27FC236}">
                  <a16:creationId xmlns:a16="http://schemas.microsoft.com/office/drawing/2014/main" id="{055DF166-C846-01BC-650C-34B1CE5DF6C8}"/>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473130" y="5544846"/>
              <a:ext cx="753419" cy="753419"/>
            </a:xfrm>
            <a:prstGeom prst="rect">
              <a:avLst/>
            </a:prstGeom>
          </p:spPr>
        </p:pic>
        <p:sp>
          <p:nvSpPr>
            <p:cNvPr id="21" name="TextBox 20">
              <a:extLst>
                <a:ext uri="{FF2B5EF4-FFF2-40B4-BE49-F238E27FC236}">
                  <a16:creationId xmlns:a16="http://schemas.microsoft.com/office/drawing/2014/main" id="{03B0AEBF-84B4-79AF-BE0F-3D6791EB957E}"/>
                </a:ext>
              </a:extLst>
            </p:cNvPr>
            <p:cNvSpPr txBox="1"/>
            <p:nvPr/>
          </p:nvSpPr>
          <p:spPr>
            <a:xfrm>
              <a:off x="6654315" y="5688861"/>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sp>
        <p:nvSpPr>
          <p:cNvPr id="22" name="TextBox 21">
            <a:extLst>
              <a:ext uri="{FF2B5EF4-FFF2-40B4-BE49-F238E27FC236}">
                <a16:creationId xmlns:a16="http://schemas.microsoft.com/office/drawing/2014/main" id="{C32C9B8C-D1E2-B4BC-CE6B-208795468197}"/>
              </a:ext>
            </a:extLst>
          </p:cNvPr>
          <p:cNvSpPr txBox="1"/>
          <p:nvPr/>
        </p:nvSpPr>
        <p:spPr>
          <a:xfrm>
            <a:off x="8420545" y="1973554"/>
            <a:ext cx="3727985"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Sequencer waits for at least one message from each client</a:t>
            </a:r>
          </a:p>
        </p:txBody>
      </p:sp>
      <p:sp>
        <p:nvSpPr>
          <p:cNvPr id="6" name="TextBox 5">
            <a:extLst>
              <a:ext uri="{FF2B5EF4-FFF2-40B4-BE49-F238E27FC236}">
                <a16:creationId xmlns:a16="http://schemas.microsoft.com/office/drawing/2014/main" id="{A6C98620-E4C3-ED2F-94AC-087FC2049070}"/>
              </a:ext>
            </a:extLst>
          </p:cNvPr>
          <p:cNvSpPr txBox="1"/>
          <p:nvPr/>
        </p:nvSpPr>
        <p:spPr>
          <a:xfrm>
            <a:off x="8420544" y="3508408"/>
            <a:ext cx="372798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It releases the smallest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ts’</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message and waits again</a:t>
            </a:r>
          </a:p>
        </p:txBody>
      </p:sp>
      <p:grpSp>
        <p:nvGrpSpPr>
          <p:cNvPr id="12" name="Group 11">
            <a:extLst>
              <a:ext uri="{FF2B5EF4-FFF2-40B4-BE49-F238E27FC236}">
                <a16:creationId xmlns:a16="http://schemas.microsoft.com/office/drawing/2014/main" id="{F3368CB1-204F-31F1-013D-602A18BAD8C1}"/>
              </a:ext>
            </a:extLst>
          </p:cNvPr>
          <p:cNvGrpSpPr/>
          <p:nvPr/>
        </p:nvGrpSpPr>
        <p:grpSpPr>
          <a:xfrm>
            <a:off x="4406763" y="3549060"/>
            <a:ext cx="753419" cy="753419"/>
            <a:chOff x="5313966" y="5521682"/>
            <a:chExt cx="753419" cy="753419"/>
          </a:xfrm>
        </p:grpSpPr>
        <p:pic>
          <p:nvPicPr>
            <p:cNvPr id="13" name="Graphic 12" descr="Envelope outline">
              <a:extLst>
                <a:ext uri="{FF2B5EF4-FFF2-40B4-BE49-F238E27FC236}">
                  <a16:creationId xmlns:a16="http://schemas.microsoft.com/office/drawing/2014/main" id="{2FBE1080-3794-9765-2238-328E60264F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13966" y="5521682"/>
              <a:ext cx="753419" cy="753419"/>
            </a:xfrm>
            <a:prstGeom prst="rect">
              <a:avLst/>
            </a:prstGeom>
          </p:spPr>
        </p:pic>
        <p:sp>
          <p:nvSpPr>
            <p:cNvPr id="14" name="TextBox 13">
              <a:extLst>
                <a:ext uri="{FF2B5EF4-FFF2-40B4-BE49-F238E27FC236}">
                  <a16:creationId xmlns:a16="http://schemas.microsoft.com/office/drawing/2014/main" id="{906A7838-01C4-859A-4D59-88F6EF28F2C4}"/>
                </a:ext>
              </a:extLst>
            </p:cNvPr>
            <p:cNvSpPr txBox="1"/>
            <p:nvPr/>
          </p:nvSpPr>
          <p:spPr>
            <a:xfrm>
              <a:off x="5486400" y="5667558"/>
              <a:ext cx="356188"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graphicFrame>
        <p:nvGraphicFramePr>
          <p:cNvPr id="15" name="Table 14">
            <a:extLst>
              <a:ext uri="{FF2B5EF4-FFF2-40B4-BE49-F238E27FC236}">
                <a16:creationId xmlns:a16="http://schemas.microsoft.com/office/drawing/2014/main" id="{440F5FAC-2910-9830-1C6C-C1FC7D3F515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26" name="TextBox 25">
            <a:extLst>
              <a:ext uri="{FF2B5EF4-FFF2-40B4-BE49-F238E27FC236}">
                <a16:creationId xmlns:a16="http://schemas.microsoft.com/office/drawing/2014/main" id="{F6C05090-D2C3-A5EE-5FF9-333608FD314E}"/>
              </a:ext>
            </a:extLst>
          </p:cNvPr>
          <p:cNvSpPr txBox="1"/>
          <p:nvPr/>
        </p:nvSpPr>
        <p:spPr>
          <a:xfrm>
            <a:off x="7769629" y="966986"/>
            <a:ext cx="4053403"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Can use knowledge of MPs!</a:t>
            </a:r>
          </a:p>
        </p:txBody>
      </p:sp>
    </p:spTree>
    <p:extLst>
      <p:ext uri="{BB962C8B-B14F-4D97-AF65-F5344CB8AC3E}">
        <p14:creationId xmlns:p14="http://schemas.microsoft.com/office/powerpoint/2010/main" val="28956670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ABCBAA-87DA-BB1F-D244-272A41762AC8}"/>
            </a:ext>
          </a:extLst>
        </p:cNvPr>
        <p:cNvGrpSpPr/>
        <p:nvPr/>
      </p:nvGrpSpPr>
      <p:grpSpPr>
        <a:xfrm>
          <a:off x="0" y="0"/>
          <a:ext cx="0" cy="0"/>
          <a:chOff x="0" y="0"/>
          <a:chExt cx="0" cy="0"/>
        </a:xfrm>
      </p:grpSpPr>
      <p:graphicFrame>
        <p:nvGraphicFramePr>
          <p:cNvPr id="5" name="TextBox 1">
            <a:extLst>
              <a:ext uri="{FF2B5EF4-FFF2-40B4-BE49-F238E27FC236}">
                <a16:creationId xmlns:a16="http://schemas.microsoft.com/office/drawing/2014/main" id="{C60578B4-4F8D-01BE-997C-35829B6B64A1}"/>
              </a:ext>
            </a:extLst>
          </p:cNvPr>
          <p:cNvGraphicFramePr/>
          <p:nvPr/>
        </p:nvGraphicFramePr>
        <p:xfrm>
          <a:off x="-3930768" y="-2383265"/>
          <a:ext cx="11360800" cy="4352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7" name="Can 16">
            <a:extLst>
              <a:ext uri="{FF2B5EF4-FFF2-40B4-BE49-F238E27FC236}">
                <a16:creationId xmlns:a16="http://schemas.microsoft.com/office/drawing/2014/main" id="{DC5582FA-9063-931C-0EAA-A97C7B2B058D}"/>
              </a:ext>
            </a:extLst>
          </p:cNvPr>
          <p:cNvSpPr/>
          <p:nvPr/>
        </p:nvSpPr>
        <p:spPr>
          <a:xfrm rot="5400000">
            <a:off x="5100657" y="452002"/>
            <a:ext cx="510231" cy="353885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3B51A561-361C-A5AE-237D-94575741EAD1}"/>
              </a:ext>
            </a:extLst>
          </p:cNvPr>
          <p:cNvSpPr txBox="1"/>
          <p:nvPr/>
        </p:nvSpPr>
        <p:spPr>
          <a:xfrm>
            <a:off x="1928833" y="2967335"/>
            <a:ext cx="8334333"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Drawback: liveness (progress) may halt under client failures</a:t>
            </a:r>
          </a:p>
        </p:txBody>
      </p:sp>
      <p:sp>
        <p:nvSpPr>
          <p:cNvPr id="26" name="TextBox 25">
            <a:extLst>
              <a:ext uri="{FF2B5EF4-FFF2-40B4-BE49-F238E27FC236}">
                <a16:creationId xmlns:a16="http://schemas.microsoft.com/office/drawing/2014/main" id="{78F8367C-0DE0-2A3C-E364-B123AAA8EE83}"/>
              </a:ext>
            </a:extLst>
          </p:cNvPr>
          <p:cNvSpPr txBox="1"/>
          <p:nvPr/>
        </p:nvSpPr>
        <p:spPr>
          <a:xfrm>
            <a:off x="1928833" y="3624546"/>
            <a:ext cx="9238426"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Safety (fairness) is guaranteed if clocks are perfectly synchronized</a:t>
            </a:r>
          </a:p>
        </p:txBody>
      </p:sp>
      <p:sp>
        <p:nvSpPr>
          <p:cNvPr id="27" name="TextBox 26">
            <a:extLst>
              <a:ext uri="{FF2B5EF4-FFF2-40B4-BE49-F238E27FC236}">
                <a16:creationId xmlns:a16="http://schemas.microsoft.com/office/drawing/2014/main" id="{63480231-AB32-4194-2948-7E23D537E137}"/>
              </a:ext>
            </a:extLst>
          </p:cNvPr>
          <p:cNvSpPr txBox="1"/>
          <p:nvPr/>
        </p:nvSpPr>
        <p:spPr>
          <a:xfrm>
            <a:off x="1928833" y="4350037"/>
            <a:ext cx="9950994" cy="83099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In practice, we ensure that clock synchronization accuracy is sufficiently</a:t>
            </a:r>
            <a:b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high compared to the time granularity of interest.</a:t>
            </a:r>
          </a:p>
        </p:txBody>
      </p:sp>
      <p:graphicFrame>
        <p:nvGraphicFramePr>
          <p:cNvPr id="2" name="Table 1">
            <a:extLst>
              <a:ext uri="{FF2B5EF4-FFF2-40B4-BE49-F238E27FC236}">
                <a16:creationId xmlns:a16="http://schemas.microsoft.com/office/drawing/2014/main" id="{62C82EF7-B5DC-F950-CA74-1F19FFE836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rgbClr val="FF0000"/>
                          </a:solidFill>
                        </a:rPr>
                        <a:t>Sequencer</a:t>
                      </a:r>
                      <a:r>
                        <a:rPr lang="en-US" sz="1800" b="1" dirty="0">
                          <a:solidFill>
                            <a:schemeClr val="tx1"/>
                          </a:solidFill>
                        </a:rPr>
                        <a:t>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8368867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26" grpId="0"/>
      <p:bldP spid="27" grpId="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5DFF76-15F4-B7BE-4BA7-3876120D593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F064D8-E10B-0C2A-145D-E054039F72ED}"/>
              </a:ext>
            </a:extLst>
          </p:cNvPr>
          <p:cNvSpPr txBox="1"/>
          <p:nvPr/>
        </p:nvSpPr>
        <p:spPr>
          <a:xfrm>
            <a:off x="569979" y="476910"/>
            <a:ext cx="3578224"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err="1">
                <a:ln>
                  <a:noFill/>
                </a:ln>
                <a:solidFill>
                  <a:srgbClr val="156082"/>
                </a:solidFill>
                <a:effectLst/>
                <a:uLnTx/>
                <a:uFillTx/>
                <a:latin typeface="Arial"/>
                <a:ea typeface="+mn-ea"/>
                <a:cs typeface="Arial"/>
                <a:sym typeface="Arial"/>
              </a:rPr>
              <a:t>Incast</a:t>
            </a: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 Congestion</a:t>
            </a:r>
          </a:p>
        </p:txBody>
      </p:sp>
      <p:sp>
        <p:nvSpPr>
          <p:cNvPr id="7" name="TextBox 6">
            <a:extLst>
              <a:ext uri="{FF2B5EF4-FFF2-40B4-BE49-F238E27FC236}">
                <a16:creationId xmlns:a16="http://schemas.microsoft.com/office/drawing/2014/main" id="{74E029FE-577A-5BE0-C3D5-761476EE6CC5}"/>
              </a:ext>
            </a:extLst>
          </p:cNvPr>
          <p:cNvSpPr txBox="1"/>
          <p:nvPr/>
        </p:nvSpPr>
        <p:spPr>
          <a:xfrm>
            <a:off x="569979" y="1235036"/>
            <a:ext cx="11044089" cy="45243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As the number of clients increase, the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incast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congestion at the exchange occurs.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see the opportunity to reuse the multicast tree in the reverse direction to reduce burstiness behavior at the ingress of the exchange.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Clients get partitioned into groups where each leaf proxy node handles a group of clients.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Reduced fan-in at the exchange, leads to lower packet drops.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Enables scheduling of packets at the tree nodes (virtual network nodes) as it moves queues from the exchange ingress to the tree nodes</a:t>
            </a:r>
          </a:p>
        </p:txBody>
      </p:sp>
      <p:graphicFrame>
        <p:nvGraphicFramePr>
          <p:cNvPr id="2" name="Table 1">
            <a:extLst>
              <a:ext uri="{FF2B5EF4-FFF2-40B4-BE49-F238E27FC236}">
                <a16:creationId xmlns:a16="http://schemas.microsoft.com/office/drawing/2014/main" id="{C5D7842F-C485-5F61-5049-BB838A5360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LOQ</a:t>
                      </a:r>
                      <a:endParaRPr lang="en-US" sz="1800" dirty="0">
                        <a:solidFill>
                          <a:schemeClr val="tx1"/>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473547400"/>
      </p:ext>
    </p:extLst>
  </p:cSld>
  <p:clrMapOvr>
    <a:masterClrMapping/>
  </p:clrMapOvr>
  <p:transition spd="med">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58C464D4-80FE-7B51-2FBB-1DA3DCD3EC6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71431E3-B656-964F-AA55-E868196DB545}"/>
              </a:ext>
            </a:extLst>
          </p:cNvPr>
          <p:cNvPicPr>
            <a:picLocks noChangeAspect="1"/>
          </p:cNvPicPr>
          <p:nvPr/>
        </p:nvPicPr>
        <p:blipFill>
          <a:blip r:embed="rId3"/>
          <a:stretch>
            <a:fillRect/>
          </a:stretch>
        </p:blipFill>
        <p:spPr>
          <a:xfrm>
            <a:off x="6580342" y="2593544"/>
            <a:ext cx="4218835" cy="3130959"/>
          </a:xfrm>
          <a:prstGeom prst="rect">
            <a:avLst/>
          </a:prstGeom>
        </p:spPr>
      </p:pic>
      <p:sp>
        <p:nvSpPr>
          <p:cNvPr id="406" name="Google Shape;406;p35">
            <a:extLst>
              <a:ext uri="{FF2B5EF4-FFF2-40B4-BE49-F238E27FC236}">
                <a16:creationId xmlns:a16="http://schemas.microsoft.com/office/drawing/2014/main" id="{3249C9D7-9FAB-B664-A97F-3DD0131BBBB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a:t>
            </a:r>
            <a:endParaRPr dirty="0"/>
          </a:p>
        </p:txBody>
      </p:sp>
      <p:sp>
        <p:nvSpPr>
          <p:cNvPr id="407" name="Google Shape;407;p35">
            <a:extLst>
              <a:ext uri="{FF2B5EF4-FFF2-40B4-BE49-F238E27FC236}">
                <a16:creationId xmlns:a16="http://schemas.microsoft.com/office/drawing/2014/main" id="{B8CE01C3-F86E-7743-CA06-049496BC3AB9}"/>
              </a:ext>
            </a:extLst>
          </p:cNvPr>
          <p:cNvSpPr txBox="1">
            <a:spLocks noGrp="1"/>
          </p:cNvSpPr>
          <p:nvPr>
            <p:ph type="body" idx="1"/>
          </p:nvPr>
        </p:nvSpPr>
        <p:spPr>
          <a:xfrm>
            <a:off x="415600" y="1536634"/>
            <a:ext cx="11360800" cy="1839761"/>
          </a:xfrm>
          <a:prstGeom prst="rect">
            <a:avLst/>
          </a:prstGeom>
        </p:spPr>
        <p:txBody>
          <a:bodyPr spcFirstLastPara="1" wrap="square" lIns="121900" tIns="121900" rIns="121900" bIns="121900" anchor="t" anchorCtr="0">
            <a:noAutofit/>
          </a:bodyPr>
          <a:lstStyle/>
          <a:p>
            <a:pPr>
              <a:buFont typeface="Arial" panose="020B0604020202020204" pitchFamily="34" charset="0"/>
              <a:buChar char="-"/>
            </a:pPr>
            <a:r>
              <a:rPr lang="en-US" sz="2400" dirty="0"/>
              <a:t>During bursty market activity, the exchange server may be overwhelmed.</a:t>
            </a:r>
          </a:p>
          <a:p>
            <a:pPr>
              <a:buChar char="-"/>
            </a:pPr>
            <a:r>
              <a:rPr lang="en-US" sz="2400" dirty="0"/>
              <a:t>Schedules order in a way to avoid idling the matching engine, using the knowledge that orders are matched by price time priority algorithm</a:t>
            </a:r>
          </a:p>
        </p:txBody>
      </p:sp>
      <p:sp>
        <p:nvSpPr>
          <p:cNvPr id="3" name="Oval 2">
            <a:extLst>
              <a:ext uri="{FF2B5EF4-FFF2-40B4-BE49-F238E27FC236}">
                <a16:creationId xmlns:a16="http://schemas.microsoft.com/office/drawing/2014/main" id="{55D51AC1-4B54-6643-9AF4-23598F686676}"/>
              </a:ext>
            </a:extLst>
          </p:cNvPr>
          <p:cNvSpPr/>
          <p:nvPr/>
        </p:nvSpPr>
        <p:spPr>
          <a:xfrm>
            <a:off x="3985965"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$5</a:t>
            </a:r>
          </a:p>
        </p:txBody>
      </p:sp>
      <p:sp>
        <p:nvSpPr>
          <p:cNvPr id="4" name="Oval 3">
            <a:extLst>
              <a:ext uri="{FF2B5EF4-FFF2-40B4-BE49-F238E27FC236}">
                <a16:creationId xmlns:a16="http://schemas.microsoft.com/office/drawing/2014/main" id="{2DD9E9C6-5FC5-9399-3CA1-33B019989986}"/>
              </a:ext>
            </a:extLst>
          </p:cNvPr>
          <p:cNvSpPr/>
          <p:nvPr/>
        </p:nvSpPr>
        <p:spPr>
          <a:xfrm>
            <a:off x="1392823" y="379274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sp>
        <p:nvSpPr>
          <p:cNvPr id="5" name="Oval 4">
            <a:extLst>
              <a:ext uri="{FF2B5EF4-FFF2-40B4-BE49-F238E27FC236}">
                <a16:creationId xmlns:a16="http://schemas.microsoft.com/office/drawing/2014/main" id="{42B93D45-AB3A-D173-4A62-8E4A0CBC7FD0}"/>
              </a:ext>
            </a:extLst>
          </p:cNvPr>
          <p:cNvSpPr/>
          <p:nvPr/>
        </p:nvSpPr>
        <p:spPr>
          <a:xfrm>
            <a:off x="2689393" y="379274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sp>
        <p:nvSpPr>
          <p:cNvPr id="6" name="Oval 5">
            <a:extLst>
              <a:ext uri="{FF2B5EF4-FFF2-40B4-BE49-F238E27FC236}">
                <a16:creationId xmlns:a16="http://schemas.microsoft.com/office/drawing/2014/main" id="{B56C8AE1-9FB3-59FD-697C-54C69DF301A7}"/>
              </a:ext>
            </a:extLst>
          </p:cNvPr>
          <p:cNvSpPr/>
          <p:nvPr/>
        </p:nvSpPr>
        <p:spPr>
          <a:xfrm>
            <a:off x="5243328" y="379274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sp>
        <p:nvSpPr>
          <p:cNvPr id="7" name="Down Arrow 6">
            <a:extLst>
              <a:ext uri="{FF2B5EF4-FFF2-40B4-BE49-F238E27FC236}">
                <a16:creationId xmlns:a16="http://schemas.microsoft.com/office/drawing/2014/main" id="{FDC48DB9-4214-8FA8-4C17-397AB981098C}"/>
              </a:ext>
            </a:extLst>
          </p:cNvPr>
          <p:cNvSpPr/>
          <p:nvPr/>
        </p:nvSpPr>
        <p:spPr>
          <a:xfrm>
            <a:off x="6071644" y="396636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Down Arrow 7">
            <a:extLst>
              <a:ext uri="{FF2B5EF4-FFF2-40B4-BE49-F238E27FC236}">
                <a16:creationId xmlns:a16="http://schemas.microsoft.com/office/drawing/2014/main" id="{FD42435B-D204-D3B7-E2FE-7F28CC532E64}"/>
              </a:ext>
            </a:extLst>
          </p:cNvPr>
          <p:cNvSpPr/>
          <p:nvPr/>
        </p:nvSpPr>
        <p:spPr>
          <a:xfrm>
            <a:off x="2153311" y="396636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Down Arrow 8">
            <a:extLst>
              <a:ext uri="{FF2B5EF4-FFF2-40B4-BE49-F238E27FC236}">
                <a16:creationId xmlns:a16="http://schemas.microsoft.com/office/drawing/2014/main" id="{B3D95227-75D2-537D-24F8-72EFBE442FAA}"/>
              </a:ext>
            </a:extLst>
          </p:cNvPr>
          <p:cNvSpPr/>
          <p:nvPr/>
        </p:nvSpPr>
        <p:spPr>
          <a:xfrm>
            <a:off x="2151571" y="440526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Down Arrow 9">
            <a:extLst>
              <a:ext uri="{FF2B5EF4-FFF2-40B4-BE49-F238E27FC236}">
                <a16:creationId xmlns:a16="http://schemas.microsoft.com/office/drawing/2014/main" id="{42204CF7-F34A-11FE-A25D-75A53A34C0FA}"/>
              </a:ext>
            </a:extLst>
          </p:cNvPr>
          <p:cNvSpPr/>
          <p:nvPr/>
        </p:nvSpPr>
        <p:spPr>
          <a:xfrm rot="10800000">
            <a:off x="3530480" y="407032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Down Arrow 10">
            <a:extLst>
              <a:ext uri="{FF2B5EF4-FFF2-40B4-BE49-F238E27FC236}">
                <a16:creationId xmlns:a16="http://schemas.microsoft.com/office/drawing/2014/main" id="{16C080B0-4A32-67DF-9B89-53C74EA73727}"/>
              </a:ext>
            </a:extLst>
          </p:cNvPr>
          <p:cNvSpPr/>
          <p:nvPr/>
        </p:nvSpPr>
        <p:spPr>
          <a:xfrm rot="10800000">
            <a:off x="4773535" y="426297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wn Arrow 11">
            <a:extLst>
              <a:ext uri="{FF2B5EF4-FFF2-40B4-BE49-F238E27FC236}">
                <a16:creationId xmlns:a16="http://schemas.microsoft.com/office/drawing/2014/main" id="{8DF268F4-08B3-ACFC-B7A1-F7234C44C470}"/>
              </a:ext>
            </a:extLst>
          </p:cNvPr>
          <p:cNvSpPr/>
          <p:nvPr/>
        </p:nvSpPr>
        <p:spPr>
          <a:xfrm rot="10800000">
            <a:off x="4773533" y="379274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Google Shape;408;p35">
            <a:extLst>
              <a:ext uri="{FF2B5EF4-FFF2-40B4-BE49-F238E27FC236}">
                <a16:creationId xmlns:a16="http://schemas.microsoft.com/office/drawing/2014/main" id="{6E4D29A9-2CEC-0239-0055-2D340AF7F539}"/>
              </a:ext>
            </a:extLst>
          </p:cNvPr>
          <p:cNvSpPr/>
          <p:nvPr/>
        </p:nvSpPr>
        <p:spPr>
          <a:xfrm>
            <a:off x="1993850" y="5492637"/>
            <a:ext cx="7938400" cy="985200"/>
          </a:xfrm>
          <a:prstGeom prst="roundRect">
            <a:avLst>
              <a:gd name="adj" fmla="val 16667"/>
            </a:avLst>
          </a:prstGeom>
          <a:solidFill>
            <a:schemeClr val="accent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24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409;p35">
            <a:extLst>
              <a:ext uri="{FF2B5EF4-FFF2-40B4-BE49-F238E27FC236}">
                <a16:creationId xmlns:a16="http://schemas.microsoft.com/office/drawing/2014/main" id="{D59BD170-13EB-D239-C5FA-34645FAECE28}"/>
              </a:ext>
            </a:extLst>
          </p:cNvPr>
          <p:cNvSpPr txBox="1"/>
          <p:nvPr/>
        </p:nvSpPr>
        <p:spPr>
          <a:xfrm>
            <a:off x="1993850" y="5562037"/>
            <a:ext cx="7938400" cy="984845"/>
          </a:xfrm>
          <a:prstGeom prst="rect">
            <a:avLst/>
          </a:prstGeom>
          <a:noFill/>
          <a:ln>
            <a:noFill/>
          </a:ln>
        </p:spPr>
        <p:txBody>
          <a:bodyPr spcFirstLastPara="1" wrap="square" lIns="121900" tIns="121900" rIns="121900" bIns="121900" anchor="t"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400" b="0" i="0" u="none" strike="noStrike" kern="1200" cap="none" spc="0" normalizeH="0" baseline="0" noProof="0" dirty="0">
                <a:ln>
                  <a:noFill/>
                </a:ln>
                <a:solidFill>
                  <a:prstClr val="white"/>
                </a:solidFill>
                <a:effectLst/>
                <a:uLnTx/>
                <a:uFillTx/>
                <a:latin typeface="Aptos" panose="02110004020202020204"/>
                <a:ea typeface="+mn-ea"/>
                <a:cs typeface="+mn-cs"/>
              </a:rPr>
              <a:t>Naively doing such prioritization will not preserve inbound fairness. </a:t>
            </a:r>
            <a:endParaRPr kumimoji="0" sz="2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aphicFrame>
        <p:nvGraphicFramePr>
          <p:cNvPr id="13" name="Table 12">
            <a:extLst>
              <a:ext uri="{FF2B5EF4-FFF2-40B4-BE49-F238E27FC236}">
                <a16:creationId xmlns:a16="http://schemas.microsoft.com/office/drawing/2014/main" id="{34CE55C7-6856-ECC9-1204-D524C3C140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16" name="Rounded Rectangle 15">
            <a:extLst>
              <a:ext uri="{FF2B5EF4-FFF2-40B4-BE49-F238E27FC236}">
                <a16:creationId xmlns:a16="http://schemas.microsoft.com/office/drawing/2014/main" id="{FDCAEB06-1BD9-501B-3E5A-159DB470DFD2}"/>
              </a:ext>
            </a:extLst>
          </p:cNvPr>
          <p:cNvSpPr/>
          <p:nvPr/>
        </p:nvSpPr>
        <p:spPr>
          <a:xfrm>
            <a:off x="5243328" y="269512"/>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325270566"/>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dissolv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 calcmode="lin" valueType="num">
                                      <p:cBhvr additive="base">
                                        <p:cTn id="28" dur="500" fill="hold"/>
                                        <p:tgtEl>
                                          <p:spTgt spid="3"/>
                                        </p:tgtEl>
                                        <p:attrNameLst>
                                          <p:attrName>ppt_x</p:attrName>
                                        </p:attrNameLst>
                                      </p:cBhvr>
                                      <p:tavLst>
                                        <p:tav tm="0">
                                          <p:val>
                                            <p:strVal val="#ppt_x"/>
                                          </p:val>
                                        </p:tav>
                                        <p:tav tm="100000">
                                          <p:val>
                                            <p:strVal val="#ppt_x"/>
                                          </p:val>
                                        </p:tav>
                                      </p:tavLst>
                                    </p:anim>
                                    <p:anim calcmode="lin" valueType="num">
                                      <p:cBhvr additive="base">
                                        <p:cTn id="29" dur="500" fill="hold"/>
                                        <p:tgtEl>
                                          <p:spTgt spid="3"/>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5"/>
                                        </p:tgtEl>
                                        <p:attrNameLst>
                                          <p:attrName>style.visibility</p:attrName>
                                        </p:attrNameLst>
                                      </p:cBhvr>
                                      <p:to>
                                        <p:strVal val="visible"/>
                                      </p:to>
                                    </p:set>
                                    <p:anim calcmode="lin" valueType="num">
                                      <p:cBhvr additive="base">
                                        <p:cTn id="32" dur="500" fill="hold"/>
                                        <p:tgtEl>
                                          <p:spTgt spid="5"/>
                                        </p:tgtEl>
                                        <p:attrNameLst>
                                          <p:attrName>ppt_x</p:attrName>
                                        </p:attrNameLst>
                                      </p:cBhvr>
                                      <p:tavLst>
                                        <p:tav tm="0">
                                          <p:val>
                                            <p:strVal val="#ppt_x"/>
                                          </p:val>
                                        </p:tav>
                                        <p:tav tm="100000">
                                          <p:val>
                                            <p:strVal val="#ppt_x"/>
                                          </p:val>
                                        </p:tav>
                                      </p:tavLst>
                                    </p:anim>
                                    <p:anim calcmode="lin" valueType="num">
                                      <p:cBhvr additive="base">
                                        <p:cTn id="33" dur="500" fill="hold"/>
                                        <p:tgtEl>
                                          <p:spTgt spid="5"/>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 calcmode="lin" valueType="num">
                                      <p:cBhvr additive="base">
                                        <p:cTn id="36" dur="500" fill="hold"/>
                                        <p:tgtEl>
                                          <p:spTgt spid="4"/>
                                        </p:tgtEl>
                                        <p:attrNameLst>
                                          <p:attrName>ppt_x</p:attrName>
                                        </p:attrNameLst>
                                      </p:cBhvr>
                                      <p:tavLst>
                                        <p:tav tm="0">
                                          <p:val>
                                            <p:strVal val="#ppt_x"/>
                                          </p:val>
                                        </p:tav>
                                        <p:tav tm="100000">
                                          <p:val>
                                            <p:strVal val="#ppt_x"/>
                                          </p:val>
                                        </p:tav>
                                      </p:tavLst>
                                    </p:anim>
                                    <p:anim calcmode="lin" valueType="num">
                                      <p:cBhvr additive="base">
                                        <p:cTn id="37"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10"/>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51" dur="1" fill="hold">
                                          <p:stCondLst>
                                            <p:cond delay="0"/>
                                          </p:stCondLst>
                                        </p:cTn>
                                        <p:tgtEl>
                                          <p:spTgt spid="11"/>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grpId="0" nodeType="clickEffect">
                                  <p:stCondLst>
                                    <p:cond delay="0"/>
                                  </p:stCondLst>
                                  <p:childTnLst>
                                    <p:set>
                                      <p:cBhvr>
                                        <p:cTn id="57" dur="1" fill="hold">
                                          <p:stCondLst>
                                            <p:cond delay="0"/>
                                          </p:stCondLst>
                                        </p:cTn>
                                        <p:tgtEl>
                                          <p:spTgt spid="14"/>
                                        </p:tgtEl>
                                        <p:attrNameLst>
                                          <p:attrName>style.visibility</p:attrName>
                                        </p:attrNameLst>
                                      </p:cBhvr>
                                      <p:to>
                                        <p:strVal val="visible"/>
                                      </p:to>
                                    </p:set>
                                  </p:childTnLst>
                                </p:cTn>
                              </p:par>
                              <p:par>
                                <p:cTn id="58" presetID="1" presetClass="entr" presetSubtype="0" fill="hold" grpId="0" nodeType="withEffect">
                                  <p:stCondLst>
                                    <p:cond delay="0"/>
                                  </p:stCondLst>
                                  <p:childTnLst>
                                    <p:set>
                                      <p:cBhvr>
                                        <p:cTn id="59"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4" grpId="0" animBg="1"/>
      <p:bldP spid="15" grpId="0"/>
      <p:bldP spid="16"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BFCC49D-0895-F169-4433-88EE9E805D87}"/>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7A822D50-8F80-07CB-ED2A-B7B55878642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C4BDCC5B-B2E1-3580-AB9A-8D7253EB1F2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FECCEFA-337A-B33E-9EFA-E000D00C4F93}"/>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C55BED9-9F4A-4CCF-E005-F65AA92AFC6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91A4723-083A-3B4D-CBFE-0F6974AC089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5CDC054-979C-8D48-89C1-74CCBC5FC9D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272C1A65-D56E-167C-14B8-BDC3979EFB04}"/>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ABB70BB-56E3-1AB3-0534-A4BCF76295ED}"/>
              </a:ext>
            </a:extLst>
          </p:cNvPr>
          <p:cNvSpPr/>
          <p:nvPr/>
        </p:nvSpPr>
        <p:spPr>
          <a:xfrm>
            <a:off x="1055077"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FD44635-1DAF-9414-3567-2DEAB9DFB235}"/>
              </a:ext>
            </a:extLst>
          </p:cNvPr>
          <p:cNvSpPr/>
          <p:nvPr/>
        </p:nvSpPr>
        <p:spPr>
          <a:xfrm>
            <a:off x="1247672" y="566224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AE2693-AADB-755A-5539-9D4CBD61F113}"/>
              </a:ext>
            </a:extLst>
          </p:cNvPr>
          <p:cNvSpPr/>
          <p:nvPr/>
        </p:nvSpPr>
        <p:spPr>
          <a:xfrm>
            <a:off x="2006319" y="564717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7DF20DC-42E0-6203-5B2A-821E1C426DF1}"/>
              </a:ext>
            </a:extLst>
          </p:cNvPr>
          <p:cNvSpPr/>
          <p:nvPr/>
        </p:nvSpPr>
        <p:spPr>
          <a:xfrm>
            <a:off x="301283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669B602-202B-E5A2-EF57-62F69B3EAC7F}"/>
              </a:ext>
            </a:extLst>
          </p:cNvPr>
          <p:cNvSpPr/>
          <p:nvPr/>
        </p:nvSpPr>
        <p:spPr>
          <a:xfrm>
            <a:off x="3997571" y="563210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C792EEE9-6CE9-16C1-00ED-0F884FA79456}"/>
              </a:ext>
            </a:extLst>
          </p:cNvPr>
          <p:cNvSpPr/>
          <p:nvPr/>
        </p:nvSpPr>
        <p:spPr>
          <a:xfrm>
            <a:off x="4191838" y="565722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EC1C9668-0514-1720-1A77-55BDDFB561F3}"/>
              </a:ext>
            </a:extLst>
          </p:cNvPr>
          <p:cNvSpPr/>
          <p:nvPr/>
        </p:nvSpPr>
        <p:spPr>
          <a:xfrm>
            <a:off x="3811673" y="567983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A6F3B792-56F4-8E04-9BC0-DC5CF6124E3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440986663"/>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5" grpId="0" animBg="1"/>
      <p:bldP spid="16" grpId="0" animBg="1"/>
      <p:bldP spid="17"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211C64BD-41BD-6F2F-B265-62AC4F699BD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96027CB-5FBA-87B8-0350-F91E281B891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887D5150-C258-D770-F3FC-B8C7C9D70C6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EA464B21-9ECA-6E22-48FC-7F7C805C9C92}"/>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350ADE9-70A9-7A6D-DD63-BF7BD60E150F}"/>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E42F38E-59F7-B1ED-5D32-E420F432227F}"/>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DAC0452-52B8-A38D-F994-49FE05ABA86F}"/>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4B91619-F1D0-9C30-09A7-36AA7546A25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FCA1EB92-DFA6-4309-8220-9D3AC36E6E09}"/>
              </a:ext>
            </a:extLst>
          </p:cNvPr>
          <p:cNvSpPr/>
          <p:nvPr/>
        </p:nvSpPr>
        <p:spPr>
          <a:xfrm>
            <a:off x="1966127"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C1D8470-9185-9A60-9E01-BEE0542790CA}"/>
              </a:ext>
            </a:extLst>
          </p:cNvPr>
          <p:cNvSpPr/>
          <p:nvPr/>
        </p:nvSpPr>
        <p:spPr>
          <a:xfrm>
            <a:off x="2183187" y="4669134"/>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3AF7120B-03A6-721C-B190-60AA1275CDCE}"/>
              </a:ext>
            </a:extLst>
          </p:cNvPr>
          <p:cNvSpPr/>
          <p:nvPr/>
        </p:nvSpPr>
        <p:spPr>
          <a:xfrm>
            <a:off x="2406362" y="468056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70CBD89-C192-033A-55B6-F654A9814B10}"/>
              </a:ext>
            </a:extLst>
          </p:cNvPr>
          <p:cNvSpPr/>
          <p:nvPr/>
        </p:nvSpPr>
        <p:spPr>
          <a:xfrm>
            <a:off x="2656115"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6981674E-FF6C-7F0B-4ADB-BE6363769C7A}"/>
              </a:ext>
            </a:extLst>
          </p:cNvPr>
          <p:cNvSpPr/>
          <p:nvPr/>
        </p:nvSpPr>
        <p:spPr>
          <a:xfrm>
            <a:off x="2245588" y="487514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004CB062-74E7-27CC-8841-0AA16E93306B}"/>
              </a:ext>
            </a:extLst>
          </p:cNvPr>
          <p:cNvSpPr/>
          <p:nvPr/>
        </p:nvSpPr>
        <p:spPr>
          <a:xfrm>
            <a:off x="2475390" y="488249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2E60AE7B-FD34-90D1-1181-886684800136}"/>
              </a:ext>
            </a:extLst>
          </p:cNvPr>
          <p:cNvSpPr/>
          <p:nvPr/>
        </p:nvSpPr>
        <p:spPr>
          <a:xfrm>
            <a:off x="2905868" y="466651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aphicFrame>
        <p:nvGraphicFramePr>
          <p:cNvPr id="2" name="Table 1">
            <a:extLst>
              <a:ext uri="{FF2B5EF4-FFF2-40B4-BE49-F238E27FC236}">
                <a16:creationId xmlns:a16="http://schemas.microsoft.com/office/drawing/2014/main" id="{0FF3735E-59D0-5C9A-7820-E71C64F0479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0538434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0FA9E4C-8ADE-339E-1F66-2BE2018B783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A7415E4F-870A-D7E5-009F-8DFDCA0AAB4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E97DEC-79E5-22C2-223E-E26C99FAC91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CA60208E-B4DB-C185-4642-F77D183FB7E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41454A8-83C0-ECAA-7675-99721ABAF3D4}"/>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C2B8A92-B218-CFC2-87A7-7A6E9B6C2DA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43911D4-3B6F-D3F7-EEBB-7E416FC9E76B}"/>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4D335532-DD1B-9D2D-B0F8-228B986B064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8653576-B23F-C6A4-D606-CE3AC93C5A92}"/>
              </a:ext>
            </a:extLst>
          </p:cNvPr>
          <p:cNvSpPr/>
          <p:nvPr/>
        </p:nvSpPr>
        <p:spPr>
          <a:xfrm>
            <a:off x="215201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2DEB6DDE-B560-682D-CFB5-68961C334F14}"/>
              </a:ext>
            </a:extLst>
          </p:cNvPr>
          <p:cNvSpPr/>
          <p:nvPr/>
        </p:nvSpPr>
        <p:spPr>
          <a:xfrm>
            <a:off x="2392894"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7AC2AF7D-394D-A414-C0DE-81C5177F7A1D}"/>
              </a:ext>
            </a:extLst>
          </p:cNvPr>
          <p:cNvSpPr/>
          <p:nvPr/>
        </p:nvSpPr>
        <p:spPr>
          <a:xfrm>
            <a:off x="2601239"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2C9DB3C-D833-6035-B4B3-CC7696BCC77F}"/>
              </a:ext>
            </a:extLst>
          </p:cNvPr>
          <p:cNvSpPr/>
          <p:nvPr/>
        </p:nvSpPr>
        <p:spPr>
          <a:xfrm>
            <a:off x="2811762" y="317522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D36FFEB-86F4-36DE-AB0F-3A4C78A36780}"/>
              </a:ext>
            </a:extLst>
          </p:cNvPr>
          <p:cNvSpPr/>
          <p:nvPr/>
        </p:nvSpPr>
        <p:spPr>
          <a:xfrm>
            <a:off x="1955767" y="315227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6F448191-7523-D777-514C-C26CC601FFBB}"/>
              </a:ext>
            </a:extLst>
          </p:cNvPr>
          <p:cNvSpPr/>
          <p:nvPr/>
        </p:nvSpPr>
        <p:spPr>
          <a:xfrm>
            <a:off x="3289160" y="316118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D8BBB722-8776-3B88-C849-7F88FF1393F8}"/>
              </a:ext>
            </a:extLst>
          </p:cNvPr>
          <p:cNvSpPr/>
          <p:nvPr/>
        </p:nvSpPr>
        <p:spPr>
          <a:xfrm>
            <a:off x="3050461" y="316381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1AFAB86-3BC0-BB13-B92F-B5260825F81E}"/>
              </a:ext>
            </a:extLst>
          </p:cNvPr>
          <p:cNvSpPr txBox="1"/>
          <p:nvPr/>
        </p:nvSpPr>
        <p:spPr>
          <a:xfrm>
            <a:off x="449187" y="2994001"/>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3" name="Table 2">
            <a:extLst>
              <a:ext uri="{FF2B5EF4-FFF2-40B4-BE49-F238E27FC236}">
                <a16:creationId xmlns:a16="http://schemas.microsoft.com/office/drawing/2014/main" id="{0200A9DC-4709-B1CE-2F02-5CE64631BE5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0352741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3D4452E9-2C42-934B-8453-A60580550FB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4EA3CCC4-E796-DF1E-F791-B2BC5844A7A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6830ED3-92E3-FE32-1007-F6D0A996A71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CE079E4-8CE5-EF58-904F-A5CE0D46500F}"/>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8196FD6-E56C-49D9-0567-43774D6C1ED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7E1EA33-DEFD-50F1-EC8A-2970F89ED6E6}"/>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A724554-DA1C-AA9C-020F-DC6B1716F63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B695B455-6CF1-4B09-975F-F3B752845C1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2536998D-A519-DB04-22AF-86EB66D63117}"/>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5F1720B3-579E-4B1F-5B79-2086F2475161}"/>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F2475814-F4A8-442F-6C98-27F49BE66130}"/>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2A4001A9-870B-F904-111E-B1C8B15F6A3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48216A9-0E8E-CDB8-C585-7A5A2B2CCA04}"/>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439978D0-17E8-9EC6-C5A3-9D9ECA7325BD}"/>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900B3016-8B45-FF8E-1792-A50B04DAF829}"/>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A80BFE0-D30F-CEA6-30D3-8581F34687CA}"/>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extBox 2">
            <a:extLst>
              <a:ext uri="{FF2B5EF4-FFF2-40B4-BE49-F238E27FC236}">
                <a16:creationId xmlns:a16="http://schemas.microsoft.com/office/drawing/2014/main" id="{FC837F8D-112B-4541-D858-7228AE529A20}"/>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11" name="Table 10">
            <a:extLst>
              <a:ext uri="{FF2B5EF4-FFF2-40B4-BE49-F238E27FC236}">
                <a16:creationId xmlns:a16="http://schemas.microsoft.com/office/drawing/2014/main" id="{356635C7-015A-20A0-97E0-A37DBDCE3AE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240131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862169F-9A39-5A0B-BA3B-C80B047969A2}"/>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25155D-33F8-FC1C-82FB-3E42A174D9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6865693-8377-6D01-6EBD-560910FF281D}"/>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A31E6EAC-025C-5F40-AD60-C2275DF5A92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060EF3-74BC-0289-15C2-18D5B5C061AC}"/>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19E527F-4478-3CF0-53CB-A21E229B2750}"/>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CD5F2B4-95C7-C8BE-741F-C8EA6FC6B30E}"/>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948E78BB-3EA4-90D0-99A5-3BBC8FB28FA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977E6532-6E29-256F-D868-8130B2F54A70}"/>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B423B50-FF1E-9704-1760-C07E1594218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B8A4DAD7-C094-996C-69E6-E6DDFEE4A9C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AB6449C5-135A-E747-A382-E8C2B68754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C613B7F-974E-0637-78F4-21F7EAAA64E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313CB73-336F-9082-A745-64E71DFC389B}"/>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39142F2-AC11-81C6-F61C-F1C5F7319606}"/>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B899406D-7CD4-2AB9-22B5-33BEDE38E2E5}"/>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46D86A2-1283-5B26-82DC-507AF758EA13}"/>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0131862-6D21-4101-7F71-950EFCC2265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1629935-0294-5E64-7BB8-F0F9141925A7}"/>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397E867-8288-24D0-4747-DB83A6684592}"/>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0478C8C-F800-10A9-AE55-CD1629823DE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1E8D152-FFE9-40D6-7D07-79B2891FAEF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22D5EBF6-F037-9A1D-3B99-4ED5D06F8936}"/>
              </a:ext>
            </a:extLst>
          </p:cNvPr>
          <p:cNvSpPr/>
          <p:nvPr/>
        </p:nvSpPr>
        <p:spPr>
          <a:xfrm>
            <a:off x="7448232"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B83D5742-ADDC-92D0-E1F1-4C102A15E4B1}"/>
              </a:ext>
            </a:extLst>
          </p:cNvPr>
          <p:cNvSpPr/>
          <p:nvPr/>
        </p:nvSpPr>
        <p:spPr>
          <a:xfrm>
            <a:off x="7640827" y="5599445"/>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A31D7CD-9BF9-70FD-5E77-51EB972F5C68}"/>
              </a:ext>
            </a:extLst>
          </p:cNvPr>
          <p:cNvSpPr/>
          <p:nvPr/>
        </p:nvSpPr>
        <p:spPr>
          <a:xfrm>
            <a:off x="8399474" y="558437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4EB7987-EAB8-FADE-129E-A9E82D8DC953}"/>
              </a:ext>
            </a:extLst>
          </p:cNvPr>
          <p:cNvSpPr/>
          <p:nvPr/>
        </p:nvSpPr>
        <p:spPr>
          <a:xfrm>
            <a:off x="940598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A208E077-87EE-DCD1-C049-7DDBC8DB832C}"/>
              </a:ext>
            </a:extLst>
          </p:cNvPr>
          <p:cNvSpPr/>
          <p:nvPr/>
        </p:nvSpPr>
        <p:spPr>
          <a:xfrm>
            <a:off x="10390726" y="556930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B69C602-F12F-B89C-BD34-332E1A3E4E46}"/>
              </a:ext>
            </a:extLst>
          </p:cNvPr>
          <p:cNvSpPr/>
          <p:nvPr/>
        </p:nvSpPr>
        <p:spPr>
          <a:xfrm>
            <a:off x="10584993" y="5594420"/>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B51EB43-ADF0-911A-B6CE-904D3FDD4D05}"/>
              </a:ext>
            </a:extLst>
          </p:cNvPr>
          <p:cNvSpPr/>
          <p:nvPr/>
        </p:nvSpPr>
        <p:spPr>
          <a:xfrm>
            <a:off x="10204828" y="5617028"/>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71F994-FAE7-CF14-800F-749BBD9422BD}"/>
              </a:ext>
            </a:extLst>
          </p:cNvPr>
          <p:cNvSpPr txBox="1"/>
          <p:nvPr/>
        </p:nvSpPr>
        <p:spPr>
          <a:xfrm>
            <a:off x="292924" y="300722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4D9F3A8F-AA65-12E4-3F23-58F7CBA8CEE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59083215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1" grpId="0" animBg="1"/>
      <p:bldP spid="18" grpId="0" animBg="1"/>
      <p:bldP spid="19" grpId="0" animBg="1"/>
      <p:bldP spid="20" grpId="0" animBg="1"/>
      <p:bldP spid="21" grpId="0" animBg="1"/>
      <p:bldP spid="29" grpId="0" animBg="1"/>
      <p:bldP spid="30" grpId="0" animBg="1"/>
      <p:bldP spid="31" grpId="0" animBg="1"/>
      <p:bldP spid="32" grpId="0" animBg="1"/>
      <p:bldP spid="33" grpId="0" animBg="1"/>
      <p:bldP spid="34" grpId="0" animBg="1"/>
      <p:bldP spid="35"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BD2BB3-3CA3-1E8A-A105-6AEADF9B9B1E}"/>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CD72E258-C99F-C83E-8CFC-00DFEF3445A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D38DAD73-CA3B-C3B0-5EE2-2243E779A18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FA26B33-5793-ECD8-CBA5-D59EF1BCEF6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4F571BE-8CDB-B6A9-6A70-1882D653018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9D45053-066D-7B78-2A55-02A90559B1AB}"/>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9195AEA-AAC4-1924-4EAD-AE53E6ABAC22}"/>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A39D6977-7471-01F5-EF5C-2D07E361FB7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639BB0D-1D5F-78EF-9B70-DC7B2E8A252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727DDD32-6ACB-E2B9-CB54-F5711D019F5E}"/>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4779E15-59E0-EEE8-F9BF-CC3D48B85AC7}"/>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5837B6E2-AF13-DBCF-4D75-11D688CB37ED}"/>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DDF1FEEA-FC08-69D8-0AFA-093F3474DCEB}"/>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A3A6E72-3ED6-0A2E-09FA-02858E0B9D7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7076964-3E1C-D634-4D61-DB57DA3BCA4F}"/>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CB55092-22A8-3AD8-B51E-9A44DD04B8F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5F4C338-38F2-802D-F7CC-635ADE8F6204}"/>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598D79B4-A31A-ABC7-DC72-1E69B0BB5D19}"/>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5B675D1-EE75-9888-5C06-CD019355B7EF}"/>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7704D84B-D817-4C4A-4777-FC1C2F7AA9CF}"/>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F436B016-F495-187B-9F3B-26F58AFD441C}"/>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B5AD404-844E-7E11-BC84-1C864CD3EC1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27A1E6E-3C90-5089-A41F-3ED44E2BD964}"/>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4563911-8F63-2CEF-AA2B-000DB670E090}"/>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442BA351-440B-84BA-11A0-5431330A500E}"/>
              </a:ext>
            </a:extLst>
          </p:cNvPr>
          <p:cNvSpPr/>
          <p:nvPr/>
        </p:nvSpPr>
        <p:spPr>
          <a:xfrm>
            <a:off x="8613841"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32259B-6091-19C3-463E-2C9D2DBC7392}"/>
              </a:ext>
            </a:extLst>
          </p:cNvPr>
          <p:cNvSpPr/>
          <p:nvPr/>
        </p:nvSpPr>
        <p:spPr>
          <a:xfrm>
            <a:off x="8828208"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B09EACF-D320-2BCF-9BE6-4E04A46C2002}"/>
              </a:ext>
            </a:extLst>
          </p:cNvPr>
          <p:cNvSpPr/>
          <p:nvPr/>
        </p:nvSpPr>
        <p:spPr>
          <a:xfrm>
            <a:off x="9274135"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07600313-B862-B7C7-8F45-58C3D9FCD9F5}"/>
              </a:ext>
            </a:extLst>
          </p:cNvPr>
          <p:cNvSpPr/>
          <p:nvPr/>
        </p:nvSpPr>
        <p:spPr>
          <a:xfrm>
            <a:off x="9471004"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C8E7F22C-47A6-6C96-E398-6EE61F82831D}"/>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TextBox 35">
            <a:extLst>
              <a:ext uri="{FF2B5EF4-FFF2-40B4-BE49-F238E27FC236}">
                <a16:creationId xmlns:a16="http://schemas.microsoft.com/office/drawing/2014/main" id="{EB28E8AE-B2AF-68C8-17AC-4FC9A77EB443}"/>
              </a:ext>
            </a:extLst>
          </p:cNvPr>
          <p:cNvSpPr txBox="1"/>
          <p:nvPr/>
        </p:nvSpPr>
        <p:spPr>
          <a:xfrm>
            <a:off x="289837" y="30292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2" name="Table 21">
            <a:extLst>
              <a:ext uri="{FF2B5EF4-FFF2-40B4-BE49-F238E27FC236}">
                <a16:creationId xmlns:a16="http://schemas.microsoft.com/office/drawing/2014/main" id="{815A7612-F300-528D-9EA6-5F9985F4079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2516107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12D0EA4A-7C63-F988-E96A-9D3DE9220DD5}"/>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5C9C8BBB-633D-9F81-4C98-0BA546FEF8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B8EABC0-9908-EE39-F5FD-670CCA4DB4F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3CCE741D-8FF9-73E4-E94D-6A1A76D130FB}"/>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960873-1165-E785-C227-146A7E4AB7F0}"/>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1BA5508E-7E15-F4F5-BF63-A244E5E411C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84D416A-D668-704B-03A1-93C05B5BE416}"/>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C99124E-BF01-F33A-2705-CE67164084F9}"/>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E0DDC9-DD56-49F7-3EFA-CFAD974639E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2CE3F59-A5AB-EF70-8391-0C188A311D06}"/>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086C2407-8921-6E46-6D0F-E8C56E5AFBD9}"/>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0A08636-EAE9-EB21-D253-E257C55889BC}"/>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96E57386-1B61-3053-4112-C0ADA6D498F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F9F2BE0-6C6A-19A1-C438-4D5E0F501E8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312E36C4-F701-EC12-3A21-025F919E715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C20FA4B9-5840-4C46-DE91-17EF0A0A81B9}"/>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CBB12262-C3E0-EE38-493C-6D75F4202FB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7643E3A0-4E0C-C392-29CA-D42E52141DF3}"/>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3121432-35E5-CD09-35DD-01E2E513DF8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67868C0C-24AA-7AE5-0FE1-AEEF98871B54}"/>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68ACF5C5-F46D-26DD-D93C-9D129462A18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53171ECB-2AB4-4F76-24F9-8D8572C5302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4CC812F0-206F-F98E-AF84-9F04EF90114A}"/>
              </a:ext>
            </a:extLst>
          </p:cNvPr>
          <p:cNvSpPr/>
          <p:nvPr/>
        </p:nvSpPr>
        <p:spPr>
          <a:xfrm>
            <a:off x="8399474"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F354CFAA-AA8F-A9C9-761F-56B013D08DEC}"/>
              </a:ext>
            </a:extLst>
          </p:cNvPr>
          <p:cNvSpPr/>
          <p:nvPr/>
        </p:nvSpPr>
        <p:spPr>
          <a:xfrm>
            <a:off x="8185107" y="4617506"/>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C007C7D-1287-E566-493A-26B662DEC0AE}"/>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97165C78-0EC2-0766-4F28-7E45FD0D091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2A42D886-029E-9522-3769-0DF920B33D4D}"/>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CFD4EC65-9476-890D-1232-53CDC00364B5}"/>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77922E4-928F-D277-1085-470A69840261}"/>
              </a:ext>
            </a:extLst>
          </p:cNvPr>
          <p:cNvSpPr/>
          <p:nvPr/>
        </p:nvSpPr>
        <p:spPr>
          <a:xfrm>
            <a:off x="9064341" y="4613223"/>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73C331BE-8F06-43E0-1319-F2B3A3986520}"/>
              </a:ext>
            </a:extLst>
          </p:cNvPr>
          <p:cNvSpPr txBox="1"/>
          <p:nvPr/>
        </p:nvSpPr>
        <p:spPr>
          <a:xfrm>
            <a:off x="292924" y="29963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3" name="Table 22">
            <a:extLst>
              <a:ext uri="{FF2B5EF4-FFF2-40B4-BE49-F238E27FC236}">
                <a16:creationId xmlns:a16="http://schemas.microsoft.com/office/drawing/2014/main" id="{13523433-E410-22C0-A889-79CCC8457AE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1653222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FB8572AE-4408-C95B-7BAD-F40B511EF66D}"/>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907AA038-2F1A-7E8D-42E8-1BA0B7D0EEC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8CA4028-53B3-FEC5-5067-0022813DA01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E1FE96F-CC89-D681-4449-AFB13D74D63E}"/>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C91832-14B3-2862-D030-57DA08BDC792}"/>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477CA71-89BC-AAC2-9A46-8670269417D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174632D-ED38-EF15-BC45-52753E962401}"/>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636BCCC2-3859-BBB6-8C68-616E138D98D0}"/>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05911E7D-661A-393A-03A5-78BED0822A04}"/>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F333DC2B-D204-EE12-82C2-840E7F767AD5}"/>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E262CF1D-1B8C-3EC3-9155-9A55605B2F7F}"/>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1F7D4AE-7305-F2FD-9976-F3C96D2EBC1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5449F6C1-E922-A81E-9793-6B1F2AB2EAF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D1A160C-45BF-225D-DE02-02DA71E51207}"/>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65A1671-52A9-CE0C-2B74-41BC4599683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693F464F-81EE-0356-1E86-44F4605B79FD}"/>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244EA95D-638B-076A-DC28-474144C649D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F495AE60-44A7-3FD0-77EC-E58428C0BA10}"/>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346E2E8-BA11-6A87-51AF-3E8C7AFC823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2DF35E9-C1D6-EA77-8FF4-0B0A33069361}"/>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0FA62308-50CE-19EE-68A4-C0C6969AB7C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EA24CA6-5C2A-4398-25D8-DD17F7091771}"/>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2737A52-261D-89C2-8B84-7CBCC8A225BC}"/>
              </a:ext>
            </a:extLst>
          </p:cNvPr>
          <p:cNvSpPr/>
          <p:nvPr/>
        </p:nvSpPr>
        <p:spPr>
          <a:xfrm>
            <a:off x="8694228" y="338627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11C10B3E-42EF-1029-0372-898D8BDA7BD7}"/>
              </a:ext>
            </a:extLst>
          </p:cNvPr>
          <p:cNvSpPr/>
          <p:nvPr/>
        </p:nvSpPr>
        <p:spPr>
          <a:xfrm>
            <a:off x="9547175" y="3185292"/>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5A9DDC-4060-A91B-B349-A73B1A031FD2}"/>
              </a:ext>
            </a:extLst>
          </p:cNvPr>
          <p:cNvSpPr/>
          <p:nvPr/>
        </p:nvSpPr>
        <p:spPr>
          <a:xfrm>
            <a:off x="10015311" y="31651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19E63690-C34D-F7BC-4679-88C89CB34F32}"/>
              </a:ext>
            </a:extLst>
          </p:cNvPr>
          <p:cNvSpPr/>
          <p:nvPr/>
        </p:nvSpPr>
        <p:spPr>
          <a:xfrm>
            <a:off x="8411589"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F92DF61D-B4A4-D1BB-2242-E58E664EEC30}"/>
              </a:ext>
            </a:extLst>
          </p:cNvPr>
          <p:cNvSpPr/>
          <p:nvPr/>
        </p:nvSpPr>
        <p:spPr>
          <a:xfrm>
            <a:off x="8023840" y="3177557"/>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1ABF9C44-3B34-68D9-3B19-BE608D1F0A90}"/>
              </a:ext>
            </a:extLst>
          </p:cNvPr>
          <p:cNvSpPr/>
          <p:nvPr/>
        </p:nvSpPr>
        <p:spPr>
          <a:xfrm>
            <a:off x="8694228" y="3145079"/>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360C27-AB5C-A1FE-CF5D-62BA9604A8BD}"/>
              </a:ext>
            </a:extLst>
          </p:cNvPr>
          <p:cNvSpPr/>
          <p:nvPr/>
        </p:nvSpPr>
        <p:spPr>
          <a:xfrm>
            <a:off x="9021550" y="3190331"/>
            <a:ext cx="160774" cy="16077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9A7CB0A6-758A-1C8D-26C7-569C14D85527}"/>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23" name="TextBox 22">
            <a:extLst>
              <a:ext uri="{FF2B5EF4-FFF2-40B4-BE49-F238E27FC236}">
                <a16:creationId xmlns:a16="http://schemas.microsoft.com/office/drawing/2014/main" id="{75CEFBB1-06BF-A4A8-DF52-3E39353FD486}"/>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graphicFrame>
        <p:nvGraphicFramePr>
          <p:cNvPr id="24" name="Table 23">
            <a:extLst>
              <a:ext uri="{FF2B5EF4-FFF2-40B4-BE49-F238E27FC236}">
                <a16:creationId xmlns:a16="http://schemas.microsoft.com/office/drawing/2014/main" id="{875808C0-D7BB-7CEE-932A-9AFC41E72C3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089552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B9D69BB1-9AD8-4A16-FC16-FBBCA22603DA}"/>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FD47C639-A9FF-668A-89A8-6988ABD190B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9EA3CB57-1A40-3CA2-30BD-DF84204751C2}"/>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9D46730C-C9A3-8ED8-77EF-D43F95794E9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9936CA7-E973-692B-CEEC-DF91387C16A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D53BC4F-DCB6-0DE8-3EB3-8FA1C25F3FBA}"/>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54B7C03-C84A-991E-638C-E311611364C3}"/>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887F7E04-6087-71CF-C104-F58EF7CBEF25}"/>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8509523D-C509-BC65-0260-03EFA1AE06EC}"/>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AAC89ACD-829E-5FAB-9B80-4F411413BF3C}"/>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5578379E-7CB3-A492-43AF-3F3290CF2F0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EE285682-9BE6-3514-57B0-D227F09212EF}"/>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22C4B8A7-C356-F570-221D-0BEF73E05FE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15346970-24E2-EE5D-7DF7-0760B05B5C5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E4530EE-DCB4-CF14-F59E-91A9214A54F7}"/>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89E0C538-E8E0-BA34-A4AF-73FAC45891BF}"/>
              </a:ext>
            </a:extLst>
          </p:cNvPr>
          <p:cNvSpPr txBox="1"/>
          <p:nvPr/>
        </p:nvSpPr>
        <p:spPr>
          <a:xfrm>
            <a:off x="292924" y="188736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B5E2127C-A8EE-7545-1C1E-0A413E90B7A9}"/>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AD3DF30-1162-1FE3-81F4-371507AD353B}"/>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B5224352-D243-A35E-17AF-C823C04A7CEC}"/>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51570834-1804-3AF3-0D32-5551C000A9A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909C6244-F136-94C0-E6D2-C4443631DE8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FFA624E3-015F-6942-6514-E1EFC7F2426D}"/>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749BB9D-9659-C78A-E67F-3E1480CE2FC0}"/>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45B2AEBB-5B39-3D0A-E8C4-E5BF12946D5B}"/>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B5A3F489-37B6-AA48-2E4B-46A75ADE2BE1}"/>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46409125-E869-A62C-3E64-ACDF4ABFD772}"/>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4BE1082-CD68-B1B8-56B2-8802199FBD46}"/>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7D5B5A84-EB89-A8DF-04A3-C8A7D495D8EE}"/>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12A2663-8244-218B-A6D1-B2BDC0C9CED2}"/>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EAFCB11-D9F0-135F-FC01-AD097FE6A5E7}"/>
              </a:ext>
            </a:extLst>
          </p:cNvPr>
          <p:cNvSpPr txBox="1"/>
          <p:nvPr/>
        </p:nvSpPr>
        <p:spPr>
          <a:xfrm>
            <a:off x="10125695" y="190814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S</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BACBAFA1-694F-9072-4A5C-F1E9AF964EA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4" name="TextBox 23">
            <a:extLst>
              <a:ext uri="{FF2B5EF4-FFF2-40B4-BE49-F238E27FC236}">
                <a16:creationId xmlns:a16="http://schemas.microsoft.com/office/drawing/2014/main" id="{8A0EFCCF-3E24-2EA2-B5E7-50098BDE30AE}"/>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5" name="Table 24">
            <a:extLst>
              <a:ext uri="{FF2B5EF4-FFF2-40B4-BE49-F238E27FC236}">
                <a16:creationId xmlns:a16="http://schemas.microsoft.com/office/drawing/2014/main" id="{F724D850-FE96-B777-D67B-0EE37B7AB6A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27411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499567B-700D-0C9A-4146-E93470C73F3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8D16F805-4B81-9E97-56CF-E993D6E6867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34A9FC0A-5694-A725-5736-EB34A52FD30B}"/>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6A63F6CD-96C4-5739-465A-C66C2447A036}"/>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CFAC0B9-FECB-6CD1-A73F-C5B4AF356011}"/>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5899ABE-F36B-CF04-9A72-A3D4F501D055}"/>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34A7A84-8C06-139B-B954-1A715CA3D839}"/>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754051FC-EAD4-3D25-FB95-89CB5580EC7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61898A8-C837-7BFA-E80F-B13B75C43BCB}"/>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3C406600-B606-D3BB-3F2C-BF15D6FD8579}"/>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E959EB6-BEE9-84F4-C381-44FCF16FB79E}"/>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3617A061-F457-641E-EA58-C85EB632DF92}"/>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B274447A-E675-2800-D67C-C17EDD21407E}"/>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9303FA0F-4C41-7BCA-8BCB-952E961ABD0A}"/>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1028D3D4-17BB-80F2-A138-43011342A484}"/>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01891DE-4F0A-AC83-5F26-0FE0E0F1D3A4}"/>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F1642FF-9128-3978-378E-0F43C70CA52D}"/>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198531C3-1E47-DA0E-7730-AD6D7F04722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575FC4AA-A140-3F78-4784-883F6B5D4376}"/>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CE6D8FE-E354-B9D6-80E5-B13C54151A3E}"/>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2ADCF581-0761-B95A-02F2-8289A14E7D90}"/>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4A0DBE4D-8E45-D54E-D365-8CB00C9499CE}"/>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311B017-53B3-0D75-44FB-C143A25B27DE}"/>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CFF2B178-B66E-277B-2F9C-943705218F73}"/>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88450B4E-D442-48A2-DADB-649FEAA92F5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25C632E4-A14A-7049-E9E0-6E129BCA0A2B}"/>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4FACC5D-6940-7831-9996-83E760C52365}"/>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ABE93788-CD5D-6CB7-A909-27BFE78BF899}"/>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32F07AA9-C18C-7836-866C-466F599CD89C}"/>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1AFB86E8-21D5-86B0-F089-0BB6822CBEDE}"/>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30EED8CF-A9F6-B9B7-B226-28C255E62377}"/>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7" name="TextBox 26">
            <a:extLst>
              <a:ext uri="{FF2B5EF4-FFF2-40B4-BE49-F238E27FC236}">
                <a16:creationId xmlns:a16="http://schemas.microsoft.com/office/drawing/2014/main" id="{AB3F9EBF-B830-FFBD-99F1-BBF73CFE1A0B}"/>
              </a:ext>
            </a:extLst>
          </p:cNvPr>
          <p:cNvSpPr txBox="1"/>
          <p:nvPr/>
        </p:nvSpPr>
        <p:spPr>
          <a:xfrm>
            <a:off x="10531792"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LOQ</a:t>
            </a:r>
          </a:p>
        </p:txBody>
      </p:sp>
      <p:sp>
        <p:nvSpPr>
          <p:cNvPr id="28" name="TextBox 27">
            <a:extLst>
              <a:ext uri="{FF2B5EF4-FFF2-40B4-BE49-F238E27FC236}">
                <a16:creationId xmlns:a16="http://schemas.microsoft.com/office/drawing/2014/main" id="{81094DE6-9E8A-54A2-46EA-43BD26B1DAA6}"/>
              </a:ext>
            </a:extLst>
          </p:cNvPr>
          <p:cNvSpPr txBox="1"/>
          <p:nvPr/>
        </p:nvSpPr>
        <p:spPr>
          <a:xfrm>
            <a:off x="262263" y="2983933"/>
            <a:ext cx="1028062"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2800" b="0" i="0" u="none" strike="noStrike" kern="1200" cap="none" spc="0" normalizeH="0" baseline="-25000" noProof="0" dirty="0">
                <a:ln>
                  <a:noFill/>
                </a:ln>
                <a:solidFill>
                  <a:prstClr val="black"/>
                </a:solidFill>
                <a:effectLst/>
                <a:uLnTx/>
                <a:uFillTx/>
                <a:latin typeface="Aptos" panose="02110004020202020204"/>
                <a:ea typeface="+mn-ea"/>
                <a:cs typeface="+mn-cs"/>
              </a:rPr>
              <a:t>FIFO</a:t>
            </a:r>
          </a:p>
        </p:txBody>
      </p:sp>
      <p:graphicFrame>
        <p:nvGraphicFramePr>
          <p:cNvPr id="24" name="Table 23">
            <a:extLst>
              <a:ext uri="{FF2B5EF4-FFF2-40B4-BE49-F238E27FC236}">
                <a16:creationId xmlns:a16="http://schemas.microsoft.com/office/drawing/2014/main" id="{203FB98A-885D-2194-7E70-FF5040DC4D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955036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9C3107FC-576C-9290-BCC9-8D9D328FEE78}"/>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0117D705-F048-9D34-E823-DE0B3A8940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5C8A9D49-A95B-FFC7-12CF-17861E26E3E3}"/>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5A95B5B0-F3C9-047A-2CA1-897D02FFC9F7}"/>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150E075-EDCB-481C-908B-909C89907CA6}"/>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FCB03C-C666-7443-D523-A73625327321}"/>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3B0910A-94C8-C027-671E-84B9BA68AD0A}"/>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37FBD7F-883A-0CD2-DA38-79B3AC3845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B8A9BC25-415E-60E5-6EAF-C6B9C7C0F5CA}"/>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60DD180-94F0-E9C8-A514-719CBC1F66C8}"/>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4EB7331-3585-4F89-D31D-52B6ADADF352}"/>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9B6A4F1-9C87-2FAC-ADC4-7B5FD274EB8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1D0BAD06-3E6A-D7D9-CAC7-71DC2399CA33}"/>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EE809B43-1B63-4ECE-199F-86F05454A21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0EA58417-29B1-7D6D-5456-4003A528CA4D}"/>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E5DD1641-E614-92B4-85AC-E1A46C1DBD95}"/>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708ABA-BF9E-CD6D-B626-0C2705EE5DCA}"/>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AF4BE75A-56AB-A15F-C2EA-8542E4F6E2E2}"/>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94C6E4-93FE-C174-5E1D-43554CD38C65}"/>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F8F071EA-7EF6-7963-8D79-E726CCB5E7AA}"/>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D4AB9014-B353-7804-749E-6E590F0A30F1}"/>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C7A9AC88-8955-31F4-7212-5335919A516C}"/>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E2555813-EE7E-FBEC-47E4-D2A8AB705CDB}"/>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2688E333-9EC5-1DA3-241C-8168A24DAA8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CCB24172-F9AF-9AD5-9559-87144699DC38}"/>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DF438874-44D0-6B3D-E8AC-AC1A874777D7}"/>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0ECD4C38-D752-EB24-E673-3C571488616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FB866862-F7C5-2C9D-85E0-75F32BC249B3}"/>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BC7AF180-A964-CF1C-01F0-55399F1629AE}"/>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0485E653-1251-2916-E872-C4CD313263C7}"/>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40C9C423-CFC4-32DD-5925-9266D95BE5DD}"/>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639B91E5-0709-AA47-BC3C-B75D53C8B1B3}"/>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B40FB57A-7A53-05E4-0C50-F65E23294D86}"/>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164ABCA0-F2C7-6F2D-76C1-64772D467D84}"/>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graphicFrame>
        <p:nvGraphicFramePr>
          <p:cNvPr id="27" name="Table 26">
            <a:extLst>
              <a:ext uri="{FF2B5EF4-FFF2-40B4-BE49-F238E27FC236}">
                <a16:creationId xmlns:a16="http://schemas.microsoft.com/office/drawing/2014/main" id="{07AC9CE2-1FD3-4A53-2C75-7A2FC0E659B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66125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6760E419-0970-B08F-649F-F326100D4C8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D57E301D-FC5E-8D61-12D7-20BBC47394D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6C44D3A6-77FF-2357-3D5F-825E35924839}"/>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1C9A336F-7CA3-0B19-7F4D-ADA6389204DD}"/>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72C235E-57D6-6EC6-7F75-5C2D848E1038}"/>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C01D1B0-1A1F-01D5-13D0-35A424155A68}"/>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DF52C4-F75D-F801-9547-4A6CADA83620}"/>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C390DA48-1749-85F7-D80A-54BC06470AC7}"/>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581CC21D-4F2A-A14E-4F75-0CD4424077A8}"/>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807DED71-5465-F61E-ADF3-82A5FFB5C41A}"/>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A537AD1C-ABB1-FFB1-F103-7F7768805968}"/>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BE85D5E2-15B7-CB60-0768-42DFB9499939}"/>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C080EBB1-F886-B419-60DF-B33F203B4CF5}"/>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2A50E3E2-B526-A347-4585-8BC4B363D65C}"/>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3BBB73A-9731-2A6F-A316-1EF12F54ADD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D1D05D38-F504-FB9D-C53F-78AC3075105A}"/>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6E357F95-2C7B-0AF5-F08B-D284B6F1EB78}"/>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B0A13DD2-3DF6-131C-73FA-372C5CDC11D8}"/>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1ED0FBC-7056-94B9-8E1C-72A421F15B94}"/>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87E51382-25A6-3097-E759-FA5B492A8E0D}"/>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77F8553C-B6DA-0748-ED6C-BC55CAE30173}"/>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956C816B-F2AF-F022-B80C-57DEBC9961B3}"/>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3B08E44A-10BB-EEE9-96C9-034E2B12D357}"/>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6B3E7E02-0398-BC29-52B6-7D0E747704A2}"/>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D7041E6B-51D3-87E0-D4B4-F32A1B3B561D}"/>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ECC71FE4-8804-88C4-D1DC-4126A4BB9C2A}"/>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91D722F-561C-CDA7-2208-A41FA0E69ECA}"/>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EC830E81-C951-CEB5-DBEC-E9B26C22F63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49F1B64F-A865-721E-F66B-1EFAF95BF815}"/>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239E82DC-42EE-2A55-B9DA-BFC0E1D5D246}"/>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95596AB3-8718-BFD9-05EA-6298252CFB32}"/>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186DB7F8-040C-5AE7-3A9D-FBB06623C6DC}"/>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242B8168-4A3A-5FCD-48BC-BEC19C9EDABD}"/>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5D45DDB3-7B06-1E56-DAA9-CEE9542C644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8FED2A86-ADB7-7859-48E2-10F83925AA02}"/>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B07F2D3E-94F0-709B-B903-0B06DB131641}"/>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graphicFrame>
        <p:nvGraphicFramePr>
          <p:cNvPr id="28" name="Table 27">
            <a:extLst>
              <a:ext uri="{FF2B5EF4-FFF2-40B4-BE49-F238E27FC236}">
                <a16:creationId xmlns:a16="http://schemas.microsoft.com/office/drawing/2014/main" id="{426CABD3-F0BB-79F2-60F0-F3979D15D04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328663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EBFDA0D7-F628-4784-D134-BE11B7DEE89F}"/>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2145D04D-E233-AB6E-F7A4-1AF84E53E9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Preserves Fairness</a:t>
            </a:r>
            <a:endParaRPr dirty="0"/>
          </a:p>
        </p:txBody>
      </p:sp>
      <p:sp>
        <p:nvSpPr>
          <p:cNvPr id="4" name="Triangle 3">
            <a:extLst>
              <a:ext uri="{FF2B5EF4-FFF2-40B4-BE49-F238E27FC236}">
                <a16:creationId xmlns:a16="http://schemas.microsoft.com/office/drawing/2014/main" id="{A86DBDF7-6D52-D774-DD17-247FE267FC5C}"/>
              </a:ext>
            </a:extLst>
          </p:cNvPr>
          <p:cNvSpPr/>
          <p:nvPr/>
        </p:nvSpPr>
        <p:spPr>
          <a:xfrm>
            <a:off x="1517300" y="2371411"/>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Oval 4">
            <a:extLst>
              <a:ext uri="{FF2B5EF4-FFF2-40B4-BE49-F238E27FC236}">
                <a16:creationId xmlns:a16="http://schemas.microsoft.com/office/drawing/2014/main" id="{DD57820E-A106-D1DC-5485-A06C14E2B7C8}"/>
              </a:ext>
            </a:extLst>
          </p:cNvPr>
          <p:cNvSpPr/>
          <p:nvPr/>
        </p:nvSpPr>
        <p:spPr>
          <a:xfrm>
            <a:off x="803868"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082C444-A368-E7F2-401D-6391678841ED}"/>
              </a:ext>
            </a:extLst>
          </p:cNvPr>
          <p:cNvSpPr/>
          <p:nvPr/>
        </p:nvSpPr>
        <p:spPr>
          <a:xfrm>
            <a:off x="1770185"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78EA3E8-7AEA-BF61-B3A9-6D1CFDBB0DC3}"/>
              </a:ext>
            </a:extLst>
          </p:cNvPr>
          <p:cNvSpPr/>
          <p:nvPr/>
        </p:nvSpPr>
        <p:spPr>
          <a:xfrm>
            <a:off x="2736502" y="5838092"/>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5E3148-9177-5855-8C4F-1390D07D721D}"/>
              </a:ext>
            </a:extLst>
          </p:cNvPr>
          <p:cNvSpPr/>
          <p:nvPr/>
        </p:nvSpPr>
        <p:spPr>
          <a:xfrm>
            <a:off x="3702819"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9" name="Cloud 8">
            <a:extLst>
              <a:ext uri="{FF2B5EF4-FFF2-40B4-BE49-F238E27FC236}">
                <a16:creationId xmlns:a16="http://schemas.microsoft.com/office/drawing/2014/main" id="{5EE6F848-3854-0B54-3CE8-640CBF4E1001}"/>
              </a:ext>
            </a:extLst>
          </p:cNvPr>
          <p:cNvSpPr/>
          <p:nvPr/>
        </p:nvSpPr>
        <p:spPr>
          <a:xfrm>
            <a:off x="972176" y="3567127"/>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FIFO Fabric</a:t>
            </a:r>
          </a:p>
        </p:txBody>
      </p:sp>
      <p:sp>
        <p:nvSpPr>
          <p:cNvPr id="10" name="Oval 9">
            <a:extLst>
              <a:ext uri="{FF2B5EF4-FFF2-40B4-BE49-F238E27FC236}">
                <a16:creationId xmlns:a16="http://schemas.microsoft.com/office/drawing/2014/main" id="{4ED15351-E6B8-64C0-B64A-0B642AF0E00E}"/>
              </a:ext>
            </a:extLst>
          </p:cNvPr>
          <p:cNvSpPr/>
          <p:nvPr/>
        </p:nvSpPr>
        <p:spPr>
          <a:xfrm>
            <a:off x="1699370"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959CAD92-CFB0-078D-D9BA-AE7EA274A920}"/>
              </a:ext>
            </a:extLst>
          </p:cNvPr>
          <p:cNvSpPr/>
          <p:nvPr/>
        </p:nvSpPr>
        <p:spPr>
          <a:xfrm>
            <a:off x="2934367" y="2095363"/>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E0CD68C-65A3-7DCC-3B40-E493C3263F13}"/>
              </a:ext>
            </a:extLst>
          </p:cNvPr>
          <p:cNvSpPr/>
          <p:nvPr/>
        </p:nvSpPr>
        <p:spPr>
          <a:xfrm>
            <a:off x="2652824" y="208000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DEDC16E-EC36-A8CA-F421-8FA78CE96518}"/>
              </a:ext>
            </a:extLst>
          </p:cNvPr>
          <p:cNvSpPr/>
          <p:nvPr/>
        </p:nvSpPr>
        <p:spPr>
          <a:xfrm>
            <a:off x="2403230"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859C3BA2-029E-3E58-AFC8-5DFDF96520E6}"/>
              </a:ext>
            </a:extLst>
          </p:cNvPr>
          <p:cNvSpPr/>
          <p:nvPr/>
        </p:nvSpPr>
        <p:spPr>
          <a:xfrm>
            <a:off x="3271227" y="2095074"/>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31FCE7C9-F4E5-76BE-A823-2379F997103E}"/>
              </a:ext>
            </a:extLst>
          </p:cNvPr>
          <p:cNvSpPr/>
          <p:nvPr/>
        </p:nvSpPr>
        <p:spPr>
          <a:xfrm>
            <a:off x="2164083"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B21A7349-BCB4-7D9D-48F6-FFDFDEBA3BEA}"/>
              </a:ext>
            </a:extLst>
          </p:cNvPr>
          <p:cNvSpPr/>
          <p:nvPr/>
        </p:nvSpPr>
        <p:spPr>
          <a:xfrm>
            <a:off x="1937701" y="2089367"/>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extBox 1">
            <a:extLst>
              <a:ext uri="{FF2B5EF4-FFF2-40B4-BE49-F238E27FC236}">
                <a16:creationId xmlns:a16="http://schemas.microsoft.com/office/drawing/2014/main" id="{92C7C22C-792A-5A5C-2362-7150CFC5512F}"/>
              </a:ext>
            </a:extLst>
          </p:cNvPr>
          <p:cNvSpPr txBox="1"/>
          <p:nvPr/>
        </p:nvSpPr>
        <p:spPr>
          <a:xfrm>
            <a:off x="4306319" y="3128982"/>
            <a:ext cx="1363529" cy="707886"/>
          </a:xfrm>
          <a:prstGeom prst="rect">
            <a:avLst/>
          </a:prstGeom>
          <a:solidFill>
            <a:schemeClr val="accent6">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FIFO</a:t>
            </a:r>
          </a:p>
        </p:txBody>
      </p:sp>
      <p:sp>
        <p:nvSpPr>
          <p:cNvPr id="3" name="Triangle 2">
            <a:extLst>
              <a:ext uri="{FF2B5EF4-FFF2-40B4-BE49-F238E27FC236}">
                <a16:creationId xmlns:a16="http://schemas.microsoft.com/office/drawing/2014/main" id="{8EE0C477-BCBC-8E97-7959-F9F261EA006C}"/>
              </a:ext>
            </a:extLst>
          </p:cNvPr>
          <p:cNvSpPr/>
          <p:nvPr/>
        </p:nvSpPr>
        <p:spPr>
          <a:xfrm>
            <a:off x="8004240" y="234126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Oval 10">
            <a:extLst>
              <a:ext uri="{FF2B5EF4-FFF2-40B4-BE49-F238E27FC236}">
                <a16:creationId xmlns:a16="http://schemas.microsoft.com/office/drawing/2014/main" id="{9759E065-2464-7B4B-1BBB-E439F5B36087}"/>
              </a:ext>
            </a:extLst>
          </p:cNvPr>
          <p:cNvSpPr/>
          <p:nvPr/>
        </p:nvSpPr>
        <p:spPr>
          <a:xfrm>
            <a:off x="7290808"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FF6AA06-4547-67BC-1263-F4BD451DF3A0}"/>
              </a:ext>
            </a:extLst>
          </p:cNvPr>
          <p:cNvSpPr/>
          <p:nvPr/>
        </p:nvSpPr>
        <p:spPr>
          <a:xfrm>
            <a:off x="8257125"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1B9E72F7-4825-91C2-1720-F644C7555BEC}"/>
              </a:ext>
            </a:extLst>
          </p:cNvPr>
          <p:cNvSpPr/>
          <p:nvPr/>
        </p:nvSpPr>
        <p:spPr>
          <a:xfrm>
            <a:off x="9223442" y="5807946"/>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20" name="Oval 19">
            <a:extLst>
              <a:ext uri="{FF2B5EF4-FFF2-40B4-BE49-F238E27FC236}">
                <a16:creationId xmlns:a16="http://schemas.microsoft.com/office/drawing/2014/main" id="{C0DC3071-A59B-81F9-87A1-AFAEDC709194}"/>
              </a:ext>
            </a:extLst>
          </p:cNvPr>
          <p:cNvSpPr/>
          <p:nvPr/>
        </p:nvSpPr>
        <p:spPr>
          <a:xfrm>
            <a:off x="10189759" y="577780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1" name="Cloud 20">
            <a:extLst>
              <a:ext uri="{FF2B5EF4-FFF2-40B4-BE49-F238E27FC236}">
                <a16:creationId xmlns:a16="http://schemas.microsoft.com/office/drawing/2014/main" id="{79D0B3F0-B425-6122-D457-21E827ADB0F9}"/>
              </a:ext>
            </a:extLst>
          </p:cNvPr>
          <p:cNvSpPr/>
          <p:nvPr/>
        </p:nvSpPr>
        <p:spPr>
          <a:xfrm>
            <a:off x="7349279" y="3567127"/>
            <a:ext cx="3371223" cy="1838849"/>
          </a:xfrm>
          <a:prstGeom prst="cloud">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LOQ Fabric</a:t>
            </a:r>
          </a:p>
        </p:txBody>
      </p:sp>
      <p:sp>
        <p:nvSpPr>
          <p:cNvPr id="29" name="Oval 28">
            <a:extLst>
              <a:ext uri="{FF2B5EF4-FFF2-40B4-BE49-F238E27FC236}">
                <a16:creationId xmlns:a16="http://schemas.microsoft.com/office/drawing/2014/main" id="{A8B024AF-ED82-D95C-26C4-B53E943C5F68}"/>
              </a:ext>
            </a:extLst>
          </p:cNvPr>
          <p:cNvSpPr/>
          <p:nvPr/>
        </p:nvSpPr>
        <p:spPr>
          <a:xfrm>
            <a:off x="8513146"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0" name="Oval 29">
            <a:extLst>
              <a:ext uri="{FF2B5EF4-FFF2-40B4-BE49-F238E27FC236}">
                <a16:creationId xmlns:a16="http://schemas.microsoft.com/office/drawing/2014/main" id="{74BDA31F-5956-0D6F-BD2C-405194F03717}"/>
              </a:ext>
            </a:extLst>
          </p:cNvPr>
          <p:cNvSpPr/>
          <p:nvPr/>
        </p:nvSpPr>
        <p:spPr>
          <a:xfrm>
            <a:off x="9252499"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1" name="Oval 30">
            <a:extLst>
              <a:ext uri="{FF2B5EF4-FFF2-40B4-BE49-F238E27FC236}">
                <a16:creationId xmlns:a16="http://schemas.microsoft.com/office/drawing/2014/main" id="{E689DCB5-118D-822D-8C2F-421677D1A50A}"/>
              </a:ext>
            </a:extLst>
          </p:cNvPr>
          <p:cNvSpPr/>
          <p:nvPr/>
        </p:nvSpPr>
        <p:spPr>
          <a:xfrm>
            <a:off x="9508144" y="214488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783F3423-DC10-CFA9-EB34-F5B6D36E6489}"/>
              </a:ext>
            </a:extLst>
          </p:cNvPr>
          <p:cNvSpPr/>
          <p:nvPr/>
        </p:nvSpPr>
        <p:spPr>
          <a:xfrm>
            <a:off x="829904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3" name="Oval 32">
            <a:extLst>
              <a:ext uri="{FF2B5EF4-FFF2-40B4-BE49-F238E27FC236}">
                <a16:creationId xmlns:a16="http://schemas.microsoft.com/office/drawing/2014/main" id="{16B13D7F-08D3-E8EB-6124-3D22BE807EF9}"/>
              </a:ext>
            </a:extLst>
          </p:cNvPr>
          <p:cNvSpPr/>
          <p:nvPr/>
        </p:nvSpPr>
        <p:spPr>
          <a:xfrm>
            <a:off x="9759419" y="2135529"/>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4" name="Oval 33">
            <a:extLst>
              <a:ext uri="{FF2B5EF4-FFF2-40B4-BE49-F238E27FC236}">
                <a16:creationId xmlns:a16="http://schemas.microsoft.com/office/drawing/2014/main" id="{68BEDEC4-EC5A-FC3E-FDDC-341667ADCDC5}"/>
              </a:ext>
            </a:extLst>
          </p:cNvPr>
          <p:cNvSpPr/>
          <p:nvPr/>
        </p:nvSpPr>
        <p:spPr>
          <a:xfrm>
            <a:off x="8778023" y="214558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Oval 34">
            <a:extLst>
              <a:ext uri="{FF2B5EF4-FFF2-40B4-BE49-F238E27FC236}">
                <a16:creationId xmlns:a16="http://schemas.microsoft.com/office/drawing/2014/main" id="{A60011B2-B60A-5E3F-96F2-703E9A0DF376}"/>
              </a:ext>
            </a:extLst>
          </p:cNvPr>
          <p:cNvSpPr/>
          <p:nvPr/>
        </p:nvSpPr>
        <p:spPr>
          <a:xfrm>
            <a:off x="9020375" y="2136221"/>
            <a:ext cx="160774" cy="16077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5877C8D1-2C9C-6F18-A62C-72AA25866939}"/>
              </a:ext>
            </a:extLst>
          </p:cNvPr>
          <p:cNvSpPr txBox="1"/>
          <p:nvPr/>
        </p:nvSpPr>
        <p:spPr>
          <a:xfrm>
            <a:off x="6259556" y="3128982"/>
            <a:ext cx="1363528" cy="707886"/>
          </a:xfrm>
          <a:prstGeom prst="rect">
            <a:avLst/>
          </a:prstGeom>
          <a:solidFill>
            <a:schemeClr val="accent4">
              <a:lumMod val="60000"/>
              <a:lumOff val="4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S</a:t>
            </a:r>
            <a:r>
              <a:rPr kumimoji="0" lang="en-US" sz="4000" b="0" i="0" u="none" strike="noStrike" kern="1200" cap="none" spc="0" normalizeH="0" baseline="-25000" noProof="0" dirty="0">
                <a:ln>
                  <a:noFill/>
                </a:ln>
                <a:solidFill>
                  <a:srgbClr val="FF0000"/>
                </a:solidFill>
                <a:effectLst/>
                <a:uLnTx/>
                <a:uFillTx/>
                <a:latin typeface="Aptos" panose="02110004020202020204"/>
                <a:ea typeface="+mn-ea"/>
                <a:cs typeface="+mn-cs"/>
              </a:rPr>
              <a:t>LOQ</a:t>
            </a:r>
          </a:p>
        </p:txBody>
      </p:sp>
      <p:sp>
        <p:nvSpPr>
          <p:cNvPr id="23" name="TextBox 22">
            <a:extLst>
              <a:ext uri="{FF2B5EF4-FFF2-40B4-BE49-F238E27FC236}">
                <a16:creationId xmlns:a16="http://schemas.microsoft.com/office/drawing/2014/main" id="{C930378E-F1A4-D7D9-BDCD-7DD3D60F7529}"/>
              </a:ext>
            </a:extLst>
          </p:cNvPr>
          <p:cNvSpPr txBox="1"/>
          <p:nvPr/>
        </p:nvSpPr>
        <p:spPr>
          <a:xfrm>
            <a:off x="5652695" y="3138956"/>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24" name="TextBox 23">
            <a:extLst>
              <a:ext uri="{FF2B5EF4-FFF2-40B4-BE49-F238E27FC236}">
                <a16:creationId xmlns:a16="http://schemas.microsoft.com/office/drawing/2014/main" id="{06CD96C1-2B6D-3D76-866C-BA0223E3EBFA}"/>
              </a:ext>
            </a:extLst>
          </p:cNvPr>
          <p:cNvSpPr txBox="1"/>
          <p:nvPr/>
        </p:nvSpPr>
        <p:spPr>
          <a:xfrm>
            <a:off x="4782445" y="423883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00"/>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00"/>
                </a:highlight>
                <a:uLnTx/>
                <a:uFillTx/>
                <a:latin typeface="Aptos" panose="02110004020202020204"/>
                <a:ea typeface="+mn-ea"/>
                <a:cs typeface="+mn-cs"/>
              </a:rPr>
              <a:t>FIFO</a:t>
            </a:r>
          </a:p>
        </p:txBody>
      </p:sp>
      <p:sp>
        <p:nvSpPr>
          <p:cNvPr id="25" name="TextBox 24">
            <a:extLst>
              <a:ext uri="{FF2B5EF4-FFF2-40B4-BE49-F238E27FC236}">
                <a16:creationId xmlns:a16="http://schemas.microsoft.com/office/drawing/2014/main" id="{6BB89F33-C9D5-7F69-E226-E2FDBE659570}"/>
              </a:ext>
            </a:extLst>
          </p:cNvPr>
          <p:cNvSpPr txBox="1"/>
          <p:nvPr/>
        </p:nvSpPr>
        <p:spPr>
          <a:xfrm>
            <a:off x="6177890" y="4201098"/>
            <a:ext cx="1028062"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highlight>
                  <a:srgbClr val="00FFFF"/>
                </a:highlight>
                <a:uLnTx/>
                <a:uFillTx/>
                <a:latin typeface="Aptos" panose="02110004020202020204"/>
                <a:ea typeface="+mn-ea"/>
                <a:cs typeface="+mn-cs"/>
              </a:rPr>
              <a:t>I</a:t>
            </a:r>
            <a:r>
              <a:rPr kumimoji="0" lang="en-US" sz="4000" b="0" i="0" u="none" strike="noStrike" kern="1200" cap="none" spc="0" normalizeH="0" baseline="-25000" noProof="0" dirty="0">
                <a:ln>
                  <a:noFill/>
                </a:ln>
                <a:solidFill>
                  <a:srgbClr val="FF0000"/>
                </a:solidFill>
                <a:effectLst/>
                <a:highlight>
                  <a:srgbClr val="00FFFF"/>
                </a:highlight>
                <a:uLnTx/>
                <a:uFillTx/>
                <a:latin typeface="Aptos" panose="02110004020202020204"/>
                <a:ea typeface="+mn-ea"/>
                <a:cs typeface="+mn-cs"/>
              </a:rPr>
              <a:t>LOQ</a:t>
            </a:r>
          </a:p>
        </p:txBody>
      </p:sp>
      <p:sp>
        <p:nvSpPr>
          <p:cNvPr id="26" name="TextBox 25">
            <a:extLst>
              <a:ext uri="{FF2B5EF4-FFF2-40B4-BE49-F238E27FC236}">
                <a16:creationId xmlns:a16="http://schemas.microsoft.com/office/drawing/2014/main" id="{E9816A36-BC1B-09E8-7D29-EAC6968D9CAC}"/>
              </a:ext>
            </a:extLst>
          </p:cNvPr>
          <p:cNvSpPr txBox="1"/>
          <p:nvPr/>
        </p:nvSpPr>
        <p:spPr>
          <a:xfrm>
            <a:off x="5734361" y="4248812"/>
            <a:ext cx="525195" cy="70788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36" name="Rectangle 35">
            <a:extLst>
              <a:ext uri="{FF2B5EF4-FFF2-40B4-BE49-F238E27FC236}">
                <a16:creationId xmlns:a16="http://schemas.microsoft.com/office/drawing/2014/main" id="{ACAC07A0-4ABE-9C88-512C-2342423BF1E3}"/>
              </a:ext>
            </a:extLst>
          </p:cNvPr>
          <p:cNvSpPr/>
          <p:nvPr/>
        </p:nvSpPr>
        <p:spPr>
          <a:xfrm>
            <a:off x="4040184" y="1904538"/>
            <a:ext cx="3854547" cy="2038294"/>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7" name="TextBox 26">
            <a:extLst>
              <a:ext uri="{FF2B5EF4-FFF2-40B4-BE49-F238E27FC236}">
                <a16:creationId xmlns:a16="http://schemas.microsoft.com/office/drawing/2014/main" id="{EB23A096-2952-CA94-2460-194D9F43573B}"/>
              </a:ext>
            </a:extLst>
          </p:cNvPr>
          <p:cNvSpPr txBox="1"/>
          <p:nvPr/>
        </p:nvSpPr>
        <p:spPr>
          <a:xfrm>
            <a:off x="4736165" y="1904537"/>
            <a:ext cx="2597921"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prstClr val="black"/>
                </a:solidFill>
                <a:effectLst/>
                <a:uLnTx/>
                <a:uFillTx/>
                <a:latin typeface="Aptos" panose="02110004020202020204"/>
                <a:ea typeface="+mn-ea"/>
                <a:cs typeface="+mn-cs"/>
              </a:rPr>
              <a:t>Preserves Fairness</a:t>
            </a:r>
          </a:p>
        </p:txBody>
      </p:sp>
      <p:sp>
        <p:nvSpPr>
          <p:cNvPr id="28" name="Rectangle 27">
            <a:extLst>
              <a:ext uri="{FF2B5EF4-FFF2-40B4-BE49-F238E27FC236}">
                <a16:creationId xmlns:a16="http://schemas.microsoft.com/office/drawing/2014/main" id="{C3167868-0E61-DB7D-8F4F-C91EE2D1D4D7}"/>
              </a:ext>
            </a:extLst>
          </p:cNvPr>
          <p:cNvSpPr/>
          <p:nvPr/>
        </p:nvSpPr>
        <p:spPr>
          <a:xfrm>
            <a:off x="3201687" y="4061055"/>
            <a:ext cx="5097358" cy="1716745"/>
          </a:xfrm>
          <a:prstGeom prst="rect">
            <a:avLst/>
          </a:prstGeom>
          <a:noFill/>
          <a:ln w="38100">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7" name="TextBox 36">
            <a:extLst>
              <a:ext uri="{FF2B5EF4-FFF2-40B4-BE49-F238E27FC236}">
                <a16:creationId xmlns:a16="http://schemas.microsoft.com/office/drawing/2014/main" id="{FF8927BA-77B5-C6C6-C1B6-A111960CE7FA}"/>
              </a:ext>
            </a:extLst>
          </p:cNvPr>
          <p:cNvSpPr txBox="1"/>
          <p:nvPr/>
        </p:nvSpPr>
        <p:spPr>
          <a:xfrm>
            <a:off x="3264223" y="4918958"/>
            <a:ext cx="5406468"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Room for improving performance with scheduling</a:t>
            </a:r>
          </a:p>
        </p:txBody>
      </p:sp>
      <p:graphicFrame>
        <p:nvGraphicFramePr>
          <p:cNvPr id="38" name="Table 37">
            <a:extLst>
              <a:ext uri="{FF2B5EF4-FFF2-40B4-BE49-F238E27FC236}">
                <a16:creationId xmlns:a16="http://schemas.microsoft.com/office/drawing/2014/main" id="{9E04CA45-7D57-6C33-2CD3-560B925585A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 </a:t>
                      </a:r>
                      <a:r>
                        <a:rPr lang="en-US" sz="1800" b="1" dirty="0">
                          <a:solidFill>
                            <a:schemeClr val="tx1"/>
                          </a:solidFill>
                        </a:rPr>
                        <a:t>Sequencer + </a:t>
                      </a:r>
                      <a:r>
                        <a:rPr lang="en-US" sz="1800" b="1" dirty="0">
                          <a:solidFill>
                            <a:srgbClr val="FF0000"/>
                          </a:solidFill>
                        </a:rPr>
                        <a:t>LOQ</a:t>
                      </a:r>
                      <a:endParaRPr lang="en-US" sz="1800" dirty="0">
                        <a:solidFill>
                          <a:srgbClr val="FF0000"/>
                        </a:solidFill>
                      </a:endParaRP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39" name="Rounded Rectangle 38">
            <a:extLst>
              <a:ext uri="{FF2B5EF4-FFF2-40B4-BE49-F238E27FC236}">
                <a16:creationId xmlns:a16="http://schemas.microsoft.com/office/drawing/2014/main" id="{D00DC401-C4C8-7CB7-5593-B2E86B1C5646}"/>
              </a:ext>
            </a:extLst>
          </p:cNvPr>
          <p:cNvSpPr/>
          <p:nvPr/>
        </p:nvSpPr>
        <p:spPr>
          <a:xfrm>
            <a:off x="8459818" y="109091"/>
            <a:ext cx="3644549" cy="187537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Key Idea: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Separate critical and non-critical orders using the mid-price</a:t>
            </a:r>
          </a:p>
        </p:txBody>
      </p:sp>
    </p:spTree>
    <p:extLst>
      <p:ext uri="{BB962C8B-B14F-4D97-AF65-F5344CB8AC3E}">
        <p14:creationId xmlns:p14="http://schemas.microsoft.com/office/powerpoint/2010/main" val="175819444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dissolve">
                                      <p:cBhvr>
                                        <p:cTn id="7"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animBg="1"/>
      <p:bldP spid="9"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mc:Choice xmlns:p159="http://schemas.microsoft.com/office/powerpoint/2015/09/main" Requires="p159">
      <p:transition>
        <p159:morph option="byWord"/>
      </p:transition>
    </mc:Choice>
    <mc:Fallback>
      <p:transition>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735</TotalTime>
  <Words>5265</Words>
  <Application>Microsoft Macintosh PowerPoint</Application>
  <PresentationFormat>Widescreen</PresentationFormat>
  <Paragraphs>1361</Paragraphs>
  <Slides>147</Slides>
  <Notes>110</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147</vt:i4>
      </vt:variant>
    </vt:vector>
  </HeadingPairs>
  <TitlesOfParts>
    <vt:vector size="157"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Limit Order Queue Preserves Fairness</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239</cp:revision>
  <dcterms:created xsi:type="dcterms:W3CDTF">2026-04-04T21:04:51Z</dcterms:created>
  <dcterms:modified xsi:type="dcterms:W3CDTF">2026-04-05T22:09:39Z</dcterms:modified>
</cp:coreProperties>
</file>