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9"/>
  </p:notesMasterIdLst>
  <p:sldIdLst>
    <p:sldId id="263" r:id="rId2"/>
    <p:sldId id="351" r:id="rId3"/>
    <p:sldId id="352" r:id="rId4"/>
    <p:sldId id="353" r:id="rId5"/>
    <p:sldId id="354" r:id="rId6"/>
    <p:sldId id="355" r:id="rId7"/>
    <p:sldId id="399" r:id="rId8"/>
    <p:sldId id="357" r:id="rId9"/>
    <p:sldId id="358" r:id="rId10"/>
    <p:sldId id="359" r:id="rId11"/>
    <p:sldId id="360" r:id="rId12"/>
    <p:sldId id="361" r:id="rId13"/>
    <p:sldId id="393" r:id="rId14"/>
    <p:sldId id="400" r:id="rId15"/>
    <p:sldId id="401" r:id="rId16"/>
    <p:sldId id="402" r:id="rId17"/>
    <p:sldId id="368" r:id="rId18"/>
    <p:sldId id="277" r:id="rId19"/>
    <p:sldId id="340" r:id="rId20"/>
    <p:sldId id="369" r:id="rId21"/>
    <p:sldId id="370" r:id="rId22"/>
    <p:sldId id="371" r:id="rId23"/>
    <p:sldId id="372" r:id="rId24"/>
    <p:sldId id="374" r:id="rId25"/>
    <p:sldId id="376" r:id="rId26"/>
    <p:sldId id="403" r:id="rId27"/>
    <p:sldId id="404" r:id="rId28"/>
    <p:sldId id="405" r:id="rId29"/>
    <p:sldId id="385" r:id="rId30"/>
    <p:sldId id="273" r:id="rId31"/>
    <p:sldId id="407" r:id="rId32"/>
    <p:sldId id="386" r:id="rId33"/>
    <p:sldId id="384" r:id="rId34"/>
    <p:sldId id="392" r:id="rId35"/>
    <p:sldId id="408" r:id="rId36"/>
    <p:sldId id="383" r:id="rId37"/>
    <p:sldId id="380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52"/>
    <p:restoredTop sz="93708"/>
  </p:normalViewPr>
  <p:slideViewPr>
    <p:cSldViewPr snapToGrid="0">
      <p:cViewPr varScale="1">
        <p:scale>
          <a:sx n="132" d="100"/>
          <a:sy n="132" d="100"/>
        </p:scale>
        <p:origin x="20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remove the announcer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TODO: shrink the eval slides and create a new graph without step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87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11/12/25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11/12/25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11/12/25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11/12/25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11/12/25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svg"/><Relationship Id="rId4" Type="http://schemas.openxmlformats.org/officeDocument/2006/relationships/image" Target="../media/image8.sv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5" Type="http://schemas.openxmlformats.org/officeDocument/2006/relationships/image" Target="../media/image10.sv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sv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12" Type="http://schemas.openxmlformats.org/officeDocument/2006/relationships/image" Target="../media/image15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8.svg"/><Relationship Id="rId5" Type="http://schemas.openxmlformats.org/officeDocument/2006/relationships/image" Target="../media/image10.svg"/><Relationship Id="rId10" Type="http://schemas.openxmlformats.org/officeDocument/2006/relationships/image" Target="../media/image17.png"/><Relationship Id="rId4" Type="http://schemas.openxmlformats.org/officeDocument/2006/relationships/image" Target="../media/image9.png"/><Relationship Id="rId9" Type="http://schemas.openxmlformats.org/officeDocument/2006/relationships/image" Target="../media/image14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emf"/><Relationship Id="rId2" Type="http://schemas.openxmlformats.org/officeDocument/2006/relationships/image" Target="../media/image21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emf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sv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emf"/><Relationship Id="rId2" Type="http://schemas.openxmlformats.org/officeDocument/2006/relationships/image" Target="../media/image43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://haseebashfaq.com/" TargetMode="External"/><Relationship Id="rId2" Type="http://schemas.openxmlformats.org/officeDocument/2006/relationships/hyperlink" Target="mailto:mh6218@nyu.edu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/>
              <a:t>Haseeb Ashfaq</a:t>
            </a:r>
            <a:r>
              <a:rPr lang="en-US" sz="2400" dirty="0"/>
              <a:t>, Jinkun Geng, Radhika Mittal, Aurojit Panda, Srinivas Narayana, 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26577" y="4989129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NYU,  UIUC,  Rutgers University</a:t>
            </a:r>
          </a:p>
        </p:txBody>
      </p:sp>
      <p:pic>
        <p:nvPicPr>
          <p:cNvPr id="4" name="Graphic 3" descr="Torch with solid fill">
            <a:extLst>
              <a:ext uri="{FF2B5EF4-FFF2-40B4-BE49-F238E27FC236}">
                <a16:creationId xmlns:a16="http://schemas.microsoft.com/office/drawing/2014/main" id="{1AB0B4E7-1BBF-208E-1F55-74AD143589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08384" y="4040253"/>
            <a:ext cx="261486" cy="261486"/>
          </a:xfrm>
          <a:prstGeom prst="rect">
            <a:avLst/>
          </a:prstGeom>
        </p:spPr>
      </p:pic>
      <p:pic>
        <p:nvPicPr>
          <p:cNvPr id="6" name="Graphic 5" descr="Torch with solid fill">
            <a:extLst>
              <a:ext uri="{FF2B5EF4-FFF2-40B4-BE49-F238E27FC236}">
                <a16:creationId xmlns:a16="http://schemas.microsoft.com/office/drawing/2014/main" id="{E91402EA-0BB2-D4C6-F31B-2F065BFDDF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64015" y="4057294"/>
            <a:ext cx="261486" cy="261486"/>
          </a:xfrm>
          <a:prstGeom prst="rect">
            <a:avLst/>
          </a:prstGeom>
        </p:spPr>
      </p:pic>
      <p:pic>
        <p:nvPicPr>
          <p:cNvPr id="8" name="Graphic 7" descr="Torch with solid fill">
            <a:extLst>
              <a:ext uri="{FF2B5EF4-FFF2-40B4-BE49-F238E27FC236}">
                <a16:creationId xmlns:a16="http://schemas.microsoft.com/office/drawing/2014/main" id="{ECA733C9-57DB-5A21-EBF3-8CF9C5670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77727" y="4019818"/>
            <a:ext cx="261486" cy="261486"/>
          </a:xfrm>
          <a:prstGeom prst="rect">
            <a:avLst/>
          </a:prstGeom>
        </p:spPr>
      </p:pic>
      <p:pic>
        <p:nvPicPr>
          <p:cNvPr id="10" name="Graphic 9" descr="Torch with solid fill">
            <a:extLst>
              <a:ext uri="{FF2B5EF4-FFF2-40B4-BE49-F238E27FC236}">
                <a16:creationId xmlns:a16="http://schemas.microsoft.com/office/drawing/2014/main" id="{3661746E-2D01-EBC5-09CC-85795A72AC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73440" y="4426179"/>
            <a:ext cx="261486" cy="261486"/>
          </a:xfrm>
          <a:prstGeom prst="rect">
            <a:avLst/>
          </a:prstGeom>
        </p:spPr>
      </p:pic>
      <p:pic>
        <p:nvPicPr>
          <p:cNvPr id="14" name="Graphic 13" descr="Torch with solid fill">
            <a:extLst>
              <a:ext uri="{FF2B5EF4-FFF2-40B4-BE49-F238E27FC236}">
                <a16:creationId xmlns:a16="http://schemas.microsoft.com/office/drawing/2014/main" id="{26D4CEFF-F807-73B5-223D-0F7358CB76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24527" y="4924518"/>
            <a:ext cx="261486" cy="261486"/>
          </a:xfrm>
          <a:prstGeom prst="rect">
            <a:avLst/>
          </a:prstGeom>
        </p:spPr>
      </p:pic>
      <p:pic>
        <p:nvPicPr>
          <p:cNvPr id="21" name="Graphic 20" descr="Pegasus with solid fill">
            <a:extLst>
              <a:ext uri="{FF2B5EF4-FFF2-40B4-BE49-F238E27FC236}">
                <a16:creationId xmlns:a16="http://schemas.microsoft.com/office/drawing/2014/main" id="{554FB99E-8A76-46FF-EAAA-E80F302007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867399" y="4459066"/>
            <a:ext cx="195712" cy="195712"/>
          </a:xfrm>
          <a:prstGeom prst="rect">
            <a:avLst/>
          </a:prstGeom>
        </p:spPr>
      </p:pic>
      <p:pic>
        <p:nvPicPr>
          <p:cNvPr id="22" name="Graphic 21" descr="Pegasus with solid fill">
            <a:extLst>
              <a:ext uri="{FF2B5EF4-FFF2-40B4-BE49-F238E27FC236}">
                <a16:creationId xmlns:a16="http://schemas.microsoft.com/office/drawing/2014/main" id="{658AF386-03A8-D68F-C078-CD41AF8A39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03505" y="4990292"/>
            <a:ext cx="195712" cy="195712"/>
          </a:xfrm>
          <a:prstGeom prst="rect">
            <a:avLst/>
          </a:prstGeom>
        </p:spPr>
      </p:pic>
      <p:pic>
        <p:nvPicPr>
          <p:cNvPr id="24" name="Graphic 23" descr="Crown with solid fill">
            <a:extLst>
              <a:ext uri="{FF2B5EF4-FFF2-40B4-BE49-F238E27FC236}">
                <a16:creationId xmlns:a16="http://schemas.microsoft.com/office/drawing/2014/main" id="{39BF8717-4529-4229-940F-5E88B2BD774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04378" y="4052705"/>
            <a:ext cx="195712" cy="195712"/>
          </a:xfrm>
          <a:prstGeom prst="rect">
            <a:avLst/>
          </a:prstGeom>
        </p:spPr>
      </p:pic>
      <p:pic>
        <p:nvPicPr>
          <p:cNvPr id="25" name="Graphic 24" descr="Crown with solid fill">
            <a:extLst>
              <a:ext uri="{FF2B5EF4-FFF2-40B4-BE49-F238E27FC236}">
                <a16:creationId xmlns:a16="http://schemas.microsoft.com/office/drawing/2014/main" id="{89F0D3AD-5F67-0855-CC94-714EAF2508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9047" y="4982123"/>
            <a:ext cx="195712" cy="195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093210" y="150434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share,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093210" y="2986564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126714" y="4468784"/>
            <a:ext cx="3463637" cy="1024803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Coins with solid fill">
            <a:extLst>
              <a:ext uri="{FF2B5EF4-FFF2-40B4-BE49-F238E27FC236}">
                <a16:creationId xmlns:a16="http://schemas.microsoft.com/office/drawing/2014/main" id="{35F47457-E2B9-11C8-A1B0-7DF411E74E6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6" name="Graphic 15" descr="Coins with solid fill">
            <a:extLst>
              <a:ext uri="{FF2B5EF4-FFF2-40B4-BE49-F238E27FC236}">
                <a16:creationId xmlns:a16="http://schemas.microsoft.com/office/drawing/2014/main" id="{E0F40736-9FA1-3385-DEDA-BA110298E19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7" name="Graphic 16" descr="Coins with solid fill">
            <a:extLst>
              <a:ext uri="{FF2B5EF4-FFF2-40B4-BE49-F238E27FC236}">
                <a16:creationId xmlns:a16="http://schemas.microsoft.com/office/drawing/2014/main" id="{4010B577-E1AD-791E-A520-B290CCA2637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1" name="Graphic 20" descr="Coins with solid fill">
            <a:extLst>
              <a:ext uri="{FF2B5EF4-FFF2-40B4-BE49-F238E27FC236}">
                <a16:creationId xmlns:a16="http://schemas.microsoft.com/office/drawing/2014/main" id="{18163241-34A9-9B64-4E9C-CB3A08176F4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44683" y="430353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5206" y="4616660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78182" y="4579187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409606" y="5030854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3526472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3526473" y="4509210"/>
            <a:ext cx="4719902" cy="138549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A0FE26F-584E-DD18-BBB1-C766503C22F2}"/>
              </a:ext>
            </a:extLst>
          </p:cNvPr>
          <p:cNvSpPr/>
          <p:nvPr/>
        </p:nvSpPr>
        <p:spPr>
          <a:xfrm>
            <a:off x="3552498" y="2977976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How to know that?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7D4A5-D651-D3C3-8649-9CFAF4667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A6D03A-36F6-F4E0-EC75-18C40614C4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2C8FC84-EAAD-1221-F163-436F2202A9B9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65C38A0-9F02-76CC-4131-A053426E3F8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6496972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06A10E-A842-A905-2E58-FFDC77A561A4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3FA1D15-FEC0-2391-50BC-CC497BE102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636BF5F-2E05-E6BA-3CBD-83428D15B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97BA0B4-9CDB-B6A4-5FA0-8F51217947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DCBCDB3-9A65-0532-C569-373A93E55C49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A7A395D-F46A-E025-D24B-DBC116EE914C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B349F8-F4F7-FE47-282B-85C26BBA74B6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58BF78D1-9AD1-EC75-CE7B-36EF55E7D0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2C559097-9514-B530-6FBD-4B0F122E66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04E2911-042B-67BC-59B9-97355922B2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44EDB2-0A12-3185-E19B-24E392210F3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782981-690E-08EC-E25F-A4B5811B06F7}"/>
              </a:ext>
            </a:extLst>
          </p:cNvPr>
          <p:cNvSpPr/>
          <p:nvPr/>
        </p:nvSpPr>
        <p:spPr>
          <a:xfrm>
            <a:off x="7807037" y="4433455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BD47ED-C22B-E0E4-0B7C-87C479F8A34F}"/>
              </a:ext>
            </a:extLst>
          </p:cNvPr>
          <p:cNvSpPr/>
          <p:nvPr/>
        </p:nvSpPr>
        <p:spPr>
          <a:xfrm>
            <a:off x="7831283" y="4890655"/>
            <a:ext cx="2279072" cy="45719"/>
          </a:xfrm>
          <a:custGeom>
            <a:avLst/>
            <a:gdLst>
              <a:gd name="connsiteX0" fmla="*/ 0 w 2279072"/>
              <a:gd name="connsiteY0" fmla="*/ 0 h 45719"/>
              <a:gd name="connsiteX1" fmla="*/ 546977 w 2279072"/>
              <a:gd name="connsiteY1" fmla="*/ 0 h 45719"/>
              <a:gd name="connsiteX2" fmla="*/ 1116745 w 2279072"/>
              <a:gd name="connsiteY2" fmla="*/ 0 h 45719"/>
              <a:gd name="connsiteX3" fmla="*/ 1686513 w 2279072"/>
              <a:gd name="connsiteY3" fmla="*/ 0 h 45719"/>
              <a:gd name="connsiteX4" fmla="*/ 2279072 w 2279072"/>
              <a:gd name="connsiteY4" fmla="*/ 0 h 45719"/>
              <a:gd name="connsiteX5" fmla="*/ 2279072 w 2279072"/>
              <a:gd name="connsiteY5" fmla="*/ 45719 h 45719"/>
              <a:gd name="connsiteX6" fmla="*/ 1709304 w 2279072"/>
              <a:gd name="connsiteY6" fmla="*/ 45719 h 45719"/>
              <a:gd name="connsiteX7" fmla="*/ 1185117 w 2279072"/>
              <a:gd name="connsiteY7" fmla="*/ 45719 h 45719"/>
              <a:gd name="connsiteX8" fmla="*/ 660931 w 2279072"/>
              <a:gd name="connsiteY8" fmla="*/ 45719 h 45719"/>
              <a:gd name="connsiteX9" fmla="*/ 0 w 2279072"/>
              <a:gd name="connsiteY9" fmla="*/ 45719 h 45719"/>
              <a:gd name="connsiteX10" fmla="*/ 0 w 2279072"/>
              <a:gd name="connsiteY10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279072" h="45719" fill="none" extrusionOk="0">
                <a:moveTo>
                  <a:pt x="0" y="0"/>
                </a:moveTo>
                <a:cubicBezTo>
                  <a:pt x="243645" y="-65220"/>
                  <a:pt x="422659" y="13369"/>
                  <a:pt x="546977" y="0"/>
                </a:cubicBezTo>
                <a:cubicBezTo>
                  <a:pt x="671295" y="-13369"/>
                  <a:pt x="880606" y="67309"/>
                  <a:pt x="1116745" y="0"/>
                </a:cubicBezTo>
                <a:cubicBezTo>
                  <a:pt x="1352884" y="-67309"/>
                  <a:pt x="1557373" y="24558"/>
                  <a:pt x="1686513" y="0"/>
                </a:cubicBezTo>
                <a:cubicBezTo>
                  <a:pt x="1815653" y="-24558"/>
                  <a:pt x="2004557" y="16791"/>
                  <a:pt x="2279072" y="0"/>
                </a:cubicBezTo>
                <a:cubicBezTo>
                  <a:pt x="2280264" y="14948"/>
                  <a:pt x="2274874" y="32827"/>
                  <a:pt x="2279072" y="45719"/>
                </a:cubicBezTo>
                <a:cubicBezTo>
                  <a:pt x="2101378" y="96800"/>
                  <a:pt x="1850402" y="-19910"/>
                  <a:pt x="1709304" y="45719"/>
                </a:cubicBezTo>
                <a:cubicBezTo>
                  <a:pt x="1568206" y="111348"/>
                  <a:pt x="1323179" y="22312"/>
                  <a:pt x="1185117" y="45719"/>
                </a:cubicBezTo>
                <a:cubicBezTo>
                  <a:pt x="1047055" y="69126"/>
                  <a:pt x="807091" y="3087"/>
                  <a:pt x="660931" y="45719"/>
                </a:cubicBezTo>
                <a:cubicBezTo>
                  <a:pt x="514771" y="88351"/>
                  <a:pt x="237813" y="22655"/>
                  <a:pt x="0" y="45719"/>
                </a:cubicBezTo>
                <a:cubicBezTo>
                  <a:pt x="-1477" y="33426"/>
                  <a:pt x="4017" y="15270"/>
                  <a:pt x="0" y="0"/>
                </a:cubicBezTo>
                <a:close/>
              </a:path>
              <a:path w="2279072" h="45719" stroke="0" extrusionOk="0">
                <a:moveTo>
                  <a:pt x="0" y="0"/>
                </a:moveTo>
                <a:cubicBezTo>
                  <a:pt x="250598" y="-3467"/>
                  <a:pt x="323486" y="32446"/>
                  <a:pt x="546977" y="0"/>
                </a:cubicBezTo>
                <a:cubicBezTo>
                  <a:pt x="770468" y="-32446"/>
                  <a:pt x="878294" y="34001"/>
                  <a:pt x="1048373" y="0"/>
                </a:cubicBezTo>
                <a:cubicBezTo>
                  <a:pt x="1218452" y="-34001"/>
                  <a:pt x="1503102" y="629"/>
                  <a:pt x="1663723" y="0"/>
                </a:cubicBezTo>
                <a:cubicBezTo>
                  <a:pt x="1824344" y="-629"/>
                  <a:pt x="1975870" y="56582"/>
                  <a:pt x="2279072" y="0"/>
                </a:cubicBezTo>
                <a:cubicBezTo>
                  <a:pt x="2280955" y="13748"/>
                  <a:pt x="2277293" y="34312"/>
                  <a:pt x="2279072" y="45719"/>
                </a:cubicBezTo>
                <a:cubicBezTo>
                  <a:pt x="2129653" y="96407"/>
                  <a:pt x="1986856" y="-4182"/>
                  <a:pt x="1754885" y="45719"/>
                </a:cubicBezTo>
                <a:cubicBezTo>
                  <a:pt x="1522914" y="95620"/>
                  <a:pt x="1484423" y="20627"/>
                  <a:pt x="1230699" y="45719"/>
                </a:cubicBezTo>
                <a:cubicBezTo>
                  <a:pt x="976975" y="70811"/>
                  <a:pt x="762965" y="-26584"/>
                  <a:pt x="615349" y="45719"/>
                </a:cubicBezTo>
                <a:cubicBezTo>
                  <a:pt x="467733" y="118022"/>
                  <a:pt x="131579" y="7807"/>
                  <a:pt x="0" y="45719"/>
                </a:cubicBezTo>
                <a:cubicBezTo>
                  <a:pt x="-547" y="32491"/>
                  <a:pt x="4088" y="1699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EDFBD2-2775-7590-063A-A4D6D9D6E50C}"/>
              </a:ext>
            </a:extLst>
          </p:cNvPr>
          <p:cNvSpPr/>
          <p:nvPr/>
        </p:nvSpPr>
        <p:spPr>
          <a:xfrm>
            <a:off x="7872846" y="5302136"/>
            <a:ext cx="1132609" cy="45719"/>
          </a:xfrm>
          <a:custGeom>
            <a:avLst/>
            <a:gdLst>
              <a:gd name="connsiteX0" fmla="*/ 0 w 1132609"/>
              <a:gd name="connsiteY0" fmla="*/ 0 h 45719"/>
              <a:gd name="connsiteX1" fmla="*/ 588957 w 1132609"/>
              <a:gd name="connsiteY1" fmla="*/ 0 h 45719"/>
              <a:gd name="connsiteX2" fmla="*/ 1132609 w 1132609"/>
              <a:gd name="connsiteY2" fmla="*/ 0 h 45719"/>
              <a:gd name="connsiteX3" fmla="*/ 1132609 w 1132609"/>
              <a:gd name="connsiteY3" fmla="*/ 45719 h 45719"/>
              <a:gd name="connsiteX4" fmla="*/ 577631 w 1132609"/>
              <a:gd name="connsiteY4" fmla="*/ 45719 h 45719"/>
              <a:gd name="connsiteX5" fmla="*/ 0 w 1132609"/>
              <a:gd name="connsiteY5" fmla="*/ 45719 h 45719"/>
              <a:gd name="connsiteX6" fmla="*/ 0 w 1132609"/>
              <a:gd name="connsiteY6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132609" h="45719" fill="none" extrusionOk="0">
                <a:moveTo>
                  <a:pt x="0" y="0"/>
                </a:moveTo>
                <a:cubicBezTo>
                  <a:pt x="220432" y="-43673"/>
                  <a:pt x="397974" y="43750"/>
                  <a:pt x="588957" y="0"/>
                </a:cubicBezTo>
                <a:cubicBezTo>
                  <a:pt x="779940" y="-43750"/>
                  <a:pt x="948055" y="3532"/>
                  <a:pt x="1132609" y="0"/>
                </a:cubicBezTo>
                <a:cubicBezTo>
                  <a:pt x="1136090" y="9574"/>
                  <a:pt x="1130962" y="29744"/>
                  <a:pt x="1132609" y="45719"/>
                </a:cubicBezTo>
                <a:cubicBezTo>
                  <a:pt x="890896" y="111788"/>
                  <a:pt x="783495" y="-20152"/>
                  <a:pt x="577631" y="45719"/>
                </a:cubicBezTo>
                <a:cubicBezTo>
                  <a:pt x="371767" y="111590"/>
                  <a:pt x="185214" y="29915"/>
                  <a:pt x="0" y="45719"/>
                </a:cubicBezTo>
                <a:cubicBezTo>
                  <a:pt x="-2659" y="25136"/>
                  <a:pt x="4833" y="13660"/>
                  <a:pt x="0" y="0"/>
                </a:cubicBezTo>
                <a:close/>
              </a:path>
              <a:path w="1132609" h="45719" stroke="0" extrusionOk="0">
                <a:moveTo>
                  <a:pt x="0" y="0"/>
                </a:moveTo>
                <a:cubicBezTo>
                  <a:pt x="150607" y="-58387"/>
                  <a:pt x="297933" y="48823"/>
                  <a:pt x="554978" y="0"/>
                </a:cubicBezTo>
                <a:cubicBezTo>
                  <a:pt x="812023" y="-48823"/>
                  <a:pt x="862205" y="3488"/>
                  <a:pt x="1132609" y="0"/>
                </a:cubicBezTo>
                <a:cubicBezTo>
                  <a:pt x="1137115" y="9407"/>
                  <a:pt x="1132276" y="23614"/>
                  <a:pt x="1132609" y="45719"/>
                </a:cubicBezTo>
                <a:cubicBezTo>
                  <a:pt x="855846" y="54093"/>
                  <a:pt x="780892" y="38970"/>
                  <a:pt x="566305" y="45719"/>
                </a:cubicBezTo>
                <a:cubicBezTo>
                  <a:pt x="351718" y="52468"/>
                  <a:pt x="145629" y="-4692"/>
                  <a:pt x="0" y="45719"/>
                </a:cubicBezTo>
                <a:cubicBezTo>
                  <a:pt x="-1446" y="25972"/>
                  <a:pt x="4445" y="11312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68B73FAA-2D88-E3CA-1842-303D5AB49B38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2F4316E-4D60-0685-B924-82F9911EE2EF}"/>
              </a:ext>
            </a:extLst>
          </p:cNvPr>
          <p:cNvSpPr/>
          <p:nvPr/>
        </p:nvSpPr>
        <p:spPr>
          <a:xfrm>
            <a:off x="3342410" y="3701467"/>
            <a:ext cx="1780308" cy="45719"/>
          </a:xfrm>
          <a:custGeom>
            <a:avLst/>
            <a:gdLst>
              <a:gd name="connsiteX0" fmla="*/ 0 w 1780308"/>
              <a:gd name="connsiteY0" fmla="*/ 0 h 45719"/>
              <a:gd name="connsiteX1" fmla="*/ 629042 w 1780308"/>
              <a:gd name="connsiteY1" fmla="*/ 0 h 45719"/>
              <a:gd name="connsiteX2" fmla="*/ 1240281 w 1780308"/>
              <a:gd name="connsiteY2" fmla="*/ 0 h 45719"/>
              <a:gd name="connsiteX3" fmla="*/ 1780308 w 1780308"/>
              <a:gd name="connsiteY3" fmla="*/ 0 h 45719"/>
              <a:gd name="connsiteX4" fmla="*/ 1780308 w 1780308"/>
              <a:gd name="connsiteY4" fmla="*/ 45719 h 45719"/>
              <a:gd name="connsiteX5" fmla="*/ 1222478 w 1780308"/>
              <a:gd name="connsiteY5" fmla="*/ 45719 h 45719"/>
              <a:gd name="connsiteX6" fmla="*/ 629042 w 1780308"/>
              <a:gd name="connsiteY6" fmla="*/ 45719 h 45719"/>
              <a:gd name="connsiteX7" fmla="*/ 0 w 1780308"/>
              <a:gd name="connsiteY7" fmla="*/ 45719 h 45719"/>
              <a:gd name="connsiteX8" fmla="*/ 0 w 1780308"/>
              <a:gd name="connsiteY8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80308" h="45719" fill="none" extrusionOk="0">
                <a:moveTo>
                  <a:pt x="0" y="0"/>
                </a:moveTo>
                <a:cubicBezTo>
                  <a:pt x="290229" y="-45046"/>
                  <a:pt x="403111" y="70471"/>
                  <a:pt x="629042" y="0"/>
                </a:cubicBezTo>
                <a:cubicBezTo>
                  <a:pt x="854973" y="-70471"/>
                  <a:pt x="1087081" y="67673"/>
                  <a:pt x="1240281" y="0"/>
                </a:cubicBezTo>
                <a:cubicBezTo>
                  <a:pt x="1393481" y="-67673"/>
                  <a:pt x="1640132" y="1057"/>
                  <a:pt x="1780308" y="0"/>
                </a:cubicBezTo>
                <a:cubicBezTo>
                  <a:pt x="1782267" y="16164"/>
                  <a:pt x="1775285" y="29889"/>
                  <a:pt x="1780308" y="45719"/>
                </a:cubicBezTo>
                <a:cubicBezTo>
                  <a:pt x="1551657" y="52379"/>
                  <a:pt x="1489134" y="18540"/>
                  <a:pt x="1222478" y="45719"/>
                </a:cubicBezTo>
                <a:cubicBezTo>
                  <a:pt x="955822" y="72898"/>
                  <a:pt x="866814" y="-11913"/>
                  <a:pt x="629042" y="45719"/>
                </a:cubicBezTo>
                <a:cubicBezTo>
                  <a:pt x="391270" y="103351"/>
                  <a:pt x="219415" y="8257"/>
                  <a:pt x="0" y="45719"/>
                </a:cubicBezTo>
                <a:cubicBezTo>
                  <a:pt x="-4002" y="23225"/>
                  <a:pt x="5204" y="15704"/>
                  <a:pt x="0" y="0"/>
                </a:cubicBezTo>
                <a:close/>
              </a:path>
              <a:path w="1780308" h="45719" stroke="0" extrusionOk="0">
                <a:moveTo>
                  <a:pt x="0" y="0"/>
                </a:moveTo>
                <a:cubicBezTo>
                  <a:pt x="172019" y="-47117"/>
                  <a:pt x="347405" y="57919"/>
                  <a:pt x="575633" y="0"/>
                </a:cubicBezTo>
                <a:cubicBezTo>
                  <a:pt x="803861" y="-57919"/>
                  <a:pt x="895401" y="28554"/>
                  <a:pt x="1115660" y="0"/>
                </a:cubicBezTo>
                <a:cubicBezTo>
                  <a:pt x="1335919" y="-28554"/>
                  <a:pt x="1604294" y="71367"/>
                  <a:pt x="1780308" y="0"/>
                </a:cubicBezTo>
                <a:cubicBezTo>
                  <a:pt x="1783255" y="20023"/>
                  <a:pt x="1778049" y="32550"/>
                  <a:pt x="1780308" y="45719"/>
                </a:cubicBezTo>
                <a:cubicBezTo>
                  <a:pt x="1525475" y="105187"/>
                  <a:pt x="1399752" y="-1665"/>
                  <a:pt x="1222478" y="45719"/>
                </a:cubicBezTo>
                <a:cubicBezTo>
                  <a:pt x="1045204" y="93103"/>
                  <a:pt x="846951" y="28140"/>
                  <a:pt x="593436" y="45719"/>
                </a:cubicBezTo>
                <a:cubicBezTo>
                  <a:pt x="339921" y="63298"/>
                  <a:pt x="227133" y="42805"/>
                  <a:pt x="0" y="45719"/>
                </a:cubicBezTo>
                <a:cubicBezTo>
                  <a:pt x="-460" y="35846"/>
                  <a:pt x="3527" y="12901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198F500-835C-1B85-3137-B6D2BD78756B}"/>
              </a:ext>
            </a:extLst>
          </p:cNvPr>
          <p:cNvSpPr/>
          <p:nvPr/>
        </p:nvSpPr>
        <p:spPr>
          <a:xfrm>
            <a:off x="2763982" y="4340220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30B984-6FBA-128B-E878-BFADF71E990C}"/>
              </a:ext>
            </a:extLst>
          </p:cNvPr>
          <p:cNvSpPr/>
          <p:nvPr/>
        </p:nvSpPr>
        <p:spPr>
          <a:xfrm>
            <a:off x="2763982" y="4951264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7659006-7345-9F6B-4637-54DAE22393F6}"/>
              </a:ext>
            </a:extLst>
          </p:cNvPr>
          <p:cNvSpPr/>
          <p:nvPr/>
        </p:nvSpPr>
        <p:spPr>
          <a:xfrm>
            <a:off x="2746664" y="5531605"/>
            <a:ext cx="3068782" cy="45719"/>
          </a:xfrm>
          <a:custGeom>
            <a:avLst/>
            <a:gdLst>
              <a:gd name="connsiteX0" fmla="*/ 0 w 3068782"/>
              <a:gd name="connsiteY0" fmla="*/ 0 h 45719"/>
              <a:gd name="connsiteX1" fmla="*/ 572839 w 3068782"/>
              <a:gd name="connsiteY1" fmla="*/ 0 h 45719"/>
              <a:gd name="connsiteX2" fmla="*/ 1114991 w 3068782"/>
              <a:gd name="connsiteY2" fmla="*/ 0 h 45719"/>
              <a:gd name="connsiteX3" fmla="*/ 1657142 w 3068782"/>
              <a:gd name="connsiteY3" fmla="*/ 0 h 45719"/>
              <a:gd name="connsiteX4" fmla="*/ 2076542 w 3068782"/>
              <a:gd name="connsiteY4" fmla="*/ 0 h 45719"/>
              <a:gd name="connsiteX5" fmla="*/ 2526631 w 3068782"/>
              <a:gd name="connsiteY5" fmla="*/ 0 h 45719"/>
              <a:gd name="connsiteX6" fmla="*/ 3068782 w 3068782"/>
              <a:gd name="connsiteY6" fmla="*/ 0 h 45719"/>
              <a:gd name="connsiteX7" fmla="*/ 3068782 w 3068782"/>
              <a:gd name="connsiteY7" fmla="*/ 45719 h 45719"/>
              <a:gd name="connsiteX8" fmla="*/ 2557318 w 3068782"/>
              <a:gd name="connsiteY8" fmla="*/ 45719 h 45719"/>
              <a:gd name="connsiteX9" fmla="*/ 2137918 w 3068782"/>
              <a:gd name="connsiteY9" fmla="*/ 45719 h 45719"/>
              <a:gd name="connsiteX10" fmla="*/ 1718518 w 3068782"/>
              <a:gd name="connsiteY10" fmla="*/ 45719 h 45719"/>
              <a:gd name="connsiteX11" fmla="*/ 1176366 w 3068782"/>
              <a:gd name="connsiteY11" fmla="*/ 45719 h 45719"/>
              <a:gd name="connsiteX12" fmla="*/ 726278 w 3068782"/>
              <a:gd name="connsiteY12" fmla="*/ 45719 h 45719"/>
              <a:gd name="connsiteX13" fmla="*/ 0 w 3068782"/>
              <a:gd name="connsiteY13" fmla="*/ 45719 h 45719"/>
              <a:gd name="connsiteX14" fmla="*/ 0 w 3068782"/>
              <a:gd name="connsiteY14" fmla="*/ 0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3068782" h="45719" fill="none" extrusionOk="0">
                <a:moveTo>
                  <a:pt x="0" y="0"/>
                </a:moveTo>
                <a:cubicBezTo>
                  <a:pt x="245246" y="-53751"/>
                  <a:pt x="299777" y="44648"/>
                  <a:pt x="572839" y="0"/>
                </a:cubicBezTo>
                <a:cubicBezTo>
                  <a:pt x="845901" y="-44648"/>
                  <a:pt x="940094" y="2835"/>
                  <a:pt x="1114991" y="0"/>
                </a:cubicBezTo>
                <a:cubicBezTo>
                  <a:pt x="1289888" y="-2835"/>
                  <a:pt x="1419671" y="55824"/>
                  <a:pt x="1657142" y="0"/>
                </a:cubicBezTo>
                <a:cubicBezTo>
                  <a:pt x="1894613" y="-55824"/>
                  <a:pt x="1881976" y="20401"/>
                  <a:pt x="2076542" y="0"/>
                </a:cubicBezTo>
                <a:cubicBezTo>
                  <a:pt x="2271108" y="-20401"/>
                  <a:pt x="2410253" y="34466"/>
                  <a:pt x="2526631" y="0"/>
                </a:cubicBezTo>
                <a:cubicBezTo>
                  <a:pt x="2643009" y="-34466"/>
                  <a:pt x="2806769" y="63811"/>
                  <a:pt x="3068782" y="0"/>
                </a:cubicBezTo>
                <a:cubicBezTo>
                  <a:pt x="3069156" y="13870"/>
                  <a:pt x="3067611" y="28899"/>
                  <a:pt x="3068782" y="45719"/>
                </a:cubicBezTo>
                <a:cubicBezTo>
                  <a:pt x="2909745" y="104518"/>
                  <a:pt x="2723396" y="30108"/>
                  <a:pt x="2557318" y="45719"/>
                </a:cubicBezTo>
                <a:cubicBezTo>
                  <a:pt x="2391240" y="61330"/>
                  <a:pt x="2238829" y="25670"/>
                  <a:pt x="2137918" y="45719"/>
                </a:cubicBezTo>
                <a:cubicBezTo>
                  <a:pt x="2037007" y="65768"/>
                  <a:pt x="1803275" y="24744"/>
                  <a:pt x="1718518" y="45719"/>
                </a:cubicBezTo>
                <a:cubicBezTo>
                  <a:pt x="1633761" y="66694"/>
                  <a:pt x="1328303" y="-14450"/>
                  <a:pt x="1176366" y="45719"/>
                </a:cubicBezTo>
                <a:cubicBezTo>
                  <a:pt x="1024429" y="105888"/>
                  <a:pt x="844662" y="22511"/>
                  <a:pt x="726278" y="45719"/>
                </a:cubicBezTo>
                <a:cubicBezTo>
                  <a:pt x="607894" y="68927"/>
                  <a:pt x="166128" y="-9176"/>
                  <a:pt x="0" y="45719"/>
                </a:cubicBezTo>
                <a:cubicBezTo>
                  <a:pt x="-2073" y="27678"/>
                  <a:pt x="5011" y="14384"/>
                  <a:pt x="0" y="0"/>
                </a:cubicBezTo>
                <a:close/>
              </a:path>
              <a:path w="3068782" h="45719" stroke="0" extrusionOk="0">
                <a:moveTo>
                  <a:pt x="0" y="0"/>
                </a:moveTo>
                <a:cubicBezTo>
                  <a:pt x="222430" y="-36251"/>
                  <a:pt x="283164" y="9035"/>
                  <a:pt x="480776" y="0"/>
                </a:cubicBezTo>
                <a:cubicBezTo>
                  <a:pt x="678388" y="-9035"/>
                  <a:pt x="793600" y="25673"/>
                  <a:pt x="900176" y="0"/>
                </a:cubicBezTo>
                <a:cubicBezTo>
                  <a:pt x="1006752" y="-25673"/>
                  <a:pt x="1209997" y="64458"/>
                  <a:pt x="1473015" y="0"/>
                </a:cubicBezTo>
                <a:cubicBezTo>
                  <a:pt x="1736033" y="-64458"/>
                  <a:pt x="1837393" y="16586"/>
                  <a:pt x="1953791" y="0"/>
                </a:cubicBezTo>
                <a:cubicBezTo>
                  <a:pt x="2070189" y="-16586"/>
                  <a:pt x="2252161" y="25833"/>
                  <a:pt x="2434567" y="0"/>
                </a:cubicBezTo>
                <a:cubicBezTo>
                  <a:pt x="2616973" y="-25833"/>
                  <a:pt x="2781797" y="69488"/>
                  <a:pt x="3068782" y="0"/>
                </a:cubicBezTo>
                <a:cubicBezTo>
                  <a:pt x="3070212" y="20926"/>
                  <a:pt x="3064563" y="36494"/>
                  <a:pt x="3068782" y="45719"/>
                </a:cubicBezTo>
                <a:cubicBezTo>
                  <a:pt x="2859352" y="87875"/>
                  <a:pt x="2701510" y="148"/>
                  <a:pt x="2557318" y="45719"/>
                </a:cubicBezTo>
                <a:cubicBezTo>
                  <a:pt x="2413126" y="91290"/>
                  <a:pt x="2317246" y="28308"/>
                  <a:pt x="2137918" y="45719"/>
                </a:cubicBezTo>
                <a:cubicBezTo>
                  <a:pt x="1958590" y="63130"/>
                  <a:pt x="1852780" y="33541"/>
                  <a:pt x="1626454" y="45719"/>
                </a:cubicBezTo>
                <a:cubicBezTo>
                  <a:pt x="1400128" y="57897"/>
                  <a:pt x="1274521" y="37593"/>
                  <a:pt x="1114991" y="45719"/>
                </a:cubicBezTo>
                <a:cubicBezTo>
                  <a:pt x="955461" y="53845"/>
                  <a:pt x="843703" y="28177"/>
                  <a:pt x="634215" y="45719"/>
                </a:cubicBezTo>
                <a:cubicBezTo>
                  <a:pt x="424727" y="63261"/>
                  <a:pt x="260358" y="-24293"/>
                  <a:pt x="0" y="45719"/>
                </a:cubicBezTo>
                <a:cubicBezTo>
                  <a:pt x="-463" y="29546"/>
                  <a:pt x="2827" y="1142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pic>
        <p:nvPicPr>
          <p:cNvPr id="8" name="Graphic 7" descr="Clock with solid fill">
            <a:extLst>
              <a:ext uri="{FF2B5EF4-FFF2-40B4-BE49-F238E27FC236}">
                <a16:creationId xmlns:a16="http://schemas.microsoft.com/office/drawing/2014/main" id="{795BFF8D-62AC-EF02-5604-67FFFA340D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0" name="Graphic 9" descr="Clock with solid fill">
            <a:extLst>
              <a:ext uri="{FF2B5EF4-FFF2-40B4-BE49-F238E27FC236}">
                <a16:creationId xmlns:a16="http://schemas.microsoft.com/office/drawing/2014/main" id="{92A2C1AA-3206-F2D3-E59D-1637D48192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1" name="Graphic 10" descr="Clock with solid fill">
            <a:extLst>
              <a:ext uri="{FF2B5EF4-FFF2-40B4-BE49-F238E27FC236}">
                <a16:creationId xmlns:a16="http://schemas.microsoft.com/office/drawing/2014/main" id="{086DAB47-3785-8FE0-71E7-F3A781F76E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33577-DB23-406A-683F-0394CB80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D456BD0-E400-D4EE-AD70-BD7EF39072B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4A9D1208-A94A-4281-A206-AFA15969897A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5C0259C-4A66-F421-79AE-FC935693F219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It’s impossible to get the True timestamp.</a:t>
            </a:r>
          </a:p>
        </p:txBody>
      </p:sp>
      <p:pic>
        <p:nvPicPr>
          <p:cNvPr id="12" name="Graphic 11" descr="Clock with solid fill">
            <a:extLst>
              <a:ext uri="{FF2B5EF4-FFF2-40B4-BE49-F238E27FC236}">
                <a16:creationId xmlns:a16="http://schemas.microsoft.com/office/drawing/2014/main" id="{392C6871-0B8F-6DD4-36BF-39F962D67D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13" name="Graphic 12" descr="Clock with solid fill">
            <a:extLst>
              <a:ext uri="{FF2B5EF4-FFF2-40B4-BE49-F238E27FC236}">
                <a16:creationId xmlns:a16="http://schemas.microsoft.com/office/drawing/2014/main" id="{AA102FCB-6B46-FFE3-C81F-BA97F26E5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14" name="Graphic 13" descr="Clock with solid fill">
            <a:extLst>
              <a:ext uri="{FF2B5EF4-FFF2-40B4-BE49-F238E27FC236}">
                <a16:creationId xmlns:a16="http://schemas.microsoft.com/office/drawing/2014/main" id="{7F1CB5A1-1769-5822-029B-BBCBA2935F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5475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1C12B-E042-5E1A-FFAA-6D9BE649E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5CC6B78-2FD9-39DE-AF3A-6EA10A33678F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C08AEF-07D4-C0E7-3348-73EF3B7CAF21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EDDB4B0-88B8-60A8-1F28-5FC75CBCEA33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5171AB-8276-0193-D81A-C9E5B9378A6C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44FD225-5FBD-7B73-DC96-0048C0063BB0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compare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AF933B63-F3AA-7CB8-880F-9EB7D30F62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08EAF3D-DDF1-290A-9827-F28C6386D9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6E01F937-1BCF-A7F7-6A87-A3148379F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2273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436E5-4FEA-3A52-B65B-9787253CB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921B4FE-97FF-CD60-66E5-739695CEB52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4B8510-BCAE-1D56-21B8-7FA0598D8D48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20E7853-24F6-7476-FC6F-B1790BCA50C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DE15B-31D9-EF4E-36EB-CEFAEA469778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70DF6C5-9222-68CA-202A-16C2EC532602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C6860DE-5233-2F93-9FFF-85EDDD81DC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F74095B0-4A7F-BCE7-E2E8-4D0B54428A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4F932F87-C9A4-71E8-93AB-1067A1B4D6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2380D90-7ABC-8429-CC30-02EBF51DCF3C}"/>
              </a:ext>
            </a:extLst>
          </p:cNvPr>
          <p:cNvSpPr txBox="1"/>
          <p:nvPr/>
        </p:nvSpPr>
        <p:spPr>
          <a:xfrm>
            <a:off x="6281937" y="5251440"/>
            <a:ext cx="26782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highlight>
                  <a:srgbClr val="FFFF00"/>
                </a:highlight>
              </a:rPr>
              <a:t>Probabilistic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E7DBA8C-7B7C-A79B-F7F1-6743E78EA568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5514109" y="5126182"/>
            <a:ext cx="767828" cy="448424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31529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6A5D3-DCB5-097E-BBC1-63789ACB8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F89A489-9BC9-C35E-4934-CA0D5C634DF2}"/>
              </a:ext>
            </a:extLst>
          </p:cNvPr>
          <p:cNvSpPr/>
          <p:nvPr/>
        </p:nvSpPr>
        <p:spPr>
          <a:xfrm>
            <a:off x="2568261" y="561804"/>
            <a:ext cx="4702242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prstClr val="black"/>
                </a:solidFill>
                <a:latin typeface="Aptos" panose="02110004020202020204"/>
              </a:rPr>
              <a:t>     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Probabilistic Fair Ordering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B60BA4BB-7650-CFA4-AC86-15D0AE96D413}"/>
              </a:ext>
            </a:extLst>
          </p:cNvPr>
          <p:cNvSpPr/>
          <p:nvPr/>
        </p:nvSpPr>
        <p:spPr>
          <a:xfrm>
            <a:off x="7287490" y="554183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E8D2AF0-6BE7-A45D-6A1F-C1EE5F4AED42}"/>
              </a:ext>
            </a:extLst>
          </p:cNvPr>
          <p:cNvSpPr/>
          <p:nvPr/>
        </p:nvSpPr>
        <p:spPr>
          <a:xfrm>
            <a:off x="623454" y="2829568"/>
            <a:ext cx="10751128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It’s impossible to get the True timestamp.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43BC77-DCAD-88A3-AE02-DE7F3BD4BD40}"/>
              </a:ext>
            </a:extLst>
          </p:cNvPr>
          <p:cNvSpPr txBox="1"/>
          <p:nvPr/>
        </p:nvSpPr>
        <p:spPr>
          <a:xfrm>
            <a:off x="889474" y="3788772"/>
            <a:ext cx="102190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i.e., impossible to remove all the error from clocks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FAF4C24-FF1A-64D3-EACB-A25A4467322D}"/>
              </a:ext>
            </a:extLst>
          </p:cNvPr>
          <p:cNvSpPr/>
          <p:nvPr/>
        </p:nvSpPr>
        <p:spPr>
          <a:xfrm>
            <a:off x="623454" y="4435103"/>
            <a:ext cx="11018781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we can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highlight>
                  <a:srgbClr val="FFFF00"/>
                </a:highlight>
                <a:uLnTx/>
                <a:uFillTx/>
                <a:latin typeface="Aptos" panose="02110004020202020204"/>
                <a:ea typeface="+mn-ea"/>
                <a:cs typeface="+mn-cs"/>
              </a:rPr>
              <a:t>compare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97132">
                    <a:lumMod val="20000"/>
                    <a:lumOff val="8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two True timestamps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56A1BCF8-5391-CBA1-F6CB-BE4FFD13B1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7225" y="1899927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AA02EF-970F-F74F-1E31-A5A128296F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56782" y="1899927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17E4295-B461-3390-5104-0A06DD9AB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12003" y="1899927"/>
            <a:ext cx="914400" cy="914400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55705BE-6C8E-1A69-CC8E-E2AA41245518}"/>
              </a:ext>
            </a:extLst>
          </p:cNvPr>
          <p:cNvSpPr/>
          <p:nvPr/>
        </p:nvSpPr>
        <p:spPr>
          <a:xfrm>
            <a:off x="623453" y="5545338"/>
            <a:ext cx="11018780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Enabled by treating time as a Random Variable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FD4E88-32BD-0D72-B59F-15B6EDAA0427}"/>
              </a:ext>
            </a:extLst>
          </p:cNvPr>
          <p:cNvSpPr/>
          <p:nvPr/>
        </p:nvSpPr>
        <p:spPr>
          <a:xfrm>
            <a:off x="314510" y="561804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AA1249CE-0063-4777-1DC7-0B6D9CC4E60D}"/>
              </a:ext>
            </a:extLst>
          </p:cNvPr>
          <p:cNvSpPr/>
          <p:nvPr/>
        </p:nvSpPr>
        <p:spPr>
          <a:xfrm>
            <a:off x="2940296" y="561804"/>
            <a:ext cx="3422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0265452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bg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3A4067F-B256-7FFF-80EA-71F5965B24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2697" y="2558167"/>
            <a:ext cx="3758184" cy="339517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1C509D9-0A19-183B-A5CC-945549BA4C87}"/>
              </a:ext>
            </a:extLst>
          </p:cNvPr>
          <p:cNvSpPr txBox="1"/>
          <p:nvPr/>
        </p:nvSpPr>
        <p:spPr>
          <a:xfrm>
            <a:off x="4619244" y="5516434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0D1B925-E730-6E51-112F-AD0B8894B9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0881" y="2558167"/>
            <a:ext cx="3758184" cy="3224351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743A391-0E9C-EAEF-B09B-7F8B385CFEDC}"/>
              </a:ext>
            </a:extLst>
          </p:cNvPr>
          <p:cNvSpPr txBox="1"/>
          <p:nvPr/>
        </p:nvSpPr>
        <p:spPr>
          <a:xfrm>
            <a:off x="8611859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General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5D1D0F-CC4B-DC90-60EF-4D1BB6B752AA}"/>
              </a:ext>
            </a:extLst>
          </p:cNvPr>
          <p:cNvSpPr txBox="1"/>
          <p:nvPr/>
        </p:nvSpPr>
        <p:spPr>
          <a:xfrm>
            <a:off x="5434144" y="3122100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  <p:bldP spid="13" grpId="0"/>
      <p:bldP spid="15" grpId="0"/>
      <p:bldP spid="1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249000" y="2838159"/>
            <a:ext cx="27185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386561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Error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CBEA3E-6E77-2B22-7179-1E0AE4CEA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F4B566-F7FC-5CC9-DC3A-A99627FC9311}"/>
              </a:ext>
            </a:extLst>
          </p:cNvPr>
          <p:cNvSpPr txBox="1"/>
          <p:nvPr/>
        </p:nvSpPr>
        <p:spPr>
          <a:xfrm>
            <a:off x="3894522" y="5364014"/>
            <a:ext cx="27378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Tommy, The Sequencer</a:t>
            </a:r>
          </a:p>
        </p:txBody>
      </p: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499C5-0E94-659D-EB50-AB35292D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01374AA2-FF9F-BF20-56AC-42B75D248B67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1E390A59-0100-E68C-C0CE-C528633D3A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307E1014-18F7-B967-3B32-8686102EF2F0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8ED11E5-3F71-99CC-AFCA-CE4BFB058D87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FDA3CB-6B8F-1DA3-49D2-0402D3418C54}"/>
              </a:ext>
            </a:extLst>
          </p:cNvPr>
          <p:cNvSpPr txBox="1"/>
          <p:nvPr/>
        </p:nvSpPr>
        <p:spPr>
          <a:xfrm>
            <a:off x="3402513" y="2346844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2FB84D-CDAF-FC73-F573-25904E267089}"/>
              </a:ext>
            </a:extLst>
          </p:cNvPr>
          <p:cNvSpPr txBox="1"/>
          <p:nvPr/>
        </p:nvSpPr>
        <p:spPr>
          <a:xfrm>
            <a:off x="7748218" y="2256791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191C93-ADB3-21C1-57A5-CE453466C998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21B8694-CFFF-4411-2B8E-FEF437A3DFDB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60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/>
      <p:bldP spid="21" grpId="0"/>
      <p:bldP spid="22" grpId="0"/>
      <p:bldP spid="2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447EA-2FEF-EA4A-9206-3CFE973DC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984D58A-9063-7A64-ACAD-5C9D71F2090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411DB6A-2AD3-413F-59DA-1F8C20673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202D6E31-C257-6FC7-A95D-1FD06735092D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675E6C-258F-782B-94AD-86D33EB04539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6DA0E0-D80C-1AE8-594A-A5454CCD3084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B1736C-614E-609D-A7AD-732E75B96B3B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DABA6E-F588-09BE-4DD7-F9A410E66123}"/>
              </a:ext>
            </a:extLst>
          </p:cNvPr>
          <p:cNvSpPr txBox="1"/>
          <p:nvPr/>
        </p:nvSpPr>
        <p:spPr>
          <a:xfrm>
            <a:off x="3416145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B4D119-9742-7DFD-1E56-54DB16C0B7E6}"/>
              </a:ext>
            </a:extLst>
          </p:cNvPr>
          <p:cNvSpPr txBox="1"/>
          <p:nvPr/>
        </p:nvSpPr>
        <p:spPr>
          <a:xfrm>
            <a:off x="7761850" y="2900376"/>
            <a:ext cx="762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endParaRPr lang="en-US" sz="4000" baseline="30000" dirty="0">
              <a:solidFill>
                <a:srgbClr val="92D050"/>
              </a:solidFill>
            </a:endParaRP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8AB9579A-82E1-0F6F-FD62-CD91330DD2FF}"/>
              </a:ext>
            </a:extLst>
          </p:cNvPr>
          <p:cNvSpPr/>
          <p:nvPr/>
        </p:nvSpPr>
        <p:spPr>
          <a:xfrm rot="7869556">
            <a:off x="5448500" y="2233244"/>
            <a:ext cx="423211" cy="216928"/>
          </a:xfrm>
          <a:custGeom>
            <a:avLst/>
            <a:gdLst>
              <a:gd name="connsiteX0" fmla="*/ 0 w 423211"/>
              <a:gd name="connsiteY0" fmla="*/ 54232 h 216928"/>
              <a:gd name="connsiteX1" fmla="*/ 314747 w 423211"/>
              <a:gd name="connsiteY1" fmla="*/ 54232 h 216928"/>
              <a:gd name="connsiteX2" fmla="*/ 314747 w 423211"/>
              <a:gd name="connsiteY2" fmla="*/ 0 h 216928"/>
              <a:gd name="connsiteX3" fmla="*/ 423211 w 423211"/>
              <a:gd name="connsiteY3" fmla="*/ 108464 h 216928"/>
              <a:gd name="connsiteX4" fmla="*/ 314747 w 423211"/>
              <a:gd name="connsiteY4" fmla="*/ 216928 h 216928"/>
              <a:gd name="connsiteX5" fmla="*/ 314747 w 423211"/>
              <a:gd name="connsiteY5" fmla="*/ 162696 h 216928"/>
              <a:gd name="connsiteX6" fmla="*/ 0 w 423211"/>
              <a:gd name="connsiteY6" fmla="*/ 162696 h 216928"/>
              <a:gd name="connsiteX7" fmla="*/ 0 w 423211"/>
              <a:gd name="connsiteY7" fmla="*/ 54232 h 2169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23211" h="216928" fill="none" extrusionOk="0">
                <a:moveTo>
                  <a:pt x="0" y="54232"/>
                </a:moveTo>
                <a:cubicBezTo>
                  <a:pt x="90902" y="23309"/>
                  <a:pt x="249470" y="91515"/>
                  <a:pt x="314747" y="54232"/>
                </a:cubicBezTo>
                <a:cubicBezTo>
                  <a:pt x="314650" y="27257"/>
                  <a:pt x="319151" y="22688"/>
                  <a:pt x="314747" y="0"/>
                </a:cubicBezTo>
                <a:cubicBezTo>
                  <a:pt x="379780" y="41792"/>
                  <a:pt x="376828" y="66652"/>
                  <a:pt x="423211" y="108464"/>
                </a:cubicBezTo>
                <a:cubicBezTo>
                  <a:pt x="399342" y="141093"/>
                  <a:pt x="356098" y="168589"/>
                  <a:pt x="314747" y="216928"/>
                </a:cubicBezTo>
                <a:cubicBezTo>
                  <a:pt x="309083" y="201207"/>
                  <a:pt x="320633" y="178389"/>
                  <a:pt x="314747" y="162696"/>
                </a:cubicBezTo>
                <a:cubicBezTo>
                  <a:pt x="198552" y="170425"/>
                  <a:pt x="124517" y="146478"/>
                  <a:pt x="0" y="162696"/>
                </a:cubicBezTo>
                <a:cubicBezTo>
                  <a:pt x="-8018" y="125137"/>
                  <a:pt x="755" y="101815"/>
                  <a:pt x="0" y="54232"/>
                </a:cubicBezTo>
                <a:close/>
              </a:path>
              <a:path w="423211" h="216928" stroke="0" extrusionOk="0">
                <a:moveTo>
                  <a:pt x="0" y="54232"/>
                </a:moveTo>
                <a:cubicBezTo>
                  <a:pt x="78323" y="53165"/>
                  <a:pt x="246022" y="88998"/>
                  <a:pt x="314747" y="54232"/>
                </a:cubicBezTo>
                <a:cubicBezTo>
                  <a:pt x="310352" y="29898"/>
                  <a:pt x="321101" y="20450"/>
                  <a:pt x="314747" y="0"/>
                </a:cubicBezTo>
                <a:cubicBezTo>
                  <a:pt x="364285" y="43923"/>
                  <a:pt x="374152" y="68221"/>
                  <a:pt x="423211" y="108464"/>
                </a:cubicBezTo>
                <a:cubicBezTo>
                  <a:pt x="395760" y="150713"/>
                  <a:pt x="365371" y="161730"/>
                  <a:pt x="314747" y="216928"/>
                </a:cubicBezTo>
                <a:cubicBezTo>
                  <a:pt x="308547" y="194576"/>
                  <a:pt x="317745" y="180669"/>
                  <a:pt x="314747" y="162696"/>
                </a:cubicBezTo>
                <a:cubicBezTo>
                  <a:pt x="207549" y="171482"/>
                  <a:pt x="131607" y="126289"/>
                  <a:pt x="0" y="162696"/>
                </a:cubicBezTo>
                <a:cubicBezTo>
                  <a:pt x="-7035" y="125314"/>
                  <a:pt x="8709" y="106107"/>
                  <a:pt x="0" y="54232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C11342-B52C-D904-ECDC-9B0A446B907C}"/>
              </a:ext>
            </a:extLst>
          </p:cNvPr>
          <p:cNvSpPr txBox="1"/>
          <p:nvPr/>
        </p:nvSpPr>
        <p:spPr>
          <a:xfrm>
            <a:off x="5439175" y="1833278"/>
            <a:ext cx="12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clock error</a:t>
            </a:r>
          </a:p>
        </p:txBody>
      </p:sp>
    </p:spTree>
    <p:extLst>
      <p:ext uri="{BB962C8B-B14F-4D97-AF65-F5344CB8AC3E}">
        <p14:creationId xmlns:p14="http://schemas.microsoft.com/office/powerpoint/2010/main" val="4172095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4FC07-926E-A720-6F1E-16555E714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45134AC-EC8D-1E2E-4623-974763061ADC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9967EBF-EA05-702C-DCAE-B663AAC25D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B34C01AC-DB0D-693C-5A6A-89BB18F0F2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192337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70330021-9A5E-6C3C-0780-9E870A61AA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15684" y="3908489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9E6896BD-B6FD-3D40-C863-8FD487CFD1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4624120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2B1CD507-E5C8-62CC-1E7E-3A78B395D7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62027" y="5327175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040BED6B-BD67-8153-816C-2E328C9BE6CE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C268BB-C6FD-221D-AB0A-10AA6AD6576B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6A4B6-2A14-A47E-2423-46AAE6DF7822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A45ADE-7A97-DB8A-C9D7-D11C1C321223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097351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A8B14-4F0A-1E96-423B-86C0C2815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70F382A3-ACBE-B5C4-E768-FE44192A0ED5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673E228-BADE-E7C0-E3FC-0285E544C5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pic>
        <p:nvPicPr>
          <p:cNvPr id="3" name="Picture 10">
            <a:extLst>
              <a:ext uri="{FF2B5EF4-FFF2-40B4-BE49-F238E27FC236}">
                <a16:creationId xmlns:a16="http://schemas.microsoft.com/office/drawing/2014/main" id="{0B5EA0A7-FC39-CDBD-43A9-8F757EBE9C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3464494"/>
            <a:ext cx="5234139" cy="59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2">
            <a:extLst>
              <a:ext uri="{FF2B5EF4-FFF2-40B4-BE49-F238E27FC236}">
                <a16:creationId xmlns:a16="http://schemas.microsoft.com/office/drawing/2014/main" id="{32D48432-B4DF-4214-6DEE-58DB84C753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324" y="4180646"/>
            <a:ext cx="5350037" cy="597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4">
            <a:extLst>
              <a:ext uri="{FF2B5EF4-FFF2-40B4-BE49-F238E27FC236}">
                <a16:creationId xmlns:a16="http://schemas.microsoft.com/office/drawing/2014/main" id="{E1A352D5-F4B0-EB34-2634-3E0DCAC52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4896278"/>
            <a:ext cx="3747761" cy="586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B2ED3B2-4718-3FDC-738F-7D8BDFADF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3667" y="5599333"/>
            <a:ext cx="4100956" cy="929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BFB0881-64C7-C5EA-B76A-01E08172BDAA}"/>
              </a:ext>
            </a:extLst>
          </p:cNvPr>
          <p:cNvGrpSpPr/>
          <p:nvPr/>
        </p:nvGrpSpPr>
        <p:grpSpPr>
          <a:xfrm>
            <a:off x="6417837" y="4180646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E9E1714-0DBA-7C5F-D7A0-D5E66DD7223A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D136285-4A22-4D09-6E60-E2A6D9D047E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/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28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28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28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28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28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6DF81BE-7EB8-39FD-F708-CF17D45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5206" y="3538974"/>
                <a:ext cx="2859720" cy="523220"/>
              </a:xfrm>
              <a:prstGeom prst="rect">
                <a:avLst/>
              </a:prstGeom>
              <a:blipFill>
                <a:blip r:embed="rId8"/>
                <a:stretch>
                  <a:fillRect l="-1327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Oval 1">
            <a:extLst>
              <a:ext uri="{FF2B5EF4-FFF2-40B4-BE49-F238E27FC236}">
                <a16:creationId xmlns:a16="http://schemas.microsoft.com/office/drawing/2014/main" id="{A1A11BC1-FDD7-1CF2-59CF-61C13A387DCB}"/>
              </a:ext>
            </a:extLst>
          </p:cNvPr>
          <p:cNvSpPr/>
          <p:nvPr/>
        </p:nvSpPr>
        <p:spPr>
          <a:xfrm>
            <a:off x="3072853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8890E59-05F1-0CB3-CCF8-8AF611BAB392}"/>
              </a:ext>
            </a:extLst>
          </p:cNvPr>
          <p:cNvSpPr/>
          <p:nvPr/>
        </p:nvSpPr>
        <p:spPr>
          <a:xfrm>
            <a:off x="7331912" y="134389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A247E8-4583-5C14-C3CD-F69634A1281F}"/>
              </a:ext>
            </a:extLst>
          </p:cNvPr>
          <p:cNvSpPr txBox="1"/>
          <p:nvPr/>
        </p:nvSpPr>
        <p:spPr>
          <a:xfrm>
            <a:off x="3402512" y="2346844"/>
            <a:ext cx="3546928" cy="1118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T</a:t>
            </a:r>
            <a:r>
              <a:rPr lang="en-US" sz="4000" baseline="-25000" dirty="0">
                <a:solidFill>
                  <a:srgbClr val="FF0000"/>
                </a:solidFill>
              </a:rPr>
              <a:t>i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>
                <a:solidFill>
                  <a:srgbClr val="92D050"/>
                </a:solidFill>
              </a:rPr>
              <a:t>T</a:t>
            </a:r>
            <a:r>
              <a:rPr lang="en-US" sz="4000" baseline="-25000" dirty="0">
                <a:solidFill>
                  <a:srgbClr val="92D050"/>
                </a:solidFill>
              </a:rPr>
              <a:t>i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i</a:t>
            </a:r>
            <a:endParaRPr lang="en-US" sz="4000" baseline="30000" dirty="0">
              <a:solidFill>
                <a:srgbClr val="92D050"/>
              </a:solidFill>
            </a:endParaRPr>
          </a:p>
          <a:p>
            <a:endParaRPr lang="en-US" sz="4000" baseline="30000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7DAC7C-0CDE-93A9-4AF7-E2967D3DCAE5}"/>
              </a:ext>
            </a:extLst>
          </p:cNvPr>
          <p:cNvSpPr txBox="1"/>
          <p:nvPr/>
        </p:nvSpPr>
        <p:spPr>
          <a:xfrm>
            <a:off x="7748217" y="2256791"/>
            <a:ext cx="34459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err="1">
                <a:solidFill>
                  <a:srgbClr val="FF0000"/>
                </a:solidFill>
              </a:rPr>
              <a:t>T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baseline="30000" dirty="0">
                <a:solidFill>
                  <a:srgbClr val="FF0000"/>
                </a:solidFill>
              </a:rPr>
              <a:t>*</a:t>
            </a:r>
            <a:r>
              <a:rPr lang="en-US" sz="4000" dirty="0">
                <a:solidFill>
                  <a:srgbClr val="FF0000"/>
                </a:solidFill>
              </a:rPr>
              <a:t> = </a:t>
            </a:r>
            <a:r>
              <a:rPr lang="en-US" sz="4000" dirty="0" err="1">
                <a:solidFill>
                  <a:srgbClr val="92D050"/>
                </a:solidFill>
              </a:rPr>
              <a:t>T</a:t>
            </a:r>
            <a:r>
              <a:rPr lang="en-US" sz="4000" baseline="-25000" dirty="0" err="1">
                <a:solidFill>
                  <a:srgbClr val="92D050"/>
                </a:solidFill>
              </a:rPr>
              <a:t>j</a:t>
            </a:r>
            <a:r>
              <a:rPr lang="en-US" sz="4000" baseline="-25000" dirty="0">
                <a:solidFill>
                  <a:srgbClr val="92D050"/>
                </a:solidFill>
              </a:rPr>
              <a:t> </a:t>
            </a:r>
            <a:r>
              <a:rPr lang="en-US" sz="4000" dirty="0">
                <a:solidFill>
                  <a:srgbClr val="92D050"/>
                </a:solidFill>
              </a:rPr>
              <a:t>+ </a:t>
            </a:r>
            <a:r>
              <a:rPr lang="en-US" sz="4000" dirty="0" err="1">
                <a:solidFill>
                  <a:srgbClr val="FF0000"/>
                </a:solidFill>
              </a:rPr>
              <a:t>θ</a:t>
            </a:r>
            <a:r>
              <a:rPr lang="en-US" sz="4000" baseline="-25000" dirty="0" err="1">
                <a:solidFill>
                  <a:srgbClr val="FF0000"/>
                </a:solidFill>
              </a:rPr>
              <a:t>j</a:t>
            </a:r>
            <a:r>
              <a:rPr lang="en-US" sz="4000" dirty="0">
                <a:solidFill>
                  <a:srgbClr val="92D050"/>
                </a:solidFill>
              </a:rPr>
              <a:t> </a:t>
            </a:r>
            <a:endParaRPr lang="en-US" sz="4000" baseline="30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406159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30536-51FC-8757-8016-A665A2C4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44ADCF90-5E75-F266-5254-6D3125F46BD9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BF7CFEF-376C-ABC2-6C05-C7B29774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725FEC66-3E0A-7E64-893B-5F0760C4D61E}"/>
              </a:ext>
            </a:extLst>
          </p:cNvPr>
          <p:cNvSpPr/>
          <p:nvPr/>
        </p:nvSpPr>
        <p:spPr>
          <a:xfrm>
            <a:off x="1596371" y="16242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2F801F7-2503-A7AD-7E80-686A572DB40B}"/>
              </a:ext>
            </a:extLst>
          </p:cNvPr>
          <p:cNvSpPr/>
          <p:nvPr/>
        </p:nvSpPr>
        <p:spPr>
          <a:xfrm>
            <a:off x="1596370" y="2812047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1C5EEFF-D09A-162D-8E27-D87E31892013}"/>
              </a:ext>
            </a:extLst>
          </p:cNvPr>
          <p:cNvGrpSpPr/>
          <p:nvPr/>
        </p:nvGrpSpPr>
        <p:grpSpPr>
          <a:xfrm>
            <a:off x="3338945" y="1814598"/>
            <a:ext cx="5250873" cy="1614402"/>
            <a:chOff x="6096000" y="4772543"/>
            <a:chExt cx="5250873" cy="161440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2CD8C034-ABA6-4461-2F9E-AA0E37F5CDE4}"/>
                </a:ext>
              </a:extLst>
            </p:cNvPr>
            <p:cNvSpPr/>
            <p:nvPr/>
          </p:nvSpPr>
          <p:spPr>
            <a:xfrm>
              <a:off x="6096000" y="4772543"/>
              <a:ext cx="5250873" cy="1614402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42B7035-E744-449C-A7F2-FF728E81E19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72" t="63560" r="8395"/>
            <a:stretch>
              <a:fillRect/>
            </a:stretch>
          </p:blipFill>
          <p:spPr bwMode="auto">
            <a:xfrm>
              <a:off x="6449195" y="4943193"/>
              <a:ext cx="4548515" cy="132556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CE795454-60AF-CF1D-39BF-DB33211D7E12}"/>
              </a:ext>
            </a:extLst>
          </p:cNvPr>
          <p:cNvSpPr/>
          <p:nvPr/>
        </p:nvSpPr>
        <p:spPr>
          <a:xfrm>
            <a:off x="1596369" y="3999823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56198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816DA-46F4-FC44-495F-83024AC43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EA8E38F6-5C18-191C-9107-81A15BF25BD6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3B26F944-3B9F-2EF8-DF79-84950969D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20D9A57D-992D-07B3-4D8D-FBCB9EC90D32}"/>
              </a:ext>
            </a:extLst>
          </p:cNvPr>
          <p:cNvSpPr/>
          <p:nvPr/>
        </p:nvSpPr>
        <p:spPr>
          <a:xfrm>
            <a:off x="3590670" y="3414720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ECA02CA-8077-33DB-C7C5-AD40AB941F75}"/>
              </a:ext>
            </a:extLst>
          </p:cNvPr>
          <p:cNvSpPr/>
          <p:nvPr/>
        </p:nvSpPr>
        <p:spPr>
          <a:xfrm>
            <a:off x="5835862" y="24314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FDDC5A6-4292-49AE-D5FF-CA19D963D3C3}"/>
              </a:ext>
            </a:extLst>
          </p:cNvPr>
          <p:cNvSpPr/>
          <p:nvPr/>
        </p:nvSpPr>
        <p:spPr>
          <a:xfrm>
            <a:off x="7419075" y="4121727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A7A7550-D6A2-0CB6-17D8-94B7A3B537E9}"/>
              </a:ext>
            </a:extLst>
          </p:cNvPr>
          <p:cNvGrpSpPr/>
          <p:nvPr/>
        </p:nvGrpSpPr>
        <p:grpSpPr>
          <a:xfrm>
            <a:off x="4802227" y="2741675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7E8EA1AE-8F97-CF1C-3BDE-A8865E42191C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EB63DED-8621-73EA-5A78-514E9BB15BA3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4E89EC-960D-3D93-A582-801F7D03CAF4}"/>
              </a:ext>
            </a:extLst>
          </p:cNvPr>
          <p:cNvGrpSpPr/>
          <p:nvPr/>
        </p:nvGrpSpPr>
        <p:grpSpPr>
          <a:xfrm rot="4635828">
            <a:off x="7076314" y="3379492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CC60C383-228D-8C55-A107-AA46C6071BA8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59FEDF3-C273-E3F4-E9C8-C6C0A111335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9E8970F-A47B-7705-0442-C7AAE46ED2C2}"/>
              </a:ext>
            </a:extLst>
          </p:cNvPr>
          <p:cNvGrpSpPr/>
          <p:nvPr/>
        </p:nvGrpSpPr>
        <p:grpSpPr>
          <a:xfrm rot="12992908">
            <a:off x="5434993" y="4369667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1680835E-947C-224D-8D63-EF71EF36D182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B517BDCD-16CD-6911-AA1B-7725ACB1F355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363655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E6BD-562B-2F2D-F8C4-4EA6173ED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3D9A77CF-4C53-7A1C-5127-FA4073B5C81E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EB80C9CB-9271-1352-DD62-668ED2E3C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D25E3446-D008-BEAC-7BF8-2D00462ACFB2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56AA5BC-406A-CD79-9951-0E731CA12F40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724C0EE7-19D6-B97D-2101-D2E5D08F7A68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F29F75-6859-7C9F-1A1D-06C9D8365746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D454C1F2-B6FC-D8A2-8E57-7E0EF036B0F7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5707B45-8681-6B39-FAFE-368B3364E4F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34118AE6-7650-D5BB-560E-52FCDF9DE22D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2E48BF5F-F065-B8A3-21AF-715D1276318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191F744-840B-A3DD-CD76-07B48076A152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DE029DC-DDD1-E689-2522-0ED47B43745D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6B482F35-65BC-C8C3-5CE1-185C3A9E19E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7E43972-AB0C-2E0D-9816-864806BDA0AC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50F6EB4-5CC3-5CC4-2D02-62C9F3D3F420}"/>
              </a:ext>
            </a:extLst>
          </p:cNvPr>
          <p:cNvSpPr/>
          <p:nvPr/>
        </p:nvSpPr>
        <p:spPr>
          <a:xfrm>
            <a:off x="6525491" y="2780114"/>
            <a:ext cx="5275082" cy="210361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      relation is not necessarily transitive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D5A847C-FABB-F60E-5799-3F22A4FB3C8B}"/>
              </a:ext>
            </a:extLst>
          </p:cNvPr>
          <p:cNvGrpSpPr/>
          <p:nvPr/>
        </p:nvGrpSpPr>
        <p:grpSpPr>
          <a:xfrm rot="1285113">
            <a:off x="7080802" y="3029887"/>
            <a:ext cx="785406" cy="798225"/>
            <a:chOff x="4802227" y="2741675"/>
            <a:chExt cx="785406" cy="798225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55CC8A4F-6E49-E334-4EC3-FF49A2CA98E3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937BA2D-417A-0877-C509-39EC0A385880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239527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017FC9-F99E-EE5C-2289-CD162BEB4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BBB40C04-FCA5-B7F7-1D59-223B7EB6CF9F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DB9033D5-EE9F-B412-07D5-4523C82551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8C14521A-42BD-6696-F44A-E85E9457E76F}"/>
              </a:ext>
            </a:extLst>
          </p:cNvPr>
          <p:cNvSpPr/>
          <p:nvPr/>
        </p:nvSpPr>
        <p:spPr>
          <a:xfrm>
            <a:off x="722342" y="3376219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79E4DA6-46B5-9B7A-8E98-F8B94B128559}"/>
              </a:ext>
            </a:extLst>
          </p:cNvPr>
          <p:cNvSpPr/>
          <p:nvPr/>
        </p:nvSpPr>
        <p:spPr>
          <a:xfrm>
            <a:off x="2967534" y="2392971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0F0AB57-11ED-838E-05FC-4BCDEE1BE6FF}"/>
              </a:ext>
            </a:extLst>
          </p:cNvPr>
          <p:cNvSpPr/>
          <p:nvPr/>
        </p:nvSpPr>
        <p:spPr>
          <a:xfrm>
            <a:off x="4550747" y="4083226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CCEDEB0-A57E-9CEF-26A9-22F061137A0B}"/>
              </a:ext>
            </a:extLst>
          </p:cNvPr>
          <p:cNvGrpSpPr/>
          <p:nvPr/>
        </p:nvGrpSpPr>
        <p:grpSpPr>
          <a:xfrm>
            <a:off x="1933899" y="2703174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0EF99F43-FABC-D900-DBEF-EA460CC9A65D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DCEBDF9-CEE3-C0AF-CE8E-44CBFCDD9DC6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00240F1-3072-45D9-AE1C-93D38E39EA30}"/>
              </a:ext>
            </a:extLst>
          </p:cNvPr>
          <p:cNvGrpSpPr/>
          <p:nvPr/>
        </p:nvGrpSpPr>
        <p:grpSpPr>
          <a:xfrm rot="4635828">
            <a:off x="4207986" y="3340991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1C2AB430-6DBB-08D2-9F0F-6206997F623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47984A-31D8-EC60-D862-436F60D021CE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2A630968-6BE8-DBD1-3DDB-D00C172711DB}"/>
              </a:ext>
            </a:extLst>
          </p:cNvPr>
          <p:cNvGrpSpPr/>
          <p:nvPr/>
        </p:nvGrpSpPr>
        <p:grpSpPr>
          <a:xfrm rot="12992908">
            <a:off x="2566665" y="4331166"/>
            <a:ext cx="785406" cy="798225"/>
            <a:chOff x="4802228" y="2741675"/>
            <a:chExt cx="785406" cy="798225"/>
          </a:xfrm>
        </p:grpSpPr>
        <p:sp>
          <p:nvSpPr>
            <p:cNvPr id="13" name="Right Arrow 12">
              <a:extLst>
                <a:ext uri="{FF2B5EF4-FFF2-40B4-BE49-F238E27FC236}">
                  <a16:creationId xmlns:a16="http://schemas.microsoft.com/office/drawing/2014/main" id="{E6979CFC-BBCE-0C91-1C35-98A153C84475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08BFAA5-81D8-14E8-1468-8E4DBB5B879D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F760CDE-A511-C716-4BDE-71A864CD834D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7" name="Rounded Rectangle 16">
                <a:extLst>
                  <a:ext uri="{FF2B5EF4-FFF2-40B4-BE49-F238E27FC236}">
                    <a16:creationId xmlns:a16="http://schemas.microsoft.com/office/drawing/2014/main" id="{6BBA089F-A923-DA85-0BB1-C9D7961D09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D6A11876-BA67-8129-0913-AA22CE308374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97E25D4-508C-631B-BD9B-A7AEA10CE868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427141F-68FC-24A3-1EE3-B95CEDC9704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24" name="Cross 23">
            <a:extLst>
              <a:ext uri="{FF2B5EF4-FFF2-40B4-BE49-F238E27FC236}">
                <a16:creationId xmlns:a16="http://schemas.microsoft.com/office/drawing/2014/main" id="{993E48F0-988C-509B-6DA2-AA8A5B9AE758}"/>
              </a:ext>
            </a:extLst>
          </p:cNvPr>
          <p:cNvSpPr/>
          <p:nvPr/>
        </p:nvSpPr>
        <p:spPr>
          <a:xfrm rot="2237817">
            <a:off x="2720483" y="4274608"/>
            <a:ext cx="648453" cy="643362"/>
          </a:xfrm>
          <a:custGeom>
            <a:avLst/>
            <a:gdLst>
              <a:gd name="connsiteX0" fmla="*/ 0 w 648453"/>
              <a:gd name="connsiteY0" fmla="*/ 262485 h 643362"/>
              <a:gd name="connsiteX1" fmla="*/ 262485 w 648453"/>
              <a:gd name="connsiteY1" fmla="*/ 262485 h 643362"/>
              <a:gd name="connsiteX2" fmla="*/ 262485 w 648453"/>
              <a:gd name="connsiteY2" fmla="*/ 0 h 643362"/>
              <a:gd name="connsiteX3" fmla="*/ 385968 w 648453"/>
              <a:gd name="connsiteY3" fmla="*/ 0 h 643362"/>
              <a:gd name="connsiteX4" fmla="*/ 385968 w 648453"/>
              <a:gd name="connsiteY4" fmla="*/ 262485 h 643362"/>
              <a:gd name="connsiteX5" fmla="*/ 648453 w 648453"/>
              <a:gd name="connsiteY5" fmla="*/ 262485 h 643362"/>
              <a:gd name="connsiteX6" fmla="*/ 648453 w 648453"/>
              <a:gd name="connsiteY6" fmla="*/ 380877 h 643362"/>
              <a:gd name="connsiteX7" fmla="*/ 385968 w 648453"/>
              <a:gd name="connsiteY7" fmla="*/ 380877 h 643362"/>
              <a:gd name="connsiteX8" fmla="*/ 385968 w 648453"/>
              <a:gd name="connsiteY8" fmla="*/ 643362 h 643362"/>
              <a:gd name="connsiteX9" fmla="*/ 262485 w 648453"/>
              <a:gd name="connsiteY9" fmla="*/ 643362 h 643362"/>
              <a:gd name="connsiteX10" fmla="*/ 262485 w 648453"/>
              <a:gd name="connsiteY10" fmla="*/ 380877 h 643362"/>
              <a:gd name="connsiteX11" fmla="*/ 0 w 648453"/>
              <a:gd name="connsiteY11" fmla="*/ 380877 h 643362"/>
              <a:gd name="connsiteX12" fmla="*/ 0 w 648453"/>
              <a:gd name="connsiteY12" fmla="*/ 262485 h 643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48453" h="643362" fill="none" extrusionOk="0">
                <a:moveTo>
                  <a:pt x="0" y="262485"/>
                </a:moveTo>
                <a:cubicBezTo>
                  <a:pt x="100452" y="244722"/>
                  <a:pt x="199426" y="271911"/>
                  <a:pt x="262485" y="262485"/>
                </a:cubicBezTo>
                <a:cubicBezTo>
                  <a:pt x="261042" y="141216"/>
                  <a:pt x="274129" y="57828"/>
                  <a:pt x="262485" y="0"/>
                </a:cubicBezTo>
                <a:cubicBezTo>
                  <a:pt x="321828" y="-13293"/>
                  <a:pt x="344811" y="5744"/>
                  <a:pt x="385968" y="0"/>
                </a:cubicBezTo>
                <a:cubicBezTo>
                  <a:pt x="409026" y="79650"/>
                  <a:pt x="367496" y="183870"/>
                  <a:pt x="385968" y="262485"/>
                </a:cubicBezTo>
                <a:cubicBezTo>
                  <a:pt x="509456" y="243028"/>
                  <a:pt x="565543" y="274383"/>
                  <a:pt x="648453" y="262485"/>
                </a:cubicBezTo>
                <a:cubicBezTo>
                  <a:pt x="657320" y="300685"/>
                  <a:pt x="637625" y="332447"/>
                  <a:pt x="648453" y="380877"/>
                </a:cubicBezTo>
                <a:cubicBezTo>
                  <a:pt x="560337" y="397149"/>
                  <a:pt x="452735" y="362711"/>
                  <a:pt x="385968" y="380877"/>
                </a:cubicBezTo>
                <a:cubicBezTo>
                  <a:pt x="395905" y="461472"/>
                  <a:pt x="376000" y="586326"/>
                  <a:pt x="385968" y="643362"/>
                </a:cubicBezTo>
                <a:cubicBezTo>
                  <a:pt x="357296" y="644967"/>
                  <a:pt x="304572" y="642762"/>
                  <a:pt x="262485" y="643362"/>
                </a:cubicBezTo>
                <a:cubicBezTo>
                  <a:pt x="247191" y="547928"/>
                  <a:pt x="265228" y="457522"/>
                  <a:pt x="262485" y="380877"/>
                </a:cubicBezTo>
                <a:cubicBezTo>
                  <a:pt x="135870" y="399458"/>
                  <a:pt x="79278" y="357470"/>
                  <a:pt x="0" y="380877"/>
                </a:cubicBezTo>
                <a:cubicBezTo>
                  <a:pt x="-720" y="328340"/>
                  <a:pt x="12951" y="315901"/>
                  <a:pt x="0" y="262485"/>
                </a:cubicBezTo>
                <a:close/>
              </a:path>
              <a:path w="648453" h="643362" stroke="0" extrusionOk="0">
                <a:moveTo>
                  <a:pt x="0" y="262485"/>
                </a:moveTo>
                <a:cubicBezTo>
                  <a:pt x="62850" y="259684"/>
                  <a:pt x="157933" y="277893"/>
                  <a:pt x="262485" y="262485"/>
                </a:cubicBezTo>
                <a:cubicBezTo>
                  <a:pt x="240606" y="155431"/>
                  <a:pt x="291358" y="125667"/>
                  <a:pt x="262485" y="0"/>
                </a:cubicBezTo>
                <a:cubicBezTo>
                  <a:pt x="322461" y="-14325"/>
                  <a:pt x="344820" y="693"/>
                  <a:pt x="385968" y="0"/>
                </a:cubicBezTo>
                <a:cubicBezTo>
                  <a:pt x="406832" y="56033"/>
                  <a:pt x="367980" y="153485"/>
                  <a:pt x="385968" y="262485"/>
                </a:cubicBezTo>
                <a:cubicBezTo>
                  <a:pt x="497710" y="255789"/>
                  <a:pt x="558675" y="272527"/>
                  <a:pt x="648453" y="262485"/>
                </a:cubicBezTo>
                <a:cubicBezTo>
                  <a:pt x="660605" y="290005"/>
                  <a:pt x="645894" y="354265"/>
                  <a:pt x="648453" y="380877"/>
                </a:cubicBezTo>
                <a:cubicBezTo>
                  <a:pt x="567935" y="382566"/>
                  <a:pt x="466505" y="350616"/>
                  <a:pt x="385968" y="380877"/>
                </a:cubicBezTo>
                <a:cubicBezTo>
                  <a:pt x="396801" y="494753"/>
                  <a:pt x="361195" y="558644"/>
                  <a:pt x="385968" y="643362"/>
                </a:cubicBezTo>
                <a:cubicBezTo>
                  <a:pt x="340274" y="643659"/>
                  <a:pt x="306812" y="631995"/>
                  <a:pt x="262485" y="643362"/>
                </a:cubicBezTo>
                <a:cubicBezTo>
                  <a:pt x="259239" y="565941"/>
                  <a:pt x="286532" y="438873"/>
                  <a:pt x="262485" y="380877"/>
                </a:cubicBezTo>
                <a:cubicBezTo>
                  <a:pt x="187918" y="387990"/>
                  <a:pt x="114569" y="364392"/>
                  <a:pt x="0" y="380877"/>
                </a:cubicBezTo>
                <a:cubicBezTo>
                  <a:pt x="-2232" y="348000"/>
                  <a:pt x="3995" y="311044"/>
                  <a:pt x="0" y="262485"/>
                </a:cubicBez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plus">
                    <a:avLst>
                      <a:gd name="adj" fmla="val 40799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95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xit" presetSubtype="1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3" presetClass="exit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4" grpId="1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33AB-DAA6-3FA4-4CB8-211B834C53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Oval 78">
            <a:extLst>
              <a:ext uri="{FF2B5EF4-FFF2-40B4-BE49-F238E27FC236}">
                <a16:creationId xmlns:a16="http://schemas.microsoft.com/office/drawing/2014/main" id="{261D79F7-2DBC-A0AF-1103-F07DD9D5A6B0}"/>
              </a:ext>
            </a:extLst>
          </p:cNvPr>
          <p:cNvSpPr/>
          <p:nvPr/>
        </p:nvSpPr>
        <p:spPr>
          <a:xfrm>
            <a:off x="3590670" y="430991"/>
            <a:ext cx="4237148" cy="912900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2461262C-367D-00C9-8C87-972D17382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599" y="541524"/>
            <a:ext cx="4099180" cy="709304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Oval 17">
            <a:extLst>
              <a:ext uri="{FF2B5EF4-FFF2-40B4-BE49-F238E27FC236}">
                <a16:creationId xmlns:a16="http://schemas.microsoft.com/office/drawing/2014/main" id="{4723A820-F6DC-3B40-9429-4A20B7127B54}"/>
              </a:ext>
            </a:extLst>
          </p:cNvPr>
          <p:cNvSpPr/>
          <p:nvPr/>
        </p:nvSpPr>
        <p:spPr>
          <a:xfrm>
            <a:off x="482635" y="2566696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 err="1">
                <a:solidFill>
                  <a:sysClr val="windowText" lastClr="000000"/>
                </a:solidFill>
              </a:rPr>
              <a:t>i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C314390-B191-59A7-5880-A76BF99C0522}"/>
              </a:ext>
            </a:extLst>
          </p:cNvPr>
          <p:cNvSpPr/>
          <p:nvPr/>
        </p:nvSpPr>
        <p:spPr>
          <a:xfrm>
            <a:off x="2609504" y="2520872"/>
            <a:ext cx="1191491" cy="997528"/>
          </a:xfrm>
          <a:prstGeom prst="ellipse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j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AD9DF61-F457-EAA9-C5AD-E328649BBED1}"/>
              </a:ext>
            </a:extLst>
          </p:cNvPr>
          <p:cNvSpPr/>
          <p:nvPr/>
        </p:nvSpPr>
        <p:spPr>
          <a:xfrm>
            <a:off x="4755937" y="2431472"/>
            <a:ext cx="1191491" cy="997528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ysClr val="windowText" lastClr="000000"/>
                </a:solidFill>
              </a:rPr>
              <a:t>k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A2B97F7-0401-BC7A-514A-F55336BC457D}"/>
              </a:ext>
            </a:extLst>
          </p:cNvPr>
          <p:cNvGrpSpPr/>
          <p:nvPr/>
        </p:nvGrpSpPr>
        <p:grpSpPr>
          <a:xfrm rot="1283654">
            <a:off x="1814102" y="2511053"/>
            <a:ext cx="785406" cy="798225"/>
            <a:chOff x="4802227" y="2741675"/>
            <a:chExt cx="785406" cy="798225"/>
          </a:xfrm>
        </p:grpSpPr>
        <p:sp>
          <p:nvSpPr>
            <p:cNvPr id="3" name="Right Arrow 2">
              <a:extLst>
                <a:ext uri="{FF2B5EF4-FFF2-40B4-BE49-F238E27FC236}">
                  <a16:creationId xmlns:a16="http://schemas.microsoft.com/office/drawing/2014/main" id="{462B2E5F-0CAC-D79C-76A0-EE3186F5A63B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2D3CB5B-F934-8B20-6CF8-F2F6E9C2E734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3487893-1C63-2ECB-4FA6-61845240EABC}"/>
              </a:ext>
            </a:extLst>
          </p:cNvPr>
          <p:cNvGrpSpPr/>
          <p:nvPr/>
        </p:nvGrpSpPr>
        <p:grpSpPr>
          <a:xfrm rot="1320095">
            <a:off x="3967009" y="2465883"/>
            <a:ext cx="785406" cy="798225"/>
            <a:chOff x="4802228" y="2741675"/>
            <a:chExt cx="785406" cy="798225"/>
          </a:xfrm>
        </p:grpSpPr>
        <p:sp>
          <p:nvSpPr>
            <p:cNvPr id="10" name="Right Arrow 9">
              <a:extLst>
                <a:ext uri="{FF2B5EF4-FFF2-40B4-BE49-F238E27FC236}">
                  <a16:creationId xmlns:a16="http://schemas.microsoft.com/office/drawing/2014/main" id="{EC4B7419-6107-7C4F-4272-24817B88B726}"/>
                </a:ext>
              </a:extLst>
            </p:cNvPr>
            <p:cNvSpPr/>
            <p:nvPr/>
          </p:nvSpPr>
          <p:spPr>
            <a:xfrm rot="20185536">
              <a:off x="4802228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C198DEF-87A7-9DC9-9A70-B5B5DEB66F8F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74AA686-FBCB-89BE-26F4-8DC10F63F571}"/>
              </a:ext>
            </a:extLst>
          </p:cNvPr>
          <p:cNvSpPr/>
          <p:nvPr/>
        </p:nvSpPr>
        <p:spPr>
          <a:xfrm>
            <a:off x="6130443" y="3700487"/>
            <a:ext cx="5554626" cy="1396607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4000" dirty="0">
              <a:solidFill>
                <a:schemeClr val="tx1"/>
              </a:solidFill>
            </a:endParaRPr>
          </a:p>
          <a:p>
            <a:pPr algn="ctr"/>
            <a:r>
              <a:rPr lang="en-US" sz="4000" dirty="0">
                <a:solidFill>
                  <a:schemeClr val="tx1"/>
                </a:solidFill>
              </a:rPr>
              <a:t>necessarily transitive!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10296DB-7B89-93B1-8769-C29D68DC0F55}"/>
              </a:ext>
            </a:extLst>
          </p:cNvPr>
          <p:cNvGrpSpPr/>
          <p:nvPr/>
        </p:nvGrpSpPr>
        <p:grpSpPr>
          <a:xfrm rot="1183258">
            <a:off x="8490795" y="3729900"/>
            <a:ext cx="785406" cy="798225"/>
            <a:chOff x="4802227" y="2741675"/>
            <a:chExt cx="785406" cy="798225"/>
          </a:xfrm>
        </p:grpSpPr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6AC0428-2233-2C3B-35FD-B86197A4B992}"/>
                </a:ext>
              </a:extLst>
            </p:cNvPr>
            <p:cNvSpPr/>
            <p:nvPr/>
          </p:nvSpPr>
          <p:spPr>
            <a:xfrm rot="20185536">
              <a:off x="4802227" y="3075251"/>
              <a:ext cx="785406" cy="464649"/>
            </a:xfrm>
            <a:custGeom>
              <a:avLst/>
              <a:gdLst>
                <a:gd name="connsiteX0" fmla="*/ 0 w 785406"/>
                <a:gd name="connsiteY0" fmla="*/ 197058 h 464649"/>
                <a:gd name="connsiteX1" fmla="*/ 582931 w 785406"/>
                <a:gd name="connsiteY1" fmla="*/ 197058 h 464649"/>
                <a:gd name="connsiteX2" fmla="*/ 582931 w 785406"/>
                <a:gd name="connsiteY2" fmla="*/ 0 h 464649"/>
                <a:gd name="connsiteX3" fmla="*/ 785406 w 785406"/>
                <a:gd name="connsiteY3" fmla="*/ 232325 h 464649"/>
                <a:gd name="connsiteX4" fmla="*/ 582931 w 785406"/>
                <a:gd name="connsiteY4" fmla="*/ 464649 h 464649"/>
                <a:gd name="connsiteX5" fmla="*/ 582931 w 785406"/>
                <a:gd name="connsiteY5" fmla="*/ 267591 h 464649"/>
                <a:gd name="connsiteX6" fmla="*/ 0 w 785406"/>
                <a:gd name="connsiteY6" fmla="*/ 267591 h 464649"/>
                <a:gd name="connsiteX7" fmla="*/ 0 w 785406"/>
                <a:gd name="connsiteY7" fmla="*/ 197058 h 4646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85406" h="464649" fill="none" extrusionOk="0">
                  <a:moveTo>
                    <a:pt x="0" y="197058"/>
                  </a:moveTo>
                  <a:cubicBezTo>
                    <a:pt x="240925" y="137101"/>
                    <a:pt x="323205" y="209291"/>
                    <a:pt x="582931" y="197058"/>
                  </a:cubicBezTo>
                  <a:cubicBezTo>
                    <a:pt x="573142" y="119539"/>
                    <a:pt x="597434" y="78814"/>
                    <a:pt x="582931" y="0"/>
                  </a:cubicBezTo>
                  <a:cubicBezTo>
                    <a:pt x="629906" y="51530"/>
                    <a:pt x="679400" y="158831"/>
                    <a:pt x="785406" y="232325"/>
                  </a:cubicBezTo>
                  <a:cubicBezTo>
                    <a:pt x="720094" y="349291"/>
                    <a:pt x="672404" y="357824"/>
                    <a:pt x="582931" y="464649"/>
                  </a:cubicBezTo>
                  <a:cubicBezTo>
                    <a:pt x="574907" y="398805"/>
                    <a:pt x="589299" y="330240"/>
                    <a:pt x="582931" y="267591"/>
                  </a:cubicBezTo>
                  <a:cubicBezTo>
                    <a:pt x="334449" y="321247"/>
                    <a:pt x="240017" y="264272"/>
                    <a:pt x="0" y="267591"/>
                  </a:cubicBezTo>
                  <a:cubicBezTo>
                    <a:pt x="-4556" y="237950"/>
                    <a:pt x="3596" y="213456"/>
                    <a:pt x="0" y="197058"/>
                  </a:cubicBezTo>
                  <a:close/>
                </a:path>
                <a:path w="785406" h="464649" stroke="0" extrusionOk="0">
                  <a:moveTo>
                    <a:pt x="0" y="197058"/>
                  </a:moveTo>
                  <a:cubicBezTo>
                    <a:pt x="269171" y="146981"/>
                    <a:pt x="295181" y="231192"/>
                    <a:pt x="582931" y="197058"/>
                  </a:cubicBezTo>
                  <a:cubicBezTo>
                    <a:pt x="578478" y="141635"/>
                    <a:pt x="583316" y="81855"/>
                    <a:pt x="582931" y="0"/>
                  </a:cubicBezTo>
                  <a:cubicBezTo>
                    <a:pt x="695833" y="92531"/>
                    <a:pt x="717200" y="163920"/>
                    <a:pt x="785406" y="232325"/>
                  </a:cubicBezTo>
                  <a:cubicBezTo>
                    <a:pt x="713874" y="324766"/>
                    <a:pt x="669575" y="348811"/>
                    <a:pt x="582931" y="464649"/>
                  </a:cubicBezTo>
                  <a:cubicBezTo>
                    <a:pt x="569082" y="403705"/>
                    <a:pt x="586580" y="335179"/>
                    <a:pt x="582931" y="267591"/>
                  </a:cubicBezTo>
                  <a:cubicBezTo>
                    <a:pt x="367625" y="304044"/>
                    <a:pt x="134825" y="241381"/>
                    <a:pt x="0" y="267591"/>
                  </a:cubicBezTo>
                  <a:cubicBezTo>
                    <a:pt x="-2869" y="235571"/>
                    <a:pt x="6181" y="226437"/>
                    <a:pt x="0" y="197058"/>
                  </a:cubicBezTo>
                  <a:close/>
                </a:path>
              </a:pathLst>
            </a:custGeom>
            <a:ln>
              <a:extLst>
                <a:ext uri="{C807C97D-BFC1-408E-A445-0C87EB9F89A2}">
                  <ask:lineSketchStyleProps xmlns:ask="http://schemas.microsoft.com/office/drawing/2018/sketchyshapes" sd="1219033472">
                    <a:prstGeom prst="rightArrow">
                      <a:avLst>
                        <a:gd name="adj1" fmla="val 15180"/>
                        <a:gd name="adj2" fmla="val 43576"/>
                      </a:avLst>
                    </a:pr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9F83B3E-D936-5AFC-E018-371084F4040B}"/>
                </a:ext>
              </a:extLst>
            </p:cNvPr>
            <p:cNvSpPr txBox="1"/>
            <p:nvPr/>
          </p:nvSpPr>
          <p:spPr>
            <a:xfrm rot="20229280">
              <a:off x="4854148" y="2741675"/>
              <a:ext cx="3417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dirty="0">
                  <a:latin typeface="Mistral" panose="03090702030407020403" pitchFamily="66" charset="0"/>
                </a:rPr>
                <a:t>P</a:t>
              </a:r>
              <a:endParaRPr lang="en-US" dirty="0">
                <a:latin typeface="Mistral" panose="03090702030407020403" pitchFamily="66" charset="0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/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r>
                      <a:rPr lang="en-US" sz="4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 err="1">
                    <a:solidFill>
                      <a:schemeClr val="tx1"/>
                    </a:solidFill>
                  </a:rPr>
                  <a:t>i</a:t>
                </a:r>
                <a:r>
                  <a:rPr lang="en-US" sz="40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sz="4000" baseline="-25000" dirty="0">
                    <a:solidFill>
                      <a:schemeClr val="tx1"/>
                    </a:solidFill>
                  </a:rPr>
                  <a:t>j</a:t>
                </a:r>
                <a:r>
                  <a:rPr lang="en-US" sz="4000" dirty="0">
                    <a:solidFill>
                      <a:schemeClr val="tx1"/>
                    </a:solidFill>
                  </a:rPr>
                  <a:t> ~ </a:t>
                </a:r>
                <a14:m>
                  <m:oMath xmlns:m="http://schemas.openxmlformats.org/officeDocument/2006/math"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𝒩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40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4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en-US" sz="40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72F3FE6B-F008-912E-7992-33B0BE3C1DF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0318" y="2255433"/>
                <a:ext cx="3535868" cy="1396607"/>
              </a:xfrm>
              <a:prstGeom prst="roundRect">
                <a:avLst/>
              </a:prstGeom>
              <a:blipFill>
                <a:blip r:embed="rId3"/>
                <a:stretch>
                  <a:fillRect l="-35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24771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2D835-6EC9-09BC-1450-35EDBAF9D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641B629-6791-10F9-C913-C6FFA11402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548F6B94-EDF5-3AA4-414C-8237277C4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E47311-E01C-F9BA-D2ED-CD570AC22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CA0C71B-849B-972F-CD06-FD04EF311B02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7C8B318-28EE-7EBF-3D2F-2F817CF748A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556DD1C-9F22-0FD8-9225-BEC3E86CBEC8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1557C94-022C-B191-4052-D66F98B6299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3F916E4-457F-22CA-B453-520471D86B7B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782916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B7DE859-2139-8458-7BDF-C2A9E5D7D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485067B-724D-8A63-066B-79714ADE2668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C5CF6B0-3AEE-4A39-B118-0F8762BCB5B9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2A91347-0717-DD8E-B507-572CA798173A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9B5538-1526-4B6F-56B5-24BB7DF5A034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2CBF3630-4A52-4428-57FD-B8C67A7D3F5D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4C30EAF-6CB1-3938-851B-EBA91987E38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0E931E9-0D6F-2A2F-743F-B5273E806EE6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A0FD426A-32C1-DD30-166F-BB4876EB6ABD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6D4BDCC-832A-38B9-3849-41E5044394AF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46185CC-48DB-DF6F-B162-49938C1D9FF1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05C872CF-9A72-8AD0-765F-85653B8820B1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8081B9B-605D-2A23-9BE3-ED5083DC5212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450D81D-A232-E765-E9AF-95C972F971CB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D9531940-13B7-2E28-E144-0A46DF1E4381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6E7CB78-1A6E-F1D4-2169-FD38CF2D743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94F6149-B47E-14C6-E476-C5E0E2FFA04D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AEE2991-B4EE-DBC3-4AD1-A2015AE82FBF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Each client: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D96C21-4057-C096-874D-564109EB9764}"/>
              </a:ext>
            </a:extLst>
          </p:cNvPr>
          <p:cNvSpPr txBox="1"/>
          <p:nvPr/>
        </p:nvSpPr>
        <p:spPr>
          <a:xfrm>
            <a:off x="3645876" y="2919173"/>
            <a:ext cx="804881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Generates a message at time 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Samples an error from the distribution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Adds error to t to get a simulated observed time t’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t’ and seeded distributions are shared with the sequencer</a:t>
            </a:r>
          </a:p>
        </p:txBody>
      </p:sp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1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9" grpId="0" animBg="1"/>
      <p:bldP spid="22" grpId="0" animBg="1"/>
      <p:bldP spid="25" grpId="0" animBg="1"/>
      <p:bldP spid="28" grpId="0"/>
      <p:bldP spid="29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1FF05D-EE58-24A7-0E08-6630743D2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EA9A115C-7ED2-D028-1E15-41DFF41C18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B287180E-4C0A-E5AA-EFE2-2E5703F6A7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1EF2B7-ED64-29BC-2EE9-2234F8A27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E5720EE-66C6-39B9-EDA9-F008ECFD8CDC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BE537B-E2C6-5B61-5F6B-7BDDBB80497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0C44D32-5DCE-F9EE-A168-D93D6D01D74F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CA04D40-7C10-D83C-52F6-25A26D37E0EF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500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CE8ADFE-C534-7912-584F-FA2FFC28BB32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0DEFC800-AA2D-667C-583E-91E3A74C3D20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981699-9FFD-4F16-3FF3-0A6CE94B017A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43965F-09FC-186F-7522-C871514D272D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0C93F9DA-9CC3-647A-3415-C50F69C32BCB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0BB6CCC-8498-6BCE-9490-44A489AF0A84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51BF64-F2F8-4A0F-26A8-AD2393C022A7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6B0604F4-1960-0358-263B-D7F69AD65243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AE3FA1A-69D1-046C-34DD-57C689014135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55E367E-88B7-74A6-A1C2-38764F04768A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6D32005C-4322-4D93-C5A9-01EBFC4EF9B7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B4DDE04-52E7-531E-61C5-971E75FBB8C5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C91FFA2-3A83-D0C1-2F55-5E1F5E30D160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77C37D1-AADE-5D78-D2BE-694C18AE7828}"/>
              </a:ext>
            </a:extLst>
          </p:cNvPr>
          <p:cNvSpPr txBox="1"/>
          <p:nvPr/>
        </p:nvSpPr>
        <p:spPr>
          <a:xfrm>
            <a:off x="3222363" y="2332960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Baseline: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/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Use Spanner’s </a:t>
                </a:r>
                <a:r>
                  <a:rPr lang="en-US" sz="2800" dirty="0" err="1"/>
                  <a:t>TrueTime</a:t>
                </a:r>
                <a:r>
                  <a:rPr lang="en-US" sz="2800" dirty="0"/>
                  <a:t> API to represent each observed timestamp as an interval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′−3</m:t>
                    </m:r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non-overlapping intervals can be ordered perfectly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overlapping intervals are left unordered i.e., given the same sequence number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EA6DFE-1005-5F2B-7333-80C615FE0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363" y="3009939"/>
                <a:ext cx="8616707" cy="2677656"/>
              </a:xfrm>
              <a:prstGeom prst="rect">
                <a:avLst/>
              </a:prstGeom>
              <a:blipFill>
                <a:blip r:embed="rId2"/>
                <a:stretch>
                  <a:fillRect l="-1176" t="-2844" b="-56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2851600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0B093CB-1FA2-146A-1409-2545E50AE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168C5F-E6D6-7E43-3741-3ADEB9C62B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05F22E1-9FD0-B6B3-F1DE-DBCF3537AA1F}"/>
              </a:ext>
            </a:extLst>
          </p:cNvPr>
          <p:cNvSpPr/>
          <p:nvPr/>
        </p:nvSpPr>
        <p:spPr>
          <a:xfrm>
            <a:off x="924025" y="2095539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1</a:t>
            </a:r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369DB1-BFB4-4466-748B-35D92492A2B7}"/>
              </a:ext>
            </a:extLst>
          </p:cNvPr>
          <p:cNvSpPr/>
          <p:nvPr/>
        </p:nvSpPr>
        <p:spPr>
          <a:xfrm>
            <a:off x="924025" y="3054546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2</a:t>
            </a:r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D4EC7BA-AB9B-67AF-240B-E7E1DC8EE2BD}"/>
              </a:ext>
            </a:extLst>
          </p:cNvPr>
          <p:cNvSpPr/>
          <p:nvPr/>
        </p:nvSpPr>
        <p:spPr>
          <a:xfrm>
            <a:off x="924025" y="4013553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3</a:t>
            </a:r>
            <a:endParaRPr lang="en-US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C48F988-9FCB-31DD-9547-75DEA9787AC8}"/>
              </a:ext>
            </a:extLst>
          </p:cNvPr>
          <p:cNvSpPr/>
          <p:nvPr/>
        </p:nvSpPr>
        <p:spPr>
          <a:xfrm>
            <a:off x="924025" y="5508704"/>
            <a:ext cx="914400" cy="9144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500</a:t>
            </a:r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61A03E4-81A9-01FD-7086-9884671A81F5}"/>
              </a:ext>
            </a:extLst>
          </p:cNvPr>
          <p:cNvCxnSpPr>
            <a:stCxn id="8" idx="4"/>
            <a:endCxn id="9" idx="0"/>
          </p:cNvCxnSpPr>
          <p:nvPr/>
        </p:nvCxnSpPr>
        <p:spPr>
          <a:xfrm>
            <a:off x="1381225" y="4927953"/>
            <a:ext cx="0" cy="580751"/>
          </a:xfrm>
          <a:prstGeom prst="line">
            <a:avLst/>
          </a:prstGeom>
          <a:ln w="571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>
            <a:extLst>
              <a:ext uri="{FF2B5EF4-FFF2-40B4-BE49-F238E27FC236}">
                <a16:creationId xmlns:a16="http://schemas.microsoft.com/office/drawing/2014/main" id="{6A7B64F5-83CB-2B4F-79B1-688EE894AB6E}"/>
              </a:ext>
            </a:extLst>
          </p:cNvPr>
          <p:cNvSpPr/>
          <p:nvPr/>
        </p:nvSpPr>
        <p:spPr>
          <a:xfrm>
            <a:off x="2103471" y="2332960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D639712-066C-384F-F464-5AB763472FE9}"/>
              </a:ext>
            </a:extLst>
          </p:cNvPr>
          <p:cNvCxnSpPr>
            <a:cxnSpLocks/>
          </p:cNvCxnSpPr>
          <p:nvPr/>
        </p:nvCxnSpPr>
        <p:spPr>
          <a:xfrm>
            <a:off x="2077943" y="2805092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2BC97D17-0D45-418D-50B7-9F0578F3D390}"/>
              </a:ext>
            </a:extLst>
          </p:cNvPr>
          <p:cNvCxnSpPr>
            <a:cxnSpLocks/>
          </p:cNvCxnSpPr>
          <p:nvPr/>
        </p:nvCxnSpPr>
        <p:spPr>
          <a:xfrm flipV="1">
            <a:off x="2077943" y="2332960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C9A6D07A-C8E5-91AF-7A53-66F830D0ACA6}"/>
              </a:ext>
            </a:extLst>
          </p:cNvPr>
          <p:cNvSpPr/>
          <p:nvPr/>
        </p:nvSpPr>
        <p:spPr>
          <a:xfrm>
            <a:off x="2103471" y="3213988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E613752-9E6F-88D4-9330-C98F0501B1CA}"/>
              </a:ext>
            </a:extLst>
          </p:cNvPr>
          <p:cNvCxnSpPr>
            <a:cxnSpLocks/>
          </p:cNvCxnSpPr>
          <p:nvPr/>
        </p:nvCxnSpPr>
        <p:spPr>
          <a:xfrm>
            <a:off x="2077943" y="3686120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2D8D513-E734-4D5B-01F2-CF91EFCAC93D}"/>
              </a:ext>
            </a:extLst>
          </p:cNvPr>
          <p:cNvCxnSpPr>
            <a:cxnSpLocks/>
          </p:cNvCxnSpPr>
          <p:nvPr/>
        </p:nvCxnSpPr>
        <p:spPr>
          <a:xfrm flipV="1">
            <a:off x="2077943" y="3213988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reeform 21">
            <a:extLst>
              <a:ext uri="{FF2B5EF4-FFF2-40B4-BE49-F238E27FC236}">
                <a16:creationId xmlns:a16="http://schemas.microsoft.com/office/drawing/2014/main" id="{C0126959-A6D7-D7DD-2FCD-E3D0174114F8}"/>
              </a:ext>
            </a:extLst>
          </p:cNvPr>
          <p:cNvSpPr/>
          <p:nvPr/>
        </p:nvSpPr>
        <p:spPr>
          <a:xfrm>
            <a:off x="2077943" y="4186205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3828B17E-1E11-9BFC-1C04-B17770654AFB}"/>
              </a:ext>
            </a:extLst>
          </p:cNvPr>
          <p:cNvCxnSpPr>
            <a:cxnSpLocks/>
          </p:cNvCxnSpPr>
          <p:nvPr/>
        </p:nvCxnSpPr>
        <p:spPr>
          <a:xfrm>
            <a:off x="2052415" y="4658337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06F3C19-7A06-6AAA-92F6-0B94065892A1}"/>
              </a:ext>
            </a:extLst>
          </p:cNvPr>
          <p:cNvCxnSpPr>
            <a:cxnSpLocks/>
          </p:cNvCxnSpPr>
          <p:nvPr/>
        </p:nvCxnSpPr>
        <p:spPr>
          <a:xfrm flipV="1">
            <a:off x="2052415" y="4186205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reeform 24">
            <a:extLst>
              <a:ext uri="{FF2B5EF4-FFF2-40B4-BE49-F238E27FC236}">
                <a16:creationId xmlns:a16="http://schemas.microsoft.com/office/drawing/2014/main" id="{FD583AF2-BCA6-DF23-719B-2798EEC63D92}"/>
              </a:ext>
            </a:extLst>
          </p:cNvPr>
          <p:cNvSpPr/>
          <p:nvPr/>
        </p:nvSpPr>
        <p:spPr>
          <a:xfrm>
            <a:off x="2110117" y="5740337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244BD63-CAC7-90B5-442F-59863557E06D}"/>
              </a:ext>
            </a:extLst>
          </p:cNvPr>
          <p:cNvCxnSpPr>
            <a:cxnSpLocks/>
          </p:cNvCxnSpPr>
          <p:nvPr/>
        </p:nvCxnSpPr>
        <p:spPr>
          <a:xfrm>
            <a:off x="2084589" y="6212469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7EAA5CD-755A-ED66-4BD5-6E3B668BF4A1}"/>
              </a:ext>
            </a:extLst>
          </p:cNvPr>
          <p:cNvCxnSpPr>
            <a:cxnSpLocks/>
          </p:cNvCxnSpPr>
          <p:nvPr/>
        </p:nvCxnSpPr>
        <p:spPr>
          <a:xfrm flipV="1">
            <a:off x="2084589" y="5740337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D55F715-F677-DC07-020A-B4060AB34EDD}"/>
              </a:ext>
            </a:extLst>
          </p:cNvPr>
          <p:cNvSpPr txBox="1"/>
          <p:nvPr/>
        </p:nvSpPr>
        <p:spPr>
          <a:xfrm>
            <a:off x="3645876" y="2285532"/>
            <a:ext cx="22874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Sequencer: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4BBF09-D606-EBD0-62ED-5394E86C5F1C}"/>
              </a:ext>
            </a:extLst>
          </p:cNvPr>
          <p:cNvSpPr txBox="1"/>
          <p:nvPr/>
        </p:nvSpPr>
        <p:spPr>
          <a:xfrm>
            <a:off x="3645876" y="3009939"/>
            <a:ext cx="713231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Gathers observed timestamps from clients and their distributions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 Applies statistical model to figure out fair order of messages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Actual timestamps are collected from clients to construct ground truth</a:t>
            </a:r>
          </a:p>
        </p:txBody>
      </p:sp>
    </p:spTree>
    <p:extLst>
      <p:ext uri="{BB962C8B-B14F-4D97-AF65-F5344CB8AC3E}">
        <p14:creationId xmlns:p14="http://schemas.microsoft.com/office/powerpoint/2010/main" val="1352375426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DC16B3-3DE4-F97E-4FFA-C7A3A94CE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E96A9FA-8BDE-4BE3-ADD5-C04A6E4A8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C7D107D-58AB-6E2A-1542-E8379E186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D14EEDC-67F4-B7ED-3366-2B8EB49D7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AE6BF-E32B-495D-D14B-0911E3856B7A}"/>
              </a:ext>
            </a:extLst>
          </p:cNvPr>
          <p:cNvSpPr/>
          <p:nvPr/>
        </p:nvSpPr>
        <p:spPr>
          <a:xfrm rot="5400000">
            <a:off x="7615356" y="3803257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3F9A7-4DDC-2A15-4EDD-71DC6AF40636}"/>
              </a:ext>
            </a:extLst>
          </p:cNvPr>
          <p:cNvSpPr/>
          <p:nvPr/>
        </p:nvSpPr>
        <p:spPr>
          <a:xfrm>
            <a:off x="2608445" y="2089885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0B8C5B7-0FF7-30CC-4C20-B0C2856DF0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CE97421-5AA3-351E-4F6D-FE9254535896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568679-3D3E-9EEC-DFC1-788C3EFF81FD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D25DF6A-F87E-716C-B6FE-9DD5485F3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A11ECA19-5E4C-F045-D9EF-E56E6AFE7623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47A5946-8A84-97B9-ED15-9B5ED1A1A32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D1947DDF-F866-DA3A-3714-D61FB111E971}"/>
              </a:ext>
            </a:extLst>
          </p:cNvPr>
          <p:cNvSpPr/>
          <p:nvPr/>
        </p:nvSpPr>
        <p:spPr>
          <a:xfrm>
            <a:off x="2436811" y="3421641"/>
            <a:ext cx="1414915" cy="567889"/>
          </a:xfrm>
          <a:custGeom>
            <a:avLst/>
            <a:gdLst>
              <a:gd name="connsiteX0" fmla="*/ 0 w 1414915"/>
              <a:gd name="connsiteY0" fmla="*/ 141972 h 567889"/>
              <a:gd name="connsiteX1" fmla="*/ 576795 w 1414915"/>
              <a:gd name="connsiteY1" fmla="*/ 141972 h 567889"/>
              <a:gd name="connsiteX2" fmla="*/ 1130971 w 1414915"/>
              <a:gd name="connsiteY2" fmla="*/ 141972 h 567889"/>
              <a:gd name="connsiteX3" fmla="*/ 1130971 w 1414915"/>
              <a:gd name="connsiteY3" fmla="*/ 0 h 567889"/>
              <a:gd name="connsiteX4" fmla="*/ 1414915 w 1414915"/>
              <a:gd name="connsiteY4" fmla="*/ 283945 h 567889"/>
              <a:gd name="connsiteX5" fmla="*/ 1130971 w 1414915"/>
              <a:gd name="connsiteY5" fmla="*/ 567889 h 567889"/>
              <a:gd name="connsiteX6" fmla="*/ 1130971 w 1414915"/>
              <a:gd name="connsiteY6" fmla="*/ 425917 h 567889"/>
              <a:gd name="connsiteX7" fmla="*/ 565486 w 1414915"/>
              <a:gd name="connsiteY7" fmla="*/ 425917 h 567889"/>
              <a:gd name="connsiteX8" fmla="*/ 0 w 1414915"/>
              <a:gd name="connsiteY8" fmla="*/ 425917 h 567889"/>
              <a:gd name="connsiteX9" fmla="*/ 0 w 1414915"/>
              <a:gd name="connsiteY9" fmla="*/ 141972 h 567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414915" h="567889" fill="none" extrusionOk="0">
                <a:moveTo>
                  <a:pt x="0" y="141972"/>
                </a:moveTo>
                <a:cubicBezTo>
                  <a:pt x="275817" y="80751"/>
                  <a:pt x="365042" y="184444"/>
                  <a:pt x="576795" y="141972"/>
                </a:cubicBezTo>
                <a:cubicBezTo>
                  <a:pt x="788548" y="99500"/>
                  <a:pt x="911003" y="175769"/>
                  <a:pt x="1130971" y="141972"/>
                </a:cubicBezTo>
                <a:cubicBezTo>
                  <a:pt x="1124252" y="106743"/>
                  <a:pt x="1132844" y="30730"/>
                  <a:pt x="1130971" y="0"/>
                </a:cubicBezTo>
                <a:cubicBezTo>
                  <a:pt x="1266927" y="72973"/>
                  <a:pt x="1279056" y="186504"/>
                  <a:pt x="1414915" y="283945"/>
                </a:cubicBezTo>
                <a:cubicBezTo>
                  <a:pt x="1339925" y="385079"/>
                  <a:pt x="1200231" y="446234"/>
                  <a:pt x="1130971" y="567889"/>
                </a:cubicBezTo>
                <a:cubicBezTo>
                  <a:pt x="1129559" y="501250"/>
                  <a:pt x="1147515" y="488702"/>
                  <a:pt x="1130971" y="425917"/>
                </a:cubicBezTo>
                <a:cubicBezTo>
                  <a:pt x="908344" y="461252"/>
                  <a:pt x="759670" y="415285"/>
                  <a:pt x="565486" y="425917"/>
                </a:cubicBezTo>
                <a:cubicBezTo>
                  <a:pt x="371302" y="436549"/>
                  <a:pt x="277010" y="401746"/>
                  <a:pt x="0" y="425917"/>
                </a:cubicBezTo>
                <a:cubicBezTo>
                  <a:pt x="-22450" y="324267"/>
                  <a:pt x="6115" y="271210"/>
                  <a:pt x="0" y="141972"/>
                </a:cubicBezTo>
                <a:close/>
              </a:path>
              <a:path w="1414915" h="567889" stroke="0" extrusionOk="0">
                <a:moveTo>
                  <a:pt x="0" y="141972"/>
                </a:moveTo>
                <a:cubicBezTo>
                  <a:pt x="124711" y="92751"/>
                  <a:pt x="308611" y="187565"/>
                  <a:pt x="554176" y="141972"/>
                </a:cubicBezTo>
                <a:cubicBezTo>
                  <a:pt x="799741" y="96379"/>
                  <a:pt x="994485" y="198452"/>
                  <a:pt x="1130971" y="141972"/>
                </a:cubicBezTo>
                <a:cubicBezTo>
                  <a:pt x="1114956" y="91036"/>
                  <a:pt x="1136319" y="28407"/>
                  <a:pt x="1130971" y="0"/>
                </a:cubicBezTo>
                <a:cubicBezTo>
                  <a:pt x="1246082" y="55876"/>
                  <a:pt x="1274508" y="185078"/>
                  <a:pt x="1414915" y="283945"/>
                </a:cubicBezTo>
                <a:cubicBezTo>
                  <a:pt x="1340724" y="403334"/>
                  <a:pt x="1234255" y="423124"/>
                  <a:pt x="1130971" y="567889"/>
                </a:cubicBezTo>
                <a:cubicBezTo>
                  <a:pt x="1115997" y="531085"/>
                  <a:pt x="1141248" y="469288"/>
                  <a:pt x="1130971" y="425917"/>
                </a:cubicBezTo>
                <a:cubicBezTo>
                  <a:pt x="862224" y="430515"/>
                  <a:pt x="856738" y="379084"/>
                  <a:pt x="588105" y="425917"/>
                </a:cubicBezTo>
                <a:cubicBezTo>
                  <a:pt x="319472" y="472750"/>
                  <a:pt x="223429" y="417197"/>
                  <a:pt x="0" y="425917"/>
                </a:cubicBezTo>
                <a:cubicBezTo>
                  <a:pt x="-32811" y="354011"/>
                  <a:pt x="22250" y="232663"/>
                  <a:pt x="0" y="141972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ightArrow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CA90170-232A-CE66-9123-1CC54A91C061}"/>
              </a:ext>
            </a:extLst>
          </p:cNvPr>
          <p:cNvSpPr txBox="1"/>
          <p:nvPr/>
        </p:nvSpPr>
        <p:spPr>
          <a:xfrm>
            <a:off x="3947977" y="3014973"/>
            <a:ext cx="813288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For each correctly ordered pair of messages </a:t>
            </a:r>
            <a:r>
              <a:rPr lang="en-US" sz="2400" dirty="0">
                <a:sym typeface="Wingdings" pitchFamily="2" charset="2"/>
              </a:rPr>
              <a:t> +1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each incorrect  -1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For a pair left unordered  +0 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sym typeface="Wingdings" pitchFamily="2" charset="2"/>
              </a:rPr>
              <a:t>Normalize by total pairs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23289153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13B0C7-DE31-1FD1-1E7F-EAA6F26C8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9E351A-1EA9-E419-FBBE-E74C2D7A5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DFB3440-5036-6F88-B061-8948C73E9A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E7CA1B-3E62-8B97-CCA6-E33D598E9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D86300-D702-1294-7C35-BA3F8048A1D6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B4E03-EBA2-D81D-D667-0629590E62CC}"/>
              </a:ext>
            </a:extLst>
          </p:cNvPr>
          <p:cNvSpPr/>
          <p:nvPr/>
        </p:nvSpPr>
        <p:spPr>
          <a:xfrm>
            <a:off x="2810577" y="1895813"/>
            <a:ext cx="7921592" cy="2213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96CE68B-51DA-A0DF-BBCD-76F1A4E6FC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EA7B350-B852-A19C-174C-655EF88BA6B4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527401-46E6-87F2-71B8-825C7539A9B2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61CA3C-D614-0F7F-EF36-A79A8F31C4A9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561CA3C-D614-0F7F-EF36-A79A8F31C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E6871F90-1BB0-9BC7-F417-940229C8A664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2AA58C-1EC8-A55E-0694-E3193D37CDCE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119001"/>
      </p:ext>
    </p:extLst>
  </p:cSld>
  <p:clrMapOvr>
    <a:masterClrMapping/>
  </p:clrMapOvr>
  <p:transition spd="slow">
    <p:strips dir="r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05F8DB-BF8A-54F5-4C7E-D8F0F4BE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C3C4C7E-D191-643C-C0ED-ED48517E8F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A7A5B57-5BE3-BAAC-F9EB-C982640D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45A8B5-5A90-4A7A-B0D7-799349811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11CB0AA-F998-518B-06D1-1C2D38BA74DA}"/>
              </a:ext>
            </a:extLst>
          </p:cNvPr>
          <p:cNvSpPr/>
          <p:nvPr/>
        </p:nvSpPr>
        <p:spPr>
          <a:xfrm rot="5400000">
            <a:off x="7817487" y="3565811"/>
            <a:ext cx="3500045" cy="2082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7C994C-A8ED-7011-D032-EFA2F890C48F}"/>
              </a:ext>
            </a:extLst>
          </p:cNvPr>
          <p:cNvSpPr/>
          <p:nvPr/>
        </p:nvSpPr>
        <p:spPr>
          <a:xfrm>
            <a:off x="2810576" y="1919918"/>
            <a:ext cx="7921592" cy="73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EF5CB28-1D64-2EF2-BE3A-F3C5BFFB5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B00649B4-2948-B5CD-9158-68AAB0B7AAEE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DFC8099-CFC2-685A-F0EE-9F2714385659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897E44-B589-32C0-9659-F33D2EA09E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5">
            <a:extLst>
              <a:ext uri="{FF2B5EF4-FFF2-40B4-BE49-F238E27FC236}">
                <a16:creationId xmlns:a16="http://schemas.microsoft.com/office/drawing/2014/main" id="{FCE82905-6A66-937D-926D-355CA53A602B}"/>
              </a:ext>
            </a:extLst>
          </p:cNvPr>
          <p:cNvSpPr/>
          <p:nvPr/>
        </p:nvSpPr>
        <p:spPr>
          <a:xfrm>
            <a:off x="2712691" y="2064936"/>
            <a:ext cx="1983096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FCC7751-9D9A-DA88-AB41-3817A1D8E3D5}"/>
              </a:ext>
            </a:extLst>
          </p:cNvPr>
          <p:cNvSpPr/>
          <p:nvPr/>
        </p:nvSpPr>
        <p:spPr>
          <a:xfrm>
            <a:off x="2789692" y="2094136"/>
            <a:ext cx="115506" cy="140963"/>
          </a:xfrm>
          <a:prstGeom prst="ellips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5-Point Star 10">
            <a:extLst>
              <a:ext uri="{FF2B5EF4-FFF2-40B4-BE49-F238E27FC236}">
                <a16:creationId xmlns:a16="http://schemas.microsoft.com/office/drawing/2014/main" id="{FE61F7DF-AEA9-3059-7C91-0AD5B8874CB5}"/>
              </a:ext>
            </a:extLst>
          </p:cNvPr>
          <p:cNvSpPr/>
          <p:nvPr/>
        </p:nvSpPr>
        <p:spPr>
          <a:xfrm>
            <a:off x="2789692" y="2084856"/>
            <a:ext cx="129945" cy="149351"/>
          </a:xfrm>
          <a:prstGeom prst="star5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2D5007-4C94-61CF-24C3-24541215EB58}"/>
              </a:ext>
            </a:extLst>
          </p:cNvPr>
          <p:cNvSpPr/>
          <p:nvPr/>
        </p:nvSpPr>
        <p:spPr>
          <a:xfrm>
            <a:off x="3306130" y="2631898"/>
            <a:ext cx="6081881" cy="27641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8316451"/>
      </p:ext>
    </p:extLst>
  </p:cSld>
  <p:clrMapOvr>
    <a:masterClrMapping/>
  </p:clrMapOvr>
  <p:transition spd="slow">
    <p:strips dir="r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1767CC-5AF3-9D9F-71DF-DCCB68F4D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0C9A053-1D45-34B0-812C-849C0DAD41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0C32B40F-E5C9-E9D6-9E83-555E640D92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CDD139F-2934-16C2-B913-044259FD1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FF48D1-FDA3-E626-8611-A275220FD8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8760" y="1854746"/>
            <a:ext cx="8132880" cy="45088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48734C0-F420-5ED3-A548-77F575D59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933" y="1854746"/>
            <a:ext cx="8027708" cy="445429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EB1FB84-8892-3216-2EF7-2159F38D0A80}"/>
              </a:ext>
            </a:extLst>
          </p:cNvPr>
          <p:cNvSpPr/>
          <p:nvPr/>
        </p:nvSpPr>
        <p:spPr>
          <a:xfrm rot="5400000">
            <a:off x="7938172" y="3490181"/>
            <a:ext cx="3466934" cy="3447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BF245F-A985-3040-CE67-D040470B05FB}"/>
              </a:ext>
            </a:extLst>
          </p:cNvPr>
          <p:cNvSpPr/>
          <p:nvPr/>
        </p:nvSpPr>
        <p:spPr>
          <a:xfrm>
            <a:off x="2789693" y="1854746"/>
            <a:ext cx="6957315" cy="17421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/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66AA69C-39B0-17B1-FACE-146A13E64B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679" y="5899766"/>
                <a:ext cx="3388093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2803325"/>
      </p:ext>
    </p:extLst>
  </p:cSld>
  <p:clrMapOvr>
    <a:masterClrMapping/>
  </p:clrMapOvr>
  <p:transition spd="slow">
    <p:strips dir="ru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430DB-EFD4-794A-52D3-83D77D834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C4DE2-C60D-E25B-3D97-409699146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717AA-99FC-3FBA-14DA-A906FAD103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Online sequencing</a:t>
            </a:r>
          </a:p>
          <a:p>
            <a:pPr lvl="1"/>
            <a:r>
              <a:rPr lang="en-US" dirty="0"/>
              <a:t>How can we be sure that no future event will need to be ordered before the current event?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 for cyclic probabilities</a:t>
            </a:r>
          </a:p>
          <a:p>
            <a:pPr lvl="1"/>
            <a:r>
              <a:rPr lang="en-US" dirty="0"/>
              <a:t>Make a graph acyclic by removing some edges</a:t>
            </a:r>
          </a:p>
          <a:p>
            <a:pPr lvl="2"/>
            <a:r>
              <a:rPr lang="en-US" dirty="0"/>
              <a:t>Unfair towards some clients</a:t>
            </a:r>
          </a:p>
          <a:p>
            <a:pPr lvl="1"/>
            <a:r>
              <a:rPr lang="en-US" dirty="0"/>
              <a:t>Attempt to balance out unfairness over some time horizon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420A6-35BF-6875-7585-5EADE4610EE9}"/>
              </a:ext>
            </a:extLst>
          </p:cNvPr>
          <p:cNvSpPr/>
          <p:nvPr/>
        </p:nvSpPr>
        <p:spPr>
          <a:xfrm>
            <a:off x="2140527" y="4738549"/>
            <a:ext cx="6234400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hlinkClick r:id="rId2"/>
              </a:rPr>
              <a:t>mh6218@nyu.edu</a:t>
            </a:r>
            <a:endParaRPr lang="en-US" sz="5400" b="1" cap="none" spc="0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  <a:p>
            <a:pPr algn="ctr"/>
            <a:r>
              <a:rPr lang="en-US" sz="5400" b="1" dirty="0" err="1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  <a:hlinkClick r:id="rId3"/>
              </a:rPr>
              <a:t>haseebashfaq.com</a:t>
            </a:r>
            <a:endParaRPr lang="en-US" sz="5400" b="1" dirty="0">
              <a:ln w="12700">
                <a:solidFill>
                  <a:schemeClr val="tx2">
                    <a:lumMod val="75000"/>
                  </a:schemeClr>
                </a:solidFill>
                <a:prstDash val="solid"/>
              </a:ln>
              <a:pattFill prst="dkUpDiag">
                <a:fgClr>
                  <a:schemeClr val="tx2"/>
                </a:fgClr>
                <a:bgClr>
                  <a:schemeClr val="tx2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tx2">
                    <a:lumMod val="75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393909504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3168</TotalTime>
  <Words>815</Words>
  <Application>Microsoft Macintosh PowerPoint</Application>
  <PresentationFormat>Widescreen</PresentationFormat>
  <Paragraphs>205</Paragraphs>
  <Slides>37</Slides>
  <Notes>2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5" baseType="lpstr">
      <vt:lpstr>Aptos</vt:lpstr>
      <vt:lpstr>Aptos Display</vt:lpstr>
      <vt:lpstr>Arial</vt:lpstr>
      <vt:lpstr>Calibri</vt:lpstr>
      <vt:lpstr>Cambria Math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 Overview</vt:lpstr>
      <vt:lpstr>Sequencer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318</cp:revision>
  <dcterms:created xsi:type="dcterms:W3CDTF">2025-10-29T17:15:14Z</dcterms:created>
  <dcterms:modified xsi:type="dcterms:W3CDTF">2025-11-13T22:43:39Z</dcterms:modified>
</cp:coreProperties>
</file>