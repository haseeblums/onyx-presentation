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51"/>
  </p:notesMasterIdLst>
  <p:sldIdLst>
    <p:sldId id="263" r:id="rId2"/>
    <p:sldId id="351" r:id="rId3"/>
    <p:sldId id="352" r:id="rId4"/>
    <p:sldId id="353" r:id="rId5"/>
    <p:sldId id="354" r:id="rId6"/>
    <p:sldId id="355" r:id="rId7"/>
    <p:sldId id="356" r:id="rId8"/>
    <p:sldId id="357" r:id="rId9"/>
    <p:sldId id="358" r:id="rId10"/>
    <p:sldId id="359" r:id="rId11"/>
    <p:sldId id="360" r:id="rId12"/>
    <p:sldId id="361" r:id="rId13"/>
    <p:sldId id="362" r:id="rId14"/>
    <p:sldId id="363" r:id="rId15"/>
    <p:sldId id="364" r:id="rId16"/>
    <p:sldId id="365" r:id="rId17"/>
    <p:sldId id="366" r:id="rId18"/>
    <p:sldId id="368" r:id="rId19"/>
    <p:sldId id="264" r:id="rId20"/>
    <p:sldId id="265" r:id="rId21"/>
    <p:sldId id="272" r:id="rId22"/>
    <p:sldId id="274" r:id="rId23"/>
    <p:sldId id="288" r:id="rId24"/>
    <p:sldId id="347" r:id="rId25"/>
    <p:sldId id="289" r:id="rId26"/>
    <p:sldId id="290" r:id="rId27"/>
    <p:sldId id="258" r:id="rId28"/>
    <p:sldId id="277" r:id="rId29"/>
    <p:sldId id="340" r:id="rId30"/>
    <p:sldId id="341" r:id="rId31"/>
    <p:sldId id="348" r:id="rId32"/>
    <p:sldId id="292" r:id="rId33"/>
    <p:sldId id="293" r:id="rId34"/>
    <p:sldId id="280" r:id="rId35"/>
    <p:sldId id="279" r:id="rId36"/>
    <p:sldId id="266" r:id="rId37"/>
    <p:sldId id="349" r:id="rId38"/>
    <p:sldId id="278" r:id="rId39"/>
    <p:sldId id="281" r:id="rId40"/>
    <p:sldId id="282" r:id="rId41"/>
    <p:sldId id="283" r:id="rId42"/>
    <p:sldId id="284" r:id="rId43"/>
    <p:sldId id="285" r:id="rId44"/>
    <p:sldId id="286" r:id="rId45"/>
    <p:sldId id="287" r:id="rId46"/>
    <p:sldId id="276" r:id="rId47"/>
    <p:sldId id="269" r:id="rId48"/>
    <p:sldId id="273" r:id="rId49"/>
    <p:sldId id="271" r:id="rId5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673"/>
    <p:restoredTop sz="93701"/>
  </p:normalViewPr>
  <p:slideViewPr>
    <p:cSldViewPr snapToGrid="0">
      <p:cViewPr varScale="1">
        <p:scale>
          <a:sx n="92" d="100"/>
          <a:sy n="92" d="100"/>
        </p:scale>
        <p:origin x="192" y="9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107AACE-DECF-044F-84A2-0C8ECB6ADA06}" type="datetimeFigureOut">
              <a:rPr lang="en-US" smtClean="0"/>
              <a:t>11/11/25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3E8125A-D8BB-E74B-8C6E-AB7BD2C997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27956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E8125A-D8BB-E74B-8C6E-AB7BD2C997CF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95744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Asynchrony also affects the latency between application and local clock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E8125A-D8BB-E74B-8C6E-AB7BD2C997CF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46155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WFO was proposed in my previous project Jasper, quickly explain.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8218EBC-0A23-F247-983B-440A962108A9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3437337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Several step omitted for brevity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E8125A-D8BB-E74B-8C6E-AB7BD2C997CF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111911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will skip the details of how we find this probability if the distributions are not normal. Hint: Each client learns their own distribution, while the sequencer can use convolutions over those distributions to find what it needs.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E8125A-D8BB-E74B-8C6E-AB7BD2C997CF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162271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Efron’s dice, Condorcet paradox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8218EBC-0A23-F247-983B-440A962108A9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892598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489CC8-3483-2449-6AE7-2E7811415E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7D8B5F9-7488-31E2-CC9A-B50E7C9EDBD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CA5A39-6690-69DC-93A4-FB04A747BE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5D2492-AC70-2141-AC0C-17DCD52B4752}" type="datetime1">
              <a:rPr lang="en-US" smtClean="0"/>
              <a:t>11/11/25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A5098F-8C47-BD38-D7A6-A7E44A3AC3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1CE420-E5B7-AB50-A816-77DD97CC59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92605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0B6EEC-C362-E1F9-D220-4FBA9565F3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182AE1-0A6C-73E9-BB01-2E25D23D36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25C939-DF3D-4282-8199-45A037B9A9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BDF429-4C14-7B4A-B19D-A0047B9F1B4B}" type="datetime1">
              <a:rPr lang="en-US" smtClean="0"/>
              <a:t>11/11/25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16F0CD-FE1D-6079-49AE-F87F2CB3CF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9F2BA7-8D27-7F49-88B2-D6950D9944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61962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ADC252-3EFA-163E-15EC-BF4390B35A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F0CCD9-269C-A882-609D-D2C3D66248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96DDE7-F726-ADC8-AD97-F26F4B5C48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236A-87D7-9843-88C4-48A4AF171E86}" type="datetime1">
              <a:rPr lang="en-US" smtClean="0"/>
              <a:t>11/11/25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274734-470F-6D57-231F-7522A7AFBD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81C889-3A6D-AD40-645E-1E6CDE1E50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8776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558DA8-2C41-23FC-8185-753462B7BA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13352A-F4FA-9CB1-1696-870EB1A89D1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3A387A-EDD3-0CD5-227C-CC3DE3D34F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F812931-F695-753D-78CB-97CBA5E072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AB6F2B-6FBC-214D-9C4A-C58DF8A7FCB9}" type="datetime1">
              <a:rPr lang="en-US" smtClean="0"/>
              <a:t>11/11/25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02FA56-AA49-8486-9289-E151E79047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8A1A68-5B8C-0F7E-491D-1C9F17D4C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72611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5ECEEB-1E4D-F0BC-5766-01121A1830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D4B4CE-EBD7-E8F3-5451-2133AC7E06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54BD8E-34F3-A55C-114A-D17E85D6160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7C06F85-C6F0-5456-0A72-C594D7DC990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CE94893-075E-EB6B-55AC-62F2E0CEC9C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2CEDDDE-FB3F-973C-45AD-2688A51335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C5FA95-A07E-9941-8A87-BDD29E767DA7}" type="datetime1">
              <a:rPr lang="en-US" smtClean="0"/>
              <a:t>11/11/25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736DE76-0D6A-F40D-B732-908F429798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C4AA9CC-0F85-34AF-1D96-D58E6BA307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4365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0E80C5-32F6-9D4B-9256-20823BC3BD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F4E3B95-F7E3-25DB-7F21-F489951614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F1CA85-9E75-364A-887C-5B613827D324}" type="datetime1">
              <a:rPr lang="en-US" smtClean="0"/>
              <a:t>11/11/25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5AE9371-78D5-4C72-C059-18304961F0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D0035D5-EF95-3650-C946-19DD553C1E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7909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89C6D8C-7270-8941-CBC4-512B0483EE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E42F5B-1E89-9840-A26C-C6BA2A23E2D0}" type="datetime1">
              <a:rPr lang="en-US" smtClean="0"/>
              <a:t>11/11/25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71D819E-56FA-94D1-F2F6-0D4191383C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3670F9-538A-A65A-EBC9-F5906F119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9359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BE9AE-8119-F92C-4D8F-62F667A226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3C7707-59E6-90A9-C17A-AF6FB92853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CCFDEC-65F8-E3B3-C304-84F962412A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E817EA-279C-AB1D-F581-762A75E016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FB241E-9E92-8D46-BFD6-E707A04F9829}" type="datetime1">
              <a:rPr lang="en-US" smtClean="0"/>
              <a:t>11/11/25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846691-4B7B-980C-EA6A-D22E8A9C9A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932AF5-CB87-FBF2-2C5F-6547C4099A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1047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B7D5D3-0366-3F3C-23A4-06712902D9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65D708B-5A95-A7A8-89A5-CE7A84EE1AA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927582-1DA1-752E-DAE3-EB5A3D0705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B6BA60-8D2E-F867-6D37-858BF1CC04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A34353-62E4-F94E-ADC1-D1403AD453E1}" type="datetime1">
              <a:rPr lang="en-US" smtClean="0"/>
              <a:t>11/11/25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0DFCA9-F3EF-0AC3-9FC4-69CF2B3CC6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18370F-78E1-45D9-C289-966A233413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01325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9FCB53-B76B-22EC-C782-0357471199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F55C8BA-7558-55B7-54CF-2B44D1432A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509F8-2118-E6F0-99BD-EE20223CC5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17235A-17C4-B841-B2B5-CA079511FDEC}" type="datetime1">
              <a:rPr lang="en-US" smtClean="0"/>
              <a:t>11/11/25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65D553-0AB5-4450-C8AE-18D96D2A60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E4BCD4-F56B-8B3B-F7D8-200AF0A008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42275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952F8F5-326C-281C-6FBC-02EAC18F2CA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5EADAC-2818-A1DC-CF2B-786CC8DA3E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E2ABDF-8689-449B-68C3-7C9DED70C4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307E39-E6DB-B341-B0FA-CECD76628CBB}" type="datetime1">
              <a:rPr lang="en-US" smtClean="0"/>
              <a:t>11/11/25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6A7137-447E-E1C2-C3BD-5C19B2FEDF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DF57FD-EFFE-98FC-BC47-1FEBE3DF53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682350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609585" lvl="0" indent="-457189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1219170" lvl="1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0574231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152C756-4936-63A8-1D87-1501CB4F68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B5091F-0342-E547-03E4-EFDF7189EE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31D55D-E5FD-1C18-6FB7-0889D6E98E4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F4EA125-C503-9049-954D-E48C32DE308D}" type="datetime1">
              <a:rPr lang="en-US" smtClean="0"/>
              <a:t>11/11/25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58170C-374B-882B-CDFF-F94692FE4BE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12BB67-7693-C8D1-B0BA-FB7AA6B00F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2F80786-77E6-134C-ADA2-416C85F672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83079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4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5" Type="http://schemas.openxmlformats.org/officeDocument/2006/relationships/image" Target="../media/image12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4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5" Type="http://schemas.openxmlformats.org/officeDocument/2006/relationships/image" Target="../media/image12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4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3.png"/><Relationship Id="rId17" Type="http://schemas.openxmlformats.org/officeDocument/2006/relationships/image" Target="../media/image16.sv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5" Type="http://schemas.openxmlformats.org/officeDocument/2006/relationships/image" Target="../media/image12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emf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e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emf"/><Relationship Id="rId4" Type="http://schemas.openxmlformats.org/officeDocument/2006/relationships/image" Target="../media/image20.emf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sv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3.svg"/><Relationship Id="rId7" Type="http://schemas.openxmlformats.org/officeDocument/2006/relationships/image" Target="../media/image27.sv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svg"/><Relationship Id="rId10" Type="http://schemas.openxmlformats.org/officeDocument/2006/relationships/image" Target="../media/image30.png"/><Relationship Id="rId4" Type="http://schemas.openxmlformats.org/officeDocument/2006/relationships/image" Target="../media/image24.png"/><Relationship Id="rId9" Type="http://schemas.openxmlformats.org/officeDocument/2006/relationships/image" Target="../media/image29.sv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3.svg"/><Relationship Id="rId7" Type="http://schemas.openxmlformats.org/officeDocument/2006/relationships/image" Target="../media/image27.sv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svg"/><Relationship Id="rId10" Type="http://schemas.openxmlformats.org/officeDocument/2006/relationships/image" Target="../media/image30.png"/><Relationship Id="rId4" Type="http://schemas.openxmlformats.org/officeDocument/2006/relationships/image" Target="../media/image24.png"/><Relationship Id="rId9" Type="http://schemas.openxmlformats.org/officeDocument/2006/relationships/image" Target="../media/image29.sv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7" Type="http://schemas.openxmlformats.org/officeDocument/2006/relationships/image" Target="../media/image3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emf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emf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FFD48BC7-DC40-47DE-87EE-9F4B6ECB9A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 useBgFill="1">
        <p:nvSpPr>
          <p:cNvPr id="9" name="Freeform: Shape 8">
            <a:extLst>
              <a:ext uri="{FF2B5EF4-FFF2-40B4-BE49-F238E27FC236}">
                <a16:creationId xmlns:a16="http://schemas.microsoft.com/office/drawing/2014/main" id="{E502BBC7-2C76-46F3-BC24-5985BC13DB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14425" y="0"/>
            <a:ext cx="9963150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139700" sx="102000" sy="102000" algn="ctr" rotWithShape="0">
              <a:schemeClr val="bg1">
                <a:lumMod val="85000"/>
                <a:alpha val="3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1" name="Freeform: Shape 10">
            <a:extLst>
              <a:ext uri="{FF2B5EF4-FFF2-40B4-BE49-F238E27FC236}">
                <a16:creationId xmlns:a16="http://schemas.microsoft.com/office/drawing/2014/main" id="{C7F28D52-2A5F-4D23-81AE-7CB8B591C7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1664" y="0"/>
            <a:ext cx="9948672" cy="6858000"/>
          </a:xfrm>
          <a:custGeom>
            <a:avLst/>
            <a:gdLst>
              <a:gd name="connsiteX0" fmla="*/ 1595771 w 9963150"/>
              <a:gd name="connsiteY0" fmla="*/ 0 h 6858000"/>
              <a:gd name="connsiteX1" fmla="*/ 8367379 w 9963150"/>
              <a:gd name="connsiteY1" fmla="*/ 0 h 6858000"/>
              <a:gd name="connsiteX2" fmla="*/ 8504080 w 9963150"/>
              <a:gd name="connsiteY2" fmla="*/ 130333 h 6858000"/>
              <a:gd name="connsiteX3" fmla="*/ 9963150 w 9963150"/>
              <a:gd name="connsiteY3" fmla="*/ 3652838 h 6858000"/>
              <a:gd name="connsiteX4" fmla="*/ 8825600 w 9963150"/>
              <a:gd name="connsiteY4" fmla="*/ 6821583 h 6858000"/>
              <a:gd name="connsiteX5" fmla="*/ 8794055 w 9963150"/>
              <a:gd name="connsiteY5" fmla="*/ 6858000 h 6858000"/>
              <a:gd name="connsiteX6" fmla="*/ 1169096 w 9963150"/>
              <a:gd name="connsiteY6" fmla="*/ 6858000 h 6858000"/>
              <a:gd name="connsiteX7" fmla="*/ 1137550 w 9963150"/>
              <a:gd name="connsiteY7" fmla="*/ 6821583 h 6858000"/>
              <a:gd name="connsiteX8" fmla="*/ 0 w 9963150"/>
              <a:gd name="connsiteY8" fmla="*/ 3652838 h 6858000"/>
              <a:gd name="connsiteX9" fmla="*/ 1459070 w 9963150"/>
              <a:gd name="connsiteY9" fmla="*/ 130333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963150" h="6858000">
                <a:moveTo>
                  <a:pt x="1595771" y="0"/>
                </a:moveTo>
                <a:lnTo>
                  <a:pt x="8367379" y="0"/>
                </a:lnTo>
                <a:lnTo>
                  <a:pt x="8504080" y="130333"/>
                </a:lnTo>
                <a:cubicBezTo>
                  <a:pt x="9405568" y="1031820"/>
                  <a:pt x="9963150" y="2277214"/>
                  <a:pt x="9963150" y="3652838"/>
                </a:cubicBezTo>
                <a:cubicBezTo>
                  <a:pt x="9963150" y="4856509"/>
                  <a:pt x="9536251" y="5960473"/>
                  <a:pt x="8825600" y="6821583"/>
                </a:cubicBezTo>
                <a:lnTo>
                  <a:pt x="8794055" y="6858000"/>
                </a:lnTo>
                <a:lnTo>
                  <a:pt x="1169096" y="6858000"/>
                </a:lnTo>
                <a:lnTo>
                  <a:pt x="1137550" y="6821583"/>
                </a:lnTo>
                <a:cubicBezTo>
                  <a:pt x="426899" y="5960473"/>
                  <a:pt x="0" y="4856509"/>
                  <a:pt x="0" y="3652838"/>
                </a:cubicBezTo>
                <a:cubicBezTo>
                  <a:pt x="0" y="2277214"/>
                  <a:pt x="557582" y="1031820"/>
                  <a:pt x="1459070" y="130333"/>
                </a:cubicBez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629484E-3792-4B3D-89AD-7C8A1ED0E0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18560" y="5524786"/>
            <a:ext cx="4754880" cy="2743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D3C3834-5FF7-E139-E0B7-538FE11218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305782"/>
            <a:ext cx="9144000" cy="2387600"/>
          </a:xfrm>
        </p:spPr>
        <p:txBody>
          <a:bodyPr>
            <a:normAutofit/>
          </a:bodyPr>
          <a:lstStyle/>
          <a:p>
            <a:r>
              <a:rPr lang="en-US" sz="7200" b="1" dirty="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pattFill prst="narHorz">
                  <a:fgClr>
                    <a:schemeClr val="accent3"/>
                  </a:fgClr>
                  <a:bgClr>
                    <a:schemeClr val="accent3">
                      <a:lumMod val="40000"/>
                      <a:lumOff val="60000"/>
                    </a:schemeClr>
                  </a:bgClr>
                </a:patt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Towards Probabilistic Fair Order</a:t>
            </a:r>
            <a:endParaRPr lang="en-US" sz="72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8BC87CD-6594-D550-6B16-8E2B98C16BD8}"/>
              </a:ext>
            </a:extLst>
          </p:cNvPr>
          <p:cNvSpPr txBox="1"/>
          <p:nvPr/>
        </p:nvSpPr>
        <p:spPr>
          <a:xfrm>
            <a:off x="2104292" y="4104210"/>
            <a:ext cx="798341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u="sng" dirty="0">
                <a:solidFill>
                  <a:srgbClr val="7030A0"/>
                </a:solidFill>
              </a:rPr>
              <a:t>Haseeb Ashfaq</a:t>
            </a:r>
            <a:r>
              <a:rPr lang="en-US" sz="2400" dirty="0"/>
              <a:t>, </a:t>
            </a:r>
            <a:r>
              <a:rPr lang="en-US" sz="2400" dirty="0">
                <a:solidFill>
                  <a:srgbClr val="7030A0"/>
                </a:solidFill>
              </a:rPr>
              <a:t>Jinkun Geng</a:t>
            </a:r>
            <a:r>
              <a:rPr lang="en-US" sz="2400" dirty="0"/>
              <a:t>, </a:t>
            </a:r>
            <a:r>
              <a:rPr lang="en-US" sz="2400" dirty="0">
                <a:solidFill>
                  <a:schemeClr val="accent2"/>
                </a:solidFill>
              </a:rPr>
              <a:t>Radhika Mittal</a:t>
            </a:r>
            <a:r>
              <a:rPr lang="en-US" sz="2400" dirty="0"/>
              <a:t>, </a:t>
            </a:r>
            <a:r>
              <a:rPr lang="en-US" sz="2400" dirty="0">
                <a:solidFill>
                  <a:srgbClr val="7030A0"/>
                </a:solidFill>
              </a:rPr>
              <a:t>Aurojit Panda</a:t>
            </a:r>
            <a:r>
              <a:rPr lang="en-US" sz="2400" dirty="0"/>
              <a:t>, </a:t>
            </a:r>
            <a:r>
              <a:rPr lang="en-US" sz="2400" dirty="0">
                <a:solidFill>
                  <a:srgbClr val="FF0000"/>
                </a:solidFill>
              </a:rPr>
              <a:t>Srinivas Narayana</a:t>
            </a:r>
            <a:r>
              <a:rPr lang="en-US" sz="2400" dirty="0"/>
              <a:t>, </a:t>
            </a:r>
            <a:r>
              <a:rPr lang="en-US" sz="2400" dirty="0">
                <a:solidFill>
                  <a:srgbClr val="7030A0"/>
                </a:solidFill>
              </a:rPr>
              <a:t>Anirudh Sivaraman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501DE95-D977-3B4A-B70F-2BCD6C9E7D70}"/>
              </a:ext>
            </a:extLst>
          </p:cNvPr>
          <p:cNvSpPr txBox="1"/>
          <p:nvPr/>
        </p:nvSpPr>
        <p:spPr>
          <a:xfrm>
            <a:off x="2104291" y="4999164"/>
            <a:ext cx="798341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7030A0"/>
                </a:solidFill>
              </a:rPr>
              <a:t>NYU</a:t>
            </a:r>
            <a:r>
              <a:rPr lang="en-US" sz="2400" dirty="0"/>
              <a:t>, </a:t>
            </a:r>
            <a:r>
              <a:rPr lang="en-US" sz="2400" dirty="0">
                <a:solidFill>
                  <a:schemeClr val="accent2"/>
                </a:solidFill>
              </a:rPr>
              <a:t>UIUC</a:t>
            </a:r>
            <a:r>
              <a:rPr lang="en-US" sz="2400" dirty="0"/>
              <a:t>, </a:t>
            </a:r>
            <a:r>
              <a:rPr lang="en-US" sz="2400" dirty="0">
                <a:solidFill>
                  <a:srgbClr val="FF0000"/>
                </a:solidFill>
              </a:rPr>
              <a:t>Rutgers University</a:t>
            </a:r>
          </a:p>
        </p:txBody>
      </p:sp>
    </p:spTree>
    <p:extLst>
      <p:ext uri="{BB962C8B-B14F-4D97-AF65-F5344CB8AC3E}">
        <p14:creationId xmlns:p14="http://schemas.microsoft.com/office/powerpoint/2010/main" val="8125356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3E79F9-2E62-8239-0CA0-1BC333D3BC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85DD0D-C2A0-514E-9283-CEC4A187B8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638386-D84F-67FD-9F6E-3152820992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2</a:t>
            </a:fld>
            <a:endParaRPr lang="en-US"/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F7E10220-F9FD-2DA6-3F41-1CA1426561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45526" y="2050689"/>
            <a:ext cx="2760519" cy="27605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5813914"/>
      </p:ext>
    </p:extLst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828DBA-EDBD-E3E0-4F1C-519C9B7D12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0E546F-BF65-FA74-EA2D-F158A58F99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28A623-A5D2-8F7D-A271-E1B68D630C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3</a:t>
            </a:fld>
            <a:endParaRPr lang="en-US"/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B557F74D-ED46-E285-F642-2CB94C47CF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0436" y="1801308"/>
            <a:ext cx="1357746" cy="1357746"/>
          </a:xfrm>
          <a:prstGeom prst="rect">
            <a:avLst/>
          </a:prstGeom>
        </p:spPr>
      </p:pic>
      <p:pic>
        <p:nvPicPr>
          <p:cNvPr id="3" name="Graphic 2" descr="Marketing outline">
            <a:extLst>
              <a:ext uri="{FF2B5EF4-FFF2-40B4-BE49-F238E27FC236}">
                <a16:creationId xmlns:a16="http://schemas.microsoft.com/office/drawing/2014/main" id="{572546F5-F22C-0DE0-1D29-1EC5E0A76C9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272144" y="2521527"/>
            <a:ext cx="1814946" cy="1814946"/>
          </a:xfrm>
          <a:prstGeom prst="rect">
            <a:avLst/>
          </a:prstGeom>
        </p:spPr>
      </p:pic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6714079B-4348-3DE5-27D6-EBB0F747ECE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993285" y="3640757"/>
            <a:ext cx="1133962" cy="1133962"/>
          </a:xfrm>
          <a:prstGeom prst="rect">
            <a:avLst/>
          </a:prstGeom>
        </p:spPr>
      </p:pic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C48F3121-D9B7-3858-F89A-0AFFB7F097D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949780" y="851543"/>
            <a:ext cx="1207583" cy="1207583"/>
          </a:xfrm>
          <a:prstGeom prst="rect">
            <a:avLst/>
          </a:prstGeom>
        </p:spPr>
      </p:pic>
      <p:pic>
        <p:nvPicPr>
          <p:cNvPr id="7" name="Graphic 6" descr="Office worker female with solid fill">
            <a:extLst>
              <a:ext uri="{FF2B5EF4-FFF2-40B4-BE49-F238E27FC236}">
                <a16:creationId xmlns:a16="http://schemas.microsoft.com/office/drawing/2014/main" id="{0C78D743-0D63-5BC5-3661-FD4F74E79AB0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8914951" y="2073198"/>
            <a:ext cx="1325562" cy="1325562"/>
          </a:xfrm>
          <a:prstGeom prst="rect">
            <a:avLst/>
          </a:prstGeom>
        </p:spPr>
      </p:pic>
      <p:pic>
        <p:nvPicPr>
          <p:cNvPr id="8" name="Graphic 7" descr="Head with gears with solid fill">
            <a:extLst>
              <a:ext uri="{FF2B5EF4-FFF2-40B4-BE49-F238E27FC236}">
                <a16:creationId xmlns:a16="http://schemas.microsoft.com/office/drawing/2014/main" id="{59C193E1-7AB9-AAB1-C73C-44489D093F02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071915" y="5016716"/>
            <a:ext cx="1133962" cy="1133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141774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F29BBE-72FA-B172-BA93-AC2155D190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06CD2A-7F51-F988-4A7C-A4510581EB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4E64C3-37EC-49C1-C14C-57895B3FF7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4</a:t>
            </a:fld>
            <a:endParaRPr lang="en-US"/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05675F9B-60F2-9B0C-70AD-A7FBDB4441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0436" y="1801308"/>
            <a:ext cx="1357746" cy="1357746"/>
          </a:xfrm>
          <a:prstGeom prst="rect">
            <a:avLst/>
          </a:prstGeom>
        </p:spPr>
      </p:pic>
      <p:pic>
        <p:nvPicPr>
          <p:cNvPr id="3" name="Graphic 2" descr="Marketing outline">
            <a:extLst>
              <a:ext uri="{FF2B5EF4-FFF2-40B4-BE49-F238E27FC236}">
                <a16:creationId xmlns:a16="http://schemas.microsoft.com/office/drawing/2014/main" id="{A1CAD604-E832-1FAC-7935-3412F930CA1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272144" y="2521527"/>
            <a:ext cx="1814946" cy="1814946"/>
          </a:xfrm>
          <a:prstGeom prst="rect">
            <a:avLst/>
          </a:prstGeom>
        </p:spPr>
      </p:pic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F49B5A4D-B2D5-61B2-A78F-29FF6F4A067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993285" y="3640757"/>
            <a:ext cx="1133962" cy="1133962"/>
          </a:xfrm>
          <a:prstGeom prst="rect">
            <a:avLst/>
          </a:prstGeom>
        </p:spPr>
      </p:pic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A10C5BBA-F8B7-2266-A081-D924D374ED9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949780" y="851543"/>
            <a:ext cx="1207583" cy="1207583"/>
          </a:xfrm>
          <a:prstGeom prst="rect">
            <a:avLst/>
          </a:prstGeom>
        </p:spPr>
      </p:pic>
      <p:pic>
        <p:nvPicPr>
          <p:cNvPr id="7" name="Graphic 6" descr="Office worker female with solid fill">
            <a:extLst>
              <a:ext uri="{FF2B5EF4-FFF2-40B4-BE49-F238E27FC236}">
                <a16:creationId xmlns:a16="http://schemas.microsoft.com/office/drawing/2014/main" id="{B60B992C-341D-AB67-CC16-9323B9570F3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8914951" y="2073198"/>
            <a:ext cx="1325562" cy="1325562"/>
          </a:xfrm>
          <a:prstGeom prst="rect">
            <a:avLst/>
          </a:prstGeom>
        </p:spPr>
      </p:pic>
      <p:pic>
        <p:nvPicPr>
          <p:cNvPr id="13" name="Graphic 12" descr="Coins with solid fill">
            <a:extLst>
              <a:ext uri="{FF2B5EF4-FFF2-40B4-BE49-F238E27FC236}">
                <a16:creationId xmlns:a16="http://schemas.microsoft.com/office/drawing/2014/main" id="{5C5D49E1-FC73-14BA-D077-1B03A2B75FB7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635897" y="1233488"/>
            <a:ext cx="914400" cy="914400"/>
          </a:xfrm>
          <a:prstGeom prst="rect">
            <a:avLst/>
          </a:prstGeom>
        </p:spPr>
      </p:pic>
      <p:pic>
        <p:nvPicPr>
          <p:cNvPr id="18" name="Graphic 17" descr="Coins with solid fill">
            <a:extLst>
              <a:ext uri="{FF2B5EF4-FFF2-40B4-BE49-F238E27FC236}">
                <a16:creationId xmlns:a16="http://schemas.microsoft.com/office/drawing/2014/main" id="{0C543CD7-E12B-3C4F-14DE-E93BFC384B72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696200" y="3726874"/>
            <a:ext cx="914400" cy="914400"/>
          </a:xfrm>
          <a:prstGeom prst="rect">
            <a:avLst/>
          </a:prstGeom>
        </p:spPr>
      </p:pic>
      <p:pic>
        <p:nvPicPr>
          <p:cNvPr id="19" name="Graphic 18" descr="Coins with solid fill">
            <a:extLst>
              <a:ext uri="{FF2B5EF4-FFF2-40B4-BE49-F238E27FC236}">
                <a16:creationId xmlns:a16="http://schemas.microsoft.com/office/drawing/2014/main" id="{7EE0C082-B571-BFC6-F723-E1236BBABFF0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624085" y="2480181"/>
            <a:ext cx="914400" cy="914400"/>
          </a:xfrm>
          <a:prstGeom prst="rect">
            <a:avLst/>
          </a:prstGeom>
        </p:spPr>
      </p:pic>
      <p:pic>
        <p:nvPicPr>
          <p:cNvPr id="20" name="Graphic 19" descr="Coins with solid fill">
            <a:extLst>
              <a:ext uri="{FF2B5EF4-FFF2-40B4-BE49-F238E27FC236}">
                <a16:creationId xmlns:a16="http://schemas.microsoft.com/office/drawing/2014/main" id="{3C2E0B11-9EBA-CCBA-A6FB-49FF46BDE413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696200" y="5041612"/>
            <a:ext cx="914400" cy="914400"/>
          </a:xfrm>
          <a:prstGeom prst="rect">
            <a:avLst/>
          </a:prstGeom>
        </p:spPr>
      </p:pic>
      <p:pic>
        <p:nvPicPr>
          <p:cNvPr id="21" name="Graphic 20" descr="Head with gears with solid fill">
            <a:extLst>
              <a:ext uri="{FF2B5EF4-FFF2-40B4-BE49-F238E27FC236}">
                <a16:creationId xmlns:a16="http://schemas.microsoft.com/office/drawing/2014/main" id="{13CDDF7D-7FB2-B412-31F8-CCF5418BE592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9071915" y="5016716"/>
            <a:ext cx="1133962" cy="1133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282509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8ABAA2-49D5-696E-5E79-4FD8B4D68D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AD32B3-77E5-8368-AACD-C994B0C4B0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0C9113-8AEF-BBAC-B487-291339FB00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5</a:t>
            </a:fld>
            <a:endParaRPr lang="en-US"/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804706E6-7140-7FB4-263D-A07F4ECE59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0436" y="1801308"/>
            <a:ext cx="1357746" cy="1357746"/>
          </a:xfrm>
          <a:prstGeom prst="rect">
            <a:avLst/>
          </a:prstGeom>
        </p:spPr>
      </p:pic>
      <p:pic>
        <p:nvPicPr>
          <p:cNvPr id="3" name="Graphic 2" descr="Marketing outline">
            <a:extLst>
              <a:ext uri="{FF2B5EF4-FFF2-40B4-BE49-F238E27FC236}">
                <a16:creationId xmlns:a16="http://schemas.microsoft.com/office/drawing/2014/main" id="{10BB1DAE-9A67-B7D2-F0B1-7DC4FC4729A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272144" y="2521527"/>
            <a:ext cx="1814946" cy="1814946"/>
          </a:xfrm>
          <a:prstGeom prst="rect">
            <a:avLst/>
          </a:prstGeom>
        </p:spPr>
      </p:pic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A92473BC-8FE4-3F08-FD96-85C16166B1D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993285" y="3640757"/>
            <a:ext cx="1133962" cy="1133962"/>
          </a:xfrm>
          <a:prstGeom prst="rect">
            <a:avLst/>
          </a:prstGeom>
        </p:spPr>
      </p:pic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C07B8E88-FD12-0994-8CB2-1D582CB750D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949780" y="851543"/>
            <a:ext cx="1207583" cy="1207583"/>
          </a:xfrm>
          <a:prstGeom prst="rect">
            <a:avLst/>
          </a:prstGeom>
        </p:spPr>
      </p:pic>
      <p:pic>
        <p:nvPicPr>
          <p:cNvPr id="7" name="Graphic 6" descr="Office worker female with solid fill">
            <a:extLst>
              <a:ext uri="{FF2B5EF4-FFF2-40B4-BE49-F238E27FC236}">
                <a16:creationId xmlns:a16="http://schemas.microsoft.com/office/drawing/2014/main" id="{E14C2B8F-FE57-0C1A-D5A4-334E208F7B7E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8914951" y="2073198"/>
            <a:ext cx="1325562" cy="1325562"/>
          </a:xfrm>
          <a:prstGeom prst="rect">
            <a:avLst/>
          </a:prstGeom>
        </p:spPr>
      </p:pic>
      <p:pic>
        <p:nvPicPr>
          <p:cNvPr id="13" name="Graphic 12" descr="Coins with solid fill">
            <a:extLst>
              <a:ext uri="{FF2B5EF4-FFF2-40B4-BE49-F238E27FC236}">
                <a16:creationId xmlns:a16="http://schemas.microsoft.com/office/drawing/2014/main" id="{9E0D4869-70CC-0F21-6DE9-5CCC78BB6438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265217" y="4461597"/>
            <a:ext cx="914400" cy="914400"/>
          </a:xfrm>
          <a:prstGeom prst="rect">
            <a:avLst/>
          </a:prstGeom>
        </p:spPr>
      </p:pic>
      <p:pic>
        <p:nvPicPr>
          <p:cNvPr id="18" name="Graphic 17" descr="Coins with solid fill">
            <a:extLst>
              <a:ext uri="{FF2B5EF4-FFF2-40B4-BE49-F238E27FC236}">
                <a16:creationId xmlns:a16="http://schemas.microsoft.com/office/drawing/2014/main" id="{FABA1E46-7DE3-7E83-307D-3580F12A83C4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615740" y="4774719"/>
            <a:ext cx="914400" cy="914400"/>
          </a:xfrm>
          <a:prstGeom prst="rect">
            <a:avLst/>
          </a:prstGeom>
        </p:spPr>
      </p:pic>
      <p:pic>
        <p:nvPicPr>
          <p:cNvPr id="19" name="Graphic 18" descr="Coins with solid fill">
            <a:extLst>
              <a:ext uri="{FF2B5EF4-FFF2-40B4-BE49-F238E27FC236}">
                <a16:creationId xmlns:a16="http://schemas.microsoft.com/office/drawing/2014/main" id="{9272677E-CB3D-8242-D78E-54D89A23FFD8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198716" y="4737246"/>
            <a:ext cx="914400" cy="914400"/>
          </a:xfrm>
          <a:prstGeom prst="rect">
            <a:avLst/>
          </a:prstGeom>
        </p:spPr>
      </p:pic>
      <p:pic>
        <p:nvPicPr>
          <p:cNvPr id="20" name="Graphic 19" descr="Coins with solid fill">
            <a:extLst>
              <a:ext uri="{FF2B5EF4-FFF2-40B4-BE49-F238E27FC236}">
                <a16:creationId xmlns:a16="http://schemas.microsoft.com/office/drawing/2014/main" id="{B5C4193A-1BB1-1DBF-BD50-36C1D9C3C7E3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530140" y="5188913"/>
            <a:ext cx="914400" cy="914400"/>
          </a:xfrm>
          <a:prstGeom prst="rect">
            <a:avLst/>
          </a:prstGeom>
        </p:spPr>
      </p:pic>
      <p:pic>
        <p:nvPicPr>
          <p:cNvPr id="9" name="Graphic 8" descr="Head with gears with solid fill">
            <a:extLst>
              <a:ext uri="{FF2B5EF4-FFF2-40B4-BE49-F238E27FC236}">
                <a16:creationId xmlns:a16="http://schemas.microsoft.com/office/drawing/2014/main" id="{61C790B3-126D-41E0-B7AC-5D62B7C77111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9071915" y="5016716"/>
            <a:ext cx="1133962" cy="1133962"/>
          </a:xfrm>
          <a:prstGeom prst="rect">
            <a:avLst/>
          </a:prstGeom>
        </p:spPr>
      </p:pic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74BE8875-5FE5-9DC5-21A3-35CBC30A7632}"/>
              </a:ext>
            </a:extLst>
          </p:cNvPr>
          <p:cNvSpPr/>
          <p:nvPr/>
        </p:nvSpPr>
        <p:spPr>
          <a:xfrm>
            <a:off x="4641275" y="1497157"/>
            <a:ext cx="3463637" cy="1024803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bg1"/>
                </a:solidFill>
              </a:rPr>
              <a:t>1 stock, 4 buyers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AF2FE911-F778-682B-6D73-ACFA24E5FAC2}"/>
              </a:ext>
            </a:extLst>
          </p:cNvPr>
          <p:cNvSpPr/>
          <p:nvPr/>
        </p:nvSpPr>
        <p:spPr>
          <a:xfrm>
            <a:off x="4641275" y="2979377"/>
            <a:ext cx="3463637" cy="1024803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bg1"/>
                </a:solidFill>
              </a:rPr>
              <a:t>Who gets to buy?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2D8EAB7D-7673-0A52-9E1E-9024D662074D}"/>
              </a:ext>
            </a:extLst>
          </p:cNvPr>
          <p:cNvSpPr/>
          <p:nvPr/>
        </p:nvSpPr>
        <p:spPr>
          <a:xfrm>
            <a:off x="4674779" y="4461597"/>
            <a:ext cx="3463637" cy="1024803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bg1"/>
                </a:solidFill>
              </a:rPr>
              <a:t>whoever asked first!</a:t>
            </a:r>
          </a:p>
        </p:txBody>
      </p:sp>
    </p:spTree>
    <p:extLst>
      <p:ext uri="{BB962C8B-B14F-4D97-AF65-F5344CB8AC3E}">
        <p14:creationId xmlns:p14="http://schemas.microsoft.com/office/powerpoint/2010/main" val="117967327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952BF5-3015-D126-2799-1281798A15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A3F751-6B8B-47A8-38C2-14DA7EDA8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Financial Market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CC7D2A-720C-518A-83C6-19913CA086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6</a:t>
            </a:fld>
            <a:endParaRPr lang="en-US"/>
          </a:p>
        </p:txBody>
      </p:sp>
      <p:pic>
        <p:nvPicPr>
          <p:cNvPr id="10" name="Graphic 9" descr="Downward trend graph outline">
            <a:extLst>
              <a:ext uri="{FF2B5EF4-FFF2-40B4-BE49-F238E27FC236}">
                <a16:creationId xmlns:a16="http://schemas.microsoft.com/office/drawing/2014/main" id="{763ADF05-A92F-8F33-CDBF-32658D487B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0436" y="1801308"/>
            <a:ext cx="1357746" cy="1357746"/>
          </a:xfrm>
          <a:prstGeom prst="rect">
            <a:avLst/>
          </a:prstGeom>
        </p:spPr>
      </p:pic>
      <p:pic>
        <p:nvPicPr>
          <p:cNvPr id="3" name="Graphic 2" descr="Marketing outline">
            <a:extLst>
              <a:ext uri="{FF2B5EF4-FFF2-40B4-BE49-F238E27FC236}">
                <a16:creationId xmlns:a16="http://schemas.microsoft.com/office/drawing/2014/main" id="{C2B292DE-8C03-DC4A-6942-F149BE89D3E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272144" y="2521527"/>
            <a:ext cx="1814946" cy="1814946"/>
          </a:xfrm>
          <a:prstGeom prst="rect">
            <a:avLst/>
          </a:prstGeom>
        </p:spPr>
      </p:pic>
      <p:pic>
        <p:nvPicPr>
          <p:cNvPr id="5" name="Graphic 4" descr="Baby outline">
            <a:extLst>
              <a:ext uri="{FF2B5EF4-FFF2-40B4-BE49-F238E27FC236}">
                <a16:creationId xmlns:a16="http://schemas.microsoft.com/office/drawing/2014/main" id="{1204A95F-8644-A11D-66BA-A7F77A63C9A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993285" y="3640757"/>
            <a:ext cx="1133962" cy="1133962"/>
          </a:xfrm>
          <a:prstGeom prst="rect">
            <a:avLst/>
          </a:prstGeom>
        </p:spPr>
      </p:pic>
      <p:pic>
        <p:nvPicPr>
          <p:cNvPr id="6" name="Graphic 5" descr="Male profile with solid fill">
            <a:extLst>
              <a:ext uri="{FF2B5EF4-FFF2-40B4-BE49-F238E27FC236}">
                <a16:creationId xmlns:a16="http://schemas.microsoft.com/office/drawing/2014/main" id="{E6806E34-1994-1032-9DF6-4D6F18656CCF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949780" y="851543"/>
            <a:ext cx="1207583" cy="1207583"/>
          </a:xfrm>
          <a:prstGeom prst="rect">
            <a:avLst/>
          </a:prstGeom>
        </p:spPr>
      </p:pic>
      <p:pic>
        <p:nvPicPr>
          <p:cNvPr id="7" name="Graphic 6" descr="Office worker female with solid fill">
            <a:extLst>
              <a:ext uri="{FF2B5EF4-FFF2-40B4-BE49-F238E27FC236}">
                <a16:creationId xmlns:a16="http://schemas.microsoft.com/office/drawing/2014/main" id="{6306CEE3-B920-4472-B56E-A4FA29F00666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8914951" y="2073198"/>
            <a:ext cx="1325562" cy="1325562"/>
          </a:xfrm>
          <a:prstGeom prst="rect">
            <a:avLst/>
          </a:prstGeom>
        </p:spPr>
      </p:pic>
      <p:pic>
        <p:nvPicPr>
          <p:cNvPr id="13" name="Graphic 12" descr="Coins with solid fill">
            <a:extLst>
              <a:ext uri="{FF2B5EF4-FFF2-40B4-BE49-F238E27FC236}">
                <a16:creationId xmlns:a16="http://schemas.microsoft.com/office/drawing/2014/main" id="{9BDBF1A2-F83E-4662-7812-48D08B377F1A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265217" y="4461597"/>
            <a:ext cx="914400" cy="914400"/>
          </a:xfrm>
          <a:prstGeom prst="rect">
            <a:avLst/>
          </a:prstGeom>
        </p:spPr>
      </p:pic>
      <p:pic>
        <p:nvPicPr>
          <p:cNvPr id="18" name="Graphic 17" descr="Coins with solid fill">
            <a:extLst>
              <a:ext uri="{FF2B5EF4-FFF2-40B4-BE49-F238E27FC236}">
                <a16:creationId xmlns:a16="http://schemas.microsoft.com/office/drawing/2014/main" id="{00BA45E6-65FC-EE9D-562C-7656E86B693F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615740" y="4774719"/>
            <a:ext cx="914400" cy="914400"/>
          </a:xfrm>
          <a:prstGeom prst="rect">
            <a:avLst/>
          </a:prstGeom>
        </p:spPr>
      </p:pic>
      <p:pic>
        <p:nvPicPr>
          <p:cNvPr id="19" name="Graphic 18" descr="Coins with solid fill">
            <a:extLst>
              <a:ext uri="{FF2B5EF4-FFF2-40B4-BE49-F238E27FC236}">
                <a16:creationId xmlns:a16="http://schemas.microsoft.com/office/drawing/2014/main" id="{61637A50-1F56-9708-958E-32EE0A34805C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198716" y="4737246"/>
            <a:ext cx="914400" cy="914400"/>
          </a:xfrm>
          <a:prstGeom prst="rect">
            <a:avLst/>
          </a:prstGeom>
        </p:spPr>
      </p:pic>
      <p:pic>
        <p:nvPicPr>
          <p:cNvPr id="20" name="Graphic 19" descr="Coins with solid fill">
            <a:extLst>
              <a:ext uri="{FF2B5EF4-FFF2-40B4-BE49-F238E27FC236}">
                <a16:creationId xmlns:a16="http://schemas.microsoft.com/office/drawing/2014/main" id="{5D21E5F1-9028-51CE-CAA1-1CCC9B754E95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530140" y="5188913"/>
            <a:ext cx="914400" cy="914400"/>
          </a:xfrm>
          <a:prstGeom prst="rect">
            <a:avLst/>
          </a:prstGeom>
        </p:spPr>
      </p:pic>
      <p:pic>
        <p:nvPicPr>
          <p:cNvPr id="9" name="Graphic 8" descr="Head with gears with solid fill">
            <a:extLst>
              <a:ext uri="{FF2B5EF4-FFF2-40B4-BE49-F238E27FC236}">
                <a16:creationId xmlns:a16="http://schemas.microsoft.com/office/drawing/2014/main" id="{78C82B5A-FD9B-0AD2-CA57-ED29DE40B2A2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9071915" y="5016716"/>
            <a:ext cx="1133962" cy="1133962"/>
          </a:xfrm>
          <a:prstGeom prst="rect">
            <a:avLst/>
          </a:prstGeom>
        </p:spPr>
      </p:pic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A4FF3DAD-CAB3-CE75-7E3C-A5924B0BA599}"/>
              </a:ext>
            </a:extLst>
          </p:cNvPr>
          <p:cNvSpPr/>
          <p:nvPr/>
        </p:nvSpPr>
        <p:spPr>
          <a:xfrm>
            <a:off x="4087090" y="1497331"/>
            <a:ext cx="4633899" cy="1325562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bg1"/>
                </a:solidFill>
              </a:rPr>
              <a:t>whoever asked first!</a:t>
            </a:r>
          </a:p>
        </p:txBody>
      </p:sp>
      <p:pic>
        <p:nvPicPr>
          <p:cNvPr id="15" name="Graphic 14" descr="Question Mark with solid fill">
            <a:extLst>
              <a:ext uri="{FF2B5EF4-FFF2-40B4-BE49-F238E27FC236}">
                <a16:creationId xmlns:a16="http://schemas.microsoft.com/office/drawing/2014/main" id="{E11FD498-207A-9028-8322-FE0743020624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906043" y="2095015"/>
            <a:ext cx="700266" cy="700266"/>
          </a:xfrm>
          <a:prstGeom prst="rect">
            <a:avLst/>
          </a:prstGeom>
        </p:spPr>
      </p:pic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3887983B-C5B4-84EC-7B7F-4EA9A0AC10E3}"/>
              </a:ext>
            </a:extLst>
          </p:cNvPr>
          <p:cNvSpPr/>
          <p:nvPr/>
        </p:nvSpPr>
        <p:spPr>
          <a:xfrm>
            <a:off x="4087089" y="3429000"/>
            <a:ext cx="4633899" cy="1325562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Fair Ordering</a:t>
            </a:r>
          </a:p>
        </p:txBody>
      </p:sp>
    </p:spTree>
    <p:extLst>
      <p:ext uri="{BB962C8B-B14F-4D97-AF65-F5344CB8AC3E}">
        <p14:creationId xmlns:p14="http://schemas.microsoft.com/office/powerpoint/2010/main" val="376561711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800" decel="100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8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8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-0.05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8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0.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200" accel="1000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00" accel="1000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53F06C-2397-39CD-408E-C05D0CC79D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3164A5-0EFE-2F48-0ED1-C0A6207287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7</a:t>
            </a:fld>
            <a:endParaRPr lang="en-US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F3D96C1A-530B-1103-9C55-A758E4E702C3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7CAAC65-910C-A0EA-D093-035FE09CC03D}"/>
              </a:ext>
            </a:extLst>
          </p:cNvPr>
          <p:cNvSpPr/>
          <p:nvPr/>
        </p:nvSpPr>
        <p:spPr>
          <a:xfrm>
            <a:off x="1489360" y="2596283"/>
            <a:ext cx="8991601" cy="2026227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true occurrence order!</a:t>
            </a:r>
          </a:p>
        </p:txBody>
      </p:sp>
    </p:spTree>
    <p:extLst>
      <p:ext uri="{BB962C8B-B14F-4D97-AF65-F5344CB8AC3E}">
        <p14:creationId xmlns:p14="http://schemas.microsoft.com/office/powerpoint/2010/main" val="230458951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FA8EE5-9896-D219-FEFD-BAB86FD7AB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BDF054-2ED4-CA1C-AA20-9F70C10E75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F80786-77E6-134C-ADA2-416C85F6726C}" type="slidenum">
              <a:rPr lang="en-US" smtClean="0"/>
              <a:t>8</a:t>
            </a:fld>
            <a:endParaRPr lang="en-US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8BBBCEB2-26A3-658D-F231-989E202F3652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E6B77087-D146-3F54-AB13-9311033B137C}"/>
              </a:ext>
            </a:extLst>
          </p:cNvPr>
          <p:cNvSpPr/>
          <p:nvPr/>
        </p:nvSpPr>
        <p:spPr>
          <a:xfrm>
            <a:off x="1489360" y="2596283"/>
            <a:ext cx="8991601" cy="2026227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</a:t>
            </a:r>
            <a:r>
              <a:rPr lang="en-US" sz="3200" dirty="0">
                <a:solidFill>
                  <a:schemeClr val="bg1"/>
                </a:solidFill>
                <a:highlight>
                  <a:srgbClr val="FF0000"/>
                </a:highlight>
              </a:rPr>
              <a:t>true occurrence order</a:t>
            </a:r>
            <a:r>
              <a:rPr lang="en-US" sz="3200" dirty="0">
                <a:solidFill>
                  <a:schemeClr val="tx1"/>
                </a:solidFill>
              </a:rPr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373626993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A36C3F-E0D9-CCF6-6EDC-344EF354F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D16C38AD-286E-6BEC-587F-0F0AFC41FBD4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1C8C80E-324D-EB67-6265-070A904E6CE6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</a:t>
            </a:r>
            <a:r>
              <a:rPr lang="en-US" sz="3200" dirty="0">
                <a:solidFill>
                  <a:schemeClr val="bg1"/>
                </a:solidFill>
                <a:highlight>
                  <a:srgbClr val="FF0000"/>
                </a:highlight>
              </a:rPr>
              <a:t>true occurrence order</a:t>
            </a:r>
            <a:r>
              <a:rPr lang="en-US" sz="3200" dirty="0">
                <a:solidFill>
                  <a:schemeClr val="tx1"/>
                </a:solidFill>
              </a:rPr>
              <a:t>!</a:t>
            </a:r>
          </a:p>
        </p:txBody>
      </p:sp>
      <p:pic>
        <p:nvPicPr>
          <p:cNvPr id="3" name="Graphic 2" descr="Clock with solid fill">
            <a:extLst>
              <a:ext uri="{FF2B5EF4-FFF2-40B4-BE49-F238E27FC236}">
                <a16:creationId xmlns:a16="http://schemas.microsoft.com/office/drawing/2014/main" id="{1A839E66-BEA0-81BA-8867-ABFBBB3E57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5081624"/>
            <a:ext cx="914400" cy="914400"/>
          </a:xfrm>
          <a:prstGeom prst="rect">
            <a:avLst/>
          </a:prstGeom>
        </p:spPr>
      </p:pic>
      <p:pic>
        <p:nvPicPr>
          <p:cNvPr id="5" name="Graphic 4" descr="Clock with solid fill">
            <a:extLst>
              <a:ext uri="{FF2B5EF4-FFF2-40B4-BE49-F238E27FC236}">
                <a16:creationId xmlns:a16="http://schemas.microsoft.com/office/drawing/2014/main" id="{9C149CE8-66E3-F44F-0903-02D7D13A77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3289986"/>
            <a:ext cx="914400" cy="914400"/>
          </a:xfrm>
          <a:prstGeom prst="rect">
            <a:avLst/>
          </a:prstGeom>
        </p:spPr>
      </p:pic>
      <p:pic>
        <p:nvPicPr>
          <p:cNvPr id="6" name="Graphic 5" descr="Clock with solid fill">
            <a:extLst>
              <a:ext uri="{FF2B5EF4-FFF2-40B4-BE49-F238E27FC236}">
                <a16:creationId xmlns:a16="http://schemas.microsoft.com/office/drawing/2014/main" id="{D43E9C66-54D7-DEF4-080C-83D218B7C9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92637" y="4167224"/>
            <a:ext cx="914400" cy="9144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FE37185-24A6-CA4E-3DEB-53A208302930}"/>
              </a:ext>
            </a:extLst>
          </p:cNvPr>
          <p:cNvSpPr txBox="1"/>
          <p:nvPr/>
        </p:nvSpPr>
        <p:spPr>
          <a:xfrm>
            <a:off x="7807037" y="3747186"/>
            <a:ext cx="227907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Clients with perfectly synchronized clocks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E4EA5CE6-A8B0-2532-7CE6-430D07B011BA}"/>
              </a:ext>
            </a:extLst>
          </p:cNvPr>
          <p:cNvSpPr/>
          <p:nvPr/>
        </p:nvSpPr>
        <p:spPr>
          <a:xfrm>
            <a:off x="2479964" y="3394364"/>
            <a:ext cx="3505200" cy="2452254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Process events in the order of their timestamps!</a:t>
            </a:r>
          </a:p>
        </p:txBody>
      </p:sp>
    </p:spTree>
    <p:extLst>
      <p:ext uri="{BB962C8B-B14F-4D97-AF65-F5344CB8AC3E}">
        <p14:creationId xmlns:p14="http://schemas.microsoft.com/office/powerpoint/2010/main" val="212660086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41029D-4069-17CF-D434-22F57DDB88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9FC8D823-2CE1-F25E-5A92-A5E8FB33398E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72E305E6-83BB-4E31-085D-B5D448F9501A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</a:t>
            </a:r>
            <a:r>
              <a:rPr lang="en-US" sz="3200" dirty="0">
                <a:solidFill>
                  <a:schemeClr val="bg1"/>
                </a:solidFill>
                <a:highlight>
                  <a:srgbClr val="FF0000"/>
                </a:highlight>
              </a:rPr>
              <a:t>true occurrence order</a:t>
            </a:r>
            <a:r>
              <a:rPr lang="en-US" sz="3200" dirty="0">
                <a:solidFill>
                  <a:schemeClr val="tx1"/>
                </a:solidFill>
              </a:rPr>
              <a:t>!</a:t>
            </a:r>
          </a:p>
        </p:txBody>
      </p:sp>
      <p:pic>
        <p:nvPicPr>
          <p:cNvPr id="3" name="Graphic 2" descr="Clock with solid fill">
            <a:extLst>
              <a:ext uri="{FF2B5EF4-FFF2-40B4-BE49-F238E27FC236}">
                <a16:creationId xmlns:a16="http://schemas.microsoft.com/office/drawing/2014/main" id="{96A1132D-ACD4-8E9D-94D4-C65F9426DE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9030630">
            <a:off x="6892637" y="5081624"/>
            <a:ext cx="914400" cy="914400"/>
          </a:xfrm>
          <a:prstGeom prst="rect">
            <a:avLst/>
          </a:prstGeom>
        </p:spPr>
      </p:pic>
      <p:pic>
        <p:nvPicPr>
          <p:cNvPr id="5" name="Graphic 4" descr="Clock with solid fill">
            <a:extLst>
              <a:ext uri="{FF2B5EF4-FFF2-40B4-BE49-F238E27FC236}">
                <a16:creationId xmlns:a16="http://schemas.microsoft.com/office/drawing/2014/main" id="{C76E0F45-850D-DDA1-BADD-837246D7EA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7035987">
            <a:off x="6892637" y="3289986"/>
            <a:ext cx="914400" cy="914400"/>
          </a:xfrm>
          <a:prstGeom prst="rect">
            <a:avLst/>
          </a:prstGeom>
        </p:spPr>
      </p:pic>
      <p:pic>
        <p:nvPicPr>
          <p:cNvPr id="6" name="Graphic 5" descr="Clock with solid fill">
            <a:extLst>
              <a:ext uri="{FF2B5EF4-FFF2-40B4-BE49-F238E27FC236}">
                <a16:creationId xmlns:a16="http://schemas.microsoft.com/office/drawing/2014/main" id="{E7FFE3E3-CACF-A0C3-16F7-0515C5C007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178153">
            <a:off x="6892637" y="4167224"/>
            <a:ext cx="914400" cy="9144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A75F368-F386-F025-27B0-A50D20FD8169}"/>
              </a:ext>
            </a:extLst>
          </p:cNvPr>
          <p:cNvSpPr txBox="1"/>
          <p:nvPr/>
        </p:nvSpPr>
        <p:spPr>
          <a:xfrm>
            <a:off x="7807037" y="3747186"/>
            <a:ext cx="227907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Clients with </a:t>
            </a:r>
            <a:r>
              <a:rPr lang="en-US" sz="2800" dirty="0">
                <a:solidFill>
                  <a:schemeClr val="bg1"/>
                </a:solidFill>
                <a:highlight>
                  <a:srgbClr val="FF0000"/>
                </a:highlight>
              </a:rPr>
              <a:t>perfectly synchronized clocks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93C14C7E-1A35-1930-5B6D-9852AE4FC129}"/>
              </a:ext>
            </a:extLst>
          </p:cNvPr>
          <p:cNvSpPr/>
          <p:nvPr/>
        </p:nvSpPr>
        <p:spPr>
          <a:xfrm>
            <a:off x="2479964" y="3394364"/>
            <a:ext cx="3505200" cy="2452254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tx1"/>
                </a:solidFill>
              </a:rPr>
              <a:t>Process events in the order of their timestamps!</a:t>
            </a:r>
          </a:p>
        </p:txBody>
      </p:sp>
    </p:spTree>
    <p:extLst>
      <p:ext uri="{BB962C8B-B14F-4D97-AF65-F5344CB8AC3E}">
        <p14:creationId xmlns:p14="http://schemas.microsoft.com/office/powerpoint/2010/main" val="239585804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663E67-747F-E98E-5C3E-30AC65B443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EB39B488-FFCF-4D9E-BC64-C6EBB042959E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1124650B-C049-5490-96F4-2BCA96ECCBF0}"/>
              </a:ext>
            </a:extLst>
          </p:cNvPr>
          <p:cNvSpPr/>
          <p:nvPr/>
        </p:nvSpPr>
        <p:spPr>
          <a:xfrm>
            <a:off x="1077189" y="1765010"/>
            <a:ext cx="10037622" cy="990601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Events generated by clients should be observed by a server in the same order as their </a:t>
            </a:r>
            <a:r>
              <a:rPr lang="en-US" sz="3200" dirty="0">
                <a:solidFill>
                  <a:schemeClr val="bg1"/>
                </a:solidFill>
                <a:highlight>
                  <a:srgbClr val="FF0000"/>
                </a:highlight>
              </a:rPr>
              <a:t>true occurrence order</a:t>
            </a:r>
            <a:r>
              <a:rPr lang="en-US" sz="3200" dirty="0">
                <a:solidFill>
                  <a:schemeClr val="tx1"/>
                </a:solidFill>
              </a:rPr>
              <a:t>!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18F9A30-7221-B85B-AE16-639897C90641}"/>
              </a:ext>
            </a:extLst>
          </p:cNvPr>
          <p:cNvSpPr txBox="1"/>
          <p:nvPr/>
        </p:nvSpPr>
        <p:spPr>
          <a:xfrm>
            <a:off x="7807037" y="3747186"/>
            <a:ext cx="227907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Clients with </a:t>
            </a:r>
            <a:r>
              <a:rPr lang="en-US" sz="2800" dirty="0">
                <a:solidFill>
                  <a:schemeClr val="bg1"/>
                </a:solidFill>
                <a:highlight>
                  <a:srgbClr val="FF0000"/>
                </a:highlight>
              </a:rPr>
              <a:t>perfectly synchronized clocks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06D8C4E2-E66B-D24C-13D5-6CFA11CEF13E}"/>
              </a:ext>
            </a:extLst>
          </p:cNvPr>
          <p:cNvSpPr/>
          <p:nvPr/>
        </p:nvSpPr>
        <p:spPr>
          <a:xfrm>
            <a:off x="2479964" y="3394364"/>
            <a:ext cx="3505200" cy="2452254"/>
          </a:xfrm>
          <a:prstGeom prst="round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>
                <a:solidFill>
                  <a:schemeClr val="bg1"/>
                </a:solidFill>
              </a:rPr>
              <a:t>Process events in the order of their timestamps!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8166A68A-5921-C26F-74AC-F23769E73B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9030630">
            <a:off x="6892637" y="5081624"/>
            <a:ext cx="914400" cy="914400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0BE69F7B-3D03-F056-96C3-DEE9C651202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7035987">
            <a:off x="6892637" y="3289986"/>
            <a:ext cx="914400" cy="914400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AEDFA497-70BE-6CCC-DAB4-4F4671A9C7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178153">
            <a:off x="6892637" y="4167224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65954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1F0BC2-790E-4C10-6187-B542DA3CF0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230C2301-B1A5-44C9-C219-26877762654C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342E92BA-B28C-3D25-E186-B82EA31D7BB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9030630">
            <a:off x="6786549" y="2619550"/>
            <a:ext cx="1249305" cy="1249305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39F519B8-4089-DE9E-2DA0-ADCA58589B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7035987">
            <a:off x="2815203" y="2618929"/>
            <a:ext cx="1250548" cy="1250548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17DCE4E2-15E3-2BFA-F35A-30E33F8148C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178153">
            <a:off x="4736757" y="2599194"/>
            <a:ext cx="1294281" cy="1294281"/>
          </a:xfrm>
          <a:prstGeom prst="rect">
            <a:avLst/>
          </a:prstGeom>
        </p:spPr>
      </p:pic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EFB9C1EF-BFA6-401A-AFF8-EA2BC2EAE5E6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Our Proposal</a:t>
            </a:r>
          </a:p>
        </p:txBody>
      </p:sp>
    </p:spTree>
    <p:extLst>
      <p:ext uri="{BB962C8B-B14F-4D97-AF65-F5344CB8AC3E}">
        <p14:creationId xmlns:p14="http://schemas.microsoft.com/office/powerpoint/2010/main" val="21924092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0B2650-2C8C-F10D-9303-B6E4D53E41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F12AEC06-BA69-D35C-FADB-0B8D9D6674DA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7B9D80AE-1EA8-AA1A-2806-8D543F3723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376756">
            <a:off x="6786549" y="2619550"/>
            <a:ext cx="1249305" cy="1249305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14FDA53E-0579-83A3-19F2-16FE477BE3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0756516">
            <a:off x="2815203" y="2618929"/>
            <a:ext cx="1250548" cy="1250548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39813B02-8883-0FC1-6CBA-18EEEC231E4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18788">
            <a:off x="4736757" y="2599194"/>
            <a:ext cx="1294281" cy="1294281"/>
          </a:xfrm>
          <a:prstGeom prst="rect">
            <a:avLst/>
          </a:prstGeom>
        </p:spPr>
      </p:pic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31DC8F9B-53C0-AA38-AD63-A1C84FC4D2C9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Our Proposal</a:t>
            </a:r>
          </a:p>
        </p:txBody>
      </p:sp>
    </p:spTree>
    <p:extLst>
      <p:ext uri="{BB962C8B-B14F-4D97-AF65-F5344CB8AC3E}">
        <p14:creationId xmlns:p14="http://schemas.microsoft.com/office/powerpoint/2010/main" val="298379725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C98873-9C47-FF70-CB2A-C85F2FB5A3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AEE4BB2E-72B1-BB66-045F-0F2A2B6D6B53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13D1EBDF-4915-B5A9-16AE-5689218101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9215335">
            <a:off x="6786549" y="1924669"/>
            <a:ext cx="1249305" cy="1249305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531ABAB2-BE16-8A2E-0B01-F99E887187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1378094">
            <a:off x="2815203" y="1924048"/>
            <a:ext cx="1250548" cy="1250548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9914F3B6-854D-FE8A-6755-80755A5870C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0659468">
            <a:off x="4736757" y="1904313"/>
            <a:ext cx="1294281" cy="1294281"/>
          </a:xfrm>
          <a:prstGeom prst="rect">
            <a:avLst/>
          </a:prstGeom>
        </p:spPr>
      </p:pic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1F9AB9CE-A56E-1754-5BA5-0ECA64FEC4B4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Our Proposal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FD7F4FE3-A206-B743-A89B-B5C1E442D9B4}"/>
              </a:ext>
            </a:extLst>
          </p:cNvPr>
          <p:cNvSpPr/>
          <p:nvPr/>
        </p:nvSpPr>
        <p:spPr>
          <a:xfrm>
            <a:off x="355682" y="3317113"/>
            <a:ext cx="516800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1. Learn Error Distributions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21F1B849-EC06-F10B-8F75-E6F2BCA066BC}"/>
              </a:ext>
            </a:extLst>
          </p:cNvPr>
          <p:cNvSpPr/>
          <p:nvPr/>
        </p:nvSpPr>
        <p:spPr>
          <a:xfrm>
            <a:off x="1987994" y="4443767"/>
            <a:ext cx="6449421" cy="990600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2. True Time as a function of local time + Distributions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D4270D84-6DD6-D71A-3B09-09FDD2388292}"/>
              </a:ext>
            </a:extLst>
          </p:cNvPr>
          <p:cNvSpPr/>
          <p:nvPr/>
        </p:nvSpPr>
        <p:spPr>
          <a:xfrm>
            <a:off x="4585975" y="5570422"/>
            <a:ext cx="7171053" cy="99060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3. Get True Time comparison by only comparing local time</a:t>
            </a:r>
          </a:p>
        </p:txBody>
      </p:sp>
    </p:spTree>
    <p:extLst>
      <p:ext uri="{BB962C8B-B14F-4D97-AF65-F5344CB8AC3E}">
        <p14:creationId xmlns:p14="http://schemas.microsoft.com/office/powerpoint/2010/main" val="97082600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FCFAB5-8AEF-C565-9810-2B08A95086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BB4B1CE9-DA81-2053-3DA3-057E20B8C6C6}"/>
              </a:ext>
            </a:extLst>
          </p:cNvPr>
          <p:cNvSpPr/>
          <p:nvPr/>
        </p:nvSpPr>
        <p:spPr>
          <a:xfrm>
            <a:off x="623454" y="574964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pic>
        <p:nvPicPr>
          <p:cNvPr id="2" name="Graphic 1" descr="Clock with solid fill">
            <a:extLst>
              <a:ext uri="{FF2B5EF4-FFF2-40B4-BE49-F238E27FC236}">
                <a16:creationId xmlns:a16="http://schemas.microsoft.com/office/drawing/2014/main" id="{94C93DC4-19A2-D5C3-9737-E329E91D93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9215335">
            <a:off x="6786549" y="1924669"/>
            <a:ext cx="1249305" cy="1249305"/>
          </a:xfrm>
          <a:prstGeom prst="rect">
            <a:avLst/>
          </a:prstGeom>
        </p:spPr>
      </p:pic>
      <p:pic>
        <p:nvPicPr>
          <p:cNvPr id="4" name="Graphic 3" descr="Clock with solid fill">
            <a:extLst>
              <a:ext uri="{FF2B5EF4-FFF2-40B4-BE49-F238E27FC236}">
                <a16:creationId xmlns:a16="http://schemas.microsoft.com/office/drawing/2014/main" id="{5A52EBB7-83DE-29A5-ACAD-4561CD5BA32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1378094">
            <a:off x="2815203" y="1924048"/>
            <a:ext cx="1250548" cy="1250548"/>
          </a:xfrm>
          <a:prstGeom prst="rect">
            <a:avLst/>
          </a:prstGeom>
        </p:spPr>
      </p:pic>
      <p:pic>
        <p:nvPicPr>
          <p:cNvPr id="9" name="Graphic 8" descr="Clock with solid fill">
            <a:extLst>
              <a:ext uri="{FF2B5EF4-FFF2-40B4-BE49-F238E27FC236}">
                <a16:creationId xmlns:a16="http://schemas.microsoft.com/office/drawing/2014/main" id="{8C5B2475-51DB-B7A6-F27B-32F78EEBD7D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0659468">
            <a:off x="4736757" y="1904313"/>
            <a:ext cx="1294281" cy="1294281"/>
          </a:xfrm>
          <a:prstGeom prst="rect">
            <a:avLst/>
          </a:prstGeom>
        </p:spPr>
      </p:pic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C873C2EE-03B9-ADB6-6896-523FE586FCF9}"/>
              </a:ext>
            </a:extLst>
          </p:cNvPr>
          <p:cNvSpPr/>
          <p:nvPr/>
        </p:nvSpPr>
        <p:spPr>
          <a:xfrm>
            <a:off x="5383897" y="574964"/>
            <a:ext cx="428105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Our Proposal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C220A784-B5CE-4852-1E05-6F07E3D6229D}"/>
              </a:ext>
            </a:extLst>
          </p:cNvPr>
          <p:cNvSpPr/>
          <p:nvPr/>
        </p:nvSpPr>
        <p:spPr>
          <a:xfrm>
            <a:off x="355682" y="3317113"/>
            <a:ext cx="516800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1. Learn Error Distributions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29F64AE5-1C7A-1F0E-63B9-EF466E8679B5}"/>
              </a:ext>
            </a:extLst>
          </p:cNvPr>
          <p:cNvSpPr/>
          <p:nvPr/>
        </p:nvSpPr>
        <p:spPr>
          <a:xfrm>
            <a:off x="1987994" y="4443767"/>
            <a:ext cx="6449421" cy="990600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2. True Time as a function of local time + Distributions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B0A47632-BF93-BACB-38E0-78C2C961BEC4}"/>
              </a:ext>
            </a:extLst>
          </p:cNvPr>
          <p:cNvSpPr/>
          <p:nvPr/>
        </p:nvSpPr>
        <p:spPr>
          <a:xfrm>
            <a:off x="4585975" y="5570422"/>
            <a:ext cx="7171053" cy="99060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3. Get </a:t>
            </a:r>
            <a:r>
              <a:rPr lang="en-US" sz="3200" dirty="0">
                <a:solidFill>
                  <a:schemeClr val="tx1"/>
                </a:solidFill>
                <a:highlight>
                  <a:srgbClr val="FFFF00"/>
                </a:highlight>
              </a:rPr>
              <a:t>True Time comparison </a:t>
            </a:r>
            <a:r>
              <a:rPr lang="en-US" sz="3200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by only comparing local time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701D4E0-EDE4-6662-B286-4EC476043736}"/>
              </a:ext>
            </a:extLst>
          </p:cNvPr>
          <p:cNvSpPr txBox="1"/>
          <p:nvPr/>
        </p:nvSpPr>
        <p:spPr>
          <a:xfrm>
            <a:off x="9272052" y="4310983"/>
            <a:ext cx="2484976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>
                <a:highlight>
                  <a:srgbClr val="FFFF00"/>
                </a:highlight>
                <a:latin typeface="Mistral" panose="03090702030407020403" pitchFamily="66" charset="0"/>
              </a:rPr>
              <a:t>Probabilistic</a:t>
            </a:r>
            <a:endParaRPr lang="en-US" sz="3600" dirty="0">
              <a:highlight>
                <a:srgbClr val="FFFF00"/>
              </a:highlight>
              <a:latin typeface="Mistral" panose="03090702030407020403" pitchFamily="66" charset="0"/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A3F7B18A-214F-E9B0-5AFD-6CBB236EA493}"/>
              </a:ext>
            </a:extLst>
          </p:cNvPr>
          <p:cNvCxnSpPr>
            <a:cxnSpLocks/>
            <a:endCxn id="8" idx="1"/>
          </p:cNvCxnSpPr>
          <p:nvPr/>
        </p:nvCxnSpPr>
        <p:spPr>
          <a:xfrm flipV="1">
            <a:off x="8545085" y="4695704"/>
            <a:ext cx="726967" cy="874718"/>
          </a:xfrm>
          <a:prstGeom prst="straightConnector1">
            <a:avLst/>
          </a:prstGeom>
          <a:ln w="1079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0528005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1E6FB9-1A41-356D-92A6-862A58684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F169252D-C91A-6E3E-7FE2-C2587F11A793}"/>
              </a:ext>
            </a:extLst>
          </p:cNvPr>
          <p:cNvSpPr/>
          <p:nvPr/>
        </p:nvSpPr>
        <p:spPr>
          <a:xfrm>
            <a:off x="5338246" y="1374868"/>
            <a:ext cx="4281056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Fair Ordering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1E5C91E7-357D-666A-BE08-4264FDFDE979}"/>
              </a:ext>
            </a:extLst>
          </p:cNvPr>
          <p:cNvSpPr/>
          <p:nvPr/>
        </p:nvSpPr>
        <p:spPr>
          <a:xfrm>
            <a:off x="355682" y="3317113"/>
            <a:ext cx="516800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1. Learn Error Distributions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A46FA30D-9913-A4B7-DC10-B0D942D4E26F}"/>
              </a:ext>
            </a:extLst>
          </p:cNvPr>
          <p:cNvSpPr/>
          <p:nvPr/>
        </p:nvSpPr>
        <p:spPr>
          <a:xfrm>
            <a:off x="1987994" y="4443767"/>
            <a:ext cx="6449421" cy="990600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2. True Time as a function of local time + Distributions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36E32169-6A6E-0DDC-EAAF-F7740B9D2F40}"/>
              </a:ext>
            </a:extLst>
          </p:cNvPr>
          <p:cNvSpPr/>
          <p:nvPr/>
        </p:nvSpPr>
        <p:spPr>
          <a:xfrm>
            <a:off x="4585975" y="5570422"/>
            <a:ext cx="7171053" cy="99060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3. Get </a:t>
            </a:r>
            <a:r>
              <a:rPr lang="en-US" sz="3200" dirty="0">
                <a:solidFill>
                  <a:schemeClr val="tx1"/>
                </a:solidFill>
                <a:highlight>
                  <a:srgbClr val="FFFF00"/>
                </a:highlight>
              </a:rPr>
              <a:t>True Time comparison </a:t>
            </a:r>
            <a:r>
              <a:rPr lang="en-US" sz="3200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by only comparing local time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0708F02-1633-89E6-098B-F1FA39524A6C}"/>
              </a:ext>
            </a:extLst>
          </p:cNvPr>
          <p:cNvSpPr txBox="1"/>
          <p:nvPr/>
        </p:nvSpPr>
        <p:spPr>
          <a:xfrm>
            <a:off x="2201943" y="1442138"/>
            <a:ext cx="301076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400" dirty="0">
                <a:highlight>
                  <a:srgbClr val="FFFF00"/>
                </a:highlight>
                <a:latin typeface="Mistral" panose="03090702030407020403" pitchFamily="66" charset="0"/>
              </a:rPr>
              <a:t>Probabilistic</a:t>
            </a:r>
            <a:endParaRPr lang="en-US" sz="3600" dirty="0">
              <a:highlight>
                <a:srgbClr val="FFFF00"/>
              </a:highlight>
              <a:latin typeface="Mistral" panose="03090702030407020403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3098412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C9268A-F027-18DF-D925-009465B99A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304604C2-111D-D455-DB9E-20834C819605}"/>
              </a:ext>
            </a:extLst>
          </p:cNvPr>
          <p:cNvSpPr/>
          <p:nvPr/>
        </p:nvSpPr>
        <p:spPr>
          <a:xfrm>
            <a:off x="1828801" y="1638104"/>
            <a:ext cx="8285018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Probabilistic Fair Ordering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72C60EA4-1139-BC95-81C5-C25A42763D65}"/>
              </a:ext>
            </a:extLst>
          </p:cNvPr>
          <p:cNvSpPr/>
          <p:nvPr/>
        </p:nvSpPr>
        <p:spPr>
          <a:xfrm>
            <a:off x="355682" y="3317113"/>
            <a:ext cx="5168006" cy="990600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1. Learn Error Distributions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A1429452-F591-9542-48D5-E33EF825A135}"/>
              </a:ext>
            </a:extLst>
          </p:cNvPr>
          <p:cNvSpPr/>
          <p:nvPr/>
        </p:nvSpPr>
        <p:spPr>
          <a:xfrm>
            <a:off x="1987994" y="4443767"/>
            <a:ext cx="6449421" cy="990600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2. True Time as a function of local time + Distributions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C59CCA99-8103-7BB5-625C-CCC6FC0710A3}"/>
              </a:ext>
            </a:extLst>
          </p:cNvPr>
          <p:cNvSpPr/>
          <p:nvPr/>
        </p:nvSpPr>
        <p:spPr>
          <a:xfrm>
            <a:off x="4585975" y="5570422"/>
            <a:ext cx="7171053" cy="990600"/>
          </a:xfrm>
          <a:prstGeom prst="round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3. Get </a:t>
            </a:r>
            <a:r>
              <a:rPr lang="en-US" sz="3200" dirty="0">
                <a:solidFill>
                  <a:schemeClr val="tx1"/>
                </a:solidFill>
                <a:highlight>
                  <a:srgbClr val="FFFF00"/>
                </a:highlight>
              </a:rPr>
              <a:t>True Time comparison </a:t>
            </a:r>
            <a:r>
              <a:rPr lang="en-US" sz="3200" dirty="0">
                <a:solidFill>
                  <a:schemeClr val="accent2">
                    <a:lumMod val="20000"/>
                    <a:lumOff val="80000"/>
                  </a:schemeClr>
                </a:solidFill>
              </a:rPr>
              <a:t>by only comparing local time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A2D6D64D-9F9B-8B1A-8754-BEBDAA6778F6}"/>
              </a:ext>
            </a:extLst>
          </p:cNvPr>
          <p:cNvSpPr/>
          <p:nvPr/>
        </p:nvSpPr>
        <p:spPr>
          <a:xfrm>
            <a:off x="1828801" y="579477"/>
            <a:ext cx="2951017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Tommy</a:t>
            </a:r>
          </a:p>
        </p:txBody>
      </p:sp>
    </p:spTree>
    <p:extLst>
      <p:ext uri="{BB962C8B-B14F-4D97-AF65-F5344CB8AC3E}">
        <p14:creationId xmlns:p14="http://schemas.microsoft.com/office/powerpoint/2010/main" val="426593229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AF5D50-8F1C-2BB8-764C-AB79855024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7398807D-BF3B-7E0E-F1BA-F3D2A0193C0A}"/>
              </a:ext>
            </a:extLst>
          </p:cNvPr>
          <p:cNvSpPr/>
          <p:nvPr/>
        </p:nvSpPr>
        <p:spPr>
          <a:xfrm>
            <a:off x="8091055" y="1757113"/>
            <a:ext cx="2951017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Tommy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A88B2A58-92CB-2E41-CC60-98B29EB22764}"/>
              </a:ext>
            </a:extLst>
          </p:cNvPr>
          <p:cNvSpPr/>
          <p:nvPr/>
        </p:nvSpPr>
        <p:spPr>
          <a:xfrm>
            <a:off x="609599" y="1812532"/>
            <a:ext cx="2951017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FIFO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0958510F-084C-7AC3-29DF-63139BD9705D}"/>
              </a:ext>
            </a:extLst>
          </p:cNvPr>
          <p:cNvSpPr/>
          <p:nvPr/>
        </p:nvSpPr>
        <p:spPr>
          <a:xfrm>
            <a:off x="4315689" y="1812532"/>
            <a:ext cx="2951017" cy="990600"/>
          </a:xfrm>
          <a:prstGeom prst="round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5400" dirty="0">
                <a:solidFill>
                  <a:schemeClr val="tx1"/>
                </a:solidFill>
              </a:rPr>
              <a:t>Onyx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C9CD885-647B-8B30-795D-38E72B83CE1A}"/>
              </a:ext>
            </a:extLst>
          </p:cNvPr>
          <p:cNvSpPr/>
          <p:nvPr/>
        </p:nvSpPr>
        <p:spPr>
          <a:xfrm>
            <a:off x="706581" y="1454728"/>
            <a:ext cx="6560125" cy="180109"/>
          </a:xfrm>
          <a:custGeom>
            <a:avLst/>
            <a:gdLst>
              <a:gd name="connsiteX0" fmla="*/ 0 w 6560125"/>
              <a:gd name="connsiteY0" fmla="*/ 0 h 180109"/>
              <a:gd name="connsiteX1" fmla="*/ 399571 w 6560125"/>
              <a:gd name="connsiteY1" fmla="*/ 0 h 180109"/>
              <a:gd name="connsiteX2" fmla="*/ 1127149 w 6560125"/>
              <a:gd name="connsiteY2" fmla="*/ 0 h 180109"/>
              <a:gd name="connsiteX3" fmla="*/ 1789125 w 6560125"/>
              <a:gd name="connsiteY3" fmla="*/ 0 h 180109"/>
              <a:gd name="connsiteX4" fmla="*/ 2188696 w 6560125"/>
              <a:gd name="connsiteY4" fmla="*/ 0 h 180109"/>
              <a:gd name="connsiteX5" fmla="*/ 2719470 w 6560125"/>
              <a:gd name="connsiteY5" fmla="*/ 0 h 180109"/>
              <a:gd name="connsiteX6" fmla="*/ 3447048 w 6560125"/>
              <a:gd name="connsiteY6" fmla="*/ 0 h 180109"/>
              <a:gd name="connsiteX7" fmla="*/ 4043423 w 6560125"/>
              <a:gd name="connsiteY7" fmla="*/ 0 h 180109"/>
              <a:gd name="connsiteX8" fmla="*/ 4705399 w 6560125"/>
              <a:gd name="connsiteY8" fmla="*/ 0 h 180109"/>
              <a:gd name="connsiteX9" fmla="*/ 5236173 w 6560125"/>
              <a:gd name="connsiteY9" fmla="*/ 0 h 180109"/>
              <a:gd name="connsiteX10" fmla="*/ 5832548 w 6560125"/>
              <a:gd name="connsiteY10" fmla="*/ 0 h 180109"/>
              <a:gd name="connsiteX11" fmla="*/ 6560125 w 6560125"/>
              <a:gd name="connsiteY11" fmla="*/ 0 h 180109"/>
              <a:gd name="connsiteX12" fmla="*/ 6560125 w 6560125"/>
              <a:gd name="connsiteY12" fmla="*/ 180109 h 180109"/>
              <a:gd name="connsiteX13" fmla="*/ 6160554 w 6560125"/>
              <a:gd name="connsiteY13" fmla="*/ 180109 h 180109"/>
              <a:gd name="connsiteX14" fmla="*/ 5760983 w 6560125"/>
              <a:gd name="connsiteY14" fmla="*/ 180109 h 180109"/>
              <a:gd name="connsiteX15" fmla="*/ 5099006 w 6560125"/>
              <a:gd name="connsiteY15" fmla="*/ 180109 h 180109"/>
              <a:gd name="connsiteX16" fmla="*/ 4699435 w 6560125"/>
              <a:gd name="connsiteY16" fmla="*/ 180109 h 180109"/>
              <a:gd name="connsiteX17" fmla="*/ 4103060 w 6560125"/>
              <a:gd name="connsiteY17" fmla="*/ 180109 h 180109"/>
              <a:gd name="connsiteX18" fmla="*/ 3637888 w 6560125"/>
              <a:gd name="connsiteY18" fmla="*/ 180109 h 180109"/>
              <a:gd name="connsiteX19" fmla="*/ 3041513 w 6560125"/>
              <a:gd name="connsiteY19" fmla="*/ 180109 h 180109"/>
              <a:gd name="connsiteX20" fmla="*/ 2445137 w 6560125"/>
              <a:gd name="connsiteY20" fmla="*/ 180109 h 180109"/>
              <a:gd name="connsiteX21" fmla="*/ 1848762 w 6560125"/>
              <a:gd name="connsiteY21" fmla="*/ 180109 h 180109"/>
              <a:gd name="connsiteX22" fmla="*/ 1252387 w 6560125"/>
              <a:gd name="connsiteY22" fmla="*/ 180109 h 180109"/>
              <a:gd name="connsiteX23" fmla="*/ 721614 w 6560125"/>
              <a:gd name="connsiteY23" fmla="*/ 180109 h 180109"/>
              <a:gd name="connsiteX24" fmla="*/ 0 w 6560125"/>
              <a:gd name="connsiteY24" fmla="*/ 180109 h 180109"/>
              <a:gd name="connsiteX25" fmla="*/ 0 w 6560125"/>
              <a:gd name="connsiteY25" fmla="*/ 0 h 1801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6560125" h="180109" fill="none" extrusionOk="0">
                <a:moveTo>
                  <a:pt x="0" y="0"/>
                </a:moveTo>
                <a:cubicBezTo>
                  <a:pt x="93079" y="-24371"/>
                  <a:pt x="278315" y="592"/>
                  <a:pt x="399571" y="0"/>
                </a:cubicBezTo>
                <a:cubicBezTo>
                  <a:pt x="520827" y="-592"/>
                  <a:pt x="869396" y="14101"/>
                  <a:pt x="1127149" y="0"/>
                </a:cubicBezTo>
                <a:cubicBezTo>
                  <a:pt x="1384902" y="-14101"/>
                  <a:pt x="1541827" y="74442"/>
                  <a:pt x="1789125" y="0"/>
                </a:cubicBezTo>
                <a:cubicBezTo>
                  <a:pt x="2036423" y="-74442"/>
                  <a:pt x="2042118" y="39310"/>
                  <a:pt x="2188696" y="0"/>
                </a:cubicBezTo>
                <a:cubicBezTo>
                  <a:pt x="2335274" y="-39310"/>
                  <a:pt x="2504451" y="1198"/>
                  <a:pt x="2719470" y="0"/>
                </a:cubicBezTo>
                <a:cubicBezTo>
                  <a:pt x="2934489" y="-1198"/>
                  <a:pt x="3212094" y="76278"/>
                  <a:pt x="3447048" y="0"/>
                </a:cubicBezTo>
                <a:cubicBezTo>
                  <a:pt x="3682002" y="-76278"/>
                  <a:pt x="3884580" y="20218"/>
                  <a:pt x="4043423" y="0"/>
                </a:cubicBezTo>
                <a:cubicBezTo>
                  <a:pt x="4202267" y="-20218"/>
                  <a:pt x="4562783" y="73588"/>
                  <a:pt x="4705399" y="0"/>
                </a:cubicBezTo>
                <a:cubicBezTo>
                  <a:pt x="4848015" y="-73588"/>
                  <a:pt x="5067470" y="45843"/>
                  <a:pt x="5236173" y="0"/>
                </a:cubicBezTo>
                <a:cubicBezTo>
                  <a:pt x="5404876" y="-45843"/>
                  <a:pt x="5638241" y="16924"/>
                  <a:pt x="5832548" y="0"/>
                </a:cubicBezTo>
                <a:cubicBezTo>
                  <a:pt x="6026855" y="-16924"/>
                  <a:pt x="6380958" y="36439"/>
                  <a:pt x="6560125" y="0"/>
                </a:cubicBezTo>
                <a:cubicBezTo>
                  <a:pt x="6572722" y="60361"/>
                  <a:pt x="6552397" y="95898"/>
                  <a:pt x="6560125" y="180109"/>
                </a:cubicBezTo>
                <a:cubicBezTo>
                  <a:pt x="6369462" y="212114"/>
                  <a:pt x="6345447" y="140515"/>
                  <a:pt x="6160554" y="180109"/>
                </a:cubicBezTo>
                <a:cubicBezTo>
                  <a:pt x="5975661" y="219703"/>
                  <a:pt x="5930306" y="150532"/>
                  <a:pt x="5760983" y="180109"/>
                </a:cubicBezTo>
                <a:cubicBezTo>
                  <a:pt x="5591660" y="209686"/>
                  <a:pt x="5285742" y="106575"/>
                  <a:pt x="5099006" y="180109"/>
                </a:cubicBezTo>
                <a:cubicBezTo>
                  <a:pt x="4912270" y="253643"/>
                  <a:pt x="4827180" y="133626"/>
                  <a:pt x="4699435" y="180109"/>
                </a:cubicBezTo>
                <a:cubicBezTo>
                  <a:pt x="4571690" y="226592"/>
                  <a:pt x="4245108" y="141770"/>
                  <a:pt x="4103060" y="180109"/>
                </a:cubicBezTo>
                <a:cubicBezTo>
                  <a:pt x="3961013" y="218448"/>
                  <a:pt x="3826924" y="150872"/>
                  <a:pt x="3637888" y="180109"/>
                </a:cubicBezTo>
                <a:cubicBezTo>
                  <a:pt x="3448852" y="209346"/>
                  <a:pt x="3268535" y="172336"/>
                  <a:pt x="3041513" y="180109"/>
                </a:cubicBezTo>
                <a:cubicBezTo>
                  <a:pt x="2814492" y="187882"/>
                  <a:pt x="2652883" y="165019"/>
                  <a:pt x="2445137" y="180109"/>
                </a:cubicBezTo>
                <a:cubicBezTo>
                  <a:pt x="2237391" y="195199"/>
                  <a:pt x="2124635" y="146621"/>
                  <a:pt x="1848762" y="180109"/>
                </a:cubicBezTo>
                <a:cubicBezTo>
                  <a:pt x="1572890" y="213597"/>
                  <a:pt x="1518016" y="134321"/>
                  <a:pt x="1252387" y="180109"/>
                </a:cubicBezTo>
                <a:cubicBezTo>
                  <a:pt x="986759" y="225897"/>
                  <a:pt x="938880" y="175617"/>
                  <a:pt x="721614" y="180109"/>
                </a:cubicBezTo>
                <a:cubicBezTo>
                  <a:pt x="504348" y="184601"/>
                  <a:pt x="196115" y="172397"/>
                  <a:pt x="0" y="180109"/>
                </a:cubicBezTo>
                <a:cubicBezTo>
                  <a:pt x="-10644" y="113599"/>
                  <a:pt x="8546" y="65985"/>
                  <a:pt x="0" y="0"/>
                </a:cubicBezTo>
                <a:close/>
              </a:path>
              <a:path w="6560125" h="180109" stroke="0" extrusionOk="0">
                <a:moveTo>
                  <a:pt x="0" y="0"/>
                </a:moveTo>
                <a:cubicBezTo>
                  <a:pt x="262678" y="-15794"/>
                  <a:pt x="324387" y="52621"/>
                  <a:pt x="530774" y="0"/>
                </a:cubicBezTo>
                <a:cubicBezTo>
                  <a:pt x="737161" y="-52621"/>
                  <a:pt x="763948" y="1149"/>
                  <a:pt x="930345" y="0"/>
                </a:cubicBezTo>
                <a:cubicBezTo>
                  <a:pt x="1096742" y="-1149"/>
                  <a:pt x="1469441" y="23267"/>
                  <a:pt x="1657923" y="0"/>
                </a:cubicBezTo>
                <a:cubicBezTo>
                  <a:pt x="1846405" y="-23267"/>
                  <a:pt x="1962484" y="53122"/>
                  <a:pt x="2188696" y="0"/>
                </a:cubicBezTo>
                <a:cubicBezTo>
                  <a:pt x="2414908" y="-53122"/>
                  <a:pt x="2509858" y="19949"/>
                  <a:pt x="2719470" y="0"/>
                </a:cubicBezTo>
                <a:cubicBezTo>
                  <a:pt x="2929082" y="-19949"/>
                  <a:pt x="3137248" y="72350"/>
                  <a:pt x="3447048" y="0"/>
                </a:cubicBezTo>
                <a:cubicBezTo>
                  <a:pt x="3756848" y="-72350"/>
                  <a:pt x="3696986" y="40809"/>
                  <a:pt x="3912220" y="0"/>
                </a:cubicBezTo>
                <a:cubicBezTo>
                  <a:pt x="4127454" y="-40809"/>
                  <a:pt x="4358494" y="84444"/>
                  <a:pt x="4639798" y="0"/>
                </a:cubicBezTo>
                <a:cubicBezTo>
                  <a:pt x="4921102" y="-84444"/>
                  <a:pt x="5011131" y="79389"/>
                  <a:pt x="5367375" y="0"/>
                </a:cubicBezTo>
                <a:cubicBezTo>
                  <a:pt x="5723619" y="-79389"/>
                  <a:pt x="5755728" y="54091"/>
                  <a:pt x="5963750" y="0"/>
                </a:cubicBezTo>
                <a:cubicBezTo>
                  <a:pt x="6171773" y="-54091"/>
                  <a:pt x="6326448" y="54204"/>
                  <a:pt x="6560125" y="0"/>
                </a:cubicBezTo>
                <a:cubicBezTo>
                  <a:pt x="6569910" y="55787"/>
                  <a:pt x="6543166" y="90879"/>
                  <a:pt x="6560125" y="180109"/>
                </a:cubicBezTo>
                <a:cubicBezTo>
                  <a:pt x="6465890" y="198281"/>
                  <a:pt x="6282318" y="152187"/>
                  <a:pt x="6160554" y="180109"/>
                </a:cubicBezTo>
                <a:cubicBezTo>
                  <a:pt x="6038790" y="208031"/>
                  <a:pt x="5605240" y="130138"/>
                  <a:pt x="5432976" y="180109"/>
                </a:cubicBezTo>
                <a:cubicBezTo>
                  <a:pt x="5260712" y="230080"/>
                  <a:pt x="5132902" y="143962"/>
                  <a:pt x="4967804" y="180109"/>
                </a:cubicBezTo>
                <a:cubicBezTo>
                  <a:pt x="4802706" y="216256"/>
                  <a:pt x="4610215" y="121996"/>
                  <a:pt x="4371429" y="180109"/>
                </a:cubicBezTo>
                <a:cubicBezTo>
                  <a:pt x="4132644" y="238222"/>
                  <a:pt x="3831048" y="151702"/>
                  <a:pt x="3643851" y="180109"/>
                </a:cubicBezTo>
                <a:cubicBezTo>
                  <a:pt x="3456654" y="208516"/>
                  <a:pt x="3300671" y="117049"/>
                  <a:pt x="3047476" y="180109"/>
                </a:cubicBezTo>
                <a:cubicBezTo>
                  <a:pt x="2794282" y="243169"/>
                  <a:pt x="2735543" y="140250"/>
                  <a:pt x="2647905" y="180109"/>
                </a:cubicBezTo>
                <a:cubicBezTo>
                  <a:pt x="2560267" y="219968"/>
                  <a:pt x="2366569" y="160744"/>
                  <a:pt x="2182733" y="180109"/>
                </a:cubicBezTo>
                <a:cubicBezTo>
                  <a:pt x="1998897" y="199474"/>
                  <a:pt x="1734880" y="138199"/>
                  <a:pt x="1455155" y="180109"/>
                </a:cubicBezTo>
                <a:cubicBezTo>
                  <a:pt x="1175430" y="222019"/>
                  <a:pt x="1028262" y="177887"/>
                  <a:pt x="858780" y="180109"/>
                </a:cubicBezTo>
                <a:cubicBezTo>
                  <a:pt x="689299" y="182331"/>
                  <a:pt x="345146" y="157005"/>
                  <a:pt x="0" y="180109"/>
                </a:cubicBezTo>
                <a:cubicBezTo>
                  <a:pt x="-13722" y="95078"/>
                  <a:pt x="1346" y="37299"/>
                  <a:pt x="0" y="0"/>
                </a:cubicBezTo>
                <a:close/>
              </a:path>
            </a:pathLst>
          </a:custGeom>
          <a:ln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528202C-23A4-2938-3F58-7CE00B017D72}"/>
              </a:ext>
            </a:extLst>
          </p:cNvPr>
          <p:cNvSpPr/>
          <p:nvPr/>
        </p:nvSpPr>
        <p:spPr>
          <a:xfrm>
            <a:off x="2294240" y="531398"/>
            <a:ext cx="3481787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12700">
                  <a:solidFill>
                    <a:schemeClr val="accent1"/>
                  </a:solidFill>
                  <a:prstDash val="solid"/>
                </a:ln>
                <a:pattFill prst="pct50">
                  <a:fgClr>
                    <a:schemeClr val="accent1"/>
                  </a:fgClr>
                  <a:bgClr>
                    <a:schemeClr val="accent1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accent1"/>
                  </a:outerShdw>
                </a:effectLst>
              </a:rPr>
              <a:t>Prior Work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B4E4D27-03F2-5B6A-7B0B-4AC6FDCE7F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673" y="2378058"/>
            <a:ext cx="3355593" cy="360004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B08B153-1F4B-D29B-8E4A-5E7E241021B2}"/>
              </a:ext>
            </a:extLst>
          </p:cNvPr>
          <p:cNvSpPr txBox="1"/>
          <p:nvPr/>
        </p:nvSpPr>
        <p:spPr>
          <a:xfrm>
            <a:off x="774754" y="5515016"/>
            <a:ext cx="29535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On-premises exchanges / private data centers</a:t>
            </a:r>
          </a:p>
        </p:txBody>
      </p:sp>
    </p:spTree>
    <p:extLst>
      <p:ext uri="{BB962C8B-B14F-4D97-AF65-F5344CB8AC3E}">
        <p14:creationId xmlns:p14="http://schemas.microsoft.com/office/powerpoint/2010/main" val="4358298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1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C2554CA6-288E-4202-BC52-2E5A8F0C0A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B10BB131-AC8E-4A8E-A5D1-36260F720C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9189" y="1119031"/>
            <a:ext cx="4619938" cy="4619938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3E742E8-4CD8-EB6F-C05C-4848D570B4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1074" y="1396686"/>
            <a:ext cx="3240506" cy="4064628"/>
          </a:xfrm>
        </p:spPr>
        <p:txBody>
          <a:bodyPr>
            <a:normAutofit/>
          </a:bodyPr>
          <a:lstStyle/>
          <a:p>
            <a:pPr rtl="0"/>
            <a:r>
              <a:rPr lang="en-US" b="0" i="0" u="none" strike="noStrike" dirty="0"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Sequencers are everywhere</a:t>
            </a:r>
            <a:endParaRPr lang="en-US" dirty="0">
              <a:solidFill>
                <a:srgbClr val="FFFFFF"/>
              </a:solidFill>
            </a:endParaRP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5B7778FC-632E-4DCA-A7CB-0D7731CCF9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9809111">
            <a:off x="8683720" y="941148"/>
            <a:ext cx="2987899" cy="2987899"/>
          </a:xfrm>
          <a:prstGeom prst="arc">
            <a:avLst>
              <a:gd name="adj1" fmla="val 15817365"/>
              <a:gd name="adj2" fmla="val 178138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FA23A907-97FB-4A8F-880A-DD77401C42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10048" y="4780992"/>
            <a:ext cx="546100" cy="546100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C096F3-77C1-F2BE-0F60-3E6DFB1A92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70153" y="1526033"/>
            <a:ext cx="5536397" cy="3935281"/>
          </a:xfrm>
        </p:spPr>
        <p:txBody>
          <a:bodyPr>
            <a:normAutofit/>
          </a:bodyPr>
          <a:lstStyle/>
          <a:p>
            <a:pPr rtl="0" fontAlgn="base">
              <a:buFont typeface="Arial" panose="020B0604020202020204" pitchFamily="34" charset="0"/>
              <a:buChar char="•"/>
            </a:pPr>
            <a:r>
              <a:rPr lang="en-US" sz="1800" b="0" i="0" u="none" strike="noStrike" dirty="0">
                <a:effectLst/>
                <a:latin typeface="Arial" panose="020B0604020202020204" pitchFamily="34" charset="0"/>
              </a:rPr>
              <a:t>Used for achieving total order of events</a:t>
            </a:r>
            <a:br>
              <a:rPr lang="en-US" sz="1800" b="0" i="0" u="none" strike="noStrike" dirty="0">
                <a:effectLst/>
                <a:latin typeface="Arial" panose="020B0604020202020204" pitchFamily="34" charset="0"/>
              </a:rPr>
            </a:br>
            <a:endParaRPr lang="en-US" sz="1800" b="0" i="0" u="none" strike="noStrike" dirty="0">
              <a:effectLst/>
              <a:latin typeface="Arial" panose="020B0604020202020204" pitchFamily="34" charset="0"/>
            </a:endParaRPr>
          </a:p>
          <a:p>
            <a:pPr rtl="0" fontAlgn="base">
              <a:buFont typeface="Arial" panose="020B0604020202020204" pitchFamily="34" charset="0"/>
              <a:buChar char="•"/>
            </a:pPr>
            <a:r>
              <a:rPr lang="en-US" sz="1800" b="0" i="0" u="none" strike="noStrike" dirty="0">
                <a:effectLst/>
                <a:latin typeface="Arial" panose="020B0604020202020204" pitchFamily="34" charset="0"/>
              </a:rPr>
              <a:t>Paxos leader implicitly works as a sequencer</a:t>
            </a:r>
            <a:br>
              <a:rPr lang="en-US" sz="1800" b="0" i="0" u="none" strike="noStrike" dirty="0">
                <a:effectLst/>
                <a:latin typeface="Arial" panose="020B0604020202020204" pitchFamily="34" charset="0"/>
              </a:rPr>
            </a:br>
            <a:endParaRPr lang="en-US" sz="1800" b="0" i="0" u="none" strike="noStrike" dirty="0">
              <a:effectLst/>
              <a:latin typeface="Arial" panose="020B0604020202020204" pitchFamily="34" charset="0"/>
            </a:endParaRPr>
          </a:p>
          <a:p>
            <a:pPr rtl="0" fontAlgn="base">
              <a:buFont typeface="Arial" panose="020B0604020202020204" pitchFamily="34" charset="0"/>
              <a:buChar char="•"/>
            </a:pPr>
            <a:r>
              <a:rPr lang="en-US" sz="1800" b="0" i="0" u="none" strike="noStrike" dirty="0" err="1">
                <a:effectLst/>
                <a:latin typeface="Arial" panose="020B0604020202020204" pitchFamily="34" charset="0"/>
              </a:rPr>
              <a:t>NOPaxos</a:t>
            </a:r>
            <a:r>
              <a:rPr lang="en-US" sz="1800" b="0" i="0" u="none" strike="noStrike" dirty="0">
                <a:effectLst/>
                <a:latin typeface="Arial" panose="020B0604020202020204" pitchFamily="34" charset="0"/>
              </a:rPr>
              <a:t>, Hydra, Eris decouple the sequencer from consensus and propose implementing a sequencer as a separate component</a:t>
            </a:r>
            <a:br>
              <a:rPr lang="en-US" sz="1800" b="0" i="0" u="none" strike="noStrike" dirty="0">
                <a:effectLst/>
                <a:latin typeface="Arial" panose="020B0604020202020204" pitchFamily="34" charset="0"/>
              </a:rPr>
            </a:br>
            <a:endParaRPr lang="en-US" sz="1800" b="0" i="0" u="none" strike="noStrike" dirty="0">
              <a:effectLst/>
              <a:latin typeface="Arial" panose="020B0604020202020204" pitchFamily="34" charset="0"/>
            </a:endParaRPr>
          </a:p>
          <a:p>
            <a:pPr rtl="0" fontAlgn="base">
              <a:buFont typeface="Arial" panose="020B0604020202020204" pitchFamily="34" charset="0"/>
              <a:buChar char="•"/>
            </a:pPr>
            <a:r>
              <a:rPr lang="en-US" sz="1800" b="0" i="0" u="none" strike="noStrike" dirty="0">
                <a:effectLst/>
                <a:latin typeface="Arial" panose="020B0604020202020204" pitchFamily="34" charset="0"/>
              </a:rPr>
              <a:t>All these sequencers achieve a total order that is </a:t>
            </a:r>
            <a:r>
              <a:rPr lang="en-US" sz="1800" b="1" i="1" u="none" strike="noStrike" dirty="0">
                <a:effectLst/>
                <a:latin typeface="Arial" panose="020B0604020202020204" pitchFamily="34" charset="0"/>
              </a:rPr>
              <a:t>arbitrary </a:t>
            </a:r>
            <a:r>
              <a:rPr lang="en-US" sz="1800" dirty="0">
                <a:latin typeface="Arial" panose="020B0604020202020204" pitchFamily="34" charset="0"/>
              </a:rPr>
              <a:t>i.e., any total order works.</a:t>
            </a:r>
            <a:br>
              <a:rPr lang="en-US" sz="1800" b="1" i="1" u="none" strike="noStrike" dirty="0">
                <a:effectLst/>
                <a:latin typeface="Arial" panose="020B0604020202020204" pitchFamily="34" charset="0"/>
              </a:rPr>
            </a:br>
            <a:endParaRPr lang="en-US" sz="1800" b="0" i="0" u="none" strike="noStrike" dirty="0">
              <a:effectLst/>
              <a:latin typeface="Arial" panose="020B0604020202020204" pitchFamily="34" charset="0"/>
            </a:endParaRPr>
          </a:p>
          <a:p>
            <a:pPr rtl="0" fontAlgn="base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1800" b="0" i="0" u="none" strike="noStrike" dirty="0">
                <a:effectLst/>
                <a:latin typeface="Arial" panose="020B0604020202020204" pitchFamily="34" charset="0"/>
              </a:rPr>
              <a:t>An arbitrary total order is good enough for conventional applications</a:t>
            </a:r>
          </a:p>
        </p:txBody>
      </p:sp>
    </p:spTree>
    <p:extLst>
      <p:ext uri="{BB962C8B-B14F-4D97-AF65-F5344CB8AC3E}">
        <p14:creationId xmlns:p14="http://schemas.microsoft.com/office/powerpoint/2010/main" val="904999904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BB867FF-FC45-48F7-8104-F89BE54909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8BB56887-D0D5-4F0C-9E19-7247EB83C8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208695" y="1"/>
            <a:ext cx="1135066" cy="477997"/>
          </a:xfrm>
          <a:custGeom>
            <a:avLst/>
            <a:gdLst>
              <a:gd name="connsiteX0" fmla="*/ 0 w 1135066"/>
              <a:gd name="connsiteY0" fmla="*/ 0 h 477997"/>
              <a:gd name="connsiteX1" fmla="*/ 1135066 w 1135066"/>
              <a:gd name="connsiteY1" fmla="*/ 0 h 477997"/>
              <a:gd name="connsiteX2" fmla="*/ 1133370 w 1135066"/>
              <a:gd name="connsiteY2" fmla="*/ 16827 h 477997"/>
              <a:gd name="connsiteX3" fmla="*/ 567533 w 1135066"/>
              <a:gd name="connsiteY3" fmla="*/ 477997 h 477997"/>
              <a:gd name="connsiteX4" fmla="*/ 1696 w 1135066"/>
              <a:gd name="connsiteY4" fmla="*/ 16827 h 477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35066" h="477997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4ADE8E6-3934-65AF-F2A8-2FE608293C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pPr rtl="0"/>
            <a:r>
              <a:rPr lang="en-US" b="0" i="0" u="none" strike="noStrike">
                <a:effectLst/>
                <a:latin typeface="Arial" panose="020B0604020202020204" pitchFamily="34" charset="0"/>
              </a:rPr>
              <a:t>Need for Fair Order</a:t>
            </a:r>
            <a:endParaRPr lang="en-US"/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V="1">
            <a:off x="555710" y="2183223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960629-54F1-1B18-2FB7-B936B6D3C4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 rtl="0" fontAlgn="base">
              <a:buFont typeface="Arial" panose="020B0604020202020204" pitchFamily="34" charset="0"/>
              <a:buChar char="•"/>
            </a:pPr>
            <a:r>
              <a:rPr lang="en-US" b="0" i="0" u="none" strike="noStrike" dirty="0">
                <a:effectLst/>
                <a:latin typeface="Arial" panose="020B0604020202020204" pitchFamily="34" charset="0"/>
              </a:rPr>
              <a:t>An emerging class of applications are not okay with arbitrary order</a:t>
            </a:r>
            <a:br>
              <a:rPr lang="en-US" b="0" i="0" u="none" strike="noStrike" dirty="0">
                <a:effectLst/>
                <a:latin typeface="Arial" panose="020B0604020202020204" pitchFamily="34" charset="0"/>
              </a:rPr>
            </a:br>
            <a:endParaRPr lang="en-US" b="0" i="0" u="none" strike="noStrike" dirty="0">
              <a:effectLst/>
              <a:latin typeface="Arial" panose="020B0604020202020204" pitchFamily="34" charset="0"/>
            </a:endParaRPr>
          </a:p>
          <a:p>
            <a:pPr rtl="0" fontAlgn="base">
              <a:buFont typeface="Arial" panose="020B0604020202020204" pitchFamily="34" charset="0"/>
              <a:buChar char="•"/>
            </a:pPr>
            <a:r>
              <a:rPr lang="en-US" b="0" i="0" u="none" strike="noStrike" dirty="0">
                <a:effectLst/>
                <a:latin typeface="Arial" panose="020B0604020202020204" pitchFamily="34" charset="0"/>
              </a:rPr>
              <a:t>These applications require a fair order where fairness amounts to achieving an order that respects the event generation order </a:t>
            </a:r>
            <a:br>
              <a:rPr lang="en-US" b="0" i="0" u="none" strike="noStrike" dirty="0">
                <a:effectLst/>
                <a:latin typeface="Arial" panose="020B0604020202020204" pitchFamily="34" charset="0"/>
              </a:rPr>
            </a:br>
            <a:endParaRPr lang="en-US" b="0" i="0" u="none" strike="noStrike" dirty="0">
              <a:effectLst/>
              <a:latin typeface="Arial" panose="020B0604020202020204" pitchFamily="34" charset="0"/>
            </a:endParaRPr>
          </a:p>
          <a:p>
            <a:pPr rtl="0" fontAlgn="base">
              <a:buFont typeface="Arial" panose="020B0604020202020204" pitchFamily="34" charset="0"/>
              <a:buChar char="•"/>
            </a:pPr>
            <a:r>
              <a:rPr lang="en-US" b="0" i="0" u="none" strike="noStrike" dirty="0">
                <a:effectLst/>
                <a:latin typeface="Arial" panose="020B0604020202020204" pitchFamily="34" charset="0"/>
              </a:rPr>
              <a:t>Financial exchanges, ad exchanges, competitive marketplaces</a:t>
            </a:r>
          </a:p>
        </p:txBody>
      </p:sp>
    </p:spTree>
    <p:extLst>
      <p:ext uri="{BB962C8B-B14F-4D97-AF65-F5344CB8AC3E}">
        <p14:creationId xmlns:p14="http://schemas.microsoft.com/office/powerpoint/2010/main" val="2781703939"/>
      </p:ext>
    </p:extLst>
  </p:cSld>
  <p:clrMapOvr>
    <a:masterClrMapping/>
  </p:clrMapOvr>
  <p:transition spd="slow">
    <p:push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F837543A-6020-4505-A233-C9DB4BF740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A210813-5405-B9CB-F757-FF99291F1C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5558489" cy="1325563"/>
          </a:xfrm>
        </p:spPr>
        <p:txBody>
          <a:bodyPr>
            <a:normAutofit/>
          </a:bodyPr>
          <a:lstStyle/>
          <a:p>
            <a:r>
              <a:rPr lang="en-US" dirty="0"/>
              <a:t>Challenge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35B16301-FB18-48BA-A6DD-C37CAF6F9A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208695" y="1"/>
            <a:ext cx="1135066" cy="477997"/>
          </a:xfrm>
          <a:custGeom>
            <a:avLst/>
            <a:gdLst>
              <a:gd name="connsiteX0" fmla="*/ 0 w 1135066"/>
              <a:gd name="connsiteY0" fmla="*/ 0 h 477997"/>
              <a:gd name="connsiteX1" fmla="*/ 1135066 w 1135066"/>
              <a:gd name="connsiteY1" fmla="*/ 0 h 477997"/>
              <a:gd name="connsiteX2" fmla="*/ 1133370 w 1135066"/>
              <a:gd name="connsiteY2" fmla="*/ 16827 h 477997"/>
              <a:gd name="connsiteX3" fmla="*/ 567533 w 1135066"/>
              <a:gd name="connsiteY3" fmla="*/ 477997 h 477997"/>
              <a:gd name="connsiteX4" fmla="*/ 1696 w 1135066"/>
              <a:gd name="connsiteY4" fmla="*/ 16827 h 477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35066" h="477997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CCB756-7712-C1B1-49F8-5237AE3368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558489" cy="4351338"/>
          </a:xfrm>
        </p:spPr>
        <p:txBody>
          <a:bodyPr>
            <a:normAutofit/>
          </a:bodyPr>
          <a:lstStyle/>
          <a:p>
            <a:pPr rtl="0" fontAlgn="base">
              <a:buFont typeface="Arial" panose="020B0604020202020204" pitchFamily="34" charset="0"/>
              <a:buChar char="•"/>
            </a:pPr>
            <a:r>
              <a:rPr lang="en-US" b="0" i="0" u="none" strike="noStrike" dirty="0">
                <a:effectLst/>
                <a:latin typeface="Arial" panose="020B0604020202020204" pitchFamily="34" charset="0"/>
              </a:rPr>
              <a:t>Challenging to achieve fair order in a general distributed setting.</a:t>
            </a:r>
          </a:p>
          <a:p>
            <a:pPr marL="742950" lvl="1" indent="-285750" rtl="0" fontAlgn="base">
              <a:buFont typeface="Arial" panose="020B0604020202020204" pitchFamily="34" charset="0"/>
              <a:buChar char="•"/>
            </a:pPr>
            <a:r>
              <a:rPr lang="en-US" b="0" i="0" u="none" strike="noStrike" dirty="0">
                <a:effectLst/>
                <a:latin typeface="Arial" panose="020B0604020202020204" pitchFamily="34" charset="0"/>
              </a:rPr>
              <a:t>Two main culprits: </a:t>
            </a:r>
          </a:p>
          <a:p>
            <a:pPr marL="1143000" lvl="2" indent="-228600" rtl="0" fontAlgn="base">
              <a:buFont typeface="Arial" panose="020B0604020202020204" pitchFamily="34" charset="0"/>
              <a:buChar char="•"/>
            </a:pPr>
            <a:r>
              <a:rPr lang="en-US" b="0" i="0" u="none" strike="noStrike" dirty="0">
                <a:effectLst/>
                <a:latin typeface="Arial" panose="020B0604020202020204" pitchFamily="34" charset="0"/>
              </a:rPr>
              <a:t>Noisy timestamps</a:t>
            </a:r>
          </a:p>
          <a:p>
            <a:pPr marL="1143000" lvl="2" indent="-228600" rtl="0" fontAlgn="base">
              <a:buFont typeface="Arial" panose="020B0604020202020204" pitchFamily="34" charset="0"/>
              <a:buChar char="•"/>
            </a:pPr>
            <a:r>
              <a:rPr lang="en-US" b="0" i="0" u="none" strike="noStrike" dirty="0">
                <a:effectLst/>
                <a:latin typeface="Arial" panose="020B0604020202020204" pitchFamily="34" charset="0"/>
              </a:rPr>
              <a:t>Asynchrony in data path</a:t>
            </a:r>
            <a:br>
              <a:rPr lang="en-US" b="0" i="0" u="none" strike="noStrike" dirty="0">
                <a:effectLst/>
                <a:latin typeface="Arial" panose="020B0604020202020204" pitchFamily="34" charset="0"/>
              </a:rPr>
            </a:br>
            <a:endParaRPr lang="en-US" b="0" i="0" u="none" strike="noStrike" dirty="0">
              <a:effectLst/>
              <a:latin typeface="Arial" panose="020B0604020202020204" pitchFamily="34" charset="0"/>
            </a:endParaRPr>
          </a:p>
          <a:p>
            <a:pPr fontAlgn="base">
              <a:spcAft>
                <a:spcPts val="1200"/>
              </a:spcAft>
            </a:pPr>
            <a:r>
              <a:rPr lang="en-US" dirty="0">
                <a:latin typeface="Arial" panose="020B0604020202020204" pitchFamily="34" charset="0"/>
              </a:rPr>
              <a:t>What can we do?</a:t>
            </a:r>
            <a:endParaRPr lang="en-US" b="0" i="0" u="none" strike="noStrike" dirty="0">
              <a:effectLst/>
              <a:latin typeface="Arial" panose="020B0604020202020204" pitchFamily="34" charset="0"/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C3C0D90E-074A-4F52-9B11-B52BEF4BCB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2624479"/>
            <a:ext cx="812427" cy="812427"/>
          </a:xfrm>
          <a:prstGeom prst="ellipse">
            <a:avLst/>
          </a:prstGeom>
          <a:noFill/>
          <a:ln w="12700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Block Arc 13">
            <a:extLst>
              <a:ext uri="{FF2B5EF4-FFF2-40B4-BE49-F238E27FC236}">
                <a16:creationId xmlns:a16="http://schemas.microsoft.com/office/drawing/2014/main" id="{CABBD4C1-E6F8-46F6-8152-A8A97490BF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912417" y="1218531"/>
            <a:ext cx="2387600" cy="2387600"/>
          </a:xfrm>
          <a:prstGeom prst="blockArc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83BA5EF5-1FE9-4BF9-83BB-269BCDDF61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0"/>
            <a:ext cx="2315251" cy="1550992"/>
          </a:xfrm>
          <a:custGeom>
            <a:avLst/>
            <a:gdLst>
              <a:gd name="connsiteX0" fmla="*/ 0 w 2315251"/>
              <a:gd name="connsiteY0" fmla="*/ 0 h 1550992"/>
              <a:gd name="connsiteX1" fmla="*/ 138700 w 2315251"/>
              <a:gd name="connsiteY1" fmla="*/ 0 h 1550992"/>
              <a:gd name="connsiteX2" fmla="*/ 138700 w 2315251"/>
              <a:gd name="connsiteY2" fmla="*/ 1361400 h 1550992"/>
              <a:gd name="connsiteX3" fmla="*/ 2107387 w 2315251"/>
              <a:gd name="connsiteY3" fmla="*/ 222673 h 1550992"/>
              <a:gd name="connsiteX4" fmla="*/ 1722420 w 2315251"/>
              <a:gd name="connsiteY4" fmla="*/ 0 h 1550992"/>
              <a:gd name="connsiteX5" fmla="*/ 1999436 w 2315251"/>
              <a:gd name="connsiteY5" fmla="*/ 0 h 1550992"/>
              <a:gd name="connsiteX6" fmla="*/ 2280549 w 2315251"/>
              <a:gd name="connsiteY6" fmla="*/ 162605 h 1550992"/>
              <a:gd name="connsiteX7" fmla="*/ 2305953 w 2315251"/>
              <a:gd name="connsiteY7" fmla="*/ 257336 h 1550992"/>
              <a:gd name="connsiteX8" fmla="*/ 2280549 w 2315251"/>
              <a:gd name="connsiteY8" fmla="*/ 282740 h 1550992"/>
              <a:gd name="connsiteX9" fmla="*/ 104026 w 2315251"/>
              <a:gd name="connsiteY9" fmla="*/ 1541710 h 1550992"/>
              <a:gd name="connsiteX10" fmla="*/ 69351 w 2315251"/>
              <a:gd name="connsiteY10" fmla="*/ 1550992 h 1550992"/>
              <a:gd name="connsiteX11" fmla="*/ 0 w 2315251"/>
              <a:gd name="connsiteY11" fmla="*/ 1481643 h 1550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315251" h="1550992">
                <a:moveTo>
                  <a:pt x="0" y="0"/>
                </a:moveTo>
                <a:lnTo>
                  <a:pt x="138700" y="0"/>
                </a:lnTo>
                <a:lnTo>
                  <a:pt x="138700" y="1361400"/>
                </a:lnTo>
                <a:lnTo>
                  <a:pt x="2107387" y="222673"/>
                </a:lnTo>
                <a:lnTo>
                  <a:pt x="1722420" y="0"/>
                </a:lnTo>
                <a:lnTo>
                  <a:pt x="1999436" y="0"/>
                </a:lnTo>
                <a:lnTo>
                  <a:pt x="2280549" y="162605"/>
                </a:lnTo>
                <a:cubicBezTo>
                  <a:pt x="2313720" y="181745"/>
                  <a:pt x="2325104" y="224155"/>
                  <a:pt x="2305953" y="257336"/>
                </a:cubicBezTo>
                <a:cubicBezTo>
                  <a:pt x="2299872" y="267889"/>
                  <a:pt x="2291101" y="276648"/>
                  <a:pt x="2280549" y="282740"/>
                </a:cubicBezTo>
                <a:lnTo>
                  <a:pt x="104026" y="1541710"/>
                </a:lnTo>
                <a:cubicBezTo>
                  <a:pt x="93484" y="1547802"/>
                  <a:pt x="81523" y="1551003"/>
                  <a:pt x="69351" y="1550992"/>
                </a:cubicBezTo>
                <a:cubicBezTo>
                  <a:pt x="31049" y="1550992"/>
                  <a:pt x="0" y="1519944"/>
                  <a:pt x="0" y="1481643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4B3BCACB-5880-460B-9606-8C433A9AF9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724638" y="1331572"/>
            <a:ext cx="0" cy="1597708"/>
          </a:xfrm>
          <a:prstGeom prst="line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88853921-7BC9-4BDE-ACAB-133C683C82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005550" y="4112081"/>
            <a:ext cx="1186451" cy="1771650"/>
          </a:xfrm>
          <a:custGeom>
            <a:avLst/>
            <a:gdLst>
              <a:gd name="connsiteX0" fmla="*/ 61913 w 1186451"/>
              <a:gd name="connsiteY0" fmla="*/ 0 h 1771650"/>
              <a:gd name="connsiteX1" fmla="*/ 1186451 w 1186451"/>
              <a:gd name="connsiteY1" fmla="*/ 0 h 1771650"/>
              <a:gd name="connsiteX2" fmla="*/ 1186451 w 1186451"/>
              <a:gd name="connsiteY2" fmla="*/ 123825 h 1771650"/>
              <a:gd name="connsiteX3" fmla="*/ 123825 w 1186451"/>
              <a:gd name="connsiteY3" fmla="*/ 123825 h 1771650"/>
              <a:gd name="connsiteX4" fmla="*/ 123825 w 1186451"/>
              <a:gd name="connsiteY4" fmla="*/ 1647825 h 1771650"/>
              <a:gd name="connsiteX5" fmla="*/ 1186451 w 1186451"/>
              <a:gd name="connsiteY5" fmla="*/ 1647825 h 1771650"/>
              <a:gd name="connsiteX6" fmla="*/ 1186451 w 1186451"/>
              <a:gd name="connsiteY6" fmla="*/ 1771650 h 1771650"/>
              <a:gd name="connsiteX7" fmla="*/ 61913 w 1186451"/>
              <a:gd name="connsiteY7" fmla="*/ 1771650 h 1771650"/>
              <a:gd name="connsiteX8" fmla="*/ 0 w 1186451"/>
              <a:gd name="connsiteY8" fmla="*/ 1709738 h 1771650"/>
              <a:gd name="connsiteX9" fmla="*/ 0 w 1186451"/>
              <a:gd name="connsiteY9" fmla="*/ 61913 h 1771650"/>
              <a:gd name="connsiteX10" fmla="*/ 61913 w 1186451"/>
              <a:gd name="connsiteY10" fmla="*/ 0 h 1771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186451" h="1771650">
                <a:moveTo>
                  <a:pt x="61913" y="0"/>
                </a:moveTo>
                <a:lnTo>
                  <a:pt x="1186451" y="0"/>
                </a:lnTo>
                <a:lnTo>
                  <a:pt x="1186451" y="123825"/>
                </a:lnTo>
                <a:lnTo>
                  <a:pt x="123825" y="123825"/>
                </a:lnTo>
                <a:lnTo>
                  <a:pt x="123825" y="1647825"/>
                </a:lnTo>
                <a:lnTo>
                  <a:pt x="1186451" y="1647825"/>
                </a:lnTo>
                <a:lnTo>
                  <a:pt x="1186451" y="1771650"/>
                </a:lnTo>
                <a:lnTo>
                  <a:pt x="61913" y="1771650"/>
                </a:lnTo>
                <a:cubicBezTo>
                  <a:pt x="27719" y="1771650"/>
                  <a:pt x="0" y="1743932"/>
                  <a:pt x="0" y="1709738"/>
                </a:cubicBezTo>
                <a:lnTo>
                  <a:pt x="0" y="61913"/>
                </a:lnTo>
                <a:cubicBezTo>
                  <a:pt x="0" y="27719"/>
                  <a:pt x="27719" y="0"/>
                  <a:pt x="61913" y="0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2" name="Arc 21">
            <a:extLst>
              <a:ext uri="{FF2B5EF4-FFF2-40B4-BE49-F238E27FC236}">
                <a16:creationId xmlns:a16="http://schemas.microsoft.com/office/drawing/2014/main" id="{09192968-3AE7-4470-A61C-97294BB927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992895">
            <a:off x="6086940" y="4145122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3AB72E55-43E4-4356-BFE8-E2102CB0B5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21310" y="4962670"/>
            <a:ext cx="2643352" cy="1895331"/>
          </a:xfrm>
          <a:custGeom>
            <a:avLst/>
            <a:gdLst>
              <a:gd name="connsiteX0" fmla="*/ 1321676 w 2643352"/>
              <a:gd name="connsiteY0" fmla="*/ 0 h 1895331"/>
              <a:gd name="connsiteX1" fmla="*/ 2643352 w 2643352"/>
              <a:gd name="connsiteY1" fmla="*/ 1321676 h 1895331"/>
              <a:gd name="connsiteX2" fmla="*/ 2539488 w 2643352"/>
              <a:gd name="connsiteY2" fmla="*/ 1836132 h 1895331"/>
              <a:gd name="connsiteX3" fmla="*/ 2510970 w 2643352"/>
              <a:gd name="connsiteY3" fmla="*/ 1895331 h 1895331"/>
              <a:gd name="connsiteX4" fmla="*/ 132382 w 2643352"/>
              <a:gd name="connsiteY4" fmla="*/ 1895331 h 1895331"/>
              <a:gd name="connsiteX5" fmla="*/ 103864 w 2643352"/>
              <a:gd name="connsiteY5" fmla="*/ 1836132 h 1895331"/>
              <a:gd name="connsiteX6" fmla="*/ 0 w 2643352"/>
              <a:gd name="connsiteY6" fmla="*/ 1321676 h 1895331"/>
              <a:gd name="connsiteX7" fmla="*/ 1321676 w 2643352"/>
              <a:gd name="connsiteY7" fmla="*/ 0 h 18953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43352" h="1895331">
                <a:moveTo>
                  <a:pt x="1321676" y="0"/>
                </a:moveTo>
                <a:cubicBezTo>
                  <a:pt x="2051617" y="0"/>
                  <a:pt x="2643352" y="591735"/>
                  <a:pt x="2643352" y="1321676"/>
                </a:cubicBezTo>
                <a:cubicBezTo>
                  <a:pt x="2643352" y="1504161"/>
                  <a:pt x="2606369" y="1678009"/>
                  <a:pt x="2539488" y="1836132"/>
                </a:cubicBezTo>
                <a:lnTo>
                  <a:pt x="2510970" y="1895331"/>
                </a:lnTo>
                <a:lnTo>
                  <a:pt x="132382" y="1895331"/>
                </a:lnTo>
                <a:lnTo>
                  <a:pt x="103864" y="1836132"/>
                </a:lnTo>
                <a:cubicBezTo>
                  <a:pt x="36984" y="1678009"/>
                  <a:pt x="0" y="1504161"/>
                  <a:pt x="0" y="1321676"/>
                </a:cubicBezTo>
                <a:cubicBezTo>
                  <a:pt x="0" y="591735"/>
                  <a:pt x="591735" y="0"/>
                  <a:pt x="1321676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42362467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8" presetClass="emph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22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  <p:animClr clrSpc="rgb" dir="cw">
                                      <p:cBhvr>
                                        <p:cTn id="23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  <p:set>
                                      <p:cBhvr>
                                        <p:cTn id="24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anim to="1.5" calcmode="lin" valueType="num">
                                      <p:cBhvr override="childStyl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style.fontSize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7C98A213-5994-475E-B327-DC6EC27FBA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1C4D224-5178-681C-4743-9313F7A614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670218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dirty="0"/>
              <a:t>What’s out there?</a:t>
            </a:r>
          </a:p>
        </p:txBody>
      </p:sp>
      <p:sp>
        <p:nvSpPr>
          <p:cNvPr id="16" name="sketch line">
            <a:extLst>
              <a:ext uri="{FF2B5EF4-FFF2-40B4-BE49-F238E27FC236}">
                <a16:creationId xmlns:a16="http://schemas.microsoft.com/office/drawing/2014/main" id="{4B030A0D-0DAD-4A99-89BB-419527D6A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389376" y="1800088"/>
            <a:ext cx="5410200" cy="18288"/>
          </a:xfrm>
          <a:custGeom>
            <a:avLst/>
            <a:gdLst>
              <a:gd name="connsiteX0" fmla="*/ 0 w 5410200"/>
              <a:gd name="connsiteY0" fmla="*/ 0 h 18288"/>
              <a:gd name="connsiteX1" fmla="*/ 568071 w 5410200"/>
              <a:gd name="connsiteY1" fmla="*/ 0 h 18288"/>
              <a:gd name="connsiteX2" fmla="*/ 1298448 w 5410200"/>
              <a:gd name="connsiteY2" fmla="*/ 0 h 18288"/>
              <a:gd name="connsiteX3" fmla="*/ 1920621 w 5410200"/>
              <a:gd name="connsiteY3" fmla="*/ 0 h 18288"/>
              <a:gd name="connsiteX4" fmla="*/ 2488692 w 5410200"/>
              <a:gd name="connsiteY4" fmla="*/ 0 h 18288"/>
              <a:gd name="connsiteX5" fmla="*/ 3219069 w 5410200"/>
              <a:gd name="connsiteY5" fmla="*/ 0 h 18288"/>
              <a:gd name="connsiteX6" fmla="*/ 3895344 w 5410200"/>
              <a:gd name="connsiteY6" fmla="*/ 0 h 18288"/>
              <a:gd name="connsiteX7" fmla="*/ 4571619 w 5410200"/>
              <a:gd name="connsiteY7" fmla="*/ 0 h 18288"/>
              <a:gd name="connsiteX8" fmla="*/ 5410200 w 5410200"/>
              <a:gd name="connsiteY8" fmla="*/ 0 h 18288"/>
              <a:gd name="connsiteX9" fmla="*/ 5410200 w 5410200"/>
              <a:gd name="connsiteY9" fmla="*/ 18288 h 18288"/>
              <a:gd name="connsiteX10" fmla="*/ 4842129 w 5410200"/>
              <a:gd name="connsiteY10" fmla="*/ 18288 h 18288"/>
              <a:gd name="connsiteX11" fmla="*/ 4328160 w 5410200"/>
              <a:gd name="connsiteY11" fmla="*/ 18288 h 18288"/>
              <a:gd name="connsiteX12" fmla="*/ 3597783 w 5410200"/>
              <a:gd name="connsiteY12" fmla="*/ 18288 h 18288"/>
              <a:gd name="connsiteX13" fmla="*/ 3029712 w 5410200"/>
              <a:gd name="connsiteY13" fmla="*/ 18288 h 18288"/>
              <a:gd name="connsiteX14" fmla="*/ 2299335 w 5410200"/>
              <a:gd name="connsiteY14" fmla="*/ 18288 h 18288"/>
              <a:gd name="connsiteX15" fmla="*/ 1514856 w 5410200"/>
              <a:gd name="connsiteY15" fmla="*/ 18288 h 18288"/>
              <a:gd name="connsiteX16" fmla="*/ 892683 w 5410200"/>
              <a:gd name="connsiteY16" fmla="*/ 18288 h 18288"/>
              <a:gd name="connsiteX17" fmla="*/ 0 w 5410200"/>
              <a:gd name="connsiteY17" fmla="*/ 18288 h 18288"/>
              <a:gd name="connsiteX18" fmla="*/ 0 w 5410200"/>
              <a:gd name="connsiteY18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5410200" h="18288" fill="none" extrusionOk="0">
                <a:moveTo>
                  <a:pt x="0" y="0"/>
                </a:moveTo>
                <a:cubicBezTo>
                  <a:pt x="163050" y="-18707"/>
                  <a:pt x="319321" y="-16364"/>
                  <a:pt x="568071" y="0"/>
                </a:cubicBezTo>
                <a:cubicBezTo>
                  <a:pt x="816821" y="16364"/>
                  <a:pt x="1013224" y="-7268"/>
                  <a:pt x="1298448" y="0"/>
                </a:cubicBezTo>
                <a:cubicBezTo>
                  <a:pt x="1583672" y="7268"/>
                  <a:pt x="1631711" y="-3367"/>
                  <a:pt x="1920621" y="0"/>
                </a:cubicBezTo>
                <a:cubicBezTo>
                  <a:pt x="2209531" y="3367"/>
                  <a:pt x="2364420" y="-19184"/>
                  <a:pt x="2488692" y="0"/>
                </a:cubicBezTo>
                <a:cubicBezTo>
                  <a:pt x="2612964" y="19184"/>
                  <a:pt x="3023298" y="-34627"/>
                  <a:pt x="3219069" y="0"/>
                </a:cubicBezTo>
                <a:cubicBezTo>
                  <a:pt x="3414840" y="34627"/>
                  <a:pt x="3656810" y="24043"/>
                  <a:pt x="3895344" y="0"/>
                </a:cubicBezTo>
                <a:cubicBezTo>
                  <a:pt x="4133879" y="-24043"/>
                  <a:pt x="4393984" y="-19577"/>
                  <a:pt x="4571619" y="0"/>
                </a:cubicBezTo>
                <a:cubicBezTo>
                  <a:pt x="4749255" y="19577"/>
                  <a:pt x="5179928" y="-6281"/>
                  <a:pt x="5410200" y="0"/>
                </a:cubicBezTo>
                <a:cubicBezTo>
                  <a:pt x="5410730" y="6954"/>
                  <a:pt x="5410934" y="12839"/>
                  <a:pt x="5410200" y="18288"/>
                </a:cubicBezTo>
                <a:cubicBezTo>
                  <a:pt x="5139060" y="6751"/>
                  <a:pt x="5121593" y="31035"/>
                  <a:pt x="4842129" y="18288"/>
                </a:cubicBezTo>
                <a:cubicBezTo>
                  <a:pt x="4562665" y="5541"/>
                  <a:pt x="4448273" y="9487"/>
                  <a:pt x="4328160" y="18288"/>
                </a:cubicBezTo>
                <a:cubicBezTo>
                  <a:pt x="4208047" y="27089"/>
                  <a:pt x="3760936" y="22567"/>
                  <a:pt x="3597783" y="18288"/>
                </a:cubicBezTo>
                <a:cubicBezTo>
                  <a:pt x="3434630" y="14009"/>
                  <a:pt x="3299718" y="33213"/>
                  <a:pt x="3029712" y="18288"/>
                </a:cubicBezTo>
                <a:cubicBezTo>
                  <a:pt x="2759706" y="3363"/>
                  <a:pt x="2640159" y="27394"/>
                  <a:pt x="2299335" y="18288"/>
                </a:cubicBezTo>
                <a:cubicBezTo>
                  <a:pt x="1958511" y="9182"/>
                  <a:pt x="1801186" y="28985"/>
                  <a:pt x="1514856" y="18288"/>
                </a:cubicBezTo>
                <a:cubicBezTo>
                  <a:pt x="1228526" y="7591"/>
                  <a:pt x="1063509" y="-5305"/>
                  <a:pt x="892683" y="18288"/>
                </a:cubicBezTo>
                <a:cubicBezTo>
                  <a:pt x="721857" y="41881"/>
                  <a:pt x="186945" y="-20897"/>
                  <a:pt x="0" y="18288"/>
                </a:cubicBezTo>
                <a:cubicBezTo>
                  <a:pt x="-570" y="9279"/>
                  <a:pt x="132" y="5100"/>
                  <a:pt x="0" y="0"/>
                </a:cubicBezTo>
                <a:close/>
              </a:path>
              <a:path w="5410200" h="18288" stroke="0" extrusionOk="0">
                <a:moveTo>
                  <a:pt x="0" y="0"/>
                </a:moveTo>
                <a:cubicBezTo>
                  <a:pt x="285096" y="-4925"/>
                  <a:pt x="376456" y="22268"/>
                  <a:pt x="622173" y="0"/>
                </a:cubicBezTo>
                <a:cubicBezTo>
                  <a:pt x="867890" y="-22268"/>
                  <a:pt x="1031392" y="7228"/>
                  <a:pt x="1136142" y="0"/>
                </a:cubicBezTo>
                <a:cubicBezTo>
                  <a:pt x="1240892" y="-7228"/>
                  <a:pt x="1561853" y="9877"/>
                  <a:pt x="1920621" y="0"/>
                </a:cubicBezTo>
                <a:cubicBezTo>
                  <a:pt x="2279389" y="-9877"/>
                  <a:pt x="2367255" y="19546"/>
                  <a:pt x="2542794" y="0"/>
                </a:cubicBezTo>
                <a:cubicBezTo>
                  <a:pt x="2718333" y="-19546"/>
                  <a:pt x="2866732" y="-22226"/>
                  <a:pt x="3164967" y="0"/>
                </a:cubicBezTo>
                <a:cubicBezTo>
                  <a:pt x="3463202" y="22226"/>
                  <a:pt x="3568055" y="-2765"/>
                  <a:pt x="3949446" y="0"/>
                </a:cubicBezTo>
                <a:cubicBezTo>
                  <a:pt x="4330837" y="2765"/>
                  <a:pt x="4287895" y="10557"/>
                  <a:pt x="4517517" y="0"/>
                </a:cubicBezTo>
                <a:cubicBezTo>
                  <a:pt x="4747139" y="-10557"/>
                  <a:pt x="5149588" y="8716"/>
                  <a:pt x="5410200" y="0"/>
                </a:cubicBezTo>
                <a:cubicBezTo>
                  <a:pt x="5409517" y="5414"/>
                  <a:pt x="5409480" y="12510"/>
                  <a:pt x="5410200" y="18288"/>
                </a:cubicBezTo>
                <a:cubicBezTo>
                  <a:pt x="5163327" y="41494"/>
                  <a:pt x="5008749" y="10693"/>
                  <a:pt x="4842129" y="18288"/>
                </a:cubicBezTo>
                <a:cubicBezTo>
                  <a:pt x="4675509" y="25883"/>
                  <a:pt x="4433401" y="-615"/>
                  <a:pt x="4165854" y="18288"/>
                </a:cubicBezTo>
                <a:cubicBezTo>
                  <a:pt x="3898308" y="37191"/>
                  <a:pt x="3809032" y="-8710"/>
                  <a:pt x="3543681" y="18288"/>
                </a:cubicBezTo>
                <a:cubicBezTo>
                  <a:pt x="3278330" y="45286"/>
                  <a:pt x="3073876" y="-15917"/>
                  <a:pt x="2759202" y="18288"/>
                </a:cubicBezTo>
                <a:cubicBezTo>
                  <a:pt x="2444528" y="52493"/>
                  <a:pt x="2204144" y="3372"/>
                  <a:pt x="1974723" y="18288"/>
                </a:cubicBezTo>
                <a:cubicBezTo>
                  <a:pt x="1745302" y="33204"/>
                  <a:pt x="1602335" y="31490"/>
                  <a:pt x="1406652" y="18288"/>
                </a:cubicBezTo>
                <a:cubicBezTo>
                  <a:pt x="1210969" y="5086"/>
                  <a:pt x="923948" y="3161"/>
                  <a:pt x="730377" y="18288"/>
                </a:cubicBezTo>
                <a:cubicBezTo>
                  <a:pt x="536806" y="33415"/>
                  <a:pt x="336496" y="-141"/>
                  <a:pt x="0" y="18288"/>
                </a:cubicBezTo>
                <a:cubicBezTo>
                  <a:pt x="-306" y="11061"/>
                  <a:pt x="-655" y="7751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2BCD947-9B30-D89E-2ECB-37BCE1B57F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650" y="1955550"/>
            <a:ext cx="3355593" cy="360004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F5A8F8D-7460-0733-B961-18005D22FE9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99655" y="2057982"/>
            <a:ext cx="3758184" cy="339517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7065025-3B56-BEAA-EFCC-9A0987794F3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23955" y="2143395"/>
            <a:ext cx="3758184" cy="322435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63B6E6BE-F141-FBB5-F158-BE9759EEE9D2}"/>
              </a:ext>
            </a:extLst>
          </p:cNvPr>
          <p:cNvSpPr txBox="1"/>
          <p:nvPr/>
        </p:nvSpPr>
        <p:spPr>
          <a:xfrm>
            <a:off x="878731" y="5369599"/>
            <a:ext cx="29535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On-premises exchanges / private data centers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05BEEBA-FC45-3F8F-150E-4B11C4139718}"/>
              </a:ext>
            </a:extLst>
          </p:cNvPr>
          <p:cNvSpPr txBox="1"/>
          <p:nvPr/>
        </p:nvSpPr>
        <p:spPr>
          <a:xfrm>
            <a:off x="4863630" y="5367746"/>
            <a:ext cx="295351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Single region public cloud +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time resolution of microseconds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0273B3B-8A6B-41E0-BD8E-D0BAD9B1B3FB}"/>
              </a:ext>
            </a:extLst>
          </p:cNvPr>
          <p:cNvSpPr txBox="1"/>
          <p:nvPr/>
        </p:nvSpPr>
        <p:spPr>
          <a:xfrm>
            <a:off x="9290978" y="5367746"/>
            <a:ext cx="29535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Everywhere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But probabilistic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E25E686-49DA-E605-38DE-AADE031046B5}"/>
              </a:ext>
            </a:extLst>
          </p:cNvPr>
          <p:cNvSpPr txBox="1"/>
          <p:nvPr/>
        </p:nvSpPr>
        <p:spPr>
          <a:xfrm>
            <a:off x="5620338" y="2649741"/>
            <a:ext cx="714106" cy="3693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50000"/>
                    <a:lumOff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Onyx</a:t>
            </a:r>
          </a:p>
        </p:txBody>
      </p:sp>
    </p:spTree>
    <p:extLst>
      <p:ext uri="{BB962C8B-B14F-4D97-AF65-F5344CB8AC3E}">
        <p14:creationId xmlns:p14="http://schemas.microsoft.com/office/powerpoint/2010/main" val="498613506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12" grpId="0"/>
      <p:bldP spid="3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7C6450-46E6-F9F6-7641-C7262B7278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823445-8E5D-FA2A-CE52-EA7F65C5CC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670218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dirty="0"/>
              <a:t>A Simple Solution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7DF8024-26FA-3601-0AE8-C10E5716BEE9}"/>
              </a:ext>
            </a:extLst>
          </p:cNvPr>
          <p:cNvSpPr txBox="1"/>
          <p:nvPr/>
        </p:nvSpPr>
        <p:spPr>
          <a:xfrm>
            <a:off x="638880" y="2013404"/>
            <a:ext cx="11087545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Use </a:t>
            </a:r>
            <a:r>
              <a:rPr kumimoji="0" 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TrueTime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(Spanner) API to represent each timestamp as an interval </a:t>
            </a:r>
            <a:b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Two non-overlapping intervals can be confidently ordered</a:t>
            </a:r>
            <a:b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Two overlapping intervals must be assigned the same sequence number/rank as ordering is uncertain</a:t>
            </a:r>
            <a:b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We will use this as</a:t>
            </a:r>
            <a:r>
              <a:rPr kumimoji="0" lang="en-US" sz="28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a baseline to compare against.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652822"/>
      </p:ext>
    </p:extLst>
  </p:cSld>
  <p:clrMapOvr>
    <a:masterClrMapping/>
  </p:clrMapOvr>
  <p:transition spd="slow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9D7583-65CE-FD5B-F047-8ED7AFA8C4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960312-C3C7-E0A1-261B-8CE2E1B857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Probabilistic Fair Ordering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4F9858-6696-1E3A-4BF1-DDF8B7D812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Lamport introduced </a:t>
            </a:r>
            <a:r>
              <a:rPr lang="en-US" i="1" dirty="0"/>
              <a:t>happened-before, </a:t>
            </a:r>
          </a:p>
          <a:p>
            <a:r>
              <a:rPr lang="en-US" dirty="0"/>
              <a:t>Causally related events can be related with</a:t>
            </a:r>
          </a:p>
          <a:p>
            <a:r>
              <a:rPr lang="en-US" dirty="0"/>
              <a:t>Achieves partial order on all causally relatable events</a:t>
            </a:r>
          </a:p>
          <a:p>
            <a:r>
              <a:rPr lang="en-US" dirty="0"/>
              <a:t>Concurrent events are not relatable with  </a:t>
            </a:r>
          </a:p>
          <a:p>
            <a:endParaRPr lang="en-US" dirty="0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76E1D6BF-0AE2-EAEE-CE73-BC8715B93F10}"/>
              </a:ext>
            </a:extLst>
          </p:cNvPr>
          <p:cNvCxnSpPr>
            <a:cxnSpLocks/>
          </p:cNvCxnSpPr>
          <p:nvPr/>
        </p:nvCxnSpPr>
        <p:spPr>
          <a:xfrm>
            <a:off x="7120919" y="2065468"/>
            <a:ext cx="376518" cy="0"/>
          </a:xfrm>
          <a:prstGeom prst="straightConnector1">
            <a:avLst/>
          </a:prstGeom>
          <a:ln w="28575"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B0D43C9C-17F1-3FCA-117D-320F9889B21A}"/>
              </a:ext>
            </a:extLst>
          </p:cNvPr>
          <p:cNvCxnSpPr>
            <a:cxnSpLocks/>
          </p:cNvCxnSpPr>
          <p:nvPr/>
        </p:nvCxnSpPr>
        <p:spPr>
          <a:xfrm>
            <a:off x="7752678" y="2562112"/>
            <a:ext cx="376518" cy="0"/>
          </a:xfrm>
          <a:prstGeom prst="straightConnector1">
            <a:avLst/>
          </a:prstGeom>
          <a:ln w="28575"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DB8E145E-25A5-B74C-F4B2-8011621BDBDB}"/>
              </a:ext>
            </a:extLst>
          </p:cNvPr>
          <p:cNvCxnSpPr>
            <a:cxnSpLocks/>
          </p:cNvCxnSpPr>
          <p:nvPr/>
        </p:nvCxnSpPr>
        <p:spPr>
          <a:xfrm>
            <a:off x="7376160" y="3575124"/>
            <a:ext cx="376518" cy="0"/>
          </a:xfrm>
          <a:prstGeom prst="straightConnector1">
            <a:avLst/>
          </a:prstGeom>
          <a:ln w="28575"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14884552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CF6BB7-FB52-9C27-0ECA-53F1A0624B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Probabilistic Fair Ordering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4194B6-C6D8-D9C0-86F2-77076327D7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are precisely interested in ordering these concurrent events</a:t>
            </a:r>
          </a:p>
          <a:p>
            <a:r>
              <a:rPr lang="en-US" dirty="0"/>
              <a:t>We introduce: </a:t>
            </a:r>
            <a:r>
              <a:rPr lang="en-US" i="1" dirty="0"/>
              <a:t>likely-happened-before</a:t>
            </a:r>
            <a:r>
              <a:rPr lang="en-US" dirty="0"/>
              <a:t>,</a:t>
            </a:r>
          </a:p>
          <a:p>
            <a:r>
              <a:rPr lang="en-US" dirty="0"/>
              <a:t>x	 y means x happened before y with probability </a:t>
            </a:r>
            <a:r>
              <a:rPr lang="en-US" i="1" dirty="0"/>
              <a:t>p</a:t>
            </a:r>
          </a:p>
          <a:p>
            <a:r>
              <a:rPr lang="en-US" dirty="0"/>
              <a:t>An ordering of events using	      where </a:t>
            </a:r>
            <a:r>
              <a:rPr lang="en-US" i="1" dirty="0"/>
              <a:t>p </a:t>
            </a:r>
            <a:r>
              <a:rPr lang="en-US" dirty="0"/>
              <a:t>is sufficiently high, is fair </a:t>
            </a:r>
          </a:p>
          <a:p>
            <a:endParaRPr lang="en-US" dirty="0"/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5C3712D-3785-27FE-D61A-0B49A0A5B27D}"/>
              </a:ext>
            </a:extLst>
          </p:cNvPr>
          <p:cNvCxnSpPr>
            <a:cxnSpLocks/>
          </p:cNvCxnSpPr>
          <p:nvPr/>
        </p:nvCxnSpPr>
        <p:spPr>
          <a:xfrm>
            <a:off x="7186521" y="2642654"/>
            <a:ext cx="376518" cy="0"/>
          </a:xfrm>
          <a:prstGeom prst="straightConnector1">
            <a:avLst/>
          </a:prstGeom>
          <a:ln w="28575"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D7CF233B-AD94-F0EB-5D81-5F4D5DC9FD11}"/>
              </a:ext>
            </a:extLst>
          </p:cNvPr>
          <p:cNvSpPr txBox="1"/>
          <p:nvPr/>
        </p:nvSpPr>
        <p:spPr>
          <a:xfrm>
            <a:off x="7186521" y="2273322"/>
            <a:ext cx="3145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BE49A0C-D679-34FF-F328-D9FF331E49B3}"/>
              </a:ext>
            </a:extLst>
          </p:cNvPr>
          <p:cNvCxnSpPr>
            <a:cxnSpLocks/>
          </p:cNvCxnSpPr>
          <p:nvPr/>
        </p:nvCxnSpPr>
        <p:spPr>
          <a:xfrm>
            <a:off x="1420350" y="3118144"/>
            <a:ext cx="376518" cy="0"/>
          </a:xfrm>
          <a:prstGeom prst="straightConnector1">
            <a:avLst/>
          </a:prstGeom>
          <a:ln w="28575"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2D8BCCA2-5276-2D3C-BD98-AA6BA678FF82}"/>
              </a:ext>
            </a:extLst>
          </p:cNvPr>
          <p:cNvSpPr txBox="1"/>
          <p:nvPr/>
        </p:nvSpPr>
        <p:spPr>
          <a:xfrm>
            <a:off x="1394504" y="2748812"/>
            <a:ext cx="3145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5399392-BCF9-13AA-C84E-89137358B57D}"/>
              </a:ext>
            </a:extLst>
          </p:cNvPr>
          <p:cNvCxnSpPr>
            <a:cxnSpLocks/>
          </p:cNvCxnSpPr>
          <p:nvPr/>
        </p:nvCxnSpPr>
        <p:spPr>
          <a:xfrm>
            <a:off x="5451286" y="3613666"/>
            <a:ext cx="376518" cy="0"/>
          </a:xfrm>
          <a:prstGeom prst="straightConnector1">
            <a:avLst/>
          </a:prstGeom>
          <a:ln w="28575">
            <a:tailEnd type="stealth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B8C05DBD-8B21-22AB-727A-30CBE7241EBB}"/>
              </a:ext>
            </a:extLst>
          </p:cNvPr>
          <p:cNvSpPr txBox="1"/>
          <p:nvPr/>
        </p:nvSpPr>
        <p:spPr>
          <a:xfrm>
            <a:off x="5425440" y="3244334"/>
            <a:ext cx="3145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</a:t>
            </a:r>
          </a:p>
        </p:txBody>
      </p:sp>
    </p:spTree>
    <p:extLst>
      <p:ext uri="{BB962C8B-B14F-4D97-AF65-F5344CB8AC3E}">
        <p14:creationId xmlns:p14="http://schemas.microsoft.com/office/powerpoint/2010/main" val="3504264958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5" grpId="0"/>
      <p:bldP spid="9" grpId="0"/>
      <p:bldP spid="1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BB867FF-FC45-48F7-8104-F89BE54909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8BB56887-D0D5-4F0C-9E19-7247EB83C8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208695" y="1"/>
            <a:ext cx="1135066" cy="477997"/>
          </a:xfrm>
          <a:custGeom>
            <a:avLst/>
            <a:gdLst>
              <a:gd name="connsiteX0" fmla="*/ 0 w 1135066"/>
              <a:gd name="connsiteY0" fmla="*/ 0 h 477997"/>
              <a:gd name="connsiteX1" fmla="*/ 1135066 w 1135066"/>
              <a:gd name="connsiteY1" fmla="*/ 0 h 477997"/>
              <a:gd name="connsiteX2" fmla="*/ 1133370 w 1135066"/>
              <a:gd name="connsiteY2" fmla="*/ 16827 h 477997"/>
              <a:gd name="connsiteX3" fmla="*/ 567533 w 1135066"/>
              <a:gd name="connsiteY3" fmla="*/ 477997 h 477997"/>
              <a:gd name="connsiteX4" fmla="*/ 1696 w 1135066"/>
              <a:gd name="connsiteY4" fmla="*/ 16827 h 477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35066" h="477997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AA88385-1307-4C4F-4622-C64B6C2BAC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i="1" dirty="0"/>
              <a:t>Two Questions</a:t>
            </a:r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V="1">
            <a:off x="555710" y="2183223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399E4E-33DA-68F1-F2F5-6B25127A0A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US" dirty="0"/>
              <a:t>How to find </a:t>
            </a:r>
            <a:r>
              <a:rPr lang="en-US" i="1" dirty="0"/>
              <a:t>p </a:t>
            </a:r>
            <a:r>
              <a:rPr lang="en-US" dirty="0"/>
              <a:t>for two messages to construct the relation?</a:t>
            </a:r>
            <a:br>
              <a:rPr lang="en-US" dirty="0"/>
            </a:br>
            <a:endParaRPr lang="en-US" dirty="0"/>
          </a:p>
          <a:p>
            <a:r>
              <a:rPr lang="en-US" dirty="0"/>
              <a:t>How to achieve an order of several events from the pairwise relations?</a:t>
            </a:r>
          </a:p>
        </p:txBody>
      </p:sp>
    </p:spTree>
    <p:extLst>
      <p:ext uri="{BB962C8B-B14F-4D97-AF65-F5344CB8AC3E}">
        <p14:creationId xmlns:p14="http://schemas.microsoft.com/office/powerpoint/2010/main" val="3252517360"/>
      </p:ext>
    </p:extLst>
  </p:cSld>
  <p:clrMapOvr>
    <a:masterClrMapping/>
  </p:clrMapOvr>
  <p:transition spd="slow">
    <p:push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n 4">
            <a:extLst>
              <a:ext uri="{FF2B5EF4-FFF2-40B4-BE49-F238E27FC236}">
                <a16:creationId xmlns:a16="http://schemas.microsoft.com/office/drawing/2014/main" id="{9AAFC6F7-06A7-6C5C-127C-F1F802B1576C}"/>
              </a:ext>
            </a:extLst>
          </p:cNvPr>
          <p:cNvSpPr/>
          <p:nvPr/>
        </p:nvSpPr>
        <p:spPr>
          <a:xfrm rot="5400000">
            <a:off x="5418564" y="2362027"/>
            <a:ext cx="666707" cy="5357578"/>
          </a:xfrm>
          <a:prstGeom prst="can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57B36B9-932E-C121-2B14-F544332345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4173"/>
            <a:ext cx="10515600" cy="1325563"/>
          </a:xfrm>
        </p:spPr>
        <p:txBody>
          <a:bodyPr/>
          <a:lstStyle/>
          <a:p>
            <a:r>
              <a:rPr lang="en-US" dirty="0"/>
              <a:t>Sequencer Overview – </a:t>
            </a:r>
            <a:r>
              <a:rPr lang="en-US" dirty="0">
                <a:solidFill>
                  <a:srgbClr val="FF0000"/>
                </a:solidFill>
              </a:rPr>
              <a:t>Before Tommy</a:t>
            </a:r>
          </a:p>
        </p:txBody>
      </p:sp>
      <p:pic>
        <p:nvPicPr>
          <p:cNvPr id="7" name="Graphic 6" descr="Server outline">
            <a:extLst>
              <a:ext uri="{FF2B5EF4-FFF2-40B4-BE49-F238E27FC236}">
                <a16:creationId xmlns:a16="http://schemas.microsoft.com/office/drawing/2014/main" id="{DB69608E-4263-38E1-4DCE-657A33DC17D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70053" y="2775829"/>
            <a:ext cx="721034" cy="721034"/>
          </a:xfrm>
          <a:prstGeom prst="rect">
            <a:avLst/>
          </a:prstGeom>
        </p:spPr>
      </p:pic>
      <p:pic>
        <p:nvPicPr>
          <p:cNvPr id="8" name="Graphic 7" descr="Server outline">
            <a:extLst>
              <a:ext uri="{FF2B5EF4-FFF2-40B4-BE49-F238E27FC236}">
                <a16:creationId xmlns:a16="http://schemas.microsoft.com/office/drawing/2014/main" id="{654CEF6C-2806-0B7E-6104-DC2BE2DDA5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91855" y="2775829"/>
            <a:ext cx="721034" cy="721034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5E2A13D-A251-B272-C546-6A3A9B23B107}"/>
              </a:ext>
            </a:extLst>
          </p:cNvPr>
          <p:cNvCxnSpPr>
            <a:cxnSpLocks/>
          </p:cNvCxnSpPr>
          <p:nvPr/>
        </p:nvCxnSpPr>
        <p:spPr>
          <a:xfrm>
            <a:off x="3991087" y="3050285"/>
            <a:ext cx="640080" cy="0"/>
          </a:xfrm>
          <a:prstGeom prst="line">
            <a:avLst/>
          </a:prstGeom>
          <a:ln w="381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52C6C9B6-641B-428E-A721-72407CA8015D}"/>
              </a:ext>
            </a:extLst>
          </p:cNvPr>
          <p:cNvSpPr txBox="1"/>
          <p:nvPr/>
        </p:nvSpPr>
        <p:spPr>
          <a:xfrm>
            <a:off x="3894522" y="3104289"/>
            <a:ext cx="8938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Clients</a:t>
            </a:r>
          </a:p>
        </p:txBody>
      </p:sp>
      <p:cxnSp>
        <p:nvCxnSpPr>
          <p:cNvPr id="82" name="Elbow Connector 81">
            <a:extLst>
              <a:ext uri="{FF2B5EF4-FFF2-40B4-BE49-F238E27FC236}">
                <a16:creationId xmlns:a16="http://schemas.microsoft.com/office/drawing/2014/main" id="{1FC9C863-03CC-D2C9-3315-48FF36B5E30D}"/>
              </a:ext>
            </a:extLst>
          </p:cNvPr>
          <p:cNvCxnSpPr>
            <a:cxnSpLocks/>
            <a:stCxn id="7" idx="2"/>
          </p:cNvCxnSpPr>
          <p:nvPr/>
        </p:nvCxnSpPr>
        <p:spPr>
          <a:xfrm rot="16200000" flipH="1">
            <a:off x="3796074" y="3331358"/>
            <a:ext cx="1527165" cy="1858173"/>
          </a:xfrm>
          <a:prstGeom prst="bentConnector2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Elbow Connector 83">
            <a:extLst>
              <a:ext uri="{FF2B5EF4-FFF2-40B4-BE49-F238E27FC236}">
                <a16:creationId xmlns:a16="http://schemas.microsoft.com/office/drawing/2014/main" id="{193C5E11-4C7D-6C4C-1F79-D492B6F066AD}"/>
              </a:ext>
            </a:extLst>
          </p:cNvPr>
          <p:cNvCxnSpPr>
            <a:cxnSpLocks/>
            <a:stCxn id="8" idx="2"/>
          </p:cNvCxnSpPr>
          <p:nvPr/>
        </p:nvCxnSpPr>
        <p:spPr>
          <a:xfrm rot="16200000" flipH="1">
            <a:off x="4506975" y="4042259"/>
            <a:ext cx="1527165" cy="436371"/>
          </a:xfrm>
          <a:prstGeom prst="bentConnector2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FFA2EDB1-B683-3B76-BE86-4D92FDDB6E76}"/>
              </a:ext>
            </a:extLst>
          </p:cNvPr>
          <p:cNvSpPr txBox="1"/>
          <p:nvPr/>
        </p:nvSpPr>
        <p:spPr>
          <a:xfrm>
            <a:off x="4607187" y="3801560"/>
            <a:ext cx="761747" cy="40011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60000"/>
                    <a:lumOff val="4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Msgs</a:t>
            </a:r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52FC0751-2F4E-AF9F-E990-947D61103F47}"/>
              </a:ext>
            </a:extLst>
          </p:cNvPr>
          <p:cNvCxnSpPr>
            <a:cxnSpLocks/>
          </p:cNvCxnSpPr>
          <p:nvPr/>
        </p:nvCxnSpPr>
        <p:spPr>
          <a:xfrm flipV="1">
            <a:off x="6748664" y="3946923"/>
            <a:ext cx="0" cy="820541"/>
          </a:xfrm>
          <a:prstGeom prst="straightConnector1">
            <a:avLst/>
          </a:prstGeom>
          <a:ln w="41275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45850E51-A5D7-8CCE-0C3B-B2B0E39E51F1}"/>
              </a:ext>
            </a:extLst>
          </p:cNvPr>
          <p:cNvSpPr txBox="1"/>
          <p:nvPr/>
        </p:nvSpPr>
        <p:spPr>
          <a:xfrm>
            <a:off x="6768203" y="4248357"/>
            <a:ext cx="889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Output</a:t>
            </a: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AA20DC6F-319B-7781-93DB-4847AF56824B}"/>
              </a:ext>
            </a:extLst>
          </p:cNvPr>
          <p:cNvSpPr txBox="1"/>
          <p:nvPr/>
        </p:nvSpPr>
        <p:spPr>
          <a:xfrm>
            <a:off x="3894522" y="5364014"/>
            <a:ext cx="138371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Sequencer</a:t>
            </a:r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B9876B3A-2CC6-898B-B324-CAE40AB2C186}"/>
              </a:ext>
            </a:extLst>
          </p:cNvPr>
          <p:cNvSpPr txBox="1"/>
          <p:nvPr/>
        </p:nvSpPr>
        <p:spPr>
          <a:xfrm>
            <a:off x="7659598" y="3332861"/>
            <a:ext cx="3227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97FE85C1-D348-3D92-8046-5248BB6BD2CB}"/>
              </a:ext>
            </a:extLst>
          </p:cNvPr>
          <p:cNvSpPr txBox="1"/>
          <p:nvPr/>
        </p:nvSpPr>
        <p:spPr>
          <a:xfrm>
            <a:off x="7017955" y="3344283"/>
            <a:ext cx="3227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92F36EB1-D2F3-590B-4437-85A047BC9FDC}"/>
              </a:ext>
            </a:extLst>
          </p:cNvPr>
          <p:cNvSpPr txBox="1"/>
          <p:nvPr/>
        </p:nvSpPr>
        <p:spPr>
          <a:xfrm>
            <a:off x="6402079" y="3350875"/>
            <a:ext cx="3227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B17361AD-DDA0-F9B5-CCE4-E0BE3211C671}"/>
              </a:ext>
            </a:extLst>
          </p:cNvPr>
          <p:cNvSpPr txBox="1"/>
          <p:nvPr/>
        </p:nvSpPr>
        <p:spPr>
          <a:xfrm>
            <a:off x="8274279" y="3332861"/>
            <a:ext cx="3227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EA1D57D7-7FE1-506F-67DA-AF777800FDAE}"/>
              </a:ext>
            </a:extLst>
          </p:cNvPr>
          <p:cNvSpPr txBox="1"/>
          <p:nvPr/>
        </p:nvSpPr>
        <p:spPr>
          <a:xfrm>
            <a:off x="8938053" y="3332861"/>
            <a:ext cx="3227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4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2809CD7-D994-DDAB-EF35-A18EA43D45B0}"/>
              </a:ext>
            </a:extLst>
          </p:cNvPr>
          <p:cNvSpPr txBox="1"/>
          <p:nvPr/>
        </p:nvSpPr>
        <p:spPr>
          <a:xfrm>
            <a:off x="6768203" y="2873756"/>
            <a:ext cx="28586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Arbitrary order</a:t>
            </a:r>
          </a:p>
        </p:txBody>
      </p:sp>
    </p:spTree>
    <p:extLst>
      <p:ext uri="{BB962C8B-B14F-4D97-AF65-F5344CB8AC3E}">
        <p14:creationId xmlns:p14="http://schemas.microsoft.com/office/powerpoint/2010/main" val="264137514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6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7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6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0" dur="5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6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7" dur="5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89" grpId="0" animBg="1"/>
      <p:bldP spid="95" grpId="0"/>
      <p:bldP spid="128" grpId="0"/>
      <p:bldP spid="129" grpId="0"/>
      <p:bldP spid="130" grpId="0"/>
      <p:bldP spid="131" grpId="0"/>
      <p:bldP spid="132" grpId="0"/>
      <p:bldP spid="3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195BBF-1B8F-8943-1513-DC0422A6C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n 4">
            <a:extLst>
              <a:ext uri="{FF2B5EF4-FFF2-40B4-BE49-F238E27FC236}">
                <a16:creationId xmlns:a16="http://schemas.microsoft.com/office/drawing/2014/main" id="{E3E3CAA6-354B-81FE-3FC2-4E02E3FD38FB}"/>
              </a:ext>
            </a:extLst>
          </p:cNvPr>
          <p:cNvSpPr/>
          <p:nvPr/>
        </p:nvSpPr>
        <p:spPr>
          <a:xfrm rot="5400000">
            <a:off x="5418564" y="2362027"/>
            <a:ext cx="666707" cy="5357578"/>
          </a:xfrm>
          <a:prstGeom prst="can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E18314-365A-EE1E-0D12-808D6119DC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4173"/>
            <a:ext cx="10515600" cy="1325563"/>
          </a:xfrm>
        </p:spPr>
        <p:txBody>
          <a:bodyPr/>
          <a:lstStyle/>
          <a:p>
            <a:r>
              <a:rPr lang="en-US" dirty="0"/>
              <a:t>Sequencer Overview – </a:t>
            </a:r>
            <a:r>
              <a:rPr lang="en-US" dirty="0">
                <a:solidFill>
                  <a:schemeClr val="accent6"/>
                </a:solidFill>
              </a:rPr>
              <a:t>After Tommy</a:t>
            </a:r>
          </a:p>
        </p:txBody>
      </p:sp>
      <p:pic>
        <p:nvPicPr>
          <p:cNvPr id="7" name="Graphic 6" descr="Server outline">
            <a:extLst>
              <a:ext uri="{FF2B5EF4-FFF2-40B4-BE49-F238E27FC236}">
                <a16:creationId xmlns:a16="http://schemas.microsoft.com/office/drawing/2014/main" id="{5F1D8B1F-DDC6-AD5B-EC35-DEC701DE2A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70053" y="2775829"/>
            <a:ext cx="721034" cy="721034"/>
          </a:xfrm>
          <a:prstGeom prst="rect">
            <a:avLst/>
          </a:prstGeom>
        </p:spPr>
      </p:pic>
      <p:pic>
        <p:nvPicPr>
          <p:cNvPr id="8" name="Graphic 7" descr="Server outline">
            <a:extLst>
              <a:ext uri="{FF2B5EF4-FFF2-40B4-BE49-F238E27FC236}">
                <a16:creationId xmlns:a16="http://schemas.microsoft.com/office/drawing/2014/main" id="{FC41FBAB-0C9C-449E-36AC-E7B73221A2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91855" y="2775829"/>
            <a:ext cx="721034" cy="721034"/>
          </a:xfrm>
          <a:prstGeom prst="rect">
            <a:avLst/>
          </a:prstGeom>
        </p:spPr>
      </p:pic>
      <p:pic>
        <p:nvPicPr>
          <p:cNvPr id="10" name="Graphic 9" descr="Alarm clock with solid fill">
            <a:extLst>
              <a:ext uri="{FF2B5EF4-FFF2-40B4-BE49-F238E27FC236}">
                <a16:creationId xmlns:a16="http://schemas.microsoft.com/office/drawing/2014/main" id="{69194A3B-0F9A-CEC6-0BD9-B1756F32ADD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374006" y="2433087"/>
            <a:ext cx="513127" cy="513127"/>
          </a:xfrm>
          <a:prstGeom prst="rect">
            <a:avLst/>
          </a:prstGeom>
        </p:spPr>
      </p:pic>
      <p:pic>
        <p:nvPicPr>
          <p:cNvPr id="11" name="Graphic 10" descr="Alarm clock with solid fill">
            <a:extLst>
              <a:ext uri="{FF2B5EF4-FFF2-40B4-BE49-F238E27FC236}">
                <a16:creationId xmlns:a16="http://schemas.microsoft.com/office/drawing/2014/main" id="{C392B9DA-30E3-C441-CB29-01477705CA1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795808" y="2433086"/>
            <a:ext cx="513127" cy="513127"/>
          </a:xfrm>
          <a:prstGeom prst="rect">
            <a:avLst/>
          </a:prstGeom>
        </p:spPr>
      </p:pic>
      <p:pic>
        <p:nvPicPr>
          <p:cNvPr id="12" name="Graphic 11" descr="Alarm clock with solid fill">
            <a:extLst>
              <a:ext uri="{FF2B5EF4-FFF2-40B4-BE49-F238E27FC236}">
                <a16:creationId xmlns:a16="http://schemas.microsoft.com/office/drawing/2014/main" id="{2D9796AB-F84B-1DE2-A5D9-72612324196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111550" y="4790703"/>
            <a:ext cx="513127" cy="513127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7D79C0F-623D-3066-4636-E50D04262891}"/>
              </a:ext>
            </a:extLst>
          </p:cNvPr>
          <p:cNvCxnSpPr>
            <a:cxnSpLocks/>
          </p:cNvCxnSpPr>
          <p:nvPr/>
        </p:nvCxnSpPr>
        <p:spPr>
          <a:xfrm>
            <a:off x="3991087" y="3050285"/>
            <a:ext cx="640080" cy="0"/>
          </a:xfrm>
          <a:prstGeom prst="line">
            <a:avLst/>
          </a:prstGeom>
          <a:ln w="381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C47499C2-0E31-1DCE-A060-5FA0B0321518}"/>
              </a:ext>
            </a:extLst>
          </p:cNvPr>
          <p:cNvSpPr txBox="1"/>
          <p:nvPr/>
        </p:nvSpPr>
        <p:spPr>
          <a:xfrm>
            <a:off x="3894522" y="3104289"/>
            <a:ext cx="8938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Clients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0D6B3E0-3809-F388-0142-3A7443156B5D}"/>
              </a:ext>
            </a:extLst>
          </p:cNvPr>
          <p:cNvSpPr txBox="1"/>
          <p:nvPr/>
        </p:nvSpPr>
        <p:spPr>
          <a:xfrm>
            <a:off x="2038272" y="3496861"/>
            <a:ext cx="148694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Best Effort</a:t>
            </a:r>
            <a:b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Clock Sync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.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D21D8E98-C1FF-C273-7567-2DDF59C82E78}"/>
              </a:ext>
            </a:extLst>
          </p:cNvPr>
          <p:cNvCxnSpPr>
            <a:cxnSpLocks/>
          </p:cNvCxnSpPr>
          <p:nvPr/>
        </p:nvCxnSpPr>
        <p:spPr>
          <a:xfrm>
            <a:off x="3894522" y="2746143"/>
            <a:ext cx="901286" cy="1"/>
          </a:xfrm>
          <a:prstGeom prst="straightConnector1">
            <a:avLst/>
          </a:prstGeom>
          <a:ln w="28575">
            <a:solidFill>
              <a:schemeClr val="bg1">
                <a:lumMod val="65000"/>
              </a:schemeClr>
            </a:solidFill>
            <a:prstDash val="sysDot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>
            <a:extLst>
              <a:ext uri="{FF2B5EF4-FFF2-40B4-BE49-F238E27FC236}">
                <a16:creationId xmlns:a16="http://schemas.microsoft.com/office/drawing/2014/main" id="{95CB0D97-C2BE-E5C8-3407-38A68AE24E8B}"/>
              </a:ext>
            </a:extLst>
          </p:cNvPr>
          <p:cNvSpPr/>
          <p:nvPr/>
        </p:nvSpPr>
        <p:spPr>
          <a:xfrm>
            <a:off x="3374006" y="1887264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6" name="Freeform 55">
            <a:extLst>
              <a:ext uri="{FF2B5EF4-FFF2-40B4-BE49-F238E27FC236}">
                <a16:creationId xmlns:a16="http://schemas.microsoft.com/office/drawing/2014/main" id="{9BD07AAF-CA90-194A-EEA1-C386D6CE24A9}"/>
              </a:ext>
            </a:extLst>
          </p:cNvPr>
          <p:cNvSpPr/>
          <p:nvPr/>
        </p:nvSpPr>
        <p:spPr>
          <a:xfrm>
            <a:off x="4834587" y="2089607"/>
            <a:ext cx="387086" cy="269789"/>
          </a:xfrm>
          <a:custGeom>
            <a:avLst/>
            <a:gdLst>
              <a:gd name="connsiteX0" fmla="*/ 0 w 387086"/>
              <a:gd name="connsiteY0" fmla="*/ 254892 h 269789"/>
              <a:gd name="connsiteX1" fmla="*/ 247585 w 387086"/>
              <a:gd name="connsiteY1" fmla="*/ 7494 h 269789"/>
              <a:gd name="connsiteX2" fmla="*/ 387087 w 387086"/>
              <a:gd name="connsiteY2" fmla="*/ 269790 h 269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269789">
                <a:moveTo>
                  <a:pt x="0" y="254892"/>
                </a:moveTo>
                <a:cubicBezTo>
                  <a:pt x="118409" y="124934"/>
                  <a:pt x="200937" y="42468"/>
                  <a:pt x="247585" y="7494"/>
                </a:cubicBezTo>
                <a:cubicBezTo>
                  <a:pt x="294232" y="-27479"/>
                  <a:pt x="340733" y="59954"/>
                  <a:pt x="387087" y="269790"/>
                </a:cubicBezTo>
              </a:path>
            </a:pathLst>
          </a:custGeom>
          <a:noFill/>
          <a:ln w="41869" cap="flat">
            <a:solidFill>
              <a:schemeClr val="accent5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C218843C-9F13-AA7F-BD3F-3D979A067C33}"/>
              </a:ext>
            </a:extLst>
          </p:cNvPr>
          <p:cNvCxnSpPr>
            <a:cxnSpLocks/>
          </p:cNvCxnSpPr>
          <p:nvPr/>
        </p:nvCxnSpPr>
        <p:spPr>
          <a:xfrm>
            <a:off x="3348478" y="2359396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5A51B049-F4AF-98BA-B005-42D26054AFC3}"/>
              </a:ext>
            </a:extLst>
          </p:cNvPr>
          <p:cNvCxnSpPr>
            <a:cxnSpLocks/>
          </p:cNvCxnSpPr>
          <p:nvPr/>
        </p:nvCxnSpPr>
        <p:spPr>
          <a:xfrm flipV="1">
            <a:off x="3348478" y="1887264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678FDB8A-127F-E222-174D-576A0B0E3F8F}"/>
              </a:ext>
            </a:extLst>
          </p:cNvPr>
          <p:cNvCxnSpPr>
            <a:cxnSpLocks/>
          </p:cNvCxnSpPr>
          <p:nvPr/>
        </p:nvCxnSpPr>
        <p:spPr>
          <a:xfrm>
            <a:off x="4795808" y="2359396"/>
            <a:ext cx="61708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018C3C0-A4F1-7109-28D5-14EED0557E5C}"/>
              </a:ext>
            </a:extLst>
          </p:cNvPr>
          <p:cNvCxnSpPr>
            <a:cxnSpLocks/>
          </p:cNvCxnSpPr>
          <p:nvPr/>
        </p:nvCxnSpPr>
        <p:spPr>
          <a:xfrm flipV="1">
            <a:off x="4795808" y="1979098"/>
            <a:ext cx="0" cy="38029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Oval 78">
            <a:extLst>
              <a:ext uri="{FF2B5EF4-FFF2-40B4-BE49-F238E27FC236}">
                <a16:creationId xmlns:a16="http://schemas.microsoft.com/office/drawing/2014/main" id="{63D3AF6B-32DE-9136-71A7-D1F7802872E9}"/>
              </a:ext>
            </a:extLst>
          </p:cNvPr>
          <p:cNvSpPr/>
          <p:nvPr/>
        </p:nvSpPr>
        <p:spPr>
          <a:xfrm>
            <a:off x="5488743" y="4767464"/>
            <a:ext cx="2519841" cy="513127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A6909A8B-D78B-B3EC-A634-9A165004A09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66672" y="4877997"/>
            <a:ext cx="2304087" cy="398689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80" name="Freeform 79">
            <a:extLst>
              <a:ext uri="{FF2B5EF4-FFF2-40B4-BE49-F238E27FC236}">
                <a16:creationId xmlns:a16="http://schemas.microsoft.com/office/drawing/2014/main" id="{81E1A0AD-BFF8-2794-7B5D-DBF894282356}"/>
              </a:ext>
            </a:extLst>
          </p:cNvPr>
          <p:cNvSpPr/>
          <p:nvPr/>
        </p:nvSpPr>
        <p:spPr>
          <a:xfrm>
            <a:off x="2569285" y="2736925"/>
            <a:ext cx="861149" cy="2351856"/>
          </a:xfrm>
          <a:custGeom>
            <a:avLst/>
            <a:gdLst>
              <a:gd name="connsiteX0" fmla="*/ 449925 w 638860"/>
              <a:gd name="connsiteY0" fmla="*/ 1663374 h 1663373"/>
              <a:gd name="connsiteX1" fmla="*/ 0 w 638860"/>
              <a:gd name="connsiteY1" fmla="*/ 804303 h 1663373"/>
              <a:gd name="connsiteX2" fmla="*/ 638861 w 638860"/>
              <a:gd name="connsiteY2" fmla="*/ 0 h 16633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8860" h="1663373">
                <a:moveTo>
                  <a:pt x="449925" y="1663374"/>
                </a:moveTo>
                <a:cubicBezTo>
                  <a:pt x="149975" y="1440381"/>
                  <a:pt x="0" y="1154038"/>
                  <a:pt x="0" y="804303"/>
                </a:cubicBezTo>
                <a:cubicBezTo>
                  <a:pt x="0" y="454575"/>
                  <a:pt x="212954" y="186475"/>
                  <a:pt x="638861" y="0"/>
                </a:cubicBezTo>
              </a:path>
            </a:pathLst>
          </a:custGeom>
          <a:noFill/>
          <a:ln w="31750" cap="sq">
            <a:solidFill>
              <a:schemeClr val="bg1">
                <a:lumMod val="65000"/>
              </a:schemeClr>
            </a:solidFill>
            <a:prstDash val="sysDot"/>
            <a:miter/>
            <a:headEnd type="stealth" w="lg" len="lg"/>
            <a:tailEnd type="stealth" w="lg" len="lg"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82" name="Elbow Connector 81">
            <a:extLst>
              <a:ext uri="{FF2B5EF4-FFF2-40B4-BE49-F238E27FC236}">
                <a16:creationId xmlns:a16="http://schemas.microsoft.com/office/drawing/2014/main" id="{D563CE6F-D20E-794E-665A-5F38950C478E}"/>
              </a:ext>
            </a:extLst>
          </p:cNvPr>
          <p:cNvCxnSpPr>
            <a:cxnSpLocks/>
            <a:stCxn id="7" idx="2"/>
            <a:endCxn id="79" idx="2"/>
          </p:cNvCxnSpPr>
          <p:nvPr/>
        </p:nvCxnSpPr>
        <p:spPr>
          <a:xfrm rot="16200000" flipH="1">
            <a:off x="3796074" y="3331358"/>
            <a:ext cx="1527165" cy="1858173"/>
          </a:xfrm>
          <a:prstGeom prst="bentConnector2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Elbow Connector 83">
            <a:extLst>
              <a:ext uri="{FF2B5EF4-FFF2-40B4-BE49-F238E27FC236}">
                <a16:creationId xmlns:a16="http://schemas.microsoft.com/office/drawing/2014/main" id="{CBA7C77C-37FB-CCEB-619A-5253DF9965D6}"/>
              </a:ext>
            </a:extLst>
          </p:cNvPr>
          <p:cNvCxnSpPr>
            <a:cxnSpLocks/>
            <a:stCxn id="8" idx="2"/>
            <a:endCxn id="79" idx="2"/>
          </p:cNvCxnSpPr>
          <p:nvPr/>
        </p:nvCxnSpPr>
        <p:spPr>
          <a:xfrm rot="16200000" flipH="1">
            <a:off x="4506975" y="4042259"/>
            <a:ext cx="1527165" cy="436371"/>
          </a:xfrm>
          <a:prstGeom prst="bentConnector2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E9B78F4A-A1DD-F599-9B37-412F81140499}"/>
              </a:ext>
            </a:extLst>
          </p:cNvPr>
          <p:cNvSpPr txBox="1"/>
          <p:nvPr/>
        </p:nvSpPr>
        <p:spPr>
          <a:xfrm>
            <a:off x="4607187" y="3801560"/>
            <a:ext cx="761747" cy="40011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60000"/>
                    <a:lumOff val="4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Msgs</a:t>
            </a:r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B968A482-A89B-C8BA-44D1-33611F06991E}"/>
              </a:ext>
            </a:extLst>
          </p:cNvPr>
          <p:cNvCxnSpPr>
            <a:cxnSpLocks/>
            <a:stCxn id="79" idx="0"/>
          </p:cNvCxnSpPr>
          <p:nvPr/>
        </p:nvCxnSpPr>
        <p:spPr>
          <a:xfrm flipV="1">
            <a:off x="6748664" y="3946923"/>
            <a:ext cx="0" cy="820541"/>
          </a:xfrm>
          <a:prstGeom prst="straightConnector1">
            <a:avLst/>
          </a:prstGeom>
          <a:ln w="41275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C5346D92-224C-6C15-DE57-C91ED5E05561}"/>
              </a:ext>
            </a:extLst>
          </p:cNvPr>
          <p:cNvSpPr txBox="1"/>
          <p:nvPr/>
        </p:nvSpPr>
        <p:spPr>
          <a:xfrm>
            <a:off x="6768203" y="4248357"/>
            <a:ext cx="889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Output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E4B192A6-C626-4A51-2905-B3983D15C2E7}"/>
              </a:ext>
            </a:extLst>
          </p:cNvPr>
          <p:cNvSpPr txBox="1"/>
          <p:nvPr/>
        </p:nvSpPr>
        <p:spPr>
          <a:xfrm>
            <a:off x="2688505" y="1400413"/>
            <a:ext cx="400693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Learned Clock Offset Distributions</a:t>
            </a:r>
          </a:p>
        </p:txBody>
      </p:sp>
      <p:cxnSp>
        <p:nvCxnSpPr>
          <p:cNvPr id="120" name="Elbow Connector 119">
            <a:extLst>
              <a:ext uri="{FF2B5EF4-FFF2-40B4-BE49-F238E27FC236}">
                <a16:creationId xmlns:a16="http://schemas.microsoft.com/office/drawing/2014/main" id="{C59308A0-45BF-A4C8-5C67-F42D294B6360}"/>
              </a:ext>
            </a:extLst>
          </p:cNvPr>
          <p:cNvCxnSpPr>
            <a:cxnSpLocks/>
          </p:cNvCxnSpPr>
          <p:nvPr/>
        </p:nvCxnSpPr>
        <p:spPr>
          <a:xfrm rot="16200000" flipH="1">
            <a:off x="4210650" y="3330623"/>
            <a:ext cx="2784487" cy="302454"/>
          </a:xfrm>
          <a:prstGeom prst="bentConnector3">
            <a:avLst>
              <a:gd name="adj1" fmla="val 548"/>
            </a:avLst>
          </a:prstGeom>
          <a:ln w="38100">
            <a:solidFill>
              <a:schemeClr val="accent6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0B2E1C5B-F42F-538E-A7A6-5CBA663EFCEC}"/>
              </a:ext>
            </a:extLst>
          </p:cNvPr>
          <p:cNvSpPr txBox="1"/>
          <p:nvPr/>
        </p:nvSpPr>
        <p:spPr>
          <a:xfrm>
            <a:off x="3894522" y="5364014"/>
            <a:ext cx="138371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Sequencer</a:t>
            </a:r>
          </a:p>
        </p:txBody>
      </p:sp>
    </p:spTree>
    <p:extLst>
      <p:ext uri="{BB962C8B-B14F-4D97-AF65-F5344CB8AC3E}">
        <p14:creationId xmlns:p14="http://schemas.microsoft.com/office/powerpoint/2010/main" val="12035356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14:switch dir="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1" dur="5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6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4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6" dur="10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6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43" dur="10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50" dur="5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55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58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" grpId="0"/>
      <p:bldP spid="55" grpId="0" animBg="1"/>
      <p:bldP spid="56" grpId="0" animBg="1"/>
      <p:bldP spid="79" grpId="0" animBg="1"/>
      <p:bldP spid="80" grpId="0" animBg="1"/>
      <p:bldP spid="118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52F39C-D2A9-3467-28D1-262E097DC4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n 4">
            <a:extLst>
              <a:ext uri="{FF2B5EF4-FFF2-40B4-BE49-F238E27FC236}">
                <a16:creationId xmlns:a16="http://schemas.microsoft.com/office/drawing/2014/main" id="{D971A022-5DD7-BA1B-7315-0A1F6BE88874}"/>
              </a:ext>
            </a:extLst>
          </p:cNvPr>
          <p:cNvSpPr/>
          <p:nvPr/>
        </p:nvSpPr>
        <p:spPr>
          <a:xfrm rot="5400000">
            <a:off x="5418564" y="2362027"/>
            <a:ext cx="666707" cy="5357578"/>
          </a:xfrm>
          <a:prstGeom prst="can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A1F442B-2FC7-A1C7-8A46-AAA98096EC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4173"/>
            <a:ext cx="10515600" cy="1325563"/>
          </a:xfrm>
        </p:spPr>
        <p:txBody>
          <a:bodyPr/>
          <a:lstStyle/>
          <a:p>
            <a:r>
              <a:rPr lang="en-US" dirty="0"/>
              <a:t>Sequencer Overview – </a:t>
            </a:r>
            <a:r>
              <a:rPr lang="en-US" dirty="0">
                <a:solidFill>
                  <a:schemeClr val="accent6"/>
                </a:solidFill>
              </a:rPr>
              <a:t>After Tommy</a:t>
            </a:r>
          </a:p>
        </p:txBody>
      </p:sp>
      <p:pic>
        <p:nvPicPr>
          <p:cNvPr id="7" name="Graphic 6" descr="Server outline">
            <a:extLst>
              <a:ext uri="{FF2B5EF4-FFF2-40B4-BE49-F238E27FC236}">
                <a16:creationId xmlns:a16="http://schemas.microsoft.com/office/drawing/2014/main" id="{B708E40E-4CD1-88C8-7456-9590730193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70053" y="2775829"/>
            <a:ext cx="721034" cy="721034"/>
          </a:xfrm>
          <a:prstGeom prst="rect">
            <a:avLst/>
          </a:prstGeom>
        </p:spPr>
      </p:pic>
      <p:pic>
        <p:nvPicPr>
          <p:cNvPr id="8" name="Graphic 7" descr="Server outline">
            <a:extLst>
              <a:ext uri="{FF2B5EF4-FFF2-40B4-BE49-F238E27FC236}">
                <a16:creationId xmlns:a16="http://schemas.microsoft.com/office/drawing/2014/main" id="{CA95B654-D166-484C-A7F7-51CF38FB56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91855" y="2775829"/>
            <a:ext cx="721034" cy="721034"/>
          </a:xfrm>
          <a:prstGeom prst="rect">
            <a:avLst/>
          </a:prstGeom>
        </p:spPr>
      </p:pic>
      <p:pic>
        <p:nvPicPr>
          <p:cNvPr id="10" name="Graphic 9" descr="Alarm clock with solid fill">
            <a:extLst>
              <a:ext uri="{FF2B5EF4-FFF2-40B4-BE49-F238E27FC236}">
                <a16:creationId xmlns:a16="http://schemas.microsoft.com/office/drawing/2014/main" id="{3965E680-6A2C-A585-CF08-65D920B30C0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374006" y="2433087"/>
            <a:ext cx="513127" cy="513127"/>
          </a:xfrm>
          <a:prstGeom prst="rect">
            <a:avLst/>
          </a:prstGeom>
        </p:spPr>
      </p:pic>
      <p:pic>
        <p:nvPicPr>
          <p:cNvPr id="11" name="Graphic 10" descr="Alarm clock with solid fill">
            <a:extLst>
              <a:ext uri="{FF2B5EF4-FFF2-40B4-BE49-F238E27FC236}">
                <a16:creationId xmlns:a16="http://schemas.microsoft.com/office/drawing/2014/main" id="{57B3B4EE-4653-6733-D05A-98BFF18FFE6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795808" y="2433086"/>
            <a:ext cx="513127" cy="513127"/>
          </a:xfrm>
          <a:prstGeom prst="rect">
            <a:avLst/>
          </a:prstGeom>
        </p:spPr>
      </p:pic>
      <p:pic>
        <p:nvPicPr>
          <p:cNvPr id="12" name="Graphic 11" descr="Alarm clock with solid fill">
            <a:extLst>
              <a:ext uri="{FF2B5EF4-FFF2-40B4-BE49-F238E27FC236}">
                <a16:creationId xmlns:a16="http://schemas.microsoft.com/office/drawing/2014/main" id="{43D3A8B8-7BE6-E871-2FCA-678A411D2C5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111550" y="4790703"/>
            <a:ext cx="513127" cy="513127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4F42AA9-91B5-7E2D-B6D9-89A017CF9697}"/>
              </a:ext>
            </a:extLst>
          </p:cNvPr>
          <p:cNvCxnSpPr>
            <a:cxnSpLocks/>
          </p:cNvCxnSpPr>
          <p:nvPr/>
        </p:nvCxnSpPr>
        <p:spPr>
          <a:xfrm>
            <a:off x="3991087" y="3050285"/>
            <a:ext cx="640080" cy="0"/>
          </a:xfrm>
          <a:prstGeom prst="line">
            <a:avLst/>
          </a:prstGeom>
          <a:ln w="3810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E41AA39D-08BE-1E60-93BF-FC489E9885F5}"/>
              </a:ext>
            </a:extLst>
          </p:cNvPr>
          <p:cNvSpPr txBox="1"/>
          <p:nvPr/>
        </p:nvSpPr>
        <p:spPr>
          <a:xfrm>
            <a:off x="3894522" y="3104289"/>
            <a:ext cx="8938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Clients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FECA533-F30A-1830-945C-300416336DE2}"/>
              </a:ext>
            </a:extLst>
          </p:cNvPr>
          <p:cNvSpPr txBox="1"/>
          <p:nvPr/>
        </p:nvSpPr>
        <p:spPr>
          <a:xfrm>
            <a:off x="2038272" y="3496861"/>
            <a:ext cx="148694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Best Effort</a:t>
            </a:r>
            <a:b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Clock Sync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.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232B17D9-83AA-8E5B-B248-5C90EDF1CD59}"/>
              </a:ext>
            </a:extLst>
          </p:cNvPr>
          <p:cNvCxnSpPr>
            <a:cxnSpLocks/>
          </p:cNvCxnSpPr>
          <p:nvPr/>
        </p:nvCxnSpPr>
        <p:spPr>
          <a:xfrm>
            <a:off x="3894522" y="2746143"/>
            <a:ext cx="901286" cy="1"/>
          </a:xfrm>
          <a:prstGeom prst="straightConnector1">
            <a:avLst/>
          </a:prstGeom>
          <a:ln w="28575">
            <a:solidFill>
              <a:schemeClr val="bg1">
                <a:lumMod val="65000"/>
              </a:schemeClr>
            </a:solidFill>
            <a:prstDash val="sysDot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Freeform 54">
            <a:extLst>
              <a:ext uri="{FF2B5EF4-FFF2-40B4-BE49-F238E27FC236}">
                <a16:creationId xmlns:a16="http://schemas.microsoft.com/office/drawing/2014/main" id="{C939B760-9BF7-FE38-AF03-A6FC22FC757B}"/>
              </a:ext>
            </a:extLst>
          </p:cNvPr>
          <p:cNvSpPr/>
          <p:nvPr/>
        </p:nvSpPr>
        <p:spPr>
          <a:xfrm>
            <a:off x="3374006" y="1887264"/>
            <a:ext cx="387086" cy="472132"/>
          </a:xfrm>
          <a:custGeom>
            <a:avLst/>
            <a:gdLst>
              <a:gd name="connsiteX0" fmla="*/ 0 w 387086"/>
              <a:gd name="connsiteY0" fmla="*/ 457234 h 472132"/>
              <a:gd name="connsiteX1" fmla="*/ 198570 w 387086"/>
              <a:gd name="connsiteY1" fmla="*/ 52459 h 472132"/>
              <a:gd name="connsiteX2" fmla="*/ 387087 w 387086"/>
              <a:gd name="connsiteY2" fmla="*/ 472132 h 4721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472132">
                <a:moveTo>
                  <a:pt x="0" y="457234"/>
                </a:moveTo>
                <a:cubicBezTo>
                  <a:pt x="118415" y="327276"/>
                  <a:pt x="184606" y="192351"/>
                  <a:pt x="198570" y="52459"/>
                </a:cubicBezTo>
                <a:cubicBezTo>
                  <a:pt x="212535" y="-87432"/>
                  <a:pt x="275374" y="52459"/>
                  <a:pt x="387087" y="472132"/>
                </a:cubicBezTo>
              </a:path>
            </a:pathLst>
          </a:custGeom>
          <a:noFill/>
          <a:ln w="41869" cap="flat">
            <a:solidFill>
              <a:schemeClr val="accent1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6" name="Freeform 55">
            <a:extLst>
              <a:ext uri="{FF2B5EF4-FFF2-40B4-BE49-F238E27FC236}">
                <a16:creationId xmlns:a16="http://schemas.microsoft.com/office/drawing/2014/main" id="{A66A5B91-78F1-2AD0-B7CD-CA909A73E393}"/>
              </a:ext>
            </a:extLst>
          </p:cNvPr>
          <p:cNvSpPr/>
          <p:nvPr/>
        </p:nvSpPr>
        <p:spPr>
          <a:xfrm>
            <a:off x="4834587" y="2089607"/>
            <a:ext cx="387086" cy="269789"/>
          </a:xfrm>
          <a:custGeom>
            <a:avLst/>
            <a:gdLst>
              <a:gd name="connsiteX0" fmla="*/ 0 w 387086"/>
              <a:gd name="connsiteY0" fmla="*/ 254892 h 269789"/>
              <a:gd name="connsiteX1" fmla="*/ 247585 w 387086"/>
              <a:gd name="connsiteY1" fmla="*/ 7494 h 269789"/>
              <a:gd name="connsiteX2" fmla="*/ 387087 w 387086"/>
              <a:gd name="connsiteY2" fmla="*/ 269790 h 269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7086" h="269789">
                <a:moveTo>
                  <a:pt x="0" y="254892"/>
                </a:moveTo>
                <a:cubicBezTo>
                  <a:pt x="118409" y="124934"/>
                  <a:pt x="200937" y="42468"/>
                  <a:pt x="247585" y="7494"/>
                </a:cubicBezTo>
                <a:cubicBezTo>
                  <a:pt x="294232" y="-27479"/>
                  <a:pt x="340733" y="59954"/>
                  <a:pt x="387087" y="269790"/>
                </a:cubicBezTo>
              </a:path>
            </a:pathLst>
          </a:custGeom>
          <a:noFill/>
          <a:ln w="41869" cap="flat">
            <a:solidFill>
              <a:schemeClr val="accent5">
                <a:lumMod val="60000"/>
                <a:lumOff val="4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F71BB9B0-656B-BAD5-1391-67E97F04021B}"/>
              </a:ext>
            </a:extLst>
          </p:cNvPr>
          <p:cNvCxnSpPr>
            <a:cxnSpLocks/>
          </p:cNvCxnSpPr>
          <p:nvPr/>
        </p:nvCxnSpPr>
        <p:spPr>
          <a:xfrm>
            <a:off x="3348478" y="2359396"/>
            <a:ext cx="64260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59BBF7E3-0BF9-FFA5-33A0-B0D22602B7FA}"/>
              </a:ext>
            </a:extLst>
          </p:cNvPr>
          <p:cNvCxnSpPr>
            <a:cxnSpLocks/>
          </p:cNvCxnSpPr>
          <p:nvPr/>
        </p:nvCxnSpPr>
        <p:spPr>
          <a:xfrm flipV="1">
            <a:off x="3348478" y="1887264"/>
            <a:ext cx="0" cy="47213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4370D8FA-4415-B033-4AF4-77CFAB343865}"/>
              </a:ext>
            </a:extLst>
          </p:cNvPr>
          <p:cNvCxnSpPr>
            <a:cxnSpLocks/>
          </p:cNvCxnSpPr>
          <p:nvPr/>
        </p:nvCxnSpPr>
        <p:spPr>
          <a:xfrm>
            <a:off x="4795808" y="2359396"/>
            <a:ext cx="61708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14377A22-92DA-205D-FC83-F8C3E9E484E7}"/>
              </a:ext>
            </a:extLst>
          </p:cNvPr>
          <p:cNvCxnSpPr>
            <a:cxnSpLocks/>
          </p:cNvCxnSpPr>
          <p:nvPr/>
        </p:nvCxnSpPr>
        <p:spPr>
          <a:xfrm flipV="1">
            <a:off x="4795808" y="1979098"/>
            <a:ext cx="0" cy="38029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Oval 78">
            <a:extLst>
              <a:ext uri="{FF2B5EF4-FFF2-40B4-BE49-F238E27FC236}">
                <a16:creationId xmlns:a16="http://schemas.microsoft.com/office/drawing/2014/main" id="{3C6C839D-C062-3A33-6AF4-F4C6C5913280}"/>
              </a:ext>
            </a:extLst>
          </p:cNvPr>
          <p:cNvSpPr/>
          <p:nvPr/>
        </p:nvSpPr>
        <p:spPr>
          <a:xfrm>
            <a:off x="5488743" y="4767464"/>
            <a:ext cx="2519841" cy="513127"/>
          </a:xfrm>
          <a:prstGeom prst="ellipse">
            <a:avLst/>
          </a:prstGeom>
          <a:solidFill>
            <a:schemeClr val="accent3">
              <a:lumMod val="60000"/>
              <a:lumOff val="40000"/>
              <a:alpha val="52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82C315B2-854E-9555-64A1-E3ECC5795294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66672" y="4877997"/>
            <a:ext cx="2304087" cy="398689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80" name="Freeform 79">
            <a:extLst>
              <a:ext uri="{FF2B5EF4-FFF2-40B4-BE49-F238E27FC236}">
                <a16:creationId xmlns:a16="http://schemas.microsoft.com/office/drawing/2014/main" id="{573403E5-C756-4DEB-524E-A964FC0C8C88}"/>
              </a:ext>
            </a:extLst>
          </p:cNvPr>
          <p:cNvSpPr/>
          <p:nvPr/>
        </p:nvSpPr>
        <p:spPr>
          <a:xfrm>
            <a:off x="2569285" y="2736925"/>
            <a:ext cx="861149" cy="2351856"/>
          </a:xfrm>
          <a:custGeom>
            <a:avLst/>
            <a:gdLst>
              <a:gd name="connsiteX0" fmla="*/ 449925 w 638860"/>
              <a:gd name="connsiteY0" fmla="*/ 1663374 h 1663373"/>
              <a:gd name="connsiteX1" fmla="*/ 0 w 638860"/>
              <a:gd name="connsiteY1" fmla="*/ 804303 h 1663373"/>
              <a:gd name="connsiteX2" fmla="*/ 638861 w 638860"/>
              <a:gd name="connsiteY2" fmla="*/ 0 h 16633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38860" h="1663373">
                <a:moveTo>
                  <a:pt x="449925" y="1663374"/>
                </a:moveTo>
                <a:cubicBezTo>
                  <a:pt x="149975" y="1440381"/>
                  <a:pt x="0" y="1154038"/>
                  <a:pt x="0" y="804303"/>
                </a:cubicBezTo>
                <a:cubicBezTo>
                  <a:pt x="0" y="454575"/>
                  <a:pt x="212954" y="186475"/>
                  <a:pt x="638861" y="0"/>
                </a:cubicBezTo>
              </a:path>
            </a:pathLst>
          </a:custGeom>
          <a:noFill/>
          <a:ln w="31750" cap="sq">
            <a:solidFill>
              <a:schemeClr val="bg1">
                <a:lumMod val="65000"/>
              </a:schemeClr>
            </a:solidFill>
            <a:prstDash val="sysDot"/>
            <a:miter/>
            <a:headEnd type="stealth" w="lg" len="lg"/>
            <a:tailEnd type="stealth" w="lg" len="lg"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82" name="Elbow Connector 81">
            <a:extLst>
              <a:ext uri="{FF2B5EF4-FFF2-40B4-BE49-F238E27FC236}">
                <a16:creationId xmlns:a16="http://schemas.microsoft.com/office/drawing/2014/main" id="{45F16B69-2400-4E7A-F179-B243910EBF7E}"/>
              </a:ext>
            </a:extLst>
          </p:cNvPr>
          <p:cNvCxnSpPr>
            <a:cxnSpLocks/>
            <a:stCxn id="7" idx="2"/>
            <a:endCxn id="79" idx="2"/>
          </p:cNvCxnSpPr>
          <p:nvPr/>
        </p:nvCxnSpPr>
        <p:spPr>
          <a:xfrm rot="16200000" flipH="1">
            <a:off x="3796074" y="3331358"/>
            <a:ext cx="1527165" cy="1858173"/>
          </a:xfrm>
          <a:prstGeom prst="bentConnector2">
            <a:avLst/>
          </a:prstGeom>
          <a:ln w="38100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Elbow Connector 83">
            <a:extLst>
              <a:ext uri="{FF2B5EF4-FFF2-40B4-BE49-F238E27FC236}">
                <a16:creationId xmlns:a16="http://schemas.microsoft.com/office/drawing/2014/main" id="{754DFFD8-FEBD-94A7-2C49-588E9012671D}"/>
              </a:ext>
            </a:extLst>
          </p:cNvPr>
          <p:cNvCxnSpPr>
            <a:cxnSpLocks/>
            <a:stCxn id="8" idx="2"/>
            <a:endCxn id="79" idx="2"/>
          </p:cNvCxnSpPr>
          <p:nvPr/>
        </p:nvCxnSpPr>
        <p:spPr>
          <a:xfrm rot="16200000" flipH="1">
            <a:off x="4506975" y="4042259"/>
            <a:ext cx="1527165" cy="436371"/>
          </a:xfrm>
          <a:prstGeom prst="bentConnector2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>
            <a:extLst>
              <a:ext uri="{FF2B5EF4-FFF2-40B4-BE49-F238E27FC236}">
                <a16:creationId xmlns:a16="http://schemas.microsoft.com/office/drawing/2014/main" id="{64DB4875-B39E-E8D0-6EA0-29294F94FA3F}"/>
              </a:ext>
            </a:extLst>
          </p:cNvPr>
          <p:cNvSpPr txBox="1"/>
          <p:nvPr/>
        </p:nvSpPr>
        <p:spPr>
          <a:xfrm>
            <a:off x="4607187" y="3801560"/>
            <a:ext cx="761747" cy="40011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A02B93">
                    <a:lumMod val="60000"/>
                    <a:lumOff val="4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Msgs</a:t>
            </a:r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7DCE8E3F-A075-EE7C-4694-DF4B72D7D618}"/>
              </a:ext>
            </a:extLst>
          </p:cNvPr>
          <p:cNvCxnSpPr>
            <a:cxnSpLocks/>
            <a:stCxn id="79" idx="0"/>
          </p:cNvCxnSpPr>
          <p:nvPr/>
        </p:nvCxnSpPr>
        <p:spPr>
          <a:xfrm flipV="1">
            <a:off x="6748664" y="3946923"/>
            <a:ext cx="0" cy="820541"/>
          </a:xfrm>
          <a:prstGeom prst="straightConnector1">
            <a:avLst/>
          </a:prstGeom>
          <a:ln w="41275"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478CDA35-EFE4-01D0-2428-BA24732BC42F}"/>
              </a:ext>
            </a:extLst>
          </p:cNvPr>
          <p:cNvSpPr txBox="1"/>
          <p:nvPr/>
        </p:nvSpPr>
        <p:spPr>
          <a:xfrm>
            <a:off x="6768203" y="4248357"/>
            <a:ext cx="889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Output</a:t>
            </a:r>
          </a:p>
        </p:txBody>
      </p: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D16B6C10-34FD-7D89-0C80-9FBBC4C2BFF9}"/>
              </a:ext>
            </a:extLst>
          </p:cNvPr>
          <p:cNvCxnSpPr>
            <a:cxnSpLocks/>
          </p:cNvCxnSpPr>
          <p:nvPr/>
        </p:nvCxnSpPr>
        <p:spPr>
          <a:xfrm>
            <a:off x="6576891" y="3174418"/>
            <a:ext cx="441064" cy="0"/>
          </a:xfrm>
          <a:prstGeom prst="straightConnector1">
            <a:avLst/>
          </a:prstGeom>
          <a:ln w="31750">
            <a:solidFill>
              <a:schemeClr val="tx1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TextBox 103">
            <a:extLst>
              <a:ext uri="{FF2B5EF4-FFF2-40B4-BE49-F238E27FC236}">
                <a16:creationId xmlns:a16="http://schemas.microsoft.com/office/drawing/2014/main" id="{93D95063-52AE-70C1-FF31-3309927DE861}"/>
              </a:ext>
            </a:extLst>
          </p:cNvPr>
          <p:cNvSpPr txBox="1"/>
          <p:nvPr/>
        </p:nvSpPr>
        <p:spPr>
          <a:xfrm>
            <a:off x="6672068" y="2820614"/>
            <a:ext cx="3145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</a:t>
            </a:r>
          </a:p>
        </p:txBody>
      </p: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70154426-2BD0-DD21-C23B-17493D56ECBE}"/>
              </a:ext>
            </a:extLst>
          </p:cNvPr>
          <p:cNvCxnSpPr>
            <a:cxnSpLocks/>
          </p:cNvCxnSpPr>
          <p:nvPr/>
        </p:nvCxnSpPr>
        <p:spPr>
          <a:xfrm>
            <a:off x="7898992" y="3183493"/>
            <a:ext cx="441064" cy="0"/>
          </a:xfrm>
          <a:prstGeom prst="straightConnector1">
            <a:avLst/>
          </a:prstGeom>
          <a:ln w="31750">
            <a:solidFill>
              <a:schemeClr val="tx1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9BC89FD0-7765-9F53-CA62-B28590239A79}"/>
              </a:ext>
            </a:extLst>
          </p:cNvPr>
          <p:cNvSpPr txBox="1"/>
          <p:nvPr/>
        </p:nvSpPr>
        <p:spPr>
          <a:xfrm>
            <a:off x="7915621" y="2823557"/>
            <a:ext cx="3145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</a:t>
            </a:r>
          </a:p>
        </p:txBody>
      </p:sp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16E8D4BA-EADC-7215-FE5F-512360AD1275}"/>
              </a:ext>
            </a:extLst>
          </p:cNvPr>
          <p:cNvCxnSpPr>
            <a:cxnSpLocks/>
          </p:cNvCxnSpPr>
          <p:nvPr/>
        </p:nvCxnSpPr>
        <p:spPr>
          <a:xfrm>
            <a:off x="8611703" y="3174418"/>
            <a:ext cx="441064" cy="0"/>
          </a:xfrm>
          <a:prstGeom prst="straightConnector1">
            <a:avLst/>
          </a:prstGeom>
          <a:ln w="31750">
            <a:solidFill>
              <a:schemeClr val="tx1"/>
            </a:solidFill>
            <a:tailEnd type="triangle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56C409A2-DE5E-F295-D104-984D8EF92D07}"/>
              </a:ext>
            </a:extLst>
          </p:cNvPr>
          <p:cNvSpPr txBox="1"/>
          <p:nvPr/>
        </p:nvSpPr>
        <p:spPr>
          <a:xfrm>
            <a:off x="8628332" y="2814482"/>
            <a:ext cx="3145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9FE495E8-4CED-6386-6280-CF57927AD4E8}"/>
              </a:ext>
            </a:extLst>
          </p:cNvPr>
          <p:cNvSpPr txBox="1"/>
          <p:nvPr/>
        </p:nvSpPr>
        <p:spPr>
          <a:xfrm>
            <a:off x="6169394" y="2506213"/>
            <a:ext cx="348088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Fair Partial Order of Messages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5F918AE7-9F6A-4235-ADFE-6B33A398EA66}"/>
              </a:ext>
            </a:extLst>
          </p:cNvPr>
          <p:cNvSpPr txBox="1"/>
          <p:nvPr/>
        </p:nvSpPr>
        <p:spPr>
          <a:xfrm>
            <a:off x="2688505" y="1400413"/>
            <a:ext cx="400693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Learned Clock Offset Distributions</a:t>
            </a:r>
          </a:p>
        </p:txBody>
      </p:sp>
      <p:cxnSp>
        <p:nvCxnSpPr>
          <p:cNvPr id="120" name="Elbow Connector 119">
            <a:extLst>
              <a:ext uri="{FF2B5EF4-FFF2-40B4-BE49-F238E27FC236}">
                <a16:creationId xmlns:a16="http://schemas.microsoft.com/office/drawing/2014/main" id="{16E0D18D-75EB-FB44-3973-0DFA735197F3}"/>
              </a:ext>
            </a:extLst>
          </p:cNvPr>
          <p:cNvCxnSpPr>
            <a:cxnSpLocks/>
          </p:cNvCxnSpPr>
          <p:nvPr/>
        </p:nvCxnSpPr>
        <p:spPr>
          <a:xfrm rot="16200000" flipH="1">
            <a:off x="4210650" y="3330623"/>
            <a:ext cx="2784487" cy="302454"/>
          </a:xfrm>
          <a:prstGeom prst="bentConnector3">
            <a:avLst>
              <a:gd name="adj1" fmla="val 548"/>
            </a:avLst>
          </a:prstGeom>
          <a:ln w="38100">
            <a:solidFill>
              <a:schemeClr val="accent6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3D2D24EA-CF77-3797-20CD-936D1BBDA6A4}"/>
              </a:ext>
            </a:extLst>
          </p:cNvPr>
          <p:cNvSpPr txBox="1"/>
          <p:nvPr/>
        </p:nvSpPr>
        <p:spPr>
          <a:xfrm>
            <a:off x="3894522" y="5364014"/>
            <a:ext cx="138371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Sequencer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CAA840BD-41CF-7108-76C5-C411ECFADC47}"/>
              </a:ext>
            </a:extLst>
          </p:cNvPr>
          <p:cNvGrpSpPr/>
          <p:nvPr/>
        </p:nvGrpSpPr>
        <p:grpSpPr>
          <a:xfrm>
            <a:off x="6949322" y="3320531"/>
            <a:ext cx="1075394" cy="427232"/>
            <a:chOff x="6917966" y="3321746"/>
            <a:chExt cx="1075394" cy="427232"/>
          </a:xfrm>
        </p:grpSpPr>
        <p:sp>
          <p:nvSpPr>
            <p:cNvPr id="137" name="Freeform 136">
              <a:extLst>
                <a:ext uri="{FF2B5EF4-FFF2-40B4-BE49-F238E27FC236}">
                  <a16:creationId xmlns:a16="http://schemas.microsoft.com/office/drawing/2014/main" id="{042B47DB-3D94-7695-B796-24DC1BD99659}"/>
                </a:ext>
              </a:extLst>
            </p:cNvPr>
            <p:cNvSpPr/>
            <p:nvPr/>
          </p:nvSpPr>
          <p:spPr>
            <a:xfrm>
              <a:off x="6917966" y="3327864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noFill/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38" name="Freeform 137">
              <a:extLst>
                <a:ext uri="{FF2B5EF4-FFF2-40B4-BE49-F238E27FC236}">
                  <a16:creationId xmlns:a16="http://schemas.microsoft.com/office/drawing/2014/main" id="{66FE4802-7977-F3C6-E03A-EE72BFE5F4C6}"/>
                </a:ext>
              </a:extLst>
            </p:cNvPr>
            <p:cNvSpPr/>
            <p:nvPr/>
          </p:nvSpPr>
          <p:spPr>
            <a:xfrm>
              <a:off x="7556045" y="3329306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noFill/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9CF148F0-61E1-AC3A-2692-AEFC78F1AC8E}"/>
                </a:ext>
              </a:extLst>
            </p:cNvPr>
            <p:cNvGrpSpPr/>
            <p:nvPr/>
          </p:nvGrpSpPr>
          <p:grpSpPr>
            <a:xfrm>
              <a:off x="6931018" y="3321746"/>
              <a:ext cx="1062342" cy="427232"/>
              <a:chOff x="6931018" y="3321746"/>
              <a:chExt cx="1062342" cy="427232"/>
            </a:xfrm>
          </p:grpSpPr>
          <p:sp>
            <p:nvSpPr>
              <p:cNvPr id="135" name="Freeform 134">
                <a:extLst>
                  <a:ext uri="{FF2B5EF4-FFF2-40B4-BE49-F238E27FC236}">
                    <a16:creationId xmlns:a16="http://schemas.microsoft.com/office/drawing/2014/main" id="{60B0843A-0675-F03E-C5CF-6C8894D75630}"/>
                  </a:ext>
                </a:extLst>
              </p:cNvPr>
              <p:cNvSpPr/>
              <p:nvPr/>
            </p:nvSpPr>
            <p:spPr>
              <a:xfrm>
                <a:off x="6931018" y="3321746"/>
                <a:ext cx="1062342" cy="427232"/>
              </a:xfrm>
              <a:custGeom>
                <a:avLst/>
                <a:gdLst>
                  <a:gd name="connsiteX0" fmla="*/ 0 w 1047312"/>
                  <a:gd name="connsiteY0" fmla="*/ 0 h 419672"/>
                  <a:gd name="connsiteX1" fmla="*/ 1047312 w 1047312"/>
                  <a:gd name="connsiteY1" fmla="*/ 0 h 419672"/>
                  <a:gd name="connsiteX2" fmla="*/ 1047312 w 1047312"/>
                  <a:gd name="connsiteY2" fmla="*/ 419673 h 419672"/>
                  <a:gd name="connsiteX3" fmla="*/ 0 w 1047312"/>
                  <a:gd name="connsiteY3" fmla="*/ 419673 h 4196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47312" h="419672">
                    <a:moveTo>
                      <a:pt x="0" y="0"/>
                    </a:moveTo>
                    <a:lnTo>
                      <a:pt x="1047312" y="0"/>
                    </a:lnTo>
                    <a:lnTo>
                      <a:pt x="1047312" y="419673"/>
                    </a:lnTo>
                    <a:lnTo>
                      <a:pt x="0" y="419673"/>
                    </a:lnTo>
                    <a:close/>
                  </a:path>
                </a:pathLst>
              </a:custGeom>
              <a:noFill/>
              <a:ln w="20935" cap="flat">
                <a:solidFill>
                  <a:srgbClr val="000000"/>
                </a:solidFill>
                <a:custDash>
                  <a:ds d="225000" sp="225000"/>
                </a:custDash>
                <a:miter/>
              </a:ln>
            </p:spPr>
            <p:txBody>
              <a:bodyPr rtlCol="0" anchor="ctr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sp>
            <p:nvSpPr>
              <p:cNvPr id="139" name="TextBox 138">
                <a:extLst>
                  <a:ext uri="{FF2B5EF4-FFF2-40B4-BE49-F238E27FC236}">
                    <a16:creationId xmlns:a16="http://schemas.microsoft.com/office/drawing/2014/main" id="{31D15BC0-EC26-A3AB-6026-879A26A606A7}"/>
                  </a:ext>
                </a:extLst>
              </p:cNvPr>
              <p:cNvSpPr txBox="1"/>
              <p:nvPr/>
            </p:nvSpPr>
            <p:spPr>
              <a:xfrm>
                <a:off x="7612950" y="3339274"/>
                <a:ext cx="32272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2</a:t>
                </a:r>
              </a:p>
            </p:txBody>
          </p:sp>
          <p:sp>
            <p:nvSpPr>
              <p:cNvPr id="140" name="TextBox 139">
                <a:extLst>
                  <a:ext uri="{FF2B5EF4-FFF2-40B4-BE49-F238E27FC236}">
                    <a16:creationId xmlns:a16="http://schemas.microsoft.com/office/drawing/2014/main" id="{71D8388B-42B3-F7E7-CBE9-931B1CC41141}"/>
                  </a:ext>
                </a:extLst>
              </p:cNvPr>
              <p:cNvSpPr txBox="1"/>
              <p:nvPr/>
            </p:nvSpPr>
            <p:spPr>
              <a:xfrm>
                <a:off x="6971307" y="3350696"/>
                <a:ext cx="32272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rPr>
                  <a:t>2</a:t>
                </a:r>
              </a:p>
            </p:txBody>
          </p:sp>
        </p:grp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2EFEC891-759E-0E7A-9303-933DA9B74944}"/>
              </a:ext>
            </a:extLst>
          </p:cNvPr>
          <p:cNvGrpSpPr/>
          <p:nvPr/>
        </p:nvGrpSpPr>
        <p:grpSpPr>
          <a:xfrm>
            <a:off x="6333987" y="3336637"/>
            <a:ext cx="418924" cy="419672"/>
            <a:chOff x="6302631" y="3337852"/>
            <a:chExt cx="418924" cy="419672"/>
          </a:xfrm>
        </p:grpSpPr>
        <p:sp>
          <p:nvSpPr>
            <p:cNvPr id="133" name="Freeform 132">
              <a:extLst>
                <a:ext uri="{FF2B5EF4-FFF2-40B4-BE49-F238E27FC236}">
                  <a16:creationId xmlns:a16="http://schemas.microsoft.com/office/drawing/2014/main" id="{EDEF8969-CE49-C3E5-ACBD-E94F785D2A2E}"/>
                </a:ext>
              </a:extLst>
            </p:cNvPr>
            <p:cNvSpPr/>
            <p:nvPr/>
          </p:nvSpPr>
          <p:spPr>
            <a:xfrm>
              <a:off x="6302631" y="3337852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5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41" name="TextBox 140">
              <a:extLst>
                <a:ext uri="{FF2B5EF4-FFF2-40B4-BE49-F238E27FC236}">
                  <a16:creationId xmlns:a16="http://schemas.microsoft.com/office/drawing/2014/main" id="{6F5B3391-96A2-675B-CCE3-53FD79B06741}"/>
                </a:ext>
              </a:extLst>
            </p:cNvPr>
            <p:cNvSpPr txBox="1"/>
            <p:nvPr/>
          </p:nvSpPr>
          <p:spPr>
            <a:xfrm>
              <a:off x="6355431" y="3357288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1</a:t>
              </a: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4D7F806C-D899-40FB-4E0C-0E13CB245480}"/>
              </a:ext>
            </a:extLst>
          </p:cNvPr>
          <p:cNvGrpSpPr/>
          <p:nvPr/>
        </p:nvGrpSpPr>
        <p:grpSpPr>
          <a:xfrm>
            <a:off x="8219149" y="3330903"/>
            <a:ext cx="418924" cy="419672"/>
            <a:chOff x="8187793" y="3332118"/>
            <a:chExt cx="418924" cy="419672"/>
          </a:xfrm>
        </p:grpSpPr>
        <p:sp>
          <p:nvSpPr>
            <p:cNvPr id="134" name="Freeform 133">
              <a:extLst>
                <a:ext uri="{FF2B5EF4-FFF2-40B4-BE49-F238E27FC236}">
                  <a16:creationId xmlns:a16="http://schemas.microsoft.com/office/drawing/2014/main" id="{8B76529D-0540-DC69-A1F2-B086DC7353AD}"/>
                </a:ext>
              </a:extLst>
            </p:cNvPr>
            <p:cNvSpPr/>
            <p:nvPr/>
          </p:nvSpPr>
          <p:spPr>
            <a:xfrm>
              <a:off x="8187793" y="3332118"/>
              <a:ext cx="418924" cy="419672"/>
            </a:xfrm>
            <a:custGeom>
              <a:avLst/>
              <a:gdLst>
                <a:gd name="connsiteX0" fmla="*/ 0 w 418924"/>
                <a:gd name="connsiteY0" fmla="*/ 0 h 419672"/>
                <a:gd name="connsiteX1" fmla="*/ 418925 w 418924"/>
                <a:gd name="connsiteY1" fmla="*/ 0 h 419672"/>
                <a:gd name="connsiteX2" fmla="*/ 418925 w 418924"/>
                <a:gd name="connsiteY2" fmla="*/ 419673 h 419672"/>
                <a:gd name="connsiteX3" fmla="*/ 0 w 418924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18924" h="419672">
                  <a:moveTo>
                    <a:pt x="0" y="0"/>
                  </a:moveTo>
                  <a:lnTo>
                    <a:pt x="418925" y="0"/>
                  </a:lnTo>
                  <a:lnTo>
                    <a:pt x="418925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FA15738A-E9CE-2949-5EE5-0F7F0214EBBD}"/>
                </a:ext>
              </a:extLst>
            </p:cNvPr>
            <p:cNvSpPr txBox="1"/>
            <p:nvPr/>
          </p:nvSpPr>
          <p:spPr>
            <a:xfrm>
              <a:off x="8227631" y="3339274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3</a:t>
              </a: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C1130719-77CA-A476-4741-461200C1825B}"/>
              </a:ext>
            </a:extLst>
          </p:cNvPr>
          <p:cNvGrpSpPr/>
          <p:nvPr/>
        </p:nvGrpSpPr>
        <p:grpSpPr>
          <a:xfrm>
            <a:off x="8847536" y="3330903"/>
            <a:ext cx="473175" cy="419672"/>
            <a:chOff x="8816180" y="3332118"/>
            <a:chExt cx="473175" cy="419672"/>
          </a:xfrm>
        </p:grpSpPr>
        <p:sp>
          <p:nvSpPr>
            <p:cNvPr id="136" name="Freeform 135">
              <a:extLst>
                <a:ext uri="{FF2B5EF4-FFF2-40B4-BE49-F238E27FC236}">
                  <a16:creationId xmlns:a16="http://schemas.microsoft.com/office/drawing/2014/main" id="{0D9A0423-7C17-734B-A8EC-BA976D5C93FA}"/>
                </a:ext>
              </a:extLst>
            </p:cNvPr>
            <p:cNvSpPr/>
            <p:nvPr/>
          </p:nvSpPr>
          <p:spPr>
            <a:xfrm>
              <a:off x="8816180" y="3332118"/>
              <a:ext cx="473175" cy="419672"/>
            </a:xfrm>
            <a:custGeom>
              <a:avLst/>
              <a:gdLst>
                <a:gd name="connsiteX0" fmla="*/ 0 w 473175"/>
                <a:gd name="connsiteY0" fmla="*/ 0 h 419672"/>
                <a:gd name="connsiteX1" fmla="*/ 473176 w 473175"/>
                <a:gd name="connsiteY1" fmla="*/ 0 h 419672"/>
                <a:gd name="connsiteX2" fmla="*/ 473176 w 473175"/>
                <a:gd name="connsiteY2" fmla="*/ 419673 h 419672"/>
                <a:gd name="connsiteX3" fmla="*/ 0 w 473175"/>
                <a:gd name="connsiteY3" fmla="*/ 419673 h 419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73175" h="419672">
                  <a:moveTo>
                    <a:pt x="0" y="0"/>
                  </a:moveTo>
                  <a:lnTo>
                    <a:pt x="473176" y="0"/>
                  </a:lnTo>
                  <a:lnTo>
                    <a:pt x="473176" y="419673"/>
                  </a:lnTo>
                  <a:lnTo>
                    <a:pt x="0" y="419673"/>
                  </a:lnTo>
                  <a:close/>
                </a:path>
              </a:pathLst>
            </a:custGeom>
            <a:solidFill>
              <a:srgbClr val="80FF6C"/>
            </a:solidFill>
            <a:ln w="20935" cap="flat">
              <a:solidFill>
                <a:srgbClr val="000000"/>
              </a:solidFill>
              <a:custDash>
                <a:ds d="225000" sp="225000"/>
              </a:custDash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31ABC5C5-EC13-41EC-38E3-BFCF47CDAFC5}"/>
                </a:ext>
              </a:extLst>
            </p:cNvPr>
            <p:cNvSpPr txBox="1"/>
            <p:nvPr/>
          </p:nvSpPr>
          <p:spPr>
            <a:xfrm>
              <a:off x="8891405" y="3339274"/>
              <a:ext cx="3227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4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3619839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3ED034B-C67F-E08C-BE80-4AFE7255D3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Picture 77">
            <a:extLst>
              <a:ext uri="{FF2B5EF4-FFF2-40B4-BE49-F238E27FC236}">
                <a16:creationId xmlns:a16="http://schemas.microsoft.com/office/drawing/2014/main" id="{89F8CEA2-78F4-C918-F00E-270F13E820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782" y="602691"/>
            <a:ext cx="2304087" cy="398689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Title 1">
            <a:extLst>
              <a:ext uri="{FF2B5EF4-FFF2-40B4-BE49-F238E27FC236}">
                <a16:creationId xmlns:a16="http://schemas.microsoft.com/office/drawing/2014/main" id="{BA16CE55-A1DE-20FF-9506-98A7363146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983" y="602691"/>
            <a:ext cx="10515600" cy="1325563"/>
          </a:xfrm>
        </p:spPr>
        <p:txBody>
          <a:bodyPr/>
          <a:lstStyle/>
          <a:p>
            <a:r>
              <a:rPr lang="en-US" dirty="0"/>
              <a:t>Ordering Probability </a:t>
            </a:r>
            <a:r>
              <a:rPr lang="en-US" i="1" dirty="0"/>
              <a:t>p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35034B6-654D-55BF-A16C-4E253ECCB941}"/>
              </a:ext>
            </a:extLst>
          </p:cNvPr>
          <p:cNvSpPr txBox="1"/>
          <p:nvPr/>
        </p:nvSpPr>
        <p:spPr>
          <a:xfrm>
            <a:off x="3144435" y="1940201"/>
            <a:ext cx="3934609" cy="3658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True Time = Observed Time + offset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20" name="Picture 8">
            <a:extLst>
              <a:ext uri="{FF2B5EF4-FFF2-40B4-BE49-F238E27FC236}">
                <a16:creationId xmlns:a16="http://schemas.microsoft.com/office/drawing/2014/main" id="{C2B63EC3-8972-EFBA-9CA1-DAF278B646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67675" y="2306010"/>
            <a:ext cx="2321261" cy="7056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" name="Picture 10">
            <a:extLst>
              <a:ext uri="{FF2B5EF4-FFF2-40B4-BE49-F238E27FC236}">
                <a16:creationId xmlns:a16="http://schemas.microsoft.com/office/drawing/2014/main" id="{26C1E073-D29A-9A29-C04C-34128857A4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83420" y="2973778"/>
            <a:ext cx="5960632" cy="6806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" name="Picture 12">
            <a:extLst>
              <a:ext uri="{FF2B5EF4-FFF2-40B4-BE49-F238E27FC236}">
                <a16:creationId xmlns:a16="http://schemas.microsoft.com/office/drawing/2014/main" id="{A59DDA47-5DAD-6E5D-3C3F-0EFFFCAE3B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58070" y="3726732"/>
            <a:ext cx="6092616" cy="6806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Picture 14">
            <a:extLst>
              <a:ext uri="{FF2B5EF4-FFF2-40B4-BE49-F238E27FC236}">
                <a16:creationId xmlns:a16="http://schemas.microsoft.com/office/drawing/2014/main" id="{32C090C8-A2C2-98B7-5AD7-73FA7B2BA0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44435" y="4484979"/>
            <a:ext cx="4267946" cy="6680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Picture 16">
            <a:extLst>
              <a:ext uri="{FF2B5EF4-FFF2-40B4-BE49-F238E27FC236}">
                <a16:creationId xmlns:a16="http://schemas.microsoft.com/office/drawing/2014/main" id="{A765CA47-1045-CCEA-3665-B4D3180BDC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69296" y="5274549"/>
            <a:ext cx="4670164" cy="10585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Oval 1">
            <a:extLst>
              <a:ext uri="{FF2B5EF4-FFF2-40B4-BE49-F238E27FC236}">
                <a16:creationId xmlns:a16="http://schemas.microsoft.com/office/drawing/2014/main" id="{55382D1A-1372-7A7D-B9A4-B5D08F48507C}"/>
              </a:ext>
            </a:extLst>
          </p:cNvPr>
          <p:cNvSpPr/>
          <p:nvPr/>
        </p:nvSpPr>
        <p:spPr>
          <a:xfrm>
            <a:off x="4274972" y="-248312"/>
            <a:ext cx="2997621" cy="790260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380741080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FE8C2A-99AE-1855-1EFB-3F4AC9EFDE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Picture 77">
            <a:extLst>
              <a:ext uri="{FF2B5EF4-FFF2-40B4-BE49-F238E27FC236}">
                <a16:creationId xmlns:a16="http://schemas.microsoft.com/office/drawing/2014/main" id="{4C5C7C63-C702-E669-ECD5-D7CBBC2164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782" y="602691"/>
            <a:ext cx="2304087" cy="398689"/>
          </a:xfrm>
          <a:custGeom>
            <a:avLst/>
            <a:gdLst>
              <a:gd name="connsiteX0" fmla="*/ -1 w 2304087"/>
              <a:gd name="connsiteY0" fmla="*/ -1 h 398689"/>
              <a:gd name="connsiteX1" fmla="*/ 2304087 w 2304087"/>
              <a:gd name="connsiteY1" fmla="*/ -1 h 398689"/>
              <a:gd name="connsiteX2" fmla="*/ 2304087 w 2304087"/>
              <a:gd name="connsiteY2" fmla="*/ 398689 h 398689"/>
              <a:gd name="connsiteX3" fmla="*/ -1 w 2304087"/>
              <a:gd name="connsiteY3" fmla="*/ 398689 h 3986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304087" h="398689">
                <a:moveTo>
                  <a:pt x="-1" y="-1"/>
                </a:moveTo>
                <a:lnTo>
                  <a:pt x="2304087" y="-1"/>
                </a:lnTo>
                <a:lnTo>
                  <a:pt x="2304087" y="398689"/>
                </a:lnTo>
                <a:lnTo>
                  <a:pt x="-1" y="398689"/>
                </a:lnTo>
                <a:close/>
              </a:path>
            </a:pathLst>
          </a:custGeom>
        </p:spPr>
      </p:pic>
      <p:sp>
        <p:nvSpPr>
          <p:cNvPr id="18" name="Title 1">
            <a:extLst>
              <a:ext uri="{FF2B5EF4-FFF2-40B4-BE49-F238E27FC236}">
                <a16:creationId xmlns:a16="http://schemas.microsoft.com/office/drawing/2014/main" id="{BFBD0663-2A2A-987B-1473-9B2AD2A426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983" y="602691"/>
            <a:ext cx="10515600" cy="1325563"/>
          </a:xfrm>
        </p:spPr>
        <p:txBody>
          <a:bodyPr/>
          <a:lstStyle/>
          <a:p>
            <a:r>
              <a:rPr lang="en-US" dirty="0"/>
              <a:t>Ordering Probability </a:t>
            </a:r>
            <a:r>
              <a:rPr lang="en-US" i="1" dirty="0"/>
              <a:t>p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430C9F4-0E48-F66F-9E2B-BF2A9E022895}"/>
              </a:ext>
            </a:extLst>
          </p:cNvPr>
          <p:cNvSpPr txBox="1"/>
          <p:nvPr/>
        </p:nvSpPr>
        <p:spPr>
          <a:xfrm>
            <a:off x="3144435" y="1940201"/>
            <a:ext cx="3934609" cy="3658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True Time = Observed Time + offset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pic>
        <p:nvPicPr>
          <p:cNvPr id="20" name="Picture 8">
            <a:extLst>
              <a:ext uri="{FF2B5EF4-FFF2-40B4-BE49-F238E27FC236}">
                <a16:creationId xmlns:a16="http://schemas.microsoft.com/office/drawing/2014/main" id="{E307CD22-E355-9BD2-2B7B-0D0020EF41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67675" y="2306010"/>
            <a:ext cx="2321261" cy="7056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" name="Picture 10">
            <a:extLst>
              <a:ext uri="{FF2B5EF4-FFF2-40B4-BE49-F238E27FC236}">
                <a16:creationId xmlns:a16="http://schemas.microsoft.com/office/drawing/2014/main" id="{B6DCC6C1-7764-E397-90C7-2F1636465E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83420" y="2973778"/>
            <a:ext cx="5960632" cy="6806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Picture 16">
            <a:extLst>
              <a:ext uri="{FF2B5EF4-FFF2-40B4-BE49-F238E27FC236}">
                <a16:creationId xmlns:a16="http://schemas.microsoft.com/office/drawing/2014/main" id="{EFF36E98-1D07-129A-13F4-028D2FE67D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27732" y="3679388"/>
            <a:ext cx="4670164" cy="10585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Oval 1">
            <a:extLst>
              <a:ext uri="{FF2B5EF4-FFF2-40B4-BE49-F238E27FC236}">
                <a16:creationId xmlns:a16="http://schemas.microsoft.com/office/drawing/2014/main" id="{1E373A28-459D-CDF4-29C8-EEAD2D5649BD}"/>
              </a:ext>
            </a:extLst>
          </p:cNvPr>
          <p:cNvSpPr/>
          <p:nvPr/>
        </p:nvSpPr>
        <p:spPr>
          <a:xfrm>
            <a:off x="4274972" y="-248312"/>
            <a:ext cx="2997621" cy="790260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pic>
        <p:nvPicPr>
          <p:cNvPr id="3" name="Picture 6">
            <a:extLst>
              <a:ext uri="{FF2B5EF4-FFF2-40B4-BE49-F238E27FC236}">
                <a16:creationId xmlns:a16="http://schemas.microsoft.com/office/drawing/2014/main" id="{0FF549F0-B94B-4D2F-D45E-E37EDA809E7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" r="16712" b="87571"/>
          <a:stretch/>
        </p:blipFill>
        <p:spPr bwMode="auto">
          <a:xfrm>
            <a:off x="2183420" y="4857900"/>
            <a:ext cx="5627164" cy="4290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6">
            <a:extLst>
              <a:ext uri="{FF2B5EF4-FFF2-40B4-BE49-F238E27FC236}">
                <a16:creationId xmlns:a16="http://schemas.microsoft.com/office/drawing/2014/main" id="{0E9CE531-30FA-46DC-6D83-5ECC80CAEFE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3560"/>
          <a:stretch/>
        </p:blipFill>
        <p:spPr bwMode="auto">
          <a:xfrm>
            <a:off x="1545407" y="5286948"/>
            <a:ext cx="6756301" cy="1325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1339881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CA13832-5FB1-2129-9513-8088D7FB6F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5B37A0-3AE1-8776-94C0-BFD08A8076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Ordering Probability </a:t>
            </a:r>
            <a:r>
              <a:rPr lang="en-US" i="1" dirty="0"/>
              <a:t>p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A5E73E85-4915-82B9-5CEA-E3312C517F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27382" y="1391322"/>
            <a:ext cx="4384637" cy="9938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>
            <a:extLst>
              <a:ext uri="{FF2B5EF4-FFF2-40B4-BE49-F238E27FC236}">
                <a16:creationId xmlns:a16="http://schemas.microsoft.com/office/drawing/2014/main" id="{8B2844BC-926C-7109-E5CF-1B43DCB1EFC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" r="16712" b="87571"/>
          <a:stretch/>
        </p:blipFill>
        <p:spPr bwMode="auto">
          <a:xfrm>
            <a:off x="2087532" y="2677269"/>
            <a:ext cx="5627164" cy="4290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6">
            <a:extLst>
              <a:ext uri="{FF2B5EF4-FFF2-40B4-BE49-F238E27FC236}">
                <a16:creationId xmlns:a16="http://schemas.microsoft.com/office/drawing/2014/main" id="{95647F1A-A661-71D3-795E-C781FEB6FD3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3560"/>
          <a:stretch/>
        </p:blipFill>
        <p:spPr bwMode="auto">
          <a:xfrm>
            <a:off x="1599259" y="3536525"/>
            <a:ext cx="6756301" cy="1325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Oval 4">
            <a:extLst>
              <a:ext uri="{FF2B5EF4-FFF2-40B4-BE49-F238E27FC236}">
                <a16:creationId xmlns:a16="http://schemas.microsoft.com/office/drawing/2014/main" id="{F50DD063-B15E-0F8E-CA45-D4C94B4141B4}"/>
              </a:ext>
            </a:extLst>
          </p:cNvPr>
          <p:cNvSpPr/>
          <p:nvPr/>
        </p:nvSpPr>
        <p:spPr>
          <a:xfrm>
            <a:off x="4274972" y="-248312"/>
            <a:ext cx="2997621" cy="790260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732944162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5F19395-F06A-201C-74D8-D55C3B246E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D1C70A-1C03-E468-05A6-F24ED1D8F7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Ordering Probability </a:t>
            </a:r>
            <a:r>
              <a:rPr lang="en-US" i="1" dirty="0"/>
              <a:t>p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0FD8EEAC-6123-01F3-95F1-97A571C8F5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6382" y="1480466"/>
            <a:ext cx="4381091" cy="9930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4BAD3A7-715B-1E2A-207A-E3C14E9CAB8E}"/>
              </a:ext>
            </a:extLst>
          </p:cNvPr>
          <p:cNvSpPr txBox="1"/>
          <p:nvPr/>
        </p:nvSpPr>
        <p:spPr>
          <a:xfrm>
            <a:off x="838199" y="3030386"/>
            <a:ext cx="10383983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For arbitrary distributions, we may not have a known solution form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Sequencer could gather all clock sync. probes from all clients and compute pairwise differences for each pair of probes of two clients.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Then the distribution of these pairwise differences would be our distribution of interest. 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Communication and compute intensive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EA5F388-26E9-0737-AF15-C30AEC62FB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3821729737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3C412EE-5FCB-91D9-0FE1-9D32042486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E67BA9-9A58-35A0-22DE-306BB153E5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Ordering Probability </a:t>
            </a:r>
            <a:r>
              <a:rPr lang="en-US" i="1" dirty="0"/>
              <a:t>p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55A412C0-A6A6-CB42-BCFB-E8201D679E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6382" y="1480466"/>
            <a:ext cx="4381091" cy="9930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FC1B1BF-19E0-612D-E448-2084A3BC6D13}"/>
              </a:ext>
            </a:extLst>
          </p:cNvPr>
          <p:cNvSpPr txBox="1"/>
          <p:nvPr/>
        </p:nvSpPr>
        <p:spPr>
          <a:xfrm>
            <a:off x="838199" y="2806029"/>
            <a:ext cx="9802091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Each client learns their own clock drift distribution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These learned distributions are shared with the sequencer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Sequencer uses convolutions to learn the respective distributions of clock offset differences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Convolutions computations can be further optimized by using FFT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EF27BFA-188A-5DAC-3DEA-0806DDFF3C5A}"/>
              </a:ext>
            </a:extLst>
          </p:cNvPr>
          <p:cNvSpPr txBox="1"/>
          <p:nvPr/>
        </p:nvSpPr>
        <p:spPr>
          <a:xfrm>
            <a:off x="838200" y="2400071"/>
            <a:ext cx="609420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There exists an efficient method: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3CB65ED-9A74-A8DA-6339-EAEA959960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1652373020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54BB98E-D791-426A-31BD-35BE41367B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5E2240-59CE-EC80-7ABC-E6FDB5E3AA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Ordering Probability </a:t>
            </a:r>
            <a:r>
              <a:rPr lang="en-US" i="1" dirty="0"/>
              <a:t>p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22333D4E-9D26-871C-D529-E3EB382A9D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6382" y="1480466"/>
            <a:ext cx="4381091" cy="9930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>
            <a:extLst>
              <a:ext uri="{FF2B5EF4-FFF2-40B4-BE49-F238E27FC236}">
                <a16:creationId xmlns:a16="http://schemas.microsoft.com/office/drawing/2014/main" id="{A3E66D2E-C58D-8FA3-3E71-EB22CC663A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20514" y="2783039"/>
            <a:ext cx="6626711" cy="16307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>
            <a:extLst>
              <a:ext uri="{FF2B5EF4-FFF2-40B4-BE49-F238E27FC236}">
                <a16:creationId xmlns:a16="http://schemas.microsoft.com/office/drawing/2014/main" id="{1B5FF02C-EE34-1071-28BE-ADFD34ED12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98135" y="4464583"/>
            <a:ext cx="3530600" cy="1104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0" name="Picture 8">
            <a:extLst>
              <a:ext uri="{FF2B5EF4-FFF2-40B4-BE49-F238E27FC236}">
                <a16:creationId xmlns:a16="http://schemas.microsoft.com/office/drawing/2014/main" id="{8EC18251-4FB0-0665-FEB1-5BAA0A1B4E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8201" y="5716404"/>
            <a:ext cx="4379272" cy="6340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A4D3E52-5059-6A41-CF91-2947396527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2423899318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9CD616C-1427-9D0D-30F3-479DBE3528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 dirty="0"/>
              <a:t>Partial Order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CA8F9F-451D-3FE0-B40A-1C2A8BDBBA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r>
              <a:rPr lang="en-US" sz="2200" i="1" dirty="0"/>
              <a:t>happened-before </a:t>
            </a:r>
            <a:r>
              <a:rPr lang="en-US" sz="2200" dirty="0"/>
              <a:t>relation is transitive so getting a partial order out of pairwise relations is easy</a:t>
            </a:r>
          </a:p>
          <a:p>
            <a:pPr lvl="1"/>
            <a:r>
              <a:rPr lang="en-US" sz="2200" dirty="0"/>
              <a:t>A  </a:t>
            </a:r>
            <a:r>
              <a:rPr lang="en-US" sz="2200" dirty="0">
                <a:sym typeface="Wingdings" pitchFamily="2" charset="2"/>
              </a:rPr>
              <a:t></a:t>
            </a:r>
            <a:r>
              <a:rPr lang="en-US" sz="2200" dirty="0"/>
              <a:t>B and B </a:t>
            </a:r>
            <a:r>
              <a:rPr lang="en-US" sz="2200" dirty="0">
                <a:sym typeface="Wingdings" pitchFamily="2" charset="2"/>
              </a:rPr>
              <a:t></a:t>
            </a:r>
            <a:r>
              <a:rPr lang="en-US" sz="2200" dirty="0"/>
              <a:t> C gives us A </a:t>
            </a:r>
            <a:r>
              <a:rPr lang="en-US" sz="2200" dirty="0">
                <a:sym typeface="Wingdings" pitchFamily="2" charset="2"/>
              </a:rPr>
              <a:t></a:t>
            </a:r>
            <a:r>
              <a:rPr lang="en-US" sz="2200" dirty="0"/>
              <a:t> B </a:t>
            </a:r>
            <a:r>
              <a:rPr lang="en-US" sz="2200" dirty="0">
                <a:sym typeface="Wingdings" pitchFamily="2" charset="2"/>
              </a:rPr>
              <a:t></a:t>
            </a:r>
            <a:r>
              <a:rPr lang="en-US" sz="2200" dirty="0"/>
              <a:t> C</a:t>
            </a:r>
            <a:br>
              <a:rPr lang="en-US" sz="2200" dirty="0"/>
            </a:br>
            <a:endParaRPr lang="en-US" sz="2200" dirty="0"/>
          </a:p>
          <a:p>
            <a:r>
              <a:rPr lang="en-US" sz="2200" i="1" dirty="0"/>
              <a:t>likely-happened-before </a:t>
            </a:r>
            <a:r>
              <a:rPr lang="en-US" sz="2200" dirty="0"/>
              <a:t>relation is not necessarily transitive.</a:t>
            </a:r>
          </a:p>
          <a:p>
            <a:pPr lvl="1"/>
            <a:r>
              <a:rPr lang="en-US" sz="2200" dirty="0"/>
              <a:t>Depends on the clock offset distributions</a:t>
            </a:r>
          </a:p>
          <a:p>
            <a:pPr lvl="1"/>
            <a:r>
              <a:rPr lang="en-US" sz="2200" dirty="0"/>
              <a:t>For Gaussian, yes it is transitive (proof in the paper)</a:t>
            </a:r>
          </a:p>
          <a:p>
            <a:pPr lvl="1"/>
            <a:r>
              <a:rPr lang="en-US" sz="2200" dirty="0"/>
              <a:t>For others, it may not be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2E763449-E448-7EF4-8FE6-FB8D5C498140}"/>
              </a:ext>
            </a:extLst>
          </p:cNvPr>
          <p:cNvSpPr/>
          <p:nvPr/>
        </p:nvSpPr>
        <p:spPr>
          <a:xfrm>
            <a:off x="4274972" y="-248312"/>
            <a:ext cx="2997621" cy="790260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560106F-7172-F544-DF18-3E20F1B232C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527" t="12634" r="30625" b="76414"/>
          <a:stretch>
            <a:fillRect/>
          </a:stretch>
        </p:blipFill>
        <p:spPr>
          <a:xfrm>
            <a:off x="1464141" y="2011218"/>
            <a:ext cx="9704016" cy="2223799"/>
          </a:xfrm>
          <a:prstGeom prst="rect">
            <a:avLst/>
          </a:prstGeom>
          <a:blipFill>
            <a:blip r:embed="rId3"/>
            <a:tile tx="0" ty="0" sx="100000" sy="100000" flip="none" algn="tl"/>
          </a:blipFill>
          <a:effectLst>
            <a:glow rad="228600">
              <a:schemeClr val="accent1">
                <a:satMod val="175000"/>
                <a:alpha val="40000"/>
              </a:schemeClr>
            </a:glow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262696501"/>
      </p:ext>
    </p:extLst>
  </p:cSld>
  <p:clrMapOvr>
    <a:masterClrMapping/>
  </p:clrMapOvr>
  <p:transition spd="slow">
    <p:push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55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30" dur="5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strVal val="ppt_w*0.7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5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strVal val="ppt_h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3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0B07738-817E-DC1E-EE39-41D770E3E3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267854-DEF7-C9F9-A501-6AA78FCFA7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 dirty="0"/>
              <a:t>Partial Order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A1D797-4DDE-60AC-8E5F-B08E12B260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r>
              <a:rPr lang="en-US" sz="2200" i="1" dirty="0"/>
              <a:t>happened-before </a:t>
            </a:r>
            <a:r>
              <a:rPr lang="en-US" sz="2200" dirty="0"/>
              <a:t>relation is transitive so getting a partial order out of pairwise relations is easy</a:t>
            </a:r>
          </a:p>
          <a:p>
            <a:pPr lvl="1"/>
            <a:r>
              <a:rPr lang="en-US" sz="2200" dirty="0"/>
              <a:t>A  </a:t>
            </a:r>
            <a:r>
              <a:rPr lang="en-US" sz="2200" dirty="0">
                <a:sym typeface="Wingdings" pitchFamily="2" charset="2"/>
              </a:rPr>
              <a:t></a:t>
            </a:r>
            <a:r>
              <a:rPr lang="en-US" sz="2200" dirty="0"/>
              <a:t>B and B </a:t>
            </a:r>
            <a:r>
              <a:rPr lang="en-US" sz="2200" dirty="0">
                <a:sym typeface="Wingdings" pitchFamily="2" charset="2"/>
              </a:rPr>
              <a:t></a:t>
            </a:r>
            <a:r>
              <a:rPr lang="en-US" sz="2200" dirty="0"/>
              <a:t> C gives us A </a:t>
            </a:r>
            <a:r>
              <a:rPr lang="en-US" sz="2200" dirty="0">
                <a:sym typeface="Wingdings" pitchFamily="2" charset="2"/>
              </a:rPr>
              <a:t></a:t>
            </a:r>
            <a:r>
              <a:rPr lang="en-US" sz="2200" dirty="0"/>
              <a:t> B </a:t>
            </a:r>
            <a:r>
              <a:rPr lang="en-US" sz="2200" dirty="0">
                <a:sym typeface="Wingdings" pitchFamily="2" charset="2"/>
              </a:rPr>
              <a:t></a:t>
            </a:r>
            <a:r>
              <a:rPr lang="en-US" sz="2200" dirty="0"/>
              <a:t> C</a:t>
            </a:r>
            <a:br>
              <a:rPr lang="en-US" sz="2200" dirty="0"/>
            </a:br>
            <a:endParaRPr lang="en-US" sz="2200" dirty="0"/>
          </a:p>
          <a:p>
            <a:r>
              <a:rPr lang="en-US" sz="2200" i="1" dirty="0"/>
              <a:t>likely-happened-before </a:t>
            </a:r>
            <a:r>
              <a:rPr lang="en-US" sz="2200" dirty="0"/>
              <a:t>relation is not necessarily transitive.</a:t>
            </a:r>
          </a:p>
          <a:p>
            <a:pPr lvl="1"/>
            <a:r>
              <a:rPr lang="en-US" sz="2200" dirty="0"/>
              <a:t>may lead to cyclic ranking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C21E9A03-30B0-092C-3349-C8FA37468EF1}"/>
              </a:ext>
            </a:extLst>
          </p:cNvPr>
          <p:cNvSpPr/>
          <p:nvPr/>
        </p:nvSpPr>
        <p:spPr>
          <a:xfrm>
            <a:off x="4274972" y="-248312"/>
            <a:ext cx="2997621" cy="790260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778309082"/>
      </p:ext>
    </p:extLst>
  </p:cSld>
  <p:clrMapOvr>
    <a:masterClrMapping/>
  </p:clrMapOvr>
  <p:transition spd="slow">
    <p:push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24B817-9B3C-4541-4346-3BC3699D6A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62E9C4-7882-E633-2BB7-85C2C43B75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 dirty="0"/>
              <a:t>Partial Order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6BF3F43E-8D0E-5CF7-E21C-2481224BF1F2}"/>
              </a:ext>
            </a:extLst>
          </p:cNvPr>
          <p:cNvSpPr/>
          <p:nvPr/>
        </p:nvSpPr>
        <p:spPr>
          <a:xfrm>
            <a:off x="2932294" y="3469423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231591FD-C47E-1C11-FAC4-B7A6DCD51B31}"/>
              </a:ext>
            </a:extLst>
          </p:cNvPr>
          <p:cNvSpPr/>
          <p:nvPr/>
        </p:nvSpPr>
        <p:spPr>
          <a:xfrm>
            <a:off x="5405863" y="5350218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36F378CE-5167-B4CF-67B3-3E4179599BE5}"/>
              </a:ext>
            </a:extLst>
          </p:cNvPr>
          <p:cNvSpPr/>
          <p:nvPr/>
        </p:nvSpPr>
        <p:spPr>
          <a:xfrm>
            <a:off x="8117613" y="3531268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4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8E6DCE8-4907-2DB2-2E66-6936202B90F4}"/>
              </a:ext>
            </a:extLst>
          </p:cNvPr>
          <p:cNvSpPr/>
          <p:nvPr/>
        </p:nvSpPr>
        <p:spPr>
          <a:xfrm>
            <a:off x="5517700" y="1542581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E57F5728-D46C-13CE-3843-52CC0A2484A3}"/>
              </a:ext>
            </a:extLst>
          </p:cNvPr>
          <p:cNvCxnSpPr>
            <a:cxnSpLocks/>
            <a:stCxn id="4" idx="5"/>
            <a:endCxn id="7" idx="5"/>
          </p:cNvCxnSpPr>
          <p:nvPr/>
        </p:nvCxnSpPr>
        <p:spPr>
          <a:xfrm flipV="1">
            <a:off x="3584131" y="2193541"/>
            <a:ext cx="2585406" cy="1926842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75C1FF5F-B6CF-53B8-7305-F7107DEBFF70}"/>
              </a:ext>
            </a:extLst>
          </p:cNvPr>
          <p:cNvCxnSpPr>
            <a:cxnSpLocks/>
            <a:stCxn id="5" idx="5"/>
            <a:endCxn id="6" idx="5"/>
          </p:cNvCxnSpPr>
          <p:nvPr/>
        </p:nvCxnSpPr>
        <p:spPr>
          <a:xfrm flipV="1">
            <a:off x="6057700" y="4182228"/>
            <a:ext cx="2711750" cy="181895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1B5F5319-1BC6-CA67-7878-953712084102}"/>
              </a:ext>
            </a:extLst>
          </p:cNvPr>
          <p:cNvCxnSpPr>
            <a:cxnSpLocks/>
            <a:stCxn id="6" idx="1"/>
            <a:endCxn id="5" idx="1"/>
          </p:cNvCxnSpPr>
          <p:nvPr/>
        </p:nvCxnSpPr>
        <p:spPr>
          <a:xfrm flipH="1">
            <a:off x="5517700" y="3642955"/>
            <a:ext cx="2711750" cy="181895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F234EE0-2734-02CD-1E48-3ADF76FF5AC2}"/>
              </a:ext>
            </a:extLst>
          </p:cNvPr>
          <p:cNvCxnSpPr>
            <a:cxnSpLocks/>
            <a:stCxn id="7" idx="1"/>
            <a:endCxn id="4" idx="1"/>
          </p:cNvCxnSpPr>
          <p:nvPr/>
        </p:nvCxnSpPr>
        <p:spPr>
          <a:xfrm flipH="1">
            <a:off x="3044131" y="1654268"/>
            <a:ext cx="2585406" cy="1926842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41A4B498-2D6E-455E-6C17-CE9AD19657F5}"/>
              </a:ext>
            </a:extLst>
          </p:cNvPr>
          <p:cNvCxnSpPr>
            <a:cxnSpLocks/>
            <a:stCxn id="7" idx="7"/>
            <a:endCxn id="6" idx="7"/>
          </p:cNvCxnSpPr>
          <p:nvPr/>
        </p:nvCxnSpPr>
        <p:spPr>
          <a:xfrm>
            <a:off x="6169537" y="1654268"/>
            <a:ext cx="2599913" cy="1988687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FC992742-1938-C592-A724-DA21C3D88648}"/>
              </a:ext>
            </a:extLst>
          </p:cNvPr>
          <p:cNvCxnSpPr>
            <a:cxnSpLocks/>
            <a:stCxn id="4" idx="3"/>
            <a:endCxn id="5" idx="3"/>
          </p:cNvCxnSpPr>
          <p:nvPr/>
        </p:nvCxnSpPr>
        <p:spPr>
          <a:xfrm>
            <a:off x="3044131" y="4120383"/>
            <a:ext cx="2473569" cy="1880795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5017A1CD-F3CE-424E-60A5-6B3C74B55DE0}"/>
              </a:ext>
            </a:extLst>
          </p:cNvPr>
          <p:cNvCxnSpPr>
            <a:cxnSpLocks/>
            <a:stCxn id="6" idx="3"/>
            <a:endCxn id="7" idx="3"/>
          </p:cNvCxnSpPr>
          <p:nvPr/>
        </p:nvCxnSpPr>
        <p:spPr>
          <a:xfrm flipH="1" flipV="1">
            <a:off x="5629537" y="2193541"/>
            <a:ext cx="2599913" cy="1988687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3BF531D1-A17B-1772-6747-44722ACA0068}"/>
              </a:ext>
            </a:extLst>
          </p:cNvPr>
          <p:cNvCxnSpPr>
            <a:cxnSpLocks/>
            <a:stCxn id="5" idx="7"/>
            <a:endCxn id="4" idx="7"/>
          </p:cNvCxnSpPr>
          <p:nvPr/>
        </p:nvCxnSpPr>
        <p:spPr>
          <a:xfrm flipH="1" flipV="1">
            <a:off x="3584131" y="3581110"/>
            <a:ext cx="2473569" cy="1880795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952B135A-5990-4668-753C-86879100E391}"/>
              </a:ext>
            </a:extLst>
          </p:cNvPr>
          <p:cNvCxnSpPr>
            <a:cxnSpLocks/>
            <a:stCxn id="6" idx="4"/>
            <a:endCxn id="4" idx="4"/>
          </p:cNvCxnSpPr>
          <p:nvPr/>
        </p:nvCxnSpPr>
        <p:spPr>
          <a:xfrm flipH="1" flipV="1">
            <a:off x="3314131" y="4232070"/>
            <a:ext cx="5185319" cy="61845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9B76C025-D9DB-1E25-FE64-1C3FE659B236}"/>
              </a:ext>
            </a:extLst>
          </p:cNvPr>
          <p:cNvCxnSpPr>
            <a:cxnSpLocks/>
            <a:stCxn id="4" idx="0"/>
            <a:endCxn id="6" idx="0"/>
          </p:cNvCxnSpPr>
          <p:nvPr/>
        </p:nvCxnSpPr>
        <p:spPr>
          <a:xfrm>
            <a:off x="3314131" y="3469423"/>
            <a:ext cx="5185319" cy="61845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A159B1F9-59A6-DBC1-F8EB-CFDB770DB2F4}"/>
              </a:ext>
            </a:extLst>
          </p:cNvPr>
          <p:cNvCxnSpPr>
            <a:cxnSpLocks/>
            <a:stCxn id="7" idx="6"/>
            <a:endCxn id="5" idx="6"/>
          </p:cNvCxnSpPr>
          <p:nvPr/>
        </p:nvCxnSpPr>
        <p:spPr>
          <a:xfrm flipH="1">
            <a:off x="6169537" y="1923905"/>
            <a:ext cx="111837" cy="3807637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FC9A0989-2E77-B23E-7C08-A67E75E44712}"/>
              </a:ext>
            </a:extLst>
          </p:cNvPr>
          <p:cNvCxnSpPr>
            <a:cxnSpLocks/>
            <a:stCxn id="5" idx="2"/>
            <a:endCxn id="7" idx="2"/>
          </p:cNvCxnSpPr>
          <p:nvPr/>
        </p:nvCxnSpPr>
        <p:spPr>
          <a:xfrm flipV="1">
            <a:off x="5405863" y="1923905"/>
            <a:ext cx="111837" cy="3807637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Oval 2">
            <a:extLst>
              <a:ext uri="{FF2B5EF4-FFF2-40B4-BE49-F238E27FC236}">
                <a16:creationId xmlns:a16="http://schemas.microsoft.com/office/drawing/2014/main" id="{519787C9-3787-856D-3F35-2AAB2515BB74}"/>
              </a:ext>
            </a:extLst>
          </p:cNvPr>
          <p:cNvSpPr/>
          <p:nvPr/>
        </p:nvSpPr>
        <p:spPr>
          <a:xfrm>
            <a:off x="4274972" y="-248312"/>
            <a:ext cx="2997621" cy="790260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258195361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FAB9D9-D7AD-AC6B-1727-AA705CC2D3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C122FD-0F9A-25E9-2B3B-46BC6C8D97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 dirty="0"/>
              <a:t>Partial Order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5F398247-AD79-7922-E406-DCEC1A7AC362}"/>
              </a:ext>
            </a:extLst>
          </p:cNvPr>
          <p:cNvSpPr/>
          <p:nvPr/>
        </p:nvSpPr>
        <p:spPr>
          <a:xfrm>
            <a:off x="2932294" y="3469423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1BC069AA-EE77-AB1D-AB6D-AF9D15152C29}"/>
              </a:ext>
            </a:extLst>
          </p:cNvPr>
          <p:cNvSpPr/>
          <p:nvPr/>
        </p:nvSpPr>
        <p:spPr>
          <a:xfrm>
            <a:off x="5405863" y="5350218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36861866-3986-101B-3E58-7963B26182CD}"/>
              </a:ext>
            </a:extLst>
          </p:cNvPr>
          <p:cNvSpPr/>
          <p:nvPr/>
        </p:nvSpPr>
        <p:spPr>
          <a:xfrm>
            <a:off x="8117613" y="3531268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4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D45410CA-C483-75FC-8F8A-86536D84AEBC}"/>
              </a:ext>
            </a:extLst>
          </p:cNvPr>
          <p:cNvSpPr/>
          <p:nvPr/>
        </p:nvSpPr>
        <p:spPr>
          <a:xfrm>
            <a:off x="5517700" y="1542581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1C20035-6225-7153-1EC5-7530B2E4FFED}"/>
              </a:ext>
            </a:extLst>
          </p:cNvPr>
          <p:cNvCxnSpPr>
            <a:cxnSpLocks/>
            <a:stCxn id="4" idx="5"/>
            <a:endCxn id="7" idx="5"/>
          </p:cNvCxnSpPr>
          <p:nvPr/>
        </p:nvCxnSpPr>
        <p:spPr>
          <a:xfrm flipV="1">
            <a:off x="3584131" y="2193541"/>
            <a:ext cx="2585406" cy="1926842"/>
          </a:xfrm>
          <a:prstGeom prst="straightConnector1">
            <a:avLst/>
          </a:prstGeom>
          <a:ln w="38100">
            <a:solidFill>
              <a:schemeClr val="accent1">
                <a:alpha val="9000"/>
              </a:schemeClr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3A731BC-65A8-A7A8-4001-98B2609E0E84}"/>
              </a:ext>
            </a:extLst>
          </p:cNvPr>
          <p:cNvCxnSpPr>
            <a:cxnSpLocks/>
            <a:stCxn id="5" idx="5"/>
            <a:endCxn id="6" idx="5"/>
          </p:cNvCxnSpPr>
          <p:nvPr/>
        </p:nvCxnSpPr>
        <p:spPr>
          <a:xfrm flipV="1">
            <a:off x="6057700" y="4182228"/>
            <a:ext cx="2711750" cy="1818950"/>
          </a:xfrm>
          <a:prstGeom prst="straightConnector1">
            <a:avLst/>
          </a:prstGeom>
          <a:ln w="38100">
            <a:solidFill>
              <a:schemeClr val="accent1">
                <a:alpha val="9000"/>
              </a:schemeClr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A248CAAB-3880-A301-5684-28267127C876}"/>
              </a:ext>
            </a:extLst>
          </p:cNvPr>
          <p:cNvCxnSpPr>
            <a:cxnSpLocks/>
            <a:stCxn id="6" idx="1"/>
            <a:endCxn id="5" idx="1"/>
          </p:cNvCxnSpPr>
          <p:nvPr/>
        </p:nvCxnSpPr>
        <p:spPr>
          <a:xfrm flipH="1">
            <a:off x="5517700" y="3642955"/>
            <a:ext cx="2711750" cy="1818950"/>
          </a:xfrm>
          <a:prstGeom prst="straightConnector1">
            <a:avLst/>
          </a:prstGeom>
          <a:ln w="38100">
            <a:solidFill>
              <a:schemeClr val="accent1">
                <a:alpha val="9000"/>
              </a:schemeClr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4977E046-C008-F4C8-5BDB-CB1CB31D3ED3}"/>
              </a:ext>
            </a:extLst>
          </p:cNvPr>
          <p:cNvCxnSpPr>
            <a:cxnSpLocks/>
            <a:stCxn id="7" idx="1"/>
            <a:endCxn id="4" idx="1"/>
          </p:cNvCxnSpPr>
          <p:nvPr/>
        </p:nvCxnSpPr>
        <p:spPr>
          <a:xfrm flipH="1">
            <a:off x="3044131" y="1654268"/>
            <a:ext cx="2585406" cy="1926842"/>
          </a:xfrm>
          <a:prstGeom prst="straightConnector1">
            <a:avLst/>
          </a:prstGeom>
          <a:ln w="38100">
            <a:solidFill>
              <a:schemeClr val="accent1">
                <a:alpha val="9000"/>
              </a:schemeClr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6F0F3C7-A292-981B-8B5D-DAFDD1B41CE5}"/>
              </a:ext>
            </a:extLst>
          </p:cNvPr>
          <p:cNvCxnSpPr>
            <a:cxnSpLocks/>
            <a:stCxn id="7" idx="7"/>
            <a:endCxn id="6" idx="7"/>
          </p:cNvCxnSpPr>
          <p:nvPr/>
        </p:nvCxnSpPr>
        <p:spPr>
          <a:xfrm>
            <a:off x="6169537" y="1654268"/>
            <a:ext cx="2599913" cy="1988687"/>
          </a:xfrm>
          <a:prstGeom prst="straightConnector1">
            <a:avLst/>
          </a:prstGeom>
          <a:ln w="38100">
            <a:solidFill>
              <a:schemeClr val="accent1">
                <a:alpha val="9000"/>
              </a:schemeClr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E76641CB-DAB4-77D4-A05A-E51ADD0CD9BF}"/>
              </a:ext>
            </a:extLst>
          </p:cNvPr>
          <p:cNvCxnSpPr>
            <a:cxnSpLocks/>
            <a:stCxn id="4" idx="3"/>
            <a:endCxn id="5" idx="3"/>
          </p:cNvCxnSpPr>
          <p:nvPr/>
        </p:nvCxnSpPr>
        <p:spPr>
          <a:xfrm>
            <a:off x="3044131" y="4120383"/>
            <a:ext cx="2473569" cy="1880795"/>
          </a:xfrm>
          <a:prstGeom prst="straightConnector1">
            <a:avLst/>
          </a:prstGeom>
          <a:ln w="38100">
            <a:solidFill>
              <a:schemeClr val="accent1">
                <a:alpha val="9000"/>
              </a:schemeClr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B94B817D-8740-E357-8B1C-D0341BA9A2EA}"/>
              </a:ext>
            </a:extLst>
          </p:cNvPr>
          <p:cNvCxnSpPr>
            <a:cxnSpLocks/>
            <a:stCxn id="6" idx="3"/>
            <a:endCxn id="7" idx="3"/>
          </p:cNvCxnSpPr>
          <p:nvPr/>
        </p:nvCxnSpPr>
        <p:spPr>
          <a:xfrm flipH="1" flipV="1">
            <a:off x="5629537" y="2193541"/>
            <a:ext cx="2599913" cy="1988687"/>
          </a:xfrm>
          <a:prstGeom prst="straightConnector1">
            <a:avLst/>
          </a:prstGeom>
          <a:ln w="38100">
            <a:solidFill>
              <a:schemeClr val="accent1">
                <a:alpha val="9000"/>
              </a:schemeClr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02C3B232-0906-CFAC-7FC3-6B65EED4867A}"/>
              </a:ext>
            </a:extLst>
          </p:cNvPr>
          <p:cNvCxnSpPr>
            <a:cxnSpLocks/>
            <a:stCxn id="5" idx="7"/>
            <a:endCxn id="4" idx="7"/>
          </p:cNvCxnSpPr>
          <p:nvPr/>
        </p:nvCxnSpPr>
        <p:spPr>
          <a:xfrm flipH="1" flipV="1">
            <a:off x="3584131" y="3581110"/>
            <a:ext cx="2473569" cy="1880795"/>
          </a:xfrm>
          <a:prstGeom prst="straightConnector1">
            <a:avLst/>
          </a:prstGeom>
          <a:ln w="38100">
            <a:solidFill>
              <a:schemeClr val="accent1">
                <a:alpha val="9000"/>
              </a:schemeClr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AEDFD808-AA66-A350-F9A6-41C12B5611AA}"/>
              </a:ext>
            </a:extLst>
          </p:cNvPr>
          <p:cNvCxnSpPr>
            <a:cxnSpLocks/>
            <a:stCxn id="6" idx="4"/>
            <a:endCxn id="4" idx="4"/>
          </p:cNvCxnSpPr>
          <p:nvPr/>
        </p:nvCxnSpPr>
        <p:spPr>
          <a:xfrm flipH="1" flipV="1">
            <a:off x="3314131" y="4232070"/>
            <a:ext cx="5185319" cy="61845"/>
          </a:xfrm>
          <a:prstGeom prst="straightConnector1">
            <a:avLst/>
          </a:prstGeom>
          <a:ln w="38100">
            <a:solidFill>
              <a:schemeClr val="accent1">
                <a:alpha val="9000"/>
              </a:schemeClr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4BFF4F54-F236-E3FD-23F9-935E637A8871}"/>
              </a:ext>
            </a:extLst>
          </p:cNvPr>
          <p:cNvCxnSpPr>
            <a:cxnSpLocks/>
            <a:stCxn id="4" idx="0"/>
            <a:endCxn id="6" idx="0"/>
          </p:cNvCxnSpPr>
          <p:nvPr/>
        </p:nvCxnSpPr>
        <p:spPr>
          <a:xfrm>
            <a:off x="3314131" y="3469423"/>
            <a:ext cx="5185319" cy="61845"/>
          </a:xfrm>
          <a:prstGeom prst="straightConnector1">
            <a:avLst/>
          </a:prstGeom>
          <a:ln w="38100">
            <a:solidFill>
              <a:schemeClr val="accent1">
                <a:alpha val="9000"/>
              </a:schemeClr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A2F8A8A5-D16B-8ECD-4591-C9B42ADCA088}"/>
              </a:ext>
            </a:extLst>
          </p:cNvPr>
          <p:cNvCxnSpPr>
            <a:cxnSpLocks/>
            <a:stCxn id="7" idx="6"/>
            <a:endCxn id="5" idx="6"/>
          </p:cNvCxnSpPr>
          <p:nvPr/>
        </p:nvCxnSpPr>
        <p:spPr>
          <a:xfrm flipH="1">
            <a:off x="6169537" y="1923905"/>
            <a:ext cx="111837" cy="3807637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A04FBAD9-E2A2-566F-5D3E-010C11C94B45}"/>
              </a:ext>
            </a:extLst>
          </p:cNvPr>
          <p:cNvCxnSpPr>
            <a:cxnSpLocks/>
            <a:stCxn id="5" idx="2"/>
            <a:endCxn id="7" idx="2"/>
          </p:cNvCxnSpPr>
          <p:nvPr/>
        </p:nvCxnSpPr>
        <p:spPr>
          <a:xfrm flipV="1">
            <a:off x="5405863" y="1923905"/>
            <a:ext cx="111837" cy="3807637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89BE55A9-946E-A8AD-41DD-E82E80424CE9}"/>
              </a:ext>
            </a:extLst>
          </p:cNvPr>
          <p:cNvSpPr txBox="1"/>
          <p:nvPr/>
        </p:nvSpPr>
        <p:spPr>
          <a:xfrm>
            <a:off x="6215863" y="3493032"/>
            <a:ext cx="106631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p=0.8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52EA702-53AA-1FAB-2794-9632C73F947E}"/>
              </a:ext>
            </a:extLst>
          </p:cNvPr>
          <p:cNvSpPr txBox="1"/>
          <p:nvPr/>
        </p:nvSpPr>
        <p:spPr>
          <a:xfrm>
            <a:off x="4293219" y="2865196"/>
            <a:ext cx="106631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p=0.2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5C37B194-DF99-9B8D-ECF6-0A671FB1C3E1}"/>
              </a:ext>
            </a:extLst>
          </p:cNvPr>
          <p:cNvSpPr/>
          <p:nvPr/>
        </p:nvSpPr>
        <p:spPr>
          <a:xfrm>
            <a:off x="4274972" y="-248312"/>
            <a:ext cx="2997621" cy="790260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92572817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5" presetClass="exit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checkerboard(across)">
                                      <p:cBhvr>
                                        <p:cTn id="12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5" presetClass="exit" presetSubtype="1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checkerboard(across)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8" grpId="0"/>
      <p:bldP spid="8" grpId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EA84C5-4773-CA90-5E91-5C1DC608E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00BF0E-2816-34C5-2E71-B01AFC6535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 dirty="0"/>
              <a:t>Partial Order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662F4B8D-A098-D4A4-D00D-141FF0CFF538}"/>
              </a:ext>
            </a:extLst>
          </p:cNvPr>
          <p:cNvSpPr/>
          <p:nvPr/>
        </p:nvSpPr>
        <p:spPr>
          <a:xfrm>
            <a:off x="2932294" y="3469423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7E1650D4-C828-11C3-5124-E1B1F71E6286}"/>
              </a:ext>
            </a:extLst>
          </p:cNvPr>
          <p:cNvSpPr/>
          <p:nvPr/>
        </p:nvSpPr>
        <p:spPr>
          <a:xfrm>
            <a:off x="5405863" y="5350218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49FB8A57-78FC-6B82-D967-E7AEAC2EBE4E}"/>
              </a:ext>
            </a:extLst>
          </p:cNvPr>
          <p:cNvSpPr/>
          <p:nvPr/>
        </p:nvSpPr>
        <p:spPr>
          <a:xfrm>
            <a:off x="8117613" y="3531268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4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634F248-C97A-C553-89CF-1A7885000D8E}"/>
              </a:ext>
            </a:extLst>
          </p:cNvPr>
          <p:cNvSpPr/>
          <p:nvPr/>
        </p:nvSpPr>
        <p:spPr>
          <a:xfrm>
            <a:off x="5517700" y="1542581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6C5C93A-786B-532B-8C64-C22A8692C23D}"/>
              </a:ext>
            </a:extLst>
          </p:cNvPr>
          <p:cNvCxnSpPr>
            <a:cxnSpLocks/>
            <a:stCxn id="4" idx="5"/>
            <a:endCxn id="7" idx="5"/>
          </p:cNvCxnSpPr>
          <p:nvPr/>
        </p:nvCxnSpPr>
        <p:spPr>
          <a:xfrm flipV="1">
            <a:off x="3584131" y="2193541"/>
            <a:ext cx="2585406" cy="1926842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75AA5F27-EE0A-D38F-2F7B-1E3CA5B52984}"/>
              </a:ext>
            </a:extLst>
          </p:cNvPr>
          <p:cNvCxnSpPr>
            <a:cxnSpLocks/>
            <a:stCxn id="5" idx="5"/>
            <a:endCxn id="6" idx="5"/>
          </p:cNvCxnSpPr>
          <p:nvPr/>
        </p:nvCxnSpPr>
        <p:spPr>
          <a:xfrm flipV="1">
            <a:off x="6057700" y="4182228"/>
            <a:ext cx="2711750" cy="1818950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33A4665-6C42-76E0-3852-C52534A8355A}"/>
              </a:ext>
            </a:extLst>
          </p:cNvPr>
          <p:cNvCxnSpPr>
            <a:cxnSpLocks/>
            <a:stCxn id="7" idx="7"/>
            <a:endCxn id="6" idx="7"/>
          </p:cNvCxnSpPr>
          <p:nvPr/>
        </p:nvCxnSpPr>
        <p:spPr>
          <a:xfrm>
            <a:off x="6169537" y="1654268"/>
            <a:ext cx="2599913" cy="1988687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B03D666F-F5F3-E355-A640-02D695708963}"/>
              </a:ext>
            </a:extLst>
          </p:cNvPr>
          <p:cNvCxnSpPr>
            <a:cxnSpLocks/>
            <a:stCxn id="4" idx="3"/>
            <a:endCxn id="5" idx="3"/>
          </p:cNvCxnSpPr>
          <p:nvPr/>
        </p:nvCxnSpPr>
        <p:spPr>
          <a:xfrm>
            <a:off x="3044131" y="4120383"/>
            <a:ext cx="2473569" cy="1880795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F32EA109-0426-72E5-44F0-0AB5738CB7F0}"/>
              </a:ext>
            </a:extLst>
          </p:cNvPr>
          <p:cNvCxnSpPr>
            <a:cxnSpLocks/>
            <a:stCxn id="4" idx="0"/>
            <a:endCxn id="6" idx="0"/>
          </p:cNvCxnSpPr>
          <p:nvPr/>
        </p:nvCxnSpPr>
        <p:spPr>
          <a:xfrm>
            <a:off x="3314131" y="3469423"/>
            <a:ext cx="5185319" cy="61845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F4B671ED-B6B5-0D41-D552-BDE613EB001B}"/>
              </a:ext>
            </a:extLst>
          </p:cNvPr>
          <p:cNvCxnSpPr>
            <a:cxnSpLocks/>
            <a:stCxn id="7" idx="6"/>
            <a:endCxn id="5" idx="6"/>
          </p:cNvCxnSpPr>
          <p:nvPr/>
        </p:nvCxnSpPr>
        <p:spPr>
          <a:xfrm flipH="1">
            <a:off x="6169537" y="1923905"/>
            <a:ext cx="111837" cy="3807637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7BF9ECC9-D651-F5CC-B184-0CAEAF918078}"/>
              </a:ext>
            </a:extLst>
          </p:cNvPr>
          <p:cNvSpPr txBox="1"/>
          <p:nvPr/>
        </p:nvSpPr>
        <p:spPr>
          <a:xfrm>
            <a:off x="6891558" y="301340"/>
            <a:ext cx="5429501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With </a:t>
            </a: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Guassian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 distributions, there will be no cycles in the resultant graph.</a:t>
            </a:r>
            <a:b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b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4EA72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Topo. Ordering of this graph is our ordering of interest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E58B240-6CC7-1EAC-6403-9CBD3902B39E}"/>
              </a:ext>
            </a:extLst>
          </p:cNvPr>
          <p:cNvSpPr txBox="1"/>
          <p:nvPr/>
        </p:nvSpPr>
        <p:spPr>
          <a:xfrm>
            <a:off x="91199" y="5060780"/>
            <a:ext cx="54295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But which topological ordering?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4EA72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FE9172A-4F32-D06F-E51E-DF840B26CAFE}"/>
              </a:ext>
            </a:extLst>
          </p:cNvPr>
          <p:cNvSpPr txBox="1"/>
          <p:nvPr/>
        </p:nvSpPr>
        <p:spPr>
          <a:xfrm>
            <a:off x="88199" y="5492589"/>
            <a:ext cx="542950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Usually, multiple orderings are </a:t>
            </a:r>
            <a:b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possible.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4EA72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408C0E1-FFD1-D3FE-ED1E-88322A563474}"/>
              </a:ext>
            </a:extLst>
          </p:cNvPr>
          <p:cNvSpPr txBox="1"/>
          <p:nvPr/>
        </p:nvSpPr>
        <p:spPr>
          <a:xfrm>
            <a:off x="7469493" y="5060780"/>
            <a:ext cx="54295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But not in our case.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4EA72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90E5565-E75F-98D0-0419-EB0C65FF11B6}"/>
              </a:ext>
            </a:extLst>
          </p:cNvPr>
          <p:cNvSpPr txBox="1"/>
          <p:nvPr/>
        </p:nvSpPr>
        <p:spPr>
          <a:xfrm>
            <a:off x="7469492" y="5458313"/>
            <a:ext cx="542950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Our resultant graph is a transitive tournament.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4EA72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D252787D-FD60-45FE-59E4-A1AC460B655F}"/>
              </a:ext>
            </a:extLst>
          </p:cNvPr>
          <p:cNvSpPr/>
          <p:nvPr/>
        </p:nvSpPr>
        <p:spPr>
          <a:xfrm>
            <a:off x="4274972" y="-248312"/>
            <a:ext cx="2997621" cy="790260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42688154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12" grpId="0"/>
      <p:bldP spid="14" grpId="0"/>
      <p:bldP spid="15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ACC065-27BD-1AD0-487F-E7583C0BBC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9EACE8-FD69-DD5C-74EE-422013E8B1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 dirty="0"/>
              <a:t>Partial Order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FA388162-A9E7-878F-76D7-A34477025185}"/>
              </a:ext>
            </a:extLst>
          </p:cNvPr>
          <p:cNvSpPr/>
          <p:nvPr/>
        </p:nvSpPr>
        <p:spPr>
          <a:xfrm>
            <a:off x="2112897" y="2648611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2EE854E1-072C-2508-C531-A8558F528C90}"/>
              </a:ext>
            </a:extLst>
          </p:cNvPr>
          <p:cNvSpPr/>
          <p:nvPr/>
        </p:nvSpPr>
        <p:spPr>
          <a:xfrm>
            <a:off x="6165433" y="2645917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F15EADCA-E26F-8D47-E1B5-E5DCAD607758}"/>
              </a:ext>
            </a:extLst>
          </p:cNvPr>
          <p:cNvSpPr/>
          <p:nvPr/>
        </p:nvSpPr>
        <p:spPr>
          <a:xfrm>
            <a:off x="8113958" y="2645917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4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3E788875-916E-D928-50E5-E1C6D4DC53B6}"/>
              </a:ext>
            </a:extLst>
          </p:cNvPr>
          <p:cNvSpPr/>
          <p:nvPr/>
        </p:nvSpPr>
        <p:spPr>
          <a:xfrm>
            <a:off x="3835071" y="2633256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C8F48F66-B90B-2690-B1B4-84E9D882F53C}"/>
              </a:ext>
            </a:extLst>
          </p:cNvPr>
          <p:cNvCxnSpPr>
            <a:cxnSpLocks/>
            <a:stCxn id="4" idx="5"/>
            <a:endCxn id="7" idx="5"/>
          </p:cNvCxnSpPr>
          <p:nvPr/>
        </p:nvCxnSpPr>
        <p:spPr>
          <a:xfrm flipV="1">
            <a:off x="2764734" y="3284216"/>
            <a:ext cx="1722174" cy="15355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5EA24C9-8EBA-32D2-FA65-499F49D94EB1}"/>
              </a:ext>
            </a:extLst>
          </p:cNvPr>
          <p:cNvCxnSpPr>
            <a:cxnSpLocks/>
            <a:stCxn id="5" idx="5"/>
            <a:endCxn id="6" idx="5"/>
          </p:cNvCxnSpPr>
          <p:nvPr/>
        </p:nvCxnSpPr>
        <p:spPr>
          <a:xfrm>
            <a:off x="6817270" y="3296877"/>
            <a:ext cx="1948525" cy="0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4B2047E7-8D21-D929-946B-CAD3EA756E32}"/>
              </a:ext>
            </a:extLst>
          </p:cNvPr>
          <p:cNvCxnSpPr>
            <a:cxnSpLocks/>
            <a:stCxn id="7" idx="7"/>
            <a:endCxn id="6" idx="7"/>
          </p:cNvCxnSpPr>
          <p:nvPr/>
        </p:nvCxnSpPr>
        <p:spPr>
          <a:xfrm>
            <a:off x="4486908" y="2744943"/>
            <a:ext cx="4278887" cy="12661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53CDD9E3-96BA-AE03-E42E-59B8A749AC2B}"/>
              </a:ext>
            </a:extLst>
          </p:cNvPr>
          <p:cNvCxnSpPr>
            <a:cxnSpLocks/>
            <a:stCxn id="4" idx="3"/>
            <a:endCxn id="5" idx="3"/>
          </p:cNvCxnSpPr>
          <p:nvPr/>
        </p:nvCxnSpPr>
        <p:spPr>
          <a:xfrm flipV="1">
            <a:off x="2224734" y="3296877"/>
            <a:ext cx="4052536" cy="2694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4B85FBFD-0776-D864-F74B-8450481DEECD}"/>
              </a:ext>
            </a:extLst>
          </p:cNvPr>
          <p:cNvCxnSpPr>
            <a:cxnSpLocks/>
            <a:stCxn id="4" idx="0"/>
            <a:endCxn id="6" idx="0"/>
          </p:cNvCxnSpPr>
          <p:nvPr/>
        </p:nvCxnSpPr>
        <p:spPr>
          <a:xfrm flipV="1">
            <a:off x="2494734" y="2645917"/>
            <a:ext cx="6001061" cy="2694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3DEC324F-7F6F-BE75-D2E8-37EE14E4DD9D}"/>
              </a:ext>
            </a:extLst>
          </p:cNvPr>
          <p:cNvCxnSpPr>
            <a:cxnSpLocks/>
            <a:stCxn id="7" idx="6"/>
            <a:endCxn id="5" idx="6"/>
          </p:cNvCxnSpPr>
          <p:nvPr/>
        </p:nvCxnSpPr>
        <p:spPr>
          <a:xfrm>
            <a:off x="4598745" y="3014580"/>
            <a:ext cx="2330362" cy="12661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1D28BF55-AA70-16FF-CE12-C0E3CB97855F}"/>
              </a:ext>
            </a:extLst>
          </p:cNvPr>
          <p:cNvSpPr txBox="1"/>
          <p:nvPr/>
        </p:nvSpPr>
        <p:spPr>
          <a:xfrm>
            <a:off x="2962692" y="3945144"/>
            <a:ext cx="542950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4EA72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A transitive tournament has a unique Hamiltonian Path.</a:t>
            </a:r>
            <a:r>
              <a:rPr kumimoji="0" lang="en-US" sz="2800" b="0" i="0" u="none" strike="noStrike" kern="1200" cap="none" spc="0" normalizeH="0" baseline="30000" noProof="0" dirty="0">
                <a:ln>
                  <a:noFill/>
                </a:ln>
                <a:solidFill>
                  <a:srgbClr val="4EA72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[2]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5699BA1-A75E-97BB-F976-1271956C1420}"/>
              </a:ext>
            </a:extLst>
          </p:cNvPr>
          <p:cNvSpPr txBox="1"/>
          <p:nvPr/>
        </p:nvSpPr>
        <p:spPr>
          <a:xfrm>
            <a:off x="9122070" y="6598364"/>
            <a:ext cx="316144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hlinkClick r:id="" action="ppaction://noaction"/>
              </a:rPr>
              <a:t>[2] About the number of directed paths in tournaments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78B57147-1BD1-A112-6701-90E29508CD30}"/>
              </a:ext>
            </a:extLst>
          </p:cNvPr>
          <p:cNvSpPr/>
          <p:nvPr/>
        </p:nvSpPr>
        <p:spPr>
          <a:xfrm>
            <a:off x="4274972" y="-248312"/>
            <a:ext cx="2997621" cy="790260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68948932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7FE824-AA6E-A945-BFDA-D9AFD84127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24B173-3DFE-A734-2657-07FB89DFFF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 dirty="0"/>
              <a:t>Partial Order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BA7DD9C2-0CF3-6B3F-4614-D4C05F8E7323}"/>
              </a:ext>
            </a:extLst>
          </p:cNvPr>
          <p:cNvSpPr/>
          <p:nvPr/>
        </p:nvSpPr>
        <p:spPr>
          <a:xfrm>
            <a:off x="6404711" y="1309363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4FBF75F5-CCF8-3DEA-E1BE-4C882E1F406D}"/>
              </a:ext>
            </a:extLst>
          </p:cNvPr>
          <p:cNvSpPr/>
          <p:nvPr/>
        </p:nvSpPr>
        <p:spPr>
          <a:xfrm>
            <a:off x="9498747" y="1309365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81FB54E7-710B-205D-67B3-B4F97652D284}"/>
              </a:ext>
            </a:extLst>
          </p:cNvPr>
          <p:cNvSpPr/>
          <p:nvPr/>
        </p:nvSpPr>
        <p:spPr>
          <a:xfrm>
            <a:off x="11065435" y="1309364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4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3EEF68D9-E97D-BE93-D319-71EFD7F16EF9}"/>
              </a:ext>
            </a:extLst>
          </p:cNvPr>
          <p:cNvSpPr/>
          <p:nvPr/>
        </p:nvSpPr>
        <p:spPr>
          <a:xfrm>
            <a:off x="7932059" y="1309365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5AB170B-A307-199B-E0FB-40606E97CB10}"/>
              </a:ext>
            </a:extLst>
          </p:cNvPr>
          <p:cNvCxnSpPr>
            <a:cxnSpLocks/>
            <a:stCxn id="5" idx="6"/>
            <a:endCxn id="6" idx="2"/>
          </p:cNvCxnSpPr>
          <p:nvPr/>
        </p:nvCxnSpPr>
        <p:spPr>
          <a:xfrm flipV="1">
            <a:off x="10262421" y="1690688"/>
            <a:ext cx="803014" cy="1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948ADF10-A760-0E40-0188-C8591223C521}"/>
              </a:ext>
            </a:extLst>
          </p:cNvPr>
          <p:cNvCxnSpPr>
            <a:cxnSpLocks/>
            <a:stCxn id="4" idx="6"/>
            <a:endCxn id="7" idx="2"/>
          </p:cNvCxnSpPr>
          <p:nvPr/>
        </p:nvCxnSpPr>
        <p:spPr>
          <a:xfrm>
            <a:off x="7168385" y="1690687"/>
            <a:ext cx="763674" cy="2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05F29483-6694-B9C7-E7D9-C0E327DF6AE8}"/>
              </a:ext>
            </a:extLst>
          </p:cNvPr>
          <p:cNvCxnSpPr>
            <a:cxnSpLocks/>
            <a:stCxn id="7" idx="6"/>
            <a:endCxn id="5" idx="2"/>
          </p:cNvCxnSpPr>
          <p:nvPr/>
        </p:nvCxnSpPr>
        <p:spPr>
          <a:xfrm>
            <a:off x="8695733" y="1690689"/>
            <a:ext cx="803014" cy="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27D81E33-2B87-6BAA-A3F2-84D22D125B61}"/>
              </a:ext>
            </a:extLst>
          </p:cNvPr>
          <p:cNvSpPr txBox="1"/>
          <p:nvPr/>
        </p:nvSpPr>
        <p:spPr>
          <a:xfrm>
            <a:off x="838200" y="2342538"/>
            <a:ext cx="761208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But what about intransitivity?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103D682-7C9E-BD14-3BFE-5000C3643724}"/>
              </a:ext>
            </a:extLst>
          </p:cNvPr>
          <p:cNvSpPr txBox="1"/>
          <p:nvPr/>
        </p:nvSpPr>
        <p:spPr>
          <a:xfrm>
            <a:off x="838199" y="3294248"/>
            <a:ext cx="895894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Ordering probabilities may not be transitive, depending on the clock offset distributions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B6E4BD8-3592-122B-B45A-29F4D47B8C31}"/>
              </a:ext>
            </a:extLst>
          </p:cNvPr>
          <p:cNvSpPr txBox="1"/>
          <p:nvPr/>
        </p:nvSpPr>
        <p:spPr>
          <a:xfrm>
            <a:off x="838200" y="4674843"/>
            <a:ext cx="895894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Such intransitivity could lead to cycles in our resultant graph.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8A69A073-B50F-C73A-318E-6A897F6F46B3}"/>
              </a:ext>
            </a:extLst>
          </p:cNvPr>
          <p:cNvSpPr/>
          <p:nvPr/>
        </p:nvSpPr>
        <p:spPr>
          <a:xfrm>
            <a:off x="4274972" y="-248312"/>
            <a:ext cx="2997621" cy="790260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461998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  <p:bldP spid="19" grpId="0"/>
      <p:bldP spid="20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A88879-52D7-697E-01A4-305B5968D1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58F7D1-A672-40A8-EB73-68B3993B79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 dirty="0"/>
              <a:t>Partial Order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0BABE0E8-C9E0-7ECA-F8E4-2EFF058DA81A}"/>
              </a:ext>
            </a:extLst>
          </p:cNvPr>
          <p:cNvSpPr/>
          <p:nvPr/>
        </p:nvSpPr>
        <p:spPr>
          <a:xfrm>
            <a:off x="2925241" y="3185664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DC1E60FA-01D9-A983-0B67-CDC337765100}"/>
              </a:ext>
            </a:extLst>
          </p:cNvPr>
          <p:cNvSpPr/>
          <p:nvPr/>
        </p:nvSpPr>
        <p:spPr>
          <a:xfrm>
            <a:off x="6019277" y="3185666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D25A1771-1051-08E3-52F8-805FD45A3A45}"/>
              </a:ext>
            </a:extLst>
          </p:cNvPr>
          <p:cNvSpPr/>
          <p:nvPr/>
        </p:nvSpPr>
        <p:spPr>
          <a:xfrm>
            <a:off x="7585965" y="3185665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4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9C45327-641D-4332-B677-AAD66B778177}"/>
              </a:ext>
            </a:extLst>
          </p:cNvPr>
          <p:cNvSpPr/>
          <p:nvPr/>
        </p:nvSpPr>
        <p:spPr>
          <a:xfrm>
            <a:off x="4452589" y="3185666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EBDEACA2-D36C-8CFA-12EE-8B126F08B7CB}"/>
              </a:ext>
            </a:extLst>
          </p:cNvPr>
          <p:cNvCxnSpPr>
            <a:cxnSpLocks/>
            <a:stCxn id="5" idx="6"/>
            <a:endCxn id="6" idx="2"/>
          </p:cNvCxnSpPr>
          <p:nvPr/>
        </p:nvCxnSpPr>
        <p:spPr>
          <a:xfrm flipV="1">
            <a:off x="6782951" y="3566989"/>
            <a:ext cx="803014" cy="1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1C16424D-11E6-E78D-2AFA-2CA42B643A6F}"/>
              </a:ext>
            </a:extLst>
          </p:cNvPr>
          <p:cNvCxnSpPr>
            <a:cxnSpLocks/>
            <a:stCxn id="4" idx="6"/>
            <a:endCxn id="7" idx="2"/>
          </p:cNvCxnSpPr>
          <p:nvPr/>
        </p:nvCxnSpPr>
        <p:spPr>
          <a:xfrm>
            <a:off x="3688915" y="3566988"/>
            <a:ext cx="763674" cy="2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75061540-7EA1-03B9-9E3B-E5EC82B8C40D}"/>
              </a:ext>
            </a:extLst>
          </p:cNvPr>
          <p:cNvCxnSpPr>
            <a:cxnSpLocks/>
            <a:stCxn id="7" idx="6"/>
            <a:endCxn id="5" idx="2"/>
          </p:cNvCxnSpPr>
          <p:nvPr/>
        </p:nvCxnSpPr>
        <p:spPr>
          <a:xfrm>
            <a:off x="5216263" y="3566990"/>
            <a:ext cx="803014" cy="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urved Connector 8">
            <a:extLst>
              <a:ext uri="{FF2B5EF4-FFF2-40B4-BE49-F238E27FC236}">
                <a16:creationId xmlns:a16="http://schemas.microsoft.com/office/drawing/2014/main" id="{DD891C12-267E-7E93-26D0-83D2FB536C0E}"/>
              </a:ext>
            </a:extLst>
          </p:cNvPr>
          <p:cNvCxnSpPr>
            <a:cxnSpLocks/>
            <a:stCxn id="5" idx="4"/>
            <a:endCxn id="4" idx="4"/>
          </p:cNvCxnSpPr>
          <p:nvPr/>
        </p:nvCxnSpPr>
        <p:spPr>
          <a:xfrm rot="5400000" flipH="1">
            <a:off x="4854095" y="2401294"/>
            <a:ext cx="2" cy="3094036"/>
          </a:xfrm>
          <a:prstGeom prst="curvedConnector3">
            <a:avLst>
              <a:gd name="adj1" fmla="val -11430000000"/>
            </a:avLst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6A17B49E-A2C6-C8C9-8451-4472CD986B86}"/>
              </a:ext>
            </a:extLst>
          </p:cNvPr>
          <p:cNvSpPr txBox="1"/>
          <p:nvPr/>
        </p:nvSpPr>
        <p:spPr>
          <a:xfrm>
            <a:off x="2704986" y="4520464"/>
            <a:ext cx="895894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No Topological Ordering Possible.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B41B126E-3239-49FB-C47B-9D3C2820ACFA}"/>
              </a:ext>
            </a:extLst>
          </p:cNvPr>
          <p:cNvSpPr/>
          <p:nvPr/>
        </p:nvSpPr>
        <p:spPr>
          <a:xfrm>
            <a:off x="4274972" y="-248312"/>
            <a:ext cx="2997621" cy="790260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1583246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09B8AAD0-B869-3ADD-3F34-59C18309F1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1B41EC-BE26-DE70-A688-EC2543596B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 dirty="0"/>
              <a:t>Partial Order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5C0044E0-CEBA-167A-EF04-985D759298BB}"/>
              </a:ext>
            </a:extLst>
          </p:cNvPr>
          <p:cNvSpPr/>
          <p:nvPr/>
        </p:nvSpPr>
        <p:spPr>
          <a:xfrm>
            <a:off x="6226582" y="1309363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BB4AF84D-C80A-C8EA-2213-9A1923178FA4}"/>
              </a:ext>
            </a:extLst>
          </p:cNvPr>
          <p:cNvSpPr/>
          <p:nvPr/>
        </p:nvSpPr>
        <p:spPr>
          <a:xfrm>
            <a:off x="9320618" y="1309365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148299E1-7840-58D5-4CFB-AA48F488FAF2}"/>
              </a:ext>
            </a:extLst>
          </p:cNvPr>
          <p:cNvSpPr/>
          <p:nvPr/>
        </p:nvSpPr>
        <p:spPr>
          <a:xfrm>
            <a:off x="10887306" y="1309364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4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5D5D04CC-75A6-7FF8-2D37-FBE958FAD34C}"/>
              </a:ext>
            </a:extLst>
          </p:cNvPr>
          <p:cNvSpPr/>
          <p:nvPr/>
        </p:nvSpPr>
        <p:spPr>
          <a:xfrm>
            <a:off x="7753930" y="1309365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D212527F-6C40-94A2-32A9-79515410616F}"/>
              </a:ext>
            </a:extLst>
          </p:cNvPr>
          <p:cNvCxnSpPr>
            <a:cxnSpLocks/>
            <a:stCxn id="5" idx="6"/>
            <a:endCxn id="6" idx="2"/>
          </p:cNvCxnSpPr>
          <p:nvPr/>
        </p:nvCxnSpPr>
        <p:spPr>
          <a:xfrm flipV="1">
            <a:off x="10084292" y="1690688"/>
            <a:ext cx="803014" cy="1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748DED78-11E0-7AAC-7F79-A2726DD1AD16}"/>
              </a:ext>
            </a:extLst>
          </p:cNvPr>
          <p:cNvCxnSpPr>
            <a:cxnSpLocks/>
            <a:stCxn id="4" idx="6"/>
            <a:endCxn id="7" idx="2"/>
          </p:cNvCxnSpPr>
          <p:nvPr/>
        </p:nvCxnSpPr>
        <p:spPr>
          <a:xfrm>
            <a:off x="6990256" y="1690687"/>
            <a:ext cx="763674" cy="2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13B37309-B728-EA42-D73C-1F47AE6740C3}"/>
              </a:ext>
            </a:extLst>
          </p:cNvPr>
          <p:cNvCxnSpPr>
            <a:cxnSpLocks/>
            <a:stCxn id="7" idx="6"/>
            <a:endCxn id="5" idx="2"/>
          </p:cNvCxnSpPr>
          <p:nvPr/>
        </p:nvCxnSpPr>
        <p:spPr>
          <a:xfrm>
            <a:off x="8517604" y="1690689"/>
            <a:ext cx="803014" cy="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urved Connector 8">
            <a:extLst>
              <a:ext uri="{FF2B5EF4-FFF2-40B4-BE49-F238E27FC236}">
                <a16:creationId xmlns:a16="http://schemas.microsoft.com/office/drawing/2014/main" id="{C2789429-D8FF-1B5D-3544-82E7A24D6BE0}"/>
              </a:ext>
            </a:extLst>
          </p:cNvPr>
          <p:cNvCxnSpPr>
            <a:cxnSpLocks/>
            <a:stCxn id="5" idx="4"/>
            <a:endCxn id="4" idx="4"/>
          </p:cNvCxnSpPr>
          <p:nvPr/>
        </p:nvCxnSpPr>
        <p:spPr>
          <a:xfrm rot="5400000" flipH="1">
            <a:off x="8155436" y="524993"/>
            <a:ext cx="2" cy="3094036"/>
          </a:xfrm>
          <a:prstGeom prst="curvedConnector3">
            <a:avLst>
              <a:gd name="adj1" fmla="val -11430000000"/>
            </a:avLst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231C651B-4001-8238-AAC6-54D127CC76D4}"/>
              </a:ext>
            </a:extLst>
          </p:cNvPr>
          <p:cNvSpPr txBox="1"/>
          <p:nvPr/>
        </p:nvSpPr>
        <p:spPr>
          <a:xfrm>
            <a:off x="743512" y="2844225"/>
            <a:ext cx="895894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One direction could be to remove enough edges to make the graph acyclic.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A880C4F-1055-320B-F443-D9ADA50B1E02}"/>
              </a:ext>
            </a:extLst>
          </p:cNvPr>
          <p:cNvSpPr txBox="1"/>
          <p:nvPr/>
        </p:nvSpPr>
        <p:spPr>
          <a:xfrm>
            <a:off x="743511" y="3997762"/>
            <a:ext cx="895894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Clearly unfair towards some clients/messages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3B5DB43-8777-BF94-D683-C86523702270}"/>
              </a:ext>
            </a:extLst>
          </p:cNvPr>
          <p:cNvSpPr txBox="1"/>
          <p:nvPr/>
        </p:nvSpPr>
        <p:spPr>
          <a:xfrm>
            <a:off x="743510" y="4658856"/>
            <a:ext cx="895894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Every time we process a set of messages, remove edges in a way that fairness is achieved over sufficiently long time 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itchFamily="2" charset="2"/>
              </a:rPr>
              <a:t> Stochastic Fairness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1672CA94-6E29-4F08-30D1-F8A9050BE8E1}"/>
              </a:ext>
            </a:extLst>
          </p:cNvPr>
          <p:cNvSpPr/>
          <p:nvPr/>
        </p:nvSpPr>
        <p:spPr>
          <a:xfrm>
            <a:off x="4274972" y="-248312"/>
            <a:ext cx="2997621" cy="790260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7196780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1" grpId="0"/>
      <p:bldP spid="12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8F30CA7-EDD0-2BD7-6A9B-7B1916E198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9D30F9-A654-7EEF-6B83-4978AB3861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 dirty="0"/>
              <a:t>Partial Order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4C3EB426-F6F5-AB19-EC28-11D793499DAE}"/>
              </a:ext>
            </a:extLst>
          </p:cNvPr>
          <p:cNvSpPr/>
          <p:nvPr/>
        </p:nvSpPr>
        <p:spPr>
          <a:xfrm>
            <a:off x="6226582" y="1309363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919FD2E6-097B-A751-1866-682A3C1A4342}"/>
              </a:ext>
            </a:extLst>
          </p:cNvPr>
          <p:cNvSpPr/>
          <p:nvPr/>
        </p:nvSpPr>
        <p:spPr>
          <a:xfrm>
            <a:off x="9320618" y="1309365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A1513F78-D4D6-B4D2-B890-91728426EF64}"/>
              </a:ext>
            </a:extLst>
          </p:cNvPr>
          <p:cNvSpPr/>
          <p:nvPr/>
        </p:nvSpPr>
        <p:spPr>
          <a:xfrm>
            <a:off x="10887306" y="1309364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4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DFFE08BC-BBDC-7743-E762-BB31359E9600}"/>
              </a:ext>
            </a:extLst>
          </p:cNvPr>
          <p:cNvSpPr/>
          <p:nvPr/>
        </p:nvSpPr>
        <p:spPr>
          <a:xfrm>
            <a:off x="7753930" y="1309365"/>
            <a:ext cx="763674" cy="762647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F3B06C19-CA4F-5442-EC1F-73FCC3CC7B99}"/>
              </a:ext>
            </a:extLst>
          </p:cNvPr>
          <p:cNvCxnSpPr>
            <a:cxnSpLocks/>
            <a:stCxn id="5" idx="6"/>
            <a:endCxn id="6" idx="2"/>
          </p:cNvCxnSpPr>
          <p:nvPr/>
        </p:nvCxnSpPr>
        <p:spPr>
          <a:xfrm flipV="1">
            <a:off x="10084292" y="1690688"/>
            <a:ext cx="803014" cy="1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37755E0A-B445-0963-DF11-C9E3EF70A78A}"/>
              </a:ext>
            </a:extLst>
          </p:cNvPr>
          <p:cNvCxnSpPr>
            <a:cxnSpLocks/>
            <a:stCxn id="4" idx="6"/>
            <a:endCxn id="7" idx="2"/>
          </p:cNvCxnSpPr>
          <p:nvPr/>
        </p:nvCxnSpPr>
        <p:spPr>
          <a:xfrm>
            <a:off x="6990256" y="1690687"/>
            <a:ext cx="763674" cy="2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93C2C692-7F67-A97C-81E1-FFBBA5ADDFC0}"/>
              </a:ext>
            </a:extLst>
          </p:cNvPr>
          <p:cNvCxnSpPr>
            <a:cxnSpLocks/>
            <a:stCxn id="7" idx="6"/>
            <a:endCxn id="5" idx="2"/>
          </p:cNvCxnSpPr>
          <p:nvPr/>
        </p:nvCxnSpPr>
        <p:spPr>
          <a:xfrm>
            <a:off x="8517604" y="1690689"/>
            <a:ext cx="803014" cy="0"/>
          </a:xfrm>
          <a:prstGeom prst="straightConnector1">
            <a:avLst/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urved Connector 8">
            <a:extLst>
              <a:ext uri="{FF2B5EF4-FFF2-40B4-BE49-F238E27FC236}">
                <a16:creationId xmlns:a16="http://schemas.microsoft.com/office/drawing/2014/main" id="{7A5F059D-D05A-EBBF-8781-2054B3A85892}"/>
              </a:ext>
            </a:extLst>
          </p:cNvPr>
          <p:cNvCxnSpPr>
            <a:cxnSpLocks/>
            <a:stCxn id="5" idx="4"/>
            <a:endCxn id="4" idx="4"/>
          </p:cNvCxnSpPr>
          <p:nvPr/>
        </p:nvCxnSpPr>
        <p:spPr>
          <a:xfrm rot="5400000" flipH="1">
            <a:off x="8155436" y="524993"/>
            <a:ext cx="2" cy="3094036"/>
          </a:xfrm>
          <a:prstGeom prst="curvedConnector3">
            <a:avLst>
              <a:gd name="adj1" fmla="val -11430000000"/>
            </a:avLst>
          </a:prstGeom>
          <a:ln w="38100"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42E2307F-C766-54D9-F982-A2549388B6C5}"/>
              </a:ext>
            </a:extLst>
          </p:cNvPr>
          <p:cNvSpPr txBox="1"/>
          <p:nvPr/>
        </p:nvSpPr>
        <p:spPr>
          <a:xfrm>
            <a:off x="743512" y="2844225"/>
            <a:ext cx="895894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E8E8E8">
                    <a:lumMod val="9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One direction could be to remove enough edges to make the graph acyclic.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B4E022B-6112-5F7F-400A-098C3E54F978}"/>
              </a:ext>
            </a:extLst>
          </p:cNvPr>
          <p:cNvSpPr txBox="1"/>
          <p:nvPr/>
        </p:nvSpPr>
        <p:spPr>
          <a:xfrm>
            <a:off x="743511" y="3997762"/>
            <a:ext cx="895894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E8E8E8">
                    <a:lumMod val="9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Clearly unfair towards some clients/messages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F7C6085-3972-8247-87D0-CE09E52F7606}"/>
              </a:ext>
            </a:extLst>
          </p:cNvPr>
          <p:cNvSpPr txBox="1"/>
          <p:nvPr/>
        </p:nvSpPr>
        <p:spPr>
          <a:xfrm>
            <a:off x="743510" y="4658856"/>
            <a:ext cx="895894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E8E8E8">
                    <a:lumMod val="9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Every time we process a set of messages, remove edges in a way that fairness is achieved over sufficiently long time 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E8E8E8">
                    <a:lumMod val="9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  <a:sym typeface="Wingdings" pitchFamily="2" charset="2"/>
              </a:rPr>
              <a:t> Stochastic Fairness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srgbClr val="E8E8E8">
                  <a:lumMod val="90000"/>
                </a:srgbClr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DE900E1A-AC03-E507-C737-831BF573B681}"/>
              </a:ext>
            </a:extLst>
          </p:cNvPr>
          <p:cNvSpPr/>
          <p:nvPr/>
        </p:nvSpPr>
        <p:spPr>
          <a:xfrm>
            <a:off x="1116281" y="3382834"/>
            <a:ext cx="7978706" cy="2058732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Finding smallest set of edges whose removal makes a graph acyclic is an NP-hard problem in itself.</a:t>
            </a:r>
            <a:b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(Minimum Feedback Arc Set)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D05F04FF-AD8A-F415-5F79-F17F8DE710C8}"/>
              </a:ext>
            </a:extLst>
          </p:cNvPr>
          <p:cNvSpPr/>
          <p:nvPr/>
        </p:nvSpPr>
        <p:spPr>
          <a:xfrm>
            <a:off x="4274972" y="-248312"/>
            <a:ext cx="2997621" cy="790260"/>
          </a:xfrm>
          <a:prstGeom prst="ellipse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032042514"/>
      </p:ext>
    </p:extLst>
  </p:cSld>
  <p:clrMapOvr>
    <a:masterClrMapping/>
  </p:clrMapOvr>
  <p:transition spd="slow">
    <p:wipe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44FEAA4-0ABB-6CDE-E02B-EBBEB23615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1F7723-F78D-31CF-CBBC-37248799D1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 dirty="0"/>
              <a:t>Partial Order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74EA76-9806-7F4D-545F-51C55DC600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r>
              <a:rPr lang="en-US" dirty="0"/>
              <a:t>Intransitivity hurts, more research work needed.</a:t>
            </a:r>
          </a:p>
          <a:p>
            <a:r>
              <a:rPr lang="en-US" dirty="0"/>
              <a:t>With transitivity (via Gaussian distributions), we get a unique linear order.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0590CF-563B-22B7-6FD6-8B8BF646F4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699763652"/>
      </p:ext>
    </p:extLst>
  </p:cSld>
  <p:clrMapOvr>
    <a:masterClrMapping/>
  </p:clrMapOvr>
  <p:transition spd="slow">
    <p:pu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7B2FF64-CC92-3895-5D76-8845AEA1A5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19B3AFE-C3B9-F702-09DC-03FB4C988B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/>
              <a:t>Partial Order</a:t>
            </a:r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3F0162-F834-560C-8B72-A512EB3857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r>
              <a:rPr lang="en-US" sz="2200" dirty="0"/>
              <a:t>Once we have a linear ordering, this is not our final ordering yet</a:t>
            </a:r>
          </a:p>
          <a:p>
            <a:r>
              <a:rPr lang="en-US" sz="2200" dirty="0"/>
              <a:t>Some adjacent elements have ordering probability just more than 0.5, some may have closer to 1. So not a good confidence.</a:t>
            </a:r>
          </a:p>
          <a:p>
            <a:r>
              <a:rPr lang="en-US" sz="2200" dirty="0"/>
              <a:t>Make batches of adjacent elements so that all the elements of one batch don’t have good enough probability that they can be ordered confidently</a:t>
            </a:r>
          </a:p>
          <a:p>
            <a:r>
              <a:rPr lang="en-US" sz="2200" dirty="0"/>
              <a:t>Successive batches can be ordered confidently</a:t>
            </a:r>
          </a:p>
          <a:p>
            <a:r>
              <a:rPr lang="en-US" sz="2200" dirty="0"/>
              <a:t>what we now get is a fair partial order.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6BF313-A709-7587-2C64-A8CA97D37A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1200211238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F0DCC097-1DB8-4B6D-85D0-6FBA0E1CA4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E0B58608-23C8-4441-994D-C6823EEE1D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1999" cy="2083506"/>
          </a:xfrm>
          <a:custGeom>
            <a:avLst/>
            <a:gdLst>
              <a:gd name="connsiteX0" fmla="*/ 0 w 12191999"/>
              <a:gd name="connsiteY0" fmla="*/ 0 h 2083506"/>
              <a:gd name="connsiteX1" fmla="*/ 9429748 w 12191999"/>
              <a:gd name="connsiteY1" fmla="*/ 0 h 2083506"/>
              <a:gd name="connsiteX2" fmla="*/ 9429748 w 12191999"/>
              <a:gd name="connsiteY2" fmla="*/ 1 h 2083506"/>
              <a:gd name="connsiteX3" fmla="*/ 12191999 w 12191999"/>
              <a:gd name="connsiteY3" fmla="*/ 1 h 2083506"/>
              <a:gd name="connsiteX4" fmla="*/ 12191999 w 12191999"/>
              <a:gd name="connsiteY4" fmla="*/ 1164372 h 2083506"/>
              <a:gd name="connsiteX5" fmla="*/ 12147852 w 12191999"/>
              <a:gd name="connsiteY5" fmla="*/ 1163783 h 2083506"/>
              <a:gd name="connsiteX6" fmla="*/ 11993604 w 12191999"/>
              <a:gd name="connsiteY6" fmla="*/ 1153496 h 2083506"/>
              <a:gd name="connsiteX7" fmla="*/ 11865319 w 12191999"/>
              <a:gd name="connsiteY7" fmla="*/ 1176624 h 2083506"/>
              <a:gd name="connsiteX8" fmla="*/ 11718353 w 12191999"/>
              <a:gd name="connsiteY8" fmla="*/ 1209136 h 2083506"/>
              <a:gd name="connsiteX9" fmla="*/ 11609067 w 12191999"/>
              <a:gd name="connsiteY9" fmla="*/ 1218512 h 2083506"/>
              <a:gd name="connsiteX10" fmla="*/ 11545958 w 12191999"/>
              <a:gd name="connsiteY10" fmla="*/ 1240430 h 2083506"/>
              <a:gd name="connsiteX11" fmla="*/ 11445770 w 12191999"/>
              <a:gd name="connsiteY11" fmla="*/ 1225780 h 2083506"/>
              <a:gd name="connsiteX12" fmla="*/ 11398842 w 12191999"/>
              <a:gd name="connsiteY12" fmla="*/ 1227250 h 2083506"/>
              <a:gd name="connsiteX13" fmla="*/ 11240093 w 12191999"/>
              <a:gd name="connsiteY13" fmla="*/ 1266797 h 2083506"/>
              <a:gd name="connsiteX14" fmla="*/ 11141364 w 12191999"/>
              <a:gd name="connsiteY14" fmla="*/ 1288059 h 2083506"/>
              <a:gd name="connsiteX15" fmla="*/ 11015396 w 12191999"/>
              <a:gd name="connsiteY15" fmla="*/ 1353104 h 2083506"/>
              <a:gd name="connsiteX16" fmla="*/ 10973905 w 12191999"/>
              <a:gd name="connsiteY16" fmla="*/ 1365109 h 2083506"/>
              <a:gd name="connsiteX17" fmla="*/ 10904858 w 12191999"/>
              <a:gd name="connsiteY17" fmla="*/ 1371966 h 2083506"/>
              <a:gd name="connsiteX18" fmla="*/ 10827883 w 12191999"/>
              <a:gd name="connsiteY18" fmla="*/ 1410270 h 2083506"/>
              <a:gd name="connsiteX19" fmla="*/ 10690996 w 12191999"/>
              <a:gd name="connsiteY19" fmla="*/ 1426394 h 2083506"/>
              <a:gd name="connsiteX20" fmla="*/ 10624461 w 12191999"/>
              <a:gd name="connsiteY20" fmla="*/ 1444283 h 2083506"/>
              <a:gd name="connsiteX21" fmla="*/ 10517208 w 12191999"/>
              <a:gd name="connsiteY21" fmla="*/ 1478947 h 2083506"/>
              <a:gd name="connsiteX22" fmla="*/ 10497937 w 12191999"/>
              <a:gd name="connsiteY22" fmla="*/ 1469831 h 2083506"/>
              <a:gd name="connsiteX23" fmla="*/ 10471201 w 12191999"/>
              <a:gd name="connsiteY23" fmla="*/ 1486037 h 2083506"/>
              <a:gd name="connsiteX24" fmla="*/ 10448263 w 12191999"/>
              <a:gd name="connsiteY24" fmla="*/ 1478223 h 2083506"/>
              <a:gd name="connsiteX25" fmla="*/ 10388089 w 12191999"/>
              <a:gd name="connsiteY25" fmla="*/ 1507175 h 2083506"/>
              <a:gd name="connsiteX26" fmla="*/ 10333720 w 12191999"/>
              <a:gd name="connsiteY26" fmla="*/ 1515848 h 2083506"/>
              <a:gd name="connsiteX27" fmla="*/ 10104338 w 12191999"/>
              <a:gd name="connsiteY27" fmla="*/ 1569424 h 2083506"/>
              <a:gd name="connsiteX28" fmla="*/ 9910445 w 12191999"/>
              <a:gd name="connsiteY28" fmla="*/ 1632275 h 2083506"/>
              <a:gd name="connsiteX29" fmla="*/ 9770872 w 12191999"/>
              <a:gd name="connsiteY29" fmla="*/ 1688088 h 2083506"/>
              <a:gd name="connsiteX30" fmla="*/ 9733849 w 12191999"/>
              <a:gd name="connsiteY30" fmla="*/ 1700034 h 2083506"/>
              <a:gd name="connsiteX31" fmla="*/ 9703714 w 12191999"/>
              <a:gd name="connsiteY31" fmla="*/ 1730093 h 2083506"/>
              <a:gd name="connsiteX32" fmla="*/ 9698351 w 12191999"/>
              <a:gd name="connsiteY32" fmla="*/ 1730377 h 2083506"/>
              <a:gd name="connsiteX33" fmla="*/ 9632895 w 12191999"/>
              <a:gd name="connsiteY33" fmla="*/ 1736363 h 2083506"/>
              <a:gd name="connsiteX34" fmla="*/ 9569107 w 12191999"/>
              <a:gd name="connsiteY34" fmla="*/ 1741010 h 2083506"/>
              <a:gd name="connsiteX35" fmla="*/ 9536451 w 12191999"/>
              <a:gd name="connsiteY35" fmla="*/ 1755120 h 2083506"/>
              <a:gd name="connsiteX36" fmla="*/ 9529385 w 12191999"/>
              <a:gd name="connsiteY36" fmla="*/ 1757515 h 2083506"/>
              <a:gd name="connsiteX37" fmla="*/ 9498527 w 12191999"/>
              <a:gd name="connsiteY37" fmla="*/ 1753117 h 2083506"/>
              <a:gd name="connsiteX38" fmla="*/ 9436642 w 12191999"/>
              <a:gd name="connsiteY38" fmla="*/ 1755478 h 2083506"/>
              <a:gd name="connsiteX39" fmla="*/ 9429748 w 12191999"/>
              <a:gd name="connsiteY39" fmla="*/ 1756317 h 2083506"/>
              <a:gd name="connsiteX40" fmla="*/ 9429748 w 12191999"/>
              <a:gd name="connsiteY40" fmla="*/ 1768745 h 2083506"/>
              <a:gd name="connsiteX41" fmla="*/ 9425802 w 12191999"/>
              <a:gd name="connsiteY41" fmla="*/ 1769273 h 2083506"/>
              <a:gd name="connsiteX42" fmla="*/ 9349763 w 12191999"/>
              <a:gd name="connsiteY42" fmla="*/ 1776107 h 2083506"/>
              <a:gd name="connsiteX43" fmla="*/ 9256503 w 12191999"/>
              <a:gd name="connsiteY43" fmla="*/ 1800699 h 2083506"/>
              <a:gd name="connsiteX44" fmla="*/ 9222873 w 12191999"/>
              <a:gd name="connsiteY44" fmla="*/ 1803003 h 2083506"/>
              <a:gd name="connsiteX45" fmla="*/ 9224095 w 12191999"/>
              <a:gd name="connsiteY45" fmla="*/ 1807355 h 2083506"/>
              <a:gd name="connsiteX46" fmla="*/ 9211603 w 12191999"/>
              <a:gd name="connsiteY46" fmla="*/ 1807675 h 2083506"/>
              <a:gd name="connsiteX47" fmla="*/ 9183719 w 12191999"/>
              <a:gd name="connsiteY47" fmla="*/ 1807781 h 2083506"/>
              <a:gd name="connsiteX48" fmla="*/ 9100221 w 12191999"/>
              <a:gd name="connsiteY48" fmla="*/ 1808989 h 2083506"/>
              <a:gd name="connsiteX49" fmla="*/ 9077439 w 12191999"/>
              <a:gd name="connsiteY49" fmla="*/ 1817333 h 2083506"/>
              <a:gd name="connsiteX50" fmla="*/ 9055889 w 12191999"/>
              <a:gd name="connsiteY50" fmla="*/ 1817464 h 2083506"/>
              <a:gd name="connsiteX51" fmla="*/ 8930912 w 12191999"/>
              <a:gd name="connsiteY51" fmla="*/ 1828648 h 2083506"/>
              <a:gd name="connsiteX52" fmla="*/ 8913729 w 12191999"/>
              <a:gd name="connsiteY52" fmla="*/ 1829483 h 2083506"/>
              <a:gd name="connsiteX53" fmla="*/ 8904423 w 12191999"/>
              <a:gd name="connsiteY53" fmla="*/ 1833234 h 2083506"/>
              <a:gd name="connsiteX54" fmla="*/ 8871099 w 12191999"/>
              <a:gd name="connsiteY54" fmla="*/ 1833979 h 2083506"/>
              <a:gd name="connsiteX55" fmla="*/ 8869557 w 12191999"/>
              <a:gd name="connsiteY55" fmla="*/ 1836113 h 2083506"/>
              <a:gd name="connsiteX56" fmla="*/ 8760021 w 12191999"/>
              <a:gd name="connsiteY56" fmla="*/ 1854442 h 2083506"/>
              <a:gd name="connsiteX57" fmla="*/ 8741254 w 12191999"/>
              <a:gd name="connsiteY57" fmla="*/ 1857469 h 2083506"/>
              <a:gd name="connsiteX58" fmla="*/ 8725039 w 12191999"/>
              <a:gd name="connsiteY58" fmla="*/ 1856552 h 2083506"/>
              <a:gd name="connsiteX59" fmla="*/ 8635265 w 12191999"/>
              <a:gd name="connsiteY59" fmla="*/ 1859168 h 2083506"/>
              <a:gd name="connsiteX60" fmla="*/ 8613911 w 12191999"/>
              <a:gd name="connsiteY60" fmla="*/ 1857561 h 2083506"/>
              <a:gd name="connsiteX61" fmla="*/ 8604931 w 12191999"/>
              <a:gd name="connsiteY61" fmla="*/ 1854170 h 2083506"/>
              <a:gd name="connsiteX62" fmla="*/ 8570171 w 12191999"/>
              <a:gd name="connsiteY62" fmla="*/ 1860579 h 2083506"/>
              <a:gd name="connsiteX63" fmla="*/ 8516537 w 12191999"/>
              <a:gd name="connsiteY63" fmla="*/ 1864971 h 2083506"/>
              <a:gd name="connsiteX64" fmla="*/ 8491046 w 12191999"/>
              <a:gd name="connsiteY64" fmla="*/ 1868141 h 2083506"/>
              <a:gd name="connsiteX65" fmla="*/ 8470478 w 12191999"/>
              <a:gd name="connsiteY65" fmla="*/ 1866216 h 2083506"/>
              <a:gd name="connsiteX66" fmla="*/ 8353433 w 12191999"/>
              <a:gd name="connsiteY66" fmla="*/ 1865729 h 2083506"/>
              <a:gd name="connsiteX67" fmla="*/ 8347675 w 12191999"/>
              <a:gd name="connsiteY67" fmla="*/ 1865075 h 2083506"/>
              <a:gd name="connsiteX68" fmla="*/ 8343939 w 12191999"/>
              <a:gd name="connsiteY68" fmla="*/ 1865677 h 2083506"/>
              <a:gd name="connsiteX69" fmla="*/ 8221566 w 12191999"/>
              <a:gd name="connsiteY69" fmla="*/ 1881148 h 2083506"/>
              <a:gd name="connsiteX70" fmla="*/ 8066095 w 12191999"/>
              <a:gd name="connsiteY70" fmla="*/ 1919902 h 2083506"/>
              <a:gd name="connsiteX71" fmla="*/ 8044849 w 12191999"/>
              <a:gd name="connsiteY71" fmla="*/ 1916308 h 2083506"/>
              <a:gd name="connsiteX72" fmla="*/ 8041142 w 12191999"/>
              <a:gd name="connsiteY72" fmla="*/ 1915506 h 2083506"/>
              <a:gd name="connsiteX73" fmla="*/ 8022159 w 12191999"/>
              <a:gd name="connsiteY73" fmla="*/ 1911521 h 2083506"/>
              <a:gd name="connsiteX74" fmla="*/ 7944932 w 12191999"/>
              <a:gd name="connsiteY74" fmla="*/ 1917265 h 2083506"/>
              <a:gd name="connsiteX75" fmla="*/ 7879011 w 12191999"/>
              <a:gd name="connsiteY75" fmla="*/ 1928570 h 2083506"/>
              <a:gd name="connsiteX76" fmla="*/ 7865529 w 12191999"/>
              <a:gd name="connsiteY76" fmla="*/ 1934399 h 2083506"/>
              <a:gd name="connsiteX77" fmla="*/ 7774801 w 12191999"/>
              <a:gd name="connsiteY77" fmla="*/ 1947969 h 2083506"/>
              <a:gd name="connsiteX78" fmla="*/ 7748398 w 12191999"/>
              <a:gd name="connsiteY78" fmla="*/ 1955982 h 2083506"/>
              <a:gd name="connsiteX79" fmla="*/ 7740684 w 12191999"/>
              <a:gd name="connsiteY79" fmla="*/ 1955717 h 2083506"/>
              <a:gd name="connsiteX80" fmla="*/ 7712976 w 12191999"/>
              <a:gd name="connsiteY80" fmla="*/ 1960442 h 2083506"/>
              <a:gd name="connsiteX81" fmla="*/ 7699956 w 12191999"/>
              <a:gd name="connsiteY81" fmla="*/ 1966104 h 2083506"/>
              <a:gd name="connsiteX82" fmla="*/ 7684158 w 12191999"/>
              <a:gd name="connsiteY82" fmla="*/ 1962927 h 2083506"/>
              <a:gd name="connsiteX83" fmla="*/ 7643109 w 12191999"/>
              <a:gd name="connsiteY83" fmla="*/ 1964400 h 2083506"/>
              <a:gd name="connsiteX84" fmla="*/ 7630180 w 12191999"/>
              <a:gd name="connsiteY84" fmla="*/ 1970266 h 2083506"/>
              <a:gd name="connsiteX85" fmla="*/ 7609131 w 12191999"/>
              <a:gd name="connsiteY85" fmla="*/ 1971774 h 2083506"/>
              <a:gd name="connsiteX86" fmla="*/ 7555555 w 12191999"/>
              <a:gd name="connsiteY86" fmla="*/ 1969491 h 2083506"/>
              <a:gd name="connsiteX87" fmla="*/ 7520919 w 12191999"/>
              <a:gd name="connsiteY87" fmla="*/ 1970177 h 2083506"/>
              <a:gd name="connsiteX88" fmla="*/ 7456258 w 12191999"/>
              <a:gd name="connsiteY88" fmla="*/ 1960468 h 2083506"/>
              <a:gd name="connsiteX89" fmla="*/ 7393047 w 12191999"/>
              <a:gd name="connsiteY89" fmla="*/ 1952408 h 2083506"/>
              <a:gd name="connsiteX90" fmla="*/ 7199912 w 12191999"/>
              <a:gd name="connsiteY90" fmla="*/ 1959913 h 2083506"/>
              <a:gd name="connsiteX91" fmla="*/ 7146774 w 12191999"/>
              <a:gd name="connsiteY91" fmla="*/ 1956641 h 2083506"/>
              <a:gd name="connsiteX92" fmla="*/ 7122244 w 12191999"/>
              <a:gd name="connsiteY92" fmla="*/ 1953891 h 2083506"/>
              <a:gd name="connsiteX93" fmla="*/ 7032241 w 12191999"/>
              <a:gd name="connsiteY93" fmla="*/ 1962723 h 2083506"/>
              <a:gd name="connsiteX94" fmla="*/ 6941492 w 12191999"/>
              <a:gd name="connsiteY94" fmla="*/ 1976868 h 2083506"/>
              <a:gd name="connsiteX95" fmla="*/ 6906514 w 12191999"/>
              <a:gd name="connsiteY95" fmla="*/ 1968589 h 2083506"/>
              <a:gd name="connsiteX96" fmla="*/ 6826395 w 12191999"/>
              <a:gd name="connsiteY96" fmla="*/ 1974141 h 2083506"/>
              <a:gd name="connsiteX97" fmla="*/ 6716431 w 12191999"/>
              <a:gd name="connsiteY97" fmla="*/ 2004297 h 2083506"/>
              <a:gd name="connsiteX98" fmla="*/ 6569607 w 12191999"/>
              <a:gd name="connsiteY98" fmla="*/ 2015496 h 2083506"/>
              <a:gd name="connsiteX99" fmla="*/ 6561430 w 12191999"/>
              <a:gd name="connsiteY99" fmla="*/ 2020996 h 2083506"/>
              <a:gd name="connsiteX100" fmla="*/ 6549371 w 12191999"/>
              <a:gd name="connsiteY100" fmla="*/ 2024747 h 2083506"/>
              <a:gd name="connsiteX101" fmla="*/ 6547040 w 12191999"/>
              <a:gd name="connsiteY101" fmla="*/ 2024474 h 2083506"/>
              <a:gd name="connsiteX102" fmla="*/ 6530482 w 12191999"/>
              <a:gd name="connsiteY102" fmla="*/ 2026659 h 2083506"/>
              <a:gd name="connsiteX103" fmla="*/ 6528565 w 12191999"/>
              <a:gd name="connsiteY103" fmla="*/ 2028600 h 2083506"/>
              <a:gd name="connsiteX104" fmla="*/ 6517741 w 12191999"/>
              <a:gd name="connsiteY104" fmla="*/ 2030558 h 2083506"/>
              <a:gd name="connsiteX105" fmla="*/ 6497855 w 12191999"/>
              <a:gd name="connsiteY105" fmla="*/ 2035650 h 2083506"/>
              <a:gd name="connsiteX106" fmla="*/ 6492785 w 12191999"/>
              <a:gd name="connsiteY106" fmla="*/ 2035444 h 2083506"/>
              <a:gd name="connsiteX107" fmla="*/ 6460692 w 12191999"/>
              <a:gd name="connsiteY107" fmla="*/ 2041321 h 2083506"/>
              <a:gd name="connsiteX108" fmla="*/ 6459609 w 12191999"/>
              <a:gd name="connsiteY108" fmla="*/ 2040851 h 2083506"/>
              <a:gd name="connsiteX109" fmla="*/ 6447765 w 12191999"/>
              <a:gd name="connsiteY109" fmla="*/ 2040102 h 2083506"/>
              <a:gd name="connsiteX110" fmla="*/ 6426590 w 12191999"/>
              <a:gd name="connsiteY110" fmla="*/ 2039928 h 2083506"/>
              <a:gd name="connsiteX111" fmla="*/ 6401693 w 12191999"/>
              <a:gd name="connsiteY111" fmla="*/ 2033537 h 2083506"/>
              <a:gd name="connsiteX112" fmla="*/ 6387141 w 12191999"/>
              <a:gd name="connsiteY112" fmla="*/ 2033161 h 2083506"/>
              <a:gd name="connsiteX113" fmla="*/ 6357846 w 12191999"/>
              <a:gd name="connsiteY113" fmla="*/ 2036782 h 2083506"/>
              <a:gd name="connsiteX114" fmla="*/ 6342914 w 12191999"/>
              <a:gd name="connsiteY114" fmla="*/ 2037585 h 2083506"/>
              <a:gd name="connsiteX115" fmla="*/ 6336300 w 12191999"/>
              <a:gd name="connsiteY115" fmla="*/ 2038781 h 2083506"/>
              <a:gd name="connsiteX116" fmla="*/ 6317178 w 12191999"/>
              <a:gd name="connsiteY116" fmla="*/ 2038968 h 2083506"/>
              <a:gd name="connsiteX117" fmla="*/ 6161427 w 12191999"/>
              <a:gd name="connsiteY117" fmla="*/ 2047338 h 2083506"/>
              <a:gd name="connsiteX118" fmla="*/ 6097339 w 12191999"/>
              <a:gd name="connsiteY118" fmla="*/ 2082438 h 2083506"/>
              <a:gd name="connsiteX119" fmla="*/ 6079059 w 12191999"/>
              <a:gd name="connsiteY119" fmla="*/ 2081299 h 2083506"/>
              <a:gd name="connsiteX120" fmla="*/ 5998439 w 12191999"/>
              <a:gd name="connsiteY120" fmla="*/ 2070958 h 2083506"/>
              <a:gd name="connsiteX121" fmla="*/ 5904290 w 12191999"/>
              <a:gd name="connsiteY121" fmla="*/ 2070255 h 2083506"/>
              <a:gd name="connsiteX122" fmla="*/ 5814867 w 12191999"/>
              <a:gd name="connsiteY122" fmla="*/ 2079032 h 2083506"/>
              <a:gd name="connsiteX123" fmla="*/ 5725743 w 12191999"/>
              <a:gd name="connsiteY123" fmla="*/ 2070558 h 2083506"/>
              <a:gd name="connsiteX124" fmla="*/ 5650546 w 12191999"/>
              <a:gd name="connsiteY124" fmla="*/ 2052412 h 2083506"/>
              <a:gd name="connsiteX125" fmla="*/ 5581284 w 12191999"/>
              <a:gd name="connsiteY125" fmla="*/ 2023175 h 2083506"/>
              <a:gd name="connsiteX126" fmla="*/ 5572593 w 12191999"/>
              <a:gd name="connsiteY126" fmla="*/ 2018391 h 2083506"/>
              <a:gd name="connsiteX127" fmla="*/ 5548580 w 12191999"/>
              <a:gd name="connsiteY127" fmla="*/ 2016951 h 2083506"/>
              <a:gd name="connsiteX128" fmla="*/ 5471173 w 12191999"/>
              <a:gd name="connsiteY128" fmla="*/ 2018786 h 2083506"/>
              <a:gd name="connsiteX129" fmla="*/ 5340320 w 12191999"/>
              <a:gd name="connsiteY129" fmla="*/ 2037611 h 2083506"/>
              <a:gd name="connsiteX130" fmla="*/ 5254376 w 12191999"/>
              <a:gd name="connsiteY130" fmla="*/ 2042928 h 2083506"/>
              <a:gd name="connsiteX131" fmla="*/ 5258035 w 12191999"/>
              <a:gd name="connsiteY131" fmla="*/ 2035649 h 2083506"/>
              <a:gd name="connsiteX132" fmla="*/ 5230622 w 12191999"/>
              <a:gd name="connsiteY132" fmla="*/ 2024576 h 2083506"/>
              <a:gd name="connsiteX133" fmla="*/ 5026203 w 12191999"/>
              <a:gd name="connsiteY133" fmla="*/ 2030162 h 2083506"/>
              <a:gd name="connsiteX134" fmla="*/ 4973988 w 12191999"/>
              <a:gd name="connsiteY134" fmla="*/ 2026668 h 2083506"/>
              <a:gd name="connsiteX135" fmla="*/ 4928030 w 12191999"/>
              <a:gd name="connsiteY135" fmla="*/ 2033642 h 2083506"/>
              <a:gd name="connsiteX136" fmla="*/ 4908970 w 12191999"/>
              <a:gd name="connsiteY136" fmla="*/ 2030033 h 2083506"/>
              <a:gd name="connsiteX137" fmla="*/ 4905679 w 12191999"/>
              <a:gd name="connsiteY137" fmla="*/ 2029300 h 2083506"/>
              <a:gd name="connsiteX138" fmla="*/ 4892525 w 12191999"/>
              <a:gd name="connsiteY138" fmla="*/ 2028768 h 2083506"/>
              <a:gd name="connsiteX139" fmla="*/ 4888818 w 12191999"/>
              <a:gd name="connsiteY139" fmla="*/ 2025619 h 2083506"/>
              <a:gd name="connsiteX140" fmla="*/ 4869018 w 12191999"/>
              <a:gd name="connsiteY140" fmla="*/ 2022668 h 2083506"/>
              <a:gd name="connsiteX141" fmla="*/ 4844804 w 12191999"/>
              <a:gd name="connsiteY141" fmla="*/ 2022527 h 2083506"/>
              <a:gd name="connsiteX142" fmla="*/ 4758778 w 12191999"/>
              <a:gd name="connsiteY142" fmla="*/ 2021694 h 2083506"/>
              <a:gd name="connsiteX143" fmla="*/ 4744748 w 12191999"/>
              <a:gd name="connsiteY143" fmla="*/ 2023396 h 2083506"/>
              <a:gd name="connsiteX144" fmla="*/ 4698956 w 12191999"/>
              <a:gd name="connsiteY144" fmla="*/ 2020558 h 2083506"/>
              <a:gd name="connsiteX145" fmla="*/ 4658147 w 12191999"/>
              <a:gd name="connsiteY145" fmla="*/ 2019920 h 2083506"/>
              <a:gd name="connsiteX146" fmla="*/ 4631706 w 12191999"/>
              <a:gd name="connsiteY146" fmla="*/ 2021274 h 2083506"/>
              <a:gd name="connsiteX147" fmla="*/ 4624776 w 12191999"/>
              <a:gd name="connsiteY147" fmla="*/ 2020152 h 2083506"/>
              <a:gd name="connsiteX148" fmla="*/ 4598150 w 12191999"/>
              <a:gd name="connsiteY148" fmla="*/ 2019429 h 2083506"/>
              <a:gd name="connsiteX149" fmla="*/ 4584588 w 12191999"/>
              <a:gd name="connsiteY149" fmla="*/ 2021092 h 2083506"/>
              <a:gd name="connsiteX150" fmla="*/ 4571203 w 12191999"/>
              <a:gd name="connsiteY150" fmla="*/ 2017263 h 2083506"/>
              <a:gd name="connsiteX151" fmla="*/ 4567930 w 12191999"/>
              <a:gd name="connsiteY151" fmla="*/ 2014458 h 2083506"/>
              <a:gd name="connsiteX152" fmla="*/ 4548984 w 12191999"/>
              <a:gd name="connsiteY152" fmla="*/ 2015717 h 2083506"/>
              <a:gd name="connsiteX153" fmla="*/ 4533451 w 12191999"/>
              <a:gd name="connsiteY153" fmla="*/ 2012976 h 2083506"/>
              <a:gd name="connsiteX154" fmla="*/ 4519910 w 12191999"/>
              <a:gd name="connsiteY154" fmla="*/ 2014768 h 2083506"/>
              <a:gd name="connsiteX155" fmla="*/ 4514290 w 12191999"/>
              <a:gd name="connsiteY155" fmla="*/ 2014364 h 2083506"/>
              <a:gd name="connsiteX156" fmla="*/ 4500320 w 12191999"/>
              <a:gd name="connsiteY156" fmla="*/ 2013007 h 2083506"/>
              <a:gd name="connsiteX157" fmla="*/ 4476219 w 12191999"/>
              <a:gd name="connsiteY157" fmla="*/ 2009993 h 2083506"/>
              <a:gd name="connsiteX158" fmla="*/ 4468701 w 12191999"/>
              <a:gd name="connsiteY158" fmla="*/ 2009574 h 2083506"/>
              <a:gd name="connsiteX159" fmla="*/ 4452333 w 12191999"/>
              <a:gd name="connsiteY159" fmla="*/ 2004964 h 2083506"/>
              <a:gd name="connsiteX160" fmla="*/ 4420644 w 12191999"/>
              <a:gd name="connsiteY160" fmla="*/ 2001021 h 2083506"/>
              <a:gd name="connsiteX161" fmla="*/ 4364856 w 12191999"/>
              <a:gd name="connsiteY161" fmla="*/ 1987267 h 2083506"/>
              <a:gd name="connsiteX162" fmla="*/ 4332062 w 12191999"/>
              <a:gd name="connsiteY162" fmla="*/ 1980703 h 2083506"/>
              <a:gd name="connsiteX163" fmla="*/ 4309876 w 12191999"/>
              <a:gd name="connsiteY163" fmla="*/ 1974653 h 2083506"/>
              <a:gd name="connsiteX164" fmla="*/ 4244391 w 12191999"/>
              <a:gd name="connsiteY164" fmla="*/ 1966109 h 2083506"/>
              <a:gd name="connsiteX165" fmla="*/ 4132071 w 12191999"/>
              <a:gd name="connsiteY165" fmla="*/ 1954813 h 2083506"/>
              <a:gd name="connsiteX166" fmla="*/ 4109069 w 12191999"/>
              <a:gd name="connsiteY166" fmla="*/ 1951778 h 2083506"/>
              <a:gd name="connsiteX167" fmla="*/ 4092908 w 12191999"/>
              <a:gd name="connsiteY167" fmla="*/ 1946662 h 2083506"/>
              <a:gd name="connsiteX168" fmla="*/ 4092306 w 12191999"/>
              <a:gd name="connsiteY168" fmla="*/ 1943291 h 2083506"/>
              <a:gd name="connsiteX169" fmla="*/ 4080234 w 12191999"/>
              <a:gd name="connsiteY169" fmla="*/ 1941219 h 2083506"/>
              <a:gd name="connsiteX170" fmla="*/ 4077778 w 12191999"/>
              <a:gd name="connsiteY170" fmla="*/ 1940145 h 2083506"/>
              <a:gd name="connsiteX171" fmla="*/ 4062936 w 12191999"/>
              <a:gd name="connsiteY171" fmla="*/ 1934506 h 2083506"/>
              <a:gd name="connsiteX172" fmla="*/ 4012506 w 12191999"/>
              <a:gd name="connsiteY172" fmla="*/ 1935475 h 2083506"/>
              <a:gd name="connsiteX173" fmla="*/ 3965880 w 12191999"/>
              <a:gd name="connsiteY173" fmla="*/ 1925968 h 2083506"/>
              <a:gd name="connsiteX174" fmla="*/ 3765338 w 12191999"/>
              <a:gd name="connsiteY174" fmla="*/ 1906649 h 2083506"/>
              <a:gd name="connsiteX175" fmla="*/ 3749493 w 12191999"/>
              <a:gd name="connsiteY175" fmla="*/ 1893071 h 2083506"/>
              <a:gd name="connsiteX176" fmla="*/ 3672704 w 12191999"/>
              <a:gd name="connsiteY176" fmla="*/ 1881383 h 2083506"/>
              <a:gd name="connsiteX177" fmla="*/ 3530082 w 12191999"/>
              <a:gd name="connsiteY177" fmla="*/ 1883187 h 2083506"/>
              <a:gd name="connsiteX178" fmla="*/ 3387664 w 12191999"/>
              <a:gd name="connsiteY178" fmla="*/ 1862579 h 2083506"/>
              <a:gd name="connsiteX179" fmla="*/ 3371681 w 12191999"/>
              <a:gd name="connsiteY179" fmla="*/ 1865293 h 2083506"/>
              <a:gd name="connsiteX180" fmla="*/ 3355305 w 12191999"/>
              <a:gd name="connsiteY180" fmla="*/ 1865842 h 2083506"/>
              <a:gd name="connsiteX181" fmla="*/ 3353790 w 12191999"/>
              <a:gd name="connsiteY181" fmla="*/ 1865158 h 2083506"/>
              <a:gd name="connsiteX182" fmla="*/ 3336210 w 12191999"/>
              <a:gd name="connsiteY182" fmla="*/ 1863564 h 2083506"/>
              <a:gd name="connsiteX183" fmla="*/ 3331381 w 12191999"/>
              <a:gd name="connsiteY183" fmla="*/ 1864716 h 2083506"/>
              <a:gd name="connsiteX184" fmla="*/ 3319012 w 12191999"/>
              <a:gd name="connsiteY184" fmla="*/ 1864093 h 2083506"/>
              <a:gd name="connsiteX185" fmla="*/ 3293818 w 12191999"/>
              <a:gd name="connsiteY185" fmla="*/ 1864135 h 2083506"/>
              <a:gd name="connsiteX186" fmla="*/ 3289881 w 12191999"/>
              <a:gd name="connsiteY186" fmla="*/ 1862954 h 2083506"/>
              <a:gd name="connsiteX187" fmla="*/ 3253090 w 12191999"/>
              <a:gd name="connsiteY187" fmla="*/ 1861164 h 2083506"/>
              <a:gd name="connsiteX188" fmla="*/ 3252949 w 12191999"/>
              <a:gd name="connsiteY188" fmla="*/ 1860574 h 2083506"/>
              <a:gd name="connsiteX189" fmla="*/ 3244187 w 12191999"/>
              <a:gd name="connsiteY189" fmla="*/ 1857604 h 2083506"/>
              <a:gd name="connsiteX190" fmla="*/ 3246570 w 12191999"/>
              <a:gd name="connsiteY190" fmla="*/ 1852946 h 2083506"/>
              <a:gd name="connsiteX191" fmla="*/ 3237810 w 12191999"/>
              <a:gd name="connsiteY191" fmla="*/ 1853064 h 2083506"/>
              <a:gd name="connsiteX192" fmla="*/ 3230822 w 12191999"/>
              <a:gd name="connsiteY192" fmla="*/ 1855474 h 2083506"/>
              <a:gd name="connsiteX193" fmla="*/ 3136549 w 12191999"/>
              <a:gd name="connsiteY193" fmla="*/ 1874037 h 2083506"/>
              <a:gd name="connsiteX194" fmla="*/ 2845754 w 12191999"/>
              <a:gd name="connsiteY194" fmla="*/ 1910932 h 2083506"/>
              <a:gd name="connsiteX195" fmla="*/ 2786878 w 12191999"/>
              <a:gd name="connsiteY195" fmla="*/ 1917162 h 2083506"/>
              <a:gd name="connsiteX196" fmla="*/ 2725298 w 12191999"/>
              <a:gd name="connsiteY196" fmla="*/ 1912340 h 2083506"/>
              <a:gd name="connsiteX197" fmla="*/ 2697754 w 12191999"/>
              <a:gd name="connsiteY197" fmla="*/ 1914863 h 2083506"/>
              <a:gd name="connsiteX198" fmla="*/ 2568063 w 12191999"/>
              <a:gd name="connsiteY198" fmla="*/ 1936283 h 2083506"/>
              <a:gd name="connsiteX199" fmla="*/ 2489784 w 12191999"/>
              <a:gd name="connsiteY199" fmla="*/ 1943720 h 2083506"/>
              <a:gd name="connsiteX200" fmla="*/ 2458978 w 12191999"/>
              <a:gd name="connsiteY200" fmla="*/ 1938095 h 2083506"/>
              <a:gd name="connsiteX201" fmla="*/ 2318712 w 12191999"/>
              <a:gd name="connsiteY201" fmla="*/ 1934474 h 2083506"/>
              <a:gd name="connsiteX202" fmla="*/ 2268709 w 12191999"/>
              <a:gd name="connsiteY202" fmla="*/ 1940521 h 2083506"/>
              <a:gd name="connsiteX203" fmla="*/ 2264080 w 12191999"/>
              <a:gd name="connsiteY203" fmla="*/ 1941232 h 2083506"/>
              <a:gd name="connsiteX204" fmla="*/ 2254684 w 12191999"/>
              <a:gd name="connsiteY204" fmla="*/ 1943524 h 2083506"/>
              <a:gd name="connsiteX205" fmla="*/ 2252523 w 12191999"/>
              <a:gd name="connsiteY205" fmla="*/ 1943004 h 2083506"/>
              <a:gd name="connsiteX206" fmla="*/ 2173350 w 12191999"/>
              <a:gd name="connsiteY206" fmla="*/ 1929202 h 2083506"/>
              <a:gd name="connsiteX207" fmla="*/ 2155266 w 12191999"/>
              <a:gd name="connsiteY207" fmla="*/ 1920267 h 2083506"/>
              <a:gd name="connsiteX208" fmla="*/ 2091013 w 12191999"/>
              <a:gd name="connsiteY208" fmla="*/ 1914631 h 2083506"/>
              <a:gd name="connsiteX209" fmla="*/ 2030712 w 12191999"/>
              <a:gd name="connsiteY209" fmla="*/ 1897690 h 2083506"/>
              <a:gd name="connsiteX210" fmla="*/ 1908838 w 12191999"/>
              <a:gd name="connsiteY210" fmla="*/ 1892222 h 2083506"/>
              <a:gd name="connsiteX211" fmla="*/ 1877796 w 12191999"/>
              <a:gd name="connsiteY211" fmla="*/ 1883887 h 2083506"/>
              <a:gd name="connsiteX212" fmla="*/ 1875824 w 12191999"/>
              <a:gd name="connsiteY212" fmla="*/ 1879265 h 2083506"/>
              <a:gd name="connsiteX213" fmla="*/ 1823048 w 12191999"/>
              <a:gd name="connsiteY213" fmla="*/ 1881064 h 2083506"/>
              <a:gd name="connsiteX214" fmla="*/ 1765736 w 12191999"/>
              <a:gd name="connsiteY214" fmla="*/ 1856578 h 2083506"/>
              <a:gd name="connsiteX215" fmla="*/ 1725669 w 12191999"/>
              <a:gd name="connsiteY215" fmla="*/ 1833744 h 2083506"/>
              <a:gd name="connsiteX216" fmla="*/ 1725216 w 12191999"/>
              <a:gd name="connsiteY216" fmla="*/ 1829447 h 2083506"/>
              <a:gd name="connsiteX217" fmla="*/ 1721485 w 12191999"/>
              <a:gd name="connsiteY217" fmla="*/ 1828960 h 2083506"/>
              <a:gd name="connsiteX218" fmla="*/ 1717786 w 12191999"/>
              <a:gd name="connsiteY218" fmla="*/ 1832224 h 2083506"/>
              <a:gd name="connsiteX219" fmla="*/ 1689907 w 12191999"/>
              <a:gd name="connsiteY219" fmla="*/ 1825425 h 2083506"/>
              <a:gd name="connsiteX220" fmla="*/ 1688093 w 12191999"/>
              <a:gd name="connsiteY220" fmla="*/ 1817391 h 2083506"/>
              <a:gd name="connsiteX221" fmla="*/ 1496789 w 12191999"/>
              <a:gd name="connsiteY221" fmla="*/ 1805297 h 2083506"/>
              <a:gd name="connsiteX222" fmla="*/ 1392839 w 12191999"/>
              <a:gd name="connsiteY222" fmla="*/ 1758649 h 2083506"/>
              <a:gd name="connsiteX223" fmla="*/ 1360872 w 12191999"/>
              <a:gd name="connsiteY223" fmla="*/ 1752441 h 2083506"/>
              <a:gd name="connsiteX224" fmla="*/ 1313885 w 12191999"/>
              <a:gd name="connsiteY224" fmla="*/ 1731785 h 2083506"/>
              <a:gd name="connsiteX225" fmla="*/ 1247665 w 12191999"/>
              <a:gd name="connsiteY225" fmla="*/ 1727765 h 2083506"/>
              <a:gd name="connsiteX226" fmla="*/ 1196850 w 12191999"/>
              <a:gd name="connsiteY226" fmla="*/ 1729622 h 2083506"/>
              <a:gd name="connsiteX227" fmla="*/ 1168728 w 12191999"/>
              <a:gd name="connsiteY227" fmla="*/ 1728550 h 2083506"/>
              <a:gd name="connsiteX228" fmla="*/ 1096918 w 12191999"/>
              <a:gd name="connsiteY228" fmla="*/ 1721485 h 2083506"/>
              <a:gd name="connsiteX229" fmla="*/ 1094082 w 12191999"/>
              <a:gd name="connsiteY229" fmla="*/ 1720113 h 2083506"/>
              <a:gd name="connsiteX230" fmla="*/ 1040782 w 12191999"/>
              <a:gd name="connsiteY230" fmla="*/ 1721762 h 2083506"/>
              <a:gd name="connsiteX231" fmla="*/ 955980 w 12191999"/>
              <a:gd name="connsiteY231" fmla="*/ 1719289 h 2083506"/>
              <a:gd name="connsiteX232" fmla="*/ 926108 w 12191999"/>
              <a:gd name="connsiteY232" fmla="*/ 1715917 h 2083506"/>
              <a:gd name="connsiteX233" fmla="*/ 876049 w 12191999"/>
              <a:gd name="connsiteY233" fmla="*/ 1710422 h 2083506"/>
              <a:gd name="connsiteX234" fmla="*/ 839194 w 12191999"/>
              <a:gd name="connsiteY234" fmla="*/ 1700176 h 2083506"/>
              <a:gd name="connsiteX235" fmla="*/ 797112 w 12191999"/>
              <a:gd name="connsiteY235" fmla="*/ 1698014 h 2083506"/>
              <a:gd name="connsiteX236" fmla="*/ 786610 w 12191999"/>
              <a:gd name="connsiteY236" fmla="*/ 1705455 h 2083506"/>
              <a:gd name="connsiteX237" fmla="*/ 741833 w 12191999"/>
              <a:gd name="connsiteY237" fmla="*/ 1700566 h 2083506"/>
              <a:gd name="connsiteX238" fmla="*/ 673985 w 12191999"/>
              <a:gd name="connsiteY238" fmla="*/ 1692278 h 2083506"/>
              <a:gd name="connsiteX239" fmla="*/ 634665 w 12191999"/>
              <a:gd name="connsiteY239" fmla="*/ 1689550 h 2083506"/>
              <a:gd name="connsiteX240" fmla="*/ 527471 w 12191999"/>
              <a:gd name="connsiteY240" fmla="*/ 1679869 h 2083506"/>
              <a:gd name="connsiteX241" fmla="*/ 420260 w 12191999"/>
              <a:gd name="connsiteY241" fmla="*/ 1668475 h 2083506"/>
              <a:gd name="connsiteX242" fmla="*/ 357630 w 12191999"/>
              <a:gd name="connsiteY242" fmla="*/ 1652142 h 2083506"/>
              <a:gd name="connsiteX243" fmla="*/ 269407 w 12191999"/>
              <a:gd name="connsiteY243" fmla="*/ 1643812 h 2083506"/>
              <a:gd name="connsiteX244" fmla="*/ 254769 w 12191999"/>
              <a:gd name="connsiteY244" fmla="*/ 1641013 h 2083506"/>
              <a:gd name="connsiteX245" fmla="*/ 150763 w 12191999"/>
              <a:gd name="connsiteY245" fmla="*/ 1628143 h 2083506"/>
              <a:gd name="connsiteX246" fmla="*/ 29133 w 12191999"/>
              <a:gd name="connsiteY246" fmla="*/ 1626172 h 2083506"/>
              <a:gd name="connsiteX247" fmla="*/ 0 w 12191999"/>
              <a:gd name="connsiteY247" fmla="*/ 1619589 h 2083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</a:cxnLst>
            <a:rect l="l" t="t" r="r" b="b"/>
            <a:pathLst>
              <a:path w="12191999" h="2083506">
                <a:moveTo>
                  <a:pt x="0" y="0"/>
                </a:moveTo>
                <a:lnTo>
                  <a:pt x="9429748" y="0"/>
                </a:lnTo>
                <a:lnTo>
                  <a:pt x="9429748" y="1"/>
                </a:lnTo>
                <a:lnTo>
                  <a:pt x="12191999" y="1"/>
                </a:lnTo>
                <a:lnTo>
                  <a:pt x="12191999" y="1164372"/>
                </a:lnTo>
                <a:lnTo>
                  <a:pt x="12147852" y="1163783"/>
                </a:lnTo>
                <a:cubicBezTo>
                  <a:pt x="12063101" y="1189107"/>
                  <a:pt x="12045020" y="1156925"/>
                  <a:pt x="11993604" y="1153496"/>
                </a:cubicBezTo>
                <a:cubicBezTo>
                  <a:pt x="11954216" y="1165241"/>
                  <a:pt x="11911195" y="1167350"/>
                  <a:pt x="11865319" y="1176624"/>
                </a:cubicBezTo>
                <a:cubicBezTo>
                  <a:pt x="11822513" y="1184682"/>
                  <a:pt x="11766915" y="1201558"/>
                  <a:pt x="11718353" y="1209136"/>
                </a:cubicBezTo>
                <a:cubicBezTo>
                  <a:pt x="11675379" y="1217463"/>
                  <a:pt x="11638007" y="1216639"/>
                  <a:pt x="11609067" y="1218512"/>
                </a:cubicBezTo>
                <a:cubicBezTo>
                  <a:pt x="11597582" y="1221322"/>
                  <a:pt x="11554280" y="1243577"/>
                  <a:pt x="11545958" y="1240430"/>
                </a:cubicBezTo>
                <a:lnTo>
                  <a:pt x="11445770" y="1225780"/>
                </a:lnTo>
                <a:cubicBezTo>
                  <a:pt x="11425543" y="1230782"/>
                  <a:pt x="11413740" y="1222096"/>
                  <a:pt x="11398842" y="1227250"/>
                </a:cubicBezTo>
                <a:cubicBezTo>
                  <a:pt x="11367060" y="1233093"/>
                  <a:pt x="11269285" y="1263712"/>
                  <a:pt x="11240093" y="1266797"/>
                </a:cubicBezTo>
                <a:cubicBezTo>
                  <a:pt x="11197297" y="1273685"/>
                  <a:pt x="11181311" y="1272682"/>
                  <a:pt x="11141364" y="1288059"/>
                </a:cubicBezTo>
                <a:cubicBezTo>
                  <a:pt x="11099891" y="1305386"/>
                  <a:pt x="11051533" y="1319157"/>
                  <a:pt x="11015396" y="1353104"/>
                </a:cubicBezTo>
                <a:cubicBezTo>
                  <a:pt x="11009424" y="1362217"/>
                  <a:pt x="10992328" y="1361966"/>
                  <a:pt x="10973905" y="1365109"/>
                </a:cubicBezTo>
                <a:cubicBezTo>
                  <a:pt x="10955482" y="1368254"/>
                  <a:pt x="10907369" y="1372817"/>
                  <a:pt x="10904858" y="1371966"/>
                </a:cubicBezTo>
                <a:cubicBezTo>
                  <a:pt x="10880521" y="1379494"/>
                  <a:pt x="10873670" y="1399734"/>
                  <a:pt x="10827883" y="1410270"/>
                </a:cubicBezTo>
                <a:cubicBezTo>
                  <a:pt x="10790248" y="1415655"/>
                  <a:pt x="10724899" y="1420726"/>
                  <a:pt x="10690996" y="1426394"/>
                </a:cubicBezTo>
                <a:cubicBezTo>
                  <a:pt x="10676463" y="1423331"/>
                  <a:pt x="10634514" y="1436908"/>
                  <a:pt x="10624461" y="1444283"/>
                </a:cubicBezTo>
                <a:cubicBezTo>
                  <a:pt x="10601952" y="1468442"/>
                  <a:pt x="10536224" y="1460228"/>
                  <a:pt x="10517208" y="1478947"/>
                </a:cubicBezTo>
                <a:cubicBezTo>
                  <a:pt x="10509508" y="1482271"/>
                  <a:pt x="10505833" y="1468818"/>
                  <a:pt x="10497937" y="1469831"/>
                </a:cubicBezTo>
                <a:lnTo>
                  <a:pt x="10471201" y="1486037"/>
                </a:lnTo>
                <a:lnTo>
                  <a:pt x="10448263" y="1478223"/>
                </a:lnTo>
                <a:lnTo>
                  <a:pt x="10388089" y="1507175"/>
                </a:lnTo>
                <a:cubicBezTo>
                  <a:pt x="10350285" y="1513081"/>
                  <a:pt x="10383281" y="1526586"/>
                  <a:pt x="10333720" y="1515848"/>
                </a:cubicBezTo>
                <a:cubicBezTo>
                  <a:pt x="10286428" y="1526223"/>
                  <a:pt x="10174884" y="1550019"/>
                  <a:pt x="10104338" y="1569424"/>
                </a:cubicBezTo>
                <a:cubicBezTo>
                  <a:pt x="10066963" y="1581564"/>
                  <a:pt x="9967395" y="1605712"/>
                  <a:pt x="9910445" y="1632275"/>
                </a:cubicBezTo>
                <a:cubicBezTo>
                  <a:pt x="9856131" y="1644130"/>
                  <a:pt x="9831118" y="1689967"/>
                  <a:pt x="9770872" y="1688088"/>
                </a:cubicBezTo>
                <a:cubicBezTo>
                  <a:pt x="9769882" y="1691843"/>
                  <a:pt x="9737016" y="1697044"/>
                  <a:pt x="9733849" y="1700034"/>
                </a:cubicBezTo>
                <a:lnTo>
                  <a:pt x="9703714" y="1730093"/>
                </a:lnTo>
                <a:lnTo>
                  <a:pt x="9698351" y="1730377"/>
                </a:lnTo>
                <a:lnTo>
                  <a:pt x="9632895" y="1736363"/>
                </a:lnTo>
                <a:lnTo>
                  <a:pt x="9569107" y="1741010"/>
                </a:lnTo>
                <a:cubicBezTo>
                  <a:pt x="9558961" y="1745882"/>
                  <a:pt x="9548028" y="1750646"/>
                  <a:pt x="9536451" y="1755120"/>
                </a:cubicBezTo>
                <a:lnTo>
                  <a:pt x="9529385" y="1757515"/>
                </a:lnTo>
                <a:lnTo>
                  <a:pt x="9498527" y="1753117"/>
                </a:lnTo>
                <a:lnTo>
                  <a:pt x="9436642" y="1755478"/>
                </a:lnTo>
                <a:lnTo>
                  <a:pt x="9429748" y="1756317"/>
                </a:lnTo>
                <a:lnTo>
                  <a:pt x="9429748" y="1768745"/>
                </a:lnTo>
                <a:lnTo>
                  <a:pt x="9425802" y="1769273"/>
                </a:lnTo>
                <a:cubicBezTo>
                  <a:pt x="9390751" y="1773262"/>
                  <a:pt x="9371406" y="1773457"/>
                  <a:pt x="9349763" y="1776107"/>
                </a:cubicBezTo>
                <a:cubicBezTo>
                  <a:pt x="9314721" y="1782260"/>
                  <a:pt x="9277650" y="1796217"/>
                  <a:pt x="9256503" y="1800699"/>
                </a:cubicBezTo>
                <a:lnTo>
                  <a:pt x="9222873" y="1803003"/>
                </a:lnTo>
                <a:lnTo>
                  <a:pt x="9224095" y="1807355"/>
                </a:lnTo>
                <a:lnTo>
                  <a:pt x="9211603" y="1807675"/>
                </a:lnTo>
                <a:lnTo>
                  <a:pt x="9183719" y="1807781"/>
                </a:lnTo>
                <a:cubicBezTo>
                  <a:pt x="9166319" y="1808439"/>
                  <a:pt x="9117935" y="1807396"/>
                  <a:pt x="9100221" y="1808989"/>
                </a:cubicBezTo>
                <a:cubicBezTo>
                  <a:pt x="9095111" y="1813630"/>
                  <a:pt x="9087224" y="1816160"/>
                  <a:pt x="9077439" y="1817333"/>
                </a:cubicBezTo>
                <a:lnTo>
                  <a:pt x="9055889" y="1817464"/>
                </a:lnTo>
                <a:lnTo>
                  <a:pt x="8930912" y="1828648"/>
                </a:lnTo>
                <a:lnTo>
                  <a:pt x="8913729" y="1829483"/>
                </a:lnTo>
                <a:lnTo>
                  <a:pt x="8904423" y="1833234"/>
                </a:lnTo>
                <a:cubicBezTo>
                  <a:pt x="8897319" y="1833982"/>
                  <a:pt x="8876911" y="1833498"/>
                  <a:pt x="8871099" y="1833979"/>
                </a:cubicBezTo>
                <a:lnTo>
                  <a:pt x="8869557" y="1836113"/>
                </a:lnTo>
                <a:cubicBezTo>
                  <a:pt x="8851043" y="1839524"/>
                  <a:pt x="8781405" y="1850882"/>
                  <a:pt x="8760021" y="1854442"/>
                </a:cubicBezTo>
                <a:cubicBezTo>
                  <a:pt x="8755749" y="1851161"/>
                  <a:pt x="8746183" y="1856343"/>
                  <a:pt x="8741254" y="1857469"/>
                </a:cubicBezTo>
                <a:cubicBezTo>
                  <a:pt x="8740491" y="1855259"/>
                  <a:pt x="8728559" y="1854585"/>
                  <a:pt x="8725039" y="1856552"/>
                </a:cubicBezTo>
                <a:cubicBezTo>
                  <a:pt x="8641157" y="1867333"/>
                  <a:pt x="8683145" y="1845054"/>
                  <a:pt x="8635265" y="1859168"/>
                </a:cubicBezTo>
                <a:cubicBezTo>
                  <a:pt x="8626795" y="1860103"/>
                  <a:pt x="8619931" y="1859212"/>
                  <a:pt x="8613911" y="1857561"/>
                </a:cubicBezTo>
                <a:lnTo>
                  <a:pt x="8604931" y="1854170"/>
                </a:lnTo>
                <a:lnTo>
                  <a:pt x="8570171" y="1860579"/>
                </a:lnTo>
                <a:cubicBezTo>
                  <a:pt x="8553049" y="1862813"/>
                  <a:pt x="8535028" y="1864294"/>
                  <a:pt x="8516537" y="1864971"/>
                </a:cubicBezTo>
                <a:cubicBezTo>
                  <a:pt x="8512388" y="1860455"/>
                  <a:pt x="8497874" y="1866870"/>
                  <a:pt x="8491046" y="1868141"/>
                </a:cubicBezTo>
                <a:cubicBezTo>
                  <a:pt x="8490975" y="1865191"/>
                  <a:pt x="8475847" y="1863778"/>
                  <a:pt x="8470478" y="1866216"/>
                </a:cubicBezTo>
                <a:cubicBezTo>
                  <a:pt x="8357654" y="1876758"/>
                  <a:pt x="8421139" y="1849210"/>
                  <a:pt x="8353433" y="1865729"/>
                </a:cubicBezTo>
                <a:lnTo>
                  <a:pt x="8347675" y="1865075"/>
                </a:lnTo>
                <a:lnTo>
                  <a:pt x="8343939" y="1865677"/>
                </a:lnTo>
                <a:cubicBezTo>
                  <a:pt x="8309852" y="1870841"/>
                  <a:pt x="8272587" y="1875809"/>
                  <a:pt x="8221566" y="1881148"/>
                </a:cubicBezTo>
                <a:cubicBezTo>
                  <a:pt x="8158043" y="1892960"/>
                  <a:pt x="8095547" y="1914042"/>
                  <a:pt x="8066095" y="1919902"/>
                </a:cubicBezTo>
                <a:cubicBezTo>
                  <a:pt x="8058949" y="1919234"/>
                  <a:pt x="8051921" y="1917862"/>
                  <a:pt x="8044849" y="1916308"/>
                </a:cubicBezTo>
                <a:lnTo>
                  <a:pt x="8041142" y="1915506"/>
                </a:lnTo>
                <a:lnTo>
                  <a:pt x="8022159" y="1911521"/>
                </a:lnTo>
                <a:lnTo>
                  <a:pt x="7944932" y="1917265"/>
                </a:lnTo>
                <a:lnTo>
                  <a:pt x="7879011" y="1928570"/>
                </a:lnTo>
                <a:lnTo>
                  <a:pt x="7865529" y="1934399"/>
                </a:lnTo>
                <a:lnTo>
                  <a:pt x="7774801" y="1947969"/>
                </a:lnTo>
                <a:lnTo>
                  <a:pt x="7748398" y="1955982"/>
                </a:lnTo>
                <a:lnTo>
                  <a:pt x="7740684" y="1955717"/>
                </a:lnTo>
                <a:cubicBezTo>
                  <a:pt x="7728362" y="1958584"/>
                  <a:pt x="7714099" y="1968442"/>
                  <a:pt x="7712976" y="1960442"/>
                </a:cubicBezTo>
                <a:lnTo>
                  <a:pt x="7699956" y="1966104"/>
                </a:lnTo>
                <a:lnTo>
                  <a:pt x="7684158" y="1962927"/>
                </a:lnTo>
                <a:cubicBezTo>
                  <a:pt x="7674684" y="1962643"/>
                  <a:pt x="7652105" y="1963177"/>
                  <a:pt x="7643109" y="1964400"/>
                </a:cubicBezTo>
                <a:lnTo>
                  <a:pt x="7630180" y="1970266"/>
                </a:lnTo>
                <a:lnTo>
                  <a:pt x="7609131" y="1971774"/>
                </a:lnTo>
                <a:cubicBezTo>
                  <a:pt x="7596694" y="1971644"/>
                  <a:pt x="7570258" y="1969757"/>
                  <a:pt x="7555555" y="1969491"/>
                </a:cubicBezTo>
                <a:cubicBezTo>
                  <a:pt x="7541460" y="1966540"/>
                  <a:pt x="7530571" y="1964848"/>
                  <a:pt x="7520919" y="1970177"/>
                </a:cubicBezTo>
                <a:cubicBezTo>
                  <a:pt x="7500295" y="1966884"/>
                  <a:pt x="7480780" y="1949401"/>
                  <a:pt x="7456258" y="1960468"/>
                </a:cubicBezTo>
                <a:cubicBezTo>
                  <a:pt x="7434946" y="1957506"/>
                  <a:pt x="7435772" y="1952500"/>
                  <a:pt x="7393047" y="1952408"/>
                </a:cubicBezTo>
                <a:cubicBezTo>
                  <a:pt x="7356520" y="1952860"/>
                  <a:pt x="7236307" y="1958626"/>
                  <a:pt x="7199912" y="1959913"/>
                </a:cubicBezTo>
                <a:cubicBezTo>
                  <a:pt x="7176501" y="1959942"/>
                  <a:pt x="7160098" y="1958343"/>
                  <a:pt x="7146774" y="1956641"/>
                </a:cubicBezTo>
                <a:lnTo>
                  <a:pt x="7122244" y="1953891"/>
                </a:lnTo>
                <a:lnTo>
                  <a:pt x="7032241" y="1962723"/>
                </a:lnTo>
                <a:cubicBezTo>
                  <a:pt x="6997214" y="1965198"/>
                  <a:pt x="6963725" y="1968396"/>
                  <a:pt x="6941492" y="1976868"/>
                </a:cubicBezTo>
                <a:cubicBezTo>
                  <a:pt x="6947015" y="1970398"/>
                  <a:pt x="6923088" y="1965379"/>
                  <a:pt x="6906514" y="1968589"/>
                </a:cubicBezTo>
                <a:cubicBezTo>
                  <a:pt x="6925890" y="1943204"/>
                  <a:pt x="6840983" y="1991464"/>
                  <a:pt x="6826395" y="1974141"/>
                </a:cubicBezTo>
                <a:cubicBezTo>
                  <a:pt x="6825676" y="1990223"/>
                  <a:pt x="6751393" y="2017492"/>
                  <a:pt x="6716431" y="2004297"/>
                </a:cubicBezTo>
                <a:cubicBezTo>
                  <a:pt x="6663167" y="2007518"/>
                  <a:pt x="6625450" y="2020811"/>
                  <a:pt x="6569607" y="2015496"/>
                </a:cubicBezTo>
                <a:cubicBezTo>
                  <a:pt x="6567874" y="2017648"/>
                  <a:pt x="6565034" y="2019449"/>
                  <a:pt x="6561430" y="2020996"/>
                </a:cubicBezTo>
                <a:lnTo>
                  <a:pt x="6549371" y="2024747"/>
                </a:lnTo>
                <a:lnTo>
                  <a:pt x="6547040" y="2024474"/>
                </a:lnTo>
                <a:cubicBezTo>
                  <a:pt x="6537882" y="2024425"/>
                  <a:pt x="6533193" y="2025332"/>
                  <a:pt x="6530482" y="2026659"/>
                </a:cubicBezTo>
                <a:lnTo>
                  <a:pt x="6528565" y="2028600"/>
                </a:lnTo>
                <a:lnTo>
                  <a:pt x="6517741" y="2030558"/>
                </a:lnTo>
                <a:lnTo>
                  <a:pt x="6497855" y="2035650"/>
                </a:lnTo>
                <a:lnTo>
                  <a:pt x="6492785" y="2035444"/>
                </a:lnTo>
                <a:lnTo>
                  <a:pt x="6460692" y="2041321"/>
                </a:lnTo>
                <a:lnTo>
                  <a:pt x="6459609" y="2040851"/>
                </a:lnTo>
                <a:cubicBezTo>
                  <a:pt x="6456451" y="2039933"/>
                  <a:pt x="6452734" y="2039508"/>
                  <a:pt x="6447765" y="2040102"/>
                </a:cubicBezTo>
                <a:cubicBezTo>
                  <a:pt x="6446007" y="2031126"/>
                  <a:pt x="6441093" y="2037380"/>
                  <a:pt x="6426590" y="2039928"/>
                </a:cubicBezTo>
                <a:cubicBezTo>
                  <a:pt x="6423606" y="2033241"/>
                  <a:pt x="6413230" y="2032925"/>
                  <a:pt x="6401693" y="2033537"/>
                </a:cubicBezTo>
                <a:lnTo>
                  <a:pt x="6387141" y="2033161"/>
                </a:lnTo>
                <a:lnTo>
                  <a:pt x="6357846" y="2036782"/>
                </a:lnTo>
                <a:lnTo>
                  <a:pt x="6342914" y="2037585"/>
                </a:lnTo>
                <a:lnTo>
                  <a:pt x="6336300" y="2038781"/>
                </a:lnTo>
                <a:lnTo>
                  <a:pt x="6317178" y="2038968"/>
                </a:lnTo>
                <a:lnTo>
                  <a:pt x="6161427" y="2047338"/>
                </a:lnTo>
                <a:cubicBezTo>
                  <a:pt x="6147824" y="2057658"/>
                  <a:pt x="6118908" y="2077615"/>
                  <a:pt x="6097339" y="2082438"/>
                </a:cubicBezTo>
                <a:cubicBezTo>
                  <a:pt x="6090149" y="2084046"/>
                  <a:pt x="6083776" y="2083972"/>
                  <a:pt x="6079059" y="2081299"/>
                </a:cubicBezTo>
                <a:cubicBezTo>
                  <a:pt x="6063900" y="2082334"/>
                  <a:pt x="6011621" y="2084537"/>
                  <a:pt x="5998439" y="2070958"/>
                </a:cubicBezTo>
                <a:cubicBezTo>
                  <a:pt x="5976443" y="2071759"/>
                  <a:pt x="5925514" y="2069780"/>
                  <a:pt x="5904290" y="2070255"/>
                </a:cubicBezTo>
                <a:cubicBezTo>
                  <a:pt x="5871515" y="2066244"/>
                  <a:pt x="5843986" y="2088249"/>
                  <a:pt x="5814867" y="2079032"/>
                </a:cubicBezTo>
                <a:cubicBezTo>
                  <a:pt x="5792003" y="2070559"/>
                  <a:pt x="5750009" y="2076273"/>
                  <a:pt x="5725743" y="2070558"/>
                </a:cubicBezTo>
                <a:cubicBezTo>
                  <a:pt x="5716432" y="2058355"/>
                  <a:pt x="5667424" y="2047322"/>
                  <a:pt x="5650546" y="2052412"/>
                </a:cubicBezTo>
                <a:cubicBezTo>
                  <a:pt x="5614627" y="2046084"/>
                  <a:pt x="5608108" y="2028306"/>
                  <a:pt x="5581284" y="2023175"/>
                </a:cubicBezTo>
                <a:lnTo>
                  <a:pt x="5572593" y="2018391"/>
                </a:lnTo>
                <a:lnTo>
                  <a:pt x="5548580" y="2016951"/>
                </a:lnTo>
                <a:cubicBezTo>
                  <a:pt x="5523726" y="2017783"/>
                  <a:pt x="5498337" y="2019663"/>
                  <a:pt x="5471173" y="2018786"/>
                </a:cubicBezTo>
                <a:cubicBezTo>
                  <a:pt x="5447687" y="2003020"/>
                  <a:pt x="5353807" y="2022324"/>
                  <a:pt x="5340320" y="2037611"/>
                </a:cubicBezTo>
                <a:cubicBezTo>
                  <a:pt x="5340015" y="2024215"/>
                  <a:pt x="5271937" y="2042455"/>
                  <a:pt x="5254376" y="2042928"/>
                </a:cubicBezTo>
                <a:cubicBezTo>
                  <a:pt x="5248522" y="2043086"/>
                  <a:pt x="5248281" y="2041270"/>
                  <a:pt x="5258035" y="2035649"/>
                </a:cubicBezTo>
                <a:cubicBezTo>
                  <a:pt x="5239374" y="2037214"/>
                  <a:pt x="5220112" y="2030252"/>
                  <a:pt x="5230622" y="2024576"/>
                </a:cubicBezTo>
                <a:cubicBezTo>
                  <a:pt x="5173932" y="2036724"/>
                  <a:pt x="5090262" y="2024645"/>
                  <a:pt x="5026203" y="2030162"/>
                </a:cubicBezTo>
                <a:cubicBezTo>
                  <a:pt x="4991280" y="2016814"/>
                  <a:pt x="5010212" y="2029164"/>
                  <a:pt x="4973988" y="2026668"/>
                </a:cubicBezTo>
                <a:cubicBezTo>
                  <a:pt x="4983896" y="2038955"/>
                  <a:pt x="4930012" y="2019774"/>
                  <a:pt x="4928030" y="2033642"/>
                </a:cubicBezTo>
                <a:cubicBezTo>
                  <a:pt x="4921501" y="2032748"/>
                  <a:pt x="4915238" y="2031445"/>
                  <a:pt x="4908970" y="2030033"/>
                </a:cubicBezTo>
                <a:lnTo>
                  <a:pt x="4905679" y="2029300"/>
                </a:lnTo>
                <a:lnTo>
                  <a:pt x="4892525" y="2028768"/>
                </a:lnTo>
                <a:lnTo>
                  <a:pt x="4888818" y="2025619"/>
                </a:lnTo>
                <a:lnTo>
                  <a:pt x="4869018" y="2022668"/>
                </a:lnTo>
                <a:cubicBezTo>
                  <a:pt x="4861602" y="2022028"/>
                  <a:pt x="4853622" y="2021880"/>
                  <a:pt x="4844804" y="2022527"/>
                </a:cubicBezTo>
                <a:cubicBezTo>
                  <a:pt x="4823110" y="2028022"/>
                  <a:pt x="4789330" y="2021287"/>
                  <a:pt x="4758778" y="2021694"/>
                </a:cubicBezTo>
                <a:lnTo>
                  <a:pt x="4744748" y="2023396"/>
                </a:lnTo>
                <a:lnTo>
                  <a:pt x="4698956" y="2020558"/>
                </a:lnTo>
                <a:cubicBezTo>
                  <a:pt x="4685921" y="2020008"/>
                  <a:pt x="4672392" y="2019718"/>
                  <a:pt x="4658147" y="2019920"/>
                </a:cubicBezTo>
                <a:lnTo>
                  <a:pt x="4631706" y="2021274"/>
                </a:lnTo>
                <a:lnTo>
                  <a:pt x="4624776" y="2020152"/>
                </a:lnTo>
                <a:cubicBezTo>
                  <a:pt x="4612703" y="2020277"/>
                  <a:pt x="4596727" y="2024226"/>
                  <a:pt x="4598150" y="2019429"/>
                </a:cubicBezTo>
                <a:lnTo>
                  <a:pt x="4584588" y="2021092"/>
                </a:lnTo>
                <a:lnTo>
                  <a:pt x="4571203" y="2017263"/>
                </a:lnTo>
                <a:cubicBezTo>
                  <a:pt x="4569736" y="2016374"/>
                  <a:pt x="4568633" y="2015427"/>
                  <a:pt x="4567930" y="2014458"/>
                </a:cubicBezTo>
                <a:lnTo>
                  <a:pt x="4548984" y="2015717"/>
                </a:lnTo>
                <a:lnTo>
                  <a:pt x="4533451" y="2012976"/>
                </a:lnTo>
                <a:lnTo>
                  <a:pt x="4519910" y="2014768"/>
                </a:lnTo>
                <a:lnTo>
                  <a:pt x="4514290" y="2014364"/>
                </a:lnTo>
                <a:lnTo>
                  <a:pt x="4500320" y="2013007"/>
                </a:lnTo>
                <a:cubicBezTo>
                  <a:pt x="4493159" y="2012056"/>
                  <a:pt x="4485144" y="2010910"/>
                  <a:pt x="4476219" y="2009993"/>
                </a:cubicBezTo>
                <a:lnTo>
                  <a:pt x="4468701" y="2009574"/>
                </a:lnTo>
                <a:lnTo>
                  <a:pt x="4452333" y="2004964"/>
                </a:lnTo>
                <a:cubicBezTo>
                  <a:pt x="4440422" y="2001479"/>
                  <a:pt x="4431048" y="1999130"/>
                  <a:pt x="4420644" y="2001021"/>
                </a:cubicBezTo>
                <a:cubicBezTo>
                  <a:pt x="4402911" y="1996519"/>
                  <a:pt x="4390524" y="1983900"/>
                  <a:pt x="4364856" y="1987267"/>
                </a:cubicBezTo>
                <a:cubicBezTo>
                  <a:pt x="4372645" y="1981550"/>
                  <a:pt x="4336350" y="1986575"/>
                  <a:pt x="4332062" y="1980703"/>
                </a:cubicBezTo>
                <a:cubicBezTo>
                  <a:pt x="4330083" y="1975974"/>
                  <a:pt x="4318612" y="1976397"/>
                  <a:pt x="4309876" y="1974653"/>
                </a:cubicBezTo>
                <a:cubicBezTo>
                  <a:pt x="4303650" y="1969824"/>
                  <a:pt x="4259693" y="1965414"/>
                  <a:pt x="4244391" y="1966109"/>
                </a:cubicBezTo>
                <a:cubicBezTo>
                  <a:pt x="4201255" y="1970914"/>
                  <a:pt x="4166558" y="1951471"/>
                  <a:pt x="4132071" y="1954813"/>
                </a:cubicBezTo>
                <a:cubicBezTo>
                  <a:pt x="4123041" y="1954358"/>
                  <a:pt x="4115554" y="1953263"/>
                  <a:pt x="4109069" y="1951778"/>
                </a:cubicBezTo>
                <a:lnTo>
                  <a:pt x="4092908" y="1946662"/>
                </a:lnTo>
                <a:cubicBezTo>
                  <a:pt x="4092707" y="1945539"/>
                  <a:pt x="4092506" y="1944415"/>
                  <a:pt x="4092306" y="1943291"/>
                </a:cubicBezTo>
                <a:lnTo>
                  <a:pt x="4080234" y="1941219"/>
                </a:lnTo>
                <a:lnTo>
                  <a:pt x="4077778" y="1940145"/>
                </a:lnTo>
                <a:cubicBezTo>
                  <a:pt x="4073105" y="1938081"/>
                  <a:pt x="4068339" y="1936119"/>
                  <a:pt x="4062936" y="1934506"/>
                </a:cubicBezTo>
                <a:cubicBezTo>
                  <a:pt x="4048082" y="1947155"/>
                  <a:pt x="4014523" y="1922869"/>
                  <a:pt x="4012506" y="1935475"/>
                </a:cubicBezTo>
                <a:cubicBezTo>
                  <a:pt x="3980228" y="1928812"/>
                  <a:pt x="3986775" y="1942559"/>
                  <a:pt x="3965880" y="1925968"/>
                </a:cubicBezTo>
                <a:cubicBezTo>
                  <a:pt x="3899515" y="1923414"/>
                  <a:pt x="3830855" y="1902158"/>
                  <a:pt x="3765338" y="1906649"/>
                </a:cubicBezTo>
                <a:cubicBezTo>
                  <a:pt x="3780686" y="1902635"/>
                  <a:pt x="3768784" y="1893856"/>
                  <a:pt x="3749493" y="1893071"/>
                </a:cubicBezTo>
                <a:cubicBezTo>
                  <a:pt x="3807776" y="1876857"/>
                  <a:pt x="3656400" y="1898030"/>
                  <a:pt x="3672704" y="1881383"/>
                </a:cubicBezTo>
                <a:cubicBezTo>
                  <a:pt x="3645532" y="1893973"/>
                  <a:pt x="3537791" y="1900656"/>
                  <a:pt x="3530082" y="1883187"/>
                </a:cubicBezTo>
                <a:cubicBezTo>
                  <a:pt x="3479808" y="1875044"/>
                  <a:pt x="3426017" y="1877998"/>
                  <a:pt x="3387664" y="1862579"/>
                </a:cubicBezTo>
                <a:cubicBezTo>
                  <a:pt x="3382649" y="1863935"/>
                  <a:pt x="3377277" y="1864791"/>
                  <a:pt x="3371681" y="1865293"/>
                </a:cubicBezTo>
                <a:lnTo>
                  <a:pt x="3355305" y="1865842"/>
                </a:lnTo>
                <a:lnTo>
                  <a:pt x="3353790" y="1865158"/>
                </a:lnTo>
                <a:cubicBezTo>
                  <a:pt x="3346144" y="1863282"/>
                  <a:pt x="3340687" y="1863057"/>
                  <a:pt x="3336210" y="1863564"/>
                </a:cubicBezTo>
                <a:lnTo>
                  <a:pt x="3331381" y="1864716"/>
                </a:lnTo>
                <a:lnTo>
                  <a:pt x="3319012" y="1864093"/>
                </a:lnTo>
                <a:lnTo>
                  <a:pt x="3293818" y="1864135"/>
                </a:lnTo>
                <a:lnTo>
                  <a:pt x="3289881" y="1862954"/>
                </a:lnTo>
                <a:lnTo>
                  <a:pt x="3253090" y="1861164"/>
                </a:lnTo>
                <a:cubicBezTo>
                  <a:pt x="3253042" y="1860968"/>
                  <a:pt x="3252996" y="1860771"/>
                  <a:pt x="3252949" y="1860574"/>
                </a:cubicBezTo>
                <a:cubicBezTo>
                  <a:pt x="3251799" y="1859213"/>
                  <a:pt x="3249368" y="1858131"/>
                  <a:pt x="3244187" y="1857604"/>
                </a:cubicBezTo>
                <a:cubicBezTo>
                  <a:pt x="3250860" y="1853873"/>
                  <a:pt x="3250577" y="1852999"/>
                  <a:pt x="3246570" y="1852946"/>
                </a:cubicBezTo>
                <a:lnTo>
                  <a:pt x="3237810" y="1853064"/>
                </a:lnTo>
                <a:lnTo>
                  <a:pt x="3230822" y="1855474"/>
                </a:lnTo>
                <a:cubicBezTo>
                  <a:pt x="3206812" y="1862286"/>
                  <a:pt x="3176733" y="1868865"/>
                  <a:pt x="3136549" y="1874037"/>
                </a:cubicBezTo>
                <a:cubicBezTo>
                  <a:pt x="3081163" y="1880168"/>
                  <a:pt x="2902557" y="1900580"/>
                  <a:pt x="2845754" y="1910932"/>
                </a:cubicBezTo>
                <a:cubicBezTo>
                  <a:pt x="2860822" y="1944376"/>
                  <a:pt x="2813389" y="1905358"/>
                  <a:pt x="2786878" y="1917162"/>
                </a:cubicBezTo>
                <a:cubicBezTo>
                  <a:pt x="2766803" y="1917398"/>
                  <a:pt x="2741628" y="1915886"/>
                  <a:pt x="2725298" y="1912340"/>
                </a:cubicBezTo>
                <a:cubicBezTo>
                  <a:pt x="2716680" y="1911427"/>
                  <a:pt x="2707572" y="1911972"/>
                  <a:pt x="2697754" y="1914863"/>
                </a:cubicBezTo>
                <a:cubicBezTo>
                  <a:pt x="2667185" y="1939014"/>
                  <a:pt x="2622149" y="1926211"/>
                  <a:pt x="2568063" y="1936283"/>
                </a:cubicBezTo>
                <a:cubicBezTo>
                  <a:pt x="2552625" y="1932001"/>
                  <a:pt x="2502682" y="1953378"/>
                  <a:pt x="2489784" y="1943720"/>
                </a:cubicBezTo>
                <a:cubicBezTo>
                  <a:pt x="2478524" y="1943155"/>
                  <a:pt x="2467418" y="1949411"/>
                  <a:pt x="2458978" y="1938095"/>
                </a:cubicBezTo>
                <a:cubicBezTo>
                  <a:pt x="2417552" y="1934639"/>
                  <a:pt x="2366376" y="1931293"/>
                  <a:pt x="2318712" y="1934474"/>
                </a:cubicBezTo>
                <a:cubicBezTo>
                  <a:pt x="2296029" y="1936526"/>
                  <a:pt x="2282069" y="1938434"/>
                  <a:pt x="2268709" y="1940521"/>
                </a:cubicBezTo>
                <a:lnTo>
                  <a:pt x="2264080" y="1941232"/>
                </a:lnTo>
                <a:lnTo>
                  <a:pt x="2254684" y="1943524"/>
                </a:lnTo>
                <a:lnTo>
                  <a:pt x="2252523" y="1943004"/>
                </a:lnTo>
                <a:lnTo>
                  <a:pt x="2173350" y="1929202"/>
                </a:lnTo>
                <a:lnTo>
                  <a:pt x="2155266" y="1920267"/>
                </a:lnTo>
                <a:lnTo>
                  <a:pt x="2091013" y="1914631"/>
                </a:lnTo>
                <a:cubicBezTo>
                  <a:pt x="2033357" y="1920614"/>
                  <a:pt x="2070513" y="1905065"/>
                  <a:pt x="2030712" y="1897690"/>
                </a:cubicBezTo>
                <a:cubicBezTo>
                  <a:pt x="1994539" y="1893055"/>
                  <a:pt x="1958569" y="1883188"/>
                  <a:pt x="1908838" y="1892222"/>
                </a:cubicBezTo>
                <a:cubicBezTo>
                  <a:pt x="1897236" y="1896147"/>
                  <a:pt x="1883338" y="1892415"/>
                  <a:pt x="1877796" y="1883887"/>
                </a:cubicBezTo>
                <a:cubicBezTo>
                  <a:pt x="1876842" y="1882419"/>
                  <a:pt x="1876177" y="1880863"/>
                  <a:pt x="1875824" y="1879265"/>
                </a:cubicBezTo>
                <a:cubicBezTo>
                  <a:pt x="1843474" y="1887199"/>
                  <a:pt x="1841511" y="1873818"/>
                  <a:pt x="1823048" y="1881064"/>
                </a:cubicBezTo>
                <a:cubicBezTo>
                  <a:pt x="1792640" y="1872164"/>
                  <a:pt x="1782358" y="1850450"/>
                  <a:pt x="1765736" y="1856578"/>
                </a:cubicBezTo>
                <a:cubicBezTo>
                  <a:pt x="1753024" y="1849107"/>
                  <a:pt x="1745932" y="1828316"/>
                  <a:pt x="1725669" y="1833744"/>
                </a:cubicBezTo>
                <a:cubicBezTo>
                  <a:pt x="1727428" y="1831405"/>
                  <a:pt x="1726953" y="1830157"/>
                  <a:pt x="1725216" y="1829447"/>
                </a:cubicBezTo>
                <a:lnTo>
                  <a:pt x="1721485" y="1828960"/>
                </a:lnTo>
                <a:lnTo>
                  <a:pt x="1717786" y="1832224"/>
                </a:lnTo>
                <a:cubicBezTo>
                  <a:pt x="1703445" y="1843277"/>
                  <a:pt x="1706547" y="1827935"/>
                  <a:pt x="1689907" y="1825425"/>
                </a:cubicBezTo>
                <a:cubicBezTo>
                  <a:pt x="1682338" y="1823445"/>
                  <a:pt x="1685181" y="1820226"/>
                  <a:pt x="1688093" y="1817391"/>
                </a:cubicBezTo>
                <a:lnTo>
                  <a:pt x="1496789" y="1805297"/>
                </a:lnTo>
                <a:cubicBezTo>
                  <a:pt x="1463551" y="1793913"/>
                  <a:pt x="1426345" y="1786892"/>
                  <a:pt x="1392839" y="1758649"/>
                </a:cubicBezTo>
                <a:cubicBezTo>
                  <a:pt x="1386461" y="1750573"/>
                  <a:pt x="1374031" y="1756918"/>
                  <a:pt x="1360872" y="1752441"/>
                </a:cubicBezTo>
                <a:cubicBezTo>
                  <a:pt x="1347711" y="1747963"/>
                  <a:pt x="1332751" y="1735898"/>
                  <a:pt x="1313885" y="1731785"/>
                </a:cubicBezTo>
                <a:cubicBezTo>
                  <a:pt x="1281989" y="1726305"/>
                  <a:pt x="1256405" y="1739744"/>
                  <a:pt x="1247665" y="1727765"/>
                </a:cubicBezTo>
                <a:cubicBezTo>
                  <a:pt x="1231363" y="1728538"/>
                  <a:pt x="1209120" y="1742556"/>
                  <a:pt x="1196850" y="1729622"/>
                </a:cubicBezTo>
                <a:cubicBezTo>
                  <a:pt x="1195195" y="1740224"/>
                  <a:pt x="1178147" y="1721561"/>
                  <a:pt x="1168728" y="1728550"/>
                </a:cubicBezTo>
                <a:cubicBezTo>
                  <a:pt x="1152073" y="1727193"/>
                  <a:pt x="1122804" y="1725926"/>
                  <a:pt x="1096918" y="1721485"/>
                </a:cubicBezTo>
                <a:lnTo>
                  <a:pt x="1094082" y="1720113"/>
                </a:lnTo>
                <a:lnTo>
                  <a:pt x="1040782" y="1721762"/>
                </a:lnTo>
                <a:cubicBezTo>
                  <a:pt x="987172" y="1722352"/>
                  <a:pt x="1023272" y="1708707"/>
                  <a:pt x="955980" y="1719289"/>
                </a:cubicBezTo>
                <a:cubicBezTo>
                  <a:pt x="948995" y="1714208"/>
                  <a:pt x="940521" y="1713816"/>
                  <a:pt x="926108" y="1715917"/>
                </a:cubicBezTo>
                <a:cubicBezTo>
                  <a:pt x="900077" y="1715834"/>
                  <a:pt x="902688" y="1703436"/>
                  <a:pt x="876049" y="1710422"/>
                </a:cubicBezTo>
                <a:cubicBezTo>
                  <a:pt x="881084" y="1703830"/>
                  <a:pt x="826830" y="1706893"/>
                  <a:pt x="839194" y="1700176"/>
                </a:cubicBezTo>
                <a:cubicBezTo>
                  <a:pt x="822548" y="1693764"/>
                  <a:pt x="813674" y="1703628"/>
                  <a:pt x="797112" y="1698014"/>
                </a:cubicBezTo>
                <a:cubicBezTo>
                  <a:pt x="778195" y="1696418"/>
                  <a:pt x="807647" y="1705364"/>
                  <a:pt x="786610" y="1705455"/>
                </a:cubicBezTo>
                <a:cubicBezTo>
                  <a:pt x="761170" y="1704357"/>
                  <a:pt x="760599" y="1716610"/>
                  <a:pt x="741833" y="1700566"/>
                </a:cubicBezTo>
                <a:lnTo>
                  <a:pt x="673985" y="1692278"/>
                </a:lnTo>
                <a:cubicBezTo>
                  <a:pt x="658515" y="1695829"/>
                  <a:pt x="646395" y="1693620"/>
                  <a:pt x="634665" y="1689550"/>
                </a:cubicBezTo>
                <a:cubicBezTo>
                  <a:pt x="599149" y="1689690"/>
                  <a:pt x="567176" y="1683160"/>
                  <a:pt x="527471" y="1679869"/>
                </a:cubicBezTo>
                <a:cubicBezTo>
                  <a:pt x="484099" y="1683240"/>
                  <a:pt x="462693" y="1671949"/>
                  <a:pt x="420260" y="1668475"/>
                </a:cubicBezTo>
                <a:cubicBezTo>
                  <a:pt x="377482" y="1677390"/>
                  <a:pt x="393500" y="1652730"/>
                  <a:pt x="357630" y="1652142"/>
                </a:cubicBezTo>
                <a:cubicBezTo>
                  <a:pt x="298692" y="1659518"/>
                  <a:pt x="359631" y="1643849"/>
                  <a:pt x="269407" y="1643812"/>
                </a:cubicBezTo>
                <a:cubicBezTo>
                  <a:pt x="264204" y="1645215"/>
                  <a:pt x="253436" y="1643159"/>
                  <a:pt x="254769" y="1641013"/>
                </a:cubicBezTo>
                <a:cubicBezTo>
                  <a:pt x="234996" y="1641090"/>
                  <a:pt x="179093" y="1626583"/>
                  <a:pt x="150763" y="1628143"/>
                </a:cubicBezTo>
                <a:cubicBezTo>
                  <a:pt x="96232" y="1619954"/>
                  <a:pt x="68845" y="1629422"/>
                  <a:pt x="29133" y="1626172"/>
                </a:cubicBezTo>
                <a:lnTo>
                  <a:pt x="0" y="16195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2C99FF-0575-C686-0441-8A7C7943A1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8675" y="494414"/>
            <a:ext cx="10534650" cy="81740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36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Simulation Result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544D88D-E86D-C58C-ECF5-0910F13DCE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5294" y="2354239"/>
            <a:ext cx="7121411" cy="39480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7829382"/>
      </p:ext>
    </p:extLst>
  </p:cSld>
  <p:clrMapOvr>
    <a:masterClrMapping/>
  </p:clrMapOvr>
  <p:transition spd="slow">
    <p:strips dir="ru"/>
  </p:transition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3136A5-62FA-0555-2A39-94CE565F4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steps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3550EA-4A59-8F02-7B96-66FCEBB561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Extending the model for online sequencing</a:t>
            </a:r>
          </a:p>
          <a:p>
            <a:pPr lvl="1"/>
            <a:r>
              <a:rPr lang="en-US" dirty="0"/>
              <a:t>Safe message emission from the sequencer</a:t>
            </a:r>
          </a:p>
          <a:p>
            <a:r>
              <a:rPr lang="en-US" dirty="0"/>
              <a:t>Characterizing </a:t>
            </a:r>
          </a:p>
          <a:p>
            <a:pPr lvl="1"/>
            <a:r>
              <a:rPr lang="en-US" dirty="0"/>
              <a:t>Especially transitivity property i.e., when it is safe to assume transitivity, what is the downside of assuming it for arbitrary distributions</a:t>
            </a:r>
          </a:p>
          <a:p>
            <a:r>
              <a:rPr lang="en-US" dirty="0"/>
              <a:t>Extension to </a:t>
            </a:r>
            <a:r>
              <a:rPr lang="en-US" i="1" dirty="0"/>
              <a:t>stochastically-fair</a:t>
            </a:r>
            <a:r>
              <a:rPr lang="en-US" dirty="0"/>
              <a:t> total order</a:t>
            </a:r>
          </a:p>
          <a:p>
            <a:r>
              <a:rPr lang="en-US" dirty="0"/>
              <a:t>Evaluating a fair sequencer in the real world</a:t>
            </a:r>
          </a:p>
          <a:p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0F23C094-AADE-7363-7042-631F06F1D2D3}"/>
              </a:ext>
            </a:extLst>
          </p:cNvPr>
          <p:cNvGrpSpPr/>
          <p:nvPr/>
        </p:nvGrpSpPr>
        <p:grpSpPr>
          <a:xfrm>
            <a:off x="3489692" y="2639523"/>
            <a:ext cx="376518" cy="369332"/>
            <a:chOff x="3653815" y="2639523"/>
            <a:chExt cx="376518" cy="369332"/>
          </a:xfrm>
        </p:grpSpPr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4EE15409-7C15-2463-67B3-A1721F3BCC2C}"/>
                </a:ext>
              </a:extLst>
            </p:cNvPr>
            <p:cNvCxnSpPr>
              <a:cxnSpLocks/>
            </p:cNvCxnSpPr>
            <p:nvPr/>
          </p:nvCxnSpPr>
          <p:spPr>
            <a:xfrm>
              <a:off x="3653815" y="3008855"/>
              <a:ext cx="376518" cy="0"/>
            </a:xfrm>
            <a:prstGeom prst="straightConnector1">
              <a:avLst/>
            </a:prstGeom>
            <a:ln w="28575"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7C21DB5F-4B06-2074-E75D-56B222CA34BC}"/>
                </a:ext>
              </a:extLst>
            </p:cNvPr>
            <p:cNvSpPr txBox="1"/>
            <p:nvPr/>
          </p:nvSpPr>
          <p:spPr>
            <a:xfrm>
              <a:off x="3653815" y="2639523"/>
              <a:ext cx="3145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p</a:t>
              </a:r>
            </a:p>
          </p:txBody>
        </p:sp>
      </p:grpSp>
      <p:sp>
        <p:nvSpPr>
          <p:cNvPr id="7" name="Rectangle 6">
            <a:extLst>
              <a:ext uri="{FF2B5EF4-FFF2-40B4-BE49-F238E27FC236}">
                <a16:creationId xmlns:a16="http://schemas.microsoft.com/office/drawing/2014/main" id="{4AE16A4C-553E-77FA-5B98-560D8D629664}"/>
              </a:ext>
            </a:extLst>
          </p:cNvPr>
          <p:cNvSpPr/>
          <p:nvPr/>
        </p:nvSpPr>
        <p:spPr>
          <a:xfrm>
            <a:off x="1890351" y="5253634"/>
            <a:ext cx="8216865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12700">
                  <a:solidFill>
                    <a:schemeClr val="tx2">
                      <a:lumMod val="75000"/>
                    </a:schemeClr>
                  </a:solidFill>
                  <a:prstDash val="solid"/>
                </a:ln>
                <a:pattFill prst="dkUpDiag">
                  <a:fgClr>
                    <a:schemeClr val="tx2"/>
                  </a:fgClr>
                  <a:bgClr>
                    <a:schemeClr val="tx2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tx2">
                      <a:lumMod val="75000"/>
                    </a:schemeClr>
                  </a:outerShdw>
                </a:effectLst>
              </a:rPr>
              <a:t>Thanks for your attention!</a:t>
            </a:r>
          </a:p>
        </p:txBody>
      </p:sp>
    </p:spTree>
    <p:extLst>
      <p:ext uri="{BB962C8B-B14F-4D97-AF65-F5344CB8AC3E}">
        <p14:creationId xmlns:p14="http://schemas.microsoft.com/office/powerpoint/2010/main" val="3759630460"/>
      </p:ext>
    </p:extLst>
  </p:cSld>
  <p:clrMapOvr>
    <a:masterClrMapping/>
  </p:clrMapOvr>
  <p:transition spd="slow">
    <p:strips dir="r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7" grpId="0"/>
    </p:bldLst>
  </p:timing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678</TotalTime>
  <Words>1539</Words>
  <Application>Microsoft Macintosh PowerPoint</Application>
  <PresentationFormat>Widescreen</PresentationFormat>
  <Paragraphs>279</Paragraphs>
  <Slides>49</Slides>
  <Notes>6</Notes>
  <HiddenSlides>14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49</vt:i4>
      </vt:variant>
    </vt:vector>
  </HeadingPairs>
  <TitlesOfParts>
    <vt:vector size="56" baseType="lpstr">
      <vt:lpstr>Aptos</vt:lpstr>
      <vt:lpstr>Aptos Display</vt:lpstr>
      <vt:lpstr>Arial</vt:lpstr>
      <vt:lpstr>Calibri</vt:lpstr>
      <vt:lpstr>Mistral</vt:lpstr>
      <vt:lpstr>Wingdings</vt:lpstr>
      <vt:lpstr>1_Office Theme</vt:lpstr>
      <vt:lpstr>Towards Probabilistic Fair Order</vt:lpstr>
      <vt:lpstr>A Financial Market</vt:lpstr>
      <vt:lpstr>A Financial Market</vt:lpstr>
      <vt:lpstr>A Financial Market</vt:lpstr>
      <vt:lpstr>A Financial Market</vt:lpstr>
      <vt:lpstr>A Financial Market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Sequencers are everywhere</vt:lpstr>
      <vt:lpstr>Need for Fair Order</vt:lpstr>
      <vt:lpstr>Challenge</vt:lpstr>
      <vt:lpstr>What’s out there?</vt:lpstr>
      <vt:lpstr>A Simple Solution</vt:lpstr>
      <vt:lpstr>Probabilistic Fair Ordering</vt:lpstr>
      <vt:lpstr>Probabilistic Fair Ordering</vt:lpstr>
      <vt:lpstr>Two Questions</vt:lpstr>
      <vt:lpstr>Sequencer Overview – Before Tommy</vt:lpstr>
      <vt:lpstr>Sequencer Overview – After Tommy</vt:lpstr>
      <vt:lpstr>Sequencer Overview – After Tommy</vt:lpstr>
      <vt:lpstr>Ordering Probability p</vt:lpstr>
      <vt:lpstr>Ordering Probability p</vt:lpstr>
      <vt:lpstr>Ordering Probability p</vt:lpstr>
      <vt:lpstr>Ordering Probability p</vt:lpstr>
      <vt:lpstr>Ordering Probability p</vt:lpstr>
      <vt:lpstr>Ordering Probability p</vt:lpstr>
      <vt:lpstr>Partial Order</vt:lpstr>
      <vt:lpstr>Partial Order</vt:lpstr>
      <vt:lpstr>Partial Order</vt:lpstr>
      <vt:lpstr>Partial Order</vt:lpstr>
      <vt:lpstr>Partial Order</vt:lpstr>
      <vt:lpstr>Partial Order</vt:lpstr>
      <vt:lpstr>Partial Order</vt:lpstr>
      <vt:lpstr>Partial Order</vt:lpstr>
      <vt:lpstr>Partial Order</vt:lpstr>
      <vt:lpstr>Partial Order</vt:lpstr>
      <vt:lpstr>Partial Order</vt:lpstr>
      <vt:lpstr>Partial Order</vt:lpstr>
      <vt:lpstr>Simulation Result</vt:lpstr>
      <vt:lpstr>Next steps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Muhammad Haseeb</dc:creator>
  <cp:lastModifiedBy>Muhammad Haseeb</cp:lastModifiedBy>
  <cp:revision>124</cp:revision>
  <dcterms:created xsi:type="dcterms:W3CDTF">2025-10-29T17:15:14Z</dcterms:created>
  <dcterms:modified xsi:type="dcterms:W3CDTF">2025-11-11T20:22:10Z</dcterms:modified>
</cp:coreProperties>
</file>