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3"/>
  </p:notesMasterIdLst>
  <p:sldIdLst>
    <p:sldId id="263" r:id="rId2"/>
    <p:sldId id="351" r:id="rId3"/>
    <p:sldId id="352" r:id="rId4"/>
    <p:sldId id="353" r:id="rId5"/>
    <p:sldId id="354" r:id="rId6"/>
    <p:sldId id="355" r:id="rId7"/>
    <p:sldId id="356" r:id="rId8"/>
    <p:sldId id="357" r:id="rId9"/>
    <p:sldId id="358" r:id="rId10"/>
    <p:sldId id="359" r:id="rId11"/>
    <p:sldId id="360" r:id="rId12"/>
    <p:sldId id="361" r:id="rId13"/>
    <p:sldId id="362" r:id="rId14"/>
    <p:sldId id="363" r:id="rId15"/>
    <p:sldId id="364" r:id="rId16"/>
    <p:sldId id="365" r:id="rId17"/>
    <p:sldId id="366" r:id="rId18"/>
    <p:sldId id="368" r:id="rId19"/>
    <p:sldId id="277" r:id="rId20"/>
    <p:sldId id="340" r:id="rId21"/>
    <p:sldId id="369" r:id="rId22"/>
    <p:sldId id="370" r:id="rId23"/>
    <p:sldId id="371" r:id="rId24"/>
    <p:sldId id="372" r:id="rId25"/>
    <p:sldId id="374" r:id="rId26"/>
    <p:sldId id="376" r:id="rId27"/>
    <p:sldId id="377" r:id="rId28"/>
    <p:sldId id="266" r:id="rId29"/>
    <p:sldId id="349" r:id="rId30"/>
    <p:sldId id="278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76" r:id="rId39"/>
    <p:sldId id="269" r:id="rId40"/>
    <p:sldId id="273" r:id="rId41"/>
    <p:sldId id="271" r:id="rId4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673"/>
    <p:restoredTop sz="93701"/>
  </p:normalViewPr>
  <p:slideViewPr>
    <p:cSldViewPr snapToGrid="0">
      <p:cViewPr varScale="1">
        <p:scale>
          <a:sx n="92" d="100"/>
          <a:sy n="92" d="100"/>
        </p:scale>
        <p:origin x="192" y="9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07AACE-DECF-044F-84A2-0C8ECB6ADA06}" type="datetimeFigureOut">
              <a:rPr lang="en-US" smtClean="0"/>
              <a:t>11/11/25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E8125A-D8BB-E74B-8C6E-AB7BD2C997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7956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Efron’s dice, Condorcet paradox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8218EBC-0A23-F247-983B-440A962108A9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892598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489CC8-3483-2449-6AE7-2E7811415E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7D8B5F9-7488-31E2-CC9A-B50E7C9EDB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CA5A39-6690-69DC-93A4-FB04A747BE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5D2492-AC70-2141-AC0C-17DCD52B4752}" type="datetime1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A5098F-8C47-BD38-D7A6-A7E44A3AC3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1CE420-E5B7-AB50-A816-77DD97CC5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92605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B6EEC-C362-E1F9-D220-4FBA9565F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182AE1-0A6C-73E9-BB01-2E25D23D36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25C939-DF3D-4282-8199-45A037B9A9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BDF429-4C14-7B4A-B19D-A0047B9F1B4B}" type="datetime1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16F0CD-FE1D-6079-49AE-F87F2CB3C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9F2BA7-8D27-7F49-88B2-D6950D994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61962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DC252-3EFA-163E-15EC-BF4390B35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F0CCD9-269C-A882-609D-D2C3D66248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96DDE7-F726-ADC8-AD97-F26F4B5C48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236A-87D7-9843-88C4-48A4AF171E86}" type="datetime1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274734-470F-6D57-231F-7522A7AFBD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81C889-3A6D-AD40-645E-1E6CDE1E50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8776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558DA8-2C41-23FC-8185-753462B7BA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13352A-F4FA-9CB1-1696-870EB1A89D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3A387A-EDD3-0CD5-227C-CC3DE3D34F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812931-F695-753D-78CB-97CBA5E072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AB6F2B-6FBC-214D-9C4A-C58DF8A7FCB9}" type="datetime1">
              <a:rPr lang="en-US" smtClean="0"/>
              <a:t>11/11/25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02FA56-AA49-8486-9289-E151E79047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8A1A68-5B8C-0F7E-491D-1C9F17D4C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72611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5ECEEB-1E4D-F0BC-5766-01121A183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D4B4CE-EBD7-E8F3-5451-2133AC7E06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54BD8E-34F3-A55C-114A-D17E85D616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7C06F85-C6F0-5456-0A72-C594D7DC990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CE94893-075E-EB6B-55AC-62F2E0CEC9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2CEDDDE-FB3F-973C-45AD-2688A51335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5FA95-A07E-9941-8A87-BDD29E767DA7}" type="datetime1">
              <a:rPr lang="en-US" smtClean="0"/>
              <a:t>11/11/25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736DE76-0D6A-F40D-B732-908F429798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C4AA9CC-0F85-34AF-1D96-D58E6BA307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4365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0E80C5-32F6-9D4B-9256-20823BC3BD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4E3B95-F7E3-25DB-7F21-F489951614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F1CA85-9E75-364A-887C-5B613827D324}" type="datetime1">
              <a:rPr lang="en-US" smtClean="0"/>
              <a:t>11/11/25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5AE9371-78D5-4C72-C059-18304961F0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D0035D5-EF95-3650-C946-19DD553C1E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7909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9C6D8C-7270-8941-CBC4-512B0483EE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E42F5B-1E89-9840-A26C-C6BA2A23E2D0}" type="datetime1">
              <a:rPr lang="en-US" smtClean="0"/>
              <a:t>11/11/25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71D819E-56FA-94D1-F2F6-0D4191383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3670F9-538A-A65A-EBC9-F5906F119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9359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BE9AE-8119-F92C-4D8F-62F667A226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3C7707-59E6-90A9-C17A-AF6FB92853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CCFDEC-65F8-E3B3-C304-84F962412A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E817EA-279C-AB1D-F581-762A75E016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B241E-9E92-8D46-BFD6-E707A04F9829}" type="datetime1">
              <a:rPr lang="en-US" smtClean="0"/>
              <a:t>11/11/25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846691-4B7B-980C-EA6A-D22E8A9C9A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932AF5-CB87-FBF2-2C5F-6547C4099A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47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B7D5D3-0366-3F3C-23A4-06712902D9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65D708B-5A95-A7A8-89A5-CE7A84EE1AA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927582-1DA1-752E-DAE3-EB5A3D0705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B6BA60-8D2E-F867-6D37-858BF1CC04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A34353-62E4-F94E-ADC1-D1403AD453E1}" type="datetime1">
              <a:rPr lang="en-US" smtClean="0"/>
              <a:t>11/11/25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0DFCA9-F3EF-0AC3-9FC4-69CF2B3CC6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18370F-78E1-45D9-C289-966A23341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01325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9FCB53-B76B-22EC-C782-0357471199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55C8BA-7558-55B7-54CF-2B44D1432A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509F8-2118-E6F0-99BD-EE20223CC5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17235A-17C4-B841-B2B5-CA079511FDEC}" type="datetime1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65D553-0AB5-4450-C8AE-18D96D2A60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E4BCD4-F56B-8B3B-F7D8-200AF0A00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42275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952F8F5-326C-281C-6FBC-02EAC18F2CA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5EADAC-2818-A1DC-CF2B-786CC8DA3E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E2ABDF-8689-449B-68C3-7C9DED70C4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307E39-E6DB-B341-B0FA-CECD76628CBB}" type="datetime1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6A7137-447E-E1C2-C3BD-5C19B2FEDF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DF57FD-EFFE-98FC-BC47-1FEBE3DF53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82350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57189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219170" lvl="1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0574231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152C756-4936-63A8-1D87-1501CB4F68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B5091F-0342-E547-03E4-EFDF7189EE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31D55D-E5FD-1C18-6FB7-0889D6E98E4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F4EA125-C503-9049-954D-E48C32DE308D}" type="datetime1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58170C-374B-882B-CDFF-F94692FE4B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12BB67-7693-C8D1-B0BA-FB7AA6B00F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83079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4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2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4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2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4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3.png"/><Relationship Id="rId17" Type="http://schemas.openxmlformats.org/officeDocument/2006/relationships/image" Target="../media/image16.sv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2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emf"/><Relationship Id="rId2" Type="http://schemas.openxmlformats.org/officeDocument/2006/relationships/image" Target="../media/image19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emf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svg"/><Relationship Id="rId7" Type="http://schemas.openxmlformats.org/officeDocument/2006/relationships/image" Target="../media/image27.sv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svg"/><Relationship Id="rId10" Type="http://schemas.openxmlformats.org/officeDocument/2006/relationships/image" Target="../media/image30.png"/><Relationship Id="rId4" Type="http://schemas.openxmlformats.org/officeDocument/2006/relationships/image" Target="../media/image24.png"/><Relationship Id="rId9" Type="http://schemas.openxmlformats.org/officeDocument/2006/relationships/image" Target="../media/image29.sv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svg"/><Relationship Id="rId7" Type="http://schemas.openxmlformats.org/officeDocument/2006/relationships/image" Target="../media/image27.sv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svg"/><Relationship Id="rId10" Type="http://schemas.openxmlformats.org/officeDocument/2006/relationships/image" Target="../media/image30.png"/><Relationship Id="rId4" Type="http://schemas.openxmlformats.org/officeDocument/2006/relationships/image" Target="../media/image24.png"/><Relationship Id="rId9" Type="http://schemas.openxmlformats.org/officeDocument/2006/relationships/image" Target="../media/image29.sv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emf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emf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FFD48BC7-DC40-47DE-87EE-9F4B6ECB9A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 useBgFill="1">
        <p:nvSpPr>
          <p:cNvPr id="9" name="Freeform: Shape 8">
            <a:extLst>
              <a:ext uri="{FF2B5EF4-FFF2-40B4-BE49-F238E27FC236}">
                <a16:creationId xmlns:a16="http://schemas.microsoft.com/office/drawing/2014/main" id="{E502BBC7-2C76-46F3-BC24-5985BC13DB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14425" y="0"/>
            <a:ext cx="9963150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139700" sx="102000" sy="102000" algn="ctr" rotWithShape="0">
              <a:schemeClr val="bg1">
                <a:lumMod val="85000"/>
                <a:alpha val="3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Freeform: Shape 10">
            <a:extLst>
              <a:ext uri="{FF2B5EF4-FFF2-40B4-BE49-F238E27FC236}">
                <a16:creationId xmlns:a16="http://schemas.microsoft.com/office/drawing/2014/main" id="{C7F28D52-2A5F-4D23-81AE-7CB8B591C7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1664" y="0"/>
            <a:ext cx="9948672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29484E-3792-4B3D-89AD-7C8A1ED0E0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18560" y="5524786"/>
            <a:ext cx="4754880" cy="2743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D3C3834-5FF7-E139-E0B7-538FE11218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305782"/>
            <a:ext cx="9144000" cy="2387600"/>
          </a:xfrm>
        </p:spPr>
        <p:txBody>
          <a:bodyPr>
            <a:normAutofit/>
          </a:bodyPr>
          <a:lstStyle/>
          <a:p>
            <a:r>
              <a:rPr lang="en-US" sz="72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Towards Probabilistic Fair Order</a:t>
            </a:r>
            <a:endParaRPr lang="en-US" sz="72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8BC87CD-6594-D550-6B16-8E2B98C16BD8}"/>
              </a:ext>
            </a:extLst>
          </p:cNvPr>
          <p:cNvSpPr txBox="1"/>
          <p:nvPr/>
        </p:nvSpPr>
        <p:spPr>
          <a:xfrm>
            <a:off x="2104292" y="4104210"/>
            <a:ext cx="798341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u="sng" dirty="0">
                <a:solidFill>
                  <a:srgbClr val="7030A0"/>
                </a:solidFill>
              </a:rPr>
              <a:t>Haseeb Ashfaq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7030A0"/>
                </a:solidFill>
              </a:rPr>
              <a:t>Jinkun Geng</a:t>
            </a:r>
            <a:r>
              <a:rPr lang="en-US" sz="2400" dirty="0"/>
              <a:t>, </a:t>
            </a:r>
            <a:r>
              <a:rPr lang="en-US" sz="2400" dirty="0">
                <a:solidFill>
                  <a:schemeClr val="accent2"/>
                </a:solidFill>
              </a:rPr>
              <a:t>Radhika Mittal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7030A0"/>
                </a:solidFill>
              </a:rPr>
              <a:t>Aurojit Panda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FF0000"/>
                </a:solidFill>
              </a:rPr>
              <a:t>Srinivas Narayana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7030A0"/>
                </a:solidFill>
              </a:rPr>
              <a:t>Anirudh Sivaraman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501DE95-D977-3B4A-B70F-2BCD6C9E7D70}"/>
              </a:ext>
            </a:extLst>
          </p:cNvPr>
          <p:cNvSpPr txBox="1"/>
          <p:nvPr/>
        </p:nvSpPr>
        <p:spPr>
          <a:xfrm>
            <a:off x="2104291" y="4999164"/>
            <a:ext cx="798341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7030A0"/>
                </a:solidFill>
              </a:rPr>
              <a:t>NYU</a:t>
            </a:r>
            <a:r>
              <a:rPr lang="en-US" sz="2400" dirty="0"/>
              <a:t>, </a:t>
            </a:r>
            <a:r>
              <a:rPr lang="en-US" sz="2400" dirty="0">
                <a:solidFill>
                  <a:schemeClr val="accent2"/>
                </a:solidFill>
              </a:rPr>
              <a:t>UIUC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FF0000"/>
                </a:solidFill>
              </a:rPr>
              <a:t>Rutgers University</a:t>
            </a:r>
          </a:p>
        </p:txBody>
      </p:sp>
    </p:spTree>
    <p:extLst>
      <p:ext uri="{BB962C8B-B14F-4D97-AF65-F5344CB8AC3E}">
        <p14:creationId xmlns:p14="http://schemas.microsoft.com/office/powerpoint/2010/main" val="8125356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3E79F9-2E62-8239-0CA0-1BC333D3B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85DD0D-C2A0-514E-9283-CEC4A187B8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638386-D84F-67FD-9F6E-3152820992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2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F7E10220-F9FD-2DA6-3F41-1CA1426561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45526" y="2050689"/>
            <a:ext cx="2760519" cy="2760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5813914"/>
      </p:ext>
    </p:extLst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828DBA-EDBD-E3E0-4F1C-519C9B7D12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0E546F-BF65-FA74-EA2D-F158A58F99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28A623-A5D2-8F7D-A271-E1B68D630C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3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B557F74D-ED46-E285-F642-2CB94C47CF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3" name="Graphic 2" descr="Marketing outline">
            <a:extLst>
              <a:ext uri="{FF2B5EF4-FFF2-40B4-BE49-F238E27FC236}">
                <a16:creationId xmlns:a16="http://schemas.microsoft.com/office/drawing/2014/main" id="{572546F5-F22C-0DE0-1D29-1EC5E0A76C9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272144" y="2521527"/>
            <a:ext cx="1814946" cy="18149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6714079B-4348-3DE5-27D6-EBB0F747ECE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C48F3121-D9B7-3858-F89A-0AFFB7F097D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0C78D743-0D63-5BC5-3661-FD4F74E79AB0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8" name="Graphic 7" descr="Head with gears with solid fill">
            <a:extLst>
              <a:ext uri="{FF2B5EF4-FFF2-40B4-BE49-F238E27FC236}">
                <a16:creationId xmlns:a16="http://schemas.microsoft.com/office/drawing/2014/main" id="{59C193E1-7AB9-AAB1-C73C-44489D093F0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141774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F29BBE-72FA-B172-BA93-AC2155D190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6CD2A-7F51-F988-4A7C-A4510581E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4E64C3-37EC-49C1-C14C-57895B3FF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4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05675F9B-60F2-9B0C-70AD-A7FBDB4441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3" name="Graphic 2" descr="Marketing outline">
            <a:extLst>
              <a:ext uri="{FF2B5EF4-FFF2-40B4-BE49-F238E27FC236}">
                <a16:creationId xmlns:a16="http://schemas.microsoft.com/office/drawing/2014/main" id="{A1CAD604-E832-1FAC-7935-3412F930CA1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272144" y="2521527"/>
            <a:ext cx="1814946" cy="18149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F49B5A4D-B2D5-61B2-A78F-29FF6F4A067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A10C5BBA-F8B7-2266-A081-D924D374ED9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B60B992C-341D-AB67-CC16-9323B9570F3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13" name="Graphic 12" descr="Coins with solid fill">
            <a:extLst>
              <a:ext uri="{FF2B5EF4-FFF2-40B4-BE49-F238E27FC236}">
                <a16:creationId xmlns:a16="http://schemas.microsoft.com/office/drawing/2014/main" id="{5C5D49E1-FC73-14BA-D077-1B03A2B75FB7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635897" y="1233488"/>
            <a:ext cx="914400" cy="914400"/>
          </a:xfrm>
          <a:prstGeom prst="rect">
            <a:avLst/>
          </a:prstGeom>
        </p:spPr>
      </p:pic>
      <p:pic>
        <p:nvPicPr>
          <p:cNvPr id="18" name="Graphic 17" descr="Coins with solid fill">
            <a:extLst>
              <a:ext uri="{FF2B5EF4-FFF2-40B4-BE49-F238E27FC236}">
                <a16:creationId xmlns:a16="http://schemas.microsoft.com/office/drawing/2014/main" id="{0C543CD7-E12B-3C4F-14DE-E93BFC384B7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696200" y="3726874"/>
            <a:ext cx="914400" cy="914400"/>
          </a:xfrm>
          <a:prstGeom prst="rect">
            <a:avLst/>
          </a:prstGeom>
        </p:spPr>
      </p:pic>
      <p:pic>
        <p:nvPicPr>
          <p:cNvPr id="19" name="Graphic 18" descr="Coins with solid fill">
            <a:extLst>
              <a:ext uri="{FF2B5EF4-FFF2-40B4-BE49-F238E27FC236}">
                <a16:creationId xmlns:a16="http://schemas.microsoft.com/office/drawing/2014/main" id="{7EE0C082-B571-BFC6-F723-E1236BBABFF0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624085" y="2480181"/>
            <a:ext cx="914400" cy="914400"/>
          </a:xfrm>
          <a:prstGeom prst="rect">
            <a:avLst/>
          </a:prstGeom>
        </p:spPr>
      </p:pic>
      <p:pic>
        <p:nvPicPr>
          <p:cNvPr id="20" name="Graphic 19" descr="Coins with solid fill">
            <a:extLst>
              <a:ext uri="{FF2B5EF4-FFF2-40B4-BE49-F238E27FC236}">
                <a16:creationId xmlns:a16="http://schemas.microsoft.com/office/drawing/2014/main" id="{3C2E0B11-9EBA-CCBA-A6FB-49FF46BDE413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696200" y="5041612"/>
            <a:ext cx="914400" cy="914400"/>
          </a:xfrm>
          <a:prstGeom prst="rect">
            <a:avLst/>
          </a:prstGeom>
        </p:spPr>
      </p:pic>
      <p:pic>
        <p:nvPicPr>
          <p:cNvPr id="21" name="Graphic 20" descr="Head with gears with solid fill">
            <a:extLst>
              <a:ext uri="{FF2B5EF4-FFF2-40B4-BE49-F238E27FC236}">
                <a16:creationId xmlns:a16="http://schemas.microsoft.com/office/drawing/2014/main" id="{13CDDF7D-7FB2-B412-31F8-CCF5418BE592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282509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ABAA2-49D5-696E-5E79-4FD8B4D68D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AD32B3-77E5-8368-AACD-C994B0C4B0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0C9113-8AEF-BBAC-B487-291339FB00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5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804706E6-7140-7FB4-263D-A07F4ECE59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3" name="Graphic 2" descr="Marketing outline">
            <a:extLst>
              <a:ext uri="{FF2B5EF4-FFF2-40B4-BE49-F238E27FC236}">
                <a16:creationId xmlns:a16="http://schemas.microsoft.com/office/drawing/2014/main" id="{10BB1DAE-9A67-B7D2-F0B1-7DC4FC4729A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272144" y="2521527"/>
            <a:ext cx="1814946" cy="18149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A92473BC-8FE4-3F08-FD96-85C16166B1D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C07B8E88-FD12-0994-8CB2-1D582CB750D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E14C2B8F-FE57-0C1A-D5A4-334E208F7B7E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13" name="Graphic 12" descr="Coins with solid fill">
            <a:extLst>
              <a:ext uri="{FF2B5EF4-FFF2-40B4-BE49-F238E27FC236}">
                <a16:creationId xmlns:a16="http://schemas.microsoft.com/office/drawing/2014/main" id="{9E0D4869-70CC-0F21-6DE9-5CCC78BB6438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265217" y="4461597"/>
            <a:ext cx="914400" cy="914400"/>
          </a:xfrm>
          <a:prstGeom prst="rect">
            <a:avLst/>
          </a:prstGeom>
        </p:spPr>
      </p:pic>
      <p:pic>
        <p:nvPicPr>
          <p:cNvPr id="18" name="Graphic 17" descr="Coins with solid fill">
            <a:extLst>
              <a:ext uri="{FF2B5EF4-FFF2-40B4-BE49-F238E27FC236}">
                <a16:creationId xmlns:a16="http://schemas.microsoft.com/office/drawing/2014/main" id="{FABA1E46-7DE3-7E83-307D-3580F12A83C4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615740" y="4774719"/>
            <a:ext cx="914400" cy="914400"/>
          </a:xfrm>
          <a:prstGeom prst="rect">
            <a:avLst/>
          </a:prstGeom>
        </p:spPr>
      </p:pic>
      <p:pic>
        <p:nvPicPr>
          <p:cNvPr id="19" name="Graphic 18" descr="Coins with solid fill">
            <a:extLst>
              <a:ext uri="{FF2B5EF4-FFF2-40B4-BE49-F238E27FC236}">
                <a16:creationId xmlns:a16="http://schemas.microsoft.com/office/drawing/2014/main" id="{9272677E-CB3D-8242-D78E-54D89A23FFD8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198716" y="4737246"/>
            <a:ext cx="914400" cy="914400"/>
          </a:xfrm>
          <a:prstGeom prst="rect">
            <a:avLst/>
          </a:prstGeom>
        </p:spPr>
      </p:pic>
      <p:pic>
        <p:nvPicPr>
          <p:cNvPr id="20" name="Graphic 19" descr="Coins with solid fill">
            <a:extLst>
              <a:ext uri="{FF2B5EF4-FFF2-40B4-BE49-F238E27FC236}">
                <a16:creationId xmlns:a16="http://schemas.microsoft.com/office/drawing/2014/main" id="{B5C4193A-1BB1-1DBF-BD50-36C1D9C3C7E3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530140" y="5188913"/>
            <a:ext cx="914400" cy="914400"/>
          </a:xfrm>
          <a:prstGeom prst="rect">
            <a:avLst/>
          </a:prstGeom>
        </p:spPr>
      </p:pic>
      <p:pic>
        <p:nvPicPr>
          <p:cNvPr id="9" name="Graphic 8" descr="Head with gears with solid fill">
            <a:extLst>
              <a:ext uri="{FF2B5EF4-FFF2-40B4-BE49-F238E27FC236}">
                <a16:creationId xmlns:a16="http://schemas.microsoft.com/office/drawing/2014/main" id="{61C790B3-126D-41E0-B7AC-5D62B7C77111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4BE8875-5FE5-9DC5-21A3-35CBC30A7632}"/>
              </a:ext>
            </a:extLst>
          </p:cNvPr>
          <p:cNvSpPr/>
          <p:nvPr/>
        </p:nvSpPr>
        <p:spPr>
          <a:xfrm>
            <a:off x="4641275" y="1497157"/>
            <a:ext cx="3463637" cy="1024803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1 stock, 4 buyers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AF2FE911-F778-682B-6D73-ACFA24E5FAC2}"/>
              </a:ext>
            </a:extLst>
          </p:cNvPr>
          <p:cNvSpPr/>
          <p:nvPr/>
        </p:nvSpPr>
        <p:spPr>
          <a:xfrm>
            <a:off x="4641275" y="2979377"/>
            <a:ext cx="3463637" cy="1024803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Who gets to buy?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2D8EAB7D-7673-0A52-9E1E-9024D662074D}"/>
              </a:ext>
            </a:extLst>
          </p:cNvPr>
          <p:cNvSpPr/>
          <p:nvPr/>
        </p:nvSpPr>
        <p:spPr>
          <a:xfrm>
            <a:off x="4674779" y="4461597"/>
            <a:ext cx="3463637" cy="1024803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whoever asked first!</a:t>
            </a:r>
          </a:p>
        </p:txBody>
      </p:sp>
    </p:spTree>
    <p:extLst>
      <p:ext uri="{BB962C8B-B14F-4D97-AF65-F5344CB8AC3E}">
        <p14:creationId xmlns:p14="http://schemas.microsoft.com/office/powerpoint/2010/main" val="117967327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52BF5-3015-D126-2799-1281798A1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A3F751-6B8B-47A8-38C2-14DA7EDA8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CC7D2A-720C-518A-83C6-19913CA086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6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763ADF05-A92F-8F33-CDBF-32658D487B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3" name="Graphic 2" descr="Marketing outline">
            <a:extLst>
              <a:ext uri="{FF2B5EF4-FFF2-40B4-BE49-F238E27FC236}">
                <a16:creationId xmlns:a16="http://schemas.microsoft.com/office/drawing/2014/main" id="{C2B292DE-8C03-DC4A-6942-F149BE89D3E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272144" y="2521527"/>
            <a:ext cx="1814946" cy="18149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1204A95F-8644-A11D-66BA-A7F77A63C9A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E6806E34-1994-1032-9DF6-4D6F18656CC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6306CEE3-B920-4472-B56E-A4FA29F00666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13" name="Graphic 12" descr="Coins with solid fill">
            <a:extLst>
              <a:ext uri="{FF2B5EF4-FFF2-40B4-BE49-F238E27FC236}">
                <a16:creationId xmlns:a16="http://schemas.microsoft.com/office/drawing/2014/main" id="{9BDBF1A2-F83E-4662-7812-48D08B377F1A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265217" y="4461597"/>
            <a:ext cx="914400" cy="914400"/>
          </a:xfrm>
          <a:prstGeom prst="rect">
            <a:avLst/>
          </a:prstGeom>
        </p:spPr>
      </p:pic>
      <p:pic>
        <p:nvPicPr>
          <p:cNvPr id="18" name="Graphic 17" descr="Coins with solid fill">
            <a:extLst>
              <a:ext uri="{FF2B5EF4-FFF2-40B4-BE49-F238E27FC236}">
                <a16:creationId xmlns:a16="http://schemas.microsoft.com/office/drawing/2014/main" id="{00BA45E6-65FC-EE9D-562C-7656E86B693F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615740" y="4774719"/>
            <a:ext cx="914400" cy="914400"/>
          </a:xfrm>
          <a:prstGeom prst="rect">
            <a:avLst/>
          </a:prstGeom>
        </p:spPr>
      </p:pic>
      <p:pic>
        <p:nvPicPr>
          <p:cNvPr id="19" name="Graphic 18" descr="Coins with solid fill">
            <a:extLst>
              <a:ext uri="{FF2B5EF4-FFF2-40B4-BE49-F238E27FC236}">
                <a16:creationId xmlns:a16="http://schemas.microsoft.com/office/drawing/2014/main" id="{61637A50-1F56-9708-958E-32EE0A34805C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198716" y="4737246"/>
            <a:ext cx="914400" cy="914400"/>
          </a:xfrm>
          <a:prstGeom prst="rect">
            <a:avLst/>
          </a:prstGeom>
        </p:spPr>
      </p:pic>
      <p:pic>
        <p:nvPicPr>
          <p:cNvPr id="20" name="Graphic 19" descr="Coins with solid fill">
            <a:extLst>
              <a:ext uri="{FF2B5EF4-FFF2-40B4-BE49-F238E27FC236}">
                <a16:creationId xmlns:a16="http://schemas.microsoft.com/office/drawing/2014/main" id="{5D21E5F1-9028-51CE-CAA1-1CCC9B754E95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530140" y="5188913"/>
            <a:ext cx="914400" cy="914400"/>
          </a:xfrm>
          <a:prstGeom prst="rect">
            <a:avLst/>
          </a:prstGeom>
        </p:spPr>
      </p:pic>
      <p:pic>
        <p:nvPicPr>
          <p:cNvPr id="9" name="Graphic 8" descr="Head with gears with solid fill">
            <a:extLst>
              <a:ext uri="{FF2B5EF4-FFF2-40B4-BE49-F238E27FC236}">
                <a16:creationId xmlns:a16="http://schemas.microsoft.com/office/drawing/2014/main" id="{78C82B5A-FD9B-0AD2-CA57-ED29DE40B2A2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A4FF3DAD-CAB3-CE75-7E3C-A5924B0BA599}"/>
              </a:ext>
            </a:extLst>
          </p:cNvPr>
          <p:cNvSpPr/>
          <p:nvPr/>
        </p:nvSpPr>
        <p:spPr>
          <a:xfrm>
            <a:off x="4087090" y="1497331"/>
            <a:ext cx="4633899" cy="1325562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bg1"/>
                </a:solidFill>
              </a:rPr>
              <a:t>whoever asked first!</a:t>
            </a:r>
          </a:p>
        </p:txBody>
      </p:sp>
      <p:pic>
        <p:nvPicPr>
          <p:cNvPr id="15" name="Graphic 14" descr="Question Mark with solid fill">
            <a:extLst>
              <a:ext uri="{FF2B5EF4-FFF2-40B4-BE49-F238E27FC236}">
                <a16:creationId xmlns:a16="http://schemas.microsoft.com/office/drawing/2014/main" id="{E11FD498-207A-9028-8322-FE0743020624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906043" y="2095015"/>
            <a:ext cx="700266" cy="700266"/>
          </a:xfrm>
          <a:prstGeom prst="rect">
            <a:avLst/>
          </a:prstGeom>
        </p:spPr>
      </p:pic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3887983B-C5B4-84EC-7B7F-4EA9A0AC10E3}"/>
              </a:ext>
            </a:extLst>
          </p:cNvPr>
          <p:cNvSpPr/>
          <p:nvPr/>
        </p:nvSpPr>
        <p:spPr>
          <a:xfrm>
            <a:off x="4087089" y="3429000"/>
            <a:ext cx="4633899" cy="1325562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Fair Ordering</a:t>
            </a:r>
          </a:p>
        </p:txBody>
      </p:sp>
    </p:spTree>
    <p:extLst>
      <p:ext uri="{BB962C8B-B14F-4D97-AF65-F5344CB8AC3E}">
        <p14:creationId xmlns:p14="http://schemas.microsoft.com/office/powerpoint/2010/main" val="376561711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800" decel="100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8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8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-0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8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0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3F06C-2397-39CD-408E-C05D0CC79D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3164A5-0EFE-2F48-0ED1-C0A6207287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7</a:t>
            </a:fld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F3D96C1A-530B-1103-9C55-A758E4E702C3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7CAAC65-910C-A0EA-D093-035FE09CC03D}"/>
              </a:ext>
            </a:extLst>
          </p:cNvPr>
          <p:cNvSpPr/>
          <p:nvPr/>
        </p:nvSpPr>
        <p:spPr>
          <a:xfrm>
            <a:off x="1489360" y="2596283"/>
            <a:ext cx="8991601" cy="2026227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true occurrence order!</a:t>
            </a:r>
          </a:p>
        </p:txBody>
      </p:sp>
    </p:spTree>
    <p:extLst>
      <p:ext uri="{BB962C8B-B14F-4D97-AF65-F5344CB8AC3E}">
        <p14:creationId xmlns:p14="http://schemas.microsoft.com/office/powerpoint/2010/main" val="230458951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FA8EE5-9896-D219-FEFD-BAB86FD7AB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BDF054-2ED4-CA1C-AA20-9F70C10E75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8</a:t>
            </a:fld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8BBBCEB2-26A3-658D-F231-989E202F3652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E6B77087-D146-3F54-AB13-9311033B137C}"/>
              </a:ext>
            </a:extLst>
          </p:cNvPr>
          <p:cNvSpPr/>
          <p:nvPr/>
        </p:nvSpPr>
        <p:spPr>
          <a:xfrm>
            <a:off x="1489360" y="2596283"/>
            <a:ext cx="8991601" cy="2026227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373626993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A36C3F-E0D9-CCF6-6EDC-344EF354F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D16C38AD-286E-6BEC-587F-0F0AFC41FBD4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1C8C80E-324D-EB67-6265-070A904E6CE6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  <p:pic>
        <p:nvPicPr>
          <p:cNvPr id="3" name="Graphic 2" descr="Clock with solid fill">
            <a:extLst>
              <a:ext uri="{FF2B5EF4-FFF2-40B4-BE49-F238E27FC236}">
                <a16:creationId xmlns:a16="http://schemas.microsoft.com/office/drawing/2014/main" id="{1A839E66-BEA0-81BA-8867-ABFBBB3E57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5081624"/>
            <a:ext cx="914400" cy="914400"/>
          </a:xfrm>
          <a:prstGeom prst="rect">
            <a:avLst/>
          </a:prstGeom>
        </p:spPr>
      </p:pic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9C149CE8-66E3-F44F-0903-02D7D13A77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3289986"/>
            <a:ext cx="914400" cy="914400"/>
          </a:xfrm>
          <a:prstGeom prst="rect">
            <a:avLst/>
          </a:prstGeom>
        </p:spPr>
      </p:pic>
      <p:pic>
        <p:nvPicPr>
          <p:cNvPr id="6" name="Graphic 5" descr="Clock with solid fill">
            <a:extLst>
              <a:ext uri="{FF2B5EF4-FFF2-40B4-BE49-F238E27FC236}">
                <a16:creationId xmlns:a16="http://schemas.microsoft.com/office/drawing/2014/main" id="{D43E9C66-54D7-DEF4-080C-83D218B7C9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4167224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FE37185-24A6-CA4E-3DEB-53A208302930}"/>
              </a:ext>
            </a:extLst>
          </p:cNvPr>
          <p:cNvSpPr txBox="1"/>
          <p:nvPr/>
        </p:nvSpPr>
        <p:spPr>
          <a:xfrm>
            <a:off x="7807037" y="3747186"/>
            <a:ext cx="22790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Clients with perfectly synchronized clocks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4EA5CE6-A8B0-2532-7CE6-430D07B011BA}"/>
              </a:ext>
            </a:extLst>
          </p:cNvPr>
          <p:cNvSpPr/>
          <p:nvPr/>
        </p:nvSpPr>
        <p:spPr>
          <a:xfrm>
            <a:off x="2479964" y="3394364"/>
            <a:ext cx="3505200" cy="2452254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Process events in the order of their timestamps!</a:t>
            </a:r>
          </a:p>
        </p:txBody>
      </p:sp>
    </p:spTree>
    <p:extLst>
      <p:ext uri="{BB962C8B-B14F-4D97-AF65-F5344CB8AC3E}">
        <p14:creationId xmlns:p14="http://schemas.microsoft.com/office/powerpoint/2010/main" val="212660086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41029D-4069-17CF-D434-22F57DDB8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9FC8D823-2CE1-F25E-5A92-A5E8FB33398E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72E305E6-83BB-4E31-085D-B5D448F9501A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  <p:pic>
        <p:nvPicPr>
          <p:cNvPr id="3" name="Graphic 2" descr="Clock with solid fill">
            <a:extLst>
              <a:ext uri="{FF2B5EF4-FFF2-40B4-BE49-F238E27FC236}">
                <a16:creationId xmlns:a16="http://schemas.microsoft.com/office/drawing/2014/main" id="{96A1132D-ACD4-8E9D-94D4-C65F9426DE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9030630">
            <a:off x="6892637" y="5081624"/>
            <a:ext cx="914400" cy="914400"/>
          </a:xfrm>
          <a:prstGeom prst="rect">
            <a:avLst/>
          </a:prstGeom>
        </p:spPr>
      </p:pic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C76E0F45-850D-DDA1-BADD-837246D7EA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7035987">
            <a:off x="6892637" y="3289986"/>
            <a:ext cx="914400" cy="914400"/>
          </a:xfrm>
          <a:prstGeom prst="rect">
            <a:avLst/>
          </a:prstGeom>
        </p:spPr>
      </p:pic>
      <p:pic>
        <p:nvPicPr>
          <p:cNvPr id="6" name="Graphic 5" descr="Clock with solid fill">
            <a:extLst>
              <a:ext uri="{FF2B5EF4-FFF2-40B4-BE49-F238E27FC236}">
                <a16:creationId xmlns:a16="http://schemas.microsoft.com/office/drawing/2014/main" id="{E7FFE3E3-CACF-A0C3-16F7-0515C5C007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178153">
            <a:off x="6892637" y="4167224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A75F368-F386-F025-27B0-A50D20FD8169}"/>
              </a:ext>
            </a:extLst>
          </p:cNvPr>
          <p:cNvSpPr txBox="1"/>
          <p:nvPr/>
        </p:nvSpPr>
        <p:spPr>
          <a:xfrm>
            <a:off x="7807037" y="3747186"/>
            <a:ext cx="22790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Clients with </a:t>
            </a:r>
            <a:r>
              <a:rPr lang="en-US" sz="2800" dirty="0">
                <a:solidFill>
                  <a:schemeClr val="bg1"/>
                </a:solidFill>
                <a:highlight>
                  <a:srgbClr val="FF0000"/>
                </a:highlight>
              </a:rPr>
              <a:t>perfectly synchronized clocks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93C14C7E-1A35-1930-5B6D-9852AE4FC129}"/>
              </a:ext>
            </a:extLst>
          </p:cNvPr>
          <p:cNvSpPr/>
          <p:nvPr/>
        </p:nvSpPr>
        <p:spPr>
          <a:xfrm>
            <a:off x="2479964" y="3394364"/>
            <a:ext cx="3505200" cy="2452254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Process events in the order of their timestamps!</a:t>
            </a:r>
          </a:p>
        </p:txBody>
      </p:sp>
    </p:spTree>
    <p:extLst>
      <p:ext uri="{BB962C8B-B14F-4D97-AF65-F5344CB8AC3E}">
        <p14:creationId xmlns:p14="http://schemas.microsoft.com/office/powerpoint/2010/main" val="239585804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663E67-747F-E98E-5C3E-30AC65B44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EB39B488-FFCF-4D9E-BC64-C6EBB042959E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1124650B-C049-5490-96F4-2BCA96ECCBF0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8F9A30-7221-B85B-AE16-639897C90641}"/>
              </a:ext>
            </a:extLst>
          </p:cNvPr>
          <p:cNvSpPr txBox="1"/>
          <p:nvPr/>
        </p:nvSpPr>
        <p:spPr>
          <a:xfrm>
            <a:off x="7807037" y="3747186"/>
            <a:ext cx="22790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Clients with </a:t>
            </a:r>
            <a:r>
              <a:rPr lang="en-US" sz="2800" dirty="0">
                <a:solidFill>
                  <a:schemeClr val="bg1"/>
                </a:solidFill>
                <a:highlight>
                  <a:srgbClr val="FF0000"/>
                </a:highlight>
              </a:rPr>
              <a:t>perfectly synchronized clocks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06D8C4E2-E66B-D24C-13D5-6CFA11CEF13E}"/>
              </a:ext>
            </a:extLst>
          </p:cNvPr>
          <p:cNvSpPr/>
          <p:nvPr/>
        </p:nvSpPr>
        <p:spPr>
          <a:xfrm>
            <a:off x="2479964" y="3394364"/>
            <a:ext cx="3505200" cy="2452254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bg1"/>
                </a:solidFill>
              </a:rPr>
              <a:t>Process events in the order of their timestamps!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8166A68A-5921-C26F-74AC-F23769E73B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9030630">
            <a:off x="6892637" y="5081624"/>
            <a:ext cx="914400" cy="914400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0BE69F7B-3D03-F056-96C3-DEE9C65120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7035987">
            <a:off x="6892637" y="3289986"/>
            <a:ext cx="914400" cy="914400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AEDFA497-70BE-6CCC-DAB4-4F4671A9C7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178153">
            <a:off x="6892637" y="4167224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65954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1F0BC2-790E-4C10-6187-B542DA3CF0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230C2301-B1A5-44C9-C219-26877762654C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342E92BA-B28C-3D25-E186-B82EA31D7B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9030630">
            <a:off x="6786549" y="2619550"/>
            <a:ext cx="1249305" cy="1249305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39F519B8-4089-DE9E-2DA0-ADCA58589B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7035987">
            <a:off x="2815203" y="2618929"/>
            <a:ext cx="1250548" cy="1250548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17DCE4E2-15E3-2BFA-F35A-30E33F8148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178153">
            <a:off x="4736757" y="2599194"/>
            <a:ext cx="1294281" cy="1294281"/>
          </a:xfrm>
          <a:prstGeom prst="rect">
            <a:avLst/>
          </a:prstGeom>
        </p:spPr>
      </p:pic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EFB9C1EF-BFA6-401A-AFF8-EA2BC2EAE5E6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Our Proposal</a:t>
            </a:r>
          </a:p>
        </p:txBody>
      </p:sp>
    </p:spTree>
    <p:extLst>
      <p:ext uri="{BB962C8B-B14F-4D97-AF65-F5344CB8AC3E}">
        <p14:creationId xmlns:p14="http://schemas.microsoft.com/office/powerpoint/2010/main" val="21924092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0B2650-2C8C-F10D-9303-B6E4D53E41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F12AEC06-BA69-D35C-FADB-0B8D9D6674DA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7B9D80AE-1EA8-AA1A-2806-8D543F3723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376756">
            <a:off x="6786549" y="2619550"/>
            <a:ext cx="1249305" cy="1249305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14FDA53E-0579-83A3-19F2-16FE477BE3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0756516">
            <a:off x="2815203" y="2618929"/>
            <a:ext cx="1250548" cy="1250548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39813B02-8883-0FC1-6CBA-18EEEC231E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18788">
            <a:off x="4736757" y="2599194"/>
            <a:ext cx="1294281" cy="1294281"/>
          </a:xfrm>
          <a:prstGeom prst="rect">
            <a:avLst/>
          </a:prstGeom>
        </p:spPr>
      </p:pic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31DC8F9B-53C0-AA38-AD63-A1C84FC4D2C9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Our Proposal</a:t>
            </a:r>
          </a:p>
        </p:txBody>
      </p:sp>
    </p:spTree>
    <p:extLst>
      <p:ext uri="{BB962C8B-B14F-4D97-AF65-F5344CB8AC3E}">
        <p14:creationId xmlns:p14="http://schemas.microsoft.com/office/powerpoint/2010/main" val="298379725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C98873-9C47-FF70-CB2A-C85F2FB5A3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AEE4BB2E-72B1-BB66-045F-0F2A2B6D6B53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13D1EBDF-4915-B5A9-16AE-5689218101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9215335">
            <a:off x="6786549" y="1924669"/>
            <a:ext cx="1249305" cy="1249305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531ABAB2-BE16-8A2E-0B01-F99E887187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1378094">
            <a:off x="2815203" y="1924048"/>
            <a:ext cx="1250548" cy="1250548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9914F3B6-854D-FE8A-6755-80755A5870C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0659468">
            <a:off x="4736757" y="1904313"/>
            <a:ext cx="1294281" cy="1294281"/>
          </a:xfrm>
          <a:prstGeom prst="rect">
            <a:avLst/>
          </a:prstGeom>
        </p:spPr>
      </p:pic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1F9AB9CE-A56E-1754-5BA5-0ECA64FEC4B4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D7F4FE3-A206-B743-A89B-B5C1E442D9B4}"/>
              </a:ext>
            </a:extLst>
          </p:cNvPr>
          <p:cNvSpPr/>
          <p:nvPr/>
        </p:nvSpPr>
        <p:spPr>
          <a:xfrm>
            <a:off x="355682" y="3317113"/>
            <a:ext cx="516800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1. Learn Error Distributions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1F1B849-EC06-F10B-8F75-E6F2BCA066BC}"/>
              </a:ext>
            </a:extLst>
          </p:cNvPr>
          <p:cNvSpPr/>
          <p:nvPr/>
        </p:nvSpPr>
        <p:spPr>
          <a:xfrm>
            <a:off x="1987994" y="4443767"/>
            <a:ext cx="6449421" cy="99060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2. True Time as a function of local time + Distributions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D4270D84-6DD6-D71A-3B09-09FDD2388292}"/>
              </a:ext>
            </a:extLst>
          </p:cNvPr>
          <p:cNvSpPr/>
          <p:nvPr/>
        </p:nvSpPr>
        <p:spPr>
          <a:xfrm>
            <a:off x="4585975" y="5570422"/>
            <a:ext cx="7171053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3. Get True Time comparison by only comparing local time</a:t>
            </a:r>
          </a:p>
        </p:txBody>
      </p:sp>
    </p:spTree>
    <p:extLst>
      <p:ext uri="{BB962C8B-B14F-4D97-AF65-F5344CB8AC3E}">
        <p14:creationId xmlns:p14="http://schemas.microsoft.com/office/powerpoint/2010/main" val="97082600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FCFAB5-8AEF-C565-9810-2B08A9508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BB4B1CE9-DA81-2053-3DA3-057E20B8C6C6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94C93DC4-19A2-D5C3-9737-E329E91D93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9215335">
            <a:off x="6786549" y="1924669"/>
            <a:ext cx="1249305" cy="1249305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5A52EBB7-83DE-29A5-ACAD-4561CD5BA3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1378094">
            <a:off x="2815203" y="1924048"/>
            <a:ext cx="1250548" cy="1250548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8C5B2475-51DB-B7A6-F27B-32F78EEBD7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0659468">
            <a:off x="4736757" y="1904313"/>
            <a:ext cx="1294281" cy="1294281"/>
          </a:xfrm>
          <a:prstGeom prst="rect">
            <a:avLst/>
          </a:prstGeom>
        </p:spPr>
      </p:pic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C873C2EE-03B9-ADB6-6896-523FE586FCF9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C220A784-B5CE-4852-1E05-6F07E3D6229D}"/>
              </a:ext>
            </a:extLst>
          </p:cNvPr>
          <p:cNvSpPr/>
          <p:nvPr/>
        </p:nvSpPr>
        <p:spPr>
          <a:xfrm>
            <a:off x="355682" y="3317113"/>
            <a:ext cx="516800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1. Learn Error Distributions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9F64AE5-1C7A-1F0E-63B9-EF466E8679B5}"/>
              </a:ext>
            </a:extLst>
          </p:cNvPr>
          <p:cNvSpPr/>
          <p:nvPr/>
        </p:nvSpPr>
        <p:spPr>
          <a:xfrm>
            <a:off x="1987994" y="4443767"/>
            <a:ext cx="6449421" cy="99060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2. True Time as a function of local time + Distributions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B0A47632-BF93-BACB-38E0-78C2C961BEC4}"/>
              </a:ext>
            </a:extLst>
          </p:cNvPr>
          <p:cNvSpPr/>
          <p:nvPr/>
        </p:nvSpPr>
        <p:spPr>
          <a:xfrm>
            <a:off x="4585975" y="5570422"/>
            <a:ext cx="7171053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3. Get </a:t>
            </a:r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</a:rPr>
              <a:t>True Time comparison </a:t>
            </a:r>
            <a:r>
              <a:rPr lang="en-US" sz="32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by only comparing local time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701D4E0-EDE4-6662-B286-4EC476043736}"/>
              </a:ext>
            </a:extLst>
          </p:cNvPr>
          <p:cNvSpPr txBox="1"/>
          <p:nvPr/>
        </p:nvSpPr>
        <p:spPr>
          <a:xfrm>
            <a:off x="9272052" y="4310983"/>
            <a:ext cx="248497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highlight>
                  <a:srgbClr val="FFFF00"/>
                </a:highlight>
                <a:latin typeface="Mistral" panose="03090702030407020403" pitchFamily="66" charset="0"/>
              </a:rPr>
              <a:t>Probabilistic</a:t>
            </a:r>
            <a:endParaRPr lang="en-US" sz="3600" dirty="0">
              <a:highlight>
                <a:srgbClr val="FFFF00"/>
              </a:highlight>
              <a:latin typeface="Mistral" panose="03090702030407020403" pitchFamily="66" charset="0"/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A3F7B18A-214F-E9B0-5AFD-6CBB236EA493}"/>
              </a:ext>
            </a:extLst>
          </p:cNvPr>
          <p:cNvCxnSpPr>
            <a:cxnSpLocks/>
            <a:endCxn id="8" idx="1"/>
          </p:cNvCxnSpPr>
          <p:nvPr/>
        </p:nvCxnSpPr>
        <p:spPr>
          <a:xfrm flipV="1">
            <a:off x="8545085" y="4695704"/>
            <a:ext cx="726967" cy="874718"/>
          </a:xfrm>
          <a:prstGeom prst="straightConnector1">
            <a:avLst/>
          </a:prstGeom>
          <a:ln w="1079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0528005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1E6FB9-1A41-356D-92A6-862A58684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F169252D-C91A-6E3E-7FE2-C2587F11A793}"/>
              </a:ext>
            </a:extLst>
          </p:cNvPr>
          <p:cNvSpPr/>
          <p:nvPr/>
        </p:nvSpPr>
        <p:spPr>
          <a:xfrm>
            <a:off x="5338246" y="1374868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E5C91E7-357D-666A-BE08-4264FDFDE979}"/>
              </a:ext>
            </a:extLst>
          </p:cNvPr>
          <p:cNvSpPr/>
          <p:nvPr/>
        </p:nvSpPr>
        <p:spPr>
          <a:xfrm>
            <a:off x="355682" y="3317113"/>
            <a:ext cx="516800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1. Learn Error Distributions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A46FA30D-9913-A4B7-DC10-B0D942D4E26F}"/>
              </a:ext>
            </a:extLst>
          </p:cNvPr>
          <p:cNvSpPr/>
          <p:nvPr/>
        </p:nvSpPr>
        <p:spPr>
          <a:xfrm>
            <a:off x="1987994" y="4443767"/>
            <a:ext cx="6449421" cy="99060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2. True Time as a function of local time + Distributions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6E32169-6A6E-0DDC-EAAF-F7740B9D2F40}"/>
              </a:ext>
            </a:extLst>
          </p:cNvPr>
          <p:cNvSpPr/>
          <p:nvPr/>
        </p:nvSpPr>
        <p:spPr>
          <a:xfrm>
            <a:off x="4585975" y="5570422"/>
            <a:ext cx="7171053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3. Get </a:t>
            </a:r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</a:rPr>
              <a:t>True Time comparison </a:t>
            </a:r>
            <a:r>
              <a:rPr lang="en-US" sz="32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by only comparing local time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0708F02-1633-89E6-098B-F1FA39524A6C}"/>
              </a:ext>
            </a:extLst>
          </p:cNvPr>
          <p:cNvSpPr txBox="1"/>
          <p:nvPr/>
        </p:nvSpPr>
        <p:spPr>
          <a:xfrm>
            <a:off x="2201943" y="1442138"/>
            <a:ext cx="301076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400" dirty="0">
                <a:highlight>
                  <a:srgbClr val="FFFF00"/>
                </a:highlight>
                <a:latin typeface="Mistral" panose="03090702030407020403" pitchFamily="66" charset="0"/>
              </a:rPr>
              <a:t>Probabilistic</a:t>
            </a:r>
            <a:endParaRPr lang="en-US" sz="3600" dirty="0">
              <a:highlight>
                <a:srgbClr val="FFFF00"/>
              </a:highlight>
              <a:latin typeface="Mistral" panose="03090702030407020403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3098412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C9268A-F027-18DF-D925-009465B99A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304604C2-111D-D455-DB9E-20834C819605}"/>
              </a:ext>
            </a:extLst>
          </p:cNvPr>
          <p:cNvSpPr/>
          <p:nvPr/>
        </p:nvSpPr>
        <p:spPr>
          <a:xfrm>
            <a:off x="1828801" y="1638104"/>
            <a:ext cx="8285018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Probabilistic Fair Ordering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72C60EA4-1139-BC95-81C5-C25A42763D65}"/>
              </a:ext>
            </a:extLst>
          </p:cNvPr>
          <p:cNvSpPr/>
          <p:nvPr/>
        </p:nvSpPr>
        <p:spPr>
          <a:xfrm>
            <a:off x="355682" y="3317113"/>
            <a:ext cx="516800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1. Learn Error Distributions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A1429452-F591-9542-48D5-E33EF825A135}"/>
              </a:ext>
            </a:extLst>
          </p:cNvPr>
          <p:cNvSpPr/>
          <p:nvPr/>
        </p:nvSpPr>
        <p:spPr>
          <a:xfrm>
            <a:off x="1987994" y="4443767"/>
            <a:ext cx="6449421" cy="99060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2. True Time as a function of local time + Distributions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59CCA99-8103-7BB5-625C-CCC6FC0710A3}"/>
              </a:ext>
            </a:extLst>
          </p:cNvPr>
          <p:cNvSpPr/>
          <p:nvPr/>
        </p:nvSpPr>
        <p:spPr>
          <a:xfrm>
            <a:off x="4585975" y="5570422"/>
            <a:ext cx="7171053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3. Get </a:t>
            </a:r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</a:rPr>
              <a:t>True Time comparison </a:t>
            </a:r>
            <a:r>
              <a:rPr lang="en-US" sz="32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by only comparing local time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A2D6D64D-9F9B-8B1A-8754-BEBDAA6778F6}"/>
              </a:ext>
            </a:extLst>
          </p:cNvPr>
          <p:cNvSpPr/>
          <p:nvPr/>
        </p:nvSpPr>
        <p:spPr>
          <a:xfrm>
            <a:off x="1828801" y="579477"/>
            <a:ext cx="2951017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Tommy</a:t>
            </a:r>
          </a:p>
        </p:txBody>
      </p:sp>
    </p:spTree>
    <p:extLst>
      <p:ext uri="{BB962C8B-B14F-4D97-AF65-F5344CB8AC3E}">
        <p14:creationId xmlns:p14="http://schemas.microsoft.com/office/powerpoint/2010/main" val="426593229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F5D50-8F1C-2BB8-764C-AB7985502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7398807D-BF3B-7E0E-F1BA-F3D2A0193C0A}"/>
              </a:ext>
            </a:extLst>
          </p:cNvPr>
          <p:cNvSpPr/>
          <p:nvPr/>
        </p:nvSpPr>
        <p:spPr>
          <a:xfrm>
            <a:off x="8091055" y="1757113"/>
            <a:ext cx="2951017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Tommy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A88B2A58-92CB-2E41-CC60-98B29EB22764}"/>
              </a:ext>
            </a:extLst>
          </p:cNvPr>
          <p:cNvSpPr/>
          <p:nvPr/>
        </p:nvSpPr>
        <p:spPr>
          <a:xfrm>
            <a:off x="609599" y="1812532"/>
            <a:ext cx="2951017" cy="99060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bg1"/>
                </a:solidFill>
              </a:rPr>
              <a:t>FIFO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0958510F-084C-7AC3-29DF-63139BD9705D}"/>
              </a:ext>
            </a:extLst>
          </p:cNvPr>
          <p:cNvSpPr/>
          <p:nvPr/>
        </p:nvSpPr>
        <p:spPr>
          <a:xfrm>
            <a:off x="4315689" y="1812532"/>
            <a:ext cx="2951017" cy="99060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bg1"/>
                </a:solidFill>
              </a:rPr>
              <a:t>Onyx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C9CD885-647B-8B30-795D-38E72B83CE1A}"/>
              </a:ext>
            </a:extLst>
          </p:cNvPr>
          <p:cNvSpPr/>
          <p:nvPr/>
        </p:nvSpPr>
        <p:spPr>
          <a:xfrm>
            <a:off x="706581" y="1454728"/>
            <a:ext cx="6560125" cy="180109"/>
          </a:xfrm>
          <a:custGeom>
            <a:avLst/>
            <a:gdLst>
              <a:gd name="connsiteX0" fmla="*/ 0 w 6560125"/>
              <a:gd name="connsiteY0" fmla="*/ 0 h 180109"/>
              <a:gd name="connsiteX1" fmla="*/ 399571 w 6560125"/>
              <a:gd name="connsiteY1" fmla="*/ 0 h 180109"/>
              <a:gd name="connsiteX2" fmla="*/ 1127149 w 6560125"/>
              <a:gd name="connsiteY2" fmla="*/ 0 h 180109"/>
              <a:gd name="connsiteX3" fmla="*/ 1789125 w 6560125"/>
              <a:gd name="connsiteY3" fmla="*/ 0 h 180109"/>
              <a:gd name="connsiteX4" fmla="*/ 2188696 w 6560125"/>
              <a:gd name="connsiteY4" fmla="*/ 0 h 180109"/>
              <a:gd name="connsiteX5" fmla="*/ 2719470 w 6560125"/>
              <a:gd name="connsiteY5" fmla="*/ 0 h 180109"/>
              <a:gd name="connsiteX6" fmla="*/ 3447048 w 6560125"/>
              <a:gd name="connsiteY6" fmla="*/ 0 h 180109"/>
              <a:gd name="connsiteX7" fmla="*/ 4043423 w 6560125"/>
              <a:gd name="connsiteY7" fmla="*/ 0 h 180109"/>
              <a:gd name="connsiteX8" fmla="*/ 4705399 w 6560125"/>
              <a:gd name="connsiteY8" fmla="*/ 0 h 180109"/>
              <a:gd name="connsiteX9" fmla="*/ 5236173 w 6560125"/>
              <a:gd name="connsiteY9" fmla="*/ 0 h 180109"/>
              <a:gd name="connsiteX10" fmla="*/ 5832548 w 6560125"/>
              <a:gd name="connsiteY10" fmla="*/ 0 h 180109"/>
              <a:gd name="connsiteX11" fmla="*/ 6560125 w 6560125"/>
              <a:gd name="connsiteY11" fmla="*/ 0 h 180109"/>
              <a:gd name="connsiteX12" fmla="*/ 6560125 w 6560125"/>
              <a:gd name="connsiteY12" fmla="*/ 180109 h 180109"/>
              <a:gd name="connsiteX13" fmla="*/ 6160554 w 6560125"/>
              <a:gd name="connsiteY13" fmla="*/ 180109 h 180109"/>
              <a:gd name="connsiteX14" fmla="*/ 5760983 w 6560125"/>
              <a:gd name="connsiteY14" fmla="*/ 180109 h 180109"/>
              <a:gd name="connsiteX15" fmla="*/ 5099006 w 6560125"/>
              <a:gd name="connsiteY15" fmla="*/ 180109 h 180109"/>
              <a:gd name="connsiteX16" fmla="*/ 4699435 w 6560125"/>
              <a:gd name="connsiteY16" fmla="*/ 180109 h 180109"/>
              <a:gd name="connsiteX17" fmla="*/ 4103060 w 6560125"/>
              <a:gd name="connsiteY17" fmla="*/ 180109 h 180109"/>
              <a:gd name="connsiteX18" fmla="*/ 3637888 w 6560125"/>
              <a:gd name="connsiteY18" fmla="*/ 180109 h 180109"/>
              <a:gd name="connsiteX19" fmla="*/ 3041513 w 6560125"/>
              <a:gd name="connsiteY19" fmla="*/ 180109 h 180109"/>
              <a:gd name="connsiteX20" fmla="*/ 2445137 w 6560125"/>
              <a:gd name="connsiteY20" fmla="*/ 180109 h 180109"/>
              <a:gd name="connsiteX21" fmla="*/ 1848762 w 6560125"/>
              <a:gd name="connsiteY21" fmla="*/ 180109 h 180109"/>
              <a:gd name="connsiteX22" fmla="*/ 1252387 w 6560125"/>
              <a:gd name="connsiteY22" fmla="*/ 180109 h 180109"/>
              <a:gd name="connsiteX23" fmla="*/ 721614 w 6560125"/>
              <a:gd name="connsiteY23" fmla="*/ 180109 h 180109"/>
              <a:gd name="connsiteX24" fmla="*/ 0 w 6560125"/>
              <a:gd name="connsiteY24" fmla="*/ 180109 h 180109"/>
              <a:gd name="connsiteX25" fmla="*/ 0 w 6560125"/>
              <a:gd name="connsiteY25" fmla="*/ 0 h 1801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6560125" h="180109" fill="none" extrusionOk="0">
                <a:moveTo>
                  <a:pt x="0" y="0"/>
                </a:moveTo>
                <a:cubicBezTo>
                  <a:pt x="93079" y="-24371"/>
                  <a:pt x="278315" y="592"/>
                  <a:pt x="399571" y="0"/>
                </a:cubicBezTo>
                <a:cubicBezTo>
                  <a:pt x="520827" y="-592"/>
                  <a:pt x="869396" y="14101"/>
                  <a:pt x="1127149" y="0"/>
                </a:cubicBezTo>
                <a:cubicBezTo>
                  <a:pt x="1384902" y="-14101"/>
                  <a:pt x="1541827" y="74442"/>
                  <a:pt x="1789125" y="0"/>
                </a:cubicBezTo>
                <a:cubicBezTo>
                  <a:pt x="2036423" y="-74442"/>
                  <a:pt x="2042118" y="39310"/>
                  <a:pt x="2188696" y="0"/>
                </a:cubicBezTo>
                <a:cubicBezTo>
                  <a:pt x="2335274" y="-39310"/>
                  <a:pt x="2504451" y="1198"/>
                  <a:pt x="2719470" y="0"/>
                </a:cubicBezTo>
                <a:cubicBezTo>
                  <a:pt x="2934489" y="-1198"/>
                  <a:pt x="3212094" y="76278"/>
                  <a:pt x="3447048" y="0"/>
                </a:cubicBezTo>
                <a:cubicBezTo>
                  <a:pt x="3682002" y="-76278"/>
                  <a:pt x="3884580" y="20218"/>
                  <a:pt x="4043423" y="0"/>
                </a:cubicBezTo>
                <a:cubicBezTo>
                  <a:pt x="4202267" y="-20218"/>
                  <a:pt x="4562783" y="73588"/>
                  <a:pt x="4705399" y="0"/>
                </a:cubicBezTo>
                <a:cubicBezTo>
                  <a:pt x="4848015" y="-73588"/>
                  <a:pt x="5067470" y="45843"/>
                  <a:pt x="5236173" y="0"/>
                </a:cubicBezTo>
                <a:cubicBezTo>
                  <a:pt x="5404876" y="-45843"/>
                  <a:pt x="5638241" y="16924"/>
                  <a:pt x="5832548" y="0"/>
                </a:cubicBezTo>
                <a:cubicBezTo>
                  <a:pt x="6026855" y="-16924"/>
                  <a:pt x="6380958" y="36439"/>
                  <a:pt x="6560125" y="0"/>
                </a:cubicBezTo>
                <a:cubicBezTo>
                  <a:pt x="6572722" y="60361"/>
                  <a:pt x="6552397" y="95898"/>
                  <a:pt x="6560125" y="180109"/>
                </a:cubicBezTo>
                <a:cubicBezTo>
                  <a:pt x="6369462" y="212114"/>
                  <a:pt x="6345447" y="140515"/>
                  <a:pt x="6160554" y="180109"/>
                </a:cubicBezTo>
                <a:cubicBezTo>
                  <a:pt x="5975661" y="219703"/>
                  <a:pt x="5930306" y="150532"/>
                  <a:pt x="5760983" y="180109"/>
                </a:cubicBezTo>
                <a:cubicBezTo>
                  <a:pt x="5591660" y="209686"/>
                  <a:pt x="5285742" y="106575"/>
                  <a:pt x="5099006" y="180109"/>
                </a:cubicBezTo>
                <a:cubicBezTo>
                  <a:pt x="4912270" y="253643"/>
                  <a:pt x="4827180" y="133626"/>
                  <a:pt x="4699435" y="180109"/>
                </a:cubicBezTo>
                <a:cubicBezTo>
                  <a:pt x="4571690" y="226592"/>
                  <a:pt x="4245108" y="141770"/>
                  <a:pt x="4103060" y="180109"/>
                </a:cubicBezTo>
                <a:cubicBezTo>
                  <a:pt x="3961013" y="218448"/>
                  <a:pt x="3826924" y="150872"/>
                  <a:pt x="3637888" y="180109"/>
                </a:cubicBezTo>
                <a:cubicBezTo>
                  <a:pt x="3448852" y="209346"/>
                  <a:pt x="3268535" y="172336"/>
                  <a:pt x="3041513" y="180109"/>
                </a:cubicBezTo>
                <a:cubicBezTo>
                  <a:pt x="2814492" y="187882"/>
                  <a:pt x="2652883" y="165019"/>
                  <a:pt x="2445137" y="180109"/>
                </a:cubicBezTo>
                <a:cubicBezTo>
                  <a:pt x="2237391" y="195199"/>
                  <a:pt x="2124635" y="146621"/>
                  <a:pt x="1848762" y="180109"/>
                </a:cubicBezTo>
                <a:cubicBezTo>
                  <a:pt x="1572890" y="213597"/>
                  <a:pt x="1518016" y="134321"/>
                  <a:pt x="1252387" y="180109"/>
                </a:cubicBezTo>
                <a:cubicBezTo>
                  <a:pt x="986759" y="225897"/>
                  <a:pt x="938880" y="175617"/>
                  <a:pt x="721614" y="180109"/>
                </a:cubicBezTo>
                <a:cubicBezTo>
                  <a:pt x="504348" y="184601"/>
                  <a:pt x="196115" y="172397"/>
                  <a:pt x="0" y="180109"/>
                </a:cubicBezTo>
                <a:cubicBezTo>
                  <a:pt x="-10644" y="113599"/>
                  <a:pt x="8546" y="65985"/>
                  <a:pt x="0" y="0"/>
                </a:cubicBezTo>
                <a:close/>
              </a:path>
              <a:path w="6560125" h="180109" stroke="0" extrusionOk="0">
                <a:moveTo>
                  <a:pt x="0" y="0"/>
                </a:moveTo>
                <a:cubicBezTo>
                  <a:pt x="262678" y="-15794"/>
                  <a:pt x="324387" y="52621"/>
                  <a:pt x="530774" y="0"/>
                </a:cubicBezTo>
                <a:cubicBezTo>
                  <a:pt x="737161" y="-52621"/>
                  <a:pt x="763948" y="1149"/>
                  <a:pt x="930345" y="0"/>
                </a:cubicBezTo>
                <a:cubicBezTo>
                  <a:pt x="1096742" y="-1149"/>
                  <a:pt x="1469441" y="23267"/>
                  <a:pt x="1657923" y="0"/>
                </a:cubicBezTo>
                <a:cubicBezTo>
                  <a:pt x="1846405" y="-23267"/>
                  <a:pt x="1962484" y="53122"/>
                  <a:pt x="2188696" y="0"/>
                </a:cubicBezTo>
                <a:cubicBezTo>
                  <a:pt x="2414908" y="-53122"/>
                  <a:pt x="2509858" y="19949"/>
                  <a:pt x="2719470" y="0"/>
                </a:cubicBezTo>
                <a:cubicBezTo>
                  <a:pt x="2929082" y="-19949"/>
                  <a:pt x="3137248" y="72350"/>
                  <a:pt x="3447048" y="0"/>
                </a:cubicBezTo>
                <a:cubicBezTo>
                  <a:pt x="3756848" y="-72350"/>
                  <a:pt x="3696986" y="40809"/>
                  <a:pt x="3912220" y="0"/>
                </a:cubicBezTo>
                <a:cubicBezTo>
                  <a:pt x="4127454" y="-40809"/>
                  <a:pt x="4358494" y="84444"/>
                  <a:pt x="4639798" y="0"/>
                </a:cubicBezTo>
                <a:cubicBezTo>
                  <a:pt x="4921102" y="-84444"/>
                  <a:pt x="5011131" y="79389"/>
                  <a:pt x="5367375" y="0"/>
                </a:cubicBezTo>
                <a:cubicBezTo>
                  <a:pt x="5723619" y="-79389"/>
                  <a:pt x="5755728" y="54091"/>
                  <a:pt x="5963750" y="0"/>
                </a:cubicBezTo>
                <a:cubicBezTo>
                  <a:pt x="6171773" y="-54091"/>
                  <a:pt x="6326448" y="54204"/>
                  <a:pt x="6560125" y="0"/>
                </a:cubicBezTo>
                <a:cubicBezTo>
                  <a:pt x="6569910" y="55787"/>
                  <a:pt x="6543166" y="90879"/>
                  <a:pt x="6560125" y="180109"/>
                </a:cubicBezTo>
                <a:cubicBezTo>
                  <a:pt x="6465890" y="198281"/>
                  <a:pt x="6282318" y="152187"/>
                  <a:pt x="6160554" y="180109"/>
                </a:cubicBezTo>
                <a:cubicBezTo>
                  <a:pt x="6038790" y="208031"/>
                  <a:pt x="5605240" y="130138"/>
                  <a:pt x="5432976" y="180109"/>
                </a:cubicBezTo>
                <a:cubicBezTo>
                  <a:pt x="5260712" y="230080"/>
                  <a:pt x="5132902" y="143962"/>
                  <a:pt x="4967804" y="180109"/>
                </a:cubicBezTo>
                <a:cubicBezTo>
                  <a:pt x="4802706" y="216256"/>
                  <a:pt x="4610215" y="121996"/>
                  <a:pt x="4371429" y="180109"/>
                </a:cubicBezTo>
                <a:cubicBezTo>
                  <a:pt x="4132644" y="238222"/>
                  <a:pt x="3831048" y="151702"/>
                  <a:pt x="3643851" y="180109"/>
                </a:cubicBezTo>
                <a:cubicBezTo>
                  <a:pt x="3456654" y="208516"/>
                  <a:pt x="3300671" y="117049"/>
                  <a:pt x="3047476" y="180109"/>
                </a:cubicBezTo>
                <a:cubicBezTo>
                  <a:pt x="2794282" y="243169"/>
                  <a:pt x="2735543" y="140250"/>
                  <a:pt x="2647905" y="180109"/>
                </a:cubicBezTo>
                <a:cubicBezTo>
                  <a:pt x="2560267" y="219968"/>
                  <a:pt x="2366569" y="160744"/>
                  <a:pt x="2182733" y="180109"/>
                </a:cubicBezTo>
                <a:cubicBezTo>
                  <a:pt x="1998897" y="199474"/>
                  <a:pt x="1734880" y="138199"/>
                  <a:pt x="1455155" y="180109"/>
                </a:cubicBezTo>
                <a:cubicBezTo>
                  <a:pt x="1175430" y="222019"/>
                  <a:pt x="1028262" y="177887"/>
                  <a:pt x="858780" y="180109"/>
                </a:cubicBezTo>
                <a:cubicBezTo>
                  <a:pt x="689299" y="182331"/>
                  <a:pt x="345146" y="157005"/>
                  <a:pt x="0" y="180109"/>
                </a:cubicBezTo>
                <a:cubicBezTo>
                  <a:pt x="-13722" y="95078"/>
                  <a:pt x="1346" y="37299"/>
                  <a:pt x="0" y="0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528202C-23A4-2938-3F58-7CE00B017D72}"/>
              </a:ext>
            </a:extLst>
          </p:cNvPr>
          <p:cNvSpPr/>
          <p:nvPr/>
        </p:nvSpPr>
        <p:spPr>
          <a:xfrm>
            <a:off x="2294240" y="531398"/>
            <a:ext cx="3481787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2700">
                  <a:solidFill>
                    <a:schemeClr val="accent1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</a:rPr>
              <a:t>Prior Work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B4E4D27-03F2-5B6A-7B0B-4AC6FDCE7F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673" y="2378058"/>
            <a:ext cx="3355593" cy="360004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B08B153-1F4B-D29B-8E4A-5E7E241021B2}"/>
              </a:ext>
            </a:extLst>
          </p:cNvPr>
          <p:cNvSpPr txBox="1"/>
          <p:nvPr/>
        </p:nvSpPr>
        <p:spPr>
          <a:xfrm>
            <a:off x="774754" y="5515016"/>
            <a:ext cx="29535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On-premises exchanges / private data centers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3A4067F-B256-7FFF-80EA-71F5965B24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2697" y="2558167"/>
            <a:ext cx="3758184" cy="339517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01C509D9-0A19-183B-A5CC-945549BA4C87}"/>
              </a:ext>
            </a:extLst>
          </p:cNvPr>
          <p:cNvSpPr txBox="1"/>
          <p:nvPr/>
        </p:nvSpPr>
        <p:spPr>
          <a:xfrm>
            <a:off x="4619244" y="5516434"/>
            <a:ext cx="29535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Single region public cloud +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time resolution of microseconds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E0D1B925-E730-6E51-112F-AD0B8894B9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0881" y="2558167"/>
            <a:ext cx="3758184" cy="322435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7743A391-0E9C-EAEF-B09B-7F8B385CFEDC}"/>
              </a:ext>
            </a:extLst>
          </p:cNvPr>
          <p:cNvSpPr txBox="1"/>
          <p:nvPr/>
        </p:nvSpPr>
        <p:spPr>
          <a:xfrm>
            <a:off x="8611859" y="5515016"/>
            <a:ext cx="29535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General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But probabilistic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05D1D0F-CC4B-DC90-60EF-4D1BB6B752AA}"/>
              </a:ext>
            </a:extLst>
          </p:cNvPr>
          <p:cNvSpPr txBox="1"/>
          <p:nvPr/>
        </p:nvSpPr>
        <p:spPr>
          <a:xfrm>
            <a:off x="5434144" y="3122100"/>
            <a:ext cx="714106" cy="3693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Onyx</a:t>
            </a:r>
          </a:p>
        </p:txBody>
      </p:sp>
    </p:spTree>
    <p:extLst>
      <p:ext uri="{BB962C8B-B14F-4D97-AF65-F5344CB8AC3E}">
        <p14:creationId xmlns:p14="http://schemas.microsoft.com/office/powerpoint/2010/main" val="4358298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11" grpId="0"/>
      <p:bldP spid="13" grpId="0"/>
      <p:bldP spid="15" grpId="0"/>
      <p:bldP spid="1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195BBF-1B8F-8943-1513-DC0422A6C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n 4">
            <a:extLst>
              <a:ext uri="{FF2B5EF4-FFF2-40B4-BE49-F238E27FC236}">
                <a16:creationId xmlns:a16="http://schemas.microsoft.com/office/drawing/2014/main" id="{E3E3CAA6-354B-81FE-3FC2-4E02E3FD38FB}"/>
              </a:ext>
            </a:extLst>
          </p:cNvPr>
          <p:cNvSpPr/>
          <p:nvPr/>
        </p:nvSpPr>
        <p:spPr>
          <a:xfrm rot="5400000">
            <a:off x="5418564" y="2362027"/>
            <a:ext cx="666707" cy="5357578"/>
          </a:xfrm>
          <a:prstGeom prst="can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E18314-365A-EE1E-0D12-808D6119DC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173"/>
            <a:ext cx="10515600" cy="1325563"/>
          </a:xfrm>
        </p:spPr>
        <p:txBody>
          <a:bodyPr/>
          <a:lstStyle/>
          <a:p>
            <a:r>
              <a:rPr lang="en-US" dirty="0"/>
              <a:t>Sequencer Overview – </a:t>
            </a:r>
            <a:r>
              <a:rPr lang="en-US" dirty="0">
                <a:solidFill>
                  <a:schemeClr val="accent6"/>
                </a:solidFill>
              </a:rPr>
              <a:t>After Tommy</a:t>
            </a:r>
          </a:p>
        </p:txBody>
      </p:sp>
      <p:pic>
        <p:nvPicPr>
          <p:cNvPr id="7" name="Graphic 6" descr="Server outline">
            <a:extLst>
              <a:ext uri="{FF2B5EF4-FFF2-40B4-BE49-F238E27FC236}">
                <a16:creationId xmlns:a16="http://schemas.microsoft.com/office/drawing/2014/main" id="{5F1D8B1F-DDC6-AD5B-EC35-DEC701DE2A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0053" y="2775829"/>
            <a:ext cx="721034" cy="721034"/>
          </a:xfrm>
          <a:prstGeom prst="rect">
            <a:avLst/>
          </a:prstGeom>
        </p:spPr>
      </p:pic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FC41FBAB-0C9C-449E-36AC-E7B73221A2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91855" y="2775829"/>
            <a:ext cx="721034" cy="721034"/>
          </a:xfrm>
          <a:prstGeom prst="rect">
            <a:avLst/>
          </a:prstGeom>
        </p:spPr>
      </p:pic>
      <p:pic>
        <p:nvPicPr>
          <p:cNvPr id="10" name="Graphic 9" descr="Alarm clock with solid fill">
            <a:extLst>
              <a:ext uri="{FF2B5EF4-FFF2-40B4-BE49-F238E27FC236}">
                <a16:creationId xmlns:a16="http://schemas.microsoft.com/office/drawing/2014/main" id="{69194A3B-0F9A-CEC6-0BD9-B1756F32ADD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74006" y="2433087"/>
            <a:ext cx="513127" cy="513127"/>
          </a:xfrm>
          <a:prstGeom prst="rect">
            <a:avLst/>
          </a:prstGeom>
        </p:spPr>
      </p:pic>
      <p:pic>
        <p:nvPicPr>
          <p:cNvPr id="11" name="Graphic 10" descr="Alarm clock with solid fill">
            <a:extLst>
              <a:ext uri="{FF2B5EF4-FFF2-40B4-BE49-F238E27FC236}">
                <a16:creationId xmlns:a16="http://schemas.microsoft.com/office/drawing/2014/main" id="{C392B9DA-30E3-C441-CB29-01477705CA1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95808" y="2433086"/>
            <a:ext cx="513127" cy="513127"/>
          </a:xfrm>
          <a:prstGeom prst="rect">
            <a:avLst/>
          </a:prstGeom>
        </p:spPr>
      </p:pic>
      <p:pic>
        <p:nvPicPr>
          <p:cNvPr id="12" name="Graphic 11" descr="Alarm clock with solid fill">
            <a:extLst>
              <a:ext uri="{FF2B5EF4-FFF2-40B4-BE49-F238E27FC236}">
                <a16:creationId xmlns:a16="http://schemas.microsoft.com/office/drawing/2014/main" id="{2D9796AB-F84B-1DE2-A5D9-72612324196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111550" y="4790703"/>
            <a:ext cx="513127" cy="513127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7D79C0F-623D-3066-4636-E50D04262891}"/>
              </a:ext>
            </a:extLst>
          </p:cNvPr>
          <p:cNvCxnSpPr>
            <a:cxnSpLocks/>
          </p:cNvCxnSpPr>
          <p:nvPr/>
        </p:nvCxnSpPr>
        <p:spPr>
          <a:xfrm>
            <a:off x="3991087" y="3050285"/>
            <a:ext cx="640080" cy="0"/>
          </a:xfrm>
          <a:prstGeom prst="line">
            <a:avLst/>
          </a:prstGeom>
          <a:ln w="381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C47499C2-0E31-1DCE-A060-5FA0B0321518}"/>
              </a:ext>
            </a:extLst>
          </p:cNvPr>
          <p:cNvSpPr txBox="1"/>
          <p:nvPr/>
        </p:nvSpPr>
        <p:spPr>
          <a:xfrm>
            <a:off x="3894522" y="3104289"/>
            <a:ext cx="893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Clients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0D6B3E0-3809-F388-0142-3A7443156B5D}"/>
              </a:ext>
            </a:extLst>
          </p:cNvPr>
          <p:cNvSpPr txBox="1"/>
          <p:nvPr/>
        </p:nvSpPr>
        <p:spPr>
          <a:xfrm>
            <a:off x="2038272" y="3496861"/>
            <a:ext cx="148694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Best Effort</a:t>
            </a:r>
            <a:b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Clock Sync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.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D21D8E98-C1FF-C273-7567-2DDF59C82E78}"/>
              </a:ext>
            </a:extLst>
          </p:cNvPr>
          <p:cNvCxnSpPr>
            <a:cxnSpLocks/>
          </p:cNvCxnSpPr>
          <p:nvPr/>
        </p:nvCxnSpPr>
        <p:spPr>
          <a:xfrm>
            <a:off x="3894522" y="2746143"/>
            <a:ext cx="901286" cy="1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>
            <a:extLst>
              <a:ext uri="{FF2B5EF4-FFF2-40B4-BE49-F238E27FC236}">
                <a16:creationId xmlns:a16="http://schemas.microsoft.com/office/drawing/2014/main" id="{95CB0D97-C2BE-E5C8-3407-38A68AE24E8B}"/>
              </a:ext>
            </a:extLst>
          </p:cNvPr>
          <p:cNvSpPr/>
          <p:nvPr/>
        </p:nvSpPr>
        <p:spPr>
          <a:xfrm>
            <a:off x="3374006" y="1887264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9BD07AAF-CA90-194A-EEA1-C386D6CE24A9}"/>
              </a:ext>
            </a:extLst>
          </p:cNvPr>
          <p:cNvSpPr/>
          <p:nvPr/>
        </p:nvSpPr>
        <p:spPr>
          <a:xfrm>
            <a:off x="4834587" y="2089607"/>
            <a:ext cx="387086" cy="269789"/>
          </a:xfrm>
          <a:custGeom>
            <a:avLst/>
            <a:gdLst>
              <a:gd name="connsiteX0" fmla="*/ 0 w 387086"/>
              <a:gd name="connsiteY0" fmla="*/ 254892 h 269789"/>
              <a:gd name="connsiteX1" fmla="*/ 247585 w 387086"/>
              <a:gd name="connsiteY1" fmla="*/ 7494 h 269789"/>
              <a:gd name="connsiteX2" fmla="*/ 387087 w 387086"/>
              <a:gd name="connsiteY2" fmla="*/ 269790 h 269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269789">
                <a:moveTo>
                  <a:pt x="0" y="254892"/>
                </a:moveTo>
                <a:cubicBezTo>
                  <a:pt x="118409" y="124934"/>
                  <a:pt x="200937" y="42468"/>
                  <a:pt x="247585" y="7494"/>
                </a:cubicBezTo>
                <a:cubicBezTo>
                  <a:pt x="294232" y="-27479"/>
                  <a:pt x="340733" y="59954"/>
                  <a:pt x="387087" y="269790"/>
                </a:cubicBezTo>
              </a:path>
            </a:pathLst>
          </a:custGeom>
          <a:noFill/>
          <a:ln w="41869" cap="flat">
            <a:solidFill>
              <a:schemeClr val="accent5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C218843C-9F13-AA7F-BD3F-3D979A067C33}"/>
              </a:ext>
            </a:extLst>
          </p:cNvPr>
          <p:cNvCxnSpPr>
            <a:cxnSpLocks/>
          </p:cNvCxnSpPr>
          <p:nvPr/>
        </p:nvCxnSpPr>
        <p:spPr>
          <a:xfrm>
            <a:off x="3348478" y="2359396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5A51B049-F4AF-98BA-B005-42D26054AFC3}"/>
              </a:ext>
            </a:extLst>
          </p:cNvPr>
          <p:cNvCxnSpPr>
            <a:cxnSpLocks/>
          </p:cNvCxnSpPr>
          <p:nvPr/>
        </p:nvCxnSpPr>
        <p:spPr>
          <a:xfrm flipV="1">
            <a:off x="3348478" y="1887264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678FDB8A-127F-E222-174D-576A0B0E3F8F}"/>
              </a:ext>
            </a:extLst>
          </p:cNvPr>
          <p:cNvCxnSpPr>
            <a:cxnSpLocks/>
          </p:cNvCxnSpPr>
          <p:nvPr/>
        </p:nvCxnSpPr>
        <p:spPr>
          <a:xfrm>
            <a:off x="4795808" y="2359396"/>
            <a:ext cx="61708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018C3C0-A4F1-7109-28D5-14EED0557E5C}"/>
              </a:ext>
            </a:extLst>
          </p:cNvPr>
          <p:cNvCxnSpPr>
            <a:cxnSpLocks/>
          </p:cNvCxnSpPr>
          <p:nvPr/>
        </p:nvCxnSpPr>
        <p:spPr>
          <a:xfrm flipV="1">
            <a:off x="4795808" y="1979098"/>
            <a:ext cx="0" cy="38029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>
            <a:extLst>
              <a:ext uri="{FF2B5EF4-FFF2-40B4-BE49-F238E27FC236}">
                <a16:creationId xmlns:a16="http://schemas.microsoft.com/office/drawing/2014/main" id="{63D3AF6B-32DE-9136-71A7-D1F7802872E9}"/>
              </a:ext>
            </a:extLst>
          </p:cNvPr>
          <p:cNvSpPr/>
          <p:nvPr/>
        </p:nvSpPr>
        <p:spPr>
          <a:xfrm>
            <a:off x="5488743" y="4767464"/>
            <a:ext cx="2519841" cy="513127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A6909A8B-D78B-B3EC-A634-9A165004A09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66672" y="4877997"/>
            <a:ext cx="2304087" cy="398689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80" name="Freeform 79">
            <a:extLst>
              <a:ext uri="{FF2B5EF4-FFF2-40B4-BE49-F238E27FC236}">
                <a16:creationId xmlns:a16="http://schemas.microsoft.com/office/drawing/2014/main" id="{81E1A0AD-BFF8-2794-7B5D-DBF894282356}"/>
              </a:ext>
            </a:extLst>
          </p:cNvPr>
          <p:cNvSpPr/>
          <p:nvPr/>
        </p:nvSpPr>
        <p:spPr>
          <a:xfrm>
            <a:off x="2569285" y="2736925"/>
            <a:ext cx="861149" cy="2351856"/>
          </a:xfrm>
          <a:custGeom>
            <a:avLst/>
            <a:gdLst>
              <a:gd name="connsiteX0" fmla="*/ 449925 w 638860"/>
              <a:gd name="connsiteY0" fmla="*/ 1663374 h 1663373"/>
              <a:gd name="connsiteX1" fmla="*/ 0 w 638860"/>
              <a:gd name="connsiteY1" fmla="*/ 804303 h 1663373"/>
              <a:gd name="connsiteX2" fmla="*/ 638861 w 638860"/>
              <a:gd name="connsiteY2" fmla="*/ 0 h 16633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8860" h="1663373">
                <a:moveTo>
                  <a:pt x="449925" y="1663374"/>
                </a:moveTo>
                <a:cubicBezTo>
                  <a:pt x="149975" y="1440381"/>
                  <a:pt x="0" y="1154038"/>
                  <a:pt x="0" y="804303"/>
                </a:cubicBezTo>
                <a:cubicBezTo>
                  <a:pt x="0" y="454575"/>
                  <a:pt x="212954" y="186475"/>
                  <a:pt x="638861" y="0"/>
                </a:cubicBezTo>
              </a:path>
            </a:pathLst>
          </a:custGeom>
          <a:noFill/>
          <a:ln w="31750" cap="sq">
            <a:solidFill>
              <a:schemeClr val="bg1">
                <a:lumMod val="65000"/>
              </a:schemeClr>
            </a:solidFill>
            <a:prstDash val="sysDot"/>
            <a:miter/>
            <a:headEnd type="stealth" w="lg" len="lg"/>
            <a:tailEnd type="stealth" w="lg" len="lg"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D563CE6F-D20E-794E-665A-5F38950C478E}"/>
              </a:ext>
            </a:extLst>
          </p:cNvPr>
          <p:cNvCxnSpPr>
            <a:cxnSpLocks/>
            <a:stCxn id="7" idx="2"/>
            <a:endCxn id="79" idx="2"/>
          </p:cNvCxnSpPr>
          <p:nvPr/>
        </p:nvCxnSpPr>
        <p:spPr>
          <a:xfrm rot="16200000" flipH="1">
            <a:off x="3796074" y="3331358"/>
            <a:ext cx="1527165" cy="1858173"/>
          </a:xfrm>
          <a:prstGeom prst="bentConnector2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CBA7C77C-37FB-CCEB-619A-5253DF9965D6}"/>
              </a:ext>
            </a:extLst>
          </p:cNvPr>
          <p:cNvCxnSpPr>
            <a:cxnSpLocks/>
            <a:stCxn id="8" idx="2"/>
            <a:endCxn id="79" idx="2"/>
          </p:cNvCxnSpPr>
          <p:nvPr/>
        </p:nvCxnSpPr>
        <p:spPr>
          <a:xfrm rot="16200000" flipH="1">
            <a:off x="4506975" y="4042259"/>
            <a:ext cx="1527165" cy="436371"/>
          </a:xfrm>
          <a:prstGeom prst="bentConnector2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E9B78F4A-A1DD-F599-9B37-412F81140499}"/>
              </a:ext>
            </a:extLst>
          </p:cNvPr>
          <p:cNvSpPr txBox="1"/>
          <p:nvPr/>
        </p:nvSpPr>
        <p:spPr>
          <a:xfrm>
            <a:off x="4607187" y="3801560"/>
            <a:ext cx="761747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60000"/>
                    <a:lumOff val="4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Msgs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B968A482-A89B-C8BA-44D1-33611F06991E}"/>
              </a:ext>
            </a:extLst>
          </p:cNvPr>
          <p:cNvCxnSpPr>
            <a:cxnSpLocks/>
            <a:stCxn id="79" idx="0"/>
          </p:cNvCxnSpPr>
          <p:nvPr/>
        </p:nvCxnSpPr>
        <p:spPr>
          <a:xfrm flipV="1">
            <a:off x="6748664" y="3946923"/>
            <a:ext cx="0" cy="820541"/>
          </a:xfrm>
          <a:prstGeom prst="straightConnector1">
            <a:avLst/>
          </a:prstGeom>
          <a:ln w="41275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C5346D92-224C-6C15-DE57-C91ED5E05561}"/>
              </a:ext>
            </a:extLst>
          </p:cNvPr>
          <p:cNvSpPr txBox="1"/>
          <p:nvPr/>
        </p:nvSpPr>
        <p:spPr>
          <a:xfrm>
            <a:off x="6768203" y="4248357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Output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E4B192A6-C626-4A51-2905-B3983D15C2E7}"/>
              </a:ext>
            </a:extLst>
          </p:cNvPr>
          <p:cNvSpPr txBox="1"/>
          <p:nvPr/>
        </p:nvSpPr>
        <p:spPr>
          <a:xfrm>
            <a:off x="2688505" y="1400413"/>
            <a:ext cx="400693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Learned Clock Offset Distributions</a:t>
            </a:r>
          </a:p>
        </p:txBody>
      </p:sp>
      <p:cxnSp>
        <p:nvCxnSpPr>
          <p:cNvPr id="120" name="Elbow Connector 119">
            <a:extLst>
              <a:ext uri="{FF2B5EF4-FFF2-40B4-BE49-F238E27FC236}">
                <a16:creationId xmlns:a16="http://schemas.microsoft.com/office/drawing/2014/main" id="{C59308A0-45BF-A4C8-5C67-F42D294B6360}"/>
              </a:ext>
            </a:extLst>
          </p:cNvPr>
          <p:cNvCxnSpPr>
            <a:cxnSpLocks/>
          </p:cNvCxnSpPr>
          <p:nvPr/>
        </p:nvCxnSpPr>
        <p:spPr>
          <a:xfrm rot="16200000" flipH="1">
            <a:off x="4210650" y="3330623"/>
            <a:ext cx="2784487" cy="302454"/>
          </a:xfrm>
          <a:prstGeom prst="bentConnector3">
            <a:avLst>
              <a:gd name="adj1" fmla="val 548"/>
            </a:avLst>
          </a:prstGeom>
          <a:ln w="3810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0B2E1C5B-F42F-538E-A7A6-5CBA663EFCEC}"/>
              </a:ext>
            </a:extLst>
          </p:cNvPr>
          <p:cNvSpPr txBox="1"/>
          <p:nvPr/>
        </p:nvSpPr>
        <p:spPr>
          <a:xfrm>
            <a:off x="3894522" y="5364014"/>
            <a:ext cx="13837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Sequencer</a:t>
            </a:r>
          </a:p>
        </p:txBody>
      </p:sp>
    </p:spTree>
    <p:extLst>
      <p:ext uri="{BB962C8B-B14F-4D97-AF65-F5344CB8AC3E}">
        <p14:creationId xmlns:p14="http://schemas.microsoft.com/office/powerpoint/2010/main" val="12035356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14:switch dir="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1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6" dur="1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3" dur="1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0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55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58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  <p:bldP spid="55" grpId="0" animBg="1"/>
      <p:bldP spid="56" grpId="0" animBg="1"/>
      <p:bldP spid="79" grpId="0" animBg="1"/>
      <p:bldP spid="80" grpId="0" animBg="1"/>
      <p:bldP spid="118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52F39C-D2A9-3467-28D1-262E097DC4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n 4">
            <a:extLst>
              <a:ext uri="{FF2B5EF4-FFF2-40B4-BE49-F238E27FC236}">
                <a16:creationId xmlns:a16="http://schemas.microsoft.com/office/drawing/2014/main" id="{D971A022-5DD7-BA1B-7315-0A1F6BE88874}"/>
              </a:ext>
            </a:extLst>
          </p:cNvPr>
          <p:cNvSpPr/>
          <p:nvPr/>
        </p:nvSpPr>
        <p:spPr>
          <a:xfrm rot="5400000">
            <a:off x="5418564" y="2362027"/>
            <a:ext cx="666707" cy="5357578"/>
          </a:xfrm>
          <a:prstGeom prst="can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A1F442B-2FC7-A1C7-8A46-AAA98096EC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173"/>
            <a:ext cx="10515600" cy="1325563"/>
          </a:xfrm>
        </p:spPr>
        <p:txBody>
          <a:bodyPr/>
          <a:lstStyle/>
          <a:p>
            <a:r>
              <a:rPr lang="en-US" dirty="0"/>
              <a:t>Sequencer Overview – </a:t>
            </a:r>
            <a:r>
              <a:rPr lang="en-US" dirty="0">
                <a:solidFill>
                  <a:schemeClr val="accent6"/>
                </a:solidFill>
              </a:rPr>
              <a:t>After Tommy</a:t>
            </a:r>
          </a:p>
        </p:txBody>
      </p:sp>
      <p:pic>
        <p:nvPicPr>
          <p:cNvPr id="7" name="Graphic 6" descr="Server outline">
            <a:extLst>
              <a:ext uri="{FF2B5EF4-FFF2-40B4-BE49-F238E27FC236}">
                <a16:creationId xmlns:a16="http://schemas.microsoft.com/office/drawing/2014/main" id="{B708E40E-4CD1-88C8-7456-9590730193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0053" y="2775829"/>
            <a:ext cx="721034" cy="721034"/>
          </a:xfrm>
          <a:prstGeom prst="rect">
            <a:avLst/>
          </a:prstGeom>
        </p:spPr>
      </p:pic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CA95B654-D166-484C-A7F7-51CF38FB56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91855" y="2775829"/>
            <a:ext cx="721034" cy="721034"/>
          </a:xfrm>
          <a:prstGeom prst="rect">
            <a:avLst/>
          </a:prstGeom>
        </p:spPr>
      </p:pic>
      <p:pic>
        <p:nvPicPr>
          <p:cNvPr id="10" name="Graphic 9" descr="Alarm clock with solid fill">
            <a:extLst>
              <a:ext uri="{FF2B5EF4-FFF2-40B4-BE49-F238E27FC236}">
                <a16:creationId xmlns:a16="http://schemas.microsoft.com/office/drawing/2014/main" id="{3965E680-6A2C-A585-CF08-65D920B30C0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74006" y="2433087"/>
            <a:ext cx="513127" cy="513127"/>
          </a:xfrm>
          <a:prstGeom prst="rect">
            <a:avLst/>
          </a:prstGeom>
        </p:spPr>
      </p:pic>
      <p:pic>
        <p:nvPicPr>
          <p:cNvPr id="11" name="Graphic 10" descr="Alarm clock with solid fill">
            <a:extLst>
              <a:ext uri="{FF2B5EF4-FFF2-40B4-BE49-F238E27FC236}">
                <a16:creationId xmlns:a16="http://schemas.microsoft.com/office/drawing/2014/main" id="{57B3B4EE-4653-6733-D05A-98BFF18FFE6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95808" y="2433086"/>
            <a:ext cx="513127" cy="513127"/>
          </a:xfrm>
          <a:prstGeom prst="rect">
            <a:avLst/>
          </a:prstGeom>
        </p:spPr>
      </p:pic>
      <p:pic>
        <p:nvPicPr>
          <p:cNvPr id="12" name="Graphic 11" descr="Alarm clock with solid fill">
            <a:extLst>
              <a:ext uri="{FF2B5EF4-FFF2-40B4-BE49-F238E27FC236}">
                <a16:creationId xmlns:a16="http://schemas.microsoft.com/office/drawing/2014/main" id="{43D3A8B8-7BE6-E871-2FCA-678A411D2C5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111550" y="4790703"/>
            <a:ext cx="513127" cy="513127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4F42AA9-91B5-7E2D-B6D9-89A017CF9697}"/>
              </a:ext>
            </a:extLst>
          </p:cNvPr>
          <p:cNvCxnSpPr>
            <a:cxnSpLocks/>
          </p:cNvCxnSpPr>
          <p:nvPr/>
        </p:nvCxnSpPr>
        <p:spPr>
          <a:xfrm>
            <a:off x="3991087" y="3050285"/>
            <a:ext cx="640080" cy="0"/>
          </a:xfrm>
          <a:prstGeom prst="line">
            <a:avLst/>
          </a:prstGeom>
          <a:ln w="381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E41AA39D-08BE-1E60-93BF-FC489E9885F5}"/>
              </a:ext>
            </a:extLst>
          </p:cNvPr>
          <p:cNvSpPr txBox="1"/>
          <p:nvPr/>
        </p:nvSpPr>
        <p:spPr>
          <a:xfrm>
            <a:off x="3894522" y="3104289"/>
            <a:ext cx="893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Clients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FECA533-F30A-1830-945C-300416336DE2}"/>
              </a:ext>
            </a:extLst>
          </p:cNvPr>
          <p:cNvSpPr txBox="1"/>
          <p:nvPr/>
        </p:nvSpPr>
        <p:spPr>
          <a:xfrm>
            <a:off x="2038272" y="3496861"/>
            <a:ext cx="148694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Best Effort</a:t>
            </a:r>
            <a:b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Clock Sync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.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232B17D9-83AA-8E5B-B248-5C90EDF1CD59}"/>
              </a:ext>
            </a:extLst>
          </p:cNvPr>
          <p:cNvCxnSpPr>
            <a:cxnSpLocks/>
          </p:cNvCxnSpPr>
          <p:nvPr/>
        </p:nvCxnSpPr>
        <p:spPr>
          <a:xfrm>
            <a:off x="3894522" y="2746143"/>
            <a:ext cx="901286" cy="1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>
            <a:extLst>
              <a:ext uri="{FF2B5EF4-FFF2-40B4-BE49-F238E27FC236}">
                <a16:creationId xmlns:a16="http://schemas.microsoft.com/office/drawing/2014/main" id="{C939B760-9BF7-FE38-AF03-A6FC22FC757B}"/>
              </a:ext>
            </a:extLst>
          </p:cNvPr>
          <p:cNvSpPr/>
          <p:nvPr/>
        </p:nvSpPr>
        <p:spPr>
          <a:xfrm>
            <a:off x="3374006" y="1887264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A66A5B91-78F1-2AD0-B7CD-CA909A73E393}"/>
              </a:ext>
            </a:extLst>
          </p:cNvPr>
          <p:cNvSpPr/>
          <p:nvPr/>
        </p:nvSpPr>
        <p:spPr>
          <a:xfrm>
            <a:off x="4834587" y="2089607"/>
            <a:ext cx="387086" cy="269789"/>
          </a:xfrm>
          <a:custGeom>
            <a:avLst/>
            <a:gdLst>
              <a:gd name="connsiteX0" fmla="*/ 0 w 387086"/>
              <a:gd name="connsiteY0" fmla="*/ 254892 h 269789"/>
              <a:gd name="connsiteX1" fmla="*/ 247585 w 387086"/>
              <a:gd name="connsiteY1" fmla="*/ 7494 h 269789"/>
              <a:gd name="connsiteX2" fmla="*/ 387087 w 387086"/>
              <a:gd name="connsiteY2" fmla="*/ 269790 h 269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269789">
                <a:moveTo>
                  <a:pt x="0" y="254892"/>
                </a:moveTo>
                <a:cubicBezTo>
                  <a:pt x="118409" y="124934"/>
                  <a:pt x="200937" y="42468"/>
                  <a:pt x="247585" y="7494"/>
                </a:cubicBezTo>
                <a:cubicBezTo>
                  <a:pt x="294232" y="-27479"/>
                  <a:pt x="340733" y="59954"/>
                  <a:pt x="387087" y="269790"/>
                </a:cubicBezTo>
              </a:path>
            </a:pathLst>
          </a:custGeom>
          <a:noFill/>
          <a:ln w="41869" cap="flat">
            <a:solidFill>
              <a:schemeClr val="accent5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F71BB9B0-656B-BAD5-1391-67E97F04021B}"/>
              </a:ext>
            </a:extLst>
          </p:cNvPr>
          <p:cNvCxnSpPr>
            <a:cxnSpLocks/>
          </p:cNvCxnSpPr>
          <p:nvPr/>
        </p:nvCxnSpPr>
        <p:spPr>
          <a:xfrm>
            <a:off x="3348478" y="2359396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59BBF7E3-0BF9-FFA5-33A0-B0D22602B7FA}"/>
              </a:ext>
            </a:extLst>
          </p:cNvPr>
          <p:cNvCxnSpPr>
            <a:cxnSpLocks/>
          </p:cNvCxnSpPr>
          <p:nvPr/>
        </p:nvCxnSpPr>
        <p:spPr>
          <a:xfrm flipV="1">
            <a:off x="3348478" y="1887264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4370D8FA-4415-B033-4AF4-77CFAB343865}"/>
              </a:ext>
            </a:extLst>
          </p:cNvPr>
          <p:cNvCxnSpPr>
            <a:cxnSpLocks/>
          </p:cNvCxnSpPr>
          <p:nvPr/>
        </p:nvCxnSpPr>
        <p:spPr>
          <a:xfrm>
            <a:off x="4795808" y="2359396"/>
            <a:ext cx="61708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14377A22-92DA-205D-FC83-F8C3E9E484E7}"/>
              </a:ext>
            </a:extLst>
          </p:cNvPr>
          <p:cNvCxnSpPr>
            <a:cxnSpLocks/>
          </p:cNvCxnSpPr>
          <p:nvPr/>
        </p:nvCxnSpPr>
        <p:spPr>
          <a:xfrm flipV="1">
            <a:off x="4795808" y="1979098"/>
            <a:ext cx="0" cy="38029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>
            <a:extLst>
              <a:ext uri="{FF2B5EF4-FFF2-40B4-BE49-F238E27FC236}">
                <a16:creationId xmlns:a16="http://schemas.microsoft.com/office/drawing/2014/main" id="{3C6C839D-C062-3A33-6AF4-F4C6C5913280}"/>
              </a:ext>
            </a:extLst>
          </p:cNvPr>
          <p:cNvSpPr/>
          <p:nvPr/>
        </p:nvSpPr>
        <p:spPr>
          <a:xfrm>
            <a:off x="5488743" y="4767464"/>
            <a:ext cx="2519841" cy="513127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82C315B2-854E-9555-64A1-E3ECC579529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66672" y="4877997"/>
            <a:ext cx="2304087" cy="398689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80" name="Freeform 79">
            <a:extLst>
              <a:ext uri="{FF2B5EF4-FFF2-40B4-BE49-F238E27FC236}">
                <a16:creationId xmlns:a16="http://schemas.microsoft.com/office/drawing/2014/main" id="{573403E5-C756-4DEB-524E-A964FC0C8C88}"/>
              </a:ext>
            </a:extLst>
          </p:cNvPr>
          <p:cNvSpPr/>
          <p:nvPr/>
        </p:nvSpPr>
        <p:spPr>
          <a:xfrm>
            <a:off x="2569285" y="2736925"/>
            <a:ext cx="861149" cy="2351856"/>
          </a:xfrm>
          <a:custGeom>
            <a:avLst/>
            <a:gdLst>
              <a:gd name="connsiteX0" fmla="*/ 449925 w 638860"/>
              <a:gd name="connsiteY0" fmla="*/ 1663374 h 1663373"/>
              <a:gd name="connsiteX1" fmla="*/ 0 w 638860"/>
              <a:gd name="connsiteY1" fmla="*/ 804303 h 1663373"/>
              <a:gd name="connsiteX2" fmla="*/ 638861 w 638860"/>
              <a:gd name="connsiteY2" fmla="*/ 0 h 16633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8860" h="1663373">
                <a:moveTo>
                  <a:pt x="449925" y="1663374"/>
                </a:moveTo>
                <a:cubicBezTo>
                  <a:pt x="149975" y="1440381"/>
                  <a:pt x="0" y="1154038"/>
                  <a:pt x="0" y="804303"/>
                </a:cubicBezTo>
                <a:cubicBezTo>
                  <a:pt x="0" y="454575"/>
                  <a:pt x="212954" y="186475"/>
                  <a:pt x="638861" y="0"/>
                </a:cubicBezTo>
              </a:path>
            </a:pathLst>
          </a:custGeom>
          <a:noFill/>
          <a:ln w="31750" cap="sq">
            <a:solidFill>
              <a:schemeClr val="bg1">
                <a:lumMod val="65000"/>
              </a:schemeClr>
            </a:solidFill>
            <a:prstDash val="sysDot"/>
            <a:miter/>
            <a:headEnd type="stealth" w="lg" len="lg"/>
            <a:tailEnd type="stealth" w="lg" len="lg"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45F16B69-2400-4E7A-F179-B243910EBF7E}"/>
              </a:ext>
            </a:extLst>
          </p:cNvPr>
          <p:cNvCxnSpPr>
            <a:cxnSpLocks/>
            <a:stCxn id="7" idx="2"/>
            <a:endCxn id="79" idx="2"/>
          </p:cNvCxnSpPr>
          <p:nvPr/>
        </p:nvCxnSpPr>
        <p:spPr>
          <a:xfrm rot="16200000" flipH="1">
            <a:off x="3796074" y="3331358"/>
            <a:ext cx="1527165" cy="1858173"/>
          </a:xfrm>
          <a:prstGeom prst="bentConnector2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754DFFD8-FEBD-94A7-2C49-588E9012671D}"/>
              </a:ext>
            </a:extLst>
          </p:cNvPr>
          <p:cNvCxnSpPr>
            <a:cxnSpLocks/>
            <a:stCxn id="8" idx="2"/>
            <a:endCxn id="79" idx="2"/>
          </p:cNvCxnSpPr>
          <p:nvPr/>
        </p:nvCxnSpPr>
        <p:spPr>
          <a:xfrm rot="16200000" flipH="1">
            <a:off x="4506975" y="4042259"/>
            <a:ext cx="1527165" cy="436371"/>
          </a:xfrm>
          <a:prstGeom prst="bentConnector2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64DB4875-B39E-E8D0-6EA0-29294F94FA3F}"/>
              </a:ext>
            </a:extLst>
          </p:cNvPr>
          <p:cNvSpPr txBox="1"/>
          <p:nvPr/>
        </p:nvSpPr>
        <p:spPr>
          <a:xfrm>
            <a:off x="4607187" y="3801560"/>
            <a:ext cx="761747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60000"/>
                    <a:lumOff val="4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Msgs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7DCE8E3F-A075-EE7C-4694-DF4B72D7D618}"/>
              </a:ext>
            </a:extLst>
          </p:cNvPr>
          <p:cNvCxnSpPr>
            <a:cxnSpLocks/>
            <a:stCxn id="79" idx="0"/>
          </p:cNvCxnSpPr>
          <p:nvPr/>
        </p:nvCxnSpPr>
        <p:spPr>
          <a:xfrm flipV="1">
            <a:off x="6748664" y="3946923"/>
            <a:ext cx="0" cy="820541"/>
          </a:xfrm>
          <a:prstGeom prst="straightConnector1">
            <a:avLst/>
          </a:prstGeom>
          <a:ln w="41275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478CDA35-EFE4-01D0-2428-BA24732BC42F}"/>
              </a:ext>
            </a:extLst>
          </p:cNvPr>
          <p:cNvSpPr txBox="1"/>
          <p:nvPr/>
        </p:nvSpPr>
        <p:spPr>
          <a:xfrm>
            <a:off x="6768203" y="4248357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Output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9FE495E8-4CED-6386-6280-CF57927AD4E8}"/>
              </a:ext>
            </a:extLst>
          </p:cNvPr>
          <p:cNvSpPr txBox="1"/>
          <p:nvPr/>
        </p:nvSpPr>
        <p:spPr>
          <a:xfrm>
            <a:off x="6249000" y="2838159"/>
            <a:ext cx="27185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Fair Order of Messages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5F918AE7-9F6A-4235-ADFE-6B33A398EA66}"/>
              </a:ext>
            </a:extLst>
          </p:cNvPr>
          <p:cNvSpPr txBox="1"/>
          <p:nvPr/>
        </p:nvSpPr>
        <p:spPr>
          <a:xfrm>
            <a:off x="2688505" y="1400413"/>
            <a:ext cx="400693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Learned Clock Offset Distributions</a:t>
            </a:r>
          </a:p>
        </p:txBody>
      </p:sp>
      <p:cxnSp>
        <p:nvCxnSpPr>
          <p:cNvPr id="120" name="Elbow Connector 119">
            <a:extLst>
              <a:ext uri="{FF2B5EF4-FFF2-40B4-BE49-F238E27FC236}">
                <a16:creationId xmlns:a16="http://schemas.microsoft.com/office/drawing/2014/main" id="{16E0D18D-75EB-FB44-3973-0DFA735197F3}"/>
              </a:ext>
            </a:extLst>
          </p:cNvPr>
          <p:cNvCxnSpPr>
            <a:cxnSpLocks/>
          </p:cNvCxnSpPr>
          <p:nvPr/>
        </p:nvCxnSpPr>
        <p:spPr>
          <a:xfrm rot="16200000" flipH="1">
            <a:off x="4210650" y="3330623"/>
            <a:ext cx="2784487" cy="302454"/>
          </a:xfrm>
          <a:prstGeom prst="bentConnector3">
            <a:avLst>
              <a:gd name="adj1" fmla="val 548"/>
            </a:avLst>
          </a:prstGeom>
          <a:ln w="3810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3D2D24EA-CF77-3797-20CD-936D1BBDA6A4}"/>
              </a:ext>
            </a:extLst>
          </p:cNvPr>
          <p:cNvSpPr txBox="1"/>
          <p:nvPr/>
        </p:nvSpPr>
        <p:spPr>
          <a:xfrm>
            <a:off x="3894522" y="5364014"/>
            <a:ext cx="13837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Sequencer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AA840BD-41CF-7108-76C5-C411ECFADC47}"/>
              </a:ext>
            </a:extLst>
          </p:cNvPr>
          <p:cNvGrpSpPr/>
          <p:nvPr/>
        </p:nvGrpSpPr>
        <p:grpSpPr>
          <a:xfrm>
            <a:off x="6949322" y="3320531"/>
            <a:ext cx="1075394" cy="427232"/>
            <a:chOff x="6917966" y="3321746"/>
            <a:chExt cx="1075394" cy="427232"/>
          </a:xfrm>
        </p:grpSpPr>
        <p:sp>
          <p:nvSpPr>
            <p:cNvPr id="137" name="Freeform 136">
              <a:extLst>
                <a:ext uri="{FF2B5EF4-FFF2-40B4-BE49-F238E27FC236}">
                  <a16:creationId xmlns:a16="http://schemas.microsoft.com/office/drawing/2014/main" id="{042B47DB-3D94-7695-B796-24DC1BD99659}"/>
                </a:ext>
              </a:extLst>
            </p:cNvPr>
            <p:cNvSpPr/>
            <p:nvPr/>
          </p:nvSpPr>
          <p:spPr>
            <a:xfrm>
              <a:off x="6917966" y="3327864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noFill/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38" name="Freeform 137">
              <a:extLst>
                <a:ext uri="{FF2B5EF4-FFF2-40B4-BE49-F238E27FC236}">
                  <a16:creationId xmlns:a16="http://schemas.microsoft.com/office/drawing/2014/main" id="{66FE4802-7977-F3C6-E03A-EE72BFE5F4C6}"/>
                </a:ext>
              </a:extLst>
            </p:cNvPr>
            <p:cNvSpPr/>
            <p:nvPr/>
          </p:nvSpPr>
          <p:spPr>
            <a:xfrm>
              <a:off x="7556045" y="3329306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noFill/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CF148F0-61E1-AC3A-2692-AEFC78F1AC8E}"/>
                </a:ext>
              </a:extLst>
            </p:cNvPr>
            <p:cNvGrpSpPr/>
            <p:nvPr/>
          </p:nvGrpSpPr>
          <p:grpSpPr>
            <a:xfrm>
              <a:off x="6931018" y="3321746"/>
              <a:ext cx="1062342" cy="427232"/>
              <a:chOff x="6931018" y="3321746"/>
              <a:chExt cx="1062342" cy="427232"/>
            </a:xfrm>
          </p:grpSpPr>
          <p:sp>
            <p:nvSpPr>
              <p:cNvPr id="135" name="Freeform 134">
                <a:extLst>
                  <a:ext uri="{FF2B5EF4-FFF2-40B4-BE49-F238E27FC236}">
                    <a16:creationId xmlns:a16="http://schemas.microsoft.com/office/drawing/2014/main" id="{60B0843A-0675-F03E-C5CF-6C8894D75630}"/>
                  </a:ext>
                </a:extLst>
              </p:cNvPr>
              <p:cNvSpPr/>
              <p:nvPr/>
            </p:nvSpPr>
            <p:spPr>
              <a:xfrm>
                <a:off x="6931018" y="3321746"/>
                <a:ext cx="1062342" cy="427232"/>
              </a:xfrm>
              <a:custGeom>
                <a:avLst/>
                <a:gdLst>
                  <a:gd name="connsiteX0" fmla="*/ 0 w 1047312"/>
                  <a:gd name="connsiteY0" fmla="*/ 0 h 419672"/>
                  <a:gd name="connsiteX1" fmla="*/ 1047312 w 1047312"/>
                  <a:gd name="connsiteY1" fmla="*/ 0 h 419672"/>
                  <a:gd name="connsiteX2" fmla="*/ 1047312 w 1047312"/>
                  <a:gd name="connsiteY2" fmla="*/ 419673 h 419672"/>
                  <a:gd name="connsiteX3" fmla="*/ 0 w 1047312"/>
                  <a:gd name="connsiteY3" fmla="*/ 419673 h 4196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47312" h="419672">
                    <a:moveTo>
                      <a:pt x="0" y="0"/>
                    </a:moveTo>
                    <a:lnTo>
                      <a:pt x="1047312" y="0"/>
                    </a:lnTo>
                    <a:lnTo>
                      <a:pt x="1047312" y="419673"/>
                    </a:lnTo>
                    <a:lnTo>
                      <a:pt x="0" y="419673"/>
                    </a:lnTo>
                    <a:close/>
                  </a:path>
                </a:pathLst>
              </a:custGeom>
              <a:noFill/>
              <a:ln w="20935" cap="flat">
                <a:solidFill>
                  <a:srgbClr val="000000"/>
                </a:solidFill>
                <a:custDash>
                  <a:ds d="225000" sp="225000"/>
                </a:custDash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139" name="TextBox 138">
                <a:extLst>
                  <a:ext uri="{FF2B5EF4-FFF2-40B4-BE49-F238E27FC236}">
                    <a16:creationId xmlns:a16="http://schemas.microsoft.com/office/drawing/2014/main" id="{31D15BC0-EC26-A3AB-6026-879A26A606A7}"/>
                  </a:ext>
                </a:extLst>
              </p:cNvPr>
              <p:cNvSpPr txBox="1"/>
              <p:nvPr/>
            </p:nvSpPr>
            <p:spPr>
              <a:xfrm>
                <a:off x="7612950" y="3339274"/>
                <a:ext cx="3227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2</a:t>
                </a:r>
              </a:p>
            </p:txBody>
          </p:sp>
          <p:sp>
            <p:nvSpPr>
              <p:cNvPr id="140" name="TextBox 139">
                <a:extLst>
                  <a:ext uri="{FF2B5EF4-FFF2-40B4-BE49-F238E27FC236}">
                    <a16:creationId xmlns:a16="http://schemas.microsoft.com/office/drawing/2014/main" id="{71D8388B-42B3-F7E7-CBE9-931B1CC41141}"/>
                  </a:ext>
                </a:extLst>
              </p:cNvPr>
              <p:cNvSpPr txBox="1"/>
              <p:nvPr/>
            </p:nvSpPr>
            <p:spPr>
              <a:xfrm>
                <a:off x="6971307" y="3350696"/>
                <a:ext cx="3227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2</a:t>
                </a:r>
              </a:p>
            </p:txBody>
          </p:sp>
        </p:grp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EFEC891-759E-0E7A-9303-933DA9B74944}"/>
              </a:ext>
            </a:extLst>
          </p:cNvPr>
          <p:cNvGrpSpPr/>
          <p:nvPr/>
        </p:nvGrpSpPr>
        <p:grpSpPr>
          <a:xfrm>
            <a:off x="6333987" y="3336637"/>
            <a:ext cx="418924" cy="419672"/>
            <a:chOff x="6302631" y="3337852"/>
            <a:chExt cx="418924" cy="419672"/>
          </a:xfrm>
        </p:grpSpPr>
        <p:sp>
          <p:nvSpPr>
            <p:cNvPr id="133" name="Freeform 132">
              <a:extLst>
                <a:ext uri="{FF2B5EF4-FFF2-40B4-BE49-F238E27FC236}">
                  <a16:creationId xmlns:a16="http://schemas.microsoft.com/office/drawing/2014/main" id="{EDEF8969-CE49-C3E5-ACBD-E94F785D2A2E}"/>
                </a:ext>
              </a:extLst>
            </p:cNvPr>
            <p:cNvSpPr/>
            <p:nvPr/>
          </p:nvSpPr>
          <p:spPr>
            <a:xfrm>
              <a:off x="6302631" y="3337852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5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1" name="TextBox 140">
              <a:extLst>
                <a:ext uri="{FF2B5EF4-FFF2-40B4-BE49-F238E27FC236}">
                  <a16:creationId xmlns:a16="http://schemas.microsoft.com/office/drawing/2014/main" id="{6F5B3391-96A2-675B-CCE3-53FD79B06741}"/>
                </a:ext>
              </a:extLst>
            </p:cNvPr>
            <p:cNvSpPr txBox="1"/>
            <p:nvPr/>
          </p:nvSpPr>
          <p:spPr>
            <a:xfrm>
              <a:off x="6355431" y="3357288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1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4D7F806C-D899-40FB-4E0C-0E13CB245480}"/>
              </a:ext>
            </a:extLst>
          </p:cNvPr>
          <p:cNvGrpSpPr/>
          <p:nvPr/>
        </p:nvGrpSpPr>
        <p:grpSpPr>
          <a:xfrm>
            <a:off x="8219149" y="3330903"/>
            <a:ext cx="418924" cy="419672"/>
            <a:chOff x="8187793" y="3332118"/>
            <a:chExt cx="418924" cy="419672"/>
          </a:xfrm>
        </p:grpSpPr>
        <p:sp>
          <p:nvSpPr>
            <p:cNvPr id="134" name="Freeform 133">
              <a:extLst>
                <a:ext uri="{FF2B5EF4-FFF2-40B4-BE49-F238E27FC236}">
                  <a16:creationId xmlns:a16="http://schemas.microsoft.com/office/drawing/2014/main" id="{8B76529D-0540-DC69-A1F2-B086DC7353AD}"/>
                </a:ext>
              </a:extLst>
            </p:cNvPr>
            <p:cNvSpPr/>
            <p:nvPr/>
          </p:nvSpPr>
          <p:spPr>
            <a:xfrm>
              <a:off x="8187793" y="3332118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FA15738A-E9CE-2949-5EE5-0F7F0214EBBD}"/>
                </a:ext>
              </a:extLst>
            </p:cNvPr>
            <p:cNvSpPr txBox="1"/>
            <p:nvPr/>
          </p:nvSpPr>
          <p:spPr>
            <a:xfrm>
              <a:off x="8227631" y="3339274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3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C1130719-77CA-A476-4741-461200C1825B}"/>
              </a:ext>
            </a:extLst>
          </p:cNvPr>
          <p:cNvGrpSpPr/>
          <p:nvPr/>
        </p:nvGrpSpPr>
        <p:grpSpPr>
          <a:xfrm>
            <a:off x="8847536" y="3330903"/>
            <a:ext cx="473175" cy="419672"/>
            <a:chOff x="8816180" y="3332118"/>
            <a:chExt cx="473175" cy="419672"/>
          </a:xfrm>
        </p:grpSpPr>
        <p:sp>
          <p:nvSpPr>
            <p:cNvPr id="136" name="Freeform 135">
              <a:extLst>
                <a:ext uri="{FF2B5EF4-FFF2-40B4-BE49-F238E27FC236}">
                  <a16:creationId xmlns:a16="http://schemas.microsoft.com/office/drawing/2014/main" id="{0D9A0423-7C17-734B-A8EC-BA976D5C93FA}"/>
                </a:ext>
              </a:extLst>
            </p:cNvPr>
            <p:cNvSpPr/>
            <p:nvPr/>
          </p:nvSpPr>
          <p:spPr>
            <a:xfrm>
              <a:off x="8816180" y="3332118"/>
              <a:ext cx="473175" cy="419672"/>
            </a:xfrm>
            <a:custGeom>
              <a:avLst/>
              <a:gdLst>
                <a:gd name="connsiteX0" fmla="*/ 0 w 473175"/>
                <a:gd name="connsiteY0" fmla="*/ 0 h 419672"/>
                <a:gd name="connsiteX1" fmla="*/ 473176 w 473175"/>
                <a:gd name="connsiteY1" fmla="*/ 0 h 419672"/>
                <a:gd name="connsiteX2" fmla="*/ 473176 w 473175"/>
                <a:gd name="connsiteY2" fmla="*/ 419673 h 419672"/>
                <a:gd name="connsiteX3" fmla="*/ 0 w 473175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175" h="419672">
                  <a:moveTo>
                    <a:pt x="0" y="0"/>
                  </a:moveTo>
                  <a:lnTo>
                    <a:pt x="473176" y="0"/>
                  </a:lnTo>
                  <a:lnTo>
                    <a:pt x="473176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31ABC5C5-EC13-41EC-38E3-BFCF47CDAFC5}"/>
                </a:ext>
              </a:extLst>
            </p:cNvPr>
            <p:cNvSpPr txBox="1"/>
            <p:nvPr/>
          </p:nvSpPr>
          <p:spPr>
            <a:xfrm>
              <a:off x="8891405" y="3339274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4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6198395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499C5-0E94-659D-EB50-AB35292D41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01374AA2-FF9F-BF20-56AC-42B75D248B67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1E390A59-0100-E68C-C0CE-C528633D3A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307E1014-18F7-B967-3B32-8686102EF2F0}"/>
              </a:ext>
            </a:extLst>
          </p:cNvPr>
          <p:cNvSpPr/>
          <p:nvPr/>
        </p:nvSpPr>
        <p:spPr>
          <a:xfrm>
            <a:off x="3186545" y="1842655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8ED11E5-3F71-99CC-AFCA-CE4BFB058D87}"/>
              </a:ext>
            </a:extLst>
          </p:cNvPr>
          <p:cNvSpPr/>
          <p:nvPr/>
        </p:nvSpPr>
        <p:spPr>
          <a:xfrm>
            <a:off x="7523020" y="1842655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8FDA3CB-6B8F-1DA3-49D2-0402D3418C54}"/>
              </a:ext>
            </a:extLst>
          </p:cNvPr>
          <p:cNvSpPr txBox="1"/>
          <p:nvPr/>
        </p:nvSpPr>
        <p:spPr>
          <a:xfrm>
            <a:off x="3422074" y="3075057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T</a:t>
            </a:r>
            <a:r>
              <a:rPr lang="en-US" sz="4000" baseline="-25000" dirty="0">
                <a:solidFill>
                  <a:srgbClr val="FF0000"/>
                </a:solidFill>
              </a:rPr>
              <a:t>i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D2FB84D-CDAF-FC73-F573-25904E267089}"/>
              </a:ext>
            </a:extLst>
          </p:cNvPr>
          <p:cNvSpPr txBox="1"/>
          <p:nvPr/>
        </p:nvSpPr>
        <p:spPr>
          <a:xfrm>
            <a:off x="7767779" y="2985004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0000"/>
                </a:solidFill>
              </a:rPr>
              <a:t>T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F191C93-ADB3-21C1-57A5-CE453466C998}"/>
              </a:ext>
            </a:extLst>
          </p:cNvPr>
          <p:cNvSpPr txBox="1"/>
          <p:nvPr/>
        </p:nvSpPr>
        <p:spPr>
          <a:xfrm>
            <a:off x="3422074" y="3782943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</a:t>
            </a:r>
            <a:endParaRPr lang="en-US" sz="4000" baseline="30000" dirty="0">
              <a:solidFill>
                <a:srgbClr val="92D050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21B8694-CFFF-4411-2B8E-FEF437A3DFDB}"/>
              </a:ext>
            </a:extLst>
          </p:cNvPr>
          <p:cNvSpPr txBox="1"/>
          <p:nvPr/>
        </p:nvSpPr>
        <p:spPr>
          <a:xfrm>
            <a:off x="7767779" y="3782943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endParaRPr lang="en-US" sz="4000" baseline="30000" dirty="0">
              <a:solidFill>
                <a:srgbClr val="92D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0660732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/>
      <p:bldP spid="21" grpId="0"/>
      <p:bldP spid="22" grpId="0"/>
      <p:bldP spid="23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4447EA-2FEF-EA4A-9206-3CFE973DC4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B984D58A-9063-7A64-ACAD-5C9D71F2090C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E411DB6A-2AD3-413F-59DA-1F8C20673E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2C74F384-2C4B-6117-557A-63BCA467CA5F}"/>
              </a:ext>
            </a:extLst>
          </p:cNvPr>
          <p:cNvSpPr/>
          <p:nvPr/>
        </p:nvSpPr>
        <p:spPr>
          <a:xfrm>
            <a:off x="3186545" y="1842655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637EB68C-941E-941D-0E01-F9E2409A23DA}"/>
              </a:ext>
            </a:extLst>
          </p:cNvPr>
          <p:cNvSpPr/>
          <p:nvPr/>
        </p:nvSpPr>
        <p:spPr>
          <a:xfrm>
            <a:off x="7523020" y="1842655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C9F1D21-9710-52BC-BAD4-3E06CCAA11EA}"/>
              </a:ext>
            </a:extLst>
          </p:cNvPr>
          <p:cNvSpPr txBox="1"/>
          <p:nvPr/>
        </p:nvSpPr>
        <p:spPr>
          <a:xfrm>
            <a:off x="3422073" y="3075057"/>
            <a:ext cx="25353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T</a:t>
            </a:r>
            <a:r>
              <a:rPr lang="en-US" sz="4000" baseline="-25000" dirty="0">
                <a:solidFill>
                  <a:srgbClr val="FF0000"/>
                </a:solidFill>
              </a:rPr>
              <a:t>i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</a:t>
            </a:r>
            <a:r>
              <a:rPr lang="en-US" sz="4000" dirty="0">
                <a:solidFill>
                  <a:srgbClr val="FF0000"/>
                </a:solidFill>
              </a:rPr>
              <a:t> 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i</a:t>
            </a:r>
            <a:endParaRPr lang="en-US" sz="4000" baseline="-25000" dirty="0">
              <a:solidFill>
                <a:srgbClr val="FF0000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CCD095D-7BA6-9DF0-4BB2-2B4BCA4C376A}"/>
              </a:ext>
            </a:extLst>
          </p:cNvPr>
          <p:cNvSpPr txBox="1"/>
          <p:nvPr/>
        </p:nvSpPr>
        <p:spPr>
          <a:xfrm>
            <a:off x="7767779" y="2985004"/>
            <a:ext cx="303876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0000"/>
                </a:solidFill>
              </a:rPr>
              <a:t>T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r>
              <a:rPr lang="en-US" sz="4000" dirty="0">
                <a:solidFill>
                  <a:srgbClr val="FF0000"/>
                </a:solidFill>
              </a:rPr>
              <a:t> 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endParaRPr lang="en-US" sz="4000" baseline="-25000" dirty="0">
              <a:solidFill>
                <a:srgbClr val="FF0000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AEC9B86-B192-D48F-1C21-5D1793981DBC}"/>
              </a:ext>
            </a:extLst>
          </p:cNvPr>
          <p:cNvSpPr txBox="1"/>
          <p:nvPr/>
        </p:nvSpPr>
        <p:spPr>
          <a:xfrm>
            <a:off x="3422074" y="3782943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</a:t>
            </a:r>
            <a:endParaRPr lang="en-US" sz="4000" baseline="30000" dirty="0">
              <a:solidFill>
                <a:srgbClr val="92D050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3C487A1-8980-2215-E442-FCFCDE504C9B}"/>
              </a:ext>
            </a:extLst>
          </p:cNvPr>
          <p:cNvSpPr txBox="1"/>
          <p:nvPr/>
        </p:nvSpPr>
        <p:spPr>
          <a:xfrm>
            <a:off x="7767779" y="3782943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endParaRPr lang="en-US" sz="4000" baseline="30000" dirty="0">
              <a:solidFill>
                <a:srgbClr val="92D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7209585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64FC07-926E-A720-6F1E-16555E714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745134AC-EC8D-1E2E-4623-974763061ADC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39967EBF-EA05-702C-DCAE-B663AAC25D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018A5158-44AB-D694-11D9-5724496EA56C}"/>
              </a:ext>
            </a:extLst>
          </p:cNvPr>
          <p:cNvSpPr/>
          <p:nvPr/>
        </p:nvSpPr>
        <p:spPr>
          <a:xfrm>
            <a:off x="3120371" y="1443686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50BFD04D-8510-447B-5551-CA60F9E09CF9}"/>
              </a:ext>
            </a:extLst>
          </p:cNvPr>
          <p:cNvSpPr/>
          <p:nvPr/>
        </p:nvSpPr>
        <p:spPr>
          <a:xfrm>
            <a:off x="7456846" y="1443686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E8D7F0A-17A7-DFBD-96E5-184B621FADAA}"/>
              </a:ext>
            </a:extLst>
          </p:cNvPr>
          <p:cNvSpPr txBox="1"/>
          <p:nvPr/>
        </p:nvSpPr>
        <p:spPr>
          <a:xfrm>
            <a:off x="3283527" y="2367171"/>
            <a:ext cx="25353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T</a:t>
            </a:r>
            <a:r>
              <a:rPr lang="en-US" sz="4000" baseline="-25000" dirty="0">
                <a:solidFill>
                  <a:srgbClr val="FF0000"/>
                </a:solidFill>
              </a:rPr>
              <a:t>i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</a:t>
            </a:r>
            <a:r>
              <a:rPr lang="en-US" sz="4000" dirty="0">
                <a:solidFill>
                  <a:srgbClr val="FF0000"/>
                </a:solidFill>
              </a:rPr>
              <a:t> 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i</a:t>
            </a:r>
            <a:endParaRPr lang="en-US" sz="4000" baseline="-25000" dirty="0">
              <a:solidFill>
                <a:srgbClr val="FF0000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C1A0FE9-18D5-5446-4C6B-9AC0AEB28174}"/>
              </a:ext>
            </a:extLst>
          </p:cNvPr>
          <p:cNvSpPr txBox="1"/>
          <p:nvPr/>
        </p:nvSpPr>
        <p:spPr>
          <a:xfrm>
            <a:off x="7629233" y="2277118"/>
            <a:ext cx="303876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0000"/>
                </a:solidFill>
              </a:rPr>
              <a:t>T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r>
              <a:rPr lang="en-US" sz="4000" dirty="0">
                <a:solidFill>
                  <a:srgbClr val="FF0000"/>
                </a:solidFill>
              </a:rPr>
              <a:t> 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endParaRPr lang="en-US" sz="4000" baseline="-25000" dirty="0">
              <a:solidFill>
                <a:srgbClr val="FF0000"/>
              </a:solidFill>
            </a:endParaRPr>
          </a:p>
        </p:txBody>
      </p:sp>
      <p:pic>
        <p:nvPicPr>
          <p:cNvPr id="3" name="Picture 10">
            <a:extLst>
              <a:ext uri="{FF2B5EF4-FFF2-40B4-BE49-F238E27FC236}">
                <a16:creationId xmlns:a16="http://schemas.microsoft.com/office/drawing/2014/main" id="{B34C01AC-DB0D-693C-5A6A-89BB18F0F2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5684" y="3192337"/>
            <a:ext cx="5960632" cy="6806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12">
            <a:extLst>
              <a:ext uri="{FF2B5EF4-FFF2-40B4-BE49-F238E27FC236}">
                <a16:creationId xmlns:a16="http://schemas.microsoft.com/office/drawing/2014/main" id="{70330021-9A5E-6C3C-0780-9E870A61AA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5684" y="3908489"/>
            <a:ext cx="6092616" cy="6806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14">
            <a:extLst>
              <a:ext uri="{FF2B5EF4-FFF2-40B4-BE49-F238E27FC236}">
                <a16:creationId xmlns:a16="http://schemas.microsoft.com/office/drawing/2014/main" id="{9E6896BD-B6FD-3D40-C863-8FD487CFD1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2027" y="4624120"/>
            <a:ext cx="4267946" cy="6680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16">
            <a:extLst>
              <a:ext uri="{FF2B5EF4-FFF2-40B4-BE49-F238E27FC236}">
                <a16:creationId xmlns:a16="http://schemas.microsoft.com/office/drawing/2014/main" id="{2B1CD507-E5C8-62CC-1E7E-3A78B395D7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2027" y="5327175"/>
            <a:ext cx="4670164" cy="10585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0973513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A8B14-4F0A-1E96-423B-86C0C2815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70F382A3-ACBE-B5C4-E768-FE44192A0ED5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8673E228-BADE-E7C0-E3FC-0285E544C5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AC125A0E-B4F9-5CD5-5587-1F5A1638D592}"/>
              </a:ext>
            </a:extLst>
          </p:cNvPr>
          <p:cNvSpPr/>
          <p:nvPr/>
        </p:nvSpPr>
        <p:spPr>
          <a:xfrm>
            <a:off x="3120371" y="1443686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4157CD66-15E8-4CB2-572D-7A44D127B2FB}"/>
              </a:ext>
            </a:extLst>
          </p:cNvPr>
          <p:cNvSpPr/>
          <p:nvPr/>
        </p:nvSpPr>
        <p:spPr>
          <a:xfrm>
            <a:off x="7456846" y="1443686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8850E35-1293-8107-367B-0AD5349FABF6}"/>
              </a:ext>
            </a:extLst>
          </p:cNvPr>
          <p:cNvSpPr txBox="1"/>
          <p:nvPr/>
        </p:nvSpPr>
        <p:spPr>
          <a:xfrm>
            <a:off x="3283527" y="2367171"/>
            <a:ext cx="25353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T</a:t>
            </a:r>
            <a:r>
              <a:rPr lang="en-US" sz="4000" baseline="-25000" dirty="0">
                <a:solidFill>
                  <a:srgbClr val="FF0000"/>
                </a:solidFill>
              </a:rPr>
              <a:t>i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</a:t>
            </a:r>
            <a:r>
              <a:rPr lang="en-US" sz="4000" dirty="0">
                <a:solidFill>
                  <a:srgbClr val="FF0000"/>
                </a:solidFill>
              </a:rPr>
              <a:t> 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i</a:t>
            </a:r>
            <a:endParaRPr lang="en-US" sz="4000" baseline="-25000" dirty="0">
              <a:solidFill>
                <a:srgbClr val="FF0000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D4820D3-B650-8850-30B6-6F45CED3402D}"/>
              </a:ext>
            </a:extLst>
          </p:cNvPr>
          <p:cNvSpPr txBox="1"/>
          <p:nvPr/>
        </p:nvSpPr>
        <p:spPr>
          <a:xfrm>
            <a:off x="7629233" y="2277118"/>
            <a:ext cx="303876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0000"/>
                </a:solidFill>
              </a:rPr>
              <a:t>T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r>
              <a:rPr lang="en-US" sz="4000" dirty="0">
                <a:solidFill>
                  <a:srgbClr val="FF0000"/>
                </a:solidFill>
              </a:rPr>
              <a:t> 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endParaRPr lang="en-US" sz="4000" baseline="-25000" dirty="0">
              <a:solidFill>
                <a:srgbClr val="FF0000"/>
              </a:solidFill>
            </a:endParaRPr>
          </a:p>
        </p:txBody>
      </p:sp>
      <p:pic>
        <p:nvPicPr>
          <p:cNvPr id="3" name="Picture 10">
            <a:extLst>
              <a:ext uri="{FF2B5EF4-FFF2-40B4-BE49-F238E27FC236}">
                <a16:creationId xmlns:a16="http://schemas.microsoft.com/office/drawing/2014/main" id="{0B5EA0A7-FC39-CDBD-43A9-8F757EBE9C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7324" y="3464494"/>
            <a:ext cx="5234139" cy="597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12">
            <a:extLst>
              <a:ext uri="{FF2B5EF4-FFF2-40B4-BE49-F238E27FC236}">
                <a16:creationId xmlns:a16="http://schemas.microsoft.com/office/drawing/2014/main" id="{32D48432-B4DF-4214-6DEE-58DB84C753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7324" y="4180646"/>
            <a:ext cx="5350037" cy="5976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14">
            <a:extLst>
              <a:ext uri="{FF2B5EF4-FFF2-40B4-BE49-F238E27FC236}">
                <a16:creationId xmlns:a16="http://schemas.microsoft.com/office/drawing/2014/main" id="{E1A352D5-F4B0-EB34-2634-3E0DCAC52B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3667" y="4896278"/>
            <a:ext cx="3747761" cy="5866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16">
            <a:extLst>
              <a:ext uri="{FF2B5EF4-FFF2-40B4-BE49-F238E27FC236}">
                <a16:creationId xmlns:a16="http://schemas.microsoft.com/office/drawing/2014/main" id="{7B2ED3B2-4718-3FDC-738F-7D8BDFADF0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3667" y="5599333"/>
            <a:ext cx="4100956" cy="929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8BFB0881-64C7-C5EA-B76A-01E08172BDAA}"/>
              </a:ext>
            </a:extLst>
          </p:cNvPr>
          <p:cNvGrpSpPr/>
          <p:nvPr/>
        </p:nvGrpSpPr>
        <p:grpSpPr>
          <a:xfrm>
            <a:off x="6096000" y="4772543"/>
            <a:ext cx="5250873" cy="1614402"/>
            <a:chOff x="6096000" y="4772543"/>
            <a:chExt cx="5250873" cy="161440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E9E1714-0DBA-7C5F-D7A0-D5E66DD7223A}"/>
                </a:ext>
              </a:extLst>
            </p:cNvPr>
            <p:cNvSpPr/>
            <p:nvPr/>
          </p:nvSpPr>
          <p:spPr>
            <a:xfrm>
              <a:off x="6096000" y="4772543"/>
              <a:ext cx="5250873" cy="1614402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7D136285-4A22-4D09-6E60-E2A6D9D047E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372" t="63560" r="8395"/>
            <a:stretch>
              <a:fillRect/>
            </a:stretch>
          </p:blipFill>
          <p:spPr bwMode="auto">
            <a:xfrm>
              <a:off x="6449195" y="4943193"/>
              <a:ext cx="4548515" cy="13255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6DF81BE-7EB8-39FD-F708-CF17D45B338C}"/>
              </a:ext>
            </a:extLst>
          </p:cNvPr>
          <p:cNvSpPr txBox="1"/>
          <p:nvPr/>
        </p:nvSpPr>
        <p:spPr>
          <a:xfrm>
            <a:off x="7006175" y="3818436"/>
            <a:ext cx="454851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For independent Gaussian-distributed errors</a:t>
            </a:r>
          </a:p>
        </p:txBody>
      </p:sp>
    </p:spTree>
    <p:extLst>
      <p:ext uri="{BB962C8B-B14F-4D97-AF65-F5344CB8AC3E}">
        <p14:creationId xmlns:p14="http://schemas.microsoft.com/office/powerpoint/2010/main" val="104061599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730536-51FC-8757-8016-A665A2C401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44ADCF90-5E75-F266-5254-6D3125F46BD9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2BF7CFEF-376C-ABC2-6C05-C7B2977487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725FEC66-3E0A-7E64-893B-5F0760C4D61E}"/>
              </a:ext>
            </a:extLst>
          </p:cNvPr>
          <p:cNvSpPr/>
          <p:nvPr/>
        </p:nvSpPr>
        <p:spPr>
          <a:xfrm>
            <a:off x="1596371" y="162427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2F801F7-2503-A7AD-7E80-686A572DB40B}"/>
              </a:ext>
            </a:extLst>
          </p:cNvPr>
          <p:cNvSpPr/>
          <p:nvPr/>
        </p:nvSpPr>
        <p:spPr>
          <a:xfrm>
            <a:off x="1596370" y="2812047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1C5EEFF-D09A-162D-8E27-D87E31892013}"/>
              </a:ext>
            </a:extLst>
          </p:cNvPr>
          <p:cNvGrpSpPr/>
          <p:nvPr/>
        </p:nvGrpSpPr>
        <p:grpSpPr>
          <a:xfrm>
            <a:off x="3338945" y="1814598"/>
            <a:ext cx="5250873" cy="1614402"/>
            <a:chOff x="6096000" y="4772543"/>
            <a:chExt cx="5250873" cy="161440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2CD8C034-ABA6-4461-2F9E-AA0E37F5CDE4}"/>
                </a:ext>
              </a:extLst>
            </p:cNvPr>
            <p:cNvSpPr/>
            <p:nvPr/>
          </p:nvSpPr>
          <p:spPr>
            <a:xfrm>
              <a:off x="6096000" y="4772543"/>
              <a:ext cx="5250873" cy="1614402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D42B7035-E744-449C-A7F2-FF728E81E19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372" t="63560" r="8395"/>
            <a:stretch>
              <a:fillRect/>
            </a:stretch>
          </p:blipFill>
          <p:spPr bwMode="auto">
            <a:xfrm>
              <a:off x="6449195" y="4943193"/>
              <a:ext cx="4548515" cy="13255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" name="Oval 1">
            <a:extLst>
              <a:ext uri="{FF2B5EF4-FFF2-40B4-BE49-F238E27FC236}">
                <a16:creationId xmlns:a16="http://schemas.microsoft.com/office/drawing/2014/main" id="{CE795454-60AF-CF1D-39BF-DB33211D7E12}"/>
              </a:ext>
            </a:extLst>
          </p:cNvPr>
          <p:cNvSpPr/>
          <p:nvPr/>
        </p:nvSpPr>
        <p:spPr>
          <a:xfrm>
            <a:off x="1596369" y="3999823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0561982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816DA-46F4-FC44-495F-83024AC43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EA8E38F6-5C18-191C-9107-81A15BF25BD6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3B26F944-3B9F-2EF8-DF79-84950969D7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20D9A57D-992D-07B3-4D8D-FBCB9EC90D32}"/>
              </a:ext>
            </a:extLst>
          </p:cNvPr>
          <p:cNvSpPr/>
          <p:nvPr/>
        </p:nvSpPr>
        <p:spPr>
          <a:xfrm>
            <a:off x="3590670" y="3414720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EECA02CA-8077-33DB-C7C5-AD40AB941F75}"/>
              </a:ext>
            </a:extLst>
          </p:cNvPr>
          <p:cNvSpPr/>
          <p:nvPr/>
        </p:nvSpPr>
        <p:spPr>
          <a:xfrm>
            <a:off x="5835862" y="2431472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1FDDC5A6-4292-49AE-D5FF-CA19D963D3C3}"/>
              </a:ext>
            </a:extLst>
          </p:cNvPr>
          <p:cNvSpPr/>
          <p:nvPr/>
        </p:nvSpPr>
        <p:spPr>
          <a:xfrm>
            <a:off x="7419075" y="4121727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5" name="Bent Arrow 4">
            <a:extLst>
              <a:ext uri="{FF2B5EF4-FFF2-40B4-BE49-F238E27FC236}">
                <a16:creationId xmlns:a16="http://schemas.microsoft.com/office/drawing/2014/main" id="{728CF02E-D163-0617-7CEB-AA6C48DEBEB7}"/>
              </a:ext>
            </a:extLst>
          </p:cNvPr>
          <p:cNvSpPr/>
          <p:nvPr/>
        </p:nvSpPr>
        <p:spPr>
          <a:xfrm>
            <a:off x="4449652" y="2601221"/>
            <a:ext cx="1191491" cy="720436"/>
          </a:xfrm>
          <a:custGeom>
            <a:avLst/>
            <a:gdLst>
              <a:gd name="connsiteX0" fmla="*/ 0 w 1191491"/>
              <a:gd name="connsiteY0" fmla="*/ 720436 h 720436"/>
              <a:gd name="connsiteX1" fmla="*/ 0 w 1191491"/>
              <a:gd name="connsiteY1" fmla="*/ 412176 h 720436"/>
              <a:gd name="connsiteX2" fmla="*/ 315191 w 1191491"/>
              <a:gd name="connsiteY2" fmla="*/ 96985 h 720436"/>
              <a:gd name="connsiteX3" fmla="*/ 656325 w 1191491"/>
              <a:gd name="connsiteY3" fmla="*/ 96985 h 720436"/>
              <a:gd name="connsiteX4" fmla="*/ 1011382 w 1191491"/>
              <a:gd name="connsiteY4" fmla="*/ 96985 h 720436"/>
              <a:gd name="connsiteX5" fmla="*/ 1011382 w 1191491"/>
              <a:gd name="connsiteY5" fmla="*/ 0 h 720436"/>
              <a:gd name="connsiteX6" fmla="*/ 1191491 w 1191491"/>
              <a:gd name="connsiteY6" fmla="*/ 187040 h 720436"/>
              <a:gd name="connsiteX7" fmla="*/ 1011382 w 1191491"/>
              <a:gd name="connsiteY7" fmla="*/ 374079 h 720436"/>
              <a:gd name="connsiteX8" fmla="*/ 1011382 w 1191491"/>
              <a:gd name="connsiteY8" fmla="*/ 277094 h 720436"/>
              <a:gd name="connsiteX9" fmla="*/ 656325 w 1191491"/>
              <a:gd name="connsiteY9" fmla="*/ 277094 h 720436"/>
              <a:gd name="connsiteX10" fmla="*/ 315191 w 1191491"/>
              <a:gd name="connsiteY10" fmla="*/ 277094 h 720436"/>
              <a:gd name="connsiteX11" fmla="*/ 180109 w 1191491"/>
              <a:gd name="connsiteY11" fmla="*/ 412176 h 720436"/>
              <a:gd name="connsiteX12" fmla="*/ 180109 w 1191491"/>
              <a:gd name="connsiteY12" fmla="*/ 720436 h 720436"/>
              <a:gd name="connsiteX13" fmla="*/ 0 w 1191491"/>
              <a:gd name="connsiteY13" fmla="*/ 720436 h 720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91491" h="720436" fill="none" extrusionOk="0">
                <a:moveTo>
                  <a:pt x="0" y="720436"/>
                </a:moveTo>
                <a:cubicBezTo>
                  <a:pt x="-16433" y="617098"/>
                  <a:pt x="9030" y="488586"/>
                  <a:pt x="0" y="412176"/>
                </a:cubicBezTo>
                <a:cubicBezTo>
                  <a:pt x="-286" y="244906"/>
                  <a:pt x="174299" y="77302"/>
                  <a:pt x="315191" y="96985"/>
                </a:cubicBezTo>
                <a:cubicBezTo>
                  <a:pt x="417080" y="88717"/>
                  <a:pt x="582165" y="131696"/>
                  <a:pt x="656325" y="96985"/>
                </a:cubicBezTo>
                <a:cubicBezTo>
                  <a:pt x="730485" y="62274"/>
                  <a:pt x="842668" y="135608"/>
                  <a:pt x="1011382" y="96985"/>
                </a:cubicBezTo>
                <a:cubicBezTo>
                  <a:pt x="1007278" y="72027"/>
                  <a:pt x="1018511" y="39451"/>
                  <a:pt x="1011382" y="0"/>
                </a:cubicBezTo>
                <a:cubicBezTo>
                  <a:pt x="1071222" y="22629"/>
                  <a:pt x="1142021" y="156881"/>
                  <a:pt x="1191491" y="187040"/>
                </a:cubicBezTo>
                <a:cubicBezTo>
                  <a:pt x="1142912" y="277956"/>
                  <a:pt x="1086540" y="274006"/>
                  <a:pt x="1011382" y="374079"/>
                </a:cubicBezTo>
                <a:cubicBezTo>
                  <a:pt x="1001104" y="335522"/>
                  <a:pt x="1016397" y="318429"/>
                  <a:pt x="1011382" y="277094"/>
                </a:cubicBezTo>
                <a:cubicBezTo>
                  <a:pt x="897113" y="308546"/>
                  <a:pt x="790060" y="246073"/>
                  <a:pt x="656325" y="277094"/>
                </a:cubicBezTo>
                <a:cubicBezTo>
                  <a:pt x="522590" y="308115"/>
                  <a:pt x="471276" y="269424"/>
                  <a:pt x="315191" y="277094"/>
                </a:cubicBezTo>
                <a:cubicBezTo>
                  <a:pt x="238441" y="276271"/>
                  <a:pt x="188153" y="329662"/>
                  <a:pt x="180109" y="412176"/>
                </a:cubicBezTo>
                <a:cubicBezTo>
                  <a:pt x="191012" y="498450"/>
                  <a:pt x="180082" y="587824"/>
                  <a:pt x="180109" y="720436"/>
                </a:cubicBezTo>
                <a:cubicBezTo>
                  <a:pt x="107214" y="739321"/>
                  <a:pt x="65715" y="711420"/>
                  <a:pt x="0" y="720436"/>
                </a:cubicBezTo>
                <a:close/>
              </a:path>
              <a:path w="1191491" h="720436" stroke="0" extrusionOk="0">
                <a:moveTo>
                  <a:pt x="0" y="720436"/>
                </a:moveTo>
                <a:cubicBezTo>
                  <a:pt x="-1998" y="636807"/>
                  <a:pt x="29934" y="510315"/>
                  <a:pt x="0" y="412176"/>
                </a:cubicBezTo>
                <a:cubicBezTo>
                  <a:pt x="10617" y="240202"/>
                  <a:pt x="138595" y="86174"/>
                  <a:pt x="315191" y="96985"/>
                </a:cubicBezTo>
                <a:cubicBezTo>
                  <a:pt x="481552" y="80748"/>
                  <a:pt x="526405" y="102481"/>
                  <a:pt x="656325" y="96985"/>
                </a:cubicBezTo>
                <a:cubicBezTo>
                  <a:pt x="786245" y="91489"/>
                  <a:pt x="915831" y="125923"/>
                  <a:pt x="1011382" y="96985"/>
                </a:cubicBezTo>
                <a:cubicBezTo>
                  <a:pt x="1000639" y="70042"/>
                  <a:pt x="1022618" y="47440"/>
                  <a:pt x="1011382" y="0"/>
                </a:cubicBezTo>
                <a:cubicBezTo>
                  <a:pt x="1096148" y="60763"/>
                  <a:pt x="1127607" y="127371"/>
                  <a:pt x="1191491" y="187040"/>
                </a:cubicBezTo>
                <a:cubicBezTo>
                  <a:pt x="1171363" y="248901"/>
                  <a:pt x="1069907" y="310074"/>
                  <a:pt x="1011382" y="374079"/>
                </a:cubicBezTo>
                <a:cubicBezTo>
                  <a:pt x="1001523" y="334934"/>
                  <a:pt x="1013540" y="321799"/>
                  <a:pt x="1011382" y="277094"/>
                </a:cubicBezTo>
                <a:cubicBezTo>
                  <a:pt x="918085" y="304384"/>
                  <a:pt x="741642" y="269298"/>
                  <a:pt x="656325" y="277094"/>
                </a:cubicBezTo>
                <a:cubicBezTo>
                  <a:pt x="571008" y="284890"/>
                  <a:pt x="410587" y="250815"/>
                  <a:pt x="315191" y="277094"/>
                </a:cubicBezTo>
                <a:cubicBezTo>
                  <a:pt x="242947" y="274165"/>
                  <a:pt x="167918" y="332859"/>
                  <a:pt x="180109" y="412176"/>
                </a:cubicBezTo>
                <a:cubicBezTo>
                  <a:pt x="215134" y="510682"/>
                  <a:pt x="150701" y="580289"/>
                  <a:pt x="180109" y="720436"/>
                </a:cubicBezTo>
                <a:cubicBezTo>
                  <a:pt x="95632" y="725929"/>
                  <a:pt x="47934" y="701800"/>
                  <a:pt x="0" y="720436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bentArrow">
                    <a:avLst>
                      <a:gd name="adj1" fmla="val 25000"/>
                      <a:gd name="adj2" fmla="val 25962"/>
                      <a:gd name="adj3" fmla="val 25000"/>
                      <a:gd name="adj4" fmla="val 43750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Bent Arrow 5">
            <a:extLst>
              <a:ext uri="{FF2B5EF4-FFF2-40B4-BE49-F238E27FC236}">
                <a16:creationId xmlns:a16="http://schemas.microsoft.com/office/drawing/2014/main" id="{935677AA-EDA2-FCDF-CE7F-1FFEA59C792B}"/>
              </a:ext>
            </a:extLst>
          </p:cNvPr>
          <p:cNvSpPr/>
          <p:nvPr/>
        </p:nvSpPr>
        <p:spPr>
          <a:xfrm rot="5400000">
            <a:off x="7172034" y="2939441"/>
            <a:ext cx="1191491" cy="720436"/>
          </a:xfrm>
          <a:custGeom>
            <a:avLst/>
            <a:gdLst>
              <a:gd name="connsiteX0" fmla="*/ 0 w 1191491"/>
              <a:gd name="connsiteY0" fmla="*/ 720436 h 720436"/>
              <a:gd name="connsiteX1" fmla="*/ 0 w 1191491"/>
              <a:gd name="connsiteY1" fmla="*/ 412176 h 720436"/>
              <a:gd name="connsiteX2" fmla="*/ 315191 w 1191491"/>
              <a:gd name="connsiteY2" fmla="*/ 96985 h 720436"/>
              <a:gd name="connsiteX3" fmla="*/ 656325 w 1191491"/>
              <a:gd name="connsiteY3" fmla="*/ 96985 h 720436"/>
              <a:gd name="connsiteX4" fmla="*/ 1011382 w 1191491"/>
              <a:gd name="connsiteY4" fmla="*/ 96985 h 720436"/>
              <a:gd name="connsiteX5" fmla="*/ 1011382 w 1191491"/>
              <a:gd name="connsiteY5" fmla="*/ 0 h 720436"/>
              <a:gd name="connsiteX6" fmla="*/ 1191491 w 1191491"/>
              <a:gd name="connsiteY6" fmla="*/ 187040 h 720436"/>
              <a:gd name="connsiteX7" fmla="*/ 1011382 w 1191491"/>
              <a:gd name="connsiteY7" fmla="*/ 374079 h 720436"/>
              <a:gd name="connsiteX8" fmla="*/ 1011382 w 1191491"/>
              <a:gd name="connsiteY8" fmla="*/ 277094 h 720436"/>
              <a:gd name="connsiteX9" fmla="*/ 656325 w 1191491"/>
              <a:gd name="connsiteY9" fmla="*/ 277094 h 720436"/>
              <a:gd name="connsiteX10" fmla="*/ 315191 w 1191491"/>
              <a:gd name="connsiteY10" fmla="*/ 277094 h 720436"/>
              <a:gd name="connsiteX11" fmla="*/ 180109 w 1191491"/>
              <a:gd name="connsiteY11" fmla="*/ 412176 h 720436"/>
              <a:gd name="connsiteX12" fmla="*/ 180109 w 1191491"/>
              <a:gd name="connsiteY12" fmla="*/ 720436 h 720436"/>
              <a:gd name="connsiteX13" fmla="*/ 0 w 1191491"/>
              <a:gd name="connsiteY13" fmla="*/ 720436 h 720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91491" h="720436" fill="none" extrusionOk="0">
                <a:moveTo>
                  <a:pt x="0" y="720436"/>
                </a:moveTo>
                <a:cubicBezTo>
                  <a:pt x="-16433" y="617098"/>
                  <a:pt x="9030" y="488586"/>
                  <a:pt x="0" y="412176"/>
                </a:cubicBezTo>
                <a:cubicBezTo>
                  <a:pt x="-286" y="244906"/>
                  <a:pt x="174299" y="77302"/>
                  <a:pt x="315191" y="96985"/>
                </a:cubicBezTo>
                <a:cubicBezTo>
                  <a:pt x="417080" y="88717"/>
                  <a:pt x="582165" y="131696"/>
                  <a:pt x="656325" y="96985"/>
                </a:cubicBezTo>
                <a:cubicBezTo>
                  <a:pt x="730485" y="62274"/>
                  <a:pt x="842668" y="135608"/>
                  <a:pt x="1011382" y="96985"/>
                </a:cubicBezTo>
                <a:cubicBezTo>
                  <a:pt x="1007278" y="72027"/>
                  <a:pt x="1018511" y="39451"/>
                  <a:pt x="1011382" y="0"/>
                </a:cubicBezTo>
                <a:cubicBezTo>
                  <a:pt x="1071222" y="22629"/>
                  <a:pt x="1142021" y="156881"/>
                  <a:pt x="1191491" y="187040"/>
                </a:cubicBezTo>
                <a:cubicBezTo>
                  <a:pt x="1142912" y="277956"/>
                  <a:pt x="1086540" y="274006"/>
                  <a:pt x="1011382" y="374079"/>
                </a:cubicBezTo>
                <a:cubicBezTo>
                  <a:pt x="1001104" y="335522"/>
                  <a:pt x="1016397" y="318429"/>
                  <a:pt x="1011382" y="277094"/>
                </a:cubicBezTo>
                <a:cubicBezTo>
                  <a:pt x="897113" y="308546"/>
                  <a:pt x="790060" y="246073"/>
                  <a:pt x="656325" y="277094"/>
                </a:cubicBezTo>
                <a:cubicBezTo>
                  <a:pt x="522590" y="308115"/>
                  <a:pt x="471276" y="269424"/>
                  <a:pt x="315191" y="277094"/>
                </a:cubicBezTo>
                <a:cubicBezTo>
                  <a:pt x="238441" y="276271"/>
                  <a:pt x="188153" y="329662"/>
                  <a:pt x="180109" y="412176"/>
                </a:cubicBezTo>
                <a:cubicBezTo>
                  <a:pt x="191012" y="498450"/>
                  <a:pt x="180082" y="587824"/>
                  <a:pt x="180109" y="720436"/>
                </a:cubicBezTo>
                <a:cubicBezTo>
                  <a:pt x="107214" y="739321"/>
                  <a:pt x="65715" y="711420"/>
                  <a:pt x="0" y="720436"/>
                </a:cubicBezTo>
                <a:close/>
              </a:path>
              <a:path w="1191491" h="720436" stroke="0" extrusionOk="0">
                <a:moveTo>
                  <a:pt x="0" y="720436"/>
                </a:moveTo>
                <a:cubicBezTo>
                  <a:pt x="-1998" y="636807"/>
                  <a:pt x="29934" y="510315"/>
                  <a:pt x="0" y="412176"/>
                </a:cubicBezTo>
                <a:cubicBezTo>
                  <a:pt x="10617" y="240202"/>
                  <a:pt x="138595" y="86174"/>
                  <a:pt x="315191" y="96985"/>
                </a:cubicBezTo>
                <a:cubicBezTo>
                  <a:pt x="481552" y="80748"/>
                  <a:pt x="526405" y="102481"/>
                  <a:pt x="656325" y="96985"/>
                </a:cubicBezTo>
                <a:cubicBezTo>
                  <a:pt x="786245" y="91489"/>
                  <a:pt x="915831" y="125923"/>
                  <a:pt x="1011382" y="96985"/>
                </a:cubicBezTo>
                <a:cubicBezTo>
                  <a:pt x="1000639" y="70042"/>
                  <a:pt x="1022618" y="47440"/>
                  <a:pt x="1011382" y="0"/>
                </a:cubicBezTo>
                <a:cubicBezTo>
                  <a:pt x="1096148" y="60763"/>
                  <a:pt x="1127607" y="127371"/>
                  <a:pt x="1191491" y="187040"/>
                </a:cubicBezTo>
                <a:cubicBezTo>
                  <a:pt x="1171363" y="248901"/>
                  <a:pt x="1069907" y="310074"/>
                  <a:pt x="1011382" y="374079"/>
                </a:cubicBezTo>
                <a:cubicBezTo>
                  <a:pt x="1001523" y="334934"/>
                  <a:pt x="1013540" y="321799"/>
                  <a:pt x="1011382" y="277094"/>
                </a:cubicBezTo>
                <a:cubicBezTo>
                  <a:pt x="918085" y="304384"/>
                  <a:pt x="741642" y="269298"/>
                  <a:pt x="656325" y="277094"/>
                </a:cubicBezTo>
                <a:cubicBezTo>
                  <a:pt x="571008" y="284890"/>
                  <a:pt x="410587" y="250815"/>
                  <a:pt x="315191" y="277094"/>
                </a:cubicBezTo>
                <a:cubicBezTo>
                  <a:pt x="242947" y="274165"/>
                  <a:pt x="167918" y="332859"/>
                  <a:pt x="180109" y="412176"/>
                </a:cubicBezTo>
                <a:cubicBezTo>
                  <a:pt x="215134" y="510682"/>
                  <a:pt x="150701" y="580289"/>
                  <a:pt x="180109" y="720436"/>
                </a:cubicBezTo>
                <a:cubicBezTo>
                  <a:pt x="95632" y="725929"/>
                  <a:pt x="47934" y="701800"/>
                  <a:pt x="0" y="720436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bentArrow">
                    <a:avLst>
                      <a:gd name="adj1" fmla="val 25000"/>
                      <a:gd name="adj2" fmla="val 25962"/>
                      <a:gd name="adj3" fmla="val 25000"/>
                      <a:gd name="adj4" fmla="val 43750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Bent Arrow 7">
            <a:extLst>
              <a:ext uri="{FF2B5EF4-FFF2-40B4-BE49-F238E27FC236}">
                <a16:creationId xmlns:a16="http://schemas.microsoft.com/office/drawing/2014/main" id="{D987C016-01A3-914A-C140-9124115CC7F6}"/>
              </a:ext>
            </a:extLst>
          </p:cNvPr>
          <p:cNvSpPr/>
          <p:nvPr/>
        </p:nvSpPr>
        <p:spPr>
          <a:xfrm rot="13290293">
            <a:off x="4691366" y="4272365"/>
            <a:ext cx="2338829" cy="1451380"/>
          </a:xfrm>
          <a:custGeom>
            <a:avLst/>
            <a:gdLst>
              <a:gd name="connsiteX0" fmla="*/ 0 w 2338829"/>
              <a:gd name="connsiteY0" fmla="*/ 1451380 h 1451380"/>
              <a:gd name="connsiteX1" fmla="*/ 0 w 2338829"/>
              <a:gd name="connsiteY1" fmla="*/ 1128452 h 1451380"/>
              <a:gd name="connsiteX2" fmla="*/ 0 w 2338829"/>
              <a:gd name="connsiteY2" fmla="*/ 830364 h 1451380"/>
              <a:gd name="connsiteX3" fmla="*/ 634979 w 2338829"/>
              <a:gd name="connsiteY3" fmla="*/ 195385 h 1451380"/>
              <a:gd name="connsiteX4" fmla="*/ 1041751 w 2338829"/>
              <a:gd name="connsiteY4" fmla="*/ 195385 h 1451380"/>
              <a:gd name="connsiteX5" fmla="*/ 1502162 w 2338829"/>
              <a:gd name="connsiteY5" fmla="*/ 195385 h 1451380"/>
              <a:gd name="connsiteX6" fmla="*/ 1975984 w 2338829"/>
              <a:gd name="connsiteY6" fmla="*/ 195385 h 1451380"/>
              <a:gd name="connsiteX7" fmla="*/ 1975984 w 2338829"/>
              <a:gd name="connsiteY7" fmla="*/ 0 h 1451380"/>
              <a:gd name="connsiteX8" fmla="*/ 2338829 w 2338829"/>
              <a:gd name="connsiteY8" fmla="*/ 376807 h 1451380"/>
              <a:gd name="connsiteX9" fmla="*/ 1975984 w 2338829"/>
              <a:gd name="connsiteY9" fmla="*/ 753615 h 1451380"/>
              <a:gd name="connsiteX10" fmla="*/ 1975984 w 2338829"/>
              <a:gd name="connsiteY10" fmla="*/ 558230 h 1451380"/>
              <a:gd name="connsiteX11" fmla="*/ 1515572 w 2338829"/>
              <a:gd name="connsiteY11" fmla="*/ 558230 h 1451380"/>
              <a:gd name="connsiteX12" fmla="*/ 1095391 w 2338829"/>
              <a:gd name="connsiteY12" fmla="*/ 558230 h 1451380"/>
              <a:gd name="connsiteX13" fmla="*/ 634979 w 2338829"/>
              <a:gd name="connsiteY13" fmla="*/ 558230 h 1451380"/>
              <a:gd name="connsiteX14" fmla="*/ 362845 w 2338829"/>
              <a:gd name="connsiteY14" fmla="*/ 830364 h 1451380"/>
              <a:gd name="connsiteX15" fmla="*/ 362845 w 2338829"/>
              <a:gd name="connsiteY15" fmla="*/ 1140872 h 1451380"/>
              <a:gd name="connsiteX16" fmla="*/ 362845 w 2338829"/>
              <a:gd name="connsiteY16" fmla="*/ 1451380 h 1451380"/>
              <a:gd name="connsiteX17" fmla="*/ 0 w 2338829"/>
              <a:gd name="connsiteY17" fmla="*/ 1451380 h 14513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2338829" h="1451380" fill="none" extrusionOk="0">
                <a:moveTo>
                  <a:pt x="0" y="1451380"/>
                </a:moveTo>
                <a:cubicBezTo>
                  <a:pt x="-31163" y="1356073"/>
                  <a:pt x="24097" y="1284160"/>
                  <a:pt x="0" y="1128452"/>
                </a:cubicBezTo>
                <a:cubicBezTo>
                  <a:pt x="-24097" y="972744"/>
                  <a:pt x="26153" y="973357"/>
                  <a:pt x="0" y="830364"/>
                </a:cubicBezTo>
                <a:cubicBezTo>
                  <a:pt x="-47848" y="539311"/>
                  <a:pt x="287002" y="187043"/>
                  <a:pt x="634979" y="195385"/>
                </a:cubicBezTo>
                <a:cubicBezTo>
                  <a:pt x="779225" y="149203"/>
                  <a:pt x="911755" y="201278"/>
                  <a:pt x="1041751" y="195385"/>
                </a:cubicBezTo>
                <a:cubicBezTo>
                  <a:pt x="1171747" y="189492"/>
                  <a:pt x="1331562" y="224176"/>
                  <a:pt x="1502162" y="195385"/>
                </a:cubicBezTo>
                <a:cubicBezTo>
                  <a:pt x="1672762" y="166594"/>
                  <a:pt x="1762656" y="229994"/>
                  <a:pt x="1975984" y="195385"/>
                </a:cubicBezTo>
                <a:cubicBezTo>
                  <a:pt x="1957312" y="140913"/>
                  <a:pt x="1981415" y="47677"/>
                  <a:pt x="1975984" y="0"/>
                </a:cubicBezTo>
                <a:cubicBezTo>
                  <a:pt x="2151165" y="93892"/>
                  <a:pt x="2191685" y="280800"/>
                  <a:pt x="2338829" y="376807"/>
                </a:cubicBezTo>
                <a:cubicBezTo>
                  <a:pt x="2212520" y="525627"/>
                  <a:pt x="2089020" y="570215"/>
                  <a:pt x="1975984" y="753615"/>
                </a:cubicBezTo>
                <a:cubicBezTo>
                  <a:pt x="1955185" y="704754"/>
                  <a:pt x="1992543" y="637217"/>
                  <a:pt x="1975984" y="558230"/>
                </a:cubicBezTo>
                <a:cubicBezTo>
                  <a:pt x="1762250" y="561278"/>
                  <a:pt x="1657754" y="549796"/>
                  <a:pt x="1515572" y="558230"/>
                </a:cubicBezTo>
                <a:cubicBezTo>
                  <a:pt x="1373390" y="566664"/>
                  <a:pt x="1182196" y="527263"/>
                  <a:pt x="1095391" y="558230"/>
                </a:cubicBezTo>
                <a:cubicBezTo>
                  <a:pt x="1008586" y="589197"/>
                  <a:pt x="817921" y="557330"/>
                  <a:pt x="634979" y="558230"/>
                </a:cubicBezTo>
                <a:cubicBezTo>
                  <a:pt x="477992" y="562551"/>
                  <a:pt x="348876" y="659161"/>
                  <a:pt x="362845" y="830364"/>
                </a:cubicBezTo>
                <a:cubicBezTo>
                  <a:pt x="392589" y="973367"/>
                  <a:pt x="336041" y="1055818"/>
                  <a:pt x="362845" y="1140872"/>
                </a:cubicBezTo>
                <a:cubicBezTo>
                  <a:pt x="389649" y="1225926"/>
                  <a:pt x="360134" y="1311614"/>
                  <a:pt x="362845" y="1451380"/>
                </a:cubicBezTo>
                <a:cubicBezTo>
                  <a:pt x="281331" y="1472668"/>
                  <a:pt x="135036" y="1432575"/>
                  <a:pt x="0" y="1451380"/>
                </a:cubicBezTo>
                <a:close/>
              </a:path>
              <a:path w="2338829" h="1451380" stroke="0" extrusionOk="0">
                <a:moveTo>
                  <a:pt x="0" y="1451380"/>
                </a:moveTo>
                <a:cubicBezTo>
                  <a:pt x="-19093" y="1307772"/>
                  <a:pt x="18007" y="1258140"/>
                  <a:pt x="0" y="1147082"/>
                </a:cubicBezTo>
                <a:cubicBezTo>
                  <a:pt x="-18007" y="1036024"/>
                  <a:pt x="37" y="942647"/>
                  <a:pt x="0" y="830364"/>
                </a:cubicBezTo>
                <a:cubicBezTo>
                  <a:pt x="-69294" y="547345"/>
                  <a:pt x="265841" y="297358"/>
                  <a:pt x="634979" y="195385"/>
                </a:cubicBezTo>
                <a:cubicBezTo>
                  <a:pt x="820158" y="168369"/>
                  <a:pt x="920119" y="240468"/>
                  <a:pt x="1055161" y="195385"/>
                </a:cubicBezTo>
                <a:cubicBezTo>
                  <a:pt x="1190203" y="150302"/>
                  <a:pt x="1379395" y="219098"/>
                  <a:pt x="1528982" y="195385"/>
                </a:cubicBezTo>
                <a:cubicBezTo>
                  <a:pt x="1678569" y="171672"/>
                  <a:pt x="1756782" y="245890"/>
                  <a:pt x="1975984" y="195385"/>
                </a:cubicBezTo>
                <a:cubicBezTo>
                  <a:pt x="1974757" y="122980"/>
                  <a:pt x="1978693" y="93905"/>
                  <a:pt x="1975984" y="0"/>
                </a:cubicBezTo>
                <a:cubicBezTo>
                  <a:pt x="2152372" y="132303"/>
                  <a:pt x="2227120" y="261012"/>
                  <a:pt x="2338829" y="376807"/>
                </a:cubicBezTo>
                <a:cubicBezTo>
                  <a:pt x="2198728" y="602587"/>
                  <a:pt x="2030317" y="634047"/>
                  <a:pt x="1975984" y="753615"/>
                </a:cubicBezTo>
                <a:cubicBezTo>
                  <a:pt x="1954003" y="669824"/>
                  <a:pt x="1982635" y="618184"/>
                  <a:pt x="1975984" y="558230"/>
                </a:cubicBezTo>
                <a:cubicBezTo>
                  <a:pt x="1885957" y="582659"/>
                  <a:pt x="1675605" y="517823"/>
                  <a:pt x="1528982" y="558230"/>
                </a:cubicBezTo>
                <a:cubicBezTo>
                  <a:pt x="1382359" y="598637"/>
                  <a:pt x="1298147" y="528477"/>
                  <a:pt x="1108801" y="558230"/>
                </a:cubicBezTo>
                <a:cubicBezTo>
                  <a:pt x="919455" y="587983"/>
                  <a:pt x="806776" y="547702"/>
                  <a:pt x="634979" y="558230"/>
                </a:cubicBezTo>
                <a:cubicBezTo>
                  <a:pt x="467257" y="522707"/>
                  <a:pt x="363775" y="667495"/>
                  <a:pt x="362845" y="830364"/>
                </a:cubicBezTo>
                <a:cubicBezTo>
                  <a:pt x="369499" y="965858"/>
                  <a:pt x="334819" y="1011103"/>
                  <a:pt x="362845" y="1147082"/>
                </a:cubicBezTo>
                <a:cubicBezTo>
                  <a:pt x="390871" y="1283061"/>
                  <a:pt x="336541" y="1319003"/>
                  <a:pt x="362845" y="1451380"/>
                </a:cubicBezTo>
                <a:cubicBezTo>
                  <a:pt x="275974" y="1488195"/>
                  <a:pt x="124314" y="1431482"/>
                  <a:pt x="0" y="1451380"/>
                </a:cubicBezTo>
                <a:close/>
              </a:path>
            </a:pathLst>
          </a:custGeom>
          <a:solidFill>
            <a:schemeClr val="accent2"/>
          </a:solidFill>
          <a:ln>
            <a:extLst>
              <a:ext uri="{C807C97D-BFC1-408E-A445-0C87EB9F89A2}">
                <ask:lineSketchStyleProps xmlns:ask="http://schemas.microsoft.com/office/drawing/2018/sketchyshapes" sd="1219033472">
                  <a:prstGeom prst="bentArrow">
                    <a:avLst>
                      <a:gd name="adj1" fmla="val 25000"/>
                      <a:gd name="adj2" fmla="val 25962"/>
                      <a:gd name="adj3" fmla="val 25000"/>
                      <a:gd name="adj4" fmla="val 43750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3636556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8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D4D3AF-674F-27D9-45BA-703343CAF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99943FE0-292F-A4DA-1CCE-A14F14E01ECD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536018F3-F442-E440-06C3-A814439C22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8DC6273E-16EB-4A0A-078F-7CF6883DEDB6}"/>
              </a:ext>
            </a:extLst>
          </p:cNvPr>
          <p:cNvSpPr/>
          <p:nvPr/>
        </p:nvSpPr>
        <p:spPr>
          <a:xfrm>
            <a:off x="570379" y="3179193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F6EA2B36-2D5A-D1D5-A7AF-D9C268117570}"/>
              </a:ext>
            </a:extLst>
          </p:cNvPr>
          <p:cNvSpPr/>
          <p:nvPr/>
        </p:nvSpPr>
        <p:spPr>
          <a:xfrm>
            <a:off x="2815571" y="2195945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5271A3E9-36FB-95B7-9124-5A90BEA23031}"/>
              </a:ext>
            </a:extLst>
          </p:cNvPr>
          <p:cNvSpPr/>
          <p:nvPr/>
        </p:nvSpPr>
        <p:spPr>
          <a:xfrm>
            <a:off x="4398784" y="3886200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5" name="Bent Arrow 4">
            <a:extLst>
              <a:ext uri="{FF2B5EF4-FFF2-40B4-BE49-F238E27FC236}">
                <a16:creationId xmlns:a16="http://schemas.microsoft.com/office/drawing/2014/main" id="{39238FD0-7622-71D2-580D-4E5CFBEB5B96}"/>
              </a:ext>
            </a:extLst>
          </p:cNvPr>
          <p:cNvSpPr/>
          <p:nvPr/>
        </p:nvSpPr>
        <p:spPr>
          <a:xfrm>
            <a:off x="1429361" y="2365694"/>
            <a:ext cx="1191491" cy="720436"/>
          </a:xfrm>
          <a:custGeom>
            <a:avLst/>
            <a:gdLst>
              <a:gd name="connsiteX0" fmla="*/ 0 w 1191491"/>
              <a:gd name="connsiteY0" fmla="*/ 720436 h 720436"/>
              <a:gd name="connsiteX1" fmla="*/ 0 w 1191491"/>
              <a:gd name="connsiteY1" fmla="*/ 412176 h 720436"/>
              <a:gd name="connsiteX2" fmla="*/ 315191 w 1191491"/>
              <a:gd name="connsiteY2" fmla="*/ 96985 h 720436"/>
              <a:gd name="connsiteX3" fmla="*/ 656325 w 1191491"/>
              <a:gd name="connsiteY3" fmla="*/ 96985 h 720436"/>
              <a:gd name="connsiteX4" fmla="*/ 1011382 w 1191491"/>
              <a:gd name="connsiteY4" fmla="*/ 96985 h 720436"/>
              <a:gd name="connsiteX5" fmla="*/ 1011382 w 1191491"/>
              <a:gd name="connsiteY5" fmla="*/ 0 h 720436"/>
              <a:gd name="connsiteX6" fmla="*/ 1191491 w 1191491"/>
              <a:gd name="connsiteY6" fmla="*/ 187040 h 720436"/>
              <a:gd name="connsiteX7" fmla="*/ 1011382 w 1191491"/>
              <a:gd name="connsiteY7" fmla="*/ 374079 h 720436"/>
              <a:gd name="connsiteX8" fmla="*/ 1011382 w 1191491"/>
              <a:gd name="connsiteY8" fmla="*/ 277094 h 720436"/>
              <a:gd name="connsiteX9" fmla="*/ 656325 w 1191491"/>
              <a:gd name="connsiteY9" fmla="*/ 277094 h 720436"/>
              <a:gd name="connsiteX10" fmla="*/ 315191 w 1191491"/>
              <a:gd name="connsiteY10" fmla="*/ 277094 h 720436"/>
              <a:gd name="connsiteX11" fmla="*/ 180109 w 1191491"/>
              <a:gd name="connsiteY11" fmla="*/ 412176 h 720436"/>
              <a:gd name="connsiteX12" fmla="*/ 180109 w 1191491"/>
              <a:gd name="connsiteY12" fmla="*/ 720436 h 720436"/>
              <a:gd name="connsiteX13" fmla="*/ 0 w 1191491"/>
              <a:gd name="connsiteY13" fmla="*/ 720436 h 720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91491" h="720436" fill="none" extrusionOk="0">
                <a:moveTo>
                  <a:pt x="0" y="720436"/>
                </a:moveTo>
                <a:cubicBezTo>
                  <a:pt x="-16433" y="617098"/>
                  <a:pt x="9030" y="488586"/>
                  <a:pt x="0" y="412176"/>
                </a:cubicBezTo>
                <a:cubicBezTo>
                  <a:pt x="-286" y="244906"/>
                  <a:pt x="174299" y="77302"/>
                  <a:pt x="315191" y="96985"/>
                </a:cubicBezTo>
                <a:cubicBezTo>
                  <a:pt x="417080" y="88717"/>
                  <a:pt x="582165" y="131696"/>
                  <a:pt x="656325" y="96985"/>
                </a:cubicBezTo>
                <a:cubicBezTo>
                  <a:pt x="730485" y="62274"/>
                  <a:pt x="842668" y="135608"/>
                  <a:pt x="1011382" y="96985"/>
                </a:cubicBezTo>
                <a:cubicBezTo>
                  <a:pt x="1007278" y="72027"/>
                  <a:pt x="1018511" y="39451"/>
                  <a:pt x="1011382" y="0"/>
                </a:cubicBezTo>
                <a:cubicBezTo>
                  <a:pt x="1071222" y="22629"/>
                  <a:pt x="1142021" y="156881"/>
                  <a:pt x="1191491" y="187040"/>
                </a:cubicBezTo>
                <a:cubicBezTo>
                  <a:pt x="1142912" y="277956"/>
                  <a:pt x="1086540" y="274006"/>
                  <a:pt x="1011382" y="374079"/>
                </a:cubicBezTo>
                <a:cubicBezTo>
                  <a:pt x="1001104" y="335522"/>
                  <a:pt x="1016397" y="318429"/>
                  <a:pt x="1011382" y="277094"/>
                </a:cubicBezTo>
                <a:cubicBezTo>
                  <a:pt x="897113" y="308546"/>
                  <a:pt x="790060" y="246073"/>
                  <a:pt x="656325" y="277094"/>
                </a:cubicBezTo>
                <a:cubicBezTo>
                  <a:pt x="522590" y="308115"/>
                  <a:pt x="471276" y="269424"/>
                  <a:pt x="315191" y="277094"/>
                </a:cubicBezTo>
                <a:cubicBezTo>
                  <a:pt x="238441" y="276271"/>
                  <a:pt x="188153" y="329662"/>
                  <a:pt x="180109" y="412176"/>
                </a:cubicBezTo>
                <a:cubicBezTo>
                  <a:pt x="191012" y="498450"/>
                  <a:pt x="180082" y="587824"/>
                  <a:pt x="180109" y="720436"/>
                </a:cubicBezTo>
                <a:cubicBezTo>
                  <a:pt x="107214" y="739321"/>
                  <a:pt x="65715" y="711420"/>
                  <a:pt x="0" y="720436"/>
                </a:cubicBezTo>
                <a:close/>
              </a:path>
              <a:path w="1191491" h="720436" stroke="0" extrusionOk="0">
                <a:moveTo>
                  <a:pt x="0" y="720436"/>
                </a:moveTo>
                <a:cubicBezTo>
                  <a:pt x="-1998" y="636807"/>
                  <a:pt x="29934" y="510315"/>
                  <a:pt x="0" y="412176"/>
                </a:cubicBezTo>
                <a:cubicBezTo>
                  <a:pt x="10617" y="240202"/>
                  <a:pt x="138595" y="86174"/>
                  <a:pt x="315191" y="96985"/>
                </a:cubicBezTo>
                <a:cubicBezTo>
                  <a:pt x="481552" y="80748"/>
                  <a:pt x="526405" y="102481"/>
                  <a:pt x="656325" y="96985"/>
                </a:cubicBezTo>
                <a:cubicBezTo>
                  <a:pt x="786245" y="91489"/>
                  <a:pt x="915831" y="125923"/>
                  <a:pt x="1011382" y="96985"/>
                </a:cubicBezTo>
                <a:cubicBezTo>
                  <a:pt x="1000639" y="70042"/>
                  <a:pt x="1022618" y="47440"/>
                  <a:pt x="1011382" y="0"/>
                </a:cubicBezTo>
                <a:cubicBezTo>
                  <a:pt x="1096148" y="60763"/>
                  <a:pt x="1127607" y="127371"/>
                  <a:pt x="1191491" y="187040"/>
                </a:cubicBezTo>
                <a:cubicBezTo>
                  <a:pt x="1171363" y="248901"/>
                  <a:pt x="1069907" y="310074"/>
                  <a:pt x="1011382" y="374079"/>
                </a:cubicBezTo>
                <a:cubicBezTo>
                  <a:pt x="1001523" y="334934"/>
                  <a:pt x="1013540" y="321799"/>
                  <a:pt x="1011382" y="277094"/>
                </a:cubicBezTo>
                <a:cubicBezTo>
                  <a:pt x="918085" y="304384"/>
                  <a:pt x="741642" y="269298"/>
                  <a:pt x="656325" y="277094"/>
                </a:cubicBezTo>
                <a:cubicBezTo>
                  <a:pt x="571008" y="284890"/>
                  <a:pt x="410587" y="250815"/>
                  <a:pt x="315191" y="277094"/>
                </a:cubicBezTo>
                <a:cubicBezTo>
                  <a:pt x="242947" y="274165"/>
                  <a:pt x="167918" y="332859"/>
                  <a:pt x="180109" y="412176"/>
                </a:cubicBezTo>
                <a:cubicBezTo>
                  <a:pt x="215134" y="510682"/>
                  <a:pt x="150701" y="580289"/>
                  <a:pt x="180109" y="720436"/>
                </a:cubicBezTo>
                <a:cubicBezTo>
                  <a:pt x="95632" y="725929"/>
                  <a:pt x="47934" y="701800"/>
                  <a:pt x="0" y="720436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bentArrow">
                    <a:avLst>
                      <a:gd name="adj1" fmla="val 25000"/>
                      <a:gd name="adj2" fmla="val 25962"/>
                      <a:gd name="adj3" fmla="val 25000"/>
                      <a:gd name="adj4" fmla="val 43750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Bent Arrow 5">
            <a:extLst>
              <a:ext uri="{FF2B5EF4-FFF2-40B4-BE49-F238E27FC236}">
                <a16:creationId xmlns:a16="http://schemas.microsoft.com/office/drawing/2014/main" id="{4E6B0977-681D-CD26-6BAF-866FB44ABC4D}"/>
              </a:ext>
            </a:extLst>
          </p:cNvPr>
          <p:cNvSpPr/>
          <p:nvPr/>
        </p:nvSpPr>
        <p:spPr>
          <a:xfrm rot="5400000">
            <a:off x="4151743" y="2703914"/>
            <a:ext cx="1191491" cy="720436"/>
          </a:xfrm>
          <a:custGeom>
            <a:avLst/>
            <a:gdLst>
              <a:gd name="connsiteX0" fmla="*/ 0 w 1191491"/>
              <a:gd name="connsiteY0" fmla="*/ 720436 h 720436"/>
              <a:gd name="connsiteX1" fmla="*/ 0 w 1191491"/>
              <a:gd name="connsiteY1" fmla="*/ 412176 h 720436"/>
              <a:gd name="connsiteX2" fmla="*/ 315191 w 1191491"/>
              <a:gd name="connsiteY2" fmla="*/ 96985 h 720436"/>
              <a:gd name="connsiteX3" fmla="*/ 656325 w 1191491"/>
              <a:gd name="connsiteY3" fmla="*/ 96985 h 720436"/>
              <a:gd name="connsiteX4" fmla="*/ 1011382 w 1191491"/>
              <a:gd name="connsiteY4" fmla="*/ 96985 h 720436"/>
              <a:gd name="connsiteX5" fmla="*/ 1011382 w 1191491"/>
              <a:gd name="connsiteY5" fmla="*/ 0 h 720436"/>
              <a:gd name="connsiteX6" fmla="*/ 1191491 w 1191491"/>
              <a:gd name="connsiteY6" fmla="*/ 187040 h 720436"/>
              <a:gd name="connsiteX7" fmla="*/ 1011382 w 1191491"/>
              <a:gd name="connsiteY7" fmla="*/ 374079 h 720436"/>
              <a:gd name="connsiteX8" fmla="*/ 1011382 w 1191491"/>
              <a:gd name="connsiteY8" fmla="*/ 277094 h 720436"/>
              <a:gd name="connsiteX9" fmla="*/ 656325 w 1191491"/>
              <a:gd name="connsiteY9" fmla="*/ 277094 h 720436"/>
              <a:gd name="connsiteX10" fmla="*/ 315191 w 1191491"/>
              <a:gd name="connsiteY10" fmla="*/ 277094 h 720436"/>
              <a:gd name="connsiteX11" fmla="*/ 180109 w 1191491"/>
              <a:gd name="connsiteY11" fmla="*/ 412176 h 720436"/>
              <a:gd name="connsiteX12" fmla="*/ 180109 w 1191491"/>
              <a:gd name="connsiteY12" fmla="*/ 720436 h 720436"/>
              <a:gd name="connsiteX13" fmla="*/ 0 w 1191491"/>
              <a:gd name="connsiteY13" fmla="*/ 720436 h 720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91491" h="720436" fill="none" extrusionOk="0">
                <a:moveTo>
                  <a:pt x="0" y="720436"/>
                </a:moveTo>
                <a:cubicBezTo>
                  <a:pt x="-16433" y="617098"/>
                  <a:pt x="9030" y="488586"/>
                  <a:pt x="0" y="412176"/>
                </a:cubicBezTo>
                <a:cubicBezTo>
                  <a:pt x="-286" y="244906"/>
                  <a:pt x="174299" y="77302"/>
                  <a:pt x="315191" y="96985"/>
                </a:cubicBezTo>
                <a:cubicBezTo>
                  <a:pt x="417080" y="88717"/>
                  <a:pt x="582165" y="131696"/>
                  <a:pt x="656325" y="96985"/>
                </a:cubicBezTo>
                <a:cubicBezTo>
                  <a:pt x="730485" y="62274"/>
                  <a:pt x="842668" y="135608"/>
                  <a:pt x="1011382" y="96985"/>
                </a:cubicBezTo>
                <a:cubicBezTo>
                  <a:pt x="1007278" y="72027"/>
                  <a:pt x="1018511" y="39451"/>
                  <a:pt x="1011382" y="0"/>
                </a:cubicBezTo>
                <a:cubicBezTo>
                  <a:pt x="1071222" y="22629"/>
                  <a:pt x="1142021" y="156881"/>
                  <a:pt x="1191491" y="187040"/>
                </a:cubicBezTo>
                <a:cubicBezTo>
                  <a:pt x="1142912" y="277956"/>
                  <a:pt x="1086540" y="274006"/>
                  <a:pt x="1011382" y="374079"/>
                </a:cubicBezTo>
                <a:cubicBezTo>
                  <a:pt x="1001104" y="335522"/>
                  <a:pt x="1016397" y="318429"/>
                  <a:pt x="1011382" y="277094"/>
                </a:cubicBezTo>
                <a:cubicBezTo>
                  <a:pt x="897113" y="308546"/>
                  <a:pt x="790060" y="246073"/>
                  <a:pt x="656325" y="277094"/>
                </a:cubicBezTo>
                <a:cubicBezTo>
                  <a:pt x="522590" y="308115"/>
                  <a:pt x="471276" y="269424"/>
                  <a:pt x="315191" y="277094"/>
                </a:cubicBezTo>
                <a:cubicBezTo>
                  <a:pt x="238441" y="276271"/>
                  <a:pt x="188153" y="329662"/>
                  <a:pt x="180109" y="412176"/>
                </a:cubicBezTo>
                <a:cubicBezTo>
                  <a:pt x="191012" y="498450"/>
                  <a:pt x="180082" y="587824"/>
                  <a:pt x="180109" y="720436"/>
                </a:cubicBezTo>
                <a:cubicBezTo>
                  <a:pt x="107214" y="739321"/>
                  <a:pt x="65715" y="711420"/>
                  <a:pt x="0" y="720436"/>
                </a:cubicBezTo>
                <a:close/>
              </a:path>
              <a:path w="1191491" h="720436" stroke="0" extrusionOk="0">
                <a:moveTo>
                  <a:pt x="0" y="720436"/>
                </a:moveTo>
                <a:cubicBezTo>
                  <a:pt x="-1998" y="636807"/>
                  <a:pt x="29934" y="510315"/>
                  <a:pt x="0" y="412176"/>
                </a:cubicBezTo>
                <a:cubicBezTo>
                  <a:pt x="10617" y="240202"/>
                  <a:pt x="138595" y="86174"/>
                  <a:pt x="315191" y="96985"/>
                </a:cubicBezTo>
                <a:cubicBezTo>
                  <a:pt x="481552" y="80748"/>
                  <a:pt x="526405" y="102481"/>
                  <a:pt x="656325" y="96985"/>
                </a:cubicBezTo>
                <a:cubicBezTo>
                  <a:pt x="786245" y="91489"/>
                  <a:pt x="915831" y="125923"/>
                  <a:pt x="1011382" y="96985"/>
                </a:cubicBezTo>
                <a:cubicBezTo>
                  <a:pt x="1000639" y="70042"/>
                  <a:pt x="1022618" y="47440"/>
                  <a:pt x="1011382" y="0"/>
                </a:cubicBezTo>
                <a:cubicBezTo>
                  <a:pt x="1096148" y="60763"/>
                  <a:pt x="1127607" y="127371"/>
                  <a:pt x="1191491" y="187040"/>
                </a:cubicBezTo>
                <a:cubicBezTo>
                  <a:pt x="1171363" y="248901"/>
                  <a:pt x="1069907" y="310074"/>
                  <a:pt x="1011382" y="374079"/>
                </a:cubicBezTo>
                <a:cubicBezTo>
                  <a:pt x="1001523" y="334934"/>
                  <a:pt x="1013540" y="321799"/>
                  <a:pt x="1011382" y="277094"/>
                </a:cubicBezTo>
                <a:cubicBezTo>
                  <a:pt x="918085" y="304384"/>
                  <a:pt x="741642" y="269298"/>
                  <a:pt x="656325" y="277094"/>
                </a:cubicBezTo>
                <a:cubicBezTo>
                  <a:pt x="571008" y="284890"/>
                  <a:pt x="410587" y="250815"/>
                  <a:pt x="315191" y="277094"/>
                </a:cubicBezTo>
                <a:cubicBezTo>
                  <a:pt x="242947" y="274165"/>
                  <a:pt x="167918" y="332859"/>
                  <a:pt x="180109" y="412176"/>
                </a:cubicBezTo>
                <a:cubicBezTo>
                  <a:pt x="215134" y="510682"/>
                  <a:pt x="150701" y="580289"/>
                  <a:pt x="180109" y="720436"/>
                </a:cubicBezTo>
                <a:cubicBezTo>
                  <a:pt x="95632" y="725929"/>
                  <a:pt x="47934" y="701800"/>
                  <a:pt x="0" y="720436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bentArrow">
                    <a:avLst>
                      <a:gd name="adj1" fmla="val 25000"/>
                      <a:gd name="adj2" fmla="val 25962"/>
                      <a:gd name="adj3" fmla="val 25000"/>
                      <a:gd name="adj4" fmla="val 43750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Bent Arrow 7">
            <a:extLst>
              <a:ext uri="{FF2B5EF4-FFF2-40B4-BE49-F238E27FC236}">
                <a16:creationId xmlns:a16="http://schemas.microsoft.com/office/drawing/2014/main" id="{06A4D0E6-25EB-6295-E313-E707D10779C5}"/>
              </a:ext>
            </a:extLst>
          </p:cNvPr>
          <p:cNvSpPr/>
          <p:nvPr/>
        </p:nvSpPr>
        <p:spPr>
          <a:xfrm rot="13290293">
            <a:off x="1671075" y="4036838"/>
            <a:ext cx="2338829" cy="1451380"/>
          </a:xfrm>
          <a:custGeom>
            <a:avLst/>
            <a:gdLst>
              <a:gd name="connsiteX0" fmla="*/ 0 w 2338829"/>
              <a:gd name="connsiteY0" fmla="*/ 1451380 h 1451380"/>
              <a:gd name="connsiteX1" fmla="*/ 0 w 2338829"/>
              <a:gd name="connsiteY1" fmla="*/ 1128452 h 1451380"/>
              <a:gd name="connsiteX2" fmla="*/ 0 w 2338829"/>
              <a:gd name="connsiteY2" fmla="*/ 830364 h 1451380"/>
              <a:gd name="connsiteX3" fmla="*/ 634979 w 2338829"/>
              <a:gd name="connsiteY3" fmla="*/ 195385 h 1451380"/>
              <a:gd name="connsiteX4" fmla="*/ 1041751 w 2338829"/>
              <a:gd name="connsiteY4" fmla="*/ 195385 h 1451380"/>
              <a:gd name="connsiteX5" fmla="*/ 1502162 w 2338829"/>
              <a:gd name="connsiteY5" fmla="*/ 195385 h 1451380"/>
              <a:gd name="connsiteX6" fmla="*/ 1975984 w 2338829"/>
              <a:gd name="connsiteY6" fmla="*/ 195385 h 1451380"/>
              <a:gd name="connsiteX7" fmla="*/ 1975984 w 2338829"/>
              <a:gd name="connsiteY7" fmla="*/ 0 h 1451380"/>
              <a:gd name="connsiteX8" fmla="*/ 2338829 w 2338829"/>
              <a:gd name="connsiteY8" fmla="*/ 376807 h 1451380"/>
              <a:gd name="connsiteX9" fmla="*/ 1975984 w 2338829"/>
              <a:gd name="connsiteY9" fmla="*/ 753615 h 1451380"/>
              <a:gd name="connsiteX10" fmla="*/ 1975984 w 2338829"/>
              <a:gd name="connsiteY10" fmla="*/ 558230 h 1451380"/>
              <a:gd name="connsiteX11" fmla="*/ 1515572 w 2338829"/>
              <a:gd name="connsiteY11" fmla="*/ 558230 h 1451380"/>
              <a:gd name="connsiteX12" fmla="*/ 1095391 w 2338829"/>
              <a:gd name="connsiteY12" fmla="*/ 558230 h 1451380"/>
              <a:gd name="connsiteX13" fmla="*/ 634979 w 2338829"/>
              <a:gd name="connsiteY13" fmla="*/ 558230 h 1451380"/>
              <a:gd name="connsiteX14" fmla="*/ 362845 w 2338829"/>
              <a:gd name="connsiteY14" fmla="*/ 830364 h 1451380"/>
              <a:gd name="connsiteX15" fmla="*/ 362845 w 2338829"/>
              <a:gd name="connsiteY15" fmla="*/ 1140872 h 1451380"/>
              <a:gd name="connsiteX16" fmla="*/ 362845 w 2338829"/>
              <a:gd name="connsiteY16" fmla="*/ 1451380 h 1451380"/>
              <a:gd name="connsiteX17" fmla="*/ 0 w 2338829"/>
              <a:gd name="connsiteY17" fmla="*/ 1451380 h 14513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2338829" h="1451380" fill="none" extrusionOk="0">
                <a:moveTo>
                  <a:pt x="0" y="1451380"/>
                </a:moveTo>
                <a:cubicBezTo>
                  <a:pt x="-31163" y="1356073"/>
                  <a:pt x="24097" y="1284160"/>
                  <a:pt x="0" y="1128452"/>
                </a:cubicBezTo>
                <a:cubicBezTo>
                  <a:pt x="-24097" y="972744"/>
                  <a:pt x="26153" y="973357"/>
                  <a:pt x="0" y="830364"/>
                </a:cubicBezTo>
                <a:cubicBezTo>
                  <a:pt x="-47848" y="539311"/>
                  <a:pt x="287002" y="187043"/>
                  <a:pt x="634979" y="195385"/>
                </a:cubicBezTo>
                <a:cubicBezTo>
                  <a:pt x="779225" y="149203"/>
                  <a:pt x="911755" y="201278"/>
                  <a:pt x="1041751" y="195385"/>
                </a:cubicBezTo>
                <a:cubicBezTo>
                  <a:pt x="1171747" y="189492"/>
                  <a:pt x="1331562" y="224176"/>
                  <a:pt x="1502162" y="195385"/>
                </a:cubicBezTo>
                <a:cubicBezTo>
                  <a:pt x="1672762" y="166594"/>
                  <a:pt x="1762656" y="229994"/>
                  <a:pt x="1975984" y="195385"/>
                </a:cubicBezTo>
                <a:cubicBezTo>
                  <a:pt x="1957312" y="140913"/>
                  <a:pt x="1981415" y="47677"/>
                  <a:pt x="1975984" y="0"/>
                </a:cubicBezTo>
                <a:cubicBezTo>
                  <a:pt x="2151165" y="93892"/>
                  <a:pt x="2191685" y="280800"/>
                  <a:pt x="2338829" y="376807"/>
                </a:cubicBezTo>
                <a:cubicBezTo>
                  <a:pt x="2212520" y="525627"/>
                  <a:pt x="2089020" y="570215"/>
                  <a:pt x="1975984" y="753615"/>
                </a:cubicBezTo>
                <a:cubicBezTo>
                  <a:pt x="1955185" y="704754"/>
                  <a:pt x="1992543" y="637217"/>
                  <a:pt x="1975984" y="558230"/>
                </a:cubicBezTo>
                <a:cubicBezTo>
                  <a:pt x="1762250" y="561278"/>
                  <a:pt x="1657754" y="549796"/>
                  <a:pt x="1515572" y="558230"/>
                </a:cubicBezTo>
                <a:cubicBezTo>
                  <a:pt x="1373390" y="566664"/>
                  <a:pt x="1182196" y="527263"/>
                  <a:pt x="1095391" y="558230"/>
                </a:cubicBezTo>
                <a:cubicBezTo>
                  <a:pt x="1008586" y="589197"/>
                  <a:pt x="817921" y="557330"/>
                  <a:pt x="634979" y="558230"/>
                </a:cubicBezTo>
                <a:cubicBezTo>
                  <a:pt x="477992" y="562551"/>
                  <a:pt x="348876" y="659161"/>
                  <a:pt x="362845" y="830364"/>
                </a:cubicBezTo>
                <a:cubicBezTo>
                  <a:pt x="392589" y="973367"/>
                  <a:pt x="336041" y="1055818"/>
                  <a:pt x="362845" y="1140872"/>
                </a:cubicBezTo>
                <a:cubicBezTo>
                  <a:pt x="389649" y="1225926"/>
                  <a:pt x="360134" y="1311614"/>
                  <a:pt x="362845" y="1451380"/>
                </a:cubicBezTo>
                <a:cubicBezTo>
                  <a:pt x="281331" y="1472668"/>
                  <a:pt x="135036" y="1432575"/>
                  <a:pt x="0" y="1451380"/>
                </a:cubicBezTo>
                <a:close/>
              </a:path>
              <a:path w="2338829" h="1451380" stroke="0" extrusionOk="0">
                <a:moveTo>
                  <a:pt x="0" y="1451380"/>
                </a:moveTo>
                <a:cubicBezTo>
                  <a:pt x="-19093" y="1307772"/>
                  <a:pt x="18007" y="1258140"/>
                  <a:pt x="0" y="1147082"/>
                </a:cubicBezTo>
                <a:cubicBezTo>
                  <a:pt x="-18007" y="1036024"/>
                  <a:pt x="37" y="942647"/>
                  <a:pt x="0" y="830364"/>
                </a:cubicBezTo>
                <a:cubicBezTo>
                  <a:pt x="-69294" y="547345"/>
                  <a:pt x="265841" y="297358"/>
                  <a:pt x="634979" y="195385"/>
                </a:cubicBezTo>
                <a:cubicBezTo>
                  <a:pt x="820158" y="168369"/>
                  <a:pt x="920119" y="240468"/>
                  <a:pt x="1055161" y="195385"/>
                </a:cubicBezTo>
                <a:cubicBezTo>
                  <a:pt x="1190203" y="150302"/>
                  <a:pt x="1379395" y="219098"/>
                  <a:pt x="1528982" y="195385"/>
                </a:cubicBezTo>
                <a:cubicBezTo>
                  <a:pt x="1678569" y="171672"/>
                  <a:pt x="1756782" y="245890"/>
                  <a:pt x="1975984" y="195385"/>
                </a:cubicBezTo>
                <a:cubicBezTo>
                  <a:pt x="1974757" y="122980"/>
                  <a:pt x="1978693" y="93905"/>
                  <a:pt x="1975984" y="0"/>
                </a:cubicBezTo>
                <a:cubicBezTo>
                  <a:pt x="2152372" y="132303"/>
                  <a:pt x="2227120" y="261012"/>
                  <a:pt x="2338829" y="376807"/>
                </a:cubicBezTo>
                <a:cubicBezTo>
                  <a:pt x="2198728" y="602587"/>
                  <a:pt x="2030317" y="634047"/>
                  <a:pt x="1975984" y="753615"/>
                </a:cubicBezTo>
                <a:cubicBezTo>
                  <a:pt x="1954003" y="669824"/>
                  <a:pt x="1982635" y="618184"/>
                  <a:pt x="1975984" y="558230"/>
                </a:cubicBezTo>
                <a:cubicBezTo>
                  <a:pt x="1885957" y="582659"/>
                  <a:pt x="1675605" y="517823"/>
                  <a:pt x="1528982" y="558230"/>
                </a:cubicBezTo>
                <a:cubicBezTo>
                  <a:pt x="1382359" y="598637"/>
                  <a:pt x="1298147" y="528477"/>
                  <a:pt x="1108801" y="558230"/>
                </a:cubicBezTo>
                <a:cubicBezTo>
                  <a:pt x="919455" y="587983"/>
                  <a:pt x="806776" y="547702"/>
                  <a:pt x="634979" y="558230"/>
                </a:cubicBezTo>
                <a:cubicBezTo>
                  <a:pt x="467257" y="522707"/>
                  <a:pt x="363775" y="667495"/>
                  <a:pt x="362845" y="830364"/>
                </a:cubicBezTo>
                <a:cubicBezTo>
                  <a:pt x="369499" y="965858"/>
                  <a:pt x="334819" y="1011103"/>
                  <a:pt x="362845" y="1147082"/>
                </a:cubicBezTo>
                <a:cubicBezTo>
                  <a:pt x="390871" y="1283061"/>
                  <a:pt x="336541" y="1319003"/>
                  <a:pt x="362845" y="1451380"/>
                </a:cubicBezTo>
                <a:cubicBezTo>
                  <a:pt x="275974" y="1488195"/>
                  <a:pt x="124314" y="1431482"/>
                  <a:pt x="0" y="1451380"/>
                </a:cubicBezTo>
                <a:close/>
              </a:path>
            </a:pathLst>
          </a:custGeom>
          <a:solidFill>
            <a:schemeClr val="accent2"/>
          </a:solidFill>
          <a:ln>
            <a:extLst>
              <a:ext uri="{C807C97D-BFC1-408E-A445-0C87EB9F89A2}">
                <ask:lineSketchStyleProps xmlns:ask="http://schemas.microsoft.com/office/drawing/2018/sketchyshapes" sd="1219033472">
                  <a:prstGeom prst="bentArrow">
                    <a:avLst>
                      <a:gd name="adj1" fmla="val 25000"/>
                      <a:gd name="adj2" fmla="val 25962"/>
                      <a:gd name="adj3" fmla="val 25000"/>
                      <a:gd name="adj4" fmla="val 43750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406CD7F5-696D-CFCB-67BA-2212E9C0CEB3}"/>
              </a:ext>
            </a:extLst>
          </p:cNvPr>
          <p:cNvSpPr/>
          <p:nvPr/>
        </p:nvSpPr>
        <p:spPr>
          <a:xfrm>
            <a:off x="6525491" y="2780114"/>
            <a:ext cx="4568965" cy="2103614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Probabilities are not necessarily transitive</a:t>
            </a:r>
          </a:p>
        </p:txBody>
      </p:sp>
    </p:spTree>
    <p:extLst>
      <p:ext uri="{BB962C8B-B14F-4D97-AF65-F5344CB8AC3E}">
        <p14:creationId xmlns:p14="http://schemas.microsoft.com/office/powerpoint/2010/main" val="278063941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9CD616C-1427-9D0D-30F3-479DBE3528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Partial Order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CA8F9F-451D-3FE0-B40A-1C2A8BDBBA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r>
              <a:rPr lang="en-US" sz="2200" i="1" dirty="0"/>
              <a:t>happened-before </a:t>
            </a:r>
            <a:r>
              <a:rPr lang="en-US" sz="2200" dirty="0"/>
              <a:t>relation is transitive so getting a partial order out of pairwise relations is easy</a:t>
            </a:r>
          </a:p>
          <a:p>
            <a:pPr lvl="1"/>
            <a:r>
              <a:rPr lang="en-US" sz="2200" dirty="0"/>
              <a:t>A  </a:t>
            </a:r>
            <a:r>
              <a:rPr lang="en-US" sz="2200" dirty="0">
                <a:sym typeface="Wingdings" pitchFamily="2" charset="2"/>
              </a:rPr>
              <a:t></a:t>
            </a:r>
            <a:r>
              <a:rPr lang="en-US" sz="2200" dirty="0"/>
              <a:t>B and B </a:t>
            </a:r>
            <a:r>
              <a:rPr lang="en-US" sz="2200" dirty="0">
                <a:sym typeface="Wingdings" pitchFamily="2" charset="2"/>
              </a:rPr>
              <a:t></a:t>
            </a:r>
            <a:r>
              <a:rPr lang="en-US" sz="2200" dirty="0"/>
              <a:t> C gives us A </a:t>
            </a:r>
            <a:r>
              <a:rPr lang="en-US" sz="2200" dirty="0">
                <a:sym typeface="Wingdings" pitchFamily="2" charset="2"/>
              </a:rPr>
              <a:t></a:t>
            </a:r>
            <a:r>
              <a:rPr lang="en-US" sz="2200" dirty="0"/>
              <a:t> B </a:t>
            </a:r>
            <a:r>
              <a:rPr lang="en-US" sz="2200" dirty="0">
                <a:sym typeface="Wingdings" pitchFamily="2" charset="2"/>
              </a:rPr>
              <a:t></a:t>
            </a:r>
            <a:r>
              <a:rPr lang="en-US" sz="2200" dirty="0"/>
              <a:t> C</a:t>
            </a:r>
            <a:br>
              <a:rPr lang="en-US" sz="2200" dirty="0"/>
            </a:br>
            <a:endParaRPr lang="en-US" sz="2200" dirty="0"/>
          </a:p>
          <a:p>
            <a:r>
              <a:rPr lang="en-US" sz="2200" i="1" dirty="0"/>
              <a:t>likely-happened-before </a:t>
            </a:r>
            <a:r>
              <a:rPr lang="en-US" sz="2200" dirty="0"/>
              <a:t>relation is not necessarily transitive.</a:t>
            </a:r>
          </a:p>
          <a:p>
            <a:pPr lvl="1"/>
            <a:r>
              <a:rPr lang="en-US" sz="2200" dirty="0"/>
              <a:t>Depends on the clock offset distributions</a:t>
            </a:r>
          </a:p>
          <a:p>
            <a:pPr lvl="1"/>
            <a:r>
              <a:rPr lang="en-US" sz="2200" dirty="0"/>
              <a:t>For Gaussian, yes it is transitive (proof in the paper)</a:t>
            </a:r>
          </a:p>
          <a:p>
            <a:pPr lvl="1"/>
            <a:r>
              <a:rPr lang="en-US" sz="2200" dirty="0"/>
              <a:t>For others, it may not be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2E763449-E448-7EF4-8FE6-FB8D5C498140}"/>
              </a:ext>
            </a:extLst>
          </p:cNvPr>
          <p:cNvSpPr/>
          <p:nvPr/>
        </p:nvSpPr>
        <p:spPr>
          <a:xfrm>
            <a:off x="4274972" y="-248312"/>
            <a:ext cx="2997621" cy="79026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560106F-7172-F544-DF18-3E20F1B232C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527" t="12634" r="30625" b="76414"/>
          <a:stretch>
            <a:fillRect/>
          </a:stretch>
        </p:blipFill>
        <p:spPr>
          <a:xfrm>
            <a:off x="1464141" y="2011218"/>
            <a:ext cx="9704016" cy="2223799"/>
          </a:xfrm>
          <a:prstGeom prst="rect">
            <a:avLst/>
          </a:prstGeom>
          <a:blipFill>
            <a:blip r:embed="rId3"/>
            <a:tile tx="0" ty="0" sx="100000" sy="100000" flip="none" algn="tl"/>
          </a:blipFill>
          <a:effectLst>
            <a:glow rad="228600">
              <a:schemeClr val="accent1">
                <a:satMod val="175000"/>
                <a:alpha val="40000"/>
              </a:schemeClr>
            </a:glow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62696501"/>
      </p:ext>
    </p:extLst>
  </p:cSld>
  <p:clrMapOvr>
    <a:masterClrMapping/>
  </p:clrMapOvr>
  <p:transition spd="slow">
    <p:push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55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30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strVal val="ppt_w*0.7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strVal val="ppt_h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3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0B07738-817E-DC1E-EE39-41D770E3E3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267854-DEF7-C9F9-A501-6AA78FCFA7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Partial Order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A1D797-4DDE-60AC-8E5F-B08E12B260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r>
              <a:rPr lang="en-US" sz="2200" i="1" dirty="0"/>
              <a:t>happened-before </a:t>
            </a:r>
            <a:r>
              <a:rPr lang="en-US" sz="2200" dirty="0"/>
              <a:t>relation is transitive so getting a partial order out of pairwise relations is easy</a:t>
            </a:r>
          </a:p>
          <a:p>
            <a:pPr lvl="1"/>
            <a:r>
              <a:rPr lang="en-US" sz="2200" dirty="0"/>
              <a:t>A  </a:t>
            </a:r>
            <a:r>
              <a:rPr lang="en-US" sz="2200" dirty="0">
                <a:sym typeface="Wingdings" pitchFamily="2" charset="2"/>
              </a:rPr>
              <a:t></a:t>
            </a:r>
            <a:r>
              <a:rPr lang="en-US" sz="2200" dirty="0"/>
              <a:t>B and B </a:t>
            </a:r>
            <a:r>
              <a:rPr lang="en-US" sz="2200" dirty="0">
                <a:sym typeface="Wingdings" pitchFamily="2" charset="2"/>
              </a:rPr>
              <a:t></a:t>
            </a:r>
            <a:r>
              <a:rPr lang="en-US" sz="2200" dirty="0"/>
              <a:t> C gives us A </a:t>
            </a:r>
            <a:r>
              <a:rPr lang="en-US" sz="2200" dirty="0">
                <a:sym typeface="Wingdings" pitchFamily="2" charset="2"/>
              </a:rPr>
              <a:t></a:t>
            </a:r>
            <a:r>
              <a:rPr lang="en-US" sz="2200" dirty="0"/>
              <a:t> B </a:t>
            </a:r>
            <a:r>
              <a:rPr lang="en-US" sz="2200" dirty="0">
                <a:sym typeface="Wingdings" pitchFamily="2" charset="2"/>
              </a:rPr>
              <a:t></a:t>
            </a:r>
            <a:r>
              <a:rPr lang="en-US" sz="2200" dirty="0"/>
              <a:t> C</a:t>
            </a:r>
            <a:br>
              <a:rPr lang="en-US" sz="2200" dirty="0"/>
            </a:br>
            <a:endParaRPr lang="en-US" sz="2200" dirty="0"/>
          </a:p>
          <a:p>
            <a:r>
              <a:rPr lang="en-US" sz="2200" i="1" dirty="0"/>
              <a:t>likely-happened-before </a:t>
            </a:r>
            <a:r>
              <a:rPr lang="en-US" sz="2200" dirty="0"/>
              <a:t>relation is not necessarily transitive.</a:t>
            </a:r>
          </a:p>
          <a:p>
            <a:pPr lvl="1"/>
            <a:r>
              <a:rPr lang="en-US" sz="2200" dirty="0"/>
              <a:t>may lead to cyclic ranking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C21E9A03-30B0-092C-3349-C8FA37468EF1}"/>
              </a:ext>
            </a:extLst>
          </p:cNvPr>
          <p:cNvSpPr/>
          <p:nvPr/>
        </p:nvSpPr>
        <p:spPr>
          <a:xfrm>
            <a:off x="4274972" y="-248312"/>
            <a:ext cx="2997621" cy="79026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778309082"/>
      </p:ext>
    </p:extLst>
  </p:cSld>
  <p:clrMapOvr>
    <a:masterClrMapping/>
  </p:clrMapOvr>
  <p:transition spd="slow">
    <p:push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D24B817-9B3C-4541-4346-3BC3699D6A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62E9C4-7882-E633-2BB7-85C2C43B75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Partial Order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6BF3F43E-8D0E-5CF7-E21C-2481224BF1F2}"/>
              </a:ext>
            </a:extLst>
          </p:cNvPr>
          <p:cNvSpPr/>
          <p:nvPr/>
        </p:nvSpPr>
        <p:spPr>
          <a:xfrm>
            <a:off x="2932294" y="3469423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231591FD-C47E-1C11-FAC4-B7A6DCD51B31}"/>
              </a:ext>
            </a:extLst>
          </p:cNvPr>
          <p:cNvSpPr/>
          <p:nvPr/>
        </p:nvSpPr>
        <p:spPr>
          <a:xfrm>
            <a:off x="5405863" y="5350218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36F378CE-5167-B4CF-67B3-3E4179599BE5}"/>
              </a:ext>
            </a:extLst>
          </p:cNvPr>
          <p:cNvSpPr/>
          <p:nvPr/>
        </p:nvSpPr>
        <p:spPr>
          <a:xfrm>
            <a:off x="8117613" y="3531268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8E6DCE8-4907-2DB2-2E66-6936202B90F4}"/>
              </a:ext>
            </a:extLst>
          </p:cNvPr>
          <p:cNvSpPr/>
          <p:nvPr/>
        </p:nvSpPr>
        <p:spPr>
          <a:xfrm>
            <a:off x="5517700" y="1542581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57F5728-D46C-13CE-3843-52CC0A2484A3}"/>
              </a:ext>
            </a:extLst>
          </p:cNvPr>
          <p:cNvCxnSpPr>
            <a:cxnSpLocks/>
            <a:stCxn id="4" idx="5"/>
            <a:endCxn id="7" idx="5"/>
          </p:cNvCxnSpPr>
          <p:nvPr/>
        </p:nvCxnSpPr>
        <p:spPr>
          <a:xfrm flipV="1">
            <a:off x="3584131" y="2193541"/>
            <a:ext cx="2585406" cy="1926842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5C1FF5F-B6CF-53B8-7305-F7107DEBFF70}"/>
              </a:ext>
            </a:extLst>
          </p:cNvPr>
          <p:cNvCxnSpPr>
            <a:cxnSpLocks/>
            <a:stCxn id="5" idx="5"/>
            <a:endCxn id="6" idx="5"/>
          </p:cNvCxnSpPr>
          <p:nvPr/>
        </p:nvCxnSpPr>
        <p:spPr>
          <a:xfrm flipV="1">
            <a:off x="6057700" y="4182228"/>
            <a:ext cx="2711750" cy="181895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1B5F5319-1BC6-CA67-7878-953712084102}"/>
              </a:ext>
            </a:extLst>
          </p:cNvPr>
          <p:cNvCxnSpPr>
            <a:cxnSpLocks/>
            <a:stCxn id="6" idx="1"/>
            <a:endCxn id="5" idx="1"/>
          </p:cNvCxnSpPr>
          <p:nvPr/>
        </p:nvCxnSpPr>
        <p:spPr>
          <a:xfrm flipH="1">
            <a:off x="5517700" y="3642955"/>
            <a:ext cx="2711750" cy="181895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F234EE0-2734-02CD-1E48-3ADF76FF5AC2}"/>
              </a:ext>
            </a:extLst>
          </p:cNvPr>
          <p:cNvCxnSpPr>
            <a:cxnSpLocks/>
            <a:stCxn id="7" idx="1"/>
            <a:endCxn id="4" idx="1"/>
          </p:cNvCxnSpPr>
          <p:nvPr/>
        </p:nvCxnSpPr>
        <p:spPr>
          <a:xfrm flipH="1">
            <a:off x="3044131" y="1654268"/>
            <a:ext cx="2585406" cy="1926842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41A4B498-2D6E-455E-6C17-CE9AD19657F5}"/>
              </a:ext>
            </a:extLst>
          </p:cNvPr>
          <p:cNvCxnSpPr>
            <a:cxnSpLocks/>
            <a:stCxn id="7" idx="7"/>
            <a:endCxn id="6" idx="7"/>
          </p:cNvCxnSpPr>
          <p:nvPr/>
        </p:nvCxnSpPr>
        <p:spPr>
          <a:xfrm>
            <a:off x="6169537" y="1654268"/>
            <a:ext cx="2599913" cy="1988687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FC992742-1938-C592-A724-DA21C3D88648}"/>
              </a:ext>
            </a:extLst>
          </p:cNvPr>
          <p:cNvCxnSpPr>
            <a:cxnSpLocks/>
            <a:stCxn id="4" idx="3"/>
            <a:endCxn id="5" idx="3"/>
          </p:cNvCxnSpPr>
          <p:nvPr/>
        </p:nvCxnSpPr>
        <p:spPr>
          <a:xfrm>
            <a:off x="3044131" y="4120383"/>
            <a:ext cx="2473569" cy="1880795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5017A1CD-F3CE-424E-60A5-6B3C74B55DE0}"/>
              </a:ext>
            </a:extLst>
          </p:cNvPr>
          <p:cNvCxnSpPr>
            <a:cxnSpLocks/>
            <a:stCxn id="6" idx="3"/>
            <a:endCxn id="7" idx="3"/>
          </p:cNvCxnSpPr>
          <p:nvPr/>
        </p:nvCxnSpPr>
        <p:spPr>
          <a:xfrm flipH="1" flipV="1">
            <a:off x="5629537" y="2193541"/>
            <a:ext cx="2599913" cy="1988687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3BF531D1-A17B-1772-6747-44722ACA0068}"/>
              </a:ext>
            </a:extLst>
          </p:cNvPr>
          <p:cNvCxnSpPr>
            <a:cxnSpLocks/>
            <a:stCxn id="5" idx="7"/>
            <a:endCxn id="4" idx="7"/>
          </p:cNvCxnSpPr>
          <p:nvPr/>
        </p:nvCxnSpPr>
        <p:spPr>
          <a:xfrm flipH="1" flipV="1">
            <a:off x="3584131" y="3581110"/>
            <a:ext cx="2473569" cy="1880795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952B135A-5990-4668-753C-86879100E391}"/>
              </a:ext>
            </a:extLst>
          </p:cNvPr>
          <p:cNvCxnSpPr>
            <a:cxnSpLocks/>
            <a:stCxn id="6" idx="4"/>
            <a:endCxn id="4" idx="4"/>
          </p:cNvCxnSpPr>
          <p:nvPr/>
        </p:nvCxnSpPr>
        <p:spPr>
          <a:xfrm flipH="1" flipV="1">
            <a:off x="3314131" y="4232070"/>
            <a:ext cx="5185319" cy="61845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9B76C025-D9DB-1E25-FE64-1C3FE659B236}"/>
              </a:ext>
            </a:extLst>
          </p:cNvPr>
          <p:cNvCxnSpPr>
            <a:cxnSpLocks/>
            <a:stCxn id="4" idx="0"/>
            <a:endCxn id="6" idx="0"/>
          </p:cNvCxnSpPr>
          <p:nvPr/>
        </p:nvCxnSpPr>
        <p:spPr>
          <a:xfrm>
            <a:off x="3314131" y="3469423"/>
            <a:ext cx="5185319" cy="61845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A159B1F9-59A6-DBC1-F8EB-CFDB770DB2F4}"/>
              </a:ext>
            </a:extLst>
          </p:cNvPr>
          <p:cNvCxnSpPr>
            <a:cxnSpLocks/>
            <a:stCxn id="7" idx="6"/>
            <a:endCxn id="5" idx="6"/>
          </p:cNvCxnSpPr>
          <p:nvPr/>
        </p:nvCxnSpPr>
        <p:spPr>
          <a:xfrm flipH="1">
            <a:off x="6169537" y="1923905"/>
            <a:ext cx="111837" cy="3807637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FC9A0989-2E77-B23E-7C08-A67E75E44712}"/>
              </a:ext>
            </a:extLst>
          </p:cNvPr>
          <p:cNvCxnSpPr>
            <a:cxnSpLocks/>
            <a:stCxn id="5" idx="2"/>
            <a:endCxn id="7" idx="2"/>
          </p:cNvCxnSpPr>
          <p:nvPr/>
        </p:nvCxnSpPr>
        <p:spPr>
          <a:xfrm flipV="1">
            <a:off x="5405863" y="1923905"/>
            <a:ext cx="111837" cy="3807637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Oval 2">
            <a:extLst>
              <a:ext uri="{FF2B5EF4-FFF2-40B4-BE49-F238E27FC236}">
                <a16:creationId xmlns:a16="http://schemas.microsoft.com/office/drawing/2014/main" id="{519787C9-3787-856D-3F35-2AAB2515BB74}"/>
              </a:ext>
            </a:extLst>
          </p:cNvPr>
          <p:cNvSpPr/>
          <p:nvPr/>
        </p:nvSpPr>
        <p:spPr>
          <a:xfrm>
            <a:off x="4274972" y="-248312"/>
            <a:ext cx="2997621" cy="79026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258195361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2FAB9D9-D7AD-AC6B-1727-AA705CC2D3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C122FD-0F9A-25E9-2B3B-46BC6C8D97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Partial Order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5F398247-AD79-7922-E406-DCEC1A7AC362}"/>
              </a:ext>
            </a:extLst>
          </p:cNvPr>
          <p:cNvSpPr/>
          <p:nvPr/>
        </p:nvSpPr>
        <p:spPr>
          <a:xfrm>
            <a:off x="2932294" y="3469423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1BC069AA-EE77-AB1D-AB6D-AF9D15152C29}"/>
              </a:ext>
            </a:extLst>
          </p:cNvPr>
          <p:cNvSpPr/>
          <p:nvPr/>
        </p:nvSpPr>
        <p:spPr>
          <a:xfrm>
            <a:off x="5405863" y="5350218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36861866-3986-101B-3E58-7963B26182CD}"/>
              </a:ext>
            </a:extLst>
          </p:cNvPr>
          <p:cNvSpPr/>
          <p:nvPr/>
        </p:nvSpPr>
        <p:spPr>
          <a:xfrm>
            <a:off x="8117613" y="3531268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D45410CA-C483-75FC-8F8A-86536D84AEBC}"/>
              </a:ext>
            </a:extLst>
          </p:cNvPr>
          <p:cNvSpPr/>
          <p:nvPr/>
        </p:nvSpPr>
        <p:spPr>
          <a:xfrm>
            <a:off x="5517700" y="1542581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1C20035-6225-7153-1EC5-7530B2E4FFED}"/>
              </a:ext>
            </a:extLst>
          </p:cNvPr>
          <p:cNvCxnSpPr>
            <a:cxnSpLocks/>
            <a:stCxn id="4" idx="5"/>
            <a:endCxn id="7" idx="5"/>
          </p:cNvCxnSpPr>
          <p:nvPr/>
        </p:nvCxnSpPr>
        <p:spPr>
          <a:xfrm flipV="1">
            <a:off x="3584131" y="2193541"/>
            <a:ext cx="2585406" cy="1926842"/>
          </a:xfrm>
          <a:prstGeom prst="straightConnector1">
            <a:avLst/>
          </a:prstGeom>
          <a:ln w="38100">
            <a:solidFill>
              <a:schemeClr val="accent1">
                <a:alpha val="9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3A731BC-65A8-A7A8-4001-98B2609E0E84}"/>
              </a:ext>
            </a:extLst>
          </p:cNvPr>
          <p:cNvCxnSpPr>
            <a:cxnSpLocks/>
            <a:stCxn id="5" idx="5"/>
            <a:endCxn id="6" idx="5"/>
          </p:cNvCxnSpPr>
          <p:nvPr/>
        </p:nvCxnSpPr>
        <p:spPr>
          <a:xfrm flipV="1">
            <a:off x="6057700" y="4182228"/>
            <a:ext cx="2711750" cy="1818950"/>
          </a:xfrm>
          <a:prstGeom prst="straightConnector1">
            <a:avLst/>
          </a:prstGeom>
          <a:ln w="38100">
            <a:solidFill>
              <a:schemeClr val="accent1">
                <a:alpha val="9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A248CAAB-3880-A301-5684-28267127C876}"/>
              </a:ext>
            </a:extLst>
          </p:cNvPr>
          <p:cNvCxnSpPr>
            <a:cxnSpLocks/>
            <a:stCxn id="6" idx="1"/>
            <a:endCxn id="5" idx="1"/>
          </p:cNvCxnSpPr>
          <p:nvPr/>
        </p:nvCxnSpPr>
        <p:spPr>
          <a:xfrm flipH="1">
            <a:off x="5517700" y="3642955"/>
            <a:ext cx="2711750" cy="1818950"/>
          </a:xfrm>
          <a:prstGeom prst="straightConnector1">
            <a:avLst/>
          </a:prstGeom>
          <a:ln w="38100">
            <a:solidFill>
              <a:schemeClr val="accent1">
                <a:alpha val="9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4977E046-C008-F4C8-5BDB-CB1CB31D3ED3}"/>
              </a:ext>
            </a:extLst>
          </p:cNvPr>
          <p:cNvCxnSpPr>
            <a:cxnSpLocks/>
            <a:stCxn id="7" idx="1"/>
            <a:endCxn id="4" idx="1"/>
          </p:cNvCxnSpPr>
          <p:nvPr/>
        </p:nvCxnSpPr>
        <p:spPr>
          <a:xfrm flipH="1">
            <a:off x="3044131" y="1654268"/>
            <a:ext cx="2585406" cy="1926842"/>
          </a:xfrm>
          <a:prstGeom prst="straightConnector1">
            <a:avLst/>
          </a:prstGeom>
          <a:ln w="38100">
            <a:solidFill>
              <a:schemeClr val="accent1">
                <a:alpha val="9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6F0F3C7-A292-981B-8B5D-DAFDD1B41CE5}"/>
              </a:ext>
            </a:extLst>
          </p:cNvPr>
          <p:cNvCxnSpPr>
            <a:cxnSpLocks/>
            <a:stCxn id="7" idx="7"/>
            <a:endCxn id="6" idx="7"/>
          </p:cNvCxnSpPr>
          <p:nvPr/>
        </p:nvCxnSpPr>
        <p:spPr>
          <a:xfrm>
            <a:off x="6169537" y="1654268"/>
            <a:ext cx="2599913" cy="1988687"/>
          </a:xfrm>
          <a:prstGeom prst="straightConnector1">
            <a:avLst/>
          </a:prstGeom>
          <a:ln w="38100">
            <a:solidFill>
              <a:schemeClr val="accent1">
                <a:alpha val="9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E76641CB-DAB4-77D4-A05A-E51ADD0CD9BF}"/>
              </a:ext>
            </a:extLst>
          </p:cNvPr>
          <p:cNvCxnSpPr>
            <a:cxnSpLocks/>
            <a:stCxn id="4" idx="3"/>
            <a:endCxn id="5" idx="3"/>
          </p:cNvCxnSpPr>
          <p:nvPr/>
        </p:nvCxnSpPr>
        <p:spPr>
          <a:xfrm>
            <a:off x="3044131" y="4120383"/>
            <a:ext cx="2473569" cy="1880795"/>
          </a:xfrm>
          <a:prstGeom prst="straightConnector1">
            <a:avLst/>
          </a:prstGeom>
          <a:ln w="38100">
            <a:solidFill>
              <a:schemeClr val="accent1">
                <a:alpha val="9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B94B817D-8740-E357-8B1C-D0341BA9A2EA}"/>
              </a:ext>
            </a:extLst>
          </p:cNvPr>
          <p:cNvCxnSpPr>
            <a:cxnSpLocks/>
            <a:stCxn id="6" idx="3"/>
            <a:endCxn id="7" idx="3"/>
          </p:cNvCxnSpPr>
          <p:nvPr/>
        </p:nvCxnSpPr>
        <p:spPr>
          <a:xfrm flipH="1" flipV="1">
            <a:off x="5629537" y="2193541"/>
            <a:ext cx="2599913" cy="1988687"/>
          </a:xfrm>
          <a:prstGeom prst="straightConnector1">
            <a:avLst/>
          </a:prstGeom>
          <a:ln w="38100">
            <a:solidFill>
              <a:schemeClr val="accent1">
                <a:alpha val="9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02C3B232-0906-CFAC-7FC3-6B65EED4867A}"/>
              </a:ext>
            </a:extLst>
          </p:cNvPr>
          <p:cNvCxnSpPr>
            <a:cxnSpLocks/>
            <a:stCxn id="5" idx="7"/>
            <a:endCxn id="4" idx="7"/>
          </p:cNvCxnSpPr>
          <p:nvPr/>
        </p:nvCxnSpPr>
        <p:spPr>
          <a:xfrm flipH="1" flipV="1">
            <a:off x="3584131" y="3581110"/>
            <a:ext cx="2473569" cy="1880795"/>
          </a:xfrm>
          <a:prstGeom prst="straightConnector1">
            <a:avLst/>
          </a:prstGeom>
          <a:ln w="38100">
            <a:solidFill>
              <a:schemeClr val="accent1">
                <a:alpha val="9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AEDFD808-AA66-A350-F9A6-41C12B5611AA}"/>
              </a:ext>
            </a:extLst>
          </p:cNvPr>
          <p:cNvCxnSpPr>
            <a:cxnSpLocks/>
            <a:stCxn id="6" idx="4"/>
            <a:endCxn id="4" idx="4"/>
          </p:cNvCxnSpPr>
          <p:nvPr/>
        </p:nvCxnSpPr>
        <p:spPr>
          <a:xfrm flipH="1" flipV="1">
            <a:off x="3314131" y="4232070"/>
            <a:ext cx="5185319" cy="61845"/>
          </a:xfrm>
          <a:prstGeom prst="straightConnector1">
            <a:avLst/>
          </a:prstGeom>
          <a:ln w="38100">
            <a:solidFill>
              <a:schemeClr val="accent1">
                <a:alpha val="9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4BFF4F54-F236-E3FD-23F9-935E637A8871}"/>
              </a:ext>
            </a:extLst>
          </p:cNvPr>
          <p:cNvCxnSpPr>
            <a:cxnSpLocks/>
            <a:stCxn id="4" idx="0"/>
            <a:endCxn id="6" idx="0"/>
          </p:cNvCxnSpPr>
          <p:nvPr/>
        </p:nvCxnSpPr>
        <p:spPr>
          <a:xfrm>
            <a:off x="3314131" y="3469423"/>
            <a:ext cx="5185319" cy="61845"/>
          </a:xfrm>
          <a:prstGeom prst="straightConnector1">
            <a:avLst/>
          </a:prstGeom>
          <a:ln w="38100">
            <a:solidFill>
              <a:schemeClr val="accent1">
                <a:alpha val="9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A2F8A8A5-D16B-8ECD-4591-C9B42ADCA088}"/>
              </a:ext>
            </a:extLst>
          </p:cNvPr>
          <p:cNvCxnSpPr>
            <a:cxnSpLocks/>
            <a:stCxn id="7" idx="6"/>
            <a:endCxn id="5" idx="6"/>
          </p:cNvCxnSpPr>
          <p:nvPr/>
        </p:nvCxnSpPr>
        <p:spPr>
          <a:xfrm flipH="1">
            <a:off x="6169537" y="1923905"/>
            <a:ext cx="111837" cy="3807637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A04FBAD9-E2A2-566F-5D3E-010C11C94B45}"/>
              </a:ext>
            </a:extLst>
          </p:cNvPr>
          <p:cNvCxnSpPr>
            <a:cxnSpLocks/>
            <a:stCxn id="5" idx="2"/>
            <a:endCxn id="7" idx="2"/>
          </p:cNvCxnSpPr>
          <p:nvPr/>
        </p:nvCxnSpPr>
        <p:spPr>
          <a:xfrm flipV="1">
            <a:off x="5405863" y="1923905"/>
            <a:ext cx="111837" cy="3807637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89BE55A9-946E-A8AD-41DD-E82E80424CE9}"/>
              </a:ext>
            </a:extLst>
          </p:cNvPr>
          <p:cNvSpPr txBox="1"/>
          <p:nvPr/>
        </p:nvSpPr>
        <p:spPr>
          <a:xfrm>
            <a:off x="6215863" y="3493032"/>
            <a:ext cx="10663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p=0.8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52EA702-53AA-1FAB-2794-9632C73F947E}"/>
              </a:ext>
            </a:extLst>
          </p:cNvPr>
          <p:cNvSpPr txBox="1"/>
          <p:nvPr/>
        </p:nvSpPr>
        <p:spPr>
          <a:xfrm>
            <a:off x="4293219" y="2865196"/>
            <a:ext cx="10663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p=0.2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5C37B194-DF99-9B8D-ECF6-0A671FB1C3E1}"/>
              </a:ext>
            </a:extLst>
          </p:cNvPr>
          <p:cNvSpPr/>
          <p:nvPr/>
        </p:nvSpPr>
        <p:spPr>
          <a:xfrm>
            <a:off x="4274972" y="-248312"/>
            <a:ext cx="2997621" cy="79026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92572817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5" presetClass="exit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checkerboard(across)">
                                      <p:cBhvr>
                                        <p:cTn id="12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5" presetClass="exit" presetSubtype="1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checkerboard(across)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8" grpId="0"/>
      <p:bldP spid="8" grpId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5EA84C5-4773-CA90-5E91-5C1DC608E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00BF0E-2816-34C5-2E71-B01AFC6535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Partial Order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662F4B8D-A098-D4A4-D00D-141FF0CFF538}"/>
              </a:ext>
            </a:extLst>
          </p:cNvPr>
          <p:cNvSpPr/>
          <p:nvPr/>
        </p:nvSpPr>
        <p:spPr>
          <a:xfrm>
            <a:off x="2932294" y="3469423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7E1650D4-C828-11C3-5124-E1B1F71E6286}"/>
              </a:ext>
            </a:extLst>
          </p:cNvPr>
          <p:cNvSpPr/>
          <p:nvPr/>
        </p:nvSpPr>
        <p:spPr>
          <a:xfrm>
            <a:off x="5405863" y="5350218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49FB8A57-78FC-6B82-D967-E7AEAC2EBE4E}"/>
              </a:ext>
            </a:extLst>
          </p:cNvPr>
          <p:cNvSpPr/>
          <p:nvPr/>
        </p:nvSpPr>
        <p:spPr>
          <a:xfrm>
            <a:off x="8117613" y="3531268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634F248-C97A-C553-89CF-1A7885000D8E}"/>
              </a:ext>
            </a:extLst>
          </p:cNvPr>
          <p:cNvSpPr/>
          <p:nvPr/>
        </p:nvSpPr>
        <p:spPr>
          <a:xfrm>
            <a:off x="5517700" y="1542581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6C5C93A-786B-532B-8C64-C22A8692C23D}"/>
              </a:ext>
            </a:extLst>
          </p:cNvPr>
          <p:cNvCxnSpPr>
            <a:cxnSpLocks/>
            <a:stCxn id="4" idx="5"/>
            <a:endCxn id="7" idx="5"/>
          </p:cNvCxnSpPr>
          <p:nvPr/>
        </p:nvCxnSpPr>
        <p:spPr>
          <a:xfrm flipV="1">
            <a:off x="3584131" y="2193541"/>
            <a:ext cx="2585406" cy="1926842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5AA5F27-EE0A-D38F-2F7B-1E3CA5B52984}"/>
              </a:ext>
            </a:extLst>
          </p:cNvPr>
          <p:cNvCxnSpPr>
            <a:cxnSpLocks/>
            <a:stCxn id="5" idx="5"/>
            <a:endCxn id="6" idx="5"/>
          </p:cNvCxnSpPr>
          <p:nvPr/>
        </p:nvCxnSpPr>
        <p:spPr>
          <a:xfrm flipV="1">
            <a:off x="6057700" y="4182228"/>
            <a:ext cx="2711750" cy="1818950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33A4665-6C42-76E0-3852-C52534A8355A}"/>
              </a:ext>
            </a:extLst>
          </p:cNvPr>
          <p:cNvCxnSpPr>
            <a:cxnSpLocks/>
            <a:stCxn id="7" idx="7"/>
            <a:endCxn id="6" idx="7"/>
          </p:cNvCxnSpPr>
          <p:nvPr/>
        </p:nvCxnSpPr>
        <p:spPr>
          <a:xfrm>
            <a:off x="6169537" y="1654268"/>
            <a:ext cx="2599913" cy="1988687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B03D666F-F5F3-E355-A640-02D695708963}"/>
              </a:ext>
            </a:extLst>
          </p:cNvPr>
          <p:cNvCxnSpPr>
            <a:cxnSpLocks/>
            <a:stCxn id="4" idx="3"/>
            <a:endCxn id="5" idx="3"/>
          </p:cNvCxnSpPr>
          <p:nvPr/>
        </p:nvCxnSpPr>
        <p:spPr>
          <a:xfrm>
            <a:off x="3044131" y="4120383"/>
            <a:ext cx="2473569" cy="1880795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F32EA109-0426-72E5-44F0-0AB5738CB7F0}"/>
              </a:ext>
            </a:extLst>
          </p:cNvPr>
          <p:cNvCxnSpPr>
            <a:cxnSpLocks/>
            <a:stCxn id="4" idx="0"/>
            <a:endCxn id="6" idx="0"/>
          </p:cNvCxnSpPr>
          <p:nvPr/>
        </p:nvCxnSpPr>
        <p:spPr>
          <a:xfrm>
            <a:off x="3314131" y="3469423"/>
            <a:ext cx="5185319" cy="61845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F4B671ED-B6B5-0D41-D552-BDE613EB001B}"/>
              </a:ext>
            </a:extLst>
          </p:cNvPr>
          <p:cNvCxnSpPr>
            <a:cxnSpLocks/>
            <a:stCxn id="7" idx="6"/>
            <a:endCxn id="5" idx="6"/>
          </p:cNvCxnSpPr>
          <p:nvPr/>
        </p:nvCxnSpPr>
        <p:spPr>
          <a:xfrm flipH="1">
            <a:off x="6169537" y="1923905"/>
            <a:ext cx="111837" cy="3807637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7BF9ECC9-D651-F5CC-B184-0CAEAF918078}"/>
              </a:ext>
            </a:extLst>
          </p:cNvPr>
          <p:cNvSpPr txBox="1"/>
          <p:nvPr/>
        </p:nvSpPr>
        <p:spPr>
          <a:xfrm>
            <a:off x="6891558" y="301340"/>
            <a:ext cx="5429501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With </a:t>
            </a: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Guassian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distributions, there will be no cycles in the resultant graph.</a:t>
            </a:r>
            <a:b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b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4EA72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Topo. Ordering of this graph is our ordering of interest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E58B240-6CC7-1EAC-6403-9CBD3902B39E}"/>
              </a:ext>
            </a:extLst>
          </p:cNvPr>
          <p:cNvSpPr txBox="1"/>
          <p:nvPr/>
        </p:nvSpPr>
        <p:spPr>
          <a:xfrm>
            <a:off x="91199" y="5060780"/>
            <a:ext cx="54295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But which topological ordering?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4EA72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FE9172A-4F32-D06F-E51E-DF840B26CAFE}"/>
              </a:ext>
            </a:extLst>
          </p:cNvPr>
          <p:cNvSpPr txBox="1"/>
          <p:nvPr/>
        </p:nvSpPr>
        <p:spPr>
          <a:xfrm>
            <a:off x="88199" y="5492589"/>
            <a:ext cx="54295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Usually, multiple orderings are </a:t>
            </a:r>
            <a:b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possible.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4EA72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408C0E1-FFD1-D3FE-ED1E-88322A563474}"/>
              </a:ext>
            </a:extLst>
          </p:cNvPr>
          <p:cNvSpPr txBox="1"/>
          <p:nvPr/>
        </p:nvSpPr>
        <p:spPr>
          <a:xfrm>
            <a:off x="7469493" y="5060780"/>
            <a:ext cx="54295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But not in our case.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4EA72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90E5565-E75F-98D0-0419-EB0C65FF11B6}"/>
              </a:ext>
            </a:extLst>
          </p:cNvPr>
          <p:cNvSpPr txBox="1"/>
          <p:nvPr/>
        </p:nvSpPr>
        <p:spPr>
          <a:xfrm>
            <a:off x="7469492" y="5458313"/>
            <a:ext cx="54295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Our resultant graph is a transitive tournament.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4EA72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D252787D-FD60-45FE-59E4-A1AC460B655F}"/>
              </a:ext>
            </a:extLst>
          </p:cNvPr>
          <p:cNvSpPr/>
          <p:nvPr/>
        </p:nvSpPr>
        <p:spPr>
          <a:xfrm>
            <a:off x="4274972" y="-248312"/>
            <a:ext cx="2997621" cy="79026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426881546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2" grpId="0"/>
      <p:bldP spid="14" grpId="0"/>
      <p:bldP spid="1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EACC065-27BD-1AD0-487F-E7583C0BBC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9EACE8-FD69-DD5C-74EE-422013E8B1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Partial Order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FA388162-A9E7-878F-76D7-A34477025185}"/>
              </a:ext>
            </a:extLst>
          </p:cNvPr>
          <p:cNvSpPr/>
          <p:nvPr/>
        </p:nvSpPr>
        <p:spPr>
          <a:xfrm>
            <a:off x="2112897" y="2648611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2EE854E1-072C-2508-C531-A8558F528C90}"/>
              </a:ext>
            </a:extLst>
          </p:cNvPr>
          <p:cNvSpPr/>
          <p:nvPr/>
        </p:nvSpPr>
        <p:spPr>
          <a:xfrm>
            <a:off x="6165433" y="2645917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F15EADCA-E26F-8D47-E1B5-E5DCAD607758}"/>
              </a:ext>
            </a:extLst>
          </p:cNvPr>
          <p:cNvSpPr/>
          <p:nvPr/>
        </p:nvSpPr>
        <p:spPr>
          <a:xfrm>
            <a:off x="8113958" y="2645917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E788875-916E-D928-50E5-E1C6D4DC53B6}"/>
              </a:ext>
            </a:extLst>
          </p:cNvPr>
          <p:cNvSpPr/>
          <p:nvPr/>
        </p:nvSpPr>
        <p:spPr>
          <a:xfrm>
            <a:off x="3835071" y="2633256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C8F48F66-B90B-2690-B1B4-84E9D882F53C}"/>
              </a:ext>
            </a:extLst>
          </p:cNvPr>
          <p:cNvCxnSpPr>
            <a:cxnSpLocks/>
            <a:stCxn id="4" idx="5"/>
            <a:endCxn id="7" idx="5"/>
          </p:cNvCxnSpPr>
          <p:nvPr/>
        </p:nvCxnSpPr>
        <p:spPr>
          <a:xfrm flipV="1">
            <a:off x="2764734" y="3284216"/>
            <a:ext cx="1722174" cy="15355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5EA24C9-8EBA-32D2-FA65-499F49D94EB1}"/>
              </a:ext>
            </a:extLst>
          </p:cNvPr>
          <p:cNvCxnSpPr>
            <a:cxnSpLocks/>
            <a:stCxn id="5" idx="5"/>
            <a:endCxn id="6" idx="5"/>
          </p:cNvCxnSpPr>
          <p:nvPr/>
        </p:nvCxnSpPr>
        <p:spPr>
          <a:xfrm>
            <a:off x="6817270" y="3296877"/>
            <a:ext cx="1948525" cy="0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4B2047E7-8D21-D929-946B-CAD3EA756E32}"/>
              </a:ext>
            </a:extLst>
          </p:cNvPr>
          <p:cNvCxnSpPr>
            <a:cxnSpLocks/>
            <a:stCxn id="7" idx="7"/>
            <a:endCxn id="6" idx="7"/>
          </p:cNvCxnSpPr>
          <p:nvPr/>
        </p:nvCxnSpPr>
        <p:spPr>
          <a:xfrm>
            <a:off x="4486908" y="2744943"/>
            <a:ext cx="4278887" cy="12661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53CDD9E3-96BA-AE03-E42E-59B8A749AC2B}"/>
              </a:ext>
            </a:extLst>
          </p:cNvPr>
          <p:cNvCxnSpPr>
            <a:cxnSpLocks/>
            <a:stCxn id="4" idx="3"/>
            <a:endCxn id="5" idx="3"/>
          </p:cNvCxnSpPr>
          <p:nvPr/>
        </p:nvCxnSpPr>
        <p:spPr>
          <a:xfrm flipV="1">
            <a:off x="2224734" y="3296877"/>
            <a:ext cx="4052536" cy="2694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4B85FBFD-0776-D864-F74B-8450481DEECD}"/>
              </a:ext>
            </a:extLst>
          </p:cNvPr>
          <p:cNvCxnSpPr>
            <a:cxnSpLocks/>
            <a:stCxn id="4" idx="0"/>
            <a:endCxn id="6" idx="0"/>
          </p:cNvCxnSpPr>
          <p:nvPr/>
        </p:nvCxnSpPr>
        <p:spPr>
          <a:xfrm flipV="1">
            <a:off x="2494734" y="2645917"/>
            <a:ext cx="6001061" cy="2694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3DEC324F-7F6F-BE75-D2E8-37EE14E4DD9D}"/>
              </a:ext>
            </a:extLst>
          </p:cNvPr>
          <p:cNvCxnSpPr>
            <a:cxnSpLocks/>
            <a:stCxn id="7" idx="6"/>
            <a:endCxn id="5" idx="6"/>
          </p:cNvCxnSpPr>
          <p:nvPr/>
        </p:nvCxnSpPr>
        <p:spPr>
          <a:xfrm>
            <a:off x="4598745" y="3014580"/>
            <a:ext cx="2330362" cy="12661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1D28BF55-AA70-16FF-CE12-C0E3CB97855F}"/>
              </a:ext>
            </a:extLst>
          </p:cNvPr>
          <p:cNvSpPr txBox="1"/>
          <p:nvPr/>
        </p:nvSpPr>
        <p:spPr>
          <a:xfrm>
            <a:off x="2962692" y="3945144"/>
            <a:ext cx="542950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4EA72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A transitive tournament has a unique Hamiltonian Path.</a:t>
            </a:r>
            <a:r>
              <a:rPr kumimoji="0" lang="en-US" sz="2800" b="0" i="0" u="none" strike="noStrike" kern="1200" cap="none" spc="0" normalizeH="0" baseline="30000" noProof="0" dirty="0">
                <a:ln>
                  <a:noFill/>
                </a:ln>
                <a:solidFill>
                  <a:srgbClr val="4EA72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[2]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5699BA1-A75E-97BB-F976-1271956C1420}"/>
              </a:ext>
            </a:extLst>
          </p:cNvPr>
          <p:cNvSpPr txBox="1"/>
          <p:nvPr/>
        </p:nvSpPr>
        <p:spPr>
          <a:xfrm>
            <a:off x="9122070" y="6598364"/>
            <a:ext cx="316144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hlinkClick r:id="" action="ppaction://noaction"/>
              </a:rPr>
              <a:t>[2] About the number of directed paths in tournaments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78B57147-1BD1-A112-6701-90E29508CD30}"/>
              </a:ext>
            </a:extLst>
          </p:cNvPr>
          <p:cNvSpPr/>
          <p:nvPr/>
        </p:nvSpPr>
        <p:spPr>
          <a:xfrm>
            <a:off x="4274972" y="-248312"/>
            <a:ext cx="2997621" cy="79026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68948932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A7FE824-AA6E-A945-BFDA-D9AFD84127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24B173-3DFE-A734-2657-07FB89DFFF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Partial Order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BA7DD9C2-0CF3-6B3F-4614-D4C05F8E7323}"/>
              </a:ext>
            </a:extLst>
          </p:cNvPr>
          <p:cNvSpPr/>
          <p:nvPr/>
        </p:nvSpPr>
        <p:spPr>
          <a:xfrm>
            <a:off x="6404711" y="1309363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4FBF75F5-CCF8-3DEA-E1BE-4C882E1F406D}"/>
              </a:ext>
            </a:extLst>
          </p:cNvPr>
          <p:cNvSpPr/>
          <p:nvPr/>
        </p:nvSpPr>
        <p:spPr>
          <a:xfrm>
            <a:off x="9498747" y="1309365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81FB54E7-710B-205D-67B3-B4F97652D284}"/>
              </a:ext>
            </a:extLst>
          </p:cNvPr>
          <p:cNvSpPr/>
          <p:nvPr/>
        </p:nvSpPr>
        <p:spPr>
          <a:xfrm>
            <a:off x="11065435" y="1309364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EEF68D9-E97D-BE93-D319-71EFD7F16EF9}"/>
              </a:ext>
            </a:extLst>
          </p:cNvPr>
          <p:cNvSpPr/>
          <p:nvPr/>
        </p:nvSpPr>
        <p:spPr>
          <a:xfrm>
            <a:off x="7932059" y="1309365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5AB170B-A307-199B-E0FB-40606E97CB10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10262421" y="1690688"/>
            <a:ext cx="803014" cy="1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948ADF10-A760-0E40-0188-C8591223C521}"/>
              </a:ext>
            </a:extLst>
          </p:cNvPr>
          <p:cNvCxnSpPr>
            <a:cxnSpLocks/>
            <a:stCxn id="4" idx="6"/>
            <a:endCxn id="7" idx="2"/>
          </p:cNvCxnSpPr>
          <p:nvPr/>
        </p:nvCxnSpPr>
        <p:spPr>
          <a:xfrm>
            <a:off x="7168385" y="1690687"/>
            <a:ext cx="763674" cy="2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05F29483-6694-B9C7-E7D9-C0E327DF6AE8}"/>
              </a:ext>
            </a:extLst>
          </p:cNvPr>
          <p:cNvCxnSpPr>
            <a:cxnSpLocks/>
            <a:stCxn id="7" idx="6"/>
            <a:endCxn id="5" idx="2"/>
          </p:cNvCxnSpPr>
          <p:nvPr/>
        </p:nvCxnSpPr>
        <p:spPr>
          <a:xfrm>
            <a:off x="8695733" y="1690689"/>
            <a:ext cx="803014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27D81E33-2B87-6BAA-A3F2-84D22D125B61}"/>
              </a:ext>
            </a:extLst>
          </p:cNvPr>
          <p:cNvSpPr txBox="1"/>
          <p:nvPr/>
        </p:nvSpPr>
        <p:spPr>
          <a:xfrm>
            <a:off x="838200" y="2342538"/>
            <a:ext cx="761208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But what about intransitivity?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103D682-7C9E-BD14-3BFE-5000C3643724}"/>
              </a:ext>
            </a:extLst>
          </p:cNvPr>
          <p:cNvSpPr txBox="1"/>
          <p:nvPr/>
        </p:nvSpPr>
        <p:spPr>
          <a:xfrm>
            <a:off x="838199" y="3294248"/>
            <a:ext cx="895894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Ordering probabilities may not be transitive, depending on the clock offset distributions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B6E4BD8-3592-122B-B45A-29F4D47B8C31}"/>
              </a:ext>
            </a:extLst>
          </p:cNvPr>
          <p:cNvSpPr txBox="1"/>
          <p:nvPr/>
        </p:nvSpPr>
        <p:spPr>
          <a:xfrm>
            <a:off x="838200" y="4674843"/>
            <a:ext cx="895894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Such intransitivity could lead to cycles in our resultant graph.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8A69A073-B50F-C73A-318E-6A897F6F46B3}"/>
              </a:ext>
            </a:extLst>
          </p:cNvPr>
          <p:cNvSpPr/>
          <p:nvPr/>
        </p:nvSpPr>
        <p:spPr>
          <a:xfrm>
            <a:off x="4274972" y="-248312"/>
            <a:ext cx="2997621" cy="79026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4619987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19" grpId="0"/>
      <p:bldP spid="20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EA88879-52D7-697E-01A4-305B5968D1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58F7D1-A672-40A8-EB73-68B3993B79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Partial Order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0BABE0E8-C9E0-7ECA-F8E4-2EFF058DA81A}"/>
              </a:ext>
            </a:extLst>
          </p:cNvPr>
          <p:cNvSpPr/>
          <p:nvPr/>
        </p:nvSpPr>
        <p:spPr>
          <a:xfrm>
            <a:off x="2925241" y="3185664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DC1E60FA-01D9-A983-0B67-CDC337765100}"/>
              </a:ext>
            </a:extLst>
          </p:cNvPr>
          <p:cNvSpPr/>
          <p:nvPr/>
        </p:nvSpPr>
        <p:spPr>
          <a:xfrm>
            <a:off x="6019277" y="3185666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D25A1771-1051-08E3-52F8-805FD45A3A45}"/>
              </a:ext>
            </a:extLst>
          </p:cNvPr>
          <p:cNvSpPr/>
          <p:nvPr/>
        </p:nvSpPr>
        <p:spPr>
          <a:xfrm>
            <a:off x="7585965" y="3185665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9C45327-641D-4332-B677-AAD66B778177}"/>
              </a:ext>
            </a:extLst>
          </p:cNvPr>
          <p:cNvSpPr/>
          <p:nvPr/>
        </p:nvSpPr>
        <p:spPr>
          <a:xfrm>
            <a:off x="4452589" y="3185666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BDEACA2-D36C-8CFA-12EE-8B126F08B7CB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6782951" y="3566989"/>
            <a:ext cx="803014" cy="1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1C16424D-11E6-E78D-2AFA-2CA42B643A6F}"/>
              </a:ext>
            </a:extLst>
          </p:cNvPr>
          <p:cNvCxnSpPr>
            <a:cxnSpLocks/>
            <a:stCxn id="4" idx="6"/>
            <a:endCxn id="7" idx="2"/>
          </p:cNvCxnSpPr>
          <p:nvPr/>
        </p:nvCxnSpPr>
        <p:spPr>
          <a:xfrm>
            <a:off x="3688915" y="3566988"/>
            <a:ext cx="763674" cy="2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75061540-7EA1-03B9-9E3B-E5EC82B8C40D}"/>
              </a:ext>
            </a:extLst>
          </p:cNvPr>
          <p:cNvCxnSpPr>
            <a:cxnSpLocks/>
            <a:stCxn id="7" idx="6"/>
            <a:endCxn id="5" idx="2"/>
          </p:cNvCxnSpPr>
          <p:nvPr/>
        </p:nvCxnSpPr>
        <p:spPr>
          <a:xfrm>
            <a:off x="5216263" y="3566990"/>
            <a:ext cx="803014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urved Connector 8">
            <a:extLst>
              <a:ext uri="{FF2B5EF4-FFF2-40B4-BE49-F238E27FC236}">
                <a16:creationId xmlns:a16="http://schemas.microsoft.com/office/drawing/2014/main" id="{DD891C12-267E-7E93-26D0-83D2FB536C0E}"/>
              </a:ext>
            </a:extLst>
          </p:cNvPr>
          <p:cNvCxnSpPr>
            <a:cxnSpLocks/>
            <a:stCxn id="5" idx="4"/>
            <a:endCxn id="4" idx="4"/>
          </p:cNvCxnSpPr>
          <p:nvPr/>
        </p:nvCxnSpPr>
        <p:spPr>
          <a:xfrm rot="5400000" flipH="1">
            <a:off x="4854095" y="2401294"/>
            <a:ext cx="2" cy="3094036"/>
          </a:xfrm>
          <a:prstGeom prst="curvedConnector3">
            <a:avLst>
              <a:gd name="adj1" fmla="val -11430000000"/>
            </a:avLst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6A17B49E-A2C6-C8C9-8451-4472CD986B86}"/>
              </a:ext>
            </a:extLst>
          </p:cNvPr>
          <p:cNvSpPr txBox="1"/>
          <p:nvPr/>
        </p:nvSpPr>
        <p:spPr>
          <a:xfrm>
            <a:off x="2704986" y="4520464"/>
            <a:ext cx="895894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No Topological Ordering Possible.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B41B126E-3239-49FB-C47B-9D3C2820ACFA}"/>
              </a:ext>
            </a:extLst>
          </p:cNvPr>
          <p:cNvSpPr/>
          <p:nvPr/>
        </p:nvSpPr>
        <p:spPr>
          <a:xfrm>
            <a:off x="4274972" y="-248312"/>
            <a:ext cx="2997621" cy="79026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15832466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9B8AAD0-B869-3ADD-3F34-59C18309F1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1B41EC-BE26-DE70-A688-EC2543596B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Partial Order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5C0044E0-CEBA-167A-EF04-985D759298BB}"/>
              </a:ext>
            </a:extLst>
          </p:cNvPr>
          <p:cNvSpPr/>
          <p:nvPr/>
        </p:nvSpPr>
        <p:spPr>
          <a:xfrm>
            <a:off x="6226582" y="1309363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BB4AF84D-C80A-C8EA-2213-9A1923178FA4}"/>
              </a:ext>
            </a:extLst>
          </p:cNvPr>
          <p:cNvSpPr/>
          <p:nvPr/>
        </p:nvSpPr>
        <p:spPr>
          <a:xfrm>
            <a:off x="9320618" y="1309365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48299E1-7840-58D5-4CFB-AA48F488FAF2}"/>
              </a:ext>
            </a:extLst>
          </p:cNvPr>
          <p:cNvSpPr/>
          <p:nvPr/>
        </p:nvSpPr>
        <p:spPr>
          <a:xfrm>
            <a:off x="10887306" y="1309364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D5D04CC-75A6-7FF8-2D37-FBE958FAD34C}"/>
              </a:ext>
            </a:extLst>
          </p:cNvPr>
          <p:cNvSpPr/>
          <p:nvPr/>
        </p:nvSpPr>
        <p:spPr>
          <a:xfrm>
            <a:off x="7753930" y="1309365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212527F-6C40-94A2-32A9-79515410616F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10084292" y="1690688"/>
            <a:ext cx="803014" cy="1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748DED78-11E0-7AAC-7F79-A2726DD1AD16}"/>
              </a:ext>
            </a:extLst>
          </p:cNvPr>
          <p:cNvCxnSpPr>
            <a:cxnSpLocks/>
            <a:stCxn id="4" idx="6"/>
            <a:endCxn id="7" idx="2"/>
          </p:cNvCxnSpPr>
          <p:nvPr/>
        </p:nvCxnSpPr>
        <p:spPr>
          <a:xfrm>
            <a:off x="6990256" y="1690687"/>
            <a:ext cx="763674" cy="2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13B37309-B728-EA42-D73C-1F47AE6740C3}"/>
              </a:ext>
            </a:extLst>
          </p:cNvPr>
          <p:cNvCxnSpPr>
            <a:cxnSpLocks/>
            <a:stCxn id="7" idx="6"/>
            <a:endCxn id="5" idx="2"/>
          </p:cNvCxnSpPr>
          <p:nvPr/>
        </p:nvCxnSpPr>
        <p:spPr>
          <a:xfrm>
            <a:off x="8517604" y="1690689"/>
            <a:ext cx="803014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urved Connector 8">
            <a:extLst>
              <a:ext uri="{FF2B5EF4-FFF2-40B4-BE49-F238E27FC236}">
                <a16:creationId xmlns:a16="http://schemas.microsoft.com/office/drawing/2014/main" id="{C2789429-D8FF-1B5D-3544-82E7A24D6BE0}"/>
              </a:ext>
            </a:extLst>
          </p:cNvPr>
          <p:cNvCxnSpPr>
            <a:cxnSpLocks/>
            <a:stCxn id="5" idx="4"/>
            <a:endCxn id="4" idx="4"/>
          </p:cNvCxnSpPr>
          <p:nvPr/>
        </p:nvCxnSpPr>
        <p:spPr>
          <a:xfrm rot="5400000" flipH="1">
            <a:off x="8155436" y="524993"/>
            <a:ext cx="2" cy="3094036"/>
          </a:xfrm>
          <a:prstGeom prst="curvedConnector3">
            <a:avLst>
              <a:gd name="adj1" fmla="val -11430000000"/>
            </a:avLst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231C651B-4001-8238-AAC6-54D127CC76D4}"/>
              </a:ext>
            </a:extLst>
          </p:cNvPr>
          <p:cNvSpPr txBox="1"/>
          <p:nvPr/>
        </p:nvSpPr>
        <p:spPr>
          <a:xfrm>
            <a:off x="743512" y="2844225"/>
            <a:ext cx="895894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One direction could be to remove enough edges to make the graph acyclic.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A880C4F-1055-320B-F443-D9ADA50B1E02}"/>
              </a:ext>
            </a:extLst>
          </p:cNvPr>
          <p:cNvSpPr txBox="1"/>
          <p:nvPr/>
        </p:nvSpPr>
        <p:spPr>
          <a:xfrm>
            <a:off x="743511" y="3997762"/>
            <a:ext cx="895894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Clearly unfair towards some clients/messages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3B5DB43-8777-BF94-D683-C86523702270}"/>
              </a:ext>
            </a:extLst>
          </p:cNvPr>
          <p:cNvSpPr txBox="1"/>
          <p:nvPr/>
        </p:nvSpPr>
        <p:spPr>
          <a:xfrm>
            <a:off x="743510" y="4658856"/>
            <a:ext cx="895894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Every time we process a set of messages, remove edges in a way that fairness is achieved over sufficiently long time 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itchFamily="2" charset="2"/>
              </a:rPr>
              <a:t> Stochastic Fairness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1672CA94-6E29-4F08-30D1-F8A9050BE8E1}"/>
              </a:ext>
            </a:extLst>
          </p:cNvPr>
          <p:cNvSpPr/>
          <p:nvPr/>
        </p:nvSpPr>
        <p:spPr>
          <a:xfrm>
            <a:off x="4274972" y="-248312"/>
            <a:ext cx="2997621" cy="79026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7196780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1" grpId="0"/>
      <p:bldP spid="12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F30CA7-EDD0-2BD7-6A9B-7B1916E198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9D30F9-A654-7EEF-6B83-4978AB3861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Partial Order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4C3EB426-F6F5-AB19-EC28-11D793499DAE}"/>
              </a:ext>
            </a:extLst>
          </p:cNvPr>
          <p:cNvSpPr/>
          <p:nvPr/>
        </p:nvSpPr>
        <p:spPr>
          <a:xfrm>
            <a:off x="6226582" y="1309363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919FD2E6-097B-A751-1866-682A3C1A4342}"/>
              </a:ext>
            </a:extLst>
          </p:cNvPr>
          <p:cNvSpPr/>
          <p:nvPr/>
        </p:nvSpPr>
        <p:spPr>
          <a:xfrm>
            <a:off x="9320618" y="1309365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A1513F78-D4D6-B4D2-B890-91728426EF64}"/>
              </a:ext>
            </a:extLst>
          </p:cNvPr>
          <p:cNvSpPr/>
          <p:nvPr/>
        </p:nvSpPr>
        <p:spPr>
          <a:xfrm>
            <a:off x="10887306" y="1309364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DFFE08BC-BBDC-7743-E762-BB31359E9600}"/>
              </a:ext>
            </a:extLst>
          </p:cNvPr>
          <p:cNvSpPr/>
          <p:nvPr/>
        </p:nvSpPr>
        <p:spPr>
          <a:xfrm>
            <a:off x="7753930" y="1309365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3B06C19-CA4F-5442-EC1F-73FCC3CC7B99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10084292" y="1690688"/>
            <a:ext cx="803014" cy="1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37755E0A-B445-0963-DF11-C9E3EF70A78A}"/>
              </a:ext>
            </a:extLst>
          </p:cNvPr>
          <p:cNvCxnSpPr>
            <a:cxnSpLocks/>
            <a:stCxn id="4" idx="6"/>
            <a:endCxn id="7" idx="2"/>
          </p:cNvCxnSpPr>
          <p:nvPr/>
        </p:nvCxnSpPr>
        <p:spPr>
          <a:xfrm>
            <a:off x="6990256" y="1690687"/>
            <a:ext cx="763674" cy="2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93C2C692-7F67-A97C-81E1-FFBBA5ADDFC0}"/>
              </a:ext>
            </a:extLst>
          </p:cNvPr>
          <p:cNvCxnSpPr>
            <a:cxnSpLocks/>
            <a:stCxn id="7" idx="6"/>
            <a:endCxn id="5" idx="2"/>
          </p:cNvCxnSpPr>
          <p:nvPr/>
        </p:nvCxnSpPr>
        <p:spPr>
          <a:xfrm>
            <a:off x="8517604" y="1690689"/>
            <a:ext cx="803014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urved Connector 8">
            <a:extLst>
              <a:ext uri="{FF2B5EF4-FFF2-40B4-BE49-F238E27FC236}">
                <a16:creationId xmlns:a16="http://schemas.microsoft.com/office/drawing/2014/main" id="{7A5F059D-D05A-EBBF-8781-2054B3A85892}"/>
              </a:ext>
            </a:extLst>
          </p:cNvPr>
          <p:cNvCxnSpPr>
            <a:cxnSpLocks/>
            <a:stCxn id="5" idx="4"/>
            <a:endCxn id="4" idx="4"/>
          </p:cNvCxnSpPr>
          <p:nvPr/>
        </p:nvCxnSpPr>
        <p:spPr>
          <a:xfrm rot="5400000" flipH="1">
            <a:off x="8155436" y="524993"/>
            <a:ext cx="2" cy="3094036"/>
          </a:xfrm>
          <a:prstGeom prst="curvedConnector3">
            <a:avLst>
              <a:gd name="adj1" fmla="val -11430000000"/>
            </a:avLst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42E2307F-C766-54D9-F982-A2549388B6C5}"/>
              </a:ext>
            </a:extLst>
          </p:cNvPr>
          <p:cNvSpPr txBox="1"/>
          <p:nvPr/>
        </p:nvSpPr>
        <p:spPr>
          <a:xfrm>
            <a:off x="743512" y="2844225"/>
            <a:ext cx="895894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8E8E8">
                    <a:lumMod val="9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One direction could be to remove enough edges to make the graph acyclic.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B4E022B-6112-5F7F-400A-098C3E54F978}"/>
              </a:ext>
            </a:extLst>
          </p:cNvPr>
          <p:cNvSpPr txBox="1"/>
          <p:nvPr/>
        </p:nvSpPr>
        <p:spPr>
          <a:xfrm>
            <a:off x="743511" y="3997762"/>
            <a:ext cx="895894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8E8E8">
                    <a:lumMod val="9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Clearly unfair towards some clients/messages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F7C6085-3972-8247-87D0-CE09E52F7606}"/>
              </a:ext>
            </a:extLst>
          </p:cNvPr>
          <p:cNvSpPr txBox="1"/>
          <p:nvPr/>
        </p:nvSpPr>
        <p:spPr>
          <a:xfrm>
            <a:off x="743510" y="4658856"/>
            <a:ext cx="895894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8E8E8">
                    <a:lumMod val="9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Every time we process a set of messages, remove edges in a way that fairness is achieved over sufficiently long time 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8E8E8">
                    <a:lumMod val="9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itchFamily="2" charset="2"/>
              </a:rPr>
              <a:t> Stochastic Fairness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srgbClr val="E8E8E8">
                  <a:lumMod val="90000"/>
                </a:srgbClr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DE900E1A-AC03-E507-C737-831BF573B681}"/>
              </a:ext>
            </a:extLst>
          </p:cNvPr>
          <p:cNvSpPr/>
          <p:nvPr/>
        </p:nvSpPr>
        <p:spPr>
          <a:xfrm>
            <a:off x="1116281" y="3382834"/>
            <a:ext cx="7978706" cy="2058732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Finding smallest set of edges whose removal makes a graph acyclic is an NP-hard problem in itself.</a:t>
            </a:r>
            <a:b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(Minimum Feedback Arc Set)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D05F04FF-AD8A-F415-5F79-F17F8DE710C8}"/>
              </a:ext>
            </a:extLst>
          </p:cNvPr>
          <p:cNvSpPr/>
          <p:nvPr/>
        </p:nvSpPr>
        <p:spPr>
          <a:xfrm>
            <a:off x="4274972" y="-248312"/>
            <a:ext cx="2997621" cy="79026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032042514"/>
      </p:ext>
    </p:extLst>
  </p:cSld>
  <p:clrMapOvr>
    <a:masterClrMapping/>
  </p:clrMapOvr>
  <p:transition spd="slow">
    <p:wip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44FEAA4-0ABB-6CDE-E02B-EBBEB23615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1F7723-F78D-31CF-CBBC-37248799D1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Partial Order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4EA76-9806-7F4D-545F-51C55DC600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r>
              <a:rPr lang="en-US" dirty="0"/>
              <a:t>Intransitivity hurts, more research work needed.</a:t>
            </a:r>
          </a:p>
          <a:p>
            <a:r>
              <a:rPr lang="en-US" dirty="0"/>
              <a:t>With transitivity (via Gaussian distributions), we get a unique linear order.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0590CF-563B-22B7-6FD6-8B8BF646F4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699763652"/>
      </p:ext>
    </p:extLst>
  </p:cSld>
  <p:clrMapOvr>
    <a:masterClrMapping/>
  </p:clrMapOvr>
  <p:transition spd="slow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7B2FF64-CC92-3895-5D76-8845AEA1A5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19B3AFE-C3B9-F702-09DC-03FB4C988B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/>
              <a:t>Partial Order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3F0162-F834-560C-8B72-A512EB3857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r>
              <a:rPr lang="en-US" sz="2200" dirty="0"/>
              <a:t>Once we have a linear ordering, this is not our final ordering yet</a:t>
            </a:r>
          </a:p>
          <a:p>
            <a:r>
              <a:rPr lang="en-US" sz="2200" dirty="0"/>
              <a:t>Some adjacent elements have ordering probability just more than 0.5, some may have closer to 1. So not a good confidence.</a:t>
            </a:r>
          </a:p>
          <a:p>
            <a:r>
              <a:rPr lang="en-US" sz="2200" dirty="0"/>
              <a:t>Make batches of adjacent elements so that all the elements of one batch don’t have good enough probability that they can be ordered confidently</a:t>
            </a:r>
          </a:p>
          <a:p>
            <a:r>
              <a:rPr lang="en-US" sz="2200" dirty="0"/>
              <a:t>Successive batches can be ordered confidently</a:t>
            </a:r>
          </a:p>
          <a:p>
            <a:r>
              <a:rPr lang="en-US" sz="2200" dirty="0"/>
              <a:t>what we now get is a fair partial order.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6BF313-A709-7587-2C64-A8CA97D37A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1200211238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F0DCC097-1DB8-4B6D-85D0-6FBA0E1CA4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E0B58608-23C8-4441-994D-C6823EEE1D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2C99FF-0575-C686-0441-8A7C7943A1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544D88D-E86D-C58C-ECF5-0910F13DCE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5294" y="2354239"/>
            <a:ext cx="7121411" cy="39480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7829382"/>
      </p:ext>
    </p:extLst>
  </p:cSld>
  <p:clrMapOvr>
    <a:masterClrMapping/>
  </p:clrMapOvr>
  <p:transition spd="slow">
    <p:strips dir="ru"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3136A5-62FA-0555-2A39-94CE565F4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steps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3550EA-4A59-8F02-7B96-66FCEBB561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Online sequencing</a:t>
            </a:r>
          </a:p>
          <a:p>
            <a:pPr lvl="1"/>
            <a:r>
              <a:rPr lang="en-US" dirty="0"/>
              <a:t>Safe message emission from the sequencer</a:t>
            </a:r>
          </a:p>
          <a:p>
            <a:r>
              <a:rPr lang="en-US" dirty="0"/>
              <a:t>Extension to </a:t>
            </a:r>
            <a:r>
              <a:rPr lang="en-US" i="1" dirty="0"/>
              <a:t>stochastically-fair</a:t>
            </a:r>
            <a:r>
              <a:rPr lang="en-US" dirty="0"/>
              <a:t> total order</a:t>
            </a:r>
          </a:p>
          <a:p>
            <a:r>
              <a:rPr lang="en-US" dirty="0"/>
              <a:t>Byzantine clients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AE16A4C-553E-77FA-5B98-560D8D629664}"/>
              </a:ext>
            </a:extLst>
          </p:cNvPr>
          <p:cNvSpPr/>
          <p:nvPr/>
        </p:nvSpPr>
        <p:spPr>
          <a:xfrm>
            <a:off x="1890351" y="5253634"/>
            <a:ext cx="8216865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pattFill prst="dkUpDiag">
                  <a:fgClr>
                    <a:schemeClr val="tx2"/>
                  </a:fgClr>
                  <a:bgClr>
                    <a:schemeClr val="tx2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</a:rPr>
              <a:t>Thanks for your attention!</a:t>
            </a:r>
          </a:p>
        </p:txBody>
      </p:sp>
    </p:spTree>
    <p:extLst>
      <p:ext uri="{BB962C8B-B14F-4D97-AF65-F5344CB8AC3E}">
        <p14:creationId xmlns:p14="http://schemas.microsoft.com/office/powerpoint/2010/main" val="3759630460"/>
      </p:ext>
    </p:extLst>
  </p:cSld>
  <p:clrMapOvr>
    <a:masterClrMapping/>
  </p:clrMapOvr>
  <p:transition spd="slow">
    <p:strips dir="r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/>
    </p:bldLst>
  </p:timing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790</TotalTime>
  <Words>1036</Words>
  <Application>Microsoft Macintosh PowerPoint</Application>
  <PresentationFormat>Widescreen</PresentationFormat>
  <Paragraphs>222</Paragraphs>
  <Slides>41</Slides>
  <Notes>1</Notes>
  <HiddenSlides>12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8" baseType="lpstr">
      <vt:lpstr>Aptos</vt:lpstr>
      <vt:lpstr>Aptos Display</vt:lpstr>
      <vt:lpstr>Arial</vt:lpstr>
      <vt:lpstr>Calibri</vt:lpstr>
      <vt:lpstr>Mistral</vt:lpstr>
      <vt:lpstr>Wingdings</vt:lpstr>
      <vt:lpstr>1_Office Theme</vt:lpstr>
      <vt:lpstr>Towards Probabilistic Fair Order</vt:lpstr>
      <vt:lpstr>A Financial Market</vt:lpstr>
      <vt:lpstr>A Financial Market</vt:lpstr>
      <vt:lpstr>A Financial Market</vt:lpstr>
      <vt:lpstr>A Financial Market</vt:lpstr>
      <vt:lpstr>A Financial Market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Sequencer Overview – After Tommy</vt:lpstr>
      <vt:lpstr>Sequencer Overview – After Tommy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Partial Order</vt:lpstr>
      <vt:lpstr>Partial Order</vt:lpstr>
      <vt:lpstr>Partial Order</vt:lpstr>
      <vt:lpstr>Partial Order</vt:lpstr>
      <vt:lpstr>Partial Order</vt:lpstr>
      <vt:lpstr>Partial Order</vt:lpstr>
      <vt:lpstr>Partial Order</vt:lpstr>
      <vt:lpstr>Partial Order</vt:lpstr>
      <vt:lpstr>Partial Order</vt:lpstr>
      <vt:lpstr>Partial Order</vt:lpstr>
      <vt:lpstr>Partial Order</vt:lpstr>
      <vt:lpstr>Partial Order</vt:lpstr>
      <vt:lpstr>Simulation Result</vt:lpstr>
      <vt:lpstr>Next steps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Muhammad Haseeb</dc:creator>
  <cp:lastModifiedBy>Muhammad Haseeb</cp:lastModifiedBy>
  <cp:revision>151</cp:revision>
  <dcterms:created xsi:type="dcterms:W3CDTF">2025-10-29T17:15:14Z</dcterms:created>
  <dcterms:modified xsi:type="dcterms:W3CDTF">2025-11-11T22:14:34Z</dcterms:modified>
</cp:coreProperties>
</file>