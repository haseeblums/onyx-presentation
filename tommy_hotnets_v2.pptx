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0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366" r:id="rId18"/>
    <p:sldId id="264" r:id="rId19"/>
    <p:sldId id="265" r:id="rId20"/>
    <p:sldId id="272" r:id="rId21"/>
    <p:sldId id="274" r:id="rId22"/>
    <p:sldId id="288" r:id="rId23"/>
    <p:sldId id="347" r:id="rId24"/>
    <p:sldId id="289" r:id="rId25"/>
    <p:sldId id="290" r:id="rId26"/>
    <p:sldId id="258" r:id="rId27"/>
    <p:sldId id="277" r:id="rId28"/>
    <p:sldId id="340" r:id="rId29"/>
    <p:sldId id="341" r:id="rId30"/>
    <p:sldId id="348" r:id="rId31"/>
    <p:sldId id="292" r:id="rId32"/>
    <p:sldId id="293" r:id="rId33"/>
    <p:sldId id="280" r:id="rId34"/>
    <p:sldId id="279" r:id="rId35"/>
    <p:sldId id="266" r:id="rId36"/>
    <p:sldId id="349" r:id="rId37"/>
    <p:sldId id="278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76" r:id="rId46"/>
    <p:sldId id="269" r:id="rId47"/>
    <p:sldId id="273" r:id="rId48"/>
    <p:sldId id="271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73"/>
    <p:restoredTop sz="93701"/>
  </p:normalViewPr>
  <p:slideViewPr>
    <p:cSldViewPr snapToGrid="0">
      <p:cViewPr varScale="1">
        <p:scale>
          <a:sx n="92" d="100"/>
          <a:sy n="92" d="100"/>
        </p:scale>
        <p:origin x="192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574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Asynchrony also affects the latency between application and local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61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WFO was proposed in my previous project Jasper, quickly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4373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Several step omitted for brevity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1191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skip the details of how we find this probability if the distributions are not normal. Hint: Each client learns their own distribution, while the sequencer can use convolutions over those distributions to find what it needs.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622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stock,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650-2C8C-F10D-9303-B6E4D53E4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2AEC06-BA69-D35C-FADB-0B8D9D6674DA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B9D80AE-1EA8-AA1A-2806-8D543F372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76756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14FDA53E-0579-83A3-19F2-16FE477BE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56516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39813B02-8883-0FC1-6CBA-18EEEC231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788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DC8F9B-53C0-AA38-AD63-A1C84FC4D2C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983797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Tommy: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742E8-4CD8-EB6F-C05C-4848D570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Sequencers are everywhere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096F3-77C1-F2BE-0F60-3E6DFB1A9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Used for achieving total order of events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Paxos leader implicitly works as a sequencer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 err="1">
                <a:effectLst/>
                <a:latin typeface="Arial" panose="020B0604020202020204" pitchFamily="34" charset="0"/>
              </a:rPr>
              <a:t>NOPaxos</a:t>
            </a: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, Hydra, Eris decouple the sequencer from consensus and propose implementing a sequencer as a separate component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All these sequencers achieve a total order that is </a:t>
            </a:r>
            <a:r>
              <a:rPr lang="en-US" sz="1800" b="1" i="1" u="none" strike="noStrike" dirty="0">
                <a:effectLst/>
                <a:latin typeface="Arial" panose="020B0604020202020204" pitchFamily="34" charset="0"/>
              </a:rPr>
              <a:t>arbitrary </a:t>
            </a:r>
            <a:r>
              <a:rPr lang="en-US" sz="1800" dirty="0">
                <a:latin typeface="Arial" panose="020B0604020202020204" pitchFamily="34" charset="0"/>
              </a:rPr>
              <a:t>i.e., any total order works.</a:t>
            </a:r>
            <a:br>
              <a:rPr lang="en-US" sz="1800" b="1" i="1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An arbitrary total order is good enough for conventional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9049999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DE8E6-3934-65AF-F2A8-2FE60829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>
                <a:effectLst/>
                <a:latin typeface="Arial" panose="020B0604020202020204" pitchFamily="34" charset="0"/>
              </a:rPr>
              <a:t>Need for Fair Order</a:t>
            </a:r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0629-54F1-1B18-2FB7-B936B6D3C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An emerging class of applications are not okay with arbitrary order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These applications require a fair order where fairness amounts to achieving an order that respects the event generation order 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Financial exchanges, ad exchanges, competitive marketplaces</a:t>
            </a:r>
          </a:p>
        </p:txBody>
      </p:sp>
    </p:spTree>
    <p:extLst>
      <p:ext uri="{BB962C8B-B14F-4D97-AF65-F5344CB8AC3E}">
        <p14:creationId xmlns:p14="http://schemas.microsoft.com/office/powerpoint/2010/main" val="2781703939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10813-5405-B9CB-F757-FF99291F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B756-7712-C1B1-49F8-5237AE33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Challenging to achieve fair order in a general distributed setting.</a:t>
            </a:r>
          </a:p>
          <a:p>
            <a:pPr marL="742950" lvl="1" indent="-28575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Two main culprits: 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Noisy timestamps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Asynchrony in data path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fontAlgn="base">
              <a:spcAft>
                <a:spcPts val="1200"/>
              </a:spcAft>
            </a:pPr>
            <a:r>
              <a:rPr lang="en-US" dirty="0">
                <a:latin typeface="Arial" panose="020B0604020202020204" pitchFamily="34" charset="0"/>
              </a:rPr>
              <a:t>What can we do?</a:t>
            </a:r>
            <a:endParaRPr lang="en-US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3624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8" presetClass="emph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4D224-5178-681C-4743-9313F7A61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What’s out there?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D947-9B30-D89E-2ECB-37BCE1B5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50" y="1955550"/>
            <a:ext cx="3355593" cy="36000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5A8F8D-7460-0733-B961-18005D22F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655" y="2057982"/>
            <a:ext cx="3758184" cy="3395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065025-3B56-BEAA-EFCC-9A0987794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955" y="2143395"/>
            <a:ext cx="3758184" cy="32243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B6E6BE-F141-FBB5-F158-BE9759EEE9D2}"/>
              </a:ext>
            </a:extLst>
          </p:cNvPr>
          <p:cNvSpPr txBox="1"/>
          <p:nvPr/>
        </p:nvSpPr>
        <p:spPr>
          <a:xfrm>
            <a:off x="878731" y="5369599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BEEBA-FC45-3F8F-150E-4B11C4139718}"/>
              </a:ext>
            </a:extLst>
          </p:cNvPr>
          <p:cNvSpPr txBox="1"/>
          <p:nvPr/>
        </p:nvSpPr>
        <p:spPr>
          <a:xfrm>
            <a:off x="4863630" y="5367746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73B3B-8A6B-41E0-BD8E-D0BAD9B1B3FB}"/>
              </a:ext>
            </a:extLst>
          </p:cNvPr>
          <p:cNvSpPr txBox="1"/>
          <p:nvPr/>
        </p:nvSpPr>
        <p:spPr>
          <a:xfrm>
            <a:off x="9290978" y="536774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Everywhere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25E686-49DA-E605-38DE-AADE031046B5}"/>
              </a:ext>
            </a:extLst>
          </p:cNvPr>
          <p:cNvSpPr txBox="1"/>
          <p:nvPr/>
        </p:nvSpPr>
        <p:spPr>
          <a:xfrm>
            <a:off x="5620338" y="2649741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986135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6450-46E6-F9F6-7641-C7262B727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3445-8E5D-FA2A-CE52-EA7F65C5C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A Simple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F8024-26FA-3601-0AE8-C10E5716BEE9}"/>
              </a:ext>
            </a:extLst>
          </p:cNvPr>
          <p:cNvSpPr txBox="1"/>
          <p:nvPr/>
        </p:nvSpPr>
        <p:spPr>
          <a:xfrm>
            <a:off x="638880" y="2013404"/>
            <a:ext cx="110875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TrueTime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(Spanner) API to represent each timestamp as an interval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non-overlapping intervals can be confidently ordered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overlapping intervals must be assigned the same sequence number/rank as ordering is uncertain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We will use this as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baseline to compare against.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282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7583-65CE-FD5B-F047-8ED7AFA8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60312-C3C7-E0A1-261B-8CE2E1B85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9858-6696-1E3A-4BF1-DDF8B7D8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Lamport introduced </a:t>
            </a:r>
            <a:r>
              <a:rPr lang="en-US" i="1" dirty="0"/>
              <a:t>happened-before, </a:t>
            </a:r>
          </a:p>
          <a:p>
            <a:r>
              <a:rPr lang="en-US" dirty="0"/>
              <a:t>Causally related events can be related with</a:t>
            </a:r>
          </a:p>
          <a:p>
            <a:r>
              <a:rPr lang="en-US" dirty="0"/>
              <a:t>Achieves partial order on all causally relatable events</a:t>
            </a:r>
          </a:p>
          <a:p>
            <a:r>
              <a:rPr lang="en-US" dirty="0"/>
              <a:t>Concurrent events are not relatable with  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E1D6BF-0AE2-EAEE-CE73-BC8715B93F10}"/>
              </a:ext>
            </a:extLst>
          </p:cNvPr>
          <p:cNvCxnSpPr>
            <a:cxnSpLocks/>
          </p:cNvCxnSpPr>
          <p:nvPr/>
        </p:nvCxnSpPr>
        <p:spPr>
          <a:xfrm>
            <a:off x="7120919" y="206546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D43C9C-17F1-3FCA-117D-320F9889B21A}"/>
              </a:ext>
            </a:extLst>
          </p:cNvPr>
          <p:cNvCxnSpPr>
            <a:cxnSpLocks/>
          </p:cNvCxnSpPr>
          <p:nvPr/>
        </p:nvCxnSpPr>
        <p:spPr>
          <a:xfrm>
            <a:off x="7752678" y="2562112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8E145E-25A5-B74C-F4B2-8011621BDBDB}"/>
              </a:ext>
            </a:extLst>
          </p:cNvPr>
          <p:cNvCxnSpPr>
            <a:cxnSpLocks/>
          </p:cNvCxnSpPr>
          <p:nvPr/>
        </p:nvCxnSpPr>
        <p:spPr>
          <a:xfrm>
            <a:off x="7376160" y="357512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48845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6BB7-FB52-9C27-0ECA-53F1A062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194B6-C6D8-D9C0-86F2-77076327D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precisely interested in ordering these concurrent events</a:t>
            </a:r>
          </a:p>
          <a:p>
            <a:r>
              <a:rPr lang="en-US" dirty="0"/>
              <a:t>We introduce: </a:t>
            </a:r>
            <a:r>
              <a:rPr lang="en-US" i="1" dirty="0"/>
              <a:t>likely-happened-before</a:t>
            </a:r>
            <a:r>
              <a:rPr lang="en-US" dirty="0"/>
              <a:t>,</a:t>
            </a:r>
          </a:p>
          <a:p>
            <a:r>
              <a:rPr lang="en-US" dirty="0"/>
              <a:t>x	 y means x happened before y with probability </a:t>
            </a:r>
            <a:r>
              <a:rPr lang="en-US" i="1" dirty="0"/>
              <a:t>p</a:t>
            </a:r>
          </a:p>
          <a:p>
            <a:r>
              <a:rPr lang="en-US" dirty="0"/>
              <a:t>An ordering of events using	      where </a:t>
            </a:r>
            <a:r>
              <a:rPr lang="en-US" i="1" dirty="0"/>
              <a:t>p </a:t>
            </a:r>
            <a:r>
              <a:rPr lang="en-US" dirty="0"/>
              <a:t>is sufficiently high, is fair </a:t>
            </a:r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C3712D-3785-27FE-D61A-0B49A0A5B27D}"/>
              </a:ext>
            </a:extLst>
          </p:cNvPr>
          <p:cNvCxnSpPr>
            <a:cxnSpLocks/>
          </p:cNvCxnSpPr>
          <p:nvPr/>
        </p:nvCxnSpPr>
        <p:spPr>
          <a:xfrm>
            <a:off x="7186521" y="264265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7CF233B-AD94-F0EB-5D81-5F4D5DC9FD11}"/>
              </a:ext>
            </a:extLst>
          </p:cNvPr>
          <p:cNvSpPr txBox="1"/>
          <p:nvPr/>
        </p:nvSpPr>
        <p:spPr>
          <a:xfrm>
            <a:off x="7186521" y="2273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E49A0C-D679-34FF-F328-D9FF331E49B3}"/>
              </a:ext>
            </a:extLst>
          </p:cNvPr>
          <p:cNvCxnSpPr>
            <a:cxnSpLocks/>
          </p:cNvCxnSpPr>
          <p:nvPr/>
        </p:nvCxnSpPr>
        <p:spPr>
          <a:xfrm>
            <a:off x="1420350" y="311814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8BCCA2-5276-2D3C-BD98-AA6BA678FF82}"/>
              </a:ext>
            </a:extLst>
          </p:cNvPr>
          <p:cNvSpPr txBox="1"/>
          <p:nvPr/>
        </p:nvSpPr>
        <p:spPr>
          <a:xfrm>
            <a:off x="1394504" y="274881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399392-BCF9-13AA-C84E-89137358B57D}"/>
              </a:ext>
            </a:extLst>
          </p:cNvPr>
          <p:cNvCxnSpPr>
            <a:cxnSpLocks/>
          </p:cNvCxnSpPr>
          <p:nvPr/>
        </p:nvCxnSpPr>
        <p:spPr>
          <a:xfrm>
            <a:off x="5451286" y="3613666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C05DBD-8B21-22AB-727A-30CBE7241EBB}"/>
              </a:ext>
            </a:extLst>
          </p:cNvPr>
          <p:cNvSpPr txBox="1"/>
          <p:nvPr/>
        </p:nvSpPr>
        <p:spPr>
          <a:xfrm>
            <a:off x="5425440" y="324433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3504264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/>
      <p:bldP spid="9" grpId="0"/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88385-1307-4C4F-4622-C64B6C2BA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i="1" dirty="0"/>
              <a:t>Two Questions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9E4E-33DA-68F1-F2F5-6B25127A0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How to find </a:t>
            </a:r>
            <a:r>
              <a:rPr lang="en-US" i="1" dirty="0"/>
              <a:t>p </a:t>
            </a:r>
            <a:r>
              <a:rPr lang="en-US" dirty="0"/>
              <a:t>for two messages to construct the relation?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to achieve an order of several events from the pairwise relations?</a:t>
            </a:r>
          </a:p>
        </p:txBody>
      </p:sp>
    </p:spTree>
    <p:extLst>
      <p:ext uri="{BB962C8B-B14F-4D97-AF65-F5344CB8AC3E}">
        <p14:creationId xmlns:p14="http://schemas.microsoft.com/office/powerpoint/2010/main" val="3252517360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9AAFC6F7-06A7-6C5C-127C-F1F802B1576C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B36B9-932E-C121-2B14-F5443323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rgbClr val="FF0000"/>
                </a:solidFill>
              </a:rPr>
              <a:t>Before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DB69608E-4263-38E1-4DCE-657A33DC1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54CEF6C-2806-0B7E-6104-DC2BE2DDA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E2A13D-A251-B272-C546-6A3A9B23B10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C6C9B6-641B-428E-A721-72407CA8015D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1FC9C863-03CC-D2C9-3315-48FF36B5E30D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193C5E11-4C7D-6C4C-1F79-D492B6F066AD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FA2EDB1-B683-3B76-BE86-4D92FDDB6E76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FC0751-2F4E-AF9F-E990-947D61103F47}"/>
              </a:ext>
            </a:extLst>
          </p:cNvPr>
          <p:cNvCxnSpPr>
            <a:cxnSpLocks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5850E51-A5D7-8CCE-0C3B-B2B0E39E51F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20DC6F-319B-7781-93DB-4847AF56824B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9876B3A-2CC6-898B-B324-CAE40AB2C186}"/>
              </a:ext>
            </a:extLst>
          </p:cNvPr>
          <p:cNvSpPr txBox="1"/>
          <p:nvPr/>
        </p:nvSpPr>
        <p:spPr>
          <a:xfrm>
            <a:off x="7659598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7FE85C1-D348-3D92-8046-5248BB6BD2CB}"/>
              </a:ext>
            </a:extLst>
          </p:cNvPr>
          <p:cNvSpPr txBox="1"/>
          <p:nvPr/>
        </p:nvSpPr>
        <p:spPr>
          <a:xfrm>
            <a:off x="7017955" y="3344283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F36EB1-D2F3-590B-4437-85A047BC9FDC}"/>
              </a:ext>
            </a:extLst>
          </p:cNvPr>
          <p:cNvSpPr txBox="1"/>
          <p:nvPr/>
        </p:nvSpPr>
        <p:spPr>
          <a:xfrm>
            <a:off x="6402079" y="3350875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17361AD-DDA0-F9B5-CCE4-E0BE3211C671}"/>
              </a:ext>
            </a:extLst>
          </p:cNvPr>
          <p:cNvSpPr txBox="1"/>
          <p:nvPr/>
        </p:nvSpPr>
        <p:spPr>
          <a:xfrm>
            <a:off x="8274279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A1D57D7-7FE1-506F-67DA-AF777800FDAE}"/>
              </a:ext>
            </a:extLst>
          </p:cNvPr>
          <p:cNvSpPr txBox="1"/>
          <p:nvPr/>
        </p:nvSpPr>
        <p:spPr>
          <a:xfrm>
            <a:off x="8938053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09CD7-D994-DDAB-EF35-A18EA43D45B0}"/>
              </a:ext>
            </a:extLst>
          </p:cNvPr>
          <p:cNvSpPr txBox="1"/>
          <p:nvPr/>
        </p:nvSpPr>
        <p:spPr>
          <a:xfrm>
            <a:off x="6768203" y="2873756"/>
            <a:ext cx="2858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Arbitrary order</a:t>
            </a:r>
          </a:p>
        </p:txBody>
      </p:sp>
    </p:spTree>
    <p:extLst>
      <p:ext uri="{BB962C8B-B14F-4D97-AF65-F5344CB8AC3E}">
        <p14:creationId xmlns:p14="http://schemas.microsoft.com/office/powerpoint/2010/main" val="2641375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89" grpId="0" animBg="1"/>
      <p:bldP spid="95" grpId="0"/>
      <p:bldP spid="128" grpId="0"/>
      <p:bldP spid="129" grpId="0"/>
      <p:bldP spid="130" grpId="0"/>
      <p:bldP spid="131" grpId="0"/>
      <p:bldP spid="132" grpId="0"/>
      <p:bldP spid="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16B6C10-34FD-7D89-0C80-9FBBC4C2BFF9}"/>
              </a:ext>
            </a:extLst>
          </p:cNvPr>
          <p:cNvCxnSpPr>
            <a:cxnSpLocks/>
          </p:cNvCxnSpPr>
          <p:nvPr/>
        </p:nvCxnSpPr>
        <p:spPr>
          <a:xfrm>
            <a:off x="6576891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95063-52AE-70C1-FF31-3309927DE861}"/>
              </a:ext>
            </a:extLst>
          </p:cNvPr>
          <p:cNvSpPr txBox="1"/>
          <p:nvPr/>
        </p:nvSpPr>
        <p:spPr>
          <a:xfrm>
            <a:off x="6672068" y="2820614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0154426-2BD0-DD21-C23B-17493D56ECBE}"/>
              </a:ext>
            </a:extLst>
          </p:cNvPr>
          <p:cNvCxnSpPr>
            <a:cxnSpLocks/>
          </p:cNvCxnSpPr>
          <p:nvPr/>
        </p:nvCxnSpPr>
        <p:spPr>
          <a:xfrm>
            <a:off x="7898992" y="3183493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BC89FD0-7765-9F53-CA62-B28590239A79}"/>
              </a:ext>
            </a:extLst>
          </p:cNvPr>
          <p:cNvSpPr txBox="1"/>
          <p:nvPr/>
        </p:nvSpPr>
        <p:spPr>
          <a:xfrm>
            <a:off x="7915621" y="2823557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6E8D4BA-EADC-7215-FE5F-512360AD1275}"/>
              </a:ext>
            </a:extLst>
          </p:cNvPr>
          <p:cNvCxnSpPr>
            <a:cxnSpLocks/>
          </p:cNvCxnSpPr>
          <p:nvPr/>
        </p:nvCxnSpPr>
        <p:spPr>
          <a:xfrm>
            <a:off x="8611703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C409A2-DE5E-F295-D104-984D8EF92D07}"/>
              </a:ext>
            </a:extLst>
          </p:cNvPr>
          <p:cNvSpPr txBox="1"/>
          <p:nvPr/>
        </p:nvSpPr>
        <p:spPr>
          <a:xfrm>
            <a:off x="8628332" y="2814482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169394" y="2506213"/>
            <a:ext cx="34808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Partial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ED034B-C67F-E08C-BE80-4AFE7255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89F8CEA2-78F4-C918-F00E-270F13E8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A16CE55-A1DE-20FF-9506-98A736314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034B6-654D-55BF-A16C-4E253ECCB941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C2B63EC3-8972-EFBA-9CA1-DAF278B64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26C1E073-D29A-9A29-C04C-34128857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>
            <a:extLst>
              <a:ext uri="{FF2B5EF4-FFF2-40B4-BE49-F238E27FC236}">
                <a16:creationId xmlns:a16="http://schemas.microsoft.com/office/drawing/2014/main" id="{A59DDA47-5DAD-6E5D-3C3F-0EFFFCAE3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070" y="3726732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4">
            <a:extLst>
              <a:ext uri="{FF2B5EF4-FFF2-40B4-BE49-F238E27FC236}">
                <a16:creationId xmlns:a16="http://schemas.microsoft.com/office/drawing/2014/main" id="{32C090C8-A2C2-98B7-5AD7-73FA7B2B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435" y="4484979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A765CA47-1045-CCEA-3665-B4D3180B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296" y="5274549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5382D1A-1372-7A7D-B9A4-B5D08F48507C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07410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E8C2A-99AE-1855-1EFB-3F4AC9EFD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4C5C7C63-C702-E669-ECD5-D7CBBC216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FBD0663-2A2A-987B-1473-9B2AD2A42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30C9F4-0E48-F66F-9E2B-BF2A9E022895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E307CD22-E355-9BD2-2B7B-0D0020EF4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B6DCC6C1-7764-E397-90C7-2F1636465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EFF36E98-1D07-129A-13F4-028D2FE67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7732" y="3679388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1E373A28-459D-CDF4-29C8-EEAD2D5649BD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0FF549F0-B94B-4D2F-D45E-E37EDA809E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183420" y="4857900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0E9CE531-30FA-46DC-6D83-5ECC80CAEF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45407" y="5286948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3398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A13832-5FB1-2129-9513-8088D7FB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B37A0-3AE1-8776-94C0-BFD08A8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5E73E85-4915-82B9-5CEA-E3312C517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382" y="1391322"/>
            <a:ext cx="4384637" cy="993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B2844BC-926C-7109-E5CF-1B43DCB1E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087532" y="2677269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95647F1A-A661-71D3-795E-C781FEB6F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99259" y="3536525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50DD063-B15E-0F8E-CA45-D4C94B4141B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2944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F19395-F06A-201C-74D8-D55C3B24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C70A-1C03-E468-05A6-F24ED1D8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D8EEAC-6123-01F3-95F1-97A571C8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BAD3A7-715B-1E2A-207A-E3C14E9CAB8E}"/>
              </a:ext>
            </a:extLst>
          </p:cNvPr>
          <p:cNvSpPr txBox="1"/>
          <p:nvPr/>
        </p:nvSpPr>
        <p:spPr>
          <a:xfrm>
            <a:off x="838199" y="3030386"/>
            <a:ext cx="103839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 arbitrary distributions, we may not have a known solution form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could gather all clock sync. probes from all clients and compute pairwise differences for each pair of probes of two clients.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Then the distribution of these pairwise differences would be our distribution of interest.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Communication and compute intensive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5F388-26E9-0737-AF15-C30AEC62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217297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C412EE-5FCB-91D9-0FE1-9D3204248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7BA9-9A58-35A0-22DE-306BB153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5A412C0-A6A6-CB42-BCFB-E8201D679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C1B1BF-19E0-612D-E448-2084A3BC6D13}"/>
              </a:ext>
            </a:extLst>
          </p:cNvPr>
          <p:cNvSpPr txBox="1"/>
          <p:nvPr/>
        </p:nvSpPr>
        <p:spPr>
          <a:xfrm>
            <a:off x="838199" y="2806029"/>
            <a:ext cx="98020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Each client learns their own clock drift distribution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These learned distributions are shared with the sequencer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uses convolutions to learn the respective distributions of clock offset differences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Convolutions computations can be further optimized by using FFT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7BFA-188A-5DAC-3DEA-0806DDFF3C5A}"/>
              </a:ext>
            </a:extLst>
          </p:cNvPr>
          <p:cNvSpPr txBox="1"/>
          <p:nvPr/>
        </p:nvSpPr>
        <p:spPr>
          <a:xfrm>
            <a:off x="838200" y="240007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There exists an efficient method: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B65ED-9A74-A8DA-6339-EAEA959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23730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BB98E-D791-426A-31BD-35BE4136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2240-59CE-EC80-7ABC-E6FDB5E3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333D4E-9D26-871C-D529-E3EB382A9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3E66D2E-C58D-8FA3-3E71-EB22CC66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514" y="2783039"/>
            <a:ext cx="6626711" cy="1630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B5FF02C-EE34-1071-28BE-ADFD34ED1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35" y="4464583"/>
            <a:ext cx="35306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EC18251-4FB0-0665-FEB1-5BAA0A1B4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01" y="5716404"/>
            <a:ext cx="4379272" cy="63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D3E52-5059-6A41-CF91-29473965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2389931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offset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763449-E448-7EF4-8FE6-FB8D5C49814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60106F-7172-F544-DF18-3E20F1B232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7" t="12634" r="30625" b="76414"/>
          <a:stretch>
            <a:fillRect/>
          </a:stretch>
        </p:blipFill>
        <p:spPr>
          <a:xfrm>
            <a:off x="1464141" y="2011218"/>
            <a:ext cx="9704016" cy="222379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B07738-817E-DC1E-EE39-41D770E3E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67854-DEF7-C9F9-A501-6AA78FCFA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D797-4DDE-60AC-8E5F-B08E12B26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may lead to cyclic ranking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21E9A03-30B0-092C-3349-C8FA37468EF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78309082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19787C9-3787-856D-3F35-2AAB2515BB7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37B194-DF99-9B8D-ECF6-0A671FB1C3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891558" y="301340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52787D-FD60-45FE-59E4-A1AC460B655F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8B57147-1BD1-A112-6701-90E29508CD3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offset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A69A073-B50F-C73A-318E-6A897F6F46B3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1B126E-3239-49FB-C47B-9D3C2820ACFA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72CA94-6E29-4F08-30D1-F8A9050BE8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whose removal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5F04FF-AD8A-F415-5F79-F17F8DE710C8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model for 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Characterizing </a:t>
            </a:r>
          </a:p>
          <a:p>
            <a:pPr lvl="1"/>
            <a:r>
              <a:rPr lang="en-US" dirty="0"/>
              <a:t>Especially transitivity property i.e., when it is safe to assume transitivity, what is the downside of assuming it for arbitrary distributions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Evaluating a fair sequencer in the real world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F23C094-AADE-7363-7042-631F06F1D2D3}"/>
              </a:ext>
            </a:extLst>
          </p:cNvPr>
          <p:cNvGrpSpPr/>
          <p:nvPr/>
        </p:nvGrpSpPr>
        <p:grpSpPr>
          <a:xfrm>
            <a:off x="3489692" y="2639523"/>
            <a:ext cx="376518" cy="369332"/>
            <a:chOff x="3653815" y="2639523"/>
            <a:chExt cx="376518" cy="369332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4EE15409-7C15-2463-67B3-A1721F3BCC2C}"/>
                </a:ext>
              </a:extLst>
            </p:cNvPr>
            <p:cNvCxnSpPr>
              <a:cxnSpLocks/>
            </p:cNvCxnSpPr>
            <p:nvPr/>
          </p:nvCxnSpPr>
          <p:spPr>
            <a:xfrm>
              <a:off x="3653815" y="3008855"/>
              <a:ext cx="376518" cy="0"/>
            </a:xfrm>
            <a:prstGeom prst="straightConnector1">
              <a:avLst/>
            </a:prstGeom>
            <a:ln w="28575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C21DB5F-4B06-2074-E75D-56B222CA34BC}"/>
                </a:ext>
              </a:extLst>
            </p:cNvPr>
            <p:cNvSpPr txBox="1"/>
            <p:nvPr/>
          </p:nvSpPr>
          <p:spPr>
            <a:xfrm>
              <a:off x="3653815" y="2639523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p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1529</Words>
  <Application>Microsoft Macintosh PowerPoint</Application>
  <PresentationFormat>Widescreen</PresentationFormat>
  <Paragraphs>274</Paragraphs>
  <Slides>48</Slides>
  <Notes>6</Notes>
  <HiddenSlides>11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5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Sequencers are everywhere</vt:lpstr>
      <vt:lpstr>Need for Fair Order</vt:lpstr>
      <vt:lpstr>Challenge</vt:lpstr>
      <vt:lpstr>What’s out there?</vt:lpstr>
      <vt:lpstr>A Simple Solution</vt:lpstr>
      <vt:lpstr>Probabilistic Fair Ordering</vt:lpstr>
      <vt:lpstr>Probabilistic Fair Ordering</vt:lpstr>
      <vt:lpstr>Two Questions</vt:lpstr>
      <vt:lpstr>Sequencer Overview – Before Tommy</vt:lpstr>
      <vt:lpstr>Sequencer Overview – After Tommy</vt:lpstr>
      <vt:lpstr>Sequencer Overview – After Tommy</vt:lpstr>
      <vt:lpstr>Ordering Probability p</vt:lpstr>
      <vt:lpstr>Ordering Probability p</vt:lpstr>
      <vt:lpstr>Ordering Probability p</vt:lpstr>
      <vt:lpstr>Ordering Probability p</vt:lpstr>
      <vt:lpstr>Ordering Probability p</vt:lpstr>
      <vt:lpstr>Ordering Probability p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119</cp:revision>
  <dcterms:created xsi:type="dcterms:W3CDTF">2025-10-29T17:15:14Z</dcterms:created>
  <dcterms:modified xsi:type="dcterms:W3CDTF">2025-11-11T20:10:59Z</dcterms:modified>
</cp:coreProperties>
</file>