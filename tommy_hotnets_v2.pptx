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0"/>
  </p:notesMasterIdLst>
  <p:sldIdLst>
    <p:sldId id="263" r:id="rId2"/>
    <p:sldId id="351" r:id="rId3"/>
    <p:sldId id="352" r:id="rId4"/>
    <p:sldId id="353" r:id="rId5"/>
    <p:sldId id="354" r:id="rId6"/>
    <p:sldId id="355" r:id="rId7"/>
    <p:sldId id="399" r:id="rId8"/>
    <p:sldId id="357" r:id="rId9"/>
    <p:sldId id="358" r:id="rId10"/>
    <p:sldId id="359" r:id="rId11"/>
    <p:sldId id="360" r:id="rId12"/>
    <p:sldId id="361" r:id="rId13"/>
    <p:sldId id="393" r:id="rId14"/>
    <p:sldId id="400" r:id="rId15"/>
    <p:sldId id="401" r:id="rId16"/>
    <p:sldId id="402" r:id="rId17"/>
    <p:sldId id="368" r:id="rId18"/>
    <p:sldId id="277" r:id="rId19"/>
    <p:sldId id="340" r:id="rId20"/>
    <p:sldId id="369" r:id="rId21"/>
    <p:sldId id="370" r:id="rId22"/>
    <p:sldId id="371" r:id="rId23"/>
    <p:sldId id="372" r:id="rId24"/>
    <p:sldId id="374" r:id="rId25"/>
    <p:sldId id="376" r:id="rId26"/>
    <p:sldId id="403" r:id="rId27"/>
    <p:sldId id="404" r:id="rId28"/>
    <p:sldId id="405" r:id="rId29"/>
    <p:sldId id="385" r:id="rId30"/>
    <p:sldId id="273" r:id="rId31"/>
    <p:sldId id="407" r:id="rId32"/>
    <p:sldId id="386" r:id="rId33"/>
    <p:sldId id="384" r:id="rId34"/>
    <p:sldId id="388" r:id="rId35"/>
    <p:sldId id="392" r:id="rId36"/>
    <p:sldId id="397" r:id="rId37"/>
    <p:sldId id="383" r:id="rId38"/>
    <p:sldId id="380" r:id="rId3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477"/>
    <p:restoredTop sz="93708"/>
  </p:normalViewPr>
  <p:slideViewPr>
    <p:cSldViewPr snapToGrid="0">
      <p:cViewPr varScale="1">
        <p:scale>
          <a:sx n="132" d="100"/>
          <a:sy n="132" d="100"/>
        </p:scale>
        <p:origin x="200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07AACE-DECF-044F-84A2-0C8ECB6ADA06}" type="datetimeFigureOut">
              <a:rPr lang="en-US" smtClean="0"/>
              <a:t>11/12/25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E8125A-D8BB-E74B-8C6E-AB7BD2C997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7956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TODO: remove the announcer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2770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TODO: shrink the eval slides and create a new graph without step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7874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89CC8-3483-2449-6AE7-2E7811415E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D8B5F9-7488-31E2-CC9A-B50E7C9EDB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CA5A39-6690-69DC-93A4-FB04A747BE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5D2492-AC70-2141-AC0C-17DCD52B4752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A5098F-8C47-BD38-D7A6-A7E44A3AC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1CE420-E5B7-AB50-A816-77DD97CC5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92605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B6EEC-C362-E1F9-D220-4FBA9565F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182AE1-0A6C-73E9-BB01-2E25D23D36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25C939-DF3D-4282-8199-45A037B9A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DF429-4C14-7B4A-B19D-A0047B9F1B4B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16F0CD-FE1D-6079-49AE-F87F2CB3C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9F2BA7-8D27-7F49-88B2-D6950D994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196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DC252-3EFA-163E-15EC-BF4390B3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F0CCD9-269C-A882-609D-D2C3D66248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96DDE7-F726-ADC8-AD97-F26F4B5C4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236A-87D7-9843-88C4-48A4AF171E86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74734-470F-6D57-231F-7522A7AFB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81C889-3A6D-AD40-645E-1E6CDE1E5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776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58DA8-2C41-23FC-8185-753462B7B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13352A-F4FA-9CB1-1696-870EB1A89D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3A387A-EDD3-0CD5-227C-CC3DE3D34F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812931-F695-753D-78CB-97CBA5E07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AB6F2B-6FBC-214D-9C4A-C58DF8A7FCB9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02FA56-AA49-8486-9289-E151E7904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8A1A68-5B8C-0F7E-491D-1C9F17D4C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261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ECEEB-1E4D-F0BC-5766-01121A183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D4B4CE-EBD7-E8F3-5451-2133AC7E06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54BD8E-34F3-A55C-114A-D17E85D616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C06F85-C6F0-5456-0A72-C594D7DC99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E94893-075E-EB6B-55AC-62F2E0CEC9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CEDDDE-FB3F-973C-45AD-2688A51335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5FA95-A07E-9941-8A87-BDD29E767DA7}" type="datetime1">
              <a:rPr lang="en-US" smtClean="0"/>
              <a:t>11/12/25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736DE76-0D6A-F40D-B732-908F42979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4AA9CC-0F85-34AF-1D96-D58E6BA30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365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E80C5-32F6-9D4B-9256-20823BC3B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4E3B95-F7E3-25DB-7F21-F48995161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F1CA85-9E75-364A-887C-5B613827D324}" type="datetime1">
              <a:rPr lang="en-US" smtClean="0"/>
              <a:t>11/12/25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AE9371-78D5-4C72-C059-18304961F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0035D5-EF95-3650-C946-19DD553C1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7909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9C6D8C-7270-8941-CBC4-512B0483EE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E42F5B-1E89-9840-A26C-C6BA2A23E2D0}" type="datetime1">
              <a:rPr lang="en-US" smtClean="0"/>
              <a:t>11/12/25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71D819E-56FA-94D1-F2F6-0D4191383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3670F9-538A-A65A-EBC9-F5906F1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935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BE9AE-8119-F92C-4D8F-62F667A22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3C7707-59E6-90A9-C17A-AF6FB92853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CCFDEC-65F8-E3B3-C304-84F962412A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E817EA-279C-AB1D-F581-762A75E01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B241E-9E92-8D46-BFD6-E707A04F9829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846691-4B7B-980C-EA6A-D22E8A9C9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932AF5-CB87-FBF2-2C5F-6547C4099A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47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7D5D3-0366-3F3C-23A4-06712902D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65D708B-5A95-A7A8-89A5-CE7A84EE1A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927582-1DA1-752E-DAE3-EB5A3D0705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B6BA60-8D2E-F867-6D37-858BF1CC0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4353-62E4-F94E-ADC1-D1403AD453E1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0DFCA9-F3EF-0AC3-9FC4-69CF2B3CC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18370F-78E1-45D9-C289-966A23341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132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FCB53-B76B-22EC-C782-035747119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55C8BA-7558-55B7-54CF-2B44D1432A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509F8-2118-E6F0-99BD-EE20223CC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17235A-17C4-B841-B2B5-CA079511FDEC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65D553-0AB5-4450-C8AE-18D96D2A6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4BCD4-F56B-8B3B-F7D8-200AF0A00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227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952F8F5-326C-281C-6FBC-02EAC18F2C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5EADAC-2818-A1DC-CF2B-786CC8DA3E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E2ABDF-8689-449B-68C3-7C9DED70C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307E39-E6DB-B341-B0FA-CECD76628CBB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6A7137-447E-E1C2-C3BD-5C19B2FED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DF57FD-EFFE-98FC-BC47-1FEBE3DF5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8235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0574231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152C756-4936-63A8-1D87-1501CB4F6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B5091F-0342-E547-03E4-EFDF7189E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31D55D-E5FD-1C18-6FB7-0889D6E98E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4EA125-C503-9049-954D-E48C32DE308D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58170C-374B-882B-CDFF-F94692FE4B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12BB67-7693-C8D1-B0BA-FB7AA6B00F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307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svg"/><Relationship Id="rId4" Type="http://schemas.openxmlformats.org/officeDocument/2006/relationships/image" Target="../media/image2.svg"/><Relationship Id="rId9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0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2.svg"/><Relationship Id="rId5" Type="http://schemas.openxmlformats.org/officeDocument/2006/relationships/image" Target="../media/image4.svg"/><Relationship Id="rId10" Type="http://schemas.openxmlformats.org/officeDocument/2006/relationships/image" Target="../media/image11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0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2.svg"/><Relationship Id="rId5" Type="http://schemas.openxmlformats.org/officeDocument/2006/relationships/image" Target="../media/image4.svg"/><Relationship Id="rId10" Type="http://schemas.openxmlformats.org/officeDocument/2006/relationships/image" Target="../media/image11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0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2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11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emf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emf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svg"/><Relationship Id="rId7" Type="http://schemas.openxmlformats.org/officeDocument/2006/relationships/image" Target="../media/image25.sv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svg"/><Relationship Id="rId10" Type="http://schemas.openxmlformats.org/officeDocument/2006/relationships/image" Target="../media/image28.png"/><Relationship Id="rId4" Type="http://schemas.openxmlformats.org/officeDocument/2006/relationships/image" Target="../media/image22.png"/><Relationship Id="rId9" Type="http://schemas.openxmlformats.org/officeDocument/2006/relationships/image" Target="../media/image27.sv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svg"/><Relationship Id="rId7" Type="http://schemas.openxmlformats.org/officeDocument/2006/relationships/image" Target="../media/image25.sv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svg"/><Relationship Id="rId10" Type="http://schemas.openxmlformats.org/officeDocument/2006/relationships/image" Target="../media/image28.png"/><Relationship Id="rId4" Type="http://schemas.openxmlformats.org/officeDocument/2006/relationships/image" Target="../media/image22.png"/><Relationship Id="rId9" Type="http://schemas.openxmlformats.org/officeDocument/2006/relationships/image" Target="../media/image27.sv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emf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emf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emf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emf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emf"/><Relationship Id="rId2" Type="http://schemas.openxmlformats.org/officeDocument/2006/relationships/image" Target="../media/image37.emf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D3C3834-5FF7-E139-E0B7-538FE11218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05782"/>
            <a:ext cx="9144000" cy="2387600"/>
          </a:xfrm>
        </p:spPr>
        <p:txBody>
          <a:bodyPr>
            <a:normAutofit/>
          </a:bodyPr>
          <a:lstStyle/>
          <a:p>
            <a:r>
              <a:rPr lang="en-US" sz="72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Towards Probabilistic Fair Order</a:t>
            </a:r>
            <a:endParaRPr lang="en-US" sz="7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8BC87CD-6594-D550-6B16-8E2B98C16BD8}"/>
              </a:ext>
            </a:extLst>
          </p:cNvPr>
          <p:cNvSpPr txBox="1"/>
          <p:nvPr/>
        </p:nvSpPr>
        <p:spPr>
          <a:xfrm>
            <a:off x="2104292" y="4104210"/>
            <a:ext cx="798341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u="sng" dirty="0">
                <a:solidFill>
                  <a:srgbClr val="7030A0"/>
                </a:solidFill>
              </a:rPr>
              <a:t>Haseeb Ashfaq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Jinkun Geng</a:t>
            </a:r>
            <a:r>
              <a:rPr lang="en-US" sz="2400" dirty="0"/>
              <a:t>, </a:t>
            </a:r>
            <a:r>
              <a:rPr lang="en-US" sz="2400" dirty="0">
                <a:solidFill>
                  <a:schemeClr val="accent2"/>
                </a:solidFill>
              </a:rPr>
              <a:t>Radhika Mittal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Aurojit Panda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FF0000"/>
                </a:solidFill>
              </a:rPr>
              <a:t>Srinivas Narayana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Anirudh Sivaraman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01DE95-D977-3B4A-B70F-2BCD6C9E7D70}"/>
              </a:ext>
            </a:extLst>
          </p:cNvPr>
          <p:cNvSpPr txBox="1"/>
          <p:nvPr/>
        </p:nvSpPr>
        <p:spPr>
          <a:xfrm>
            <a:off x="2104291" y="4999164"/>
            <a:ext cx="79834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7030A0"/>
                </a:solidFill>
              </a:rPr>
              <a:t>NYU</a:t>
            </a:r>
            <a:r>
              <a:rPr lang="en-US" sz="2400" dirty="0"/>
              <a:t>, </a:t>
            </a:r>
            <a:r>
              <a:rPr lang="en-US" sz="2400" dirty="0">
                <a:solidFill>
                  <a:schemeClr val="accent2"/>
                </a:solidFill>
              </a:rPr>
              <a:t>UIUC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FF0000"/>
                </a:solidFill>
              </a:rPr>
              <a:t>Rutgers University</a:t>
            </a:r>
          </a:p>
        </p:txBody>
      </p:sp>
    </p:spTree>
    <p:extLst>
      <p:ext uri="{BB962C8B-B14F-4D97-AF65-F5344CB8AC3E}">
        <p14:creationId xmlns:p14="http://schemas.microsoft.com/office/powerpoint/2010/main" val="8125356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E79F9-2E62-8239-0CA0-1BC333D3B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5DD0D-C2A0-514E-9283-CEC4A187B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638386-D84F-67FD-9F6E-315282099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2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F7E10220-F9FD-2DA6-3F41-1CA1426561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45526" y="2050689"/>
            <a:ext cx="2760519" cy="2760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5813914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28DBA-EDBD-E3E0-4F1C-519C9B7D1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0E546F-BF65-FA74-EA2D-F158A58F99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28A623-A5D2-8F7D-A271-E1B68D630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3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B557F74D-ED46-E285-F642-2CB94C47CF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6714079B-4348-3DE5-27D6-EBB0F747ECE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48F3121-D9B7-3858-F89A-0AFFB7F097D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0C78D743-0D63-5BC5-3661-FD4F74E79AB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8" name="Graphic 7" descr="Head with gears with solid fill">
            <a:extLst>
              <a:ext uri="{FF2B5EF4-FFF2-40B4-BE49-F238E27FC236}">
                <a16:creationId xmlns:a16="http://schemas.microsoft.com/office/drawing/2014/main" id="{59C193E1-7AB9-AAB1-C73C-44489D093F0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14177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29BBE-72FA-B172-BA93-AC2155D19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6CD2A-7F51-F988-4A7C-A4510581E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4E64C3-37EC-49C1-C14C-57895B3FF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4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05675F9B-60F2-9B0C-70AD-A7FBDB4441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F49B5A4D-B2D5-61B2-A78F-29FF6F4A067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A10C5BBA-F8B7-2266-A081-D924D374ED9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B60B992C-341D-AB67-CC16-9323B9570F3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5C5D49E1-FC73-14BA-D077-1B03A2B75FB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35897" y="1233488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C543CD7-E12B-3C4F-14DE-E93BFC384B7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96200" y="3726874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7EE0C082-B571-BFC6-F723-E1236BBABFF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24085" y="2480181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3C2E0B11-9EBA-CCBA-A6FB-49FF46BDE41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96200" y="5041612"/>
            <a:ext cx="914400" cy="914400"/>
          </a:xfrm>
          <a:prstGeom prst="rect">
            <a:avLst/>
          </a:prstGeom>
        </p:spPr>
      </p:pic>
      <p:pic>
        <p:nvPicPr>
          <p:cNvPr id="21" name="Graphic 20" descr="Head with gears with solid fill">
            <a:extLst>
              <a:ext uri="{FF2B5EF4-FFF2-40B4-BE49-F238E27FC236}">
                <a16:creationId xmlns:a16="http://schemas.microsoft.com/office/drawing/2014/main" id="{13CDDF7D-7FB2-B412-31F8-CCF5418BE59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28250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ABAA2-49D5-696E-5E79-4FD8B4D68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D32B3-77E5-8368-AACD-C994B0C4B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0C9113-8AEF-BBAC-B487-291339FB0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5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804706E6-7140-7FB4-263D-A07F4ECE59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A92473BC-8FE4-3F08-FD96-85C16166B1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07B8E88-FD12-0994-8CB2-1D582CB750D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E14C2B8F-FE57-0C1A-D5A4-334E208F7B7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9E0D4869-70CC-0F21-6DE9-5CCC78BB643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265217" y="4461597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FABA1E46-7DE3-7E83-307D-3580F12A83C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615740" y="4774719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9272677E-CB3D-8242-D78E-54D89A23FFD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198716" y="4737246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B5C4193A-1BB1-1DBF-BD50-36C1D9C3C7E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530140" y="5188913"/>
            <a:ext cx="914400" cy="914400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61C790B3-126D-41E0-B7AC-5D62B7C77111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4BE8875-5FE5-9DC5-21A3-35CBC30A7632}"/>
              </a:ext>
            </a:extLst>
          </p:cNvPr>
          <p:cNvSpPr/>
          <p:nvPr/>
        </p:nvSpPr>
        <p:spPr>
          <a:xfrm>
            <a:off x="4641275" y="1497157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1 share, 4 buyers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AF2FE911-F778-682B-6D73-ACFA24E5FAC2}"/>
              </a:ext>
            </a:extLst>
          </p:cNvPr>
          <p:cNvSpPr/>
          <p:nvPr/>
        </p:nvSpPr>
        <p:spPr>
          <a:xfrm>
            <a:off x="4641275" y="2979377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Who gets to buy?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D8EAB7D-7673-0A52-9E1E-9024D662074D}"/>
              </a:ext>
            </a:extLst>
          </p:cNvPr>
          <p:cNvSpPr/>
          <p:nvPr/>
        </p:nvSpPr>
        <p:spPr>
          <a:xfrm>
            <a:off x="4674779" y="4461597"/>
            <a:ext cx="3463637" cy="1024803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whoever asked first!</a:t>
            </a:r>
          </a:p>
        </p:txBody>
      </p:sp>
    </p:spTree>
    <p:extLst>
      <p:ext uri="{BB962C8B-B14F-4D97-AF65-F5344CB8AC3E}">
        <p14:creationId xmlns:p14="http://schemas.microsoft.com/office/powerpoint/2010/main" val="11796732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52BF5-3015-D126-2799-1281798A1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3F751-6B8B-47A8-38C2-14DA7EDA8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CC7D2A-720C-518A-83C6-19913CA086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6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763ADF05-A92F-8F33-CDBF-32658D487B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1204A95F-8644-A11D-66BA-A7F77A63C9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E6806E34-1994-1032-9DF6-4D6F18656CC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6306CEE3-B920-4472-B56E-A4FA29F0066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9BDBF1A2-F83E-4662-7812-48D08B377F1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265217" y="4461597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0BA45E6-65FC-EE9D-562C-7656E86B693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615740" y="4774719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61637A50-1F56-9708-958E-32EE0A34805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198716" y="4737246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5D21E5F1-9028-51CE-CAA1-1CCC9B754E9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530140" y="5188913"/>
            <a:ext cx="914400" cy="914400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78C82B5A-FD9B-0AD2-CA57-ED29DE40B2A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4FF3DAD-CAB3-CE75-7E3C-A5924B0BA599}"/>
              </a:ext>
            </a:extLst>
          </p:cNvPr>
          <p:cNvSpPr/>
          <p:nvPr/>
        </p:nvSpPr>
        <p:spPr>
          <a:xfrm>
            <a:off x="4087090" y="1497331"/>
            <a:ext cx="4633899" cy="1325562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whoever asked first!</a:t>
            </a:r>
          </a:p>
        </p:txBody>
      </p:sp>
      <p:pic>
        <p:nvPicPr>
          <p:cNvPr id="15" name="Graphic 14" descr="Question Mark with solid fill">
            <a:extLst>
              <a:ext uri="{FF2B5EF4-FFF2-40B4-BE49-F238E27FC236}">
                <a16:creationId xmlns:a16="http://schemas.microsoft.com/office/drawing/2014/main" id="{E11FD498-207A-9028-8322-FE0743020624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906043" y="2095015"/>
            <a:ext cx="700266" cy="700266"/>
          </a:xfrm>
          <a:prstGeom prst="rect">
            <a:avLst/>
          </a:prstGeom>
        </p:spPr>
      </p:pic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887983B-C5B4-84EC-7B7F-4EA9A0AC10E3}"/>
              </a:ext>
            </a:extLst>
          </p:cNvPr>
          <p:cNvSpPr/>
          <p:nvPr/>
        </p:nvSpPr>
        <p:spPr>
          <a:xfrm>
            <a:off x="4087089" y="3429000"/>
            <a:ext cx="4633899" cy="1325562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Fair Ordering</a:t>
            </a:r>
          </a:p>
        </p:txBody>
      </p:sp>
    </p:spTree>
    <p:extLst>
      <p:ext uri="{BB962C8B-B14F-4D97-AF65-F5344CB8AC3E}">
        <p14:creationId xmlns:p14="http://schemas.microsoft.com/office/powerpoint/2010/main" val="37656171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800" decel="100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8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8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8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7D4A5-D651-D3C3-8649-9CFAF4667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A6D03A-36F6-F4E0-EC75-18C40614C4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7</a:t>
            </a:fld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2C8FC84-EAAD-1221-F163-436F2202A9B9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065C38A0-9F02-76CC-4131-A053426E3F80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true occurrence order!</a:t>
            </a:r>
          </a:p>
        </p:txBody>
      </p:sp>
    </p:spTree>
    <p:extLst>
      <p:ext uri="{BB962C8B-B14F-4D97-AF65-F5344CB8AC3E}">
        <p14:creationId xmlns:p14="http://schemas.microsoft.com/office/powerpoint/2010/main" val="6496972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A8EE5-9896-D219-FEFD-BAB86FD7A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BDF054-2ED4-CA1C-AA20-9F70C10E7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8</a:t>
            </a:fld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BBBCEB2-26A3-658D-F231-989E202F3652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306A10E-A842-A905-2E58-FFDC77A561A4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7362699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36C3F-E0D9-CCF6-6EDC-344EF354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16C38AD-286E-6BEC-587F-0F0AFC41FBD4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1C8C80E-324D-EB67-6265-070A904E6CE6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1A839E66-BEA0-81BA-8867-ABFBBB3E57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9C149CE8-66E3-F44F-0903-02D7D13A77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D43E9C66-54D7-DEF4-080C-83D218B7C9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FE37185-24A6-CA4E-3DEB-53A208302930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4EA5CE6-A8B0-2532-7CE6-430D07B011BA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</p:spTree>
    <p:extLst>
      <p:ext uri="{BB962C8B-B14F-4D97-AF65-F5344CB8AC3E}">
        <p14:creationId xmlns:p14="http://schemas.microsoft.com/office/powerpoint/2010/main" val="21266008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41029D-4069-17CF-D434-22F57DDB8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9FC8D823-2CE1-F25E-5A92-A5E8FB33398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2E305E6-83BB-4E31-085D-B5D448F9501A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75F368-F386-F025-27B0-A50D20FD8169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3C14C7E-1A35-1930-5B6D-9852AE4FC129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73FA1D15-FEC0-2391-50BC-CC497BE102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636BF5F-2E05-E6BA-3CBD-83428D15BD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197BA0B4-9CDB-B6A4-5FA0-8F51217947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DCBCDB3-9A65-0532-C569-373A93E55C49}"/>
              </a:ext>
            </a:extLst>
          </p:cNvPr>
          <p:cNvSpPr/>
          <p:nvPr/>
        </p:nvSpPr>
        <p:spPr>
          <a:xfrm>
            <a:off x="7807037" y="4433455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A7A395D-F46A-E025-D24B-DBC116EE914C}"/>
              </a:ext>
            </a:extLst>
          </p:cNvPr>
          <p:cNvSpPr/>
          <p:nvPr/>
        </p:nvSpPr>
        <p:spPr>
          <a:xfrm>
            <a:off x="7831283" y="4890655"/>
            <a:ext cx="2279072" cy="45719"/>
          </a:xfrm>
          <a:custGeom>
            <a:avLst/>
            <a:gdLst>
              <a:gd name="connsiteX0" fmla="*/ 0 w 2279072"/>
              <a:gd name="connsiteY0" fmla="*/ 0 h 45719"/>
              <a:gd name="connsiteX1" fmla="*/ 546977 w 2279072"/>
              <a:gd name="connsiteY1" fmla="*/ 0 h 45719"/>
              <a:gd name="connsiteX2" fmla="*/ 1116745 w 2279072"/>
              <a:gd name="connsiteY2" fmla="*/ 0 h 45719"/>
              <a:gd name="connsiteX3" fmla="*/ 1686513 w 2279072"/>
              <a:gd name="connsiteY3" fmla="*/ 0 h 45719"/>
              <a:gd name="connsiteX4" fmla="*/ 2279072 w 2279072"/>
              <a:gd name="connsiteY4" fmla="*/ 0 h 45719"/>
              <a:gd name="connsiteX5" fmla="*/ 2279072 w 2279072"/>
              <a:gd name="connsiteY5" fmla="*/ 45719 h 45719"/>
              <a:gd name="connsiteX6" fmla="*/ 1709304 w 2279072"/>
              <a:gd name="connsiteY6" fmla="*/ 45719 h 45719"/>
              <a:gd name="connsiteX7" fmla="*/ 1185117 w 2279072"/>
              <a:gd name="connsiteY7" fmla="*/ 45719 h 45719"/>
              <a:gd name="connsiteX8" fmla="*/ 660931 w 2279072"/>
              <a:gd name="connsiteY8" fmla="*/ 45719 h 45719"/>
              <a:gd name="connsiteX9" fmla="*/ 0 w 2279072"/>
              <a:gd name="connsiteY9" fmla="*/ 45719 h 45719"/>
              <a:gd name="connsiteX10" fmla="*/ 0 w 2279072"/>
              <a:gd name="connsiteY10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279072" h="45719" fill="none" extrusionOk="0">
                <a:moveTo>
                  <a:pt x="0" y="0"/>
                </a:moveTo>
                <a:cubicBezTo>
                  <a:pt x="243645" y="-65220"/>
                  <a:pt x="422659" y="13369"/>
                  <a:pt x="546977" y="0"/>
                </a:cubicBezTo>
                <a:cubicBezTo>
                  <a:pt x="671295" y="-13369"/>
                  <a:pt x="880606" y="67309"/>
                  <a:pt x="1116745" y="0"/>
                </a:cubicBezTo>
                <a:cubicBezTo>
                  <a:pt x="1352884" y="-67309"/>
                  <a:pt x="1557373" y="24558"/>
                  <a:pt x="1686513" y="0"/>
                </a:cubicBezTo>
                <a:cubicBezTo>
                  <a:pt x="1815653" y="-24558"/>
                  <a:pt x="2004557" y="16791"/>
                  <a:pt x="2279072" y="0"/>
                </a:cubicBezTo>
                <a:cubicBezTo>
                  <a:pt x="2280264" y="14948"/>
                  <a:pt x="2274874" y="32827"/>
                  <a:pt x="2279072" y="45719"/>
                </a:cubicBezTo>
                <a:cubicBezTo>
                  <a:pt x="2101378" y="96800"/>
                  <a:pt x="1850402" y="-19910"/>
                  <a:pt x="1709304" y="45719"/>
                </a:cubicBezTo>
                <a:cubicBezTo>
                  <a:pt x="1568206" y="111348"/>
                  <a:pt x="1323179" y="22312"/>
                  <a:pt x="1185117" y="45719"/>
                </a:cubicBezTo>
                <a:cubicBezTo>
                  <a:pt x="1047055" y="69126"/>
                  <a:pt x="807091" y="3087"/>
                  <a:pt x="660931" y="45719"/>
                </a:cubicBezTo>
                <a:cubicBezTo>
                  <a:pt x="514771" y="88351"/>
                  <a:pt x="237813" y="22655"/>
                  <a:pt x="0" y="45719"/>
                </a:cubicBezTo>
                <a:cubicBezTo>
                  <a:pt x="-1477" y="33426"/>
                  <a:pt x="4017" y="15270"/>
                  <a:pt x="0" y="0"/>
                </a:cubicBezTo>
                <a:close/>
              </a:path>
              <a:path w="2279072" h="45719" stroke="0" extrusionOk="0">
                <a:moveTo>
                  <a:pt x="0" y="0"/>
                </a:moveTo>
                <a:cubicBezTo>
                  <a:pt x="250598" y="-3467"/>
                  <a:pt x="323486" y="32446"/>
                  <a:pt x="546977" y="0"/>
                </a:cubicBezTo>
                <a:cubicBezTo>
                  <a:pt x="770468" y="-32446"/>
                  <a:pt x="878294" y="34001"/>
                  <a:pt x="1048373" y="0"/>
                </a:cubicBezTo>
                <a:cubicBezTo>
                  <a:pt x="1218452" y="-34001"/>
                  <a:pt x="1503102" y="629"/>
                  <a:pt x="1663723" y="0"/>
                </a:cubicBezTo>
                <a:cubicBezTo>
                  <a:pt x="1824344" y="-629"/>
                  <a:pt x="1975870" y="56582"/>
                  <a:pt x="2279072" y="0"/>
                </a:cubicBezTo>
                <a:cubicBezTo>
                  <a:pt x="2280955" y="13748"/>
                  <a:pt x="2277293" y="34312"/>
                  <a:pt x="2279072" y="45719"/>
                </a:cubicBezTo>
                <a:cubicBezTo>
                  <a:pt x="2129653" y="96407"/>
                  <a:pt x="1986856" y="-4182"/>
                  <a:pt x="1754885" y="45719"/>
                </a:cubicBezTo>
                <a:cubicBezTo>
                  <a:pt x="1522914" y="95620"/>
                  <a:pt x="1484423" y="20627"/>
                  <a:pt x="1230699" y="45719"/>
                </a:cubicBezTo>
                <a:cubicBezTo>
                  <a:pt x="976975" y="70811"/>
                  <a:pt x="762965" y="-26584"/>
                  <a:pt x="615349" y="45719"/>
                </a:cubicBezTo>
                <a:cubicBezTo>
                  <a:pt x="467733" y="118022"/>
                  <a:pt x="131579" y="7807"/>
                  <a:pt x="0" y="45719"/>
                </a:cubicBezTo>
                <a:cubicBezTo>
                  <a:pt x="-547" y="32491"/>
                  <a:pt x="4088" y="1699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0B349F8-F4F7-FE47-282B-85C26BBA74B6}"/>
              </a:ext>
            </a:extLst>
          </p:cNvPr>
          <p:cNvSpPr/>
          <p:nvPr/>
        </p:nvSpPr>
        <p:spPr>
          <a:xfrm>
            <a:off x="7872846" y="5302136"/>
            <a:ext cx="1132609" cy="45719"/>
          </a:xfrm>
          <a:custGeom>
            <a:avLst/>
            <a:gdLst>
              <a:gd name="connsiteX0" fmla="*/ 0 w 1132609"/>
              <a:gd name="connsiteY0" fmla="*/ 0 h 45719"/>
              <a:gd name="connsiteX1" fmla="*/ 588957 w 1132609"/>
              <a:gd name="connsiteY1" fmla="*/ 0 h 45719"/>
              <a:gd name="connsiteX2" fmla="*/ 1132609 w 1132609"/>
              <a:gd name="connsiteY2" fmla="*/ 0 h 45719"/>
              <a:gd name="connsiteX3" fmla="*/ 1132609 w 1132609"/>
              <a:gd name="connsiteY3" fmla="*/ 45719 h 45719"/>
              <a:gd name="connsiteX4" fmla="*/ 577631 w 1132609"/>
              <a:gd name="connsiteY4" fmla="*/ 45719 h 45719"/>
              <a:gd name="connsiteX5" fmla="*/ 0 w 1132609"/>
              <a:gd name="connsiteY5" fmla="*/ 45719 h 45719"/>
              <a:gd name="connsiteX6" fmla="*/ 0 w 1132609"/>
              <a:gd name="connsiteY6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32609" h="45719" fill="none" extrusionOk="0">
                <a:moveTo>
                  <a:pt x="0" y="0"/>
                </a:moveTo>
                <a:cubicBezTo>
                  <a:pt x="220432" y="-43673"/>
                  <a:pt x="397974" y="43750"/>
                  <a:pt x="588957" y="0"/>
                </a:cubicBezTo>
                <a:cubicBezTo>
                  <a:pt x="779940" y="-43750"/>
                  <a:pt x="948055" y="3532"/>
                  <a:pt x="1132609" y="0"/>
                </a:cubicBezTo>
                <a:cubicBezTo>
                  <a:pt x="1136090" y="9574"/>
                  <a:pt x="1130962" y="29744"/>
                  <a:pt x="1132609" y="45719"/>
                </a:cubicBezTo>
                <a:cubicBezTo>
                  <a:pt x="890896" y="111788"/>
                  <a:pt x="783495" y="-20152"/>
                  <a:pt x="577631" y="45719"/>
                </a:cubicBezTo>
                <a:cubicBezTo>
                  <a:pt x="371767" y="111590"/>
                  <a:pt x="185214" y="29915"/>
                  <a:pt x="0" y="45719"/>
                </a:cubicBezTo>
                <a:cubicBezTo>
                  <a:pt x="-2659" y="25136"/>
                  <a:pt x="4833" y="13660"/>
                  <a:pt x="0" y="0"/>
                </a:cubicBezTo>
                <a:close/>
              </a:path>
              <a:path w="1132609" h="45719" stroke="0" extrusionOk="0">
                <a:moveTo>
                  <a:pt x="0" y="0"/>
                </a:moveTo>
                <a:cubicBezTo>
                  <a:pt x="150607" y="-58387"/>
                  <a:pt x="297933" y="48823"/>
                  <a:pt x="554978" y="0"/>
                </a:cubicBezTo>
                <a:cubicBezTo>
                  <a:pt x="812023" y="-48823"/>
                  <a:pt x="862205" y="3488"/>
                  <a:pt x="1132609" y="0"/>
                </a:cubicBezTo>
                <a:cubicBezTo>
                  <a:pt x="1137115" y="9407"/>
                  <a:pt x="1132276" y="23614"/>
                  <a:pt x="1132609" y="45719"/>
                </a:cubicBezTo>
                <a:cubicBezTo>
                  <a:pt x="855846" y="54093"/>
                  <a:pt x="780892" y="38970"/>
                  <a:pt x="566305" y="45719"/>
                </a:cubicBezTo>
                <a:cubicBezTo>
                  <a:pt x="351718" y="52468"/>
                  <a:pt x="145629" y="-4692"/>
                  <a:pt x="0" y="45719"/>
                </a:cubicBezTo>
                <a:cubicBezTo>
                  <a:pt x="-1446" y="25972"/>
                  <a:pt x="4445" y="11312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8580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63E67-747F-E98E-5C3E-30AC65B44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B39B488-FFCF-4D9E-BC64-C6EBB042959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124650B-C049-5490-96F4-2BCA96ECCBF0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58BF78D1-9AD1-EC75-CE7B-36EF55E7D0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2C559097-9514-B530-6FBD-4B0F122E66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D04E2911-042B-67BC-59B9-97355922B2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044EDB2-0A12-3185-E19B-24E392210F39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D782981-690E-08EC-E25F-A4B5811B06F7}"/>
              </a:ext>
            </a:extLst>
          </p:cNvPr>
          <p:cNvSpPr/>
          <p:nvPr/>
        </p:nvSpPr>
        <p:spPr>
          <a:xfrm>
            <a:off x="7807037" y="4433455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BD47ED-C22B-E0E4-0B7C-87C479F8A34F}"/>
              </a:ext>
            </a:extLst>
          </p:cNvPr>
          <p:cNvSpPr/>
          <p:nvPr/>
        </p:nvSpPr>
        <p:spPr>
          <a:xfrm>
            <a:off x="7831283" y="4890655"/>
            <a:ext cx="2279072" cy="45719"/>
          </a:xfrm>
          <a:custGeom>
            <a:avLst/>
            <a:gdLst>
              <a:gd name="connsiteX0" fmla="*/ 0 w 2279072"/>
              <a:gd name="connsiteY0" fmla="*/ 0 h 45719"/>
              <a:gd name="connsiteX1" fmla="*/ 546977 w 2279072"/>
              <a:gd name="connsiteY1" fmla="*/ 0 h 45719"/>
              <a:gd name="connsiteX2" fmla="*/ 1116745 w 2279072"/>
              <a:gd name="connsiteY2" fmla="*/ 0 h 45719"/>
              <a:gd name="connsiteX3" fmla="*/ 1686513 w 2279072"/>
              <a:gd name="connsiteY3" fmla="*/ 0 h 45719"/>
              <a:gd name="connsiteX4" fmla="*/ 2279072 w 2279072"/>
              <a:gd name="connsiteY4" fmla="*/ 0 h 45719"/>
              <a:gd name="connsiteX5" fmla="*/ 2279072 w 2279072"/>
              <a:gd name="connsiteY5" fmla="*/ 45719 h 45719"/>
              <a:gd name="connsiteX6" fmla="*/ 1709304 w 2279072"/>
              <a:gd name="connsiteY6" fmla="*/ 45719 h 45719"/>
              <a:gd name="connsiteX7" fmla="*/ 1185117 w 2279072"/>
              <a:gd name="connsiteY7" fmla="*/ 45719 h 45719"/>
              <a:gd name="connsiteX8" fmla="*/ 660931 w 2279072"/>
              <a:gd name="connsiteY8" fmla="*/ 45719 h 45719"/>
              <a:gd name="connsiteX9" fmla="*/ 0 w 2279072"/>
              <a:gd name="connsiteY9" fmla="*/ 45719 h 45719"/>
              <a:gd name="connsiteX10" fmla="*/ 0 w 2279072"/>
              <a:gd name="connsiteY10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279072" h="45719" fill="none" extrusionOk="0">
                <a:moveTo>
                  <a:pt x="0" y="0"/>
                </a:moveTo>
                <a:cubicBezTo>
                  <a:pt x="243645" y="-65220"/>
                  <a:pt x="422659" y="13369"/>
                  <a:pt x="546977" y="0"/>
                </a:cubicBezTo>
                <a:cubicBezTo>
                  <a:pt x="671295" y="-13369"/>
                  <a:pt x="880606" y="67309"/>
                  <a:pt x="1116745" y="0"/>
                </a:cubicBezTo>
                <a:cubicBezTo>
                  <a:pt x="1352884" y="-67309"/>
                  <a:pt x="1557373" y="24558"/>
                  <a:pt x="1686513" y="0"/>
                </a:cubicBezTo>
                <a:cubicBezTo>
                  <a:pt x="1815653" y="-24558"/>
                  <a:pt x="2004557" y="16791"/>
                  <a:pt x="2279072" y="0"/>
                </a:cubicBezTo>
                <a:cubicBezTo>
                  <a:pt x="2280264" y="14948"/>
                  <a:pt x="2274874" y="32827"/>
                  <a:pt x="2279072" y="45719"/>
                </a:cubicBezTo>
                <a:cubicBezTo>
                  <a:pt x="2101378" y="96800"/>
                  <a:pt x="1850402" y="-19910"/>
                  <a:pt x="1709304" y="45719"/>
                </a:cubicBezTo>
                <a:cubicBezTo>
                  <a:pt x="1568206" y="111348"/>
                  <a:pt x="1323179" y="22312"/>
                  <a:pt x="1185117" y="45719"/>
                </a:cubicBezTo>
                <a:cubicBezTo>
                  <a:pt x="1047055" y="69126"/>
                  <a:pt x="807091" y="3087"/>
                  <a:pt x="660931" y="45719"/>
                </a:cubicBezTo>
                <a:cubicBezTo>
                  <a:pt x="514771" y="88351"/>
                  <a:pt x="237813" y="22655"/>
                  <a:pt x="0" y="45719"/>
                </a:cubicBezTo>
                <a:cubicBezTo>
                  <a:pt x="-1477" y="33426"/>
                  <a:pt x="4017" y="15270"/>
                  <a:pt x="0" y="0"/>
                </a:cubicBezTo>
                <a:close/>
              </a:path>
              <a:path w="2279072" h="45719" stroke="0" extrusionOk="0">
                <a:moveTo>
                  <a:pt x="0" y="0"/>
                </a:moveTo>
                <a:cubicBezTo>
                  <a:pt x="250598" y="-3467"/>
                  <a:pt x="323486" y="32446"/>
                  <a:pt x="546977" y="0"/>
                </a:cubicBezTo>
                <a:cubicBezTo>
                  <a:pt x="770468" y="-32446"/>
                  <a:pt x="878294" y="34001"/>
                  <a:pt x="1048373" y="0"/>
                </a:cubicBezTo>
                <a:cubicBezTo>
                  <a:pt x="1218452" y="-34001"/>
                  <a:pt x="1503102" y="629"/>
                  <a:pt x="1663723" y="0"/>
                </a:cubicBezTo>
                <a:cubicBezTo>
                  <a:pt x="1824344" y="-629"/>
                  <a:pt x="1975870" y="56582"/>
                  <a:pt x="2279072" y="0"/>
                </a:cubicBezTo>
                <a:cubicBezTo>
                  <a:pt x="2280955" y="13748"/>
                  <a:pt x="2277293" y="34312"/>
                  <a:pt x="2279072" y="45719"/>
                </a:cubicBezTo>
                <a:cubicBezTo>
                  <a:pt x="2129653" y="96407"/>
                  <a:pt x="1986856" y="-4182"/>
                  <a:pt x="1754885" y="45719"/>
                </a:cubicBezTo>
                <a:cubicBezTo>
                  <a:pt x="1522914" y="95620"/>
                  <a:pt x="1484423" y="20627"/>
                  <a:pt x="1230699" y="45719"/>
                </a:cubicBezTo>
                <a:cubicBezTo>
                  <a:pt x="976975" y="70811"/>
                  <a:pt x="762965" y="-26584"/>
                  <a:pt x="615349" y="45719"/>
                </a:cubicBezTo>
                <a:cubicBezTo>
                  <a:pt x="467733" y="118022"/>
                  <a:pt x="131579" y="7807"/>
                  <a:pt x="0" y="45719"/>
                </a:cubicBezTo>
                <a:cubicBezTo>
                  <a:pt x="-547" y="32491"/>
                  <a:pt x="4088" y="1699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2EDFBD2-2775-7590-063A-A4D6D9D6E50C}"/>
              </a:ext>
            </a:extLst>
          </p:cNvPr>
          <p:cNvSpPr/>
          <p:nvPr/>
        </p:nvSpPr>
        <p:spPr>
          <a:xfrm>
            <a:off x="7872846" y="5302136"/>
            <a:ext cx="1132609" cy="45719"/>
          </a:xfrm>
          <a:custGeom>
            <a:avLst/>
            <a:gdLst>
              <a:gd name="connsiteX0" fmla="*/ 0 w 1132609"/>
              <a:gd name="connsiteY0" fmla="*/ 0 h 45719"/>
              <a:gd name="connsiteX1" fmla="*/ 588957 w 1132609"/>
              <a:gd name="connsiteY1" fmla="*/ 0 h 45719"/>
              <a:gd name="connsiteX2" fmla="*/ 1132609 w 1132609"/>
              <a:gd name="connsiteY2" fmla="*/ 0 h 45719"/>
              <a:gd name="connsiteX3" fmla="*/ 1132609 w 1132609"/>
              <a:gd name="connsiteY3" fmla="*/ 45719 h 45719"/>
              <a:gd name="connsiteX4" fmla="*/ 577631 w 1132609"/>
              <a:gd name="connsiteY4" fmla="*/ 45719 h 45719"/>
              <a:gd name="connsiteX5" fmla="*/ 0 w 1132609"/>
              <a:gd name="connsiteY5" fmla="*/ 45719 h 45719"/>
              <a:gd name="connsiteX6" fmla="*/ 0 w 1132609"/>
              <a:gd name="connsiteY6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32609" h="45719" fill="none" extrusionOk="0">
                <a:moveTo>
                  <a:pt x="0" y="0"/>
                </a:moveTo>
                <a:cubicBezTo>
                  <a:pt x="220432" y="-43673"/>
                  <a:pt x="397974" y="43750"/>
                  <a:pt x="588957" y="0"/>
                </a:cubicBezTo>
                <a:cubicBezTo>
                  <a:pt x="779940" y="-43750"/>
                  <a:pt x="948055" y="3532"/>
                  <a:pt x="1132609" y="0"/>
                </a:cubicBezTo>
                <a:cubicBezTo>
                  <a:pt x="1136090" y="9574"/>
                  <a:pt x="1130962" y="29744"/>
                  <a:pt x="1132609" y="45719"/>
                </a:cubicBezTo>
                <a:cubicBezTo>
                  <a:pt x="890896" y="111788"/>
                  <a:pt x="783495" y="-20152"/>
                  <a:pt x="577631" y="45719"/>
                </a:cubicBezTo>
                <a:cubicBezTo>
                  <a:pt x="371767" y="111590"/>
                  <a:pt x="185214" y="29915"/>
                  <a:pt x="0" y="45719"/>
                </a:cubicBezTo>
                <a:cubicBezTo>
                  <a:pt x="-2659" y="25136"/>
                  <a:pt x="4833" y="13660"/>
                  <a:pt x="0" y="0"/>
                </a:cubicBezTo>
                <a:close/>
              </a:path>
              <a:path w="1132609" h="45719" stroke="0" extrusionOk="0">
                <a:moveTo>
                  <a:pt x="0" y="0"/>
                </a:moveTo>
                <a:cubicBezTo>
                  <a:pt x="150607" y="-58387"/>
                  <a:pt x="297933" y="48823"/>
                  <a:pt x="554978" y="0"/>
                </a:cubicBezTo>
                <a:cubicBezTo>
                  <a:pt x="812023" y="-48823"/>
                  <a:pt x="862205" y="3488"/>
                  <a:pt x="1132609" y="0"/>
                </a:cubicBezTo>
                <a:cubicBezTo>
                  <a:pt x="1137115" y="9407"/>
                  <a:pt x="1132276" y="23614"/>
                  <a:pt x="1132609" y="45719"/>
                </a:cubicBezTo>
                <a:cubicBezTo>
                  <a:pt x="855846" y="54093"/>
                  <a:pt x="780892" y="38970"/>
                  <a:pt x="566305" y="45719"/>
                </a:cubicBezTo>
                <a:cubicBezTo>
                  <a:pt x="351718" y="52468"/>
                  <a:pt x="145629" y="-4692"/>
                  <a:pt x="0" y="45719"/>
                </a:cubicBezTo>
                <a:cubicBezTo>
                  <a:pt x="-1446" y="25972"/>
                  <a:pt x="4445" y="11312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68B73FAA-2D88-E3CA-1842-303D5AB49B38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2F4316E-4D60-0685-B924-82F9911EE2EF}"/>
              </a:ext>
            </a:extLst>
          </p:cNvPr>
          <p:cNvSpPr/>
          <p:nvPr/>
        </p:nvSpPr>
        <p:spPr>
          <a:xfrm>
            <a:off x="3342410" y="3701467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198F500-835C-1B85-3137-B6D2BD78756B}"/>
              </a:ext>
            </a:extLst>
          </p:cNvPr>
          <p:cNvSpPr/>
          <p:nvPr/>
        </p:nvSpPr>
        <p:spPr>
          <a:xfrm>
            <a:off x="2763982" y="4340220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930B984-6FBA-128B-E878-BFADF71E990C}"/>
              </a:ext>
            </a:extLst>
          </p:cNvPr>
          <p:cNvSpPr/>
          <p:nvPr/>
        </p:nvSpPr>
        <p:spPr>
          <a:xfrm>
            <a:off x="2763982" y="4951264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7659006-7345-9F6B-4637-54DAE22393F6}"/>
              </a:ext>
            </a:extLst>
          </p:cNvPr>
          <p:cNvSpPr/>
          <p:nvPr/>
        </p:nvSpPr>
        <p:spPr>
          <a:xfrm>
            <a:off x="2746664" y="5531605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6595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F0BC2-790E-4C10-6187-B542DA3CF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30C2301-B1A5-44C9-C219-26877762654C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EFB9C1EF-BFA6-401A-AFF8-EA2BC2EAE5E6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pic>
        <p:nvPicPr>
          <p:cNvPr id="8" name="Graphic 7" descr="Clock with solid fill">
            <a:extLst>
              <a:ext uri="{FF2B5EF4-FFF2-40B4-BE49-F238E27FC236}">
                <a16:creationId xmlns:a16="http://schemas.microsoft.com/office/drawing/2014/main" id="{795BFF8D-62AC-EF02-5604-67FFFA340D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10" name="Graphic 9" descr="Clock with solid fill">
            <a:extLst>
              <a:ext uri="{FF2B5EF4-FFF2-40B4-BE49-F238E27FC236}">
                <a16:creationId xmlns:a16="http://schemas.microsoft.com/office/drawing/2014/main" id="{92A2C1AA-3206-F2D3-E59D-1637D48192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11" name="Graphic 10" descr="Clock with solid fill">
            <a:extLst>
              <a:ext uri="{FF2B5EF4-FFF2-40B4-BE49-F238E27FC236}">
                <a16:creationId xmlns:a16="http://schemas.microsoft.com/office/drawing/2014/main" id="{086DAB47-3785-8FE0-71E7-F3A781F76E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2409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33577-DB23-406A-683F-0394CB80C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6D456BD0-E400-D4EE-AD70-BD7EF39072B3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4A9D1208-A94A-4281-A206-AFA15969897A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5C0259C-4A66-F421-79AE-FC935693F219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It’s impossible to get the True timestamp.</a:t>
            </a:r>
          </a:p>
        </p:txBody>
      </p:sp>
      <p:pic>
        <p:nvPicPr>
          <p:cNvPr id="12" name="Graphic 11" descr="Clock with solid fill">
            <a:extLst>
              <a:ext uri="{FF2B5EF4-FFF2-40B4-BE49-F238E27FC236}">
                <a16:creationId xmlns:a16="http://schemas.microsoft.com/office/drawing/2014/main" id="{392C6871-0B8F-6DD4-36BF-39F962D67D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13" name="Graphic 12" descr="Clock with solid fill">
            <a:extLst>
              <a:ext uri="{FF2B5EF4-FFF2-40B4-BE49-F238E27FC236}">
                <a16:creationId xmlns:a16="http://schemas.microsoft.com/office/drawing/2014/main" id="{AA102FCB-6B46-FFE3-C81F-BA97F26E5C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14" name="Graphic 13" descr="Clock with solid fill">
            <a:extLst>
              <a:ext uri="{FF2B5EF4-FFF2-40B4-BE49-F238E27FC236}">
                <a16:creationId xmlns:a16="http://schemas.microsoft.com/office/drawing/2014/main" id="{7F1CB5A1-1769-5822-029B-BBCBA2935F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35475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1C12B-E042-5E1A-FFAA-6D9BE649E2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5CC6B78-2FD9-39DE-AF3A-6EA10A33678F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FC08AEF-07D4-C0E7-3348-73EF3B7CAF21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EDDB4B0-88B8-60A8-1F28-5FC75CBCEA33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It’s impossible to get the True timestamp.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5171AB-8276-0193-D81A-C9E5B9378A6C}"/>
              </a:ext>
            </a:extLst>
          </p:cNvPr>
          <p:cNvSpPr txBox="1"/>
          <p:nvPr/>
        </p:nvSpPr>
        <p:spPr>
          <a:xfrm>
            <a:off x="889474" y="3788772"/>
            <a:ext cx="102190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i.e., impossible to remove all the error from clocks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44FD225-5FBD-7B73-DC96-0048C0063BB0}"/>
              </a:ext>
            </a:extLst>
          </p:cNvPr>
          <p:cNvSpPr/>
          <p:nvPr/>
        </p:nvSpPr>
        <p:spPr>
          <a:xfrm>
            <a:off x="623454" y="4435103"/>
            <a:ext cx="11018781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9713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we can compare two True timestamps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AF933B63-F3AA-7CB8-880F-9EB7D30F62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308EAF3D-DDF1-290A-9827-F28C6386D9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6E01F937-1BCF-A7F7-6A87-A3148379F4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2273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436E5-4FEA-3A52-B65B-9787253CB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921B4FE-97FF-CD60-66E5-739695CEB522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84B8510-BCAE-1D56-21B8-7FA0598D8D48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20E7853-24F6-7476-FC6F-B1790BCA50C2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It’s impossible to get the True timestamp.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94DE15B-31D9-EF4E-36EB-CEFAEA469778}"/>
              </a:ext>
            </a:extLst>
          </p:cNvPr>
          <p:cNvSpPr txBox="1"/>
          <p:nvPr/>
        </p:nvSpPr>
        <p:spPr>
          <a:xfrm>
            <a:off x="889474" y="3788772"/>
            <a:ext cx="102190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i.e., impossible to remove all the error from clocks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70DF6C5-9222-68CA-202A-16C2EC532602}"/>
              </a:ext>
            </a:extLst>
          </p:cNvPr>
          <p:cNvSpPr/>
          <p:nvPr/>
        </p:nvSpPr>
        <p:spPr>
          <a:xfrm>
            <a:off x="623454" y="4435103"/>
            <a:ext cx="11018781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9713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we can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uLnTx/>
                <a:uFillTx/>
                <a:latin typeface="Aptos" panose="02110004020202020204"/>
                <a:ea typeface="+mn-ea"/>
                <a:cs typeface="+mn-cs"/>
              </a:rPr>
              <a:t>compare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9713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two True timestamps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3C6860DE-5233-2F93-9FFF-85EDDD81DC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F74095B0-4A7F-BCE7-E2E8-4D0B54428A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4F932F87-C9A4-71E8-93AB-1067A1B4D6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2380D90-7ABC-8429-CC30-02EBF51DCF3C}"/>
              </a:ext>
            </a:extLst>
          </p:cNvPr>
          <p:cNvSpPr txBox="1"/>
          <p:nvPr/>
        </p:nvSpPr>
        <p:spPr>
          <a:xfrm>
            <a:off x="6281937" y="5251440"/>
            <a:ext cx="26782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highlight>
                  <a:srgbClr val="FFFF00"/>
                </a:highlight>
              </a:rPr>
              <a:t>Probabilistic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E7DBA8C-7B7C-A79B-F7F1-6743E78EA568}"/>
              </a:ext>
            </a:extLst>
          </p:cNvPr>
          <p:cNvCxnSpPr>
            <a:cxnSpLocks/>
            <a:endCxn id="8" idx="1"/>
          </p:cNvCxnSpPr>
          <p:nvPr/>
        </p:nvCxnSpPr>
        <p:spPr>
          <a:xfrm>
            <a:off x="5514109" y="5126182"/>
            <a:ext cx="767828" cy="448424"/>
          </a:xfrm>
          <a:prstGeom prst="straightConnector1">
            <a:avLst/>
          </a:prstGeom>
          <a:ln w="1079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31529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6A5D3-DCB5-097E-BBC1-63789ACB8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AF89A489-9BC9-C35E-4934-CA0D5C634DF2}"/>
              </a:ext>
            </a:extLst>
          </p:cNvPr>
          <p:cNvSpPr/>
          <p:nvPr/>
        </p:nvSpPr>
        <p:spPr>
          <a:xfrm>
            <a:off x="2568261" y="561804"/>
            <a:ext cx="4702242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000" dirty="0">
                <a:solidFill>
                  <a:prstClr val="black"/>
                </a:solidFill>
                <a:latin typeface="Aptos" panose="02110004020202020204"/>
              </a:rPr>
              <a:t>      </a:t>
            </a: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Probabilistic 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B60BA4BB-7650-CFA4-AC86-15D0AE96D413}"/>
              </a:ext>
            </a:extLst>
          </p:cNvPr>
          <p:cNvSpPr/>
          <p:nvPr/>
        </p:nvSpPr>
        <p:spPr>
          <a:xfrm>
            <a:off x="7287490" y="554183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E8D2AF0-6BE7-A45D-6A1F-C1EE5F4AED42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It’s impossible to get the True timestamp.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43BC77-DCAD-88A3-AE02-DE7F3BD4BD40}"/>
              </a:ext>
            </a:extLst>
          </p:cNvPr>
          <p:cNvSpPr txBox="1"/>
          <p:nvPr/>
        </p:nvSpPr>
        <p:spPr>
          <a:xfrm>
            <a:off x="889474" y="3788772"/>
            <a:ext cx="102190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i.e., impossible to remove all the error from clocks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FAF4C24-FF1A-64D3-EACB-A25A4467322D}"/>
              </a:ext>
            </a:extLst>
          </p:cNvPr>
          <p:cNvSpPr/>
          <p:nvPr/>
        </p:nvSpPr>
        <p:spPr>
          <a:xfrm>
            <a:off x="623454" y="4435103"/>
            <a:ext cx="11018781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9713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we can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uLnTx/>
                <a:uFillTx/>
                <a:latin typeface="Aptos" panose="02110004020202020204"/>
                <a:ea typeface="+mn-ea"/>
                <a:cs typeface="+mn-cs"/>
              </a:rPr>
              <a:t>compare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9713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two True timestamps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56A1BCF8-5391-CBA1-F6CB-BE4FFD13B1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AAA02EF-970F-F74F-1E31-A5A128296F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A17E4295-B461-3390-5104-0A06DD9AB6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F55705BE-6C8E-1A69-CC8E-E2AA41245518}"/>
              </a:ext>
            </a:extLst>
          </p:cNvPr>
          <p:cNvSpPr/>
          <p:nvPr/>
        </p:nvSpPr>
        <p:spPr>
          <a:xfrm>
            <a:off x="623453" y="5545338"/>
            <a:ext cx="11018780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Enabled by treating time as a Random Variable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91FD4E88-32BD-0D72-B59F-15B6EDAA0427}"/>
              </a:ext>
            </a:extLst>
          </p:cNvPr>
          <p:cNvSpPr/>
          <p:nvPr/>
        </p:nvSpPr>
        <p:spPr>
          <a:xfrm>
            <a:off x="314510" y="561804"/>
            <a:ext cx="2951017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Tommy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AA1249CE-0063-4777-1DC7-0B6D9CC4E60D}"/>
              </a:ext>
            </a:extLst>
          </p:cNvPr>
          <p:cNvSpPr/>
          <p:nvPr/>
        </p:nvSpPr>
        <p:spPr>
          <a:xfrm>
            <a:off x="2940296" y="561804"/>
            <a:ext cx="342218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40265452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F5D50-8F1C-2BB8-764C-AB7985502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398807D-BF3B-7E0E-F1BA-F3D2A0193C0A}"/>
              </a:ext>
            </a:extLst>
          </p:cNvPr>
          <p:cNvSpPr/>
          <p:nvPr/>
        </p:nvSpPr>
        <p:spPr>
          <a:xfrm>
            <a:off x="8091055" y="1757113"/>
            <a:ext cx="2951017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Tommy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A88B2A58-92CB-2E41-CC60-98B29EB22764}"/>
              </a:ext>
            </a:extLst>
          </p:cNvPr>
          <p:cNvSpPr/>
          <p:nvPr/>
        </p:nvSpPr>
        <p:spPr>
          <a:xfrm>
            <a:off x="609599" y="1812532"/>
            <a:ext cx="2951017" cy="9906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bg1"/>
                </a:solidFill>
              </a:rPr>
              <a:t>FIFO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958510F-084C-7AC3-29DF-63139BD9705D}"/>
              </a:ext>
            </a:extLst>
          </p:cNvPr>
          <p:cNvSpPr/>
          <p:nvPr/>
        </p:nvSpPr>
        <p:spPr>
          <a:xfrm>
            <a:off x="4315689" y="1812532"/>
            <a:ext cx="2951017" cy="9906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bg1"/>
                </a:solidFill>
              </a:rPr>
              <a:t>Onyx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C9CD885-647B-8B30-795D-38E72B83CE1A}"/>
              </a:ext>
            </a:extLst>
          </p:cNvPr>
          <p:cNvSpPr/>
          <p:nvPr/>
        </p:nvSpPr>
        <p:spPr>
          <a:xfrm>
            <a:off x="706581" y="1454728"/>
            <a:ext cx="6560125" cy="180109"/>
          </a:xfrm>
          <a:custGeom>
            <a:avLst/>
            <a:gdLst>
              <a:gd name="connsiteX0" fmla="*/ 0 w 6560125"/>
              <a:gd name="connsiteY0" fmla="*/ 0 h 180109"/>
              <a:gd name="connsiteX1" fmla="*/ 399571 w 6560125"/>
              <a:gd name="connsiteY1" fmla="*/ 0 h 180109"/>
              <a:gd name="connsiteX2" fmla="*/ 1127149 w 6560125"/>
              <a:gd name="connsiteY2" fmla="*/ 0 h 180109"/>
              <a:gd name="connsiteX3" fmla="*/ 1789125 w 6560125"/>
              <a:gd name="connsiteY3" fmla="*/ 0 h 180109"/>
              <a:gd name="connsiteX4" fmla="*/ 2188696 w 6560125"/>
              <a:gd name="connsiteY4" fmla="*/ 0 h 180109"/>
              <a:gd name="connsiteX5" fmla="*/ 2719470 w 6560125"/>
              <a:gd name="connsiteY5" fmla="*/ 0 h 180109"/>
              <a:gd name="connsiteX6" fmla="*/ 3447048 w 6560125"/>
              <a:gd name="connsiteY6" fmla="*/ 0 h 180109"/>
              <a:gd name="connsiteX7" fmla="*/ 4043423 w 6560125"/>
              <a:gd name="connsiteY7" fmla="*/ 0 h 180109"/>
              <a:gd name="connsiteX8" fmla="*/ 4705399 w 6560125"/>
              <a:gd name="connsiteY8" fmla="*/ 0 h 180109"/>
              <a:gd name="connsiteX9" fmla="*/ 5236173 w 6560125"/>
              <a:gd name="connsiteY9" fmla="*/ 0 h 180109"/>
              <a:gd name="connsiteX10" fmla="*/ 5832548 w 6560125"/>
              <a:gd name="connsiteY10" fmla="*/ 0 h 180109"/>
              <a:gd name="connsiteX11" fmla="*/ 6560125 w 6560125"/>
              <a:gd name="connsiteY11" fmla="*/ 0 h 180109"/>
              <a:gd name="connsiteX12" fmla="*/ 6560125 w 6560125"/>
              <a:gd name="connsiteY12" fmla="*/ 180109 h 180109"/>
              <a:gd name="connsiteX13" fmla="*/ 6160554 w 6560125"/>
              <a:gd name="connsiteY13" fmla="*/ 180109 h 180109"/>
              <a:gd name="connsiteX14" fmla="*/ 5760983 w 6560125"/>
              <a:gd name="connsiteY14" fmla="*/ 180109 h 180109"/>
              <a:gd name="connsiteX15" fmla="*/ 5099006 w 6560125"/>
              <a:gd name="connsiteY15" fmla="*/ 180109 h 180109"/>
              <a:gd name="connsiteX16" fmla="*/ 4699435 w 6560125"/>
              <a:gd name="connsiteY16" fmla="*/ 180109 h 180109"/>
              <a:gd name="connsiteX17" fmla="*/ 4103060 w 6560125"/>
              <a:gd name="connsiteY17" fmla="*/ 180109 h 180109"/>
              <a:gd name="connsiteX18" fmla="*/ 3637888 w 6560125"/>
              <a:gd name="connsiteY18" fmla="*/ 180109 h 180109"/>
              <a:gd name="connsiteX19" fmla="*/ 3041513 w 6560125"/>
              <a:gd name="connsiteY19" fmla="*/ 180109 h 180109"/>
              <a:gd name="connsiteX20" fmla="*/ 2445137 w 6560125"/>
              <a:gd name="connsiteY20" fmla="*/ 180109 h 180109"/>
              <a:gd name="connsiteX21" fmla="*/ 1848762 w 6560125"/>
              <a:gd name="connsiteY21" fmla="*/ 180109 h 180109"/>
              <a:gd name="connsiteX22" fmla="*/ 1252387 w 6560125"/>
              <a:gd name="connsiteY22" fmla="*/ 180109 h 180109"/>
              <a:gd name="connsiteX23" fmla="*/ 721614 w 6560125"/>
              <a:gd name="connsiteY23" fmla="*/ 180109 h 180109"/>
              <a:gd name="connsiteX24" fmla="*/ 0 w 6560125"/>
              <a:gd name="connsiteY24" fmla="*/ 180109 h 180109"/>
              <a:gd name="connsiteX25" fmla="*/ 0 w 6560125"/>
              <a:gd name="connsiteY25" fmla="*/ 0 h 1801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6560125" h="180109" fill="none" extrusionOk="0">
                <a:moveTo>
                  <a:pt x="0" y="0"/>
                </a:moveTo>
                <a:cubicBezTo>
                  <a:pt x="93079" y="-24371"/>
                  <a:pt x="278315" y="592"/>
                  <a:pt x="399571" y="0"/>
                </a:cubicBezTo>
                <a:cubicBezTo>
                  <a:pt x="520827" y="-592"/>
                  <a:pt x="869396" y="14101"/>
                  <a:pt x="1127149" y="0"/>
                </a:cubicBezTo>
                <a:cubicBezTo>
                  <a:pt x="1384902" y="-14101"/>
                  <a:pt x="1541827" y="74442"/>
                  <a:pt x="1789125" y="0"/>
                </a:cubicBezTo>
                <a:cubicBezTo>
                  <a:pt x="2036423" y="-74442"/>
                  <a:pt x="2042118" y="39310"/>
                  <a:pt x="2188696" y="0"/>
                </a:cubicBezTo>
                <a:cubicBezTo>
                  <a:pt x="2335274" y="-39310"/>
                  <a:pt x="2504451" y="1198"/>
                  <a:pt x="2719470" y="0"/>
                </a:cubicBezTo>
                <a:cubicBezTo>
                  <a:pt x="2934489" y="-1198"/>
                  <a:pt x="3212094" y="76278"/>
                  <a:pt x="3447048" y="0"/>
                </a:cubicBezTo>
                <a:cubicBezTo>
                  <a:pt x="3682002" y="-76278"/>
                  <a:pt x="3884580" y="20218"/>
                  <a:pt x="4043423" y="0"/>
                </a:cubicBezTo>
                <a:cubicBezTo>
                  <a:pt x="4202267" y="-20218"/>
                  <a:pt x="4562783" y="73588"/>
                  <a:pt x="4705399" y="0"/>
                </a:cubicBezTo>
                <a:cubicBezTo>
                  <a:pt x="4848015" y="-73588"/>
                  <a:pt x="5067470" y="45843"/>
                  <a:pt x="5236173" y="0"/>
                </a:cubicBezTo>
                <a:cubicBezTo>
                  <a:pt x="5404876" y="-45843"/>
                  <a:pt x="5638241" y="16924"/>
                  <a:pt x="5832548" y="0"/>
                </a:cubicBezTo>
                <a:cubicBezTo>
                  <a:pt x="6026855" y="-16924"/>
                  <a:pt x="6380958" y="36439"/>
                  <a:pt x="6560125" y="0"/>
                </a:cubicBezTo>
                <a:cubicBezTo>
                  <a:pt x="6572722" y="60361"/>
                  <a:pt x="6552397" y="95898"/>
                  <a:pt x="6560125" y="180109"/>
                </a:cubicBezTo>
                <a:cubicBezTo>
                  <a:pt x="6369462" y="212114"/>
                  <a:pt x="6345447" y="140515"/>
                  <a:pt x="6160554" y="180109"/>
                </a:cubicBezTo>
                <a:cubicBezTo>
                  <a:pt x="5975661" y="219703"/>
                  <a:pt x="5930306" y="150532"/>
                  <a:pt x="5760983" y="180109"/>
                </a:cubicBezTo>
                <a:cubicBezTo>
                  <a:pt x="5591660" y="209686"/>
                  <a:pt x="5285742" y="106575"/>
                  <a:pt x="5099006" y="180109"/>
                </a:cubicBezTo>
                <a:cubicBezTo>
                  <a:pt x="4912270" y="253643"/>
                  <a:pt x="4827180" y="133626"/>
                  <a:pt x="4699435" y="180109"/>
                </a:cubicBezTo>
                <a:cubicBezTo>
                  <a:pt x="4571690" y="226592"/>
                  <a:pt x="4245108" y="141770"/>
                  <a:pt x="4103060" y="180109"/>
                </a:cubicBezTo>
                <a:cubicBezTo>
                  <a:pt x="3961013" y="218448"/>
                  <a:pt x="3826924" y="150872"/>
                  <a:pt x="3637888" y="180109"/>
                </a:cubicBezTo>
                <a:cubicBezTo>
                  <a:pt x="3448852" y="209346"/>
                  <a:pt x="3268535" y="172336"/>
                  <a:pt x="3041513" y="180109"/>
                </a:cubicBezTo>
                <a:cubicBezTo>
                  <a:pt x="2814492" y="187882"/>
                  <a:pt x="2652883" y="165019"/>
                  <a:pt x="2445137" y="180109"/>
                </a:cubicBezTo>
                <a:cubicBezTo>
                  <a:pt x="2237391" y="195199"/>
                  <a:pt x="2124635" y="146621"/>
                  <a:pt x="1848762" y="180109"/>
                </a:cubicBezTo>
                <a:cubicBezTo>
                  <a:pt x="1572890" y="213597"/>
                  <a:pt x="1518016" y="134321"/>
                  <a:pt x="1252387" y="180109"/>
                </a:cubicBezTo>
                <a:cubicBezTo>
                  <a:pt x="986759" y="225897"/>
                  <a:pt x="938880" y="175617"/>
                  <a:pt x="721614" y="180109"/>
                </a:cubicBezTo>
                <a:cubicBezTo>
                  <a:pt x="504348" y="184601"/>
                  <a:pt x="196115" y="172397"/>
                  <a:pt x="0" y="180109"/>
                </a:cubicBezTo>
                <a:cubicBezTo>
                  <a:pt x="-10644" y="113599"/>
                  <a:pt x="8546" y="65985"/>
                  <a:pt x="0" y="0"/>
                </a:cubicBezTo>
                <a:close/>
              </a:path>
              <a:path w="6560125" h="180109" stroke="0" extrusionOk="0">
                <a:moveTo>
                  <a:pt x="0" y="0"/>
                </a:moveTo>
                <a:cubicBezTo>
                  <a:pt x="262678" y="-15794"/>
                  <a:pt x="324387" y="52621"/>
                  <a:pt x="530774" y="0"/>
                </a:cubicBezTo>
                <a:cubicBezTo>
                  <a:pt x="737161" y="-52621"/>
                  <a:pt x="763948" y="1149"/>
                  <a:pt x="930345" y="0"/>
                </a:cubicBezTo>
                <a:cubicBezTo>
                  <a:pt x="1096742" y="-1149"/>
                  <a:pt x="1469441" y="23267"/>
                  <a:pt x="1657923" y="0"/>
                </a:cubicBezTo>
                <a:cubicBezTo>
                  <a:pt x="1846405" y="-23267"/>
                  <a:pt x="1962484" y="53122"/>
                  <a:pt x="2188696" y="0"/>
                </a:cubicBezTo>
                <a:cubicBezTo>
                  <a:pt x="2414908" y="-53122"/>
                  <a:pt x="2509858" y="19949"/>
                  <a:pt x="2719470" y="0"/>
                </a:cubicBezTo>
                <a:cubicBezTo>
                  <a:pt x="2929082" y="-19949"/>
                  <a:pt x="3137248" y="72350"/>
                  <a:pt x="3447048" y="0"/>
                </a:cubicBezTo>
                <a:cubicBezTo>
                  <a:pt x="3756848" y="-72350"/>
                  <a:pt x="3696986" y="40809"/>
                  <a:pt x="3912220" y="0"/>
                </a:cubicBezTo>
                <a:cubicBezTo>
                  <a:pt x="4127454" y="-40809"/>
                  <a:pt x="4358494" y="84444"/>
                  <a:pt x="4639798" y="0"/>
                </a:cubicBezTo>
                <a:cubicBezTo>
                  <a:pt x="4921102" y="-84444"/>
                  <a:pt x="5011131" y="79389"/>
                  <a:pt x="5367375" y="0"/>
                </a:cubicBezTo>
                <a:cubicBezTo>
                  <a:pt x="5723619" y="-79389"/>
                  <a:pt x="5755728" y="54091"/>
                  <a:pt x="5963750" y="0"/>
                </a:cubicBezTo>
                <a:cubicBezTo>
                  <a:pt x="6171773" y="-54091"/>
                  <a:pt x="6326448" y="54204"/>
                  <a:pt x="6560125" y="0"/>
                </a:cubicBezTo>
                <a:cubicBezTo>
                  <a:pt x="6569910" y="55787"/>
                  <a:pt x="6543166" y="90879"/>
                  <a:pt x="6560125" y="180109"/>
                </a:cubicBezTo>
                <a:cubicBezTo>
                  <a:pt x="6465890" y="198281"/>
                  <a:pt x="6282318" y="152187"/>
                  <a:pt x="6160554" y="180109"/>
                </a:cubicBezTo>
                <a:cubicBezTo>
                  <a:pt x="6038790" y="208031"/>
                  <a:pt x="5605240" y="130138"/>
                  <a:pt x="5432976" y="180109"/>
                </a:cubicBezTo>
                <a:cubicBezTo>
                  <a:pt x="5260712" y="230080"/>
                  <a:pt x="5132902" y="143962"/>
                  <a:pt x="4967804" y="180109"/>
                </a:cubicBezTo>
                <a:cubicBezTo>
                  <a:pt x="4802706" y="216256"/>
                  <a:pt x="4610215" y="121996"/>
                  <a:pt x="4371429" y="180109"/>
                </a:cubicBezTo>
                <a:cubicBezTo>
                  <a:pt x="4132644" y="238222"/>
                  <a:pt x="3831048" y="151702"/>
                  <a:pt x="3643851" y="180109"/>
                </a:cubicBezTo>
                <a:cubicBezTo>
                  <a:pt x="3456654" y="208516"/>
                  <a:pt x="3300671" y="117049"/>
                  <a:pt x="3047476" y="180109"/>
                </a:cubicBezTo>
                <a:cubicBezTo>
                  <a:pt x="2794282" y="243169"/>
                  <a:pt x="2735543" y="140250"/>
                  <a:pt x="2647905" y="180109"/>
                </a:cubicBezTo>
                <a:cubicBezTo>
                  <a:pt x="2560267" y="219968"/>
                  <a:pt x="2366569" y="160744"/>
                  <a:pt x="2182733" y="180109"/>
                </a:cubicBezTo>
                <a:cubicBezTo>
                  <a:pt x="1998897" y="199474"/>
                  <a:pt x="1734880" y="138199"/>
                  <a:pt x="1455155" y="180109"/>
                </a:cubicBezTo>
                <a:cubicBezTo>
                  <a:pt x="1175430" y="222019"/>
                  <a:pt x="1028262" y="177887"/>
                  <a:pt x="858780" y="180109"/>
                </a:cubicBezTo>
                <a:cubicBezTo>
                  <a:pt x="689299" y="182331"/>
                  <a:pt x="345146" y="157005"/>
                  <a:pt x="0" y="180109"/>
                </a:cubicBezTo>
                <a:cubicBezTo>
                  <a:pt x="-13722" y="95078"/>
                  <a:pt x="1346" y="37299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528202C-23A4-2938-3F58-7CE00B017D72}"/>
              </a:ext>
            </a:extLst>
          </p:cNvPr>
          <p:cNvSpPr/>
          <p:nvPr/>
        </p:nvSpPr>
        <p:spPr>
          <a:xfrm>
            <a:off x="2294240" y="531398"/>
            <a:ext cx="348178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Prior Work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B4E4D27-03F2-5B6A-7B0B-4AC6FDCE7F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673" y="2378058"/>
            <a:ext cx="3355593" cy="360004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B08B153-1F4B-D29B-8E4A-5E7E241021B2}"/>
              </a:ext>
            </a:extLst>
          </p:cNvPr>
          <p:cNvSpPr txBox="1"/>
          <p:nvPr/>
        </p:nvSpPr>
        <p:spPr>
          <a:xfrm>
            <a:off x="774754" y="5515016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On-premises exchanges / private data centers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3A4067F-B256-7FFF-80EA-71F5965B24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2697" y="2558167"/>
            <a:ext cx="3758184" cy="339517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1C509D9-0A19-183B-A5CC-945549BA4C87}"/>
              </a:ext>
            </a:extLst>
          </p:cNvPr>
          <p:cNvSpPr txBox="1"/>
          <p:nvPr/>
        </p:nvSpPr>
        <p:spPr>
          <a:xfrm>
            <a:off x="4619244" y="5516434"/>
            <a:ext cx="29535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Single region public cloud +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time resolution of microseconds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0D1B925-E730-6E51-112F-AD0B8894B9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0881" y="2558167"/>
            <a:ext cx="3758184" cy="322435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743A391-0E9C-EAEF-B09B-7F8B385CFEDC}"/>
              </a:ext>
            </a:extLst>
          </p:cNvPr>
          <p:cNvSpPr txBox="1"/>
          <p:nvPr/>
        </p:nvSpPr>
        <p:spPr>
          <a:xfrm>
            <a:off x="8611859" y="5515016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General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probabilistic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05D1D0F-CC4B-DC90-60EF-4D1BB6B752AA}"/>
              </a:ext>
            </a:extLst>
          </p:cNvPr>
          <p:cNvSpPr txBox="1"/>
          <p:nvPr/>
        </p:nvSpPr>
        <p:spPr>
          <a:xfrm>
            <a:off x="5434144" y="3122100"/>
            <a:ext cx="714106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Onyx</a:t>
            </a:r>
          </a:p>
        </p:txBody>
      </p:sp>
    </p:spTree>
    <p:extLst>
      <p:ext uri="{BB962C8B-B14F-4D97-AF65-F5344CB8AC3E}">
        <p14:creationId xmlns:p14="http://schemas.microsoft.com/office/powerpoint/2010/main" val="435829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1" grpId="0"/>
      <p:bldP spid="13" grpId="0"/>
      <p:bldP spid="15" grpId="0"/>
      <p:bldP spid="1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95BBF-1B8F-8943-1513-DC0422A6C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E3E3CAA6-354B-81FE-3FC2-4E02E3FD38FB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E18314-365A-EE1E-0D12-808D6119DC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5F1D8B1F-DDC6-AD5B-EC35-DEC701DE2A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FC41FBAB-0C9C-449E-36AC-E7B73221A2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69194A3B-0F9A-CEC6-0BD9-B1756F32AD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C392B9DA-30E3-C441-CB29-01477705CA1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2D9796AB-F84B-1DE2-A5D9-72612324196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7D79C0F-623D-3066-4636-E50D04262891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47499C2-0E31-1DCE-A060-5FA0B0321518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0D6B3E0-3809-F388-0142-3A7443156B5D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21D8E98-C1FF-C273-7567-2DDF59C82E78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95CB0D97-C2BE-E5C8-3407-38A68AE24E8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9BD07AAF-CA90-194A-EEA1-C386D6CE24A9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218843C-9F13-AA7F-BD3F-3D979A067C33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A51B049-F4AF-98BA-B005-42D26054AFC3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78FDB8A-127F-E222-174D-576A0B0E3F8F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018C3C0-A4F1-7109-28D5-14EED0557E5C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63D3AF6B-32DE-9136-71A7-D1F7802872E9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A6909A8B-D78B-B3EC-A634-9A165004A09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81E1A0AD-BFF8-2794-7B5D-DBF894282356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D563CE6F-D20E-794E-665A-5F38950C478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CBA7C77C-37FB-CCEB-619A-5253DF9965D6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E9B78F4A-A1DD-F599-9B37-412F81140499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B968A482-A89B-C8BA-44D1-33611F06991E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C5346D92-224C-6C15-DE57-C91ED5E05561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4B192A6-C626-4A51-2905-B3983D15C2E7}"/>
              </a:ext>
            </a:extLst>
          </p:cNvPr>
          <p:cNvSpPr txBox="1"/>
          <p:nvPr/>
        </p:nvSpPr>
        <p:spPr>
          <a:xfrm>
            <a:off x="2688505" y="1400413"/>
            <a:ext cx="38656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Error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C59308A0-45BF-A4C8-5C67-F42D294B6360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0B2E1C5B-F42F-538E-A7A6-5CBA663EFCEC}"/>
              </a:ext>
            </a:extLst>
          </p:cNvPr>
          <p:cNvSpPr txBox="1"/>
          <p:nvPr/>
        </p:nvSpPr>
        <p:spPr>
          <a:xfrm>
            <a:off x="3894522" y="5364014"/>
            <a:ext cx="2737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Tommy, The Sequencer</a:t>
            </a:r>
          </a:p>
        </p:txBody>
      </p:sp>
    </p:spTree>
    <p:extLst>
      <p:ext uri="{BB962C8B-B14F-4D97-AF65-F5344CB8AC3E}">
        <p14:creationId xmlns:p14="http://schemas.microsoft.com/office/powerpoint/2010/main" val="12035356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switch dir="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1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6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3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0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5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8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55" grpId="0" animBg="1"/>
      <p:bldP spid="56" grpId="0" animBg="1"/>
      <p:bldP spid="79" grpId="0" animBg="1"/>
      <p:bldP spid="80" grpId="0" animBg="1"/>
      <p:bldP spid="11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2F39C-D2A9-3467-28D1-262E097DC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D971A022-5DD7-BA1B-7315-0A1F6BE88874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B708E40E-4CD1-88C8-7456-9590730193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CA95B654-D166-484C-A7F7-51CF38FB56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3965E680-6A2C-A585-CF08-65D920B30C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57B3B4EE-4653-6733-D05A-98BFF18FFE6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43D3A8B8-7BE6-E871-2FCA-678A411D2C5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4F42AA9-91B5-7E2D-B6D9-89A017CF9697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41AA39D-08BE-1E60-93BF-FC489E9885F5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FECA533-F30A-1830-945C-300416336DE2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32B17D9-83AA-8E5B-B248-5C90EDF1CD59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C939B760-9BF7-FE38-AF03-A6FC22FC757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A66A5B91-78F1-2AD0-B7CD-CA909A73E393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71BB9B0-656B-BAD5-1391-67E97F04021B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9BBF7E3-0BF9-FFA5-33A0-B0D22602B7FA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4370D8FA-4415-B033-4AF4-77CFAB343865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14377A22-92DA-205D-FC83-F8C3E9E484E7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3C6C839D-C062-3A33-6AF4-F4C6C5913280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2C315B2-854E-9555-64A1-E3ECC579529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573403E5-C756-4DEB-524E-A964FC0C8C88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45F16B69-2400-4E7A-F179-B243910EBF7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754DFFD8-FEBD-94A7-2C49-588E9012671D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64DB4875-B39E-E8D0-6EA0-29294F94FA3F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7DCE8E3F-A075-EE7C-4694-DF4B72D7D618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478CDA35-EFE4-01D0-2428-BA24732BC42F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FE495E8-4CED-6386-6280-CF57927AD4E8}"/>
              </a:ext>
            </a:extLst>
          </p:cNvPr>
          <p:cNvSpPr txBox="1"/>
          <p:nvPr/>
        </p:nvSpPr>
        <p:spPr>
          <a:xfrm>
            <a:off x="6249000" y="2838159"/>
            <a:ext cx="27185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 of Messages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5F918AE7-9F6A-4235-ADFE-6B33A398EA66}"/>
              </a:ext>
            </a:extLst>
          </p:cNvPr>
          <p:cNvSpPr txBox="1"/>
          <p:nvPr/>
        </p:nvSpPr>
        <p:spPr>
          <a:xfrm>
            <a:off x="2688505" y="1400413"/>
            <a:ext cx="38656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Error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16E0D18D-75EB-FB44-3973-0DFA735197F3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AA840BD-41CF-7108-76C5-C411ECFADC47}"/>
              </a:ext>
            </a:extLst>
          </p:cNvPr>
          <p:cNvGrpSpPr/>
          <p:nvPr/>
        </p:nvGrpSpPr>
        <p:grpSpPr>
          <a:xfrm>
            <a:off x="6949322" y="3320531"/>
            <a:ext cx="1075394" cy="427232"/>
            <a:chOff x="6917966" y="3321746"/>
            <a:chExt cx="1075394" cy="427232"/>
          </a:xfrm>
        </p:grpSpPr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042B47DB-3D94-7695-B796-24DC1BD99659}"/>
                </a:ext>
              </a:extLst>
            </p:cNvPr>
            <p:cNvSpPr/>
            <p:nvPr/>
          </p:nvSpPr>
          <p:spPr>
            <a:xfrm>
              <a:off x="6917966" y="3327864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noFill/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66FE4802-7977-F3C6-E03A-EE72BFE5F4C6}"/>
                </a:ext>
              </a:extLst>
            </p:cNvPr>
            <p:cNvSpPr/>
            <p:nvPr/>
          </p:nvSpPr>
          <p:spPr>
            <a:xfrm>
              <a:off x="7556045" y="3329306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noFill/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CF148F0-61E1-AC3A-2692-AEFC78F1AC8E}"/>
                </a:ext>
              </a:extLst>
            </p:cNvPr>
            <p:cNvGrpSpPr/>
            <p:nvPr/>
          </p:nvGrpSpPr>
          <p:grpSpPr>
            <a:xfrm>
              <a:off x="6931018" y="3321746"/>
              <a:ext cx="1062342" cy="427232"/>
              <a:chOff x="6931018" y="3321746"/>
              <a:chExt cx="1062342" cy="427232"/>
            </a:xfrm>
          </p:grpSpPr>
          <p:sp>
            <p:nvSpPr>
              <p:cNvPr id="135" name="Freeform 134">
                <a:extLst>
                  <a:ext uri="{FF2B5EF4-FFF2-40B4-BE49-F238E27FC236}">
                    <a16:creationId xmlns:a16="http://schemas.microsoft.com/office/drawing/2014/main" id="{60B0843A-0675-F03E-C5CF-6C8894D75630}"/>
                  </a:ext>
                </a:extLst>
              </p:cNvPr>
              <p:cNvSpPr/>
              <p:nvPr/>
            </p:nvSpPr>
            <p:spPr>
              <a:xfrm>
                <a:off x="6931018" y="3321746"/>
                <a:ext cx="1062342" cy="427232"/>
              </a:xfrm>
              <a:custGeom>
                <a:avLst/>
                <a:gdLst>
                  <a:gd name="connsiteX0" fmla="*/ 0 w 1047312"/>
                  <a:gd name="connsiteY0" fmla="*/ 0 h 419672"/>
                  <a:gd name="connsiteX1" fmla="*/ 1047312 w 1047312"/>
                  <a:gd name="connsiteY1" fmla="*/ 0 h 419672"/>
                  <a:gd name="connsiteX2" fmla="*/ 1047312 w 1047312"/>
                  <a:gd name="connsiteY2" fmla="*/ 419673 h 419672"/>
                  <a:gd name="connsiteX3" fmla="*/ 0 w 1047312"/>
                  <a:gd name="connsiteY3" fmla="*/ 419673 h 419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47312" h="419672">
                    <a:moveTo>
                      <a:pt x="0" y="0"/>
                    </a:moveTo>
                    <a:lnTo>
                      <a:pt x="1047312" y="0"/>
                    </a:lnTo>
                    <a:lnTo>
                      <a:pt x="1047312" y="419673"/>
                    </a:lnTo>
                    <a:lnTo>
                      <a:pt x="0" y="419673"/>
                    </a:lnTo>
                    <a:close/>
                  </a:path>
                </a:pathLst>
              </a:custGeom>
              <a:noFill/>
              <a:ln w="20935" cap="flat">
                <a:solidFill>
                  <a:srgbClr val="000000"/>
                </a:solidFill>
                <a:custDash>
                  <a:ds d="225000" sp="225000"/>
                </a:custDash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31D15BC0-EC26-A3AB-6026-879A26A606A7}"/>
                  </a:ext>
                </a:extLst>
              </p:cNvPr>
              <p:cNvSpPr txBox="1"/>
              <p:nvPr/>
            </p:nvSpPr>
            <p:spPr>
              <a:xfrm>
                <a:off x="7612950" y="3339274"/>
                <a:ext cx="322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2</a:t>
                </a:r>
              </a:p>
            </p:txBody>
          </p:sp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71D8388B-42B3-F7E7-CBE9-931B1CC41141}"/>
                  </a:ext>
                </a:extLst>
              </p:cNvPr>
              <p:cNvSpPr txBox="1"/>
              <p:nvPr/>
            </p:nvSpPr>
            <p:spPr>
              <a:xfrm>
                <a:off x="6971307" y="3350696"/>
                <a:ext cx="322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2</a:t>
                </a:r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EFEC891-759E-0E7A-9303-933DA9B74944}"/>
              </a:ext>
            </a:extLst>
          </p:cNvPr>
          <p:cNvGrpSpPr/>
          <p:nvPr/>
        </p:nvGrpSpPr>
        <p:grpSpPr>
          <a:xfrm>
            <a:off x="6333987" y="3336637"/>
            <a:ext cx="418924" cy="419672"/>
            <a:chOff x="6302631" y="3337852"/>
            <a:chExt cx="418924" cy="419672"/>
          </a:xfrm>
        </p:grpSpPr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EDEF8969-CE49-C3E5-ACBD-E94F785D2A2E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6F5B3391-96A2-675B-CCE3-53FD79B06741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1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D7F806C-D899-40FB-4E0C-0E13CB245480}"/>
              </a:ext>
            </a:extLst>
          </p:cNvPr>
          <p:cNvGrpSpPr/>
          <p:nvPr/>
        </p:nvGrpSpPr>
        <p:grpSpPr>
          <a:xfrm>
            <a:off x="8219149" y="3330903"/>
            <a:ext cx="418924" cy="419672"/>
            <a:chOff x="8187793" y="3332118"/>
            <a:chExt cx="418924" cy="419672"/>
          </a:xfrm>
        </p:grpSpPr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8B76529D-0540-DC69-A1F2-B086DC7353AD}"/>
                </a:ext>
              </a:extLst>
            </p:cNvPr>
            <p:cNvSpPr/>
            <p:nvPr/>
          </p:nvSpPr>
          <p:spPr>
            <a:xfrm>
              <a:off x="8187793" y="3332118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FA15738A-E9CE-2949-5EE5-0F7F0214EBBD}"/>
                </a:ext>
              </a:extLst>
            </p:cNvPr>
            <p:cNvSpPr txBox="1"/>
            <p:nvPr/>
          </p:nvSpPr>
          <p:spPr>
            <a:xfrm>
              <a:off x="8227631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3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C1130719-77CA-A476-4741-461200C1825B}"/>
              </a:ext>
            </a:extLst>
          </p:cNvPr>
          <p:cNvGrpSpPr/>
          <p:nvPr/>
        </p:nvGrpSpPr>
        <p:grpSpPr>
          <a:xfrm>
            <a:off x="8847536" y="3330903"/>
            <a:ext cx="473175" cy="419672"/>
            <a:chOff x="8816180" y="3332118"/>
            <a:chExt cx="473175" cy="419672"/>
          </a:xfrm>
        </p:grpSpPr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0D9A0423-7C17-734B-A8EC-BA976D5C93FA}"/>
                </a:ext>
              </a:extLst>
            </p:cNvPr>
            <p:cNvSpPr/>
            <p:nvPr/>
          </p:nvSpPr>
          <p:spPr>
            <a:xfrm>
              <a:off x="8816180" y="3332118"/>
              <a:ext cx="473175" cy="419672"/>
            </a:xfrm>
            <a:custGeom>
              <a:avLst/>
              <a:gdLst>
                <a:gd name="connsiteX0" fmla="*/ 0 w 473175"/>
                <a:gd name="connsiteY0" fmla="*/ 0 h 419672"/>
                <a:gd name="connsiteX1" fmla="*/ 473176 w 473175"/>
                <a:gd name="connsiteY1" fmla="*/ 0 h 419672"/>
                <a:gd name="connsiteX2" fmla="*/ 473176 w 473175"/>
                <a:gd name="connsiteY2" fmla="*/ 419673 h 419672"/>
                <a:gd name="connsiteX3" fmla="*/ 0 w 473175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175" h="419672">
                  <a:moveTo>
                    <a:pt x="0" y="0"/>
                  </a:moveTo>
                  <a:lnTo>
                    <a:pt x="473176" y="0"/>
                  </a:lnTo>
                  <a:lnTo>
                    <a:pt x="473176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31ABC5C5-EC13-41EC-38E3-BFCF47CDAFC5}"/>
                </a:ext>
              </a:extLst>
            </p:cNvPr>
            <p:cNvSpPr txBox="1"/>
            <p:nvPr/>
          </p:nvSpPr>
          <p:spPr>
            <a:xfrm>
              <a:off x="8891405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4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9CBEA3E-6E77-2B22-7179-1E0AE4CEA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F4B566-F7FC-5CC9-DC3A-A99627FC9311}"/>
              </a:ext>
            </a:extLst>
          </p:cNvPr>
          <p:cNvSpPr txBox="1"/>
          <p:nvPr/>
        </p:nvSpPr>
        <p:spPr>
          <a:xfrm>
            <a:off x="3894522" y="5364014"/>
            <a:ext cx="2737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Tommy, The Sequencer</a:t>
            </a:r>
          </a:p>
        </p:txBody>
      </p:sp>
    </p:spTree>
    <p:extLst>
      <p:ext uri="{BB962C8B-B14F-4D97-AF65-F5344CB8AC3E}">
        <p14:creationId xmlns:p14="http://schemas.microsoft.com/office/powerpoint/2010/main" val="13619839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499C5-0E94-659D-EB50-AB35292D4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01374AA2-FF9F-BF20-56AC-42B75D248B67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1E390A59-0100-E68C-C0CE-C528633D3A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307E1014-18F7-B967-3B32-8686102EF2F0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8ED11E5-3F71-99CC-AFCA-CE4BFB058D87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8FDA3CB-6B8F-1DA3-49D2-0402D3418C54}"/>
              </a:ext>
            </a:extLst>
          </p:cNvPr>
          <p:cNvSpPr txBox="1"/>
          <p:nvPr/>
        </p:nvSpPr>
        <p:spPr>
          <a:xfrm>
            <a:off x="3402513" y="2346844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D2FB84D-CDAF-FC73-F573-25904E267089}"/>
              </a:ext>
            </a:extLst>
          </p:cNvPr>
          <p:cNvSpPr txBox="1"/>
          <p:nvPr/>
        </p:nvSpPr>
        <p:spPr>
          <a:xfrm>
            <a:off x="7748218" y="2256791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F191C93-ADB3-21C1-57A5-CE453466C998}"/>
              </a:ext>
            </a:extLst>
          </p:cNvPr>
          <p:cNvSpPr txBox="1"/>
          <p:nvPr/>
        </p:nvSpPr>
        <p:spPr>
          <a:xfrm>
            <a:off x="3416145" y="2900376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21B8694-CFFF-4411-2B8E-FEF437A3DFDB}"/>
              </a:ext>
            </a:extLst>
          </p:cNvPr>
          <p:cNvSpPr txBox="1"/>
          <p:nvPr/>
        </p:nvSpPr>
        <p:spPr>
          <a:xfrm>
            <a:off x="7761850" y="2900376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066073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/>
      <p:bldP spid="21" grpId="0"/>
      <p:bldP spid="22" grpId="0"/>
      <p:bldP spid="23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4447EA-2FEF-EA4A-9206-3CFE973DC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B984D58A-9063-7A64-ACAD-5C9D71F2090C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E411DB6A-2AD3-413F-59DA-1F8C20673E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202D6E31-C257-6FC7-A95D-1FD06735092D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3675E6C-258F-782B-94AD-86D33EB04539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6DA0E0-D80C-1AE8-594A-A5454CCD3084}"/>
              </a:ext>
            </a:extLst>
          </p:cNvPr>
          <p:cNvSpPr txBox="1"/>
          <p:nvPr/>
        </p:nvSpPr>
        <p:spPr>
          <a:xfrm>
            <a:off x="3402512" y="2346844"/>
            <a:ext cx="3546928" cy="1118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  <a:p>
            <a:endParaRPr lang="en-US" sz="4000" baseline="30000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B1736C-614E-609D-A7AD-732E75B96B3B}"/>
              </a:ext>
            </a:extLst>
          </p:cNvPr>
          <p:cNvSpPr txBox="1"/>
          <p:nvPr/>
        </p:nvSpPr>
        <p:spPr>
          <a:xfrm>
            <a:off x="7748217" y="2256791"/>
            <a:ext cx="34459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baseline="-25000" dirty="0">
                <a:solidFill>
                  <a:srgbClr val="92D050"/>
                </a:solidFill>
              </a:rPr>
              <a:t>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dirty="0">
                <a:solidFill>
                  <a:srgbClr val="92D050"/>
                </a:solidFill>
              </a:rPr>
              <a:t> </a:t>
            </a:r>
            <a:endParaRPr lang="en-US" sz="4000" baseline="30000" dirty="0">
              <a:solidFill>
                <a:srgbClr val="FF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DABA6E-F588-09BE-4DD7-F9A410E66123}"/>
              </a:ext>
            </a:extLst>
          </p:cNvPr>
          <p:cNvSpPr txBox="1"/>
          <p:nvPr/>
        </p:nvSpPr>
        <p:spPr>
          <a:xfrm>
            <a:off x="3416145" y="2900376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5B4D119-9742-7DFD-1E56-54DB16C0B7E6}"/>
              </a:ext>
            </a:extLst>
          </p:cNvPr>
          <p:cNvSpPr txBox="1"/>
          <p:nvPr/>
        </p:nvSpPr>
        <p:spPr>
          <a:xfrm>
            <a:off x="7761850" y="2900376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8AB9579A-82E1-0F6F-FD62-CD91330DD2FF}"/>
              </a:ext>
            </a:extLst>
          </p:cNvPr>
          <p:cNvSpPr/>
          <p:nvPr/>
        </p:nvSpPr>
        <p:spPr>
          <a:xfrm rot="7869556">
            <a:off x="5448500" y="2233244"/>
            <a:ext cx="423211" cy="216928"/>
          </a:xfrm>
          <a:custGeom>
            <a:avLst/>
            <a:gdLst>
              <a:gd name="connsiteX0" fmla="*/ 0 w 423211"/>
              <a:gd name="connsiteY0" fmla="*/ 54232 h 216928"/>
              <a:gd name="connsiteX1" fmla="*/ 314747 w 423211"/>
              <a:gd name="connsiteY1" fmla="*/ 54232 h 216928"/>
              <a:gd name="connsiteX2" fmla="*/ 314747 w 423211"/>
              <a:gd name="connsiteY2" fmla="*/ 0 h 216928"/>
              <a:gd name="connsiteX3" fmla="*/ 423211 w 423211"/>
              <a:gd name="connsiteY3" fmla="*/ 108464 h 216928"/>
              <a:gd name="connsiteX4" fmla="*/ 314747 w 423211"/>
              <a:gd name="connsiteY4" fmla="*/ 216928 h 216928"/>
              <a:gd name="connsiteX5" fmla="*/ 314747 w 423211"/>
              <a:gd name="connsiteY5" fmla="*/ 162696 h 216928"/>
              <a:gd name="connsiteX6" fmla="*/ 0 w 423211"/>
              <a:gd name="connsiteY6" fmla="*/ 162696 h 216928"/>
              <a:gd name="connsiteX7" fmla="*/ 0 w 423211"/>
              <a:gd name="connsiteY7" fmla="*/ 54232 h 2169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23211" h="216928" fill="none" extrusionOk="0">
                <a:moveTo>
                  <a:pt x="0" y="54232"/>
                </a:moveTo>
                <a:cubicBezTo>
                  <a:pt x="90902" y="23309"/>
                  <a:pt x="249470" y="91515"/>
                  <a:pt x="314747" y="54232"/>
                </a:cubicBezTo>
                <a:cubicBezTo>
                  <a:pt x="314650" y="27257"/>
                  <a:pt x="319151" y="22688"/>
                  <a:pt x="314747" y="0"/>
                </a:cubicBezTo>
                <a:cubicBezTo>
                  <a:pt x="379780" y="41792"/>
                  <a:pt x="376828" y="66652"/>
                  <a:pt x="423211" y="108464"/>
                </a:cubicBezTo>
                <a:cubicBezTo>
                  <a:pt x="399342" y="141093"/>
                  <a:pt x="356098" y="168589"/>
                  <a:pt x="314747" y="216928"/>
                </a:cubicBezTo>
                <a:cubicBezTo>
                  <a:pt x="309083" y="201207"/>
                  <a:pt x="320633" y="178389"/>
                  <a:pt x="314747" y="162696"/>
                </a:cubicBezTo>
                <a:cubicBezTo>
                  <a:pt x="198552" y="170425"/>
                  <a:pt x="124517" y="146478"/>
                  <a:pt x="0" y="162696"/>
                </a:cubicBezTo>
                <a:cubicBezTo>
                  <a:pt x="-8018" y="125137"/>
                  <a:pt x="755" y="101815"/>
                  <a:pt x="0" y="54232"/>
                </a:cubicBezTo>
                <a:close/>
              </a:path>
              <a:path w="423211" h="216928" stroke="0" extrusionOk="0">
                <a:moveTo>
                  <a:pt x="0" y="54232"/>
                </a:moveTo>
                <a:cubicBezTo>
                  <a:pt x="78323" y="53165"/>
                  <a:pt x="246022" y="88998"/>
                  <a:pt x="314747" y="54232"/>
                </a:cubicBezTo>
                <a:cubicBezTo>
                  <a:pt x="310352" y="29898"/>
                  <a:pt x="321101" y="20450"/>
                  <a:pt x="314747" y="0"/>
                </a:cubicBezTo>
                <a:cubicBezTo>
                  <a:pt x="364285" y="43923"/>
                  <a:pt x="374152" y="68221"/>
                  <a:pt x="423211" y="108464"/>
                </a:cubicBezTo>
                <a:cubicBezTo>
                  <a:pt x="395760" y="150713"/>
                  <a:pt x="365371" y="161730"/>
                  <a:pt x="314747" y="216928"/>
                </a:cubicBezTo>
                <a:cubicBezTo>
                  <a:pt x="308547" y="194576"/>
                  <a:pt x="317745" y="180669"/>
                  <a:pt x="314747" y="162696"/>
                </a:cubicBezTo>
                <a:cubicBezTo>
                  <a:pt x="207549" y="171482"/>
                  <a:pt x="131607" y="126289"/>
                  <a:pt x="0" y="162696"/>
                </a:cubicBezTo>
                <a:cubicBezTo>
                  <a:pt x="-7035" y="125314"/>
                  <a:pt x="8709" y="106107"/>
                  <a:pt x="0" y="54232"/>
                </a:cubicBezTo>
                <a:close/>
              </a:path>
            </a:pathLst>
          </a:cu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CC11342-B52C-D904-ECDC-9B0A446B907C}"/>
              </a:ext>
            </a:extLst>
          </p:cNvPr>
          <p:cNvSpPr txBox="1"/>
          <p:nvPr/>
        </p:nvSpPr>
        <p:spPr>
          <a:xfrm>
            <a:off x="5439175" y="1833278"/>
            <a:ext cx="1249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clock error</a:t>
            </a:r>
          </a:p>
        </p:txBody>
      </p:sp>
    </p:spTree>
    <p:extLst>
      <p:ext uri="{BB962C8B-B14F-4D97-AF65-F5344CB8AC3E}">
        <p14:creationId xmlns:p14="http://schemas.microsoft.com/office/powerpoint/2010/main" val="41720958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4FC07-926E-A720-6F1E-16555E714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745134AC-EC8D-1E2E-4623-974763061ADC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39967EBF-EA05-702C-DCAE-B663AAC25D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pic>
        <p:nvPicPr>
          <p:cNvPr id="3" name="Picture 10">
            <a:extLst>
              <a:ext uri="{FF2B5EF4-FFF2-40B4-BE49-F238E27FC236}">
                <a16:creationId xmlns:a16="http://schemas.microsoft.com/office/drawing/2014/main" id="{B34C01AC-DB0D-693C-5A6A-89BB18F0F2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5684" y="3192337"/>
            <a:ext cx="5960632" cy="680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2">
            <a:extLst>
              <a:ext uri="{FF2B5EF4-FFF2-40B4-BE49-F238E27FC236}">
                <a16:creationId xmlns:a16="http://schemas.microsoft.com/office/drawing/2014/main" id="{70330021-9A5E-6C3C-0780-9E870A61AA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5684" y="3908489"/>
            <a:ext cx="6092616" cy="6806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>
            <a:extLst>
              <a:ext uri="{FF2B5EF4-FFF2-40B4-BE49-F238E27FC236}">
                <a16:creationId xmlns:a16="http://schemas.microsoft.com/office/drawing/2014/main" id="{9E6896BD-B6FD-3D40-C863-8FD487CFD1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2027" y="4624120"/>
            <a:ext cx="4267946" cy="668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6">
            <a:extLst>
              <a:ext uri="{FF2B5EF4-FFF2-40B4-BE49-F238E27FC236}">
                <a16:creationId xmlns:a16="http://schemas.microsoft.com/office/drawing/2014/main" id="{2B1CD507-E5C8-62CC-1E7E-3A78B395D7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2027" y="5327175"/>
            <a:ext cx="4670164" cy="1058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040BED6B-BD67-8153-816C-2E328C9BE6CE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6C268BB-C6FD-221D-AB0A-10AA6AD6576B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16A4B6-2A14-A47E-2423-46AAE6DF7822}"/>
              </a:ext>
            </a:extLst>
          </p:cNvPr>
          <p:cNvSpPr txBox="1"/>
          <p:nvPr/>
        </p:nvSpPr>
        <p:spPr>
          <a:xfrm>
            <a:off x="3402512" y="2346844"/>
            <a:ext cx="3546928" cy="1118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  <a:p>
            <a:endParaRPr lang="en-US" sz="4000" baseline="30000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A45ADE-7A97-DB8A-C9D7-D11C1C321223}"/>
              </a:ext>
            </a:extLst>
          </p:cNvPr>
          <p:cNvSpPr txBox="1"/>
          <p:nvPr/>
        </p:nvSpPr>
        <p:spPr>
          <a:xfrm>
            <a:off x="7748217" y="2256791"/>
            <a:ext cx="34459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baseline="-25000" dirty="0">
                <a:solidFill>
                  <a:srgbClr val="92D050"/>
                </a:solidFill>
              </a:rPr>
              <a:t>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dirty="0">
                <a:solidFill>
                  <a:srgbClr val="92D050"/>
                </a:solidFill>
              </a:rPr>
              <a:t> </a:t>
            </a:r>
            <a:endParaRPr lang="en-US" sz="4000" baseline="30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97351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8B14-4F0A-1E96-423B-86C0C2815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70F382A3-ACBE-B5C4-E768-FE44192A0ED5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673E228-BADE-E7C0-E3FC-0285E544C5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pic>
        <p:nvPicPr>
          <p:cNvPr id="3" name="Picture 10">
            <a:extLst>
              <a:ext uri="{FF2B5EF4-FFF2-40B4-BE49-F238E27FC236}">
                <a16:creationId xmlns:a16="http://schemas.microsoft.com/office/drawing/2014/main" id="{0B5EA0A7-FC39-CDBD-43A9-8F757EBE9C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324" y="3464494"/>
            <a:ext cx="5234139" cy="597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2">
            <a:extLst>
              <a:ext uri="{FF2B5EF4-FFF2-40B4-BE49-F238E27FC236}">
                <a16:creationId xmlns:a16="http://schemas.microsoft.com/office/drawing/2014/main" id="{32D48432-B4DF-4214-6DEE-58DB84C753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324" y="4180646"/>
            <a:ext cx="5350037" cy="597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>
            <a:extLst>
              <a:ext uri="{FF2B5EF4-FFF2-40B4-BE49-F238E27FC236}">
                <a16:creationId xmlns:a16="http://schemas.microsoft.com/office/drawing/2014/main" id="{E1A352D5-F4B0-EB34-2634-3E0DCAC52B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3667" y="4896278"/>
            <a:ext cx="3747761" cy="586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6">
            <a:extLst>
              <a:ext uri="{FF2B5EF4-FFF2-40B4-BE49-F238E27FC236}">
                <a16:creationId xmlns:a16="http://schemas.microsoft.com/office/drawing/2014/main" id="{7B2ED3B2-4718-3FDC-738F-7D8BDFADF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3667" y="5599333"/>
            <a:ext cx="4100956" cy="929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8BFB0881-64C7-C5EA-B76A-01E08172BDAA}"/>
              </a:ext>
            </a:extLst>
          </p:cNvPr>
          <p:cNvGrpSpPr/>
          <p:nvPr/>
        </p:nvGrpSpPr>
        <p:grpSpPr>
          <a:xfrm>
            <a:off x="6417837" y="4180646"/>
            <a:ext cx="5250873" cy="1614402"/>
            <a:chOff x="6096000" y="4772543"/>
            <a:chExt cx="5250873" cy="161440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E9E1714-0DBA-7C5F-D7A0-D5E66DD7223A}"/>
                </a:ext>
              </a:extLst>
            </p:cNvPr>
            <p:cNvSpPr/>
            <p:nvPr/>
          </p:nvSpPr>
          <p:spPr>
            <a:xfrm>
              <a:off x="6096000" y="4772543"/>
              <a:ext cx="5250873" cy="1614402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7D136285-4A22-4D09-6E60-E2A6D9D047E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372" t="63560" r="8395"/>
            <a:stretch>
              <a:fillRect/>
            </a:stretch>
          </p:blipFill>
          <p:spPr bwMode="auto">
            <a:xfrm>
              <a:off x="6449195" y="4943193"/>
              <a:ext cx="4548515" cy="1325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6DF81BE-7EB8-39FD-F708-CF17D45B338C}"/>
                  </a:ext>
                </a:extLst>
              </p:cNvPr>
              <p:cNvSpPr txBox="1"/>
              <p:nvPr/>
            </p:nvSpPr>
            <p:spPr>
              <a:xfrm>
                <a:off x="7455206" y="3538974"/>
                <a:ext cx="285972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800" baseline="-25000" dirty="0" err="1">
                    <a:solidFill>
                      <a:schemeClr val="tx1"/>
                    </a:solidFill>
                  </a:rPr>
                  <a:t>i</a:t>
                </a:r>
                <a:r>
                  <a:rPr lang="en-US" sz="28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800" baseline="-25000" dirty="0">
                    <a:solidFill>
                      <a:schemeClr val="tx1"/>
                    </a:solidFill>
                  </a:rPr>
                  <a:t>j</a:t>
                </a:r>
                <a:r>
                  <a:rPr lang="en-US" sz="2800" dirty="0">
                    <a:solidFill>
                      <a:schemeClr val="tx1"/>
                    </a:solidFill>
                  </a:rPr>
                  <a:t> ~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r>
                      <a:rPr lang="en-US" sz="2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8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2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sz="28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2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6DF81BE-7EB8-39FD-F708-CF17D45B33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5206" y="3538974"/>
                <a:ext cx="2859720" cy="523220"/>
              </a:xfrm>
              <a:prstGeom prst="rect">
                <a:avLst/>
              </a:prstGeom>
              <a:blipFill>
                <a:blip r:embed="rId8"/>
                <a:stretch>
                  <a:fillRect l="-1327" t="-11905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Oval 1">
            <a:extLst>
              <a:ext uri="{FF2B5EF4-FFF2-40B4-BE49-F238E27FC236}">
                <a16:creationId xmlns:a16="http://schemas.microsoft.com/office/drawing/2014/main" id="{A1A11BC1-FDD7-1CF2-59CF-61C13A387DCB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8890E59-05F1-0CB3-CCF8-8AF611BAB392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A247E8-4583-5C14-C3CD-F69634A1281F}"/>
              </a:ext>
            </a:extLst>
          </p:cNvPr>
          <p:cNvSpPr txBox="1"/>
          <p:nvPr/>
        </p:nvSpPr>
        <p:spPr>
          <a:xfrm>
            <a:off x="3402512" y="2346844"/>
            <a:ext cx="3546928" cy="1118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  <a:p>
            <a:endParaRPr lang="en-US" sz="4000" baseline="30000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7DAC7C-0CDE-93A9-4AF7-E2967D3DCAE5}"/>
              </a:ext>
            </a:extLst>
          </p:cNvPr>
          <p:cNvSpPr txBox="1"/>
          <p:nvPr/>
        </p:nvSpPr>
        <p:spPr>
          <a:xfrm>
            <a:off x="7748217" y="2256791"/>
            <a:ext cx="34459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baseline="-25000" dirty="0">
                <a:solidFill>
                  <a:srgbClr val="92D050"/>
                </a:solidFill>
              </a:rPr>
              <a:t>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dirty="0">
                <a:solidFill>
                  <a:srgbClr val="92D050"/>
                </a:solidFill>
              </a:rPr>
              <a:t> </a:t>
            </a:r>
            <a:endParaRPr lang="en-US" sz="4000" baseline="30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406159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730536-51FC-8757-8016-A665A2C40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44ADCF90-5E75-F266-5254-6D3125F46BD9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2BF7CFEF-376C-ABC2-6C05-C7B2977487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725FEC66-3E0A-7E64-893B-5F0760C4D61E}"/>
              </a:ext>
            </a:extLst>
          </p:cNvPr>
          <p:cNvSpPr/>
          <p:nvPr/>
        </p:nvSpPr>
        <p:spPr>
          <a:xfrm>
            <a:off x="1596371" y="162427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2F801F7-2503-A7AD-7E80-686A572DB40B}"/>
              </a:ext>
            </a:extLst>
          </p:cNvPr>
          <p:cNvSpPr/>
          <p:nvPr/>
        </p:nvSpPr>
        <p:spPr>
          <a:xfrm>
            <a:off x="1596370" y="2812047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1C5EEFF-D09A-162D-8E27-D87E31892013}"/>
              </a:ext>
            </a:extLst>
          </p:cNvPr>
          <p:cNvGrpSpPr/>
          <p:nvPr/>
        </p:nvGrpSpPr>
        <p:grpSpPr>
          <a:xfrm>
            <a:off x="3338945" y="1814598"/>
            <a:ext cx="5250873" cy="1614402"/>
            <a:chOff x="6096000" y="4772543"/>
            <a:chExt cx="5250873" cy="161440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CD8C034-ABA6-4461-2F9E-AA0E37F5CDE4}"/>
                </a:ext>
              </a:extLst>
            </p:cNvPr>
            <p:cNvSpPr/>
            <p:nvPr/>
          </p:nvSpPr>
          <p:spPr>
            <a:xfrm>
              <a:off x="6096000" y="4772543"/>
              <a:ext cx="5250873" cy="1614402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42B7035-E744-449C-A7F2-FF728E81E19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372" t="63560" r="8395"/>
            <a:stretch>
              <a:fillRect/>
            </a:stretch>
          </p:blipFill>
          <p:spPr bwMode="auto">
            <a:xfrm>
              <a:off x="6449195" y="4943193"/>
              <a:ext cx="4548515" cy="1325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Oval 1">
            <a:extLst>
              <a:ext uri="{FF2B5EF4-FFF2-40B4-BE49-F238E27FC236}">
                <a16:creationId xmlns:a16="http://schemas.microsoft.com/office/drawing/2014/main" id="{CE795454-60AF-CF1D-39BF-DB33211D7E12}"/>
              </a:ext>
            </a:extLst>
          </p:cNvPr>
          <p:cNvSpPr/>
          <p:nvPr/>
        </p:nvSpPr>
        <p:spPr>
          <a:xfrm>
            <a:off x="1596369" y="3999823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56198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816DA-46F4-FC44-495F-83024AC43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EA8E38F6-5C18-191C-9107-81A15BF25BD6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3B26F944-3B9F-2EF8-DF79-84950969D7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20D9A57D-992D-07B3-4D8D-FBCB9EC90D32}"/>
              </a:ext>
            </a:extLst>
          </p:cNvPr>
          <p:cNvSpPr/>
          <p:nvPr/>
        </p:nvSpPr>
        <p:spPr>
          <a:xfrm>
            <a:off x="3590670" y="3414720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ECA02CA-8077-33DB-C7C5-AD40AB941F75}"/>
              </a:ext>
            </a:extLst>
          </p:cNvPr>
          <p:cNvSpPr/>
          <p:nvPr/>
        </p:nvSpPr>
        <p:spPr>
          <a:xfrm>
            <a:off x="5835862" y="2431472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FDDC5A6-4292-49AE-D5FF-CA19D963D3C3}"/>
              </a:ext>
            </a:extLst>
          </p:cNvPr>
          <p:cNvSpPr/>
          <p:nvPr/>
        </p:nvSpPr>
        <p:spPr>
          <a:xfrm>
            <a:off x="7419075" y="4121727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A7A7550-D6A2-0CB6-17D8-94B7A3B537E9}"/>
              </a:ext>
            </a:extLst>
          </p:cNvPr>
          <p:cNvGrpSpPr/>
          <p:nvPr/>
        </p:nvGrpSpPr>
        <p:grpSpPr>
          <a:xfrm>
            <a:off x="4802227" y="2741675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7E8EA1AE-8F97-CF1C-3BDE-A8865E42191C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EB63DED-8621-73EA-5A78-514E9BB15BA3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04E89EC-960D-3D93-A582-801F7D03CAF4}"/>
              </a:ext>
            </a:extLst>
          </p:cNvPr>
          <p:cNvGrpSpPr/>
          <p:nvPr/>
        </p:nvGrpSpPr>
        <p:grpSpPr>
          <a:xfrm rot="4635828">
            <a:off x="7076314" y="3379492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CC60C383-228D-8C55-A107-AA46C6071BA8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59FEDF3-C273-E3F4-E9C8-C6C0A111335B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9E8970F-A47B-7705-0442-C7AAE46ED2C2}"/>
              </a:ext>
            </a:extLst>
          </p:cNvPr>
          <p:cNvGrpSpPr/>
          <p:nvPr/>
        </p:nvGrpSpPr>
        <p:grpSpPr>
          <a:xfrm rot="12992908">
            <a:off x="5434993" y="4369667"/>
            <a:ext cx="785406" cy="798225"/>
            <a:chOff x="4802228" y="2741675"/>
            <a:chExt cx="785406" cy="798225"/>
          </a:xfrm>
        </p:grpSpPr>
        <p:sp>
          <p:nvSpPr>
            <p:cNvPr id="13" name="Right Arrow 12">
              <a:extLst>
                <a:ext uri="{FF2B5EF4-FFF2-40B4-BE49-F238E27FC236}">
                  <a16:creationId xmlns:a16="http://schemas.microsoft.com/office/drawing/2014/main" id="{1680835E-947C-224D-8D63-EF71EF36D182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517BDCD-16CD-6911-AA1B-7725ACB1F355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363655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AE6BD-562B-2F2D-F8C4-4EA6173ED1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3D9A77CF-4C53-7A1C-5127-FA4073B5C81E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EB80C9CB-9271-1352-DD62-668ED2E3C9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D25E3446-D008-BEAC-7BF8-2D00462ACFB2}"/>
              </a:ext>
            </a:extLst>
          </p:cNvPr>
          <p:cNvSpPr/>
          <p:nvPr/>
        </p:nvSpPr>
        <p:spPr>
          <a:xfrm>
            <a:off x="722342" y="3376219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56AA5BC-406A-CD79-9951-0E731CA12F40}"/>
              </a:ext>
            </a:extLst>
          </p:cNvPr>
          <p:cNvSpPr/>
          <p:nvPr/>
        </p:nvSpPr>
        <p:spPr>
          <a:xfrm>
            <a:off x="2967534" y="239297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724C0EE7-19D6-B97D-2101-D2E5D08F7A68}"/>
              </a:ext>
            </a:extLst>
          </p:cNvPr>
          <p:cNvSpPr/>
          <p:nvPr/>
        </p:nvSpPr>
        <p:spPr>
          <a:xfrm>
            <a:off x="4550747" y="4083226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AF29F75-6859-7C9F-1A1D-06C9D8365746}"/>
              </a:ext>
            </a:extLst>
          </p:cNvPr>
          <p:cNvGrpSpPr/>
          <p:nvPr/>
        </p:nvGrpSpPr>
        <p:grpSpPr>
          <a:xfrm>
            <a:off x="1933899" y="2703174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D454C1F2-B6FC-D8A2-8E57-7E0EF036B0F7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5707B45-8681-6B39-FAFE-368B3364E4F0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34118AE6-7650-D5BB-560E-52FCDF9DE22D}"/>
              </a:ext>
            </a:extLst>
          </p:cNvPr>
          <p:cNvGrpSpPr/>
          <p:nvPr/>
        </p:nvGrpSpPr>
        <p:grpSpPr>
          <a:xfrm rot="4635828">
            <a:off x="4207986" y="3340991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2E48BF5F-F065-B8A3-21AF-715D12763185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191F744-840B-A3DD-CD76-07B48076A152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DE029DC-DDD1-E689-2522-0ED47B43745D}"/>
              </a:ext>
            </a:extLst>
          </p:cNvPr>
          <p:cNvGrpSpPr/>
          <p:nvPr/>
        </p:nvGrpSpPr>
        <p:grpSpPr>
          <a:xfrm rot="12992908">
            <a:off x="2566665" y="4331166"/>
            <a:ext cx="785406" cy="798225"/>
            <a:chOff x="4802228" y="2741675"/>
            <a:chExt cx="785406" cy="798225"/>
          </a:xfrm>
        </p:grpSpPr>
        <p:sp>
          <p:nvSpPr>
            <p:cNvPr id="13" name="Right Arrow 12">
              <a:extLst>
                <a:ext uri="{FF2B5EF4-FFF2-40B4-BE49-F238E27FC236}">
                  <a16:creationId xmlns:a16="http://schemas.microsoft.com/office/drawing/2014/main" id="{6B482F35-65BC-C8C3-5CE1-185C3A9E19E5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7E43972-AB0C-2E0D-9816-864806BDA0AC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50F6EB4-5CC3-5CC4-2D02-62C9F3D3F420}"/>
              </a:ext>
            </a:extLst>
          </p:cNvPr>
          <p:cNvSpPr/>
          <p:nvPr/>
        </p:nvSpPr>
        <p:spPr>
          <a:xfrm>
            <a:off x="6525491" y="2780114"/>
            <a:ext cx="5275082" cy="2103614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      relation is not necessarily transitive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D5A847C-FABB-F60E-5799-3F22A4FB3C8B}"/>
              </a:ext>
            </a:extLst>
          </p:cNvPr>
          <p:cNvGrpSpPr/>
          <p:nvPr/>
        </p:nvGrpSpPr>
        <p:grpSpPr>
          <a:xfrm rot="1285113">
            <a:off x="7080802" y="3029887"/>
            <a:ext cx="785406" cy="798225"/>
            <a:chOff x="4802227" y="2741675"/>
            <a:chExt cx="785406" cy="798225"/>
          </a:xfrm>
        </p:grpSpPr>
        <p:sp>
          <p:nvSpPr>
            <p:cNvPr id="8" name="Right Arrow 7">
              <a:extLst>
                <a:ext uri="{FF2B5EF4-FFF2-40B4-BE49-F238E27FC236}">
                  <a16:creationId xmlns:a16="http://schemas.microsoft.com/office/drawing/2014/main" id="{55CC8A4F-6E49-E334-4EC3-FF49A2CA98E3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937BA2D-417A-0877-C509-39EC0A385880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239527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17FC9-F99E-EE5C-2289-CD162BEB44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BBB40C04-FCA5-B7F7-1D59-223B7EB6CF9F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DB9033D5-EE9F-B412-07D5-4523C82551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8C14521A-42BD-6696-F44A-E85E9457E76F}"/>
              </a:ext>
            </a:extLst>
          </p:cNvPr>
          <p:cNvSpPr/>
          <p:nvPr/>
        </p:nvSpPr>
        <p:spPr>
          <a:xfrm>
            <a:off x="722342" y="3376219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879E4DA6-46B5-9B7A-8E98-F8B94B128559}"/>
              </a:ext>
            </a:extLst>
          </p:cNvPr>
          <p:cNvSpPr/>
          <p:nvPr/>
        </p:nvSpPr>
        <p:spPr>
          <a:xfrm>
            <a:off x="2967534" y="239297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C0F0AB57-11ED-838E-05FC-4BCDEE1BE6FF}"/>
              </a:ext>
            </a:extLst>
          </p:cNvPr>
          <p:cNvSpPr/>
          <p:nvPr/>
        </p:nvSpPr>
        <p:spPr>
          <a:xfrm>
            <a:off x="4550747" y="4083226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CCEDEB0-A57E-9CEF-26A9-22F061137A0B}"/>
              </a:ext>
            </a:extLst>
          </p:cNvPr>
          <p:cNvGrpSpPr/>
          <p:nvPr/>
        </p:nvGrpSpPr>
        <p:grpSpPr>
          <a:xfrm>
            <a:off x="1933899" y="2703174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0EF99F43-FABC-D900-DBEF-EA460CC9A65D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8DCEBDF9-CEE3-C0AF-CE8E-44CBFCDD9DC6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00240F1-3072-45D9-AE1C-93D38E39EA30}"/>
              </a:ext>
            </a:extLst>
          </p:cNvPr>
          <p:cNvGrpSpPr/>
          <p:nvPr/>
        </p:nvGrpSpPr>
        <p:grpSpPr>
          <a:xfrm rot="4635828">
            <a:off x="4207986" y="3340991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1C2AB430-6DBB-08D2-9F0F-6206997F6235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B47984A-31D8-EC60-D862-436F60D021CE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A630968-6BE8-DBD1-3DDB-D00C172711DB}"/>
              </a:ext>
            </a:extLst>
          </p:cNvPr>
          <p:cNvGrpSpPr/>
          <p:nvPr/>
        </p:nvGrpSpPr>
        <p:grpSpPr>
          <a:xfrm rot="12992908">
            <a:off x="2566665" y="4331166"/>
            <a:ext cx="785406" cy="798225"/>
            <a:chOff x="4802228" y="2741675"/>
            <a:chExt cx="785406" cy="798225"/>
          </a:xfrm>
        </p:grpSpPr>
        <p:sp>
          <p:nvSpPr>
            <p:cNvPr id="13" name="Right Arrow 12">
              <a:extLst>
                <a:ext uri="{FF2B5EF4-FFF2-40B4-BE49-F238E27FC236}">
                  <a16:creationId xmlns:a16="http://schemas.microsoft.com/office/drawing/2014/main" id="{E6979CFC-BBCE-0C91-1C35-98A153C84475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08BFAA5-81D8-14E8-1468-8E4DBB5B879D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F760CDE-A511-C716-4BDE-71A864CD834D}"/>
              </a:ext>
            </a:extLst>
          </p:cNvPr>
          <p:cNvSpPr/>
          <p:nvPr/>
        </p:nvSpPr>
        <p:spPr>
          <a:xfrm>
            <a:off x="6130443" y="3700487"/>
            <a:ext cx="5554626" cy="1396607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00" dirty="0">
              <a:solidFill>
                <a:schemeClr val="tx1"/>
              </a:solidFill>
            </a:endParaRPr>
          </a:p>
          <a:p>
            <a:pPr algn="ctr"/>
            <a:r>
              <a:rPr lang="en-US" sz="4000" dirty="0">
                <a:solidFill>
                  <a:schemeClr val="tx1"/>
                </a:solidFill>
              </a:rPr>
              <a:t>necessarily transitive!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6BBA089F-A923-DA85-0BB1-C9D7961D09F2}"/>
                  </a:ext>
                </a:extLst>
              </p:cNvPr>
              <p:cNvSpPr/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r>
                      <a:rPr lang="en-US" sz="4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 err="1">
                    <a:solidFill>
                      <a:schemeClr val="tx1"/>
                    </a:solidFill>
                  </a:rPr>
                  <a:t>i</a:t>
                </a:r>
                <a:r>
                  <a:rPr lang="en-US" sz="40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>
                    <a:solidFill>
                      <a:schemeClr val="tx1"/>
                    </a:solidFill>
                  </a:rPr>
                  <a:t>j</a:t>
                </a:r>
                <a:r>
                  <a:rPr lang="en-US" sz="4000" dirty="0">
                    <a:solidFill>
                      <a:schemeClr val="tx1"/>
                    </a:solidFill>
                  </a:rPr>
                  <a:t> ~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4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6BBA089F-A923-DA85-0BB1-C9D7961D09F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blipFill>
                <a:blip r:embed="rId3"/>
                <a:stretch>
                  <a:fillRect l="-35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D6A11876-BA67-8129-0913-AA22CE308374}"/>
              </a:ext>
            </a:extLst>
          </p:cNvPr>
          <p:cNvGrpSpPr/>
          <p:nvPr/>
        </p:nvGrpSpPr>
        <p:grpSpPr>
          <a:xfrm rot="1183258">
            <a:off x="8490795" y="3729900"/>
            <a:ext cx="785406" cy="798225"/>
            <a:chOff x="4802227" y="2741675"/>
            <a:chExt cx="785406" cy="798225"/>
          </a:xfrm>
        </p:grpSpPr>
        <p:sp>
          <p:nvSpPr>
            <p:cNvPr id="21" name="Right Arrow 20">
              <a:extLst>
                <a:ext uri="{FF2B5EF4-FFF2-40B4-BE49-F238E27FC236}">
                  <a16:creationId xmlns:a16="http://schemas.microsoft.com/office/drawing/2014/main" id="{097E25D4-508C-631B-BD9B-A7AEA10CE868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427141F-68FC-24A3-1EE3-B95CEDC9704B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24" name="Cross 23">
            <a:extLst>
              <a:ext uri="{FF2B5EF4-FFF2-40B4-BE49-F238E27FC236}">
                <a16:creationId xmlns:a16="http://schemas.microsoft.com/office/drawing/2014/main" id="{993E48F0-988C-509B-6DA2-AA8A5B9AE758}"/>
              </a:ext>
            </a:extLst>
          </p:cNvPr>
          <p:cNvSpPr/>
          <p:nvPr/>
        </p:nvSpPr>
        <p:spPr>
          <a:xfrm rot="2237817">
            <a:off x="2720483" y="4274608"/>
            <a:ext cx="648453" cy="643362"/>
          </a:xfrm>
          <a:custGeom>
            <a:avLst/>
            <a:gdLst>
              <a:gd name="connsiteX0" fmla="*/ 0 w 648453"/>
              <a:gd name="connsiteY0" fmla="*/ 262485 h 643362"/>
              <a:gd name="connsiteX1" fmla="*/ 262485 w 648453"/>
              <a:gd name="connsiteY1" fmla="*/ 262485 h 643362"/>
              <a:gd name="connsiteX2" fmla="*/ 262485 w 648453"/>
              <a:gd name="connsiteY2" fmla="*/ 0 h 643362"/>
              <a:gd name="connsiteX3" fmla="*/ 385968 w 648453"/>
              <a:gd name="connsiteY3" fmla="*/ 0 h 643362"/>
              <a:gd name="connsiteX4" fmla="*/ 385968 w 648453"/>
              <a:gd name="connsiteY4" fmla="*/ 262485 h 643362"/>
              <a:gd name="connsiteX5" fmla="*/ 648453 w 648453"/>
              <a:gd name="connsiteY5" fmla="*/ 262485 h 643362"/>
              <a:gd name="connsiteX6" fmla="*/ 648453 w 648453"/>
              <a:gd name="connsiteY6" fmla="*/ 380877 h 643362"/>
              <a:gd name="connsiteX7" fmla="*/ 385968 w 648453"/>
              <a:gd name="connsiteY7" fmla="*/ 380877 h 643362"/>
              <a:gd name="connsiteX8" fmla="*/ 385968 w 648453"/>
              <a:gd name="connsiteY8" fmla="*/ 643362 h 643362"/>
              <a:gd name="connsiteX9" fmla="*/ 262485 w 648453"/>
              <a:gd name="connsiteY9" fmla="*/ 643362 h 643362"/>
              <a:gd name="connsiteX10" fmla="*/ 262485 w 648453"/>
              <a:gd name="connsiteY10" fmla="*/ 380877 h 643362"/>
              <a:gd name="connsiteX11" fmla="*/ 0 w 648453"/>
              <a:gd name="connsiteY11" fmla="*/ 380877 h 643362"/>
              <a:gd name="connsiteX12" fmla="*/ 0 w 648453"/>
              <a:gd name="connsiteY12" fmla="*/ 262485 h 6433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48453" h="643362" fill="none" extrusionOk="0">
                <a:moveTo>
                  <a:pt x="0" y="262485"/>
                </a:moveTo>
                <a:cubicBezTo>
                  <a:pt x="100452" y="244722"/>
                  <a:pt x="199426" y="271911"/>
                  <a:pt x="262485" y="262485"/>
                </a:cubicBezTo>
                <a:cubicBezTo>
                  <a:pt x="261042" y="141216"/>
                  <a:pt x="274129" y="57828"/>
                  <a:pt x="262485" y="0"/>
                </a:cubicBezTo>
                <a:cubicBezTo>
                  <a:pt x="321828" y="-13293"/>
                  <a:pt x="344811" y="5744"/>
                  <a:pt x="385968" y="0"/>
                </a:cubicBezTo>
                <a:cubicBezTo>
                  <a:pt x="409026" y="79650"/>
                  <a:pt x="367496" y="183870"/>
                  <a:pt x="385968" y="262485"/>
                </a:cubicBezTo>
                <a:cubicBezTo>
                  <a:pt x="509456" y="243028"/>
                  <a:pt x="565543" y="274383"/>
                  <a:pt x="648453" y="262485"/>
                </a:cubicBezTo>
                <a:cubicBezTo>
                  <a:pt x="657320" y="300685"/>
                  <a:pt x="637625" y="332447"/>
                  <a:pt x="648453" y="380877"/>
                </a:cubicBezTo>
                <a:cubicBezTo>
                  <a:pt x="560337" y="397149"/>
                  <a:pt x="452735" y="362711"/>
                  <a:pt x="385968" y="380877"/>
                </a:cubicBezTo>
                <a:cubicBezTo>
                  <a:pt x="395905" y="461472"/>
                  <a:pt x="376000" y="586326"/>
                  <a:pt x="385968" y="643362"/>
                </a:cubicBezTo>
                <a:cubicBezTo>
                  <a:pt x="357296" y="644967"/>
                  <a:pt x="304572" y="642762"/>
                  <a:pt x="262485" y="643362"/>
                </a:cubicBezTo>
                <a:cubicBezTo>
                  <a:pt x="247191" y="547928"/>
                  <a:pt x="265228" y="457522"/>
                  <a:pt x="262485" y="380877"/>
                </a:cubicBezTo>
                <a:cubicBezTo>
                  <a:pt x="135870" y="399458"/>
                  <a:pt x="79278" y="357470"/>
                  <a:pt x="0" y="380877"/>
                </a:cubicBezTo>
                <a:cubicBezTo>
                  <a:pt x="-720" y="328340"/>
                  <a:pt x="12951" y="315901"/>
                  <a:pt x="0" y="262485"/>
                </a:cubicBezTo>
                <a:close/>
              </a:path>
              <a:path w="648453" h="643362" stroke="0" extrusionOk="0">
                <a:moveTo>
                  <a:pt x="0" y="262485"/>
                </a:moveTo>
                <a:cubicBezTo>
                  <a:pt x="62850" y="259684"/>
                  <a:pt x="157933" y="277893"/>
                  <a:pt x="262485" y="262485"/>
                </a:cubicBezTo>
                <a:cubicBezTo>
                  <a:pt x="240606" y="155431"/>
                  <a:pt x="291358" y="125667"/>
                  <a:pt x="262485" y="0"/>
                </a:cubicBezTo>
                <a:cubicBezTo>
                  <a:pt x="322461" y="-14325"/>
                  <a:pt x="344820" y="693"/>
                  <a:pt x="385968" y="0"/>
                </a:cubicBezTo>
                <a:cubicBezTo>
                  <a:pt x="406832" y="56033"/>
                  <a:pt x="367980" y="153485"/>
                  <a:pt x="385968" y="262485"/>
                </a:cubicBezTo>
                <a:cubicBezTo>
                  <a:pt x="497710" y="255789"/>
                  <a:pt x="558675" y="272527"/>
                  <a:pt x="648453" y="262485"/>
                </a:cubicBezTo>
                <a:cubicBezTo>
                  <a:pt x="660605" y="290005"/>
                  <a:pt x="645894" y="354265"/>
                  <a:pt x="648453" y="380877"/>
                </a:cubicBezTo>
                <a:cubicBezTo>
                  <a:pt x="567935" y="382566"/>
                  <a:pt x="466505" y="350616"/>
                  <a:pt x="385968" y="380877"/>
                </a:cubicBezTo>
                <a:cubicBezTo>
                  <a:pt x="396801" y="494753"/>
                  <a:pt x="361195" y="558644"/>
                  <a:pt x="385968" y="643362"/>
                </a:cubicBezTo>
                <a:cubicBezTo>
                  <a:pt x="340274" y="643659"/>
                  <a:pt x="306812" y="631995"/>
                  <a:pt x="262485" y="643362"/>
                </a:cubicBezTo>
                <a:cubicBezTo>
                  <a:pt x="259239" y="565941"/>
                  <a:pt x="286532" y="438873"/>
                  <a:pt x="262485" y="380877"/>
                </a:cubicBezTo>
                <a:cubicBezTo>
                  <a:pt x="187918" y="387990"/>
                  <a:pt x="114569" y="364392"/>
                  <a:pt x="0" y="380877"/>
                </a:cubicBezTo>
                <a:cubicBezTo>
                  <a:pt x="-2232" y="348000"/>
                  <a:pt x="3995" y="311044"/>
                  <a:pt x="0" y="262485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plus">
                    <a:avLst>
                      <a:gd name="adj" fmla="val 40799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0952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3" presetClass="exit" presetSubtype="1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3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4" grpId="1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C33AB-DAA6-3FA4-4CB8-211B834C5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261D79F7-2DBC-A0AF-1103-F07DD9D5A6B0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2461262C-367D-00C9-8C87-972D17382D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4723A820-F6DC-3B40-9429-4A20B7127B54}"/>
              </a:ext>
            </a:extLst>
          </p:cNvPr>
          <p:cNvSpPr/>
          <p:nvPr/>
        </p:nvSpPr>
        <p:spPr>
          <a:xfrm>
            <a:off x="482635" y="2566696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C314390-B191-59A7-5880-A76BF99C0522}"/>
              </a:ext>
            </a:extLst>
          </p:cNvPr>
          <p:cNvSpPr/>
          <p:nvPr/>
        </p:nvSpPr>
        <p:spPr>
          <a:xfrm>
            <a:off x="2609504" y="2520872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AD9DF61-F457-EAA9-C5AD-E328649BBED1}"/>
              </a:ext>
            </a:extLst>
          </p:cNvPr>
          <p:cNvSpPr/>
          <p:nvPr/>
        </p:nvSpPr>
        <p:spPr>
          <a:xfrm>
            <a:off x="4755937" y="2431472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A2B97F7-0401-BC7A-514A-F55336BC457D}"/>
              </a:ext>
            </a:extLst>
          </p:cNvPr>
          <p:cNvGrpSpPr/>
          <p:nvPr/>
        </p:nvGrpSpPr>
        <p:grpSpPr>
          <a:xfrm rot="1283654">
            <a:off x="1814102" y="2511053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462B2E5F-0CAC-D79C-76A0-EE3186F5A63B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2D3CB5B-F934-8B20-6CF8-F2F6E9C2E734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C3487893-1C63-2ECB-4FA6-61845240EABC}"/>
              </a:ext>
            </a:extLst>
          </p:cNvPr>
          <p:cNvGrpSpPr/>
          <p:nvPr/>
        </p:nvGrpSpPr>
        <p:grpSpPr>
          <a:xfrm rot="1320095">
            <a:off x="3967009" y="2465883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EC4B7419-6107-7C4F-4272-24817B88B726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C198DEF-87A7-9DC9-9A70-B5B5DEB66F8F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74AA686-FBCB-89BE-26F4-8DC10F63F571}"/>
              </a:ext>
            </a:extLst>
          </p:cNvPr>
          <p:cNvSpPr/>
          <p:nvPr/>
        </p:nvSpPr>
        <p:spPr>
          <a:xfrm>
            <a:off x="6130443" y="3700487"/>
            <a:ext cx="5554626" cy="1396607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00" dirty="0">
              <a:solidFill>
                <a:schemeClr val="tx1"/>
              </a:solidFill>
            </a:endParaRPr>
          </a:p>
          <a:p>
            <a:pPr algn="ctr"/>
            <a:r>
              <a:rPr lang="en-US" sz="4000" dirty="0">
                <a:solidFill>
                  <a:schemeClr val="tx1"/>
                </a:solidFill>
              </a:rPr>
              <a:t>necessarily transitive!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10296DB-7B89-93B1-8769-C29D68DC0F55}"/>
              </a:ext>
            </a:extLst>
          </p:cNvPr>
          <p:cNvGrpSpPr/>
          <p:nvPr/>
        </p:nvGrpSpPr>
        <p:grpSpPr>
          <a:xfrm rot="1183258">
            <a:off x="8490795" y="3729900"/>
            <a:ext cx="785406" cy="798225"/>
            <a:chOff x="4802227" y="2741675"/>
            <a:chExt cx="785406" cy="798225"/>
          </a:xfrm>
        </p:grpSpPr>
        <p:sp>
          <p:nvSpPr>
            <p:cNvPr id="21" name="Right Arrow 20">
              <a:extLst>
                <a:ext uri="{FF2B5EF4-FFF2-40B4-BE49-F238E27FC236}">
                  <a16:creationId xmlns:a16="http://schemas.microsoft.com/office/drawing/2014/main" id="{06AC0428-2233-2C3B-35FD-B86197A4B992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9F83B3E-D936-5AFC-E018-371084F4040B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72F3FE6B-F008-912E-7992-33B0BE3C1DF2}"/>
                  </a:ext>
                </a:extLst>
              </p:cNvPr>
              <p:cNvSpPr/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r>
                      <a:rPr lang="en-US" sz="4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 err="1">
                    <a:solidFill>
                      <a:schemeClr val="tx1"/>
                    </a:solidFill>
                  </a:rPr>
                  <a:t>i</a:t>
                </a:r>
                <a:r>
                  <a:rPr lang="en-US" sz="40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>
                    <a:solidFill>
                      <a:schemeClr val="tx1"/>
                    </a:solidFill>
                  </a:rPr>
                  <a:t>j</a:t>
                </a:r>
                <a:r>
                  <a:rPr lang="en-US" sz="4000" dirty="0">
                    <a:solidFill>
                      <a:schemeClr val="tx1"/>
                    </a:solidFill>
                  </a:rPr>
                  <a:t> ~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4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72F3FE6B-F008-912E-7992-33B0BE3C1DF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blipFill>
                <a:blip r:embed="rId3"/>
                <a:stretch>
                  <a:fillRect l="-35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247716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62D835-6EC9-09BC-1450-35EDBAF9D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641B629-6791-10F9-C913-C6FFA11402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548F6B94-EDF5-3AA4-414C-8237277C4B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E47311-E01C-F9BA-D2ED-CD570AC22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CA0C71B-849B-972F-CD06-FD04EF311B02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7C8B318-28EE-7EBF-3D2F-2F817CF748A8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556DD1C-9F22-0FD8-9225-BEC3E86CBEC8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1557C94-022C-B191-4052-D66F98B62998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500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3F916E4-457F-22CA-B453-520471D86B7B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7829163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0DCC097-1DB8-4B6D-85D0-6FBA0E1CA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0B58608-23C8-4441-994D-C6823EEE1D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2C99FF-0575-C686-0441-8A7C7943A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B7DE859-2139-8458-7BDF-C2A9E5D7DCDC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1</a:t>
            </a:r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485067B-724D-8A63-066B-79714ADE2668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2</a:t>
            </a:r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C5CF6B0-3AEE-4A39-B118-0F8762BCB5B9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3</a:t>
            </a:r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2A91347-0717-DD8E-B507-572CA798173A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500</a:t>
            </a:r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A9B5538-1526-4B6F-56B5-24BB7DF5A034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2CBF3630-4A52-4428-57FD-B8C67A7D3F5D}"/>
              </a:ext>
            </a:extLst>
          </p:cNvPr>
          <p:cNvSpPr/>
          <p:nvPr/>
        </p:nvSpPr>
        <p:spPr>
          <a:xfrm>
            <a:off x="2103471" y="2332960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4C30EAF-6CB1-3938-851B-EBA91987E38A}"/>
              </a:ext>
            </a:extLst>
          </p:cNvPr>
          <p:cNvCxnSpPr>
            <a:cxnSpLocks/>
          </p:cNvCxnSpPr>
          <p:nvPr/>
        </p:nvCxnSpPr>
        <p:spPr>
          <a:xfrm>
            <a:off x="2077943" y="2805092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0E931E9-0D6F-2A2F-743F-B5273E806EE6}"/>
              </a:ext>
            </a:extLst>
          </p:cNvPr>
          <p:cNvCxnSpPr>
            <a:cxnSpLocks/>
          </p:cNvCxnSpPr>
          <p:nvPr/>
        </p:nvCxnSpPr>
        <p:spPr>
          <a:xfrm flipV="1">
            <a:off x="2077943" y="2332960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A0FD426A-32C1-DD30-166F-BB4876EB6ABD}"/>
              </a:ext>
            </a:extLst>
          </p:cNvPr>
          <p:cNvSpPr/>
          <p:nvPr/>
        </p:nvSpPr>
        <p:spPr>
          <a:xfrm>
            <a:off x="2103471" y="3213988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6D4BDCC-832A-38B9-3849-41E5044394AF}"/>
              </a:ext>
            </a:extLst>
          </p:cNvPr>
          <p:cNvCxnSpPr>
            <a:cxnSpLocks/>
          </p:cNvCxnSpPr>
          <p:nvPr/>
        </p:nvCxnSpPr>
        <p:spPr>
          <a:xfrm>
            <a:off x="2077943" y="3686120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46185CC-48DB-DF6F-B162-49938C1D9FF1}"/>
              </a:ext>
            </a:extLst>
          </p:cNvPr>
          <p:cNvCxnSpPr>
            <a:cxnSpLocks/>
          </p:cNvCxnSpPr>
          <p:nvPr/>
        </p:nvCxnSpPr>
        <p:spPr>
          <a:xfrm flipV="1">
            <a:off x="2077943" y="3213988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>
            <a:extLst>
              <a:ext uri="{FF2B5EF4-FFF2-40B4-BE49-F238E27FC236}">
                <a16:creationId xmlns:a16="http://schemas.microsoft.com/office/drawing/2014/main" id="{05C872CF-9A72-8AD0-765F-85653B8820B1}"/>
              </a:ext>
            </a:extLst>
          </p:cNvPr>
          <p:cNvSpPr/>
          <p:nvPr/>
        </p:nvSpPr>
        <p:spPr>
          <a:xfrm>
            <a:off x="2077943" y="4186205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8081B9B-605D-2A23-9BE3-ED5083DC5212}"/>
              </a:ext>
            </a:extLst>
          </p:cNvPr>
          <p:cNvCxnSpPr>
            <a:cxnSpLocks/>
          </p:cNvCxnSpPr>
          <p:nvPr/>
        </p:nvCxnSpPr>
        <p:spPr>
          <a:xfrm>
            <a:off x="2052415" y="4658337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450D81D-A232-E765-E9AF-95C972F971CB}"/>
              </a:ext>
            </a:extLst>
          </p:cNvPr>
          <p:cNvCxnSpPr>
            <a:cxnSpLocks/>
          </p:cNvCxnSpPr>
          <p:nvPr/>
        </p:nvCxnSpPr>
        <p:spPr>
          <a:xfrm flipV="1">
            <a:off x="2052415" y="4186205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D9531940-13B7-2E28-E144-0A46DF1E4381}"/>
              </a:ext>
            </a:extLst>
          </p:cNvPr>
          <p:cNvSpPr/>
          <p:nvPr/>
        </p:nvSpPr>
        <p:spPr>
          <a:xfrm>
            <a:off x="2110117" y="5740337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6E7CB78-1A6E-F1D4-2169-FD38CF2D7435}"/>
              </a:ext>
            </a:extLst>
          </p:cNvPr>
          <p:cNvCxnSpPr>
            <a:cxnSpLocks/>
          </p:cNvCxnSpPr>
          <p:nvPr/>
        </p:nvCxnSpPr>
        <p:spPr>
          <a:xfrm>
            <a:off x="2084589" y="6212469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94F6149-B47E-14C6-E476-C5E0E2FFA04D}"/>
              </a:ext>
            </a:extLst>
          </p:cNvPr>
          <p:cNvCxnSpPr>
            <a:cxnSpLocks/>
          </p:cNvCxnSpPr>
          <p:nvPr/>
        </p:nvCxnSpPr>
        <p:spPr>
          <a:xfrm flipV="1">
            <a:off x="2084589" y="5740337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1AEE2991-B4EE-DBC3-4AD1-A2015AE82FBF}"/>
              </a:ext>
            </a:extLst>
          </p:cNvPr>
          <p:cNvSpPr txBox="1"/>
          <p:nvPr/>
        </p:nvSpPr>
        <p:spPr>
          <a:xfrm>
            <a:off x="3645876" y="2285532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Each client: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2D96C21-4057-C096-874D-564109EB9764}"/>
              </a:ext>
            </a:extLst>
          </p:cNvPr>
          <p:cNvSpPr txBox="1"/>
          <p:nvPr/>
        </p:nvSpPr>
        <p:spPr>
          <a:xfrm>
            <a:off x="3645876" y="2919173"/>
            <a:ext cx="8048818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Generates a message at time 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Samples an error from the distribution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Adds error to t to get a simulated observed time t’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t’ and seeded distributions are shared with the sequencer</a:t>
            </a:r>
          </a:p>
        </p:txBody>
      </p:sp>
    </p:spTree>
    <p:extLst>
      <p:ext uri="{BB962C8B-B14F-4D97-AF65-F5344CB8AC3E}">
        <p14:creationId xmlns:p14="http://schemas.microsoft.com/office/powerpoint/2010/main" val="3137829382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8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2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9" grpId="0" animBg="1"/>
      <p:bldP spid="22" grpId="0" animBg="1"/>
      <p:bldP spid="25" grpId="0" animBg="1"/>
      <p:bldP spid="28" grpId="0"/>
      <p:bldP spid="29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1FF05D-EE58-24A7-0E08-6630743D2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A9A115C-7ED2-D028-1E15-41DFF41C18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B287180E-4C0A-E5AA-EFE2-2E5703F6A7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F1EF2B7-ED64-29BC-2EE9-2234F8A27F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E5720EE-66C6-39B9-EDA9-F008ECFD8CDC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4BE537B-E2C6-5B61-5F6B-7BDDBB804977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0C44D32-5DCE-F9EE-A168-D93D6D01D74F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CA04D40-7C10-D83C-52F6-25A26D37E0EF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500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CE8ADFE-C534-7912-584F-FA2FFC28BB32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0DEFC800-AA2D-667C-583E-91E3A74C3D20}"/>
              </a:ext>
            </a:extLst>
          </p:cNvPr>
          <p:cNvSpPr/>
          <p:nvPr/>
        </p:nvSpPr>
        <p:spPr>
          <a:xfrm>
            <a:off x="2103471" y="2332960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3981699-9FFD-4F16-3FF3-0A6CE94B017A}"/>
              </a:ext>
            </a:extLst>
          </p:cNvPr>
          <p:cNvCxnSpPr>
            <a:cxnSpLocks/>
          </p:cNvCxnSpPr>
          <p:nvPr/>
        </p:nvCxnSpPr>
        <p:spPr>
          <a:xfrm>
            <a:off x="2077943" y="2805092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F43965F-09FC-186F-7522-C871514D272D}"/>
              </a:ext>
            </a:extLst>
          </p:cNvPr>
          <p:cNvCxnSpPr>
            <a:cxnSpLocks/>
          </p:cNvCxnSpPr>
          <p:nvPr/>
        </p:nvCxnSpPr>
        <p:spPr>
          <a:xfrm flipV="1">
            <a:off x="2077943" y="2332960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0C93F9DA-9CC3-647A-3415-C50F69C32BCB}"/>
              </a:ext>
            </a:extLst>
          </p:cNvPr>
          <p:cNvSpPr/>
          <p:nvPr/>
        </p:nvSpPr>
        <p:spPr>
          <a:xfrm>
            <a:off x="2103471" y="3213988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0BB6CCC-8498-6BCE-9490-44A489AF0A84}"/>
              </a:ext>
            </a:extLst>
          </p:cNvPr>
          <p:cNvCxnSpPr>
            <a:cxnSpLocks/>
          </p:cNvCxnSpPr>
          <p:nvPr/>
        </p:nvCxnSpPr>
        <p:spPr>
          <a:xfrm>
            <a:off x="2077943" y="3686120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951BF64-F2F8-4A0F-26A8-AD2393C022A7}"/>
              </a:ext>
            </a:extLst>
          </p:cNvPr>
          <p:cNvCxnSpPr>
            <a:cxnSpLocks/>
          </p:cNvCxnSpPr>
          <p:nvPr/>
        </p:nvCxnSpPr>
        <p:spPr>
          <a:xfrm flipV="1">
            <a:off x="2077943" y="3213988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>
            <a:extLst>
              <a:ext uri="{FF2B5EF4-FFF2-40B4-BE49-F238E27FC236}">
                <a16:creationId xmlns:a16="http://schemas.microsoft.com/office/drawing/2014/main" id="{6B0604F4-1960-0358-263B-D7F69AD65243}"/>
              </a:ext>
            </a:extLst>
          </p:cNvPr>
          <p:cNvSpPr/>
          <p:nvPr/>
        </p:nvSpPr>
        <p:spPr>
          <a:xfrm>
            <a:off x="2077943" y="4186205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AE3FA1A-69D1-046C-34DD-57C689014135}"/>
              </a:ext>
            </a:extLst>
          </p:cNvPr>
          <p:cNvCxnSpPr>
            <a:cxnSpLocks/>
          </p:cNvCxnSpPr>
          <p:nvPr/>
        </p:nvCxnSpPr>
        <p:spPr>
          <a:xfrm>
            <a:off x="2052415" y="4658337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55E367E-88B7-74A6-A1C2-38764F04768A}"/>
              </a:ext>
            </a:extLst>
          </p:cNvPr>
          <p:cNvCxnSpPr>
            <a:cxnSpLocks/>
          </p:cNvCxnSpPr>
          <p:nvPr/>
        </p:nvCxnSpPr>
        <p:spPr>
          <a:xfrm flipV="1">
            <a:off x="2052415" y="4186205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6D32005C-4322-4D93-C5A9-01EBFC4EF9B7}"/>
              </a:ext>
            </a:extLst>
          </p:cNvPr>
          <p:cNvSpPr/>
          <p:nvPr/>
        </p:nvSpPr>
        <p:spPr>
          <a:xfrm>
            <a:off x="2110117" y="5740337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B4DDE04-52E7-531E-61C5-971E75FBB8C5}"/>
              </a:ext>
            </a:extLst>
          </p:cNvPr>
          <p:cNvCxnSpPr>
            <a:cxnSpLocks/>
          </p:cNvCxnSpPr>
          <p:nvPr/>
        </p:nvCxnSpPr>
        <p:spPr>
          <a:xfrm>
            <a:off x="2084589" y="6212469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C91FFA2-3A83-D0C1-2F55-5E1F5E30D160}"/>
              </a:ext>
            </a:extLst>
          </p:cNvPr>
          <p:cNvCxnSpPr>
            <a:cxnSpLocks/>
          </p:cNvCxnSpPr>
          <p:nvPr/>
        </p:nvCxnSpPr>
        <p:spPr>
          <a:xfrm flipV="1">
            <a:off x="2084589" y="5740337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977C37D1-AADE-5D78-D2BE-694C18AE7828}"/>
              </a:ext>
            </a:extLst>
          </p:cNvPr>
          <p:cNvSpPr txBox="1"/>
          <p:nvPr/>
        </p:nvSpPr>
        <p:spPr>
          <a:xfrm>
            <a:off x="3222363" y="2332960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Baseline: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8EA6DFE-1005-5F2B-7333-80C615FE0D6C}"/>
                  </a:ext>
                </a:extLst>
              </p:cNvPr>
              <p:cNvSpPr txBox="1"/>
              <p:nvPr/>
            </p:nvSpPr>
            <p:spPr>
              <a:xfrm>
                <a:off x="3222363" y="3009939"/>
                <a:ext cx="8616707" cy="26776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Use Spanner’s </a:t>
                </a:r>
                <a:r>
                  <a:rPr lang="en-US" sz="2800" dirty="0" err="1"/>
                  <a:t>TrueTime</a:t>
                </a:r>
                <a:r>
                  <a:rPr lang="en-US" sz="2800" dirty="0"/>
                  <a:t> API to represent each observed timestamp as an interval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′−3</m:t>
                    </m:r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2800" dirty="0"/>
                  <a:t>,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′+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endParaRPr lang="en-US" sz="28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Two non-overlapping intervals can be ordered perfectly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Two overlapping intervals are left unordered i.e., given the same sequence number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8EA6DFE-1005-5F2B-7333-80C615FE0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2363" y="3009939"/>
                <a:ext cx="8616707" cy="2677656"/>
              </a:xfrm>
              <a:prstGeom prst="rect">
                <a:avLst/>
              </a:prstGeom>
              <a:blipFill>
                <a:blip r:embed="rId2"/>
                <a:stretch>
                  <a:fillRect l="-1176" t="-2844" b="-56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82851600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0B093CB-1FA2-146A-1409-2545E50AEB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168C5F-E6D6-7E43-3741-3ADEB9C62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05F22E1-9FD0-B6B3-F1DE-DBCF3537AA1F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1</a:t>
            </a:r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A369DB1-BFB4-4466-748B-35D92492A2B7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2</a:t>
            </a:r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D4EC7BA-AB9B-67AF-240B-E7E1DC8EE2BD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3</a:t>
            </a:r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C48F988-9FCB-31DD-9547-75DEA9787AC8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500</a:t>
            </a:r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61A03E4-81A9-01FD-7086-9884671A81F5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6A7B64F5-83CB-2B4F-79B1-688EE894AB6E}"/>
              </a:ext>
            </a:extLst>
          </p:cNvPr>
          <p:cNvSpPr/>
          <p:nvPr/>
        </p:nvSpPr>
        <p:spPr>
          <a:xfrm>
            <a:off x="2103471" y="2332960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D639712-066C-384F-F464-5AB763472FE9}"/>
              </a:ext>
            </a:extLst>
          </p:cNvPr>
          <p:cNvCxnSpPr>
            <a:cxnSpLocks/>
          </p:cNvCxnSpPr>
          <p:nvPr/>
        </p:nvCxnSpPr>
        <p:spPr>
          <a:xfrm>
            <a:off x="2077943" y="2805092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BC97D17-0D45-418D-50B7-9F0578F3D390}"/>
              </a:ext>
            </a:extLst>
          </p:cNvPr>
          <p:cNvCxnSpPr>
            <a:cxnSpLocks/>
          </p:cNvCxnSpPr>
          <p:nvPr/>
        </p:nvCxnSpPr>
        <p:spPr>
          <a:xfrm flipV="1">
            <a:off x="2077943" y="2332960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C9A6D07A-C8E5-91AF-7A53-66F830D0ACA6}"/>
              </a:ext>
            </a:extLst>
          </p:cNvPr>
          <p:cNvSpPr/>
          <p:nvPr/>
        </p:nvSpPr>
        <p:spPr>
          <a:xfrm>
            <a:off x="2103471" y="3213988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E613752-9E6F-88D4-9330-C98F0501B1CA}"/>
              </a:ext>
            </a:extLst>
          </p:cNvPr>
          <p:cNvCxnSpPr>
            <a:cxnSpLocks/>
          </p:cNvCxnSpPr>
          <p:nvPr/>
        </p:nvCxnSpPr>
        <p:spPr>
          <a:xfrm>
            <a:off x="2077943" y="3686120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2D8D513-E734-4D5B-01F2-CF91EFCAC93D}"/>
              </a:ext>
            </a:extLst>
          </p:cNvPr>
          <p:cNvCxnSpPr>
            <a:cxnSpLocks/>
          </p:cNvCxnSpPr>
          <p:nvPr/>
        </p:nvCxnSpPr>
        <p:spPr>
          <a:xfrm flipV="1">
            <a:off x="2077943" y="3213988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>
            <a:extLst>
              <a:ext uri="{FF2B5EF4-FFF2-40B4-BE49-F238E27FC236}">
                <a16:creationId xmlns:a16="http://schemas.microsoft.com/office/drawing/2014/main" id="{C0126959-A6D7-D7DD-2FCD-E3D0174114F8}"/>
              </a:ext>
            </a:extLst>
          </p:cNvPr>
          <p:cNvSpPr/>
          <p:nvPr/>
        </p:nvSpPr>
        <p:spPr>
          <a:xfrm>
            <a:off x="2077943" y="4186205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3828B17E-1E11-9BFC-1C04-B17770654AFB}"/>
              </a:ext>
            </a:extLst>
          </p:cNvPr>
          <p:cNvCxnSpPr>
            <a:cxnSpLocks/>
          </p:cNvCxnSpPr>
          <p:nvPr/>
        </p:nvCxnSpPr>
        <p:spPr>
          <a:xfrm>
            <a:off x="2052415" y="4658337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06F3C19-7A06-6AAA-92F6-0B94065892A1}"/>
              </a:ext>
            </a:extLst>
          </p:cNvPr>
          <p:cNvCxnSpPr>
            <a:cxnSpLocks/>
          </p:cNvCxnSpPr>
          <p:nvPr/>
        </p:nvCxnSpPr>
        <p:spPr>
          <a:xfrm flipV="1">
            <a:off x="2052415" y="4186205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FD583AF2-BCA6-DF23-719B-2798EEC63D92}"/>
              </a:ext>
            </a:extLst>
          </p:cNvPr>
          <p:cNvSpPr/>
          <p:nvPr/>
        </p:nvSpPr>
        <p:spPr>
          <a:xfrm>
            <a:off x="2110117" y="5740337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244BD63-CAC7-90B5-442F-59863557E06D}"/>
              </a:ext>
            </a:extLst>
          </p:cNvPr>
          <p:cNvCxnSpPr>
            <a:cxnSpLocks/>
          </p:cNvCxnSpPr>
          <p:nvPr/>
        </p:nvCxnSpPr>
        <p:spPr>
          <a:xfrm>
            <a:off x="2084589" y="6212469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7EAA5CD-755A-ED66-4BD5-6E3B668BF4A1}"/>
              </a:ext>
            </a:extLst>
          </p:cNvPr>
          <p:cNvCxnSpPr>
            <a:cxnSpLocks/>
          </p:cNvCxnSpPr>
          <p:nvPr/>
        </p:nvCxnSpPr>
        <p:spPr>
          <a:xfrm flipV="1">
            <a:off x="2084589" y="5740337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8D55F715-F677-DC07-020A-B4060AB34EDD}"/>
              </a:ext>
            </a:extLst>
          </p:cNvPr>
          <p:cNvSpPr txBox="1"/>
          <p:nvPr/>
        </p:nvSpPr>
        <p:spPr>
          <a:xfrm>
            <a:off x="3645876" y="2285532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Sequencer: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4BBF09-D606-EBD0-62ED-5394E86C5F1C}"/>
              </a:ext>
            </a:extLst>
          </p:cNvPr>
          <p:cNvSpPr txBox="1"/>
          <p:nvPr/>
        </p:nvSpPr>
        <p:spPr>
          <a:xfrm>
            <a:off x="3645876" y="3009939"/>
            <a:ext cx="713231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Gathers observed timestamps from clients and their distributions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 Applies statistical model to figure out fair order of messages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Actual timestamps are collected from clients to construct ground truth</a:t>
            </a:r>
          </a:p>
        </p:txBody>
      </p:sp>
    </p:spTree>
    <p:extLst>
      <p:ext uri="{BB962C8B-B14F-4D97-AF65-F5344CB8AC3E}">
        <p14:creationId xmlns:p14="http://schemas.microsoft.com/office/powerpoint/2010/main" val="1352375426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DC16B3-3DE4-F97E-4FFA-C7A3A94CE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E96A9FA-8BDE-4BE3-ADD5-C04A6E4A8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C7D107D-58AB-6E2A-1542-E8379E1869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14EEDC-67F4-B7ED-3366-2B8EB49D7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033FD85-B964-3D8A-1AFA-40ADD1E92CA1}"/>
              </a:ext>
            </a:extLst>
          </p:cNvPr>
          <p:cNvGrpSpPr/>
          <p:nvPr/>
        </p:nvGrpSpPr>
        <p:grpSpPr>
          <a:xfrm>
            <a:off x="1336630" y="2083506"/>
            <a:ext cx="8132880" cy="4508840"/>
            <a:chOff x="1538760" y="1854746"/>
            <a:chExt cx="8132880" cy="450884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5E2DDA4-7558-1055-535D-F6CB5F2AD1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8760" y="1854746"/>
              <a:ext cx="8132880" cy="450884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97B803A2-98E3-3A3F-5A7B-BCCDB17B9CFD}"/>
                </a:ext>
              </a:extLst>
            </p:cNvPr>
            <p:cNvSpPr/>
            <p:nvPr/>
          </p:nvSpPr>
          <p:spPr>
            <a:xfrm>
              <a:off x="2810577" y="2006504"/>
              <a:ext cx="6708808" cy="333551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6" name="Right Arrow 5">
            <a:extLst>
              <a:ext uri="{FF2B5EF4-FFF2-40B4-BE49-F238E27FC236}">
                <a16:creationId xmlns:a16="http://schemas.microsoft.com/office/drawing/2014/main" id="{D1947DDF-F866-DA3A-3714-D61FB111E971}"/>
              </a:ext>
            </a:extLst>
          </p:cNvPr>
          <p:cNvSpPr/>
          <p:nvPr/>
        </p:nvSpPr>
        <p:spPr>
          <a:xfrm>
            <a:off x="1900988" y="3164466"/>
            <a:ext cx="1414915" cy="567889"/>
          </a:xfrm>
          <a:custGeom>
            <a:avLst/>
            <a:gdLst>
              <a:gd name="connsiteX0" fmla="*/ 0 w 1414915"/>
              <a:gd name="connsiteY0" fmla="*/ 141972 h 567889"/>
              <a:gd name="connsiteX1" fmla="*/ 576795 w 1414915"/>
              <a:gd name="connsiteY1" fmla="*/ 141972 h 567889"/>
              <a:gd name="connsiteX2" fmla="*/ 1130971 w 1414915"/>
              <a:gd name="connsiteY2" fmla="*/ 141972 h 567889"/>
              <a:gd name="connsiteX3" fmla="*/ 1130971 w 1414915"/>
              <a:gd name="connsiteY3" fmla="*/ 0 h 567889"/>
              <a:gd name="connsiteX4" fmla="*/ 1414915 w 1414915"/>
              <a:gd name="connsiteY4" fmla="*/ 283945 h 567889"/>
              <a:gd name="connsiteX5" fmla="*/ 1130971 w 1414915"/>
              <a:gd name="connsiteY5" fmla="*/ 567889 h 567889"/>
              <a:gd name="connsiteX6" fmla="*/ 1130971 w 1414915"/>
              <a:gd name="connsiteY6" fmla="*/ 425917 h 567889"/>
              <a:gd name="connsiteX7" fmla="*/ 565486 w 1414915"/>
              <a:gd name="connsiteY7" fmla="*/ 425917 h 567889"/>
              <a:gd name="connsiteX8" fmla="*/ 0 w 1414915"/>
              <a:gd name="connsiteY8" fmla="*/ 425917 h 567889"/>
              <a:gd name="connsiteX9" fmla="*/ 0 w 1414915"/>
              <a:gd name="connsiteY9" fmla="*/ 141972 h 567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414915" h="567889" fill="none" extrusionOk="0">
                <a:moveTo>
                  <a:pt x="0" y="141972"/>
                </a:moveTo>
                <a:cubicBezTo>
                  <a:pt x="275817" y="80751"/>
                  <a:pt x="365042" y="184444"/>
                  <a:pt x="576795" y="141972"/>
                </a:cubicBezTo>
                <a:cubicBezTo>
                  <a:pt x="788548" y="99500"/>
                  <a:pt x="911003" y="175769"/>
                  <a:pt x="1130971" y="141972"/>
                </a:cubicBezTo>
                <a:cubicBezTo>
                  <a:pt x="1124252" y="106743"/>
                  <a:pt x="1132844" y="30730"/>
                  <a:pt x="1130971" y="0"/>
                </a:cubicBezTo>
                <a:cubicBezTo>
                  <a:pt x="1266927" y="72973"/>
                  <a:pt x="1279056" y="186504"/>
                  <a:pt x="1414915" y="283945"/>
                </a:cubicBezTo>
                <a:cubicBezTo>
                  <a:pt x="1339925" y="385079"/>
                  <a:pt x="1200231" y="446234"/>
                  <a:pt x="1130971" y="567889"/>
                </a:cubicBezTo>
                <a:cubicBezTo>
                  <a:pt x="1129559" y="501250"/>
                  <a:pt x="1147515" y="488702"/>
                  <a:pt x="1130971" y="425917"/>
                </a:cubicBezTo>
                <a:cubicBezTo>
                  <a:pt x="908344" y="461252"/>
                  <a:pt x="759670" y="415285"/>
                  <a:pt x="565486" y="425917"/>
                </a:cubicBezTo>
                <a:cubicBezTo>
                  <a:pt x="371302" y="436549"/>
                  <a:pt x="277010" y="401746"/>
                  <a:pt x="0" y="425917"/>
                </a:cubicBezTo>
                <a:cubicBezTo>
                  <a:pt x="-22450" y="324267"/>
                  <a:pt x="6115" y="271210"/>
                  <a:pt x="0" y="141972"/>
                </a:cubicBezTo>
                <a:close/>
              </a:path>
              <a:path w="1414915" h="567889" stroke="0" extrusionOk="0">
                <a:moveTo>
                  <a:pt x="0" y="141972"/>
                </a:moveTo>
                <a:cubicBezTo>
                  <a:pt x="124711" y="92751"/>
                  <a:pt x="308611" y="187565"/>
                  <a:pt x="554176" y="141972"/>
                </a:cubicBezTo>
                <a:cubicBezTo>
                  <a:pt x="799741" y="96379"/>
                  <a:pt x="994485" y="198452"/>
                  <a:pt x="1130971" y="141972"/>
                </a:cubicBezTo>
                <a:cubicBezTo>
                  <a:pt x="1114956" y="91036"/>
                  <a:pt x="1136319" y="28407"/>
                  <a:pt x="1130971" y="0"/>
                </a:cubicBezTo>
                <a:cubicBezTo>
                  <a:pt x="1246082" y="55876"/>
                  <a:pt x="1274508" y="185078"/>
                  <a:pt x="1414915" y="283945"/>
                </a:cubicBezTo>
                <a:cubicBezTo>
                  <a:pt x="1340724" y="403334"/>
                  <a:pt x="1234255" y="423124"/>
                  <a:pt x="1130971" y="567889"/>
                </a:cubicBezTo>
                <a:cubicBezTo>
                  <a:pt x="1115997" y="531085"/>
                  <a:pt x="1141248" y="469288"/>
                  <a:pt x="1130971" y="425917"/>
                </a:cubicBezTo>
                <a:cubicBezTo>
                  <a:pt x="862224" y="430515"/>
                  <a:pt x="856738" y="379084"/>
                  <a:pt x="588105" y="425917"/>
                </a:cubicBezTo>
                <a:cubicBezTo>
                  <a:pt x="319472" y="472750"/>
                  <a:pt x="223429" y="417197"/>
                  <a:pt x="0" y="425917"/>
                </a:cubicBezTo>
                <a:cubicBezTo>
                  <a:pt x="-32811" y="354011"/>
                  <a:pt x="22250" y="232663"/>
                  <a:pt x="0" y="141972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A90170-232A-CE66-9123-1CC54A91C061}"/>
              </a:ext>
            </a:extLst>
          </p:cNvPr>
          <p:cNvSpPr txBox="1"/>
          <p:nvPr/>
        </p:nvSpPr>
        <p:spPr>
          <a:xfrm>
            <a:off x="3412154" y="2757798"/>
            <a:ext cx="813288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For each correctly ordered pair of messages </a:t>
            </a:r>
            <a:r>
              <a:rPr lang="en-US" sz="2400" dirty="0">
                <a:sym typeface="Wingdings" pitchFamily="2" charset="2"/>
              </a:rPr>
              <a:t> +1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For each incorrect  -1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For a pair left unordered  +0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Normalize by total pairs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23289153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254A7E-0442-685F-E889-BA6F8515C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EE4010F-603E-A684-0FC8-B97D0C132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A4B245C-9908-C47C-D9C4-167AFBF890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FB5CF1-6F84-C5F8-05BE-F95A4700C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2325624-4F55-F997-171B-C1FB4B0E5F8E}"/>
              </a:ext>
            </a:extLst>
          </p:cNvPr>
          <p:cNvGrpSpPr/>
          <p:nvPr/>
        </p:nvGrpSpPr>
        <p:grpSpPr>
          <a:xfrm>
            <a:off x="1538760" y="1854746"/>
            <a:ext cx="8132880" cy="4508840"/>
            <a:chOff x="1538760" y="1854746"/>
            <a:chExt cx="8132880" cy="450884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AF3E0EE-BCA3-B1D5-7AD2-479725F385C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8760" y="1854746"/>
              <a:ext cx="8132880" cy="450884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D01F68D-E6D4-256D-57EB-77FAB94B31BD}"/>
                </a:ext>
              </a:extLst>
            </p:cNvPr>
            <p:cNvSpPr/>
            <p:nvPr/>
          </p:nvSpPr>
          <p:spPr>
            <a:xfrm>
              <a:off x="2810577" y="2006504"/>
              <a:ext cx="6708808" cy="333551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8" name="Right Arrow 7">
            <a:extLst>
              <a:ext uri="{FF2B5EF4-FFF2-40B4-BE49-F238E27FC236}">
                <a16:creationId xmlns:a16="http://schemas.microsoft.com/office/drawing/2014/main" id="{BB58A659-1893-0231-D924-0C9350BD3CAF}"/>
              </a:ext>
            </a:extLst>
          </p:cNvPr>
          <p:cNvSpPr/>
          <p:nvPr/>
        </p:nvSpPr>
        <p:spPr>
          <a:xfrm rot="16200000">
            <a:off x="5884244" y="4793382"/>
            <a:ext cx="1414915" cy="567889"/>
          </a:xfrm>
          <a:custGeom>
            <a:avLst/>
            <a:gdLst>
              <a:gd name="connsiteX0" fmla="*/ 0 w 1414915"/>
              <a:gd name="connsiteY0" fmla="*/ 141972 h 567889"/>
              <a:gd name="connsiteX1" fmla="*/ 576795 w 1414915"/>
              <a:gd name="connsiteY1" fmla="*/ 141972 h 567889"/>
              <a:gd name="connsiteX2" fmla="*/ 1130971 w 1414915"/>
              <a:gd name="connsiteY2" fmla="*/ 141972 h 567889"/>
              <a:gd name="connsiteX3" fmla="*/ 1130971 w 1414915"/>
              <a:gd name="connsiteY3" fmla="*/ 0 h 567889"/>
              <a:gd name="connsiteX4" fmla="*/ 1414915 w 1414915"/>
              <a:gd name="connsiteY4" fmla="*/ 283945 h 567889"/>
              <a:gd name="connsiteX5" fmla="*/ 1130971 w 1414915"/>
              <a:gd name="connsiteY5" fmla="*/ 567889 h 567889"/>
              <a:gd name="connsiteX6" fmla="*/ 1130971 w 1414915"/>
              <a:gd name="connsiteY6" fmla="*/ 425917 h 567889"/>
              <a:gd name="connsiteX7" fmla="*/ 565486 w 1414915"/>
              <a:gd name="connsiteY7" fmla="*/ 425917 h 567889"/>
              <a:gd name="connsiteX8" fmla="*/ 0 w 1414915"/>
              <a:gd name="connsiteY8" fmla="*/ 425917 h 567889"/>
              <a:gd name="connsiteX9" fmla="*/ 0 w 1414915"/>
              <a:gd name="connsiteY9" fmla="*/ 141972 h 567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414915" h="567889" fill="none" extrusionOk="0">
                <a:moveTo>
                  <a:pt x="0" y="141972"/>
                </a:moveTo>
                <a:cubicBezTo>
                  <a:pt x="275817" y="80751"/>
                  <a:pt x="365042" y="184444"/>
                  <a:pt x="576795" y="141972"/>
                </a:cubicBezTo>
                <a:cubicBezTo>
                  <a:pt x="788548" y="99500"/>
                  <a:pt x="911003" y="175769"/>
                  <a:pt x="1130971" y="141972"/>
                </a:cubicBezTo>
                <a:cubicBezTo>
                  <a:pt x="1124252" y="106743"/>
                  <a:pt x="1132844" y="30730"/>
                  <a:pt x="1130971" y="0"/>
                </a:cubicBezTo>
                <a:cubicBezTo>
                  <a:pt x="1266927" y="72973"/>
                  <a:pt x="1279056" y="186504"/>
                  <a:pt x="1414915" y="283945"/>
                </a:cubicBezTo>
                <a:cubicBezTo>
                  <a:pt x="1339925" y="385079"/>
                  <a:pt x="1200231" y="446234"/>
                  <a:pt x="1130971" y="567889"/>
                </a:cubicBezTo>
                <a:cubicBezTo>
                  <a:pt x="1129559" y="501250"/>
                  <a:pt x="1147515" y="488702"/>
                  <a:pt x="1130971" y="425917"/>
                </a:cubicBezTo>
                <a:cubicBezTo>
                  <a:pt x="908344" y="461252"/>
                  <a:pt x="759670" y="415285"/>
                  <a:pt x="565486" y="425917"/>
                </a:cubicBezTo>
                <a:cubicBezTo>
                  <a:pt x="371302" y="436549"/>
                  <a:pt x="277010" y="401746"/>
                  <a:pt x="0" y="425917"/>
                </a:cubicBezTo>
                <a:cubicBezTo>
                  <a:pt x="-22450" y="324267"/>
                  <a:pt x="6115" y="271210"/>
                  <a:pt x="0" y="141972"/>
                </a:cubicBezTo>
                <a:close/>
              </a:path>
              <a:path w="1414915" h="567889" stroke="0" extrusionOk="0">
                <a:moveTo>
                  <a:pt x="0" y="141972"/>
                </a:moveTo>
                <a:cubicBezTo>
                  <a:pt x="124711" y="92751"/>
                  <a:pt x="308611" y="187565"/>
                  <a:pt x="554176" y="141972"/>
                </a:cubicBezTo>
                <a:cubicBezTo>
                  <a:pt x="799741" y="96379"/>
                  <a:pt x="994485" y="198452"/>
                  <a:pt x="1130971" y="141972"/>
                </a:cubicBezTo>
                <a:cubicBezTo>
                  <a:pt x="1114956" y="91036"/>
                  <a:pt x="1136319" y="28407"/>
                  <a:pt x="1130971" y="0"/>
                </a:cubicBezTo>
                <a:cubicBezTo>
                  <a:pt x="1246082" y="55876"/>
                  <a:pt x="1274508" y="185078"/>
                  <a:pt x="1414915" y="283945"/>
                </a:cubicBezTo>
                <a:cubicBezTo>
                  <a:pt x="1340724" y="403334"/>
                  <a:pt x="1234255" y="423124"/>
                  <a:pt x="1130971" y="567889"/>
                </a:cubicBezTo>
                <a:cubicBezTo>
                  <a:pt x="1115997" y="531085"/>
                  <a:pt x="1141248" y="469288"/>
                  <a:pt x="1130971" y="425917"/>
                </a:cubicBezTo>
                <a:cubicBezTo>
                  <a:pt x="862224" y="430515"/>
                  <a:pt x="856738" y="379084"/>
                  <a:pt x="588105" y="425917"/>
                </a:cubicBezTo>
                <a:cubicBezTo>
                  <a:pt x="319472" y="472750"/>
                  <a:pt x="223429" y="417197"/>
                  <a:pt x="0" y="425917"/>
                </a:cubicBezTo>
                <a:cubicBezTo>
                  <a:pt x="-32811" y="354011"/>
                  <a:pt x="22250" y="232663"/>
                  <a:pt x="0" y="141972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3FFBB8-5FB1-E27C-75B4-BF828C004F73}"/>
              </a:ext>
            </a:extLst>
          </p:cNvPr>
          <p:cNvSpPr txBox="1"/>
          <p:nvPr/>
        </p:nvSpPr>
        <p:spPr>
          <a:xfrm>
            <a:off x="5013157" y="3415761"/>
            <a:ext cx="372497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Error distributions seeded to the clients</a:t>
            </a:r>
          </a:p>
        </p:txBody>
      </p:sp>
    </p:spTree>
    <p:extLst>
      <p:ext uri="{BB962C8B-B14F-4D97-AF65-F5344CB8AC3E}">
        <p14:creationId xmlns:p14="http://schemas.microsoft.com/office/powerpoint/2010/main" val="1915962349"/>
      </p:ext>
    </p:extLst>
  </p:cSld>
  <p:clrMapOvr>
    <a:masterClrMapping/>
  </p:clrMapOvr>
  <p:transition spd="slow">
    <p:strips dir="ru"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13B0C7-DE31-1FD1-1E7F-EAA6F26C8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669E351A-1EA9-E419-FBBE-E74C2D7A55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DFB3440-5036-6F88-B061-8948C73E9A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E7CA1B-3E62-8B97-CCA6-E33D598E9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D25C1D2-F146-9553-E49C-8023E024A674}"/>
              </a:ext>
            </a:extLst>
          </p:cNvPr>
          <p:cNvGrpSpPr/>
          <p:nvPr/>
        </p:nvGrpSpPr>
        <p:grpSpPr>
          <a:xfrm>
            <a:off x="1538760" y="1854746"/>
            <a:ext cx="8132880" cy="4508840"/>
            <a:chOff x="1538760" y="1854746"/>
            <a:chExt cx="8132880" cy="450884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17E88F6-936A-29C5-038D-ADE2A976C9B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8760" y="1854746"/>
              <a:ext cx="8132880" cy="450884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BDD5C133-DA23-4A80-D791-5F32000349E4}"/>
                </a:ext>
              </a:extLst>
            </p:cNvPr>
            <p:cNvSpPr/>
            <p:nvPr/>
          </p:nvSpPr>
          <p:spPr>
            <a:xfrm>
              <a:off x="2810577" y="2006504"/>
              <a:ext cx="6708808" cy="333551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9119001"/>
      </p:ext>
    </p:extLst>
  </p:cSld>
  <p:clrMapOvr>
    <a:masterClrMapping/>
  </p:clrMapOvr>
  <p:transition spd="slow">
    <p:strips dir="ru"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99358C-9533-6846-1B39-2F0AF71B89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238B5D9-032D-39F5-DB15-A8F4737BF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832826D-FAA0-68AA-E9F0-366022D198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979371C-3BA6-A148-AF96-A3F1DC3F10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5BC9CF0-AB5E-0DDE-B57C-0C5A8F5A5BC6}"/>
              </a:ext>
            </a:extLst>
          </p:cNvPr>
          <p:cNvGrpSpPr/>
          <p:nvPr/>
        </p:nvGrpSpPr>
        <p:grpSpPr>
          <a:xfrm>
            <a:off x="1538760" y="1854746"/>
            <a:ext cx="8132880" cy="4508840"/>
            <a:chOff x="1538760" y="1854746"/>
            <a:chExt cx="8132880" cy="450884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2B7B1CF8-50C0-DED4-E477-DD76AD0E761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8760" y="1854746"/>
              <a:ext cx="8132880" cy="450884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014D615-AF36-C1C7-72FE-07EFF1301DB9}"/>
                </a:ext>
              </a:extLst>
            </p:cNvPr>
            <p:cNvSpPr/>
            <p:nvPr/>
          </p:nvSpPr>
          <p:spPr>
            <a:xfrm>
              <a:off x="2810577" y="2577920"/>
              <a:ext cx="6708808" cy="276410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D01281D6-F490-E56A-53D7-50AB5FD61C8D}"/>
              </a:ext>
            </a:extLst>
          </p:cNvPr>
          <p:cNvSpPr/>
          <p:nvPr/>
        </p:nvSpPr>
        <p:spPr>
          <a:xfrm>
            <a:off x="2810576" y="1979571"/>
            <a:ext cx="1983096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385A98F-6F10-C2DB-9882-6FC6432905BA}"/>
              </a:ext>
            </a:extLst>
          </p:cNvPr>
          <p:cNvSpPr/>
          <p:nvPr/>
        </p:nvSpPr>
        <p:spPr>
          <a:xfrm>
            <a:off x="2887576" y="2133662"/>
            <a:ext cx="173257" cy="172793"/>
          </a:xfrm>
          <a:prstGeom prst="ellips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" name="5-Point Star 10">
            <a:extLst>
              <a:ext uri="{FF2B5EF4-FFF2-40B4-BE49-F238E27FC236}">
                <a16:creationId xmlns:a16="http://schemas.microsoft.com/office/drawing/2014/main" id="{5BAD9712-5A23-5429-CEBB-224AB19CE63B}"/>
              </a:ext>
            </a:extLst>
          </p:cNvPr>
          <p:cNvSpPr/>
          <p:nvPr/>
        </p:nvSpPr>
        <p:spPr>
          <a:xfrm>
            <a:off x="2873138" y="2125274"/>
            <a:ext cx="202131" cy="171604"/>
          </a:xfrm>
          <a:prstGeom prst="star5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4097315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1767CC-5AF3-9D9F-71DF-DCCB68F4D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0C9A053-1D45-34B0-812C-849C0DAD41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C32B40F-E5C9-E9D6-9E83-555E640D92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CDD139F-2934-16C2-B913-044259FD1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FF48D1-FDA3-E626-8611-A275220FD8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8760" y="1854746"/>
            <a:ext cx="8132880" cy="450884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48734C0-F420-5ED3-A548-77F575D596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3933" y="1854746"/>
            <a:ext cx="8027708" cy="4454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2803325"/>
      </p:ext>
    </p:extLst>
  </p:cSld>
  <p:clrMapOvr>
    <a:masterClrMapping/>
  </p:clrMapOvr>
  <p:transition spd="slow">
    <p:strips dir="ru"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430DB-EFD4-794A-52D3-83D77D834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C4DE2-C60D-E25B-3D97-409699146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0717AA-99FC-3FBA-14DA-A906FAD103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Online sequencing</a:t>
            </a:r>
          </a:p>
          <a:p>
            <a:pPr lvl="1"/>
            <a:r>
              <a:rPr lang="en-US" dirty="0"/>
              <a:t>How can a sequencer be sure that no new message will arrive that requires a lower sequence number?</a:t>
            </a:r>
          </a:p>
          <a:p>
            <a:r>
              <a:rPr lang="en-US" dirty="0"/>
              <a:t>Extension to </a:t>
            </a:r>
            <a:r>
              <a:rPr lang="en-US" i="1" dirty="0"/>
              <a:t>stochastically-fair</a:t>
            </a:r>
            <a:r>
              <a:rPr lang="en-US" dirty="0"/>
              <a:t> total order for cyclic probabilities</a:t>
            </a:r>
          </a:p>
          <a:p>
            <a:pPr lvl="1"/>
            <a:r>
              <a:rPr lang="en-US" dirty="0"/>
              <a:t>Make a graph acyclic by removing some edges</a:t>
            </a:r>
          </a:p>
          <a:p>
            <a:pPr lvl="2"/>
            <a:r>
              <a:rPr lang="en-US" dirty="0"/>
              <a:t>Unfair towards some clients</a:t>
            </a:r>
          </a:p>
          <a:p>
            <a:pPr lvl="1"/>
            <a:r>
              <a:rPr lang="en-US" dirty="0"/>
              <a:t>Attempt to balance out unfairness over some time horizon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7420A6-35BF-6875-7585-5EADE4610EE9}"/>
              </a:ext>
            </a:extLst>
          </p:cNvPr>
          <p:cNvSpPr/>
          <p:nvPr/>
        </p:nvSpPr>
        <p:spPr>
          <a:xfrm>
            <a:off x="1689096" y="5253633"/>
            <a:ext cx="8216865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Thanks for your attention!</a:t>
            </a:r>
          </a:p>
        </p:txBody>
      </p:sp>
    </p:spTree>
    <p:extLst>
      <p:ext uri="{BB962C8B-B14F-4D97-AF65-F5344CB8AC3E}">
        <p14:creationId xmlns:p14="http://schemas.microsoft.com/office/powerpoint/2010/main" val="2393909504"/>
      </p:ext>
    </p:extLst>
  </p:cSld>
  <p:clrMapOvr>
    <a:masterClrMapping/>
  </p:clrMapOvr>
  <p:transition spd="slow">
    <p:strips dir="r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2877</TotalTime>
  <Words>811</Words>
  <Application>Microsoft Macintosh PowerPoint</Application>
  <PresentationFormat>Widescreen</PresentationFormat>
  <Paragraphs>201</Paragraphs>
  <Slides>38</Slides>
  <Notes>2</Notes>
  <HiddenSlides>1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6" baseType="lpstr">
      <vt:lpstr>Aptos</vt:lpstr>
      <vt:lpstr>Aptos Display</vt:lpstr>
      <vt:lpstr>Arial</vt:lpstr>
      <vt:lpstr>Calibri</vt:lpstr>
      <vt:lpstr>Cambria Math</vt:lpstr>
      <vt:lpstr>Mistral</vt:lpstr>
      <vt:lpstr>Wingdings</vt:lpstr>
      <vt:lpstr>1_Office Theme</vt:lpstr>
      <vt:lpstr>Towards Probabilistic Fair Order</vt:lpstr>
      <vt:lpstr>A Financial Market</vt:lpstr>
      <vt:lpstr>A Financial Market</vt:lpstr>
      <vt:lpstr>A Financial Market</vt:lpstr>
      <vt:lpstr>A Financial Market</vt:lpstr>
      <vt:lpstr>A Financial Market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Sequencer Overview</vt:lpstr>
      <vt:lpstr>Sequencer Overview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Next steps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Muhammad Haseeb</dc:creator>
  <cp:lastModifiedBy>Muhammad Haseeb</cp:lastModifiedBy>
  <cp:revision>270</cp:revision>
  <dcterms:created xsi:type="dcterms:W3CDTF">2025-10-29T17:15:14Z</dcterms:created>
  <dcterms:modified xsi:type="dcterms:W3CDTF">2025-11-13T17:52:38Z</dcterms:modified>
</cp:coreProperties>
</file>