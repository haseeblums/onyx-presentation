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7"/>
  </p:notesMasterIdLst>
  <p:sldIdLst>
    <p:sldId id="263" r:id="rId2"/>
    <p:sldId id="351" r:id="rId3"/>
    <p:sldId id="352" r:id="rId4"/>
    <p:sldId id="353" r:id="rId5"/>
    <p:sldId id="354" r:id="rId6"/>
    <p:sldId id="355" r:id="rId7"/>
    <p:sldId id="399" r:id="rId8"/>
    <p:sldId id="357" r:id="rId9"/>
    <p:sldId id="358" r:id="rId10"/>
    <p:sldId id="359" r:id="rId11"/>
    <p:sldId id="360" r:id="rId12"/>
    <p:sldId id="361" r:id="rId13"/>
    <p:sldId id="393" r:id="rId14"/>
    <p:sldId id="400" r:id="rId15"/>
    <p:sldId id="401" r:id="rId16"/>
    <p:sldId id="402" r:id="rId17"/>
    <p:sldId id="395" r:id="rId18"/>
    <p:sldId id="396" r:id="rId19"/>
    <p:sldId id="363" r:id="rId20"/>
    <p:sldId id="364" r:id="rId21"/>
    <p:sldId id="365" r:id="rId22"/>
    <p:sldId id="366" r:id="rId23"/>
    <p:sldId id="368" r:id="rId24"/>
    <p:sldId id="277" r:id="rId25"/>
    <p:sldId id="340" r:id="rId26"/>
    <p:sldId id="369" r:id="rId27"/>
    <p:sldId id="370" r:id="rId28"/>
    <p:sldId id="371" r:id="rId29"/>
    <p:sldId id="372" r:id="rId30"/>
    <p:sldId id="374" r:id="rId31"/>
    <p:sldId id="376" r:id="rId32"/>
    <p:sldId id="377" r:id="rId33"/>
    <p:sldId id="378" r:id="rId34"/>
    <p:sldId id="385" r:id="rId35"/>
    <p:sldId id="273" r:id="rId36"/>
    <p:sldId id="386" r:id="rId37"/>
    <p:sldId id="389" r:id="rId38"/>
    <p:sldId id="384" r:id="rId39"/>
    <p:sldId id="388" r:id="rId40"/>
    <p:sldId id="390" r:id="rId41"/>
    <p:sldId id="392" r:id="rId42"/>
    <p:sldId id="397" r:id="rId43"/>
    <p:sldId id="398" r:id="rId44"/>
    <p:sldId id="383" r:id="rId45"/>
    <p:sldId id="380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444"/>
    <p:restoredTop sz="93701"/>
  </p:normalViewPr>
  <p:slideViewPr>
    <p:cSldViewPr snapToGrid="0">
      <p:cViewPr varScale="1">
        <p:scale>
          <a:sx n="92" d="100"/>
          <a:sy n="92" d="100"/>
        </p:scale>
        <p:origin x="208" y="9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remove the announcer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shrink the eval slides and create a new graph without step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787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0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2.svg"/><Relationship Id="rId5" Type="http://schemas.openxmlformats.org/officeDocument/2006/relationships/image" Target="../media/image4.svg"/><Relationship Id="rId10" Type="http://schemas.openxmlformats.org/officeDocument/2006/relationships/image" Target="../media/image11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0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2.svg"/><Relationship Id="rId5" Type="http://schemas.openxmlformats.org/officeDocument/2006/relationships/image" Target="../media/image4.svg"/><Relationship Id="rId10" Type="http://schemas.openxmlformats.org/officeDocument/2006/relationships/image" Target="../media/image11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0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2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11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emf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svg"/><Relationship Id="rId7" Type="http://schemas.openxmlformats.org/officeDocument/2006/relationships/image" Target="../media/image25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sv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sv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svg"/><Relationship Id="rId7" Type="http://schemas.openxmlformats.org/officeDocument/2006/relationships/image" Target="../media/image25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sv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sv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emf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emf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emf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emf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emf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emf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emf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>
                <a:solidFill>
                  <a:srgbClr val="7030A0"/>
                </a:solidFill>
              </a:rPr>
              <a:t>Haseeb Ashfaq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Jinkun Geng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Radhika Mittal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Aurojit Panda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Srinivas Narayana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04291" y="4999164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7030A0"/>
                </a:solidFill>
              </a:rPr>
              <a:t>NYU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UIUC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Rutgers University</a:t>
            </a:r>
          </a:p>
        </p:txBody>
      </p:sp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79F9-2E62-8239-0CA0-1BC333D3B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5DD0D-C2A0-514E-9283-CEC4A187B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638386-D84F-67FD-9F6E-315282099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2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F7E10220-F9FD-2DA6-3F41-1CA142656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5526" y="2050689"/>
            <a:ext cx="2760519" cy="276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81391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28DBA-EDBD-E3E0-4F1C-519C9B7D1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E546F-BF65-FA74-EA2D-F158A58F9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8A623-A5D2-8F7D-A271-E1B68D630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3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B557F74D-ED46-E285-F642-2CB94C47CF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6714079B-4348-3DE5-27D6-EBB0F747EC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48F3121-D9B7-3858-F89A-0AFFB7F097D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0C78D743-0D63-5BC5-3661-FD4F74E79AB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8" name="Graphic 7" descr="Head with gears with solid fill">
            <a:extLst>
              <a:ext uri="{FF2B5EF4-FFF2-40B4-BE49-F238E27FC236}">
                <a16:creationId xmlns:a16="http://schemas.microsoft.com/office/drawing/2014/main" id="{59C193E1-7AB9-AAB1-C73C-44489D093F0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4177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29BBE-72FA-B172-BA93-AC2155D1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CD2A-7F51-F988-4A7C-A4510581E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E64C3-37EC-49C1-C14C-57895B3FF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4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05675F9B-60F2-9B0C-70AD-A7FBDB444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F49B5A4D-B2D5-61B2-A78F-29FF6F4A06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A10C5BBA-F8B7-2266-A081-D924D374E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B60B992C-341D-AB67-CC16-9323B9570F3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5C5D49E1-FC73-14BA-D077-1B03A2B75FB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35897" y="123348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C543CD7-E12B-3C4F-14DE-E93BFC384B7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3726874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7EE0C082-B571-BFC6-F723-E1236BBABFF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24085" y="2480181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3C2E0B11-9EBA-CCBA-A6FB-49FF46BDE41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5041612"/>
            <a:ext cx="914400" cy="914400"/>
          </a:xfrm>
          <a:prstGeom prst="rect">
            <a:avLst/>
          </a:prstGeom>
        </p:spPr>
      </p:pic>
      <p:pic>
        <p:nvPicPr>
          <p:cNvPr id="21" name="Graphic 20" descr="Head with gears with solid fill">
            <a:extLst>
              <a:ext uri="{FF2B5EF4-FFF2-40B4-BE49-F238E27FC236}">
                <a16:creationId xmlns:a16="http://schemas.microsoft.com/office/drawing/2014/main" id="{13CDDF7D-7FB2-B412-31F8-CCF5418BE59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825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BAA2-49D5-696E-5E79-4FD8B4D6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D32B3-77E5-8368-AACD-C994B0C4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C9113-8AEF-BBAC-B487-291339FB0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5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804706E6-7140-7FB4-263D-A07F4ECE59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A92473BC-8FE4-3F08-FD96-85C16166B1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07B8E88-FD12-0994-8CB2-1D582CB750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E14C2B8F-FE57-0C1A-D5A4-334E208F7B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E0D4869-70CC-0F21-6DE9-5CCC78BB643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265217" y="4461597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FABA1E46-7DE3-7E83-307D-3580F12A83C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15740" y="4774719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9272677E-CB3D-8242-D78E-54D89A23FFD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198716" y="4737246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B5C4193A-1BB1-1DBF-BD50-36C1D9C3C7E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530140" y="5188913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61C790B3-126D-41E0-B7AC-5D62B7C7711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4BE8875-5FE5-9DC5-21A3-35CBC30A7632}"/>
              </a:ext>
            </a:extLst>
          </p:cNvPr>
          <p:cNvSpPr/>
          <p:nvPr/>
        </p:nvSpPr>
        <p:spPr>
          <a:xfrm>
            <a:off x="4641275" y="149715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1 share, 4 buyers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F2FE911-F778-682B-6D73-ACFA24E5FAC2}"/>
              </a:ext>
            </a:extLst>
          </p:cNvPr>
          <p:cNvSpPr/>
          <p:nvPr/>
        </p:nvSpPr>
        <p:spPr>
          <a:xfrm>
            <a:off x="4641275" y="297937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 gets to buy?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D8EAB7D-7673-0A52-9E1E-9024D662074D}"/>
              </a:ext>
            </a:extLst>
          </p:cNvPr>
          <p:cNvSpPr/>
          <p:nvPr/>
        </p:nvSpPr>
        <p:spPr>
          <a:xfrm>
            <a:off x="4674779" y="446159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whoever asked first!</a:t>
            </a:r>
          </a:p>
        </p:txBody>
      </p:sp>
    </p:spTree>
    <p:extLst>
      <p:ext uri="{BB962C8B-B14F-4D97-AF65-F5344CB8AC3E}">
        <p14:creationId xmlns:p14="http://schemas.microsoft.com/office/powerpoint/2010/main" val="1179673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2BF5-3015-D126-2799-1281798A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3F751-6B8B-47A8-38C2-14DA7EDA8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C7D2A-720C-518A-83C6-19913CA08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6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763ADF05-A92F-8F33-CDBF-32658D487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1204A95F-8644-A11D-66BA-A7F77A63C9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E6806E34-1994-1032-9DF6-4D6F18656C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6306CEE3-B920-4472-B56E-A4FA29F0066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BDBF1A2-F83E-4662-7812-48D08B377F1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265217" y="4461597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0BA45E6-65FC-EE9D-562C-7656E86B693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15740" y="4774719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61637A50-1F56-9708-958E-32EE0A34805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198716" y="4737246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5D21E5F1-9028-51CE-CAA1-1CCC9B754E9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530140" y="5188913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78C82B5A-FD9B-0AD2-CA57-ED29DE40B2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4FF3DAD-CAB3-CE75-7E3C-A5924B0BA599}"/>
              </a:ext>
            </a:extLst>
          </p:cNvPr>
          <p:cNvSpPr/>
          <p:nvPr/>
        </p:nvSpPr>
        <p:spPr>
          <a:xfrm>
            <a:off x="4087090" y="1497331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whoever asked first!</a:t>
            </a:r>
          </a:p>
        </p:txBody>
      </p:sp>
      <p:pic>
        <p:nvPicPr>
          <p:cNvPr id="15" name="Graphic 14" descr="Question Mark with solid fill">
            <a:extLst>
              <a:ext uri="{FF2B5EF4-FFF2-40B4-BE49-F238E27FC236}">
                <a16:creationId xmlns:a16="http://schemas.microsoft.com/office/drawing/2014/main" id="{E11FD498-207A-9028-8322-FE0743020624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906043" y="2095015"/>
            <a:ext cx="700266" cy="700266"/>
          </a:xfrm>
          <a:prstGeom prst="rect">
            <a:avLst/>
          </a:prstGeom>
        </p:spPr>
      </p:pic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87983B-C5B4-84EC-7B7F-4EA9A0AC10E3}"/>
              </a:ext>
            </a:extLst>
          </p:cNvPr>
          <p:cNvSpPr/>
          <p:nvPr/>
        </p:nvSpPr>
        <p:spPr>
          <a:xfrm>
            <a:off x="4087089" y="3429000"/>
            <a:ext cx="4633899" cy="1325562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Fair Ordering</a:t>
            </a:r>
          </a:p>
        </p:txBody>
      </p:sp>
    </p:spTree>
    <p:extLst>
      <p:ext uri="{BB962C8B-B14F-4D97-AF65-F5344CB8AC3E}">
        <p14:creationId xmlns:p14="http://schemas.microsoft.com/office/powerpoint/2010/main" val="37656171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 decel="100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7D4A5-D651-D3C3-8649-9CFAF4667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A6D03A-36F6-F4E0-EC75-18C40614C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7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2C8FC84-EAAD-1221-F163-436F2202A9B9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65C38A0-9F02-76CC-4131-A053426E3F8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true occurrence order!</a:t>
            </a:r>
          </a:p>
        </p:txBody>
      </p:sp>
    </p:spTree>
    <p:extLst>
      <p:ext uri="{BB962C8B-B14F-4D97-AF65-F5344CB8AC3E}">
        <p14:creationId xmlns:p14="http://schemas.microsoft.com/office/powerpoint/2010/main" val="6496972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A8EE5-9896-D219-FEFD-BAB86FD7A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DF054-2ED4-CA1C-AA20-9F70C10E7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8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BBBCEB2-26A3-658D-F231-989E202F365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06A10E-A842-A905-2E58-FFDC77A561A4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736269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36C3F-E0D9-CCF6-6EDC-344EF354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C38AD-286E-6BEC-587F-0F0AFC41FBD4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C8C80E-324D-EB67-6265-070A904E6CE6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1A839E66-BEA0-81BA-8867-ABFBBB3E5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9C149CE8-66E3-F44F-0903-02D7D13A7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43E9C66-54D7-DEF4-080C-83D218B7C9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FE37185-24A6-CA4E-3DEB-53A208302930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4EA5CE6-A8B0-2532-7CE6-430D07B011BA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1266008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1029D-4069-17CF-D434-22F57DDB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FC8D823-2CE1-F25E-5A92-A5E8FB33398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E305E6-83BB-4E31-085D-B5D448F9501A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75F368-F386-F025-27B0-A50D20FD816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3C14C7E-1A35-1930-5B6D-9852AE4FC129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73FA1D15-FEC0-2391-50BC-CC497BE102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636BF5F-2E05-E6BA-3CBD-83428D15BD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197BA0B4-9CDB-B6A4-5FA0-8F51217947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DCBCDB3-9A65-0532-C569-373A93E55C49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7A395D-F46A-E025-D24B-DBC116EE914C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B349F8-F4F7-FE47-282B-85C26BBA74B6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8580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63E67-747F-E98E-5C3E-30AC65B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B39B488-FFCF-4D9E-BC64-C6EBB042959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124650B-C049-5490-96F4-2BCA96ECCBF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58BF78D1-9AD1-EC75-CE7B-36EF55E7D0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2C559097-9514-B530-6FBD-4B0F122E66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04E2911-042B-67BC-59B9-97355922B2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044EDB2-0A12-3185-E19B-24E392210F3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D782981-690E-08EC-E25F-A4B5811B06F7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BD47ED-C22B-E0E4-0B7C-87C479F8A34F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EDFBD2-2775-7590-063A-A4D6D9D6E50C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8B73FAA-2D88-E3CA-1842-303D5AB49B38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F4316E-4D60-0685-B924-82F9911EE2EF}"/>
              </a:ext>
            </a:extLst>
          </p:cNvPr>
          <p:cNvSpPr/>
          <p:nvPr/>
        </p:nvSpPr>
        <p:spPr>
          <a:xfrm>
            <a:off x="3342410" y="3701467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198F500-835C-1B85-3137-B6D2BD78756B}"/>
              </a:ext>
            </a:extLst>
          </p:cNvPr>
          <p:cNvSpPr/>
          <p:nvPr/>
        </p:nvSpPr>
        <p:spPr>
          <a:xfrm>
            <a:off x="2763982" y="4340220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930B984-6FBA-128B-E878-BFADF71E990C}"/>
              </a:ext>
            </a:extLst>
          </p:cNvPr>
          <p:cNvSpPr/>
          <p:nvPr/>
        </p:nvSpPr>
        <p:spPr>
          <a:xfrm>
            <a:off x="2763982" y="4951264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7659006-7345-9F6B-4637-54DAE22393F6}"/>
              </a:ext>
            </a:extLst>
          </p:cNvPr>
          <p:cNvSpPr/>
          <p:nvPr/>
        </p:nvSpPr>
        <p:spPr>
          <a:xfrm>
            <a:off x="2746664" y="5531605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595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F0BC2-790E-4C10-6187-B542DA3CF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30C2301-B1A5-44C9-C219-26877762654C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FB9C1EF-BFA6-401A-AFF8-EA2BC2EAE5E6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pic>
        <p:nvPicPr>
          <p:cNvPr id="8" name="Graphic 7" descr="Clock with solid fill">
            <a:extLst>
              <a:ext uri="{FF2B5EF4-FFF2-40B4-BE49-F238E27FC236}">
                <a16:creationId xmlns:a16="http://schemas.microsoft.com/office/drawing/2014/main" id="{795BFF8D-62AC-EF02-5604-67FFFA340D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0" name="Graphic 9" descr="Clock with solid fill">
            <a:extLst>
              <a:ext uri="{FF2B5EF4-FFF2-40B4-BE49-F238E27FC236}">
                <a16:creationId xmlns:a16="http://schemas.microsoft.com/office/drawing/2014/main" id="{92A2C1AA-3206-F2D3-E59D-1637D48192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1" name="Graphic 10" descr="Clock with solid fill">
            <a:extLst>
              <a:ext uri="{FF2B5EF4-FFF2-40B4-BE49-F238E27FC236}">
                <a16:creationId xmlns:a16="http://schemas.microsoft.com/office/drawing/2014/main" id="{086DAB47-3785-8FE0-71E7-F3A781F76E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409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33577-DB23-406A-683F-0394CB80C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D456BD0-E400-D4EE-AD70-BD7EF39072B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A9D1208-A94A-4281-A206-AFA15969897A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5C0259C-4A66-F421-79AE-FC935693F219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get the True timestamp.</a:t>
            </a:r>
          </a:p>
        </p:txBody>
      </p:sp>
      <p:pic>
        <p:nvPicPr>
          <p:cNvPr id="12" name="Graphic 11" descr="Clock with solid fill">
            <a:extLst>
              <a:ext uri="{FF2B5EF4-FFF2-40B4-BE49-F238E27FC236}">
                <a16:creationId xmlns:a16="http://schemas.microsoft.com/office/drawing/2014/main" id="{392C6871-0B8F-6DD4-36BF-39F962D67D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3" name="Graphic 12" descr="Clock with solid fill">
            <a:extLst>
              <a:ext uri="{FF2B5EF4-FFF2-40B4-BE49-F238E27FC236}">
                <a16:creationId xmlns:a16="http://schemas.microsoft.com/office/drawing/2014/main" id="{AA102FCB-6B46-FFE3-C81F-BA97F26E5C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4" name="Graphic 13" descr="Clock with solid fill">
            <a:extLst>
              <a:ext uri="{FF2B5EF4-FFF2-40B4-BE49-F238E27FC236}">
                <a16:creationId xmlns:a16="http://schemas.microsoft.com/office/drawing/2014/main" id="{7F1CB5A1-1769-5822-029B-BBCBA2935F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547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1C12B-E042-5E1A-FFAA-6D9BE649E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5CC6B78-2FD9-39DE-AF3A-6EA10A33678F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FC08AEF-07D4-C0E7-3348-73EF3B7CAF21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EDDB4B0-88B8-60A8-1F28-5FC75CBCEA33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5171AB-8276-0193-D81A-C9E5B9378A6C}"/>
              </a:ext>
            </a:extLst>
          </p:cNvPr>
          <p:cNvSpPr txBox="1"/>
          <p:nvPr/>
        </p:nvSpPr>
        <p:spPr>
          <a:xfrm>
            <a:off x="889474" y="3788772"/>
            <a:ext cx="10219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i.e., impossible to remove all the error from clocks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44FD225-5FBD-7B73-DC96-0048C0063BB0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compare two True timestamps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AF933B63-F3AA-7CB8-880F-9EB7D30F62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308EAF3D-DDF1-290A-9827-F28C6386D9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6E01F937-1BCF-A7F7-6A87-A3148379F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227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436E5-4FEA-3A52-B65B-9787253CB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921B4FE-97FF-CD60-66E5-739695CEB52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84B8510-BCAE-1D56-21B8-7FA0598D8D48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20E7853-24F6-7476-FC6F-B1790BCA50C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4DE15B-31D9-EF4E-36EB-CEFAEA469778}"/>
              </a:ext>
            </a:extLst>
          </p:cNvPr>
          <p:cNvSpPr txBox="1"/>
          <p:nvPr/>
        </p:nvSpPr>
        <p:spPr>
          <a:xfrm>
            <a:off x="889474" y="3788772"/>
            <a:ext cx="10219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i.e., impossible to remove all the error from clocks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70DF6C5-9222-68CA-202A-16C2EC532602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uLnTx/>
                <a:uFillTx/>
                <a:latin typeface="Aptos" panose="02110004020202020204"/>
                <a:ea typeface="+mn-ea"/>
                <a:cs typeface="+mn-cs"/>
              </a:rPr>
              <a:t>compare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two True timestamps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3C6860DE-5233-2F93-9FFF-85EDDD81DC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F74095B0-4A7F-BCE7-E2E8-4D0B54428A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4F932F87-C9A4-71E8-93AB-1067A1B4D6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2380D90-7ABC-8429-CC30-02EBF51DCF3C}"/>
              </a:ext>
            </a:extLst>
          </p:cNvPr>
          <p:cNvSpPr txBox="1"/>
          <p:nvPr/>
        </p:nvSpPr>
        <p:spPr>
          <a:xfrm>
            <a:off x="6281937" y="5251440"/>
            <a:ext cx="26782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highlight>
                  <a:srgbClr val="FFFF00"/>
                </a:highlight>
              </a:rPr>
              <a:t>Probabilistic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E7DBA8C-7B7C-A79B-F7F1-6743E78EA568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5514109" y="5126182"/>
            <a:ext cx="767828" cy="448424"/>
          </a:xfrm>
          <a:prstGeom prst="straightConnector1">
            <a:avLst/>
          </a:prstGeom>
          <a:ln w="1079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3152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6A5D3-DCB5-097E-BBC1-63789ACB8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F89A489-9BC9-C35E-4934-CA0D5C634DF2}"/>
              </a:ext>
            </a:extLst>
          </p:cNvPr>
          <p:cNvSpPr/>
          <p:nvPr/>
        </p:nvSpPr>
        <p:spPr>
          <a:xfrm>
            <a:off x="2568261" y="561804"/>
            <a:ext cx="4702242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dirty="0">
                <a:solidFill>
                  <a:prstClr val="black"/>
                </a:solidFill>
                <a:latin typeface="Aptos" panose="02110004020202020204"/>
              </a:rPr>
              <a:t>      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Probabilistic 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60BA4BB-7650-CFA4-AC86-15D0AE96D413}"/>
              </a:ext>
            </a:extLst>
          </p:cNvPr>
          <p:cNvSpPr/>
          <p:nvPr/>
        </p:nvSpPr>
        <p:spPr>
          <a:xfrm>
            <a:off x="7287490" y="554183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E8D2AF0-6BE7-A45D-6A1F-C1EE5F4AED4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43BC77-DCAD-88A3-AE02-DE7F3BD4BD40}"/>
              </a:ext>
            </a:extLst>
          </p:cNvPr>
          <p:cNvSpPr txBox="1"/>
          <p:nvPr/>
        </p:nvSpPr>
        <p:spPr>
          <a:xfrm>
            <a:off x="889474" y="3788772"/>
            <a:ext cx="10219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i.e., impossible to remove all the error from clocks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FAF4C24-FF1A-64D3-EACB-A25A4467322D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uLnTx/>
                <a:uFillTx/>
                <a:latin typeface="Aptos" panose="02110004020202020204"/>
                <a:ea typeface="+mn-ea"/>
                <a:cs typeface="+mn-cs"/>
              </a:rPr>
              <a:t>compare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two True timestamps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56A1BCF8-5391-CBA1-F6CB-BE4FFD13B1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AAA02EF-970F-F74F-1E31-A5A128296F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A17E4295-B461-3390-5104-0A06DD9AB6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55705BE-6C8E-1A69-CC8E-E2AA41245518}"/>
              </a:ext>
            </a:extLst>
          </p:cNvPr>
          <p:cNvSpPr/>
          <p:nvPr/>
        </p:nvSpPr>
        <p:spPr>
          <a:xfrm>
            <a:off x="623453" y="5545338"/>
            <a:ext cx="11018780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Enabled by treating time as a Random Variable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1FD4E88-32BD-0D72-B59F-15B6EDAA0427}"/>
              </a:ext>
            </a:extLst>
          </p:cNvPr>
          <p:cNvSpPr/>
          <p:nvPr/>
        </p:nvSpPr>
        <p:spPr>
          <a:xfrm>
            <a:off x="314510" y="561804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A1249CE-0063-4777-1DC7-0B6D9CC4E60D}"/>
              </a:ext>
            </a:extLst>
          </p:cNvPr>
          <p:cNvSpPr/>
          <p:nvPr/>
        </p:nvSpPr>
        <p:spPr>
          <a:xfrm>
            <a:off x="2940296" y="561804"/>
            <a:ext cx="342218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0265452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0ABF9EE-7CE4-0DD5-43A4-F508993EC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DE62B7B-2DE8-A81A-FBE6-572132847DA9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585E1473-B948-2BD7-61DB-EB9E6ED5539E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0DCAA34-69F0-F96C-F4AD-2ABFCC09235C}"/>
              </a:ext>
            </a:extLst>
          </p:cNvPr>
          <p:cNvSpPr/>
          <p:nvPr/>
        </p:nvSpPr>
        <p:spPr>
          <a:xfrm>
            <a:off x="623454" y="3123882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175BE9-4F13-AD60-8972-E09CA0D5E1B5}"/>
              </a:ext>
            </a:extLst>
          </p:cNvPr>
          <p:cNvSpPr txBox="1"/>
          <p:nvPr/>
        </p:nvSpPr>
        <p:spPr>
          <a:xfrm>
            <a:off x="1202626" y="3861673"/>
            <a:ext cx="4455156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latin typeface="Mistral" panose="03090702030407020403" pitchFamily="66" charset="0"/>
              </a:rPr>
              <a:t>i.e., impossible to remove all the error</a:t>
            </a:r>
            <a:endParaRPr lang="en-US" sz="3600" dirty="0">
              <a:latin typeface="Mistral" panose="03090702030407020403" pitchFamily="66" charset="0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B362D65-BEFF-6EEC-AAFD-436BDDF1CF67}"/>
              </a:ext>
            </a:extLst>
          </p:cNvPr>
          <p:cNvSpPr/>
          <p:nvPr/>
        </p:nvSpPr>
        <p:spPr>
          <a:xfrm>
            <a:off x="4471182" y="5292436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But we can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compare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 two True timestamps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158D4D-75F5-8B1E-3811-63C6C194088F}"/>
              </a:ext>
            </a:extLst>
          </p:cNvPr>
          <p:cNvSpPr txBox="1"/>
          <p:nvPr/>
        </p:nvSpPr>
        <p:spPr>
          <a:xfrm>
            <a:off x="7695802" y="3542589"/>
            <a:ext cx="248497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highlight>
                  <a:srgbClr val="FFFF00"/>
                </a:highlight>
                <a:latin typeface="Mistral" panose="03090702030407020403" pitchFamily="66" charset="0"/>
              </a:rPr>
              <a:t>Probabilistic</a:t>
            </a:r>
            <a:endParaRPr lang="en-US" sz="3600" dirty="0">
              <a:highlight>
                <a:srgbClr val="FFFF00"/>
              </a:highlight>
              <a:latin typeface="Mistral" panose="03090702030407020403" pitchFamily="66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9F0D76E-1ECB-66F5-58F3-F50C3AB1975E}"/>
              </a:ext>
            </a:extLst>
          </p:cNvPr>
          <p:cNvCxnSpPr>
            <a:cxnSpLocks/>
          </p:cNvCxnSpPr>
          <p:nvPr/>
        </p:nvCxnSpPr>
        <p:spPr>
          <a:xfrm flipV="1">
            <a:off x="8174182" y="4297480"/>
            <a:ext cx="360218" cy="994956"/>
          </a:xfrm>
          <a:prstGeom prst="straightConnector1">
            <a:avLst/>
          </a:prstGeom>
          <a:ln w="1079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Graphic 12" descr="Clock with solid fill">
            <a:extLst>
              <a:ext uri="{FF2B5EF4-FFF2-40B4-BE49-F238E27FC236}">
                <a16:creationId xmlns:a16="http://schemas.microsoft.com/office/drawing/2014/main" id="{9D8FE4CD-DAE2-4C71-F78D-9D215419F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4" name="Graphic 13" descr="Clock with solid fill">
            <a:extLst>
              <a:ext uri="{FF2B5EF4-FFF2-40B4-BE49-F238E27FC236}">
                <a16:creationId xmlns:a16="http://schemas.microsoft.com/office/drawing/2014/main" id="{441299E0-DEB7-718E-2FCA-80322C9394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5" name="Graphic 14" descr="Clock with solid fill">
            <a:extLst>
              <a:ext uri="{FF2B5EF4-FFF2-40B4-BE49-F238E27FC236}">
                <a16:creationId xmlns:a16="http://schemas.microsoft.com/office/drawing/2014/main" id="{D7AF5869-DE99-1E5D-1BF5-A3B5573104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266922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B272344-73CF-EE4D-8DDD-57A27CB30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68D83AD-F229-3498-3C4D-E92DEEF8E93B}"/>
              </a:ext>
            </a:extLst>
          </p:cNvPr>
          <p:cNvSpPr/>
          <p:nvPr/>
        </p:nvSpPr>
        <p:spPr>
          <a:xfrm>
            <a:off x="5417127" y="1450628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28B9993-125C-910B-FC51-125861B16059}"/>
              </a:ext>
            </a:extLst>
          </p:cNvPr>
          <p:cNvSpPr/>
          <p:nvPr/>
        </p:nvSpPr>
        <p:spPr>
          <a:xfrm>
            <a:off x="498763" y="2680537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get the True timestamp.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5788FBB-5735-AF24-C8EF-5270C3AB74DF}"/>
              </a:ext>
            </a:extLst>
          </p:cNvPr>
          <p:cNvSpPr/>
          <p:nvPr/>
        </p:nvSpPr>
        <p:spPr>
          <a:xfrm>
            <a:off x="4332636" y="3910446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But we can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compare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 two True timestamps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D45B92-E59B-9C72-A219-4BD9F33A4BEF}"/>
              </a:ext>
            </a:extLst>
          </p:cNvPr>
          <p:cNvSpPr txBox="1"/>
          <p:nvPr/>
        </p:nvSpPr>
        <p:spPr>
          <a:xfrm>
            <a:off x="2406366" y="1484263"/>
            <a:ext cx="301076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>
                <a:highlight>
                  <a:srgbClr val="FFFF00"/>
                </a:highlight>
                <a:latin typeface="Mistral" panose="03090702030407020403" pitchFamily="66" charset="0"/>
              </a:rPr>
              <a:t>Probabilistic</a:t>
            </a:r>
            <a:endParaRPr lang="en-US" sz="3600" dirty="0">
              <a:highlight>
                <a:srgbClr val="FFFF00"/>
              </a:highlight>
              <a:latin typeface="Mistral" panose="03090702030407020403" pitchFamily="66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FDD2316-F877-4ABF-0132-BF1F211FF69A}"/>
              </a:ext>
            </a:extLst>
          </p:cNvPr>
          <p:cNvSpPr/>
          <p:nvPr/>
        </p:nvSpPr>
        <p:spPr>
          <a:xfrm>
            <a:off x="387926" y="537373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Enabled by treating time as a Random Variable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6858FE8-9E5D-FA41-FF5D-510D9A9FBFCF}"/>
              </a:ext>
            </a:extLst>
          </p:cNvPr>
          <p:cNvSpPr/>
          <p:nvPr/>
        </p:nvSpPr>
        <p:spPr>
          <a:xfrm>
            <a:off x="3941618" y="374009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</p:spTree>
    <p:extLst>
      <p:ext uri="{BB962C8B-B14F-4D97-AF65-F5344CB8AC3E}">
        <p14:creationId xmlns:p14="http://schemas.microsoft.com/office/powerpoint/2010/main" val="376866414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0C98873-9C47-FF70-CB2A-C85F2FB5A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EE4BB2E-72B1-BB66-045F-0F2A2B6D6B5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13D1EBDF-4915-B5A9-16AE-5689218101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215335">
            <a:off x="6786549" y="1924669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31ABAB2-BE16-8A2E-0B01-F99E887187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378094">
            <a:off x="2815203" y="1924048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9914F3B6-854D-FE8A-6755-80755A5870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659468">
            <a:off x="4736757" y="1904313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F9AB9CE-A56E-1754-5BA5-0ECA64FEC4B4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7F4FE3-A206-B743-A89B-B5C1E442D9B4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1F1B849-EC06-F10B-8F75-E6F2BCA066BC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4270D84-6DD6-D71A-3B09-09FDD2388292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True Time comparison by only comparing local time</a:t>
            </a:r>
          </a:p>
        </p:txBody>
      </p:sp>
    </p:spTree>
    <p:extLst>
      <p:ext uri="{BB962C8B-B14F-4D97-AF65-F5344CB8AC3E}">
        <p14:creationId xmlns:p14="http://schemas.microsoft.com/office/powerpoint/2010/main" val="97082600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8FCFAB5-8AEF-C565-9810-2B08A9508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BB4B1CE9-DA81-2053-3DA3-057E20B8C6C6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94C93DC4-19A2-D5C3-9737-E329E91D93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215335">
            <a:off x="6786549" y="1924669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A52EBB7-83DE-29A5-ACAD-4561CD5BA3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378094">
            <a:off x="2815203" y="1924048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8C5B2475-51DB-B7A6-F27B-32F78EEBD7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659468">
            <a:off x="4736757" y="1904313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873C2EE-03B9-ADB6-6896-523FE586FCF9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220A784-B5CE-4852-1E05-6F07E3D6229D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9F64AE5-1C7A-1F0E-63B9-EF466E8679B5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0A47632-BF93-BACB-38E0-78C2C961BEC4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True Time comparison 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by only comparing local 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01D4E0-EDE4-6662-B286-4EC476043736}"/>
              </a:ext>
            </a:extLst>
          </p:cNvPr>
          <p:cNvSpPr txBox="1"/>
          <p:nvPr/>
        </p:nvSpPr>
        <p:spPr>
          <a:xfrm>
            <a:off x="9272052" y="4310983"/>
            <a:ext cx="248497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highlight>
                  <a:srgbClr val="FFFF00"/>
                </a:highlight>
                <a:latin typeface="Mistral" panose="03090702030407020403" pitchFamily="66" charset="0"/>
              </a:rPr>
              <a:t>Probabilistic</a:t>
            </a:r>
            <a:endParaRPr lang="en-US" sz="3600" dirty="0">
              <a:highlight>
                <a:srgbClr val="FFFF00"/>
              </a:highlight>
              <a:latin typeface="Mistral" panose="03090702030407020403" pitchFamily="66" charset="0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3F7B18A-214F-E9B0-5AFD-6CBB236EA493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8545085" y="4695704"/>
            <a:ext cx="726967" cy="874718"/>
          </a:xfrm>
          <a:prstGeom prst="straightConnector1">
            <a:avLst/>
          </a:prstGeom>
          <a:ln w="1079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528005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21E6FB9-1A41-356D-92A6-862A58684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169252D-C91A-6E3E-7FE2-C2587F11A793}"/>
              </a:ext>
            </a:extLst>
          </p:cNvPr>
          <p:cNvSpPr/>
          <p:nvPr/>
        </p:nvSpPr>
        <p:spPr>
          <a:xfrm>
            <a:off x="5338246" y="1374868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E5C91E7-357D-666A-BE08-4264FDFDE979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46FA30D-9913-A4B7-DC10-B0D942D4E26F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6E32169-6A6E-0DDC-EAAF-F7740B9D2F40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True Time comparison 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by only comparing local 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708F02-1633-89E6-098B-F1FA39524A6C}"/>
              </a:ext>
            </a:extLst>
          </p:cNvPr>
          <p:cNvSpPr txBox="1"/>
          <p:nvPr/>
        </p:nvSpPr>
        <p:spPr>
          <a:xfrm>
            <a:off x="2201943" y="1442138"/>
            <a:ext cx="301076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>
                <a:highlight>
                  <a:srgbClr val="FFFF00"/>
                </a:highlight>
                <a:latin typeface="Mistral" panose="03090702030407020403" pitchFamily="66" charset="0"/>
              </a:rPr>
              <a:t>Probabilistic</a:t>
            </a:r>
            <a:endParaRPr lang="en-US" sz="3600" dirty="0">
              <a:highlight>
                <a:srgbClr val="FFFF00"/>
              </a:highlight>
              <a:latin typeface="Mistral" panose="030907020304070204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09841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5C9268A-F027-18DF-D925-009465B99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04604C2-111D-D455-DB9E-20834C819605}"/>
              </a:ext>
            </a:extLst>
          </p:cNvPr>
          <p:cNvSpPr/>
          <p:nvPr/>
        </p:nvSpPr>
        <p:spPr>
          <a:xfrm>
            <a:off x="1828801" y="1638104"/>
            <a:ext cx="8285018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Probabilistic Fair Ordering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2C60EA4-1139-BC95-81C5-C25A42763D65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1429452-F591-9542-48D5-E33EF825A135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9CCA99-8103-7BB5-625C-CCC6FC0710A3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True Time comparison 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by only comparing local time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A2D6D64D-9F9B-8B1A-8754-BEBDAA6778F6}"/>
              </a:ext>
            </a:extLst>
          </p:cNvPr>
          <p:cNvSpPr/>
          <p:nvPr/>
        </p:nvSpPr>
        <p:spPr>
          <a:xfrm>
            <a:off x="1828801" y="579477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2035736-DAC3-3512-5455-212907E36756}"/>
              </a:ext>
            </a:extLst>
          </p:cNvPr>
          <p:cNvSpPr/>
          <p:nvPr/>
        </p:nvSpPr>
        <p:spPr>
          <a:xfrm>
            <a:off x="6352674" y="2958762"/>
            <a:ext cx="5005137" cy="127053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Although we cannot get exact True timestamp, we can compare two True timestamps probabilistically.</a:t>
            </a:r>
          </a:p>
        </p:txBody>
      </p:sp>
    </p:spTree>
    <p:extLst>
      <p:ext uri="{BB962C8B-B14F-4D97-AF65-F5344CB8AC3E}">
        <p14:creationId xmlns:p14="http://schemas.microsoft.com/office/powerpoint/2010/main" val="42659322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F5D50-8F1C-2BB8-764C-AB7985502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98807D-BF3B-7E0E-F1BA-F3D2A0193C0A}"/>
              </a:ext>
            </a:extLst>
          </p:cNvPr>
          <p:cNvSpPr/>
          <p:nvPr/>
        </p:nvSpPr>
        <p:spPr>
          <a:xfrm>
            <a:off x="8091055" y="1757113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88B2A58-92CB-2E41-CC60-98B29EB22764}"/>
              </a:ext>
            </a:extLst>
          </p:cNvPr>
          <p:cNvSpPr/>
          <p:nvPr/>
        </p:nvSpPr>
        <p:spPr>
          <a:xfrm>
            <a:off x="60959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FIFO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58510F-084C-7AC3-29DF-63139BD9705D}"/>
              </a:ext>
            </a:extLst>
          </p:cNvPr>
          <p:cNvSpPr/>
          <p:nvPr/>
        </p:nvSpPr>
        <p:spPr>
          <a:xfrm>
            <a:off x="431568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Onyx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9CD885-647B-8B30-795D-38E72B83CE1A}"/>
              </a:ext>
            </a:extLst>
          </p:cNvPr>
          <p:cNvSpPr/>
          <p:nvPr/>
        </p:nvSpPr>
        <p:spPr>
          <a:xfrm>
            <a:off x="706581" y="1454728"/>
            <a:ext cx="6560125" cy="180109"/>
          </a:xfrm>
          <a:custGeom>
            <a:avLst/>
            <a:gdLst>
              <a:gd name="connsiteX0" fmla="*/ 0 w 6560125"/>
              <a:gd name="connsiteY0" fmla="*/ 0 h 180109"/>
              <a:gd name="connsiteX1" fmla="*/ 399571 w 6560125"/>
              <a:gd name="connsiteY1" fmla="*/ 0 h 180109"/>
              <a:gd name="connsiteX2" fmla="*/ 1127149 w 6560125"/>
              <a:gd name="connsiteY2" fmla="*/ 0 h 180109"/>
              <a:gd name="connsiteX3" fmla="*/ 1789125 w 6560125"/>
              <a:gd name="connsiteY3" fmla="*/ 0 h 180109"/>
              <a:gd name="connsiteX4" fmla="*/ 2188696 w 6560125"/>
              <a:gd name="connsiteY4" fmla="*/ 0 h 180109"/>
              <a:gd name="connsiteX5" fmla="*/ 2719470 w 6560125"/>
              <a:gd name="connsiteY5" fmla="*/ 0 h 180109"/>
              <a:gd name="connsiteX6" fmla="*/ 3447048 w 6560125"/>
              <a:gd name="connsiteY6" fmla="*/ 0 h 180109"/>
              <a:gd name="connsiteX7" fmla="*/ 4043423 w 6560125"/>
              <a:gd name="connsiteY7" fmla="*/ 0 h 180109"/>
              <a:gd name="connsiteX8" fmla="*/ 4705399 w 6560125"/>
              <a:gd name="connsiteY8" fmla="*/ 0 h 180109"/>
              <a:gd name="connsiteX9" fmla="*/ 5236173 w 6560125"/>
              <a:gd name="connsiteY9" fmla="*/ 0 h 180109"/>
              <a:gd name="connsiteX10" fmla="*/ 5832548 w 6560125"/>
              <a:gd name="connsiteY10" fmla="*/ 0 h 180109"/>
              <a:gd name="connsiteX11" fmla="*/ 6560125 w 6560125"/>
              <a:gd name="connsiteY11" fmla="*/ 0 h 180109"/>
              <a:gd name="connsiteX12" fmla="*/ 6560125 w 6560125"/>
              <a:gd name="connsiteY12" fmla="*/ 180109 h 180109"/>
              <a:gd name="connsiteX13" fmla="*/ 6160554 w 6560125"/>
              <a:gd name="connsiteY13" fmla="*/ 180109 h 180109"/>
              <a:gd name="connsiteX14" fmla="*/ 5760983 w 6560125"/>
              <a:gd name="connsiteY14" fmla="*/ 180109 h 180109"/>
              <a:gd name="connsiteX15" fmla="*/ 5099006 w 6560125"/>
              <a:gd name="connsiteY15" fmla="*/ 180109 h 180109"/>
              <a:gd name="connsiteX16" fmla="*/ 4699435 w 6560125"/>
              <a:gd name="connsiteY16" fmla="*/ 180109 h 180109"/>
              <a:gd name="connsiteX17" fmla="*/ 4103060 w 6560125"/>
              <a:gd name="connsiteY17" fmla="*/ 180109 h 180109"/>
              <a:gd name="connsiteX18" fmla="*/ 3637888 w 6560125"/>
              <a:gd name="connsiteY18" fmla="*/ 180109 h 180109"/>
              <a:gd name="connsiteX19" fmla="*/ 3041513 w 6560125"/>
              <a:gd name="connsiteY19" fmla="*/ 180109 h 180109"/>
              <a:gd name="connsiteX20" fmla="*/ 2445137 w 6560125"/>
              <a:gd name="connsiteY20" fmla="*/ 180109 h 180109"/>
              <a:gd name="connsiteX21" fmla="*/ 1848762 w 6560125"/>
              <a:gd name="connsiteY21" fmla="*/ 180109 h 180109"/>
              <a:gd name="connsiteX22" fmla="*/ 1252387 w 6560125"/>
              <a:gd name="connsiteY22" fmla="*/ 180109 h 180109"/>
              <a:gd name="connsiteX23" fmla="*/ 721614 w 6560125"/>
              <a:gd name="connsiteY23" fmla="*/ 180109 h 180109"/>
              <a:gd name="connsiteX24" fmla="*/ 0 w 6560125"/>
              <a:gd name="connsiteY24" fmla="*/ 180109 h 180109"/>
              <a:gd name="connsiteX25" fmla="*/ 0 w 6560125"/>
              <a:gd name="connsiteY25" fmla="*/ 0 h 180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560125" h="180109" fill="none" extrusionOk="0">
                <a:moveTo>
                  <a:pt x="0" y="0"/>
                </a:moveTo>
                <a:cubicBezTo>
                  <a:pt x="93079" y="-24371"/>
                  <a:pt x="278315" y="592"/>
                  <a:pt x="399571" y="0"/>
                </a:cubicBezTo>
                <a:cubicBezTo>
                  <a:pt x="520827" y="-592"/>
                  <a:pt x="869396" y="14101"/>
                  <a:pt x="1127149" y="0"/>
                </a:cubicBezTo>
                <a:cubicBezTo>
                  <a:pt x="1384902" y="-14101"/>
                  <a:pt x="1541827" y="74442"/>
                  <a:pt x="1789125" y="0"/>
                </a:cubicBezTo>
                <a:cubicBezTo>
                  <a:pt x="2036423" y="-74442"/>
                  <a:pt x="2042118" y="39310"/>
                  <a:pt x="2188696" y="0"/>
                </a:cubicBezTo>
                <a:cubicBezTo>
                  <a:pt x="2335274" y="-39310"/>
                  <a:pt x="2504451" y="1198"/>
                  <a:pt x="2719470" y="0"/>
                </a:cubicBezTo>
                <a:cubicBezTo>
                  <a:pt x="2934489" y="-1198"/>
                  <a:pt x="3212094" y="76278"/>
                  <a:pt x="3447048" y="0"/>
                </a:cubicBezTo>
                <a:cubicBezTo>
                  <a:pt x="3682002" y="-76278"/>
                  <a:pt x="3884580" y="20218"/>
                  <a:pt x="4043423" y="0"/>
                </a:cubicBezTo>
                <a:cubicBezTo>
                  <a:pt x="4202267" y="-20218"/>
                  <a:pt x="4562783" y="73588"/>
                  <a:pt x="4705399" y="0"/>
                </a:cubicBezTo>
                <a:cubicBezTo>
                  <a:pt x="4848015" y="-73588"/>
                  <a:pt x="5067470" y="45843"/>
                  <a:pt x="5236173" y="0"/>
                </a:cubicBezTo>
                <a:cubicBezTo>
                  <a:pt x="5404876" y="-45843"/>
                  <a:pt x="5638241" y="16924"/>
                  <a:pt x="5832548" y="0"/>
                </a:cubicBezTo>
                <a:cubicBezTo>
                  <a:pt x="6026855" y="-16924"/>
                  <a:pt x="6380958" y="36439"/>
                  <a:pt x="6560125" y="0"/>
                </a:cubicBezTo>
                <a:cubicBezTo>
                  <a:pt x="6572722" y="60361"/>
                  <a:pt x="6552397" y="95898"/>
                  <a:pt x="6560125" y="180109"/>
                </a:cubicBezTo>
                <a:cubicBezTo>
                  <a:pt x="6369462" y="212114"/>
                  <a:pt x="6345447" y="140515"/>
                  <a:pt x="6160554" y="180109"/>
                </a:cubicBezTo>
                <a:cubicBezTo>
                  <a:pt x="5975661" y="219703"/>
                  <a:pt x="5930306" y="150532"/>
                  <a:pt x="5760983" y="180109"/>
                </a:cubicBezTo>
                <a:cubicBezTo>
                  <a:pt x="5591660" y="209686"/>
                  <a:pt x="5285742" y="106575"/>
                  <a:pt x="5099006" y="180109"/>
                </a:cubicBezTo>
                <a:cubicBezTo>
                  <a:pt x="4912270" y="253643"/>
                  <a:pt x="4827180" y="133626"/>
                  <a:pt x="4699435" y="180109"/>
                </a:cubicBezTo>
                <a:cubicBezTo>
                  <a:pt x="4571690" y="226592"/>
                  <a:pt x="4245108" y="141770"/>
                  <a:pt x="4103060" y="180109"/>
                </a:cubicBezTo>
                <a:cubicBezTo>
                  <a:pt x="3961013" y="218448"/>
                  <a:pt x="3826924" y="150872"/>
                  <a:pt x="3637888" y="180109"/>
                </a:cubicBezTo>
                <a:cubicBezTo>
                  <a:pt x="3448852" y="209346"/>
                  <a:pt x="3268535" y="172336"/>
                  <a:pt x="3041513" y="180109"/>
                </a:cubicBezTo>
                <a:cubicBezTo>
                  <a:pt x="2814492" y="187882"/>
                  <a:pt x="2652883" y="165019"/>
                  <a:pt x="2445137" y="180109"/>
                </a:cubicBezTo>
                <a:cubicBezTo>
                  <a:pt x="2237391" y="195199"/>
                  <a:pt x="2124635" y="146621"/>
                  <a:pt x="1848762" y="180109"/>
                </a:cubicBezTo>
                <a:cubicBezTo>
                  <a:pt x="1572890" y="213597"/>
                  <a:pt x="1518016" y="134321"/>
                  <a:pt x="1252387" y="180109"/>
                </a:cubicBezTo>
                <a:cubicBezTo>
                  <a:pt x="986759" y="225897"/>
                  <a:pt x="938880" y="175617"/>
                  <a:pt x="721614" y="180109"/>
                </a:cubicBezTo>
                <a:cubicBezTo>
                  <a:pt x="504348" y="184601"/>
                  <a:pt x="196115" y="172397"/>
                  <a:pt x="0" y="180109"/>
                </a:cubicBezTo>
                <a:cubicBezTo>
                  <a:pt x="-10644" y="113599"/>
                  <a:pt x="8546" y="65985"/>
                  <a:pt x="0" y="0"/>
                </a:cubicBezTo>
                <a:close/>
              </a:path>
              <a:path w="6560125" h="180109" stroke="0" extrusionOk="0">
                <a:moveTo>
                  <a:pt x="0" y="0"/>
                </a:moveTo>
                <a:cubicBezTo>
                  <a:pt x="262678" y="-15794"/>
                  <a:pt x="324387" y="52621"/>
                  <a:pt x="530774" y="0"/>
                </a:cubicBezTo>
                <a:cubicBezTo>
                  <a:pt x="737161" y="-52621"/>
                  <a:pt x="763948" y="1149"/>
                  <a:pt x="930345" y="0"/>
                </a:cubicBezTo>
                <a:cubicBezTo>
                  <a:pt x="1096742" y="-1149"/>
                  <a:pt x="1469441" y="23267"/>
                  <a:pt x="1657923" y="0"/>
                </a:cubicBezTo>
                <a:cubicBezTo>
                  <a:pt x="1846405" y="-23267"/>
                  <a:pt x="1962484" y="53122"/>
                  <a:pt x="2188696" y="0"/>
                </a:cubicBezTo>
                <a:cubicBezTo>
                  <a:pt x="2414908" y="-53122"/>
                  <a:pt x="2509858" y="19949"/>
                  <a:pt x="2719470" y="0"/>
                </a:cubicBezTo>
                <a:cubicBezTo>
                  <a:pt x="2929082" y="-19949"/>
                  <a:pt x="3137248" y="72350"/>
                  <a:pt x="3447048" y="0"/>
                </a:cubicBezTo>
                <a:cubicBezTo>
                  <a:pt x="3756848" y="-72350"/>
                  <a:pt x="3696986" y="40809"/>
                  <a:pt x="3912220" y="0"/>
                </a:cubicBezTo>
                <a:cubicBezTo>
                  <a:pt x="4127454" y="-40809"/>
                  <a:pt x="4358494" y="84444"/>
                  <a:pt x="4639798" y="0"/>
                </a:cubicBezTo>
                <a:cubicBezTo>
                  <a:pt x="4921102" y="-84444"/>
                  <a:pt x="5011131" y="79389"/>
                  <a:pt x="5367375" y="0"/>
                </a:cubicBezTo>
                <a:cubicBezTo>
                  <a:pt x="5723619" y="-79389"/>
                  <a:pt x="5755728" y="54091"/>
                  <a:pt x="5963750" y="0"/>
                </a:cubicBezTo>
                <a:cubicBezTo>
                  <a:pt x="6171773" y="-54091"/>
                  <a:pt x="6326448" y="54204"/>
                  <a:pt x="6560125" y="0"/>
                </a:cubicBezTo>
                <a:cubicBezTo>
                  <a:pt x="6569910" y="55787"/>
                  <a:pt x="6543166" y="90879"/>
                  <a:pt x="6560125" y="180109"/>
                </a:cubicBezTo>
                <a:cubicBezTo>
                  <a:pt x="6465890" y="198281"/>
                  <a:pt x="6282318" y="152187"/>
                  <a:pt x="6160554" y="180109"/>
                </a:cubicBezTo>
                <a:cubicBezTo>
                  <a:pt x="6038790" y="208031"/>
                  <a:pt x="5605240" y="130138"/>
                  <a:pt x="5432976" y="180109"/>
                </a:cubicBezTo>
                <a:cubicBezTo>
                  <a:pt x="5260712" y="230080"/>
                  <a:pt x="5132902" y="143962"/>
                  <a:pt x="4967804" y="180109"/>
                </a:cubicBezTo>
                <a:cubicBezTo>
                  <a:pt x="4802706" y="216256"/>
                  <a:pt x="4610215" y="121996"/>
                  <a:pt x="4371429" y="180109"/>
                </a:cubicBezTo>
                <a:cubicBezTo>
                  <a:pt x="4132644" y="238222"/>
                  <a:pt x="3831048" y="151702"/>
                  <a:pt x="3643851" y="180109"/>
                </a:cubicBezTo>
                <a:cubicBezTo>
                  <a:pt x="3456654" y="208516"/>
                  <a:pt x="3300671" y="117049"/>
                  <a:pt x="3047476" y="180109"/>
                </a:cubicBezTo>
                <a:cubicBezTo>
                  <a:pt x="2794282" y="243169"/>
                  <a:pt x="2735543" y="140250"/>
                  <a:pt x="2647905" y="180109"/>
                </a:cubicBezTo>
                <a:cubicBezTo>
                  <a:pt x="2560267" y="219968"/>
                  <a:pt x="2366569" y="160744"/>
                  <a:pt x="2182733" y="180109"/>
                </a:cubicBezTo>
                <a:cubicBezTo>
                  <a:pt x="1998897" y="199474"/>
                  <a:pt x="1734880" y="138199"/>
                  <a:pt x="1455155" y="180109"/>
                </a:cubicBezTo>
                <a:cubicBezTo>
                  <a:pt x="1175430" y="222019"/>
                  <a:pt x="1028262" y="177887"/>
                  <a:pt x="858780" y="180109"/>
                </a:cubicBezTo>
                <a:cubicBezTo>
                  <a:pt x="689299" y="182331"/>
                  <a:pt x="345146" y="157005"/>
                  <a:pt x="0" y="180109"/>
                </a:cubicBezTo>
                <a:cubicBezTo>
                  <a:pt x="-13722" y="95078"/>
                  <a:pt x="1346" y="37299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28202C-23A4-2938-3F58-7CE00B017D72}"/>
              </a:ext>
            </a:extLst>
          </p:cNvPr>
          <p:cNvSpPr/>
          <p:nvPr/>
        </p:nvSpPr>
        <p:spPr>
          <a:xfrm>
            <a:off x="2294240" y="531398"/>
            <a:ext cx="348178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Prior Work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B4E4D27-03F2-5B6A-7B0B-4AC6FDCE7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73" y="2378058"/>
            <a:ext cx="3355593" cy="36000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08B153-1F4B-D29B-8E4A-5E7E241021B2}"/>
              </a:ext>
            </a:extLst>
          </p:cNvPr>
          <p:cNvSpPr txBox="1"/>
          <p:nvPr/>
        </p:nvSpPr>
        <p:spPr>
          <a:xfrm>
            <a:off x="774754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A4067F-B256-7FFF-80EA-71F5965B2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697" y="2558167"/>
            <a:ext cx="3758184" cy="33951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1C509D9-0A19-183B-A5CC-945549BA4C87}"/>
              </a:ext>
            </a:extLst>
          </p:cNvPr>
          <p:cNvSpPr txBox="1"/>
          <p:nvPr/>
        </p:nvSpPr>
        <p:spPr>
          <a:xfrm>
            <a:off x="4619244" y="5516434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0D1B925-E730-6E51-112F-AD0B8894B9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0881" y="2558167"/>
            <a:ext cx="3758184" cy="322435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743A391-0E9C-EAEF-B09B-7F8B385CFEDC}"/>
              </a:ext>
            </a:extLst>
          </p:cNvPr>
          <p:cNvSpPr txBox="1"/>
          <p:nvPr/>
        </p:nvSpPr>
        <p:spPr>
          <a:xfrm>
            <a:off x="8611859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General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probabilistic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5D1D0F-CC4B-DC90-60EF-4D1BB6B752AA}"/>
              </a:ext>
            </a:extLst>
          </p:cNvPr>
          <p:cNvSpPr txBox="1"/>
          <p:nvPr/>
        </p:nvSpPr>
        <p:spPr>
          <a:xfrm>
            <a:off x="5434144" y="3122100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</p:spTree>
    <p:extLst>
      <p:ext uri="{BB962C8B-B14F-4D97-AF65-F5344CB8AC3E}">
        <p14:creationId xmlns:p14="http://schemas.microsoft.com/office/powerpoint/2010/main" val="435829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1" grpId="0"/>
      <p:bldP spid="13" grpId="0"/>
      <p:bldP spid="15" grpId="0"/>
      <p:bldP spid="1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968A482-A89B-C8BA-44D1-33611F06991E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5346D92-224C-6C15-DE57-C91ED5E0556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40069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Offset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249000" y="2838159"/>
            <a:ext cx="27185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 of Messages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40069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Offset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3D2D24EA-CF77-3797-20CD-936D1BBDA6A4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AA840BD-41CF-7108-76C5-C411ECFADC47}"/>
              </a:ext>
            </a:extLst>
          </p:cNvPr>
          <p:cNvGrpSpPr/>
          <p:nvPr/>
        </p:nvGrpSpPr>
        <p:grpSpPr>
          <a:xfrm>
            <a:off x="6949322" y="3320531"/>
            <a:ext cx="1075394" cy="427232"/>
            <a:chOff x="6917966" y="3321746"/>
            <a:chExt cx="1075394" cy="427232"/>
          </a:xfrm>
        </p:grpSpPr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042B47DB-3D94-7695-B796-24DC1BD99659}"/>
                </a:ext>
              </a:extLst>
            </p:cNvPr>
            <p:cNvSpPr/>
            <p:nvPr/>
          </p:nvSpPr>
          <p:spPr>
            <a:xfrm>
              <a:off x="6917966" y="3327864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66FE4802-7977-F3C6-E03A-EE72BFE5F4C6}"/>
                </a:ext>
              </a:extLst>
            </p:cNvPr>
            <p:cNvSpPr/>
            <p:nvPr/>
          </p:nvSpPr>
          <p:spPr>
            <a:xfrm>
              <a:off x="7556045" y="3329306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CF148F0-61E1-AC3A-2692-AEFC78F1AC8E}"/>
                </a:ext>
              </a:extLst>
            </p:cNvPr>
            <p:cNvGrpSpPr/>
            <p:nvPr/>
          </p:nvGrpSpPr>
          <p:grpSpPr>
            <a:xfrm>
              <a:off x="6931018" y="3321746"/>
              <a:ext cx="1062342" cy="427232"/>
              <a:chOff x="6931018" y="3321746"/>
              <a:chExt cx="1062342" cy="427232"/>
            </a:xfrm>
          </p:grpSpPr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60B0843A-0675-F03E-C5CF-6C8894D75630}"/>
                  </a:ext>
                </a:extLst>
              </p:cNvPr>
              <p:cNvSpPr/>
              <p:nvPr/>
            </p:nvSpPr>
            <p:spPr>
              <a:xfrm>
                <a:off x="6931018" y="3321746"/>
                <a:ext cx="1062342" cy="427232"/>
              </a:xfrm>
              <a:custGeom>
                <a:avLst/>
                <a:gdLst>
                  <a:gd name="connsiteX0" fmla="*/ 0 w 1047312"/>
                  <a:gd name="connsiteY0" fmla="*/ 0 h 419672"/>
                  <a:gd name="connsiteX1" fmla="*/ 1047312 w 1047312"/>
                  <a:gd name="connsiteY1" fmla="*/ 0 h 419672"/>
                  <a:gd name="connsiteX2" fmla="*/ 1047312 w 1047312"/>
                  <a:gd name="connsiteY2" fmla="*/ 419673 h 419672"/>
                  <a:gd name="connsiteX3" fmla="*/ 0 w 1047312"/>
                  <a:gd name="connsiteY3" fmla="*/ 419673 h 419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7312" h="419672">
                    <a:moveTo>
                      <a:pt x="0" y="0"/>
                    </a:moveTo>
                    <a:lnTo>
                      <a:pt x="1047312" y="0"/>
                    </a:lnTo>
                    <a:lnTo>
                      <a:pt x="1047312" y="419673"/>
                    </a:lnTo>
                    <a:lnTo>
                      <a:pt x="0" y="419673"/>
                    </a:lnTo>
                    <a:close/>
                  </a:path>
                </a:pathLst>
              </a:custGeom>
              <a:noFill/>
              <a:ln w="20935" cap="flat">
                <a:solidFill>
                  <a:srgbClr val="000000"/>
                </a:solidFill>
                <a:custDash>
                  <a:ds d="225000" sp="225000"/>
                </a:custDash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31D15BC0-EC26-A3AB-6026-879A26A606A7}"/>
                  </a:ext>
                </a:extLst>
              </p:cNvPr>
              <p:cNvSpPr txBox="1"/>
              <p:nvPr/>
            </p:nvSpPr>
            <p:spPr>
              <a:xfrm>
                <a:off x="7612950" y="3339274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1D8388B-42B3-F7E7-CBE9-931B1CC41141}"/>
                  </a:ext>
                </a:extLst>
              </p:cNvPr>
              <p:cNvSpPr txBox="1"/>
              <p:nvPr/>
            </p:nvSpPr>
            <p:spPr>
              <a:xfrm>
                <a:off x="6971307" y="3350696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8219149" y="3330903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847536" y="3330903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9CBEA3E-6E77-2B22-7179-1E0AE4CEA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499C5-0E94-659D-EB50-AB35292D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01374AA2-FF9F-BF20-56AC-42B75D248B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E390A59-0100-E68C-C0CE-C528633D3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07E1014-18F7-B967-3B32-8686102EF2F0}"/>
              </a:ext>
            </a:extLst>
          </p:cNvPr>
          <p:cNvSpPr/>
          <p:nvPr/>
        </p:nvSpPr>
        <p:spPr>
          <a:xfrm>
            <a:off x="3186545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8ED11E5-3F71-99CC-AFCA-CE4BFB058D87}"/>
              </a:ext>
            </a:extLst>
          </p:cNvPr>
          <p:cNvSpPr/>
          <p:nvPr/>
        </p:nvSpPr>
        <p:spPr>
          <a:xfrm>
            <a:off x="7523020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FDA3CB-6B8F-1DA3-49D2-0402D3418C54}"/>
              </a:ext>
            </a:extLst>
          </p:cNvPr>
          <p:cNvSpPr txBox="1"/>
          <p:nvPr/>
        </p:nvSpPr>
        <p:spPr>
          <a:xfrm>
            <a:off x="3422074" y="3075057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D2FB84D-CDAF-FC73-F573-25904E267089}"/>
              </a:ext>
            </a:extLst>
          </p:cNvPr>
          <p:cNvSpPr txBox="1"/>
          <p:nvPr/>
        </p:nvSpPr>
        <p:spPr>
          <a:xfrm>
            <a:off x="7767779" y="2985004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191C93-ADB3-21C1-57A5-CE453466C998}"/>
              </a:ext>
            </a:extLst>
          </p:cNvPr>
          <p:cNvSpPr txBox="1"/>
          <p:nvPr/>
        </p:nvSpPr>
        <p:spPr>
          <a:xfrm>
            <a:off x="3422074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1B8694-CFFF-4411-2B8E-FEF437A3DFDB}"/>
              </a:ext>
            </a:extLst>
          </p:cNvPr>
          <p:cNvSpPr txBox="1"/>
          <p:nvPr/>
        </p:nvSpPr>
        <p:spPr>
          <a:xfrm>
            <a:off x="7767779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66073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/>
      <p:bldP spid="21" grpId="0"/>
      <p:bldP spid="22" grpId="0"/>
      <p:bldP spid="23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447EA-2FEF-EA4A-9206-3CFE973DC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B984D58A-9063-7A64-ACAD-5C9D71F2090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411DB6A-2AD3-413F-59DA-1F8C20673E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C74F384-2C4B-6117-557A-63BCA467CA5F}"/>
              </a:ext>
            </a:extLst>
          </p:cNvPr>
          <p:cNvSpPr/>
          <p:nvPr/>
        </p:nvSpPr>
        <p:spPr>
          <a:xfrm>
            <a:off x="3186545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37EB68C-941E-941D-0E01-F9E2409A23DA}"/>
              </a:ext>
            </a:extLst>
          </p:cNvPr>
          <p:cNvSpPr/>
          <p:nvPr/>
        </p:nvSpPr>
        <p:spPr>
          <a:xfrm>
            <a:off x="7523020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9F1D21-9710-52BC-BAD4-3E06CCAA11EA}"/>
              </a:ext>
            </a:extLst>
          </p:cNvPr>
          <p:cNvSpPr txBox="1"/>
          <p:nvPr/>
        </p:nvSpPr>
        <p:spPr>
          <a:xfrm>
            <a:off x="3422073" y="3075057"/>
            <a:ext cx="2535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CCD095D-7BA6-9DF0-4BB2-2B4BCA4C376A}"/>
              </a:ext>
            </a:extLst>
          </p:cNvPr>
          <p:cNvSpPr txBox="1"/>
          <p:nvPr/>
        </p:nvSpPr>
        <p:spPr>
          <a:xfrm>
            <a:off x="7767779" y="2985004"/>
            <a:ext cx="30387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AEC9B86-B192-D48F-1C21-5D1793981DBC}"/>
              </a:ext>
            </a:extLst>
          </p:cNvPr>
          <p:cNvSpPr txBox="1"/>
          <p:nvPr/>
        </p:nvSpPr>
        <p:spPr>
          <a:xfrm>
            <a:off x="3422074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C487A1-8980-2215-E442-FCFCDE504C9B}"/>
              </a:ext>
            </a:extLst>
          </p:cNvPr>
          <p:cNvSpPr txBox="1"/>
          <p:nvPr/>
        </p:nvSpPr>
        <p:spPr>
          <a:xfrm>
            <a:off x="7767779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20958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4FC07-926E-A720-6F1E-16555E71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45134AC-EC8D-1E2E-4623-974763061AD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9967EBF-EA05-702C-DCAE-B663AAC25D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18A5158-44AB-D694-11D9-5724496EA56C}"/>
              </a:ext>
            </a:extLst>
          </p:cNvPr>
          <p:cNvSpPr/>
          <p:nvPr/>
        </p:nvSpPr>
        <p:spPr>
          <a:xfrm>
            <a:off x="3120371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0BFD04D-8510-447B-5551-CA60F9E09CF9}"/>
              </a:ext>
            </a:extLst>
          </p:cNvPr>
          <p:cNvSpPr/>
          <p:nvPr/>
        </p:nvSpPr>
        <p:spPr>
          <a:xfrm>
            <a:off x="7456846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8D7F0A-17A7-DFBD-96E5-184B621FADAA}"/>
              </a:ext>
            </a:extLst>
          </p:cNvPr>
          <p:cNvSpPr txBox="1"/>
          <p:nvPr/>
        </p:nvSpPr>
        <p:spPr>
          <a:xfrm>
            <a:off x="3283527" y="2367171"/>
            <a:ext cx="2535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C1A0FE9-18D5-5446-4C6B-9AC0AEB28174}"/>
              </a:ext>
            </a:extLst>
          </p:cNvPr>
          <p:cNvSpPr txBox="1"/>
          <p:nvPr/>
        </p:nvSpPr>
        <p:spPr>
          <a:xfrm>
            <a:off x="7629233" y="2277118"/>
            <a:ext cx="30387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pic>
        <p:nvPicPr>
          <p:cNvPr id="3" name="Picture 10">
            <a:extLst>
              <a:ext uri="{FF2B5EF4-FFF2-40B4-BE49-F238E27FC236}">
                <a16:creationId xmlns:a16="http://schemas.microsoft.com/office/drawing/2014/main" id="{B34C01AC-DB0D-693C-5A6A-89BB18F0F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192337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70330021-9A5E-6C3C-0780-9E870A61AA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908489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9E6896BD-B6FD-3D40-C863-8FD487CFD1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4624120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2B1CD507-E5C8-62CC-1E7E-3A78B395D7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5327175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97351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8B14-4F0A-1E96-423B-86C0C2815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0F382A3-ACBE-B5C4-E768-FE44192A0ED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673E228-BADE-E7C0-E3FC-0285E544C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AC125A0E-B4F9-5CD5-5587-1F5A1638D592}"/>
              </a:ext>
            </a:extLst>
          </p:cNvPr>
          <p:cNvSpPr/>
          <p:nvPr/>
        </p:nvSpPr>
        <p:spPr>
          <a:xfrm>
            <a:off x="3120371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157CD66-15E8-4CB2-572D-7A44D127B2FB}"/>
              </a:ext>
            </a:extLst>
          </p:cNvPr>
          <p:cNvSpPr/>
          <p:nvPr/>
        </p:nvSpPr>
        <p:spPr>
          <a:xfrm>
            <a:off x="7456846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850E35-1293-8107-367B-0AD5349FABF6}"/>
              </a:ext>
            </a:extLst>
          </p:cNvPr>
          <p:cNvSpPr txBox="1"/>
          <p:nvPr/>
        </p:nvSpPr>
        <p:spPr>
          <a:xfrm>
            <a:off x="3283527" y="2367171"/>
            <a:ext cx="2535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4820D3-B650-8850-30B6-6F45CED3402D}"/>
              </a:ext>
            </a:extLst>
          </p:cNvPr>
          <p:cNvSpPr txBox="1"/>
          <p:nvPr/>
        </p:nvSpPr>
        <p:spPr>
          <a:xfrm>
            <a:off x="7629233" y="2277118"/>
            <a:ext cx="30387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pic>
        <p:nvPicPr>
          <p:cNvPr id="3" name="Picture 10">
            <a:extLst>
              <a:ext uri="{FF2B5EF4-FFF2-40B4-BE49-F238E27FC236}">
                <a16:creationId xmlns:a16="http://schemas.microsoft.com/office/drawing/2014/main" id="{0B5EA0A7-FC39-CDBD-43A9-8F757EBE9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3464494"/>
            <a:ext cx="5234139" cy="59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32D48432-B4DF-4214-6DEE-58DB84C75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4180646"/>
            <a:ext cx="5350037" cy="597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E1A352D5-F4B0-EB34-2634-3E0DCAC52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4896278"/>
            <a:ext cx="3747761" cy="58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7B2ED3B2-4718-3FDC-738F-7D8BDFADF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5599333"/>
            <a:ext cx="4100956" cy="929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BFB0881-64C7-C5EA-B76A-01E08172BDAA}"/>
              </a:ext>
            </a:extLst>
          </p:cNvPr>
          <p:cNvGrpSpPr/>
          <p:nvPr/>
        </p:nvGrpSpPr>
        <p:grpSpPr>
          <a:xfrm>
            <a:off x="6096000" y="4772543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E9E1714-0DBA-7C5F-D7A0-D5E66DD7223A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D136285-4A22-4D09-6E60-E2A6D9D047E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DF81BE-7EB8-39FD-F708-CF17D45B338C}"/>
              </a:ext>
            </a:extLst>
          </p:cNvPr>
          <p:cNvSpPr txBox="1"/>
          <p:nvPr/>
        </p:nvSpPr>
        <p:spPr>
          <a:xfrm>
            <a:off x="7006175" y="3818436"/>
            <a:ext cx="454851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For independent Gaussian-distributed errors</a:t>
            </a:r>
          </a:p>
        </p:txBody>
      </p:sp>
    </p:spTree>
    <p:extLst>
      <p:ext uri="{BB962C8B-B14F-4D97-AF65-F5344CB8AC3E}">
        <p14:creationId xmlns:p14="http://schemas.microsoft.com/office/powerpoint/2010/main" val="10406159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30536-51FC-8757-8016-A665A2C4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4ADCF90-5E75-F266-5254-6D3125F46BD9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BF7CFEF-376C-ABC2-6C05-C7B297748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725FEC66-3E0A-7E64-893B-5F0760C4D61E}"/>
              </a:ext>
            </a:extLst>
          </p:cNvPr>
          <p:cNvSpPr/>
          <p:nvPr/>
        </p:nvSpPr>
        <p:spPr>
          <a:xfrm>
            <a:off x="1596371" y="16242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2F801F7-2503-A7AD-7E80-686A572DB40B}"/>
              </a:ext>
            </a:extLst>
          </p:cNvPr>
          <p:cNvSpPr/>
          <p:nvPr/>
        </p:nvSpPr>
        <p:spPr>
          <a:xfrm>
            <a:off x="1596370" y="2812047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1C5EEFF-D09A-162D-8E27-D87E31892013}"/>
              </a:ext>
            </a:extLst>
          </p:cNvPr>
          <p:cNvGrpSpPr/>
          <p:nvPr/>
        </p:nvGrpSpPr>
        <p:grpSpPr>
          <a:xfrm>
            <a:off x="3338945" y="1814598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CD8C034-ABA6-4461-2F9E-AA0E37F5CDE4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42B7035-E744-449C-A7F2-FF728E81E19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CE795454-60AF-CF1D-39BF-DB33211D7E12}"/>
              </a:ext>
            </a:extLst>
          </p:cNvPr>
          <p:cNvSpPr/>
          <p:nvPr/>
        </p:nvSpPr>
        <p:spPr>
          <a:xfrm>
            <a:off x="1596369" y="3999823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56198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816DA-46F4-FC44-495F-83024AC4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EA8E38F6-5C18-191C-9107-81A15BF25B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B26F944-3B9F-2EF8-DF79-84950969D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0D9A57D-992D-07B3-4D8D-FBCB9EC90D32}"/>
              </a:ext>
            </a:extLst>
          </p:cNvPr>
          <p:cNvSpPr/>
          <p:nvPr/>
        </p:nvSpPr>
        <p:spPr>
          <a:xfrm>
            <a:off x="3590670" y="3414720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ECA02CA-8077-33DB-C7C5-AD40AB941F75}"/>
              </a:ext>
            </a:extLst>
          </p:cNvPr>
          <p:cNvSpPr/>
          <p:nvPr/>
        </p:nvSpPr>
        <p:spPr>
          <a:xfrm>
            <a:off x="5835862" y="24314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DDC5A6-4292-49AE-D5FF-CA19D963D3C3}"/>
              </a:ext>
            </a:extLst>
          </p:cNvPr>
          <p:cNvSpPr/>
          <p:nvPr/>
        </p:nvSpPr>
        <p:spPr>
          <a:xfrm>
            <a:off x="7419075" y="4121727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5" name="Bent Arrow 4">
            <a:extLst>
              <a:ext uri="{FF2B5EF4-FFF2-40B4-BE49-F238E27FC236}">
                <a16:creationId xmlns:a16="http://schemas.microsoft.com/office/drawing/2014/main" id="{728CF02E-D163-0617-7CEB-AA6C48DEBEB7}"/>
              </a:ext>
            </a:extLst>
          </p:cNvPr>
          <p:cNvSpPr/>
          <p:nvPr/>
        </p:nvSpPr>
        <p:spPr>
          <a:xfrm>
            <a:off x="4449652" y="2601221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Bent Arrow 5">
            <a:extLst>
              <a:ext uri="{FF2B5EF4-FFF2-40B4-BE49-F238E27FC236}">
                <a16:creationId xmlns:a16="http://schemas.microsoft.com/office/drawing/2014/main" id="{935677AA-EDA2-FCDF-CE7F-1FFEA59C792B}"/>
              </a:ext>
            </a:extLst>
          </p:cNvPr>
          <p:cNvSpPr/>
          <p:nvPr/>
        </p:nvSpPr>
        <p:spPr>
          <a:xfrm rot="5400000">
            <a:off x="7172034" y="2939441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Bent Arrow 7">
            <a:extLst>
              <a:ext uri="{FF2B5EF4-FFF2-40B4-BE49-F238E27FC236}">
                <a16:creationId xmlns:a16="http://schemas.microsoft.com/office/drawing/2014/main" id="{D987C016-01A3-914A-C140-9124115CC7F6}"/>
              </a:ext>
            </a:extLst>
          </p:cNvPr>
          <p:cNvSpPr/>
          <p:nvPr/>
        </p:nvSpPr>
        <p:spPr>
          <a:xfrm rot="13290293">
            <a:off x="4691366" y="4272365"/>
            <a:ext cx="2338829" cy="1451380"/>
          </a:xfrm>
          <a:custGeom>
            <a:avLst/>
            <a:gdLst>
              <a:gd name="connsiteX0" fmla="*/ 0 w 2338829"/>
              <a:gd name="connsiteY0" fmla="*/ 1451380 h 1451380"/>
              <a:gd name="connsiteX1" fmla="*/ 0 w 2338829"/>
              <a:gd name="connsiteY1" fmla="*/ 1128452 h 1451380"/>
              <a:gd name="connsiteX2" fmla="*/ 0 w 2338829"/>
              <a:gd name="connsiteY2" fmla="*/ 830364 h 1451380"/>
              <a:gd name="connsiteX3" fmla="*/ 634979 w 2338829"/>
              <a:gd name="connsiteY3" fmla="*/ 195385 h 1451380"/>
              <a:gd name="connsiteX4" fmla="*/ 1041751 w 2338829"/>
              <a:gd name="connsiteY4" fmla="*/ 195385 h 1451380"/>
              <a:gd name="connsiteX5" fmla="*/ 1502162 w 2338829"/>
              <a:gd name="connsiteY5" fmla="*/ 195385 h 1451380"/>
              <a:gd name="connsiteX6" fmla="*/ 1975984 w 2338829"/>
              <a:gd name="connsiteY6" fmla="*/ 195385 h 1451380"/>
              <a:gd name="connsiteX7" fmla="*/ 1975984 w 2338829"/>
              <a:gd name="connsiteY7" fmla="*/ 0 h 1451380"/>
              <a:gd name="connsiteX8" fmla="*/ 2338829 w 2338829"/>
              <a:gd name="connsiteY8" fmla="*/ 376807 h 1451380"/>
              <a:gd name="connsiteX9" fmla="*/ 1975984 w 2338829"/>
              <a:gd name="connsiteY9" fmla="*/ 753615 h 1451380"/>
              <a:gd name="connsiteX10" fmla="*/ 1975984 w 2338829"/>
              <a:gd name="connsiteY10" fmla="*/ 558230 h 1451380"/>
              <a:gd name="connsiteX11" fmla="*/ 1515572 w 2338829"/>
              <a:gd name="connsiteY11" fmla="*/ 558230 h 1451380"/>
              <a:gd name="connsiteX12" fmla="*/ 1095391 w 2338829"/>
              <a:gd name="connsiteY12" fmla="*/ 558230 h 1451380"/>
              <a:gd name="connsiteX13" fmla="*/ 634979 w 2338829"/>
              <a:gd name="connsiteY13" fmla="*/ 558230 h 1451380"/>
              <a:gd name="connsiteX14" fmla="*/ 362845 w 2338829"/>
              <a:gd name="connsiteY14" fmla="*/ 830364 h 1451380"/>
              <a:gd name="connsiteX15" fmla="*/ 362845 w 2338829"/>
              <a:gd name="connsiteY15" fmla="*/ 1140872 h 1451380"/>
              <a:gd name="connsiteX16" fmla="*/ 362845 w 2338829"/>
              <a:gd name="connsiteY16" fmla="*/ 1451380 h 1451380"/>
              <a:gd name="connsiteX17" fmla="*/ 0 w 2338829"/>
              <a:gd name="connsiteY17" fmla="*/ 1451380 h 14513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338829" h="1451380" fill="none" extrusionOk="0">
                <a:moveTo>
                  <a:pt x="0" y="1451380"/>
                </a:moveTo>
                <a:cubicBezTo>
                  <a:pt x="-31163" y="1356073"/>
                  <a:pt x="24097" y="1284160"/>
                  <a:pt x="0" y="1128452"/>
                </a:cubicBezTo>
                <a:cubicBezTo>
                  <a:pt x="-24097" y="972744"/>
                  <a:pt x="26153" y="973357"/>
                  <a:pt x="0" y="830364"/>
                </a:cubicBezTo>
                <a:cubicBezTo>
                  <a:pt x="-47848" y="539311"/>
                  <a:pt x="287002" y="187043"/>
                  <a:pt x="634979" y="195385"/>
                </a:cubicBezTo>
                <a:cubicBezTo>
                  <a:pt x="779225" y="149203"/>
                  <a:pt x="911755" y="201278"/>
                  <a:pt x="1041751" y="195385"/>
                </a:cubicBezTo>
                <a:cubicBezTo>
                  <a:pt x="1171747" y="189492"/>
                  <a:pt x="1331562" y="224176"/>
                  <a:pt x="1502162" y="195385"/>
                </a:cubicBezTo>
                <a:cubicBezTo>
                  <a:pt x="1672762" y="166594"/>
                  <a:pt x="1762656" y="229994"/>
                  <a:pt x="1975984" y="195385"/>
                </a:cubicBezTo>
                <a:cubicBezTo>
                  <a:pt x="1957312" y="140913"/>
                  <a:pt x="1981415" y="47677"/>
                  <a:pt x="1975984" y="0"/>
                </a:cubicBezTo>
                <a:cubicBezTo>
                  <a:pt x="2151165" y="93892"/>
                  <a:pt x="2191685" y="280800"/>
                  <a:pt x="2338829" y="376807"/>
                </a:cubicBezTo>
                <a:cubicBezTo>
                  <a:pt x="2212520" y="525627"/>
                  <a:pt x="2089020" y="570215"/>
                  <a:pt x="1975984" y="753615"/>
                </a:cubicBezTo>
                <a:cubicBezTo>
                  <a:pt x="1955185" y="704754"/>
                  <a:pt x="1992543" y="637217"/>
                  <a:pt x="1975984" y="558230"/>
                </a:cubicBezTo>
                <a:cubicBezTo>
                  <a:pt x="1762250" y="561278"/>
                  <a:pt x="1657754" y="549796"/>
                  <a:pt x="1515572" y="558230"/>
                </a:cubicBezTo>
                <a:cubicBezTo>
                  <a:pt x="1373390" y="566664"/>
                  <a:pt x="1182196" y="527263"/>
                  <a:pt x="1095391" y="558230"/>
                </a:cubicBezTo>
                <a:cubicBezTo>
                  <a:pt x="1008586" y="589197"/>
                  <a:pt x="817921" y="557330"/>
                  <a:pt x="634979" y="558230"/>
                </a:cubicBezTo>
                <a:cubicBezTo>
                  <a:pt x="477992" y="562551"/>
                  <a:pt x="348876" y="659161"/>
                  <a:pt x="362845" y="830364"/>
                </a:cubicBezTo>
                <a:cubicBezTo>
                  <a:pt x="392589" y="973367"/>
                  <a:pt x="336041" y="1055818"/>
                  <a:pt x="362845" y="1140872"/>
                </a:cubicBezTo>
                <a:cubicBezTo>
                  <a:pt x="389649" y="1225926"/>
                  <a:pt x="360134" y="1311614"/>
                  <a:pt x="362845" y="1451380"/>
                </a:cubicBezTo>
                <a:cubicBezTo>
                  <a:pt x="281331" y="1472668"/>
                  <a:pt x="135036" y="1432575"/>
                  <a:pt x="0" y="1451380"/>
                </a:cubicBezTo>
                <a:close/>
              </a:path>
              <a:path w="2338829" h="1451380" stroke="0" extrusionOk="0">
                <a:moveTo>
                  <a:pt x="0" y="1451380"/>
                </a:moveTo>
                <a:cubicBezTo>
                  <a:pt x="-19093" y="1307772"/>
                  <a:pt x="18007" y="1258140"/>
                  <a:pt x="0" y="1147082"/>
                </a:cubicBezTo>
                <a:cubicBezTo>
                  <a:pt x="-18007" y="1036024"/>
                  <a:pt x="37" y="942647"/>
                  <a:pt x="0" y="830364"/>
                </a:cubicBezTo>
                <a:cubicBezTo>
                  <a:pt x="-69294" y="547345"/>
                  <a:pt x="265841" y="297358"/>
                  <a:pt x="634979" y="195385"/>
                </a:cubicBezTo>
                <a:cubicBezTo>
                  <a:pt x="820158" y="168369"/>
                  <a:pt x="920119" y="240468"/>
                  <a:pt x="1055161" y="195385"/>
                </a:cubicBezTo>
                <a:cubicBezTo>
                  <a:pt x="1190203" y="150302"/>
                  <a:pt x="1379395" y="219098"/>
                  <a:pt x="1528982" y="195385"/>
                </a:cubicBezTo>
                <a:cubicBezTo>
                  <a:pt x="1678569" y="171672"/>
                  <a:pt x="1756782" y="245890"/>
                  <a:pt x="1975984" y="195385"/>
                </a:cubicBezTo>
                <a:cubicBezTo>
                  <a:pt x="1974757" y="122980"/>
                  <a:pt x="1978693" y="93905"/>
                  <a:pt x="1975984" y="0"/>
                </a:cubicBezTo>
                <a:cubicBezTo>
                  <a:pt x="2152372" y="132303"/>
                  <a:pt x="2227120" y="261012"/>
                  <a:pt x="2338829" y="376807"/>
                </a:cubicBezTo>
                <a:cubicBezTo>
                  <a:pt x="2198728" y="602587"/>
                  <a:pt x="2030317" y="634047"/>
                  <a:pt x="1975984" y="753615"/>
                </a:cubicBezTo>
                <a:cubicBezTo>
                  <a:pt x="1954003" y="669824"/>
                  <a:pt x="1982635" y="618184"/>
                  <a:pt x="1975984" y="558230"/>
                </a:cubicBezTo>
                <a:cubicBezTo>
                  <a:pt x="1885957" y="582659"/>
                  <a:pt x="1675605" y="517823"/>
                  <a:pt x="1528982" y="558230"/>
                </a:cubicBezTo>
                <a:cubicBezTo>
                  <a:pt x="1382359" y="598637"/>
                  <a:pt x="1298147" y="528477"/>
                  <a:pt x="1108801" y="558230"/>
                </a:cubicBezTo>
                <a:cubicBezTo>
                  <a:pt x="919455" y="587983"/>
                  <a:pt x="806776" y="547702"/>
                  <a:pt x="634979" y="558230"/>
                </a:cubicBezTo>
                <a:cubicBezTo>
                  <a:pt x="467257" y="522707"/>
                  <a:pt x="363775" y="667495"/>
                  <a:pt x="362845" y="830364"/>
                </a:cubicBezTo>
                <a:cubicBezTo>
                  <a:pt x="369499" y="965858"/>
                  <a:pt x="334819" y="1011103"/>
                  <a:pt x="362845" y="1147082"/>
                </a:cubicBezTo>
                <a:cubicBezTo>
                  <a:pt x="390871" y="1283061"/>
                  <a:pt x="336541" y="1319003"/>
                  <a:pt x="362845" y="1451380"/>
                </a:cubicBezTo>
                <a:cubicBezTo>
                  <a:pt x="275974" y="1488195"/>
                  <a:pt x="124314" y="1431482"/>
                  <a:pt x="0" y="1451380"/>
                </a:cubicBezTo>
                <a:close/>
              </a:path>
            </a:pathLst>
          </a:custGeom>
          <a:solidFill>
            <a:schemeClr val="accent2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63655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4D3AF-674F-27D9-45BA-703343CAF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99943FE0-292F-A4DA-1CCE-A14F14E01ECD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536018F3-F442-E440-06C3-A814439C22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8DC6273E-16EB-4A0A-078F-7CF6883DEDB6}"/>
              </a:ext>
            </a:extLst>
          </p:cNvPr>
          <p:cNvSpPr/>
          <p:nvPr/>
        </p:nvSpPr>
        <p:spPr>
          <a:xfrm>
            <a:off x="570379" y="31791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6EA2B36-2D5A-D1D5-A7AF-D9C268117570}"/>
              </a:ext>
            </a:extLst>
          </p:cNvPr>
          <p:cNvSpPr/>
          <p:nvPr/>
        </p:nvSpPr>
        <p:spPr>
          <a:xfrm>
            <a:off x="2815571" y="219594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271A3E9-36FB-95B7-9124-5A90BEA23031}"/>
              </a:ext>
            </a:extLst>
          </p:cNvPr>
          <p:cNvSpPr/>
          <p:nvPr/>
        </p:nvSpPr>
        <p:spPr>
          <a:xfrm>
            <a:off x="4398784" y="3886200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5" name="Bent Arrow 4">
            <a:extLst>
              <a:ext uri="{FF2B5EF4-FFF2-40B4-BE49-F238E27FC236}">
                <a16:creationId xmlns:a16="http://schemas.microsoft.com/office/drawing/2014/main" id="{39238FD0-7622-71D2-580D-4E5CFBEB5B96}"/>
              </a:ext>
            </a:extLst>
          </p:cNvPr>
          <p:cNvSpPr/>
          <p:nvPr/>
        </p:nvSpPr>
        <p:spPr>
          <a:xfrm>
            <a:off x="1429361" y="236569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Bent Arrow 5">
            <a:extLst>
              <a:ext uri="{FF2B5EF4-FFF2-40B4-BE49-F238E27FC236}">
                <a16:creationId xmlns:a16="http://schemas.microsoft.com/office/drawing/2014/main" id="{4E6B0977-681D-CD26-6BAF-866FB44ABC4D}"/>
              </a:ext>
            </a:extLst>
          </p:cNvPr>
          <p:cNvSpPr/>
          <p:nvPr/>
        </p:nvSpPr>
        <p:spPr>
          <a:xfrm rot="5400000">
            <a:off x="4151743" y="270391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Bent Arrow 7">
            <a:extLst>
              <a:ext uri="{FF2B5EF4-FFF2-40B4-BE49-F238E27FC236}">
                <a16:creationId xmlns:a16="http://schemas.microsoft.com/office/drawing/2014/main" id="{06A4D0E6-25EB-6295-E313-E707D10779C5}"/>
              </a:ext>
            </a:extLst>
          </p:cNvPr>
          <p:cNvSpPr/>
          <p:nvPr/>
        </p:nvSpPr>
        <p:spPr>
          <a:xfrm rot="13290293">
            <a:off x="1671075" y="4036838"/>
            <a:ext cx="2338829" cy="1451380"/>
          </a:xfrm>
          <a:custGeom>
            <a:avLst/>
            <a:gdLst>
              <a:gd name="connsiteX0" fmla="*/ 0 w 2338829"/>
              <a:gd name="connsiteY0" fmla="*/ 1451380 h 1451380"/>
              <a:gd name="connsiteX1" fmla="*/ 0 w 2338829"/>
              <a:gd name="connsiteY1" fmla="*/ 1128452 h 1451380"/>
              <a:gd name="connsiteX2" fmla="*/ 0 w 2338829"/>
              <a:gd name="connsiteY2" fmla="*/ 830364 h 1451380"/>
              <a:gd name="connsiteX3" fmla="*/ 634979 w 2338829"/>
              <a:gd name="connsiteY3" fmla="*/ 195385 h 1451380"/>
              <a:gd name="connsiteX4" fmla="*/ 1041751 w 2338829"/>
              <a:gd name="connsiteY4" fmla="*/ 195385 h 1451380"/>
              <a:gd name="connsiteX5" fmla="*/ 1502162 w 2338829"/>
              <a:gd name="connsiteY5" fmla="*/ 195385 h 1451380"/>
              <a:gd name="connsiteX6" fmla="*/ 1975984 w 2338829"/>
              <a:gd name="connsiteY6" fmla="*/ 195385 h 1451380"/>
              <a:gd name="connsiteX7" fmla="*/ 1975984 w 2338829"/>
              <a:gd name="connsiteY7" fmla="*/ 0 h 1451380"/>
              <a:gd name="connsiteX8" fmla="*/ 2338829 w 2338829"/>
              <a:gd name="connsiteY8" fmla="*/ 376807 h 1451380"/>
              <a:gd name="connsiteX9" fmla="*/ 1975984 w 2338829"/>
              <a:gd name="connsiteY9" fmla="*/ 753615 h 1451380"/>
              <a:gd name="connsiteX10" fmla="*/ 1975984 w 2338829"/>
              <a:gd name="connsiteY10" fmla="*/ 558230 h 1451380"/>
              <a:gd name="connsiteX11" fmla="*/ 1515572 w 2338829"/>
              <a:gd name="connsiteY11" fmla="*/ 558230 h 1451380"/>
              <a:gd name="connsiteX12" fmla="*/ 1095391 w 2338829"/>
              <a:gd name="connsiteY12" fmla="*/ 558230 h 1451380"/>
              <a:gd name="connsiteX13" fmla="*/ 634979 w 2338829"/>
              <a:gd name="connsiteY13" fmla="*/ 558230 h 1451380"/>
              <a:gd name="connsiteX14" fmla="*/ 362845 w 2338829"/>
              <a:gd name="connsiteY14" fmla="*/ 830364 h 1451380"/>
              <a:gd name="connsiteX15" fmla="*/ 362845 w 2338829"/>
              <a:gd name="connsiteY15" fmla="*/ 1140872 h 1451380"/>
              <a:gd name="connsiteX16" fmla="*/ 362845 w 2338829"/>
              <a:gd name="connsiteY16" fmla="*/ 1451380 h 1451380"/>
              <a:gd name="connsiteX17" fmla="*/ 0 w 2338829"/>
              <a:gd name="connsiteY17" fmla="*/ 1451380 h 14513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338829" h="1451380" fill="none" extrusionOk="0">
                <a:moveTo>
                  <a:pt x="0" y="1451380"/>
                </a:moveTo>
                <a:cubicBezTo>
                  <a:pt x="-31163" y="1356073"/>
                  <a:pt x="24097" y="1284160"/>
                  <a:pt x="0" y="1128452"/>
                </a:cubicBezTo>
                <a:cubicBezTo>
                  <a:pt x="-24097" y="972744"/>
                  <a:pt x="26153" y="973357"/>
                  <a:pt x="0" y="830364"/>
                </a:cubicBezTo>
                <a:cubicBezTo>
                  <a:pt x="-47848" y="539311"/>
                  <a:pt x="287002" y="187043"/>
                  <a:pt x="634979" y="195385"/>
                </a:cubicBezTo>
                <a:cubicBezTo>
                  <a:pt x="779225" y="149203"/>
                  <a:pt x="911755" y="201278"/>
                  <a:pt x="1041751" y="195385"/>
                </a:cubicBezTo>
                <a:cubicBezTo>
                  <a:pt x="1171747" y="189492"/>
                  <a:pt x="1331562" y="224176"/>
                  <a:pt x="1502162" y="195385"/>
                </a:cubicBezTo>
                <a:cubicBezTo>
                  <a:pt x="1672762" y="166594"/>
                  <a:pt x="1762656" y="229994"/>
                  <a:pt x="1975984" y="195385"/>
                </a:cubicBezTo>
                <a:cubicBezTo>
                  <a:pt x="1957312" y="140913"/>
                  <a:pt x="1981415" y="47677"/>
                  <a:pt x="1975984" y="0"/>
                </a:cubicBezTo>
                <a:cubicBezTo>
                  <a:pt x="2151165" y="93892"/>
                  <a:pt x="2191685" y="280800"/>
                  <a:pt x="2338829" y="376807"/>
                </a:cubicBezTo>
                <a:cubicBezTo>
                  <a:pt x="2212520" y="525627"/>
                  <a:pt x="2089020" y="570215"/>
                  <a:pt x="1975984" y="753615"/>
                </a:cubicBezTo>
                <a:cubicBezTo>
                  <a:pt x="1955185" y="704754"/>
                  <a:pt x="1992543" y="637217"/>
                  <a:pt x="1975984" y="558230"/>
                </a:cubicBezTo>
                <a:cubicBezTo>
                  <a:pt x="1762250" y="561278"/>
                  <a:pt x="1657754" y="549796"/>
                  <a:pt x="1515572" y="558230"/>
                </a:cubicBezTo>
                <a:cubicBezTo>
                  <a:pt x="1373390" y="566664"/>
                  <a:pt x="1182196" y="527263"/>
                  <a:pt x="1095391" y="558230"/>
                </a:cubicBezTo>
                <a:cubicBezTo>
                  <a:pt x="1008586" y="589197"/>
                  <a:pt x="817921" y="557330"/>
                  <a:pt x="634979" y="558230"/>
                </a:cubicBezTo>
                <a:cubicBezTo>
                  <a:pt x="477992" y="562551"/>
                  <a:pt x="348876" y="659161"/>
                  <a:pt x="362845" y="830364"/>
                </a:cubicBezTo>
                <a:cubicBezTo>
                  <a:pt x="392589" y="973367"/>
                  <a:pt x="336041" y="1055818"/>
                  <a:pt x="362845" y="1140872"/>
                </a:cubicBezTo>
                <a:cubicBezTo>
                  <a:pt x="389649" y="1225926"/>
                  <a:pt x="360134" y="1311614"/>
                  <a:pt x="362845" y="1451380"/>
                </a:cubicBezTo>
                <a:cubicBezTo>
                  <a:pt x="281331" y="1472668"/>
                  <a:pt x="135036" y="1432575"/>
                  <a:pt x="0" y="1451380"/>
                </a:cubicBezTo>
                <a:close/>
              </a:path>
              <a:path w="2338829" h="1451380" stroke="0" extrusionOk="0">
                <a:moveTo>
                  <a:pt x="0" y="1451380"/>
                </a:moveTo>
                <a:cubicBezTo>
                  <a:pt x="-19093" y="1307772"/>
                  <a:pt x="18007" y="1258140"/>
                  <a:pt x="0" y="1147082"/>
                </a:cubicBezTo>
                <a:cubicBezTo>
                  <a:pt x="-18007" y="1036024"/>
                  <a:pt x="37" y="942647"/>
                  <a:pt x="0" y="830364"/>
                </a:cubicBezTo>
                <a:cubicBezTo>
                  <a:pt x="-69294" y="547345"/>
                  <a:pt x="265841" y="297358"/>
                  <a:pt x="634979" y="195385"/>
                </a:cubicBezTo>
                <a:cubicBezTo>
                  <a:pt x="820158" y="168369"/>
                  <a:pt x="920119" y="240468"/>
                  <a:pt x="1055161" y="195385"/>
                </a:cubicBezTo>
                <a:cubicBezTo>
                  <a:pt x="1190203" y="150302"/>
                  <a:pt x="1379395" y="219098"/>
                  <a:pt x="1528982" y="195385"/>
                </a:cubicBezTo>
                <a:cubicBezTo>
                  <a:pt x="1678569" y="171672"/>
                  <a:pt x="1756782" y="245890"/>
                  <a:pt x="1975984" y="195385"/>
                </a:cubicBezTo>
                <a:cubicBezTo>
                  <a:pt x="1974757" y="122980"/>
                  <a:pt x="1978693" y="93905"/>
                  <a:pt x="1975984" y="0"/>
                </a:cubicBezTo>
                <a:cubicBezTo>
                  <a:pt x="2152372" y="132303"/>
                  <a:pt x="2227120" y="261012"/>
                  <a:pt x="2338829" y="376807"/>
                </a:cubicBezTo>
                <a:cubicBezTo>
                  <a:pt x="2198728" y="602587"/>
                  <a:pt x="2030317" y="634047"/>
                  <a:pt x="1975984" y="753615"/>
                </a:cubicBezTo>
                <a:cubicBezTo>
                  <a:pt x="1954003" y="669824"/>
                  <a:pt x="1982635" y="618184"/>
                  <a:pt x="1975984" y="558230"/>
                </a:cubicBezTo>
                <a:cubicBezTo>
                  <a:pt x="1885957" y="582659"/>
                  <a:pt x="1675605" y="517823"/>
                  <a:pt x="1528982" y="558230"/>
                </a:cubicBezTo>
                <a:cubicBezTo>
                  <a:pt x="1382359" y="598637"/>
                  <a:pt x="1298147" y="528477"/>
                  <a:pt x="1108801" y="558230"/>
                </a:cubicBezTo>
                <a:cubicBezTo>
                  <a:pt x="919455" y="587983"/>
                  <a:pt x="806776" y="547702"/>
                  <a:pt x="634979" y="558230"/>
                </a:cubicBezTo>
                <a:cubicBezTo>
                  <a:pt x="467257" y="522707"/>
                  <a:pt x="363775" y="667495"/>
                  <a:pt x="362845" y="830364"/>
                </a:cubicBezTo>
                <a:cubicBezTo>
                  <a:pt x="369499" y="965858"/>
                  <a:pt x="334819" y="1011103"/>
                  <a:pt x="362845" y="1147082"/>
                </a:cubicBezTo>
                <a:cubicBezTo>
                  <a:pt x="390871" y="1283061"/>
                  <a:pt x="336541" y="1319003"/>
                  <a:pt x="362845" y="1451380"/>
                </a:cubicBezTo>
                <a:cubicBezTo>
                  <a:pt x="275974" y="1488195"/>
                  <a:pt x="124314" y="1431482"/>
                  <a:pt x="0" y="1451380"/>
                </a:cubicBezTo>
                <a:close/>
              </a:path>
            </a:pathLst>
          </a:custGeom>
          <a:solidFill>
            <a:schemeClr val="accent2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06CD7F5-696D-CFCB-67BA-2212E9C0CEB3}"/>
              </a:ext>
            </a:extLst>
          </p:cNvPr>
          <p:cNvSpPr/>
          <p:nvPr/>
        </p:nvSpPr>
        <p:spPr>
          <a:xfrm>
            <a:off x="6525491" y="2780114"/>
            <a:ext cx="4568965" cy="210361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Probabilities are not necessarily transitive</a:t>
            </a:r>
          </a:p>
        </p:txBody>
      </p:sp>
    </p:spTree>
    <p:extLst>
      <p:ext uri="{BB962C8B-B14F-4D97-AF65-F5344CB8AC3E}">
        <p14:creationId xmlns:p14="http://schemas.microsoft.com/office/powerpoint/2010/main" val="27806394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21D3C-4648-2C8C-F232-C79FD82EC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2786CF2F-D813-AE52-74DE-B6456B6560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B5732CF7-0D26-1467-E210-4A077FF812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68244AE4-E7F7-A495-E517-1C82BA225CC9}"/>
              </a:ext>
            </a:extLst>
          </p:cNvPr>
          <p:cNvSpPr/>
          <p:nvPr/>
        </p:nvSpPr>
        <p:spPr>
          <a:xfrm>
            <a:off x="570379" y="31791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3BC41F2-2F96-2002-80C2-47CB5B0134BA}"/>
              </a:ext>
            </a:extLst>
          </p:cNvPr>
          <p:cNvSpPr/>
          <p:nvPr/>
        </p:nvSpPr>
        <p:spPr>
          <a:xfrm>
            <a:off x="2815571" y="219594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4743033-B953-BA42-3AB1-22C75F32A89B}"/>
              </a:ext>
            </a:extLst>
          </p:cNvPr>
          <p:cNvSpPr/>
          <p:nvPr/>
        </p:nvSpPr>
        <p:spPr>
          <a:xfrm>
            <a:off x="4398784" y="3886200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5" name="Bent Arrow 4">
            <a:extLst>
              <a:ext uri="{FF2B5EF4-FFF2-40B4-BE49-F238E27FC236}">
                <a16:creationId xmlns:a16="http://schemas.microsoft.com/office/drawing/2014/main" id="{7815C3E4-311A-19CD-84C6-EBA01E26BB29}"/>
              </a:ext>
            </a:extLst>
          </p:cNvPr>
          <p:cNvSpPr/>
          <p:nvPr/>
        </p:nvSpPr>
        <p:spPr>
          <a:xfrm>
            <a:off x="1429361" y="236569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Bent Arrow 5">
            <a:extLst>
              <a:ext uri="{FF2B5EF4-FFF2-40B4-BE49-F238E27FC236}">
                <a16:creationId xmlns:a16="http://schemas.microsoft.com/office/drawing/2014/main" id="{4075B8E4-46E0-9971-8CEB-685A8FE4E62E}"/>
              </a:ext>
            </a:extLst>
          </p:cNvPr>
          <p:cNvSpPr/>
          <p:nvPr/>
        </p:nvSpPr>
        <p:spPr>
          <a:xfrm rot="5400000">
            <a:off x="4151743" y="270391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Bent Arrow 7">
            <a:extLst>
              <a:ext uri="{FF2B5EF4-FFF2-40B4-BE49-F238E27FC236}">
                <a16:creationId xmlns:a16="http://schemas.microsoft.com/office/drawing/2014/main" id="{18628007-5DDD-6E30-3F78-6FAFFD161B79}"/>
              </a:ext>
            </a:extLst>
          </p:cNvPr>
          <p:cNvSpPr/>
          <p:nvPr/>
        </p:nvSpPr>
        <p:spPr>
          <a:xfrm rot="13290293">
            <a:off x="1671075" y="4036838"/>
            <a:ext cx="2338829" cy="1451380"/>
          </a:xfrm>
          <a:custGeom>
            <a:avLst/>
            <a:gdLst>
              <a:gd name="connsiteX0" fmla="*/ 0 w 2338829"/>
              <a:gd name="connsiteY0" fmla="*/ 1451380 h 1451380"/>
              <a:gd name="connsiteX1" fmla="*/ 0 w 2338829"/>
              <a:gd name="connsiteY1" fmla="*/ 1128452 h 1451380"/>
              <a:gd name="connsiteX2" fmla="*/ 0 w 2338829"/>
              <a:gd name="connsiteY2" fmla="*/ 830364 h 1451380"/>
              <a:gd name="connsiteX3" fmla="*/ 634979 w 2338829"/>
              <a:gd name="connsiteY3" fmla="*/ 195385 h 1451380"/>
              <a:gd name="connsiteX4" fmla="*/ 1041751 w 2338829"/>
              <a:gd name="connsiteY4" fmla="*/ 195385 h 1451380"/>
              <a:gd name="connsiteX5" fmla="*/ 1502162 w 2338829"/>
              <a:gd name="connsiteY5" fmla="*/ 195385 h 1451380"/>
              <a:gd name="connsiteX6" fmla="*/ 1975984 w 2338829"/>
              <a:gd name="connsiteY6" fmla="*/ 195385 h 1451380"/>
              <a:gd name="connsiteX7" fmla="*/ 1975984 w 2338829"/>
              <a:gd name="connsiteY7" fmla="*/ 0 h 1451380"/>
              <a:gd name="connsiteX8" fmla="*/ 2338829 w 2338829"/>
              <a:gd name="connsiteY8" fmla="*/ 376807 h 1451380"/>
              <a:gd name="connsiteX9" fmla="*/ 1975984 w 2338829"/>
              <a:gd name="connsiteY9" fmla="*/ 753615 h 1451380"/>
              <a:gd name="connsiteX10" fmla="*/ 1975984 w 2338829"/>
              <a:gd name="connsiteY10" fmla="*/ 558230 h 1451380"/>
              <a:gd name="connsiteX11" fmla="*/ 1515572 w 2338829"/>
              <a:gd name="connsiteY11" fmla="*/ 558230 h 1451380"/>
              <a:gd name="connsiteX12" fmla="*/ 1095391 w 2338829"/>
              <a:gd name="connsiteY12" fmla="*/ 558230 h 1451380"/>
              <a:gd name="connsiteX13" fmla="*/ 634979 w 2338829"/>
              <a:gd name="connsiteY13" fmla="*/ 558230 h 1451380"/>
              <a:gd name="connsiteX14" fmla="*/ 362845 w 2338829"/>
              <a:gd name="connsiteY14" fmla="*/ 830364 h 1451380"/>
              <a:gd name="connsiteX15" fmla="*/ 362845 w 2338829"/>
              <a:gd name="connsiteY15" fmla="*/ 1140872 h 1451380"/>
              <a:gd name="connsiteX16" fmla="*/ 362845 w 2338829"/>
              <a:gd name="connsiteY16" fmla="*/ 1451380 h 1451380"/>
              <a:gd name="connsiteX17" fmla="*/ 0 w 2338829"/>
              <a:gd name="connsiteY17" fmla="*/ 1451380 h 14513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338829" h="1451380" fill="none" extrusionOk="0">
                <a:moveTo>
                  <a:pt x="0" y="1451380"/>
                </a:moveTo>
                <a:cubicBezTo>
                  <a:pt x="-31163" y="1356073"/>
                  <a:pt x="24097" y="1284160"/>
                  <a:pt x="0" y="1128452"/>
                </a:cubicBezTo>
                <a:cubicBezTo>
                  <a:pt x="-24097" y="972744"/>
                  <a:pt x="26153" y="973357"/>
                  <a:pt x="0" y="830364"/>
                </a:cubicBezTo>
                <a:cubicBezTo>
                  <a:pt x="-47848" y="539311"/>
                  <a:pt x="287002" y="187043"/>
                  <a:pt x="634979" y="195385"/>
                </a:cubicBezTo>
                <a:cubicBezTo>
                  <a:pt x="779225" y="149203"/>
                  <a:pt x="911755" y="201278"/>
                  <a:pt x="1041751" y="195385"/>
                </a:cubicBezTo>
                <a:cubicBezTo>
                  <a:pt x="1171747" y="189492"/>
                  <a:pt x="1331562" y="224176"/>
                  <a:pt x="1502162" y="195385"/>
                </a:cubicBezTo>
                <a:cubicBezTo>
                  <a:pt x="1672762" y="166594"/>
                  <a:pt x="1762656" y="229994"/>
                  <a:pt x="1975984" y="195385"/>
                </a:cubicBezTo>
                <a:cubicBezTo>
                  <a:pt x="1957312" y="140913"/>
                  <a:pt x="1981415" y="47677"/>
                  <a:pt x="1975984" y="0"/>
                </a:cubicBezTo>
                <a:cubicBezTo>
                  <a:pt x="2151165" y="93892"/>
                  <a:pt x="2191685" y="280800"/>
                  <a:pt x="2338829" y="376807"/>
                </a:cubicBezTo>
                <a:cubicBezTo>
                  <a:pt x="2212520" y="525627"/>
                  <a:pt x="2089020" y="570215"/>
                  <a:pt x="1975984" y="753615"/>
                </a:cubicBezTo>
                <a:cubicBezTo>
                  <a:pt x="1955185" y="704754"/>
                  <a:pt x="1992543" y="637217"/>
                  <a:pt x="1975984" y="558230"/>
                </a:cubicBezTo>
                <a:cubicBezTo>
                  <a:pt x="1762250" y="561278"/>
                  <a:pt x="1657754" y="549796"/>
                  <a:pt x="1515572" y="558230"/>
                </a:cubicBezTo>
                <a:cubicBezTo>
                  <a:pt x="1373390" y="566664"/>
                  <a:pt x="1182196" y="527263"/>
                  <a:pt x="1095391" y="558230"/>
                </a:cubicBezTo>
                <a:cubicBezTo>
                  <a:pt x="1008586" y="589197"/>
                  <a:pt x="817921" y="557330"/>
                  <a:pt x="634979" y="558230"/>
                </a:cubicBezTo>
                <a:cubicBezTo>
                  <a:pt x="477992" y="562551"/>
                  <a:pt x="348876" y="659161"/>
                  <a:pt x="362845" y="830364"/>
                </a:cubicBezTo>
                <a:cubicBezTo>
                  <a:pt x="392589" y="973367"/>
                  <a:pt x="336041" y="1055818"/>
                  <a:pt x="362845" y="1140872"/>
                </a:cubicBezTo>
                <a:cubicBezTo>
                  <a:pt x="389649" y="1225926"/>
                  <a:pt x="360134" y="1311614"/>
                  <a:pt x="362845" y="1451380"/>
                </a:cubicBezTo>
                <a:cubicBezTo>
                  <a:pt x="281331" y="1472668"/>
                  <a:pt x="135036" y="1432575"/>
                  <a:pt x="0" y="1451380"/>
                </a:cubicBezTo>
                <a:close/>
              </a:path>
              <a:path w="2338829" h="1451380" stroke="0" extrusionOk="0">
                <a:moveTo>
                  <a:pt x="0" y="1451380"/>
                </a:moveTo>
                <a:cubicBezTo>
                  <a:pt x="-19093" y="1307772"/>
                  <a:pt x="18007" y="1258140"/>
                  <a:pt x="0" y="1147082"/>
                </a:cubicBezTo>
                <a:cubicBezTo>
                  <a:pt x="-18007" y="1036024"/>
                  <a:pt x="37" y="942647"/>
                  <a:pt x="0" y="830364"/>
                </a:cubicBezTo>
                <a:cubicBezTo>
                  <a:pt x="-69294" y="547345"/>
                  <a:pt x="265841" y="297358"/>
                  <a:pt x="634979" y="195385"/>
                </a:cubicBezTo>
                <a:cubicBezTo>
                  <a:pt x="820158" y="168369"/>
                  <a:pt x="920119" y="240468"/>
                  <a:pt x="1055161" y="195385"/>
                </a:cubicBezTo>
                <a:cubicBezTo>
                  <a:pt x="1190203" y="150302"/>
                  <a:pt x="1379395" y="219098"/>
                  <a:pt x="1528982" y="195385"/>
                </a:cubicBezTo>
                <a:cubicBezTo>
                  <a:pt x="1678569" y="171672"/>
                  <a:pt x="1756782" y="245890"/>
                  <a:pt x="1975984" y="195385"/>
                </a:cubicBezTo>
                <a:cubicBezTo>
                  <a:pt x="1974757" y="122980"/>
                  <a:pt x="1978693" y="93905"/>
                  <a:pt x="1975984" y="0"/>
                </a:cubicBezTo>
                <a:cubicBezTo>
                  <a:pt x="2152372" y="132303"/>
                  <a:pt x="2227120" y="261012"/>
                  <a:pt x="2338829" y="376807"/>
                </a:cubicBezTo>
                <a:cubicBezTo>
                  <a:pt x="2198728" y="602587"/>
                  <a:pt x="2030317" y="634047"/>
                  <a:pt x="1975984" y="753615"/>
                </a:cubicBezTo>
                <a:cubicBezTo>
                  <a:pt x="1954003" y="669824"/>
                  <a:pt x="1982635" y="618184"/>
                  <a:pt x="1975984" y="558230"/>
                </a:cubicBezTo>
                <a:cubicBezTo>
                  <a:pt x="1885957" y="582659"/>
                  <a:pt x="1675605" y="517823"/>
                  <a:pt x="1528982" y="558230"/>
                </a:cubicBezTo>
                <a:cubicBezTo>
                  <a:pt x="1382359" y="598637"/>
                  <a:pt x="1298147" y="528477"/>
                  <a:pt x="1108801" y="558230"/>
                </a:cubicBezTo>
                <a:cubicBezTo>
                  <a:pt x="919455" y="587983"/>
                  <a:pt x="806776" y="547702"/>
                  <a:pt x="634979" y="558230"/>
                </a:cubicBezTo>
                <a:cubicBezTo>
                  <a:pt x="467257" y="522707"/>
                  <a:pt x="363775" y="667495"/>
                  <a:pt x="362845" y="830364"/>
                </a:cubicBezTo>
                <a:cubicBezTo>
                  <a:pt x="369499" y="965858"/>
                  <a:pt x="334819" y="1011103"/>
                  <a:pt x="362845" y="1147082"/>
                </a:cubicBezTo>
                <a:cubicBezTo>
                  <a:pt x="390871" y="1283061"/>
                  <a:pt x="336541" y="1319003"/>
                  <a:pt x="362845" y="1451380"/>
                </a:cubicBezTo>
                <a:cubicBezTo>
                  <a:pt x="275974" y="1488195"/>
                  <a:pt x="124314" y="1431482"/>
                  <a:pt x="0" y="1451380"/>
                </a:cubicBezTo>
                <a:close/>
              </a:path>
            </a:pathLst>
          </a:custGeom>
          <a:solidFill>
            <a:schemeClr val="accent2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74F73B2-5679-07D3-A43A-B8DD18D5C9F6}"/>
              </a:ext>
            </a:extLst>
          </p:cNvPr>
          <p:cNvSpPr/>
          <p:nvPr/>
        </p:nvSpPr>
        <p:spPr>
          <a:xfrm>
            <a:off x="6774874" y="3686660"/>
            <a:ext cx="3602182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necessarily transitive!</a:t>
            </a:r>
          </a:p>
        </p:txBody>
      </p:sp>
      <p:sp>
        <p:nvSpPr>
          <p:cNvPr id="4" name="&quot;No&quot; Symbol 3">
            <a:extLst>
              <a:ext uri="{FF2B5EF4-FFF2-40B4-BE49-F238E27FC236}">
                <a16:creationId xmlns:a16="http://schemas.microsoft.com/office/drawing/2014/main" id="{DC2D8271-AD2F-ABB7-CFFF-BABDA301EC27}"/>
              </a:ext>
            </a:extLst>
          </p:cNvPr>
          <p:cNvSpPr/>
          <p:nvPr/>
        </p:nvSpPr>
        <p:spPr>
          <a:xfrm>
            <a:off x="2025107" y="4368040"/>
            <a:ext cx="1369258" cy="1243051"/>
          </a:xfrm>
          <a:prstGeom prst="noSmok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CF0E818-F29F-BF0A-A4D5-04E58E2B267E}"/>
              </a:ext>
            </a:extLst>
          </p:cNvPr>
          <p:cNvSpPr/>
          <p:nvPr/>
        </p:nvSpPr>
        <p:spPr>
          <a:xfrm>
            <a:off x="6096000" y="2228634"/>
            <a:ext cx="4237148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Gaussian-distributed errors</a:t>
            </a:r>
          </a:p>
        </p:txBody>
      </p:sp>
    </p:spTree>
    <p:extLst>
      <p:ext uri="{BB962C8B-B14F-4D97-AF65-F5344CB8AC3E}">
        <p14:creationId xmlns:p14="http://schemas.microsoft.com/office/powerpoint/2010/main" val="3427165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62D835-6EC9-09BC-1450-35EDBAF9D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641B629-6791-10F9-C913-C6FFA1140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48F6B94-EDF5-3AA4-414C-8237277C4B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E47311-E01C-F9BA-D2ED-CD570AC22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CA0C71B-849B-972F-CD06-FD04EF311B02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7C8B318-28EE-7EBF-3D2F-2F817CF748A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556DD1C-9F22-0FD8-9225-BEC3E86CBEC8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1557C94-022C-B191-4052-D66F98B6299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3F916E4-457F-22CA-B453-520471D86B7B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782916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7DE859-2139-8458-7BDF-C2A9E5D7DCD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485067B-724D-8A63-066B-79714ADE266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C5CF6B0-3AEE-4A39-B118-0F8762BCB5B9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2A91347-0717-DD8E-B507-572CA798173A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A9B5538-1526-4B6F-56B5-24BB7DF5A034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2CBF3630-4A52-4428-57FD-B8C67A7D3F5D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4C30EAF-6CB1-3938-851B-EBA91987E38A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0E931E9-0D6F-2A2F-743F-B5273E806EE6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A0FD426A-32C1-DD30-166F-BB4876EB6ABD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6D4BDCC-832A-38B9-3849-41E5044394AF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46185CC-48DB-DF6F-B162-49938C1D9FF1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05C872CF-9A72-8AD0-765F-85653B8820B1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8081B9B-605D-2A23-9BE3-ED5083DC5212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50D81D-A232-E765-E9AF-95C972F971CB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D9531940-13B7-2E28-E144-0A46DF1E438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6E7CB78-1A6E-F1D4-2169-FD38CF2D7435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94F6149-B47E-14C6-E476-C5E0E2FFA04D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AEE2991-B4EE-DBC3-4AD1-A2015AE82FBF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Each client: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D96C21-4057-C096-874D-564109EB9764}"/>
              </a:ext>
            </a:extLst>
          </p:cNvPr>
          <p:cNvSpPr txBox="1"/>
          <p:nvPr/>
        </p:nvSpPr>
        <p:spPr>
          <a:xfrm>
            <a:off x="3645876" y="2919173"/>
            <a:ext cx="8048818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Generates a message at time 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Samples an error from the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Adds error to t to get a simulated observed time t’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t’ and seeded distributions are shared with the sequencer</a:t>
            </a:r>
          </a:p>
          <a:p>
            <a:endParaRPr lang="en-US" sz="2800" dirty="0"/>
          </a:p>
          <a:p>
            <a:r>
              <a:rPr lang="en-US" sz="2800" dirty="0"/>
              <a:t>A parameter “step” defines inter-message generation gap across clients</a:t>
            </a:r>
          </a:p>
        </p:txBody>
      </p:sp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9" grpId="0" animBg="1"/>
      <p:bldP spid="22" grpId="0" animBg="1"/>
      <p:bldP spid="25" grpId="0" animBg="1"/>
      <p:bldP spid="28" grpId="0"/>
      <p:bldP spid="29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093CB-1FA2-146A-1409-2545E50AE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68C5F-E6D6-7E43-3741-3ADEB9C62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05F22E1-9FD0-B6B3-F1DE-DBCF3537AA1F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A369DB1-BFB4-4466-748B-35D92492A2B7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D4EC7BA-AB9B-67AF-240B-E7E1DC8EE2BD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48F988-9FCB-31DD-9547-75DEA9787AC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61A03E4-81A9-01FD-7086-9884671A81F5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6A7B64F5-83CB-2B4F-79B1-688EE894AB6E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D639712-066C-384F-F464-5AB763472FE9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BC97D17-0D45-418D-50B7-9F0578F3D390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C9A6D07A-C8E5-91AF-7A53-66F830D0ACA6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E613752-9E6F-88D4-9330-C98F0501B1CA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2D8D513-E734-4D5B-01F2-CF91EFCAC93D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C0126959-A6D7-D7DD-2FCD-E3D0174114F8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828B17E-1E11-9BFC-1C04-B17770654AFB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06F3C19-7A06-6AAA-92F6-0B94065892A1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FD583AF2-BCA6-DF23-719B-2798EEC63D92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244BD63-CAC7-90B5-442F-59863557E06D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7EAA5CD-755A-ED66-4BD5-6E3B668BF4A1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D55F715-F677-DC07-020A-B4060AB34EDD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Sequencer: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4BBF09-D606-EBD0-62ED-5394E86C5F1C}"/>
              </a:ext>
            </a:extLst>
          </p:cNvPr>
          <p:cNvSpPr txBox="1"/>
          <p:nvPr/>
        </p:nvSpPr>
        <p:spPr>
          <a:xfrm>
            <a:off x="3645876" y="3009939"/>
            <a:ext cx="713231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Gathers observed timestamps from clients and their distributions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 Applies statistical model to figure out fair order of messages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Actual timestamps are collected from clients to construct ground truth</a:t>
            </a:r>
          </a:p>
        </p:txBody>
      </p:sp>
    </p:spTree>
    <p:extLst>
      <p:ext uri="{BB962C8B-B14F-4D97-AF65-F5344CB8AC3E}">
        <p14:creationId xmlns:p14="http://schemas.microsoft.com/office/powerpoint/2010/main" val="1352375426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F604E-4439-624D-18FB-E754CC42E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B2362-A80C-B368-A93F-E21E748DC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45EEA0F-223C-473E-53E3-41A39ED7AF5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5D5E8DC-4025-BBEF-226F-97037938E295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9388DA4-9886-6FEF-79BD-631932F0AD9B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74A5A12-0743-D361-FFC7-0487A760CD4F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44865A6-9CEE-245F-CC13-7E19222483CA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A6A8CBD8-069B-18C4-7CB3-D38DFCEEF2E2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DF5D7E7-35F0-C9BA-6AC2-FB7E1B0AFC62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4925899-A5AE-FDAF-39DE-80E23FB6C4BB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2C52B8AD-B585-AE4E-8E0A-5D0FC4601358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A799E28-F6FB-9B2E-4F79-83C2B844849E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63F438B-4BFE-F447-1DB4-4A0D5088FAAB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17A3D33B-F90B-2282-C3B1-8EFC90EAF8B2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31C53F7-B64C-FFFC-1860-782C5F20FBD3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E92A5AB-81E0-1840-259F-18D7F4D1B01A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2578F5D2-9ABB-1390-8522-A3CE5E09232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A3CD8C2-8892-B0BC-21D4-346678A78AC3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B03D991-D64E-DE88-E006-39727A1EE3CC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E1166A1-9453-6AE3-DC7B-5DDF5263EDB5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Baseline: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33A42F-B00E-D9BF-A795-9088C5653567}"/>
              </a:ext>
            </a:extLst>
          </p:cNvPr>
          <p:cNvSpPr txBox="1"/>
          <p:nvPr/>
        </p:nvSpPr>
        <p:spPr>
          <a:xfrm>
            <a:off x="3645875" y="3009939"/>
            <a:ext cx="804881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Use Spanner’s </a:t>
            </a:r>
            <a:r>
              <a:rPr lang="en-US" sz="2800" dirty="0" err="1"/>
              <a:t>TrueTime</a:t>
            </a:r>
            <a:r>
              <a:rPr lang="en-US" sz="2800" dirty="0"/>
              <a:t> API to represent each observed timestamp as an interval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Two non-overlapping intervals can be ordered perfectly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Two overlapping intervals are left unordered i.e., given the same sequence number</a:t>
            </a:r>
          </a:p>
        </p:txBody>
      </p:sp>
    </p:spTree>
    <p:extLst>
      <p:ext uri="{BB962C8B-B14F-4D97-AF65-F5344CB8AC3E}">
        <p14:creationId xmlns:p14="http://schemas.microsoft.com/office/powerpoint/2010/main" val="2623827639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DC16B3-3DE4-F97E-4FFA-C7A3A94CE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96A9FA-8BDE-4BE3-ADD5-C04A6E4A8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7D107D-58AB-6E2A-1542-E8379E186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14EEDC-67F4-B7ED-3366-2B8EB49D7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033FD85-B964-3D8A-1AFA-40ADD1E92CA1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5E2DDA4-7558-1055-535D-F6CB5F2AD1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7B803A2-98E3-3A3F-5A7B-BCCDB17B9CFD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6" name="Right Arrow 5">
            <a:extLst>
              <a:ext uri="{FF2B5EF4-FFF2-40B4-BE49-F238E27FC236}">
                <a16:creationId xmlns:a16="http://schemas.microsoft.com/office/drawing/2014/main" id="{D1947DDF-F866-DA3A-3714-D61FB111E971}"/>
              </a:ext>
            </a:extLst>
          </p:cNvPr>
          <p:cNvSpPr/>
          <p:nvPr/>
        </p:nvSpPr>
        <p:spPr>
          <a:xfrm>
            <a:off x="2103118" y="2935706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A90170-232A-CE66-9123-1CC54A91C061}"/>
              </a:ext>
            </a:extLst>
          </p:cNvPr>
          <p:cNvSpPr txBox="1"/>
          <p:nvPr/>
        </p:nvSpPr>
        <p:spPr>
          <a:xfrm>
            <a:off x="3614284" y="2529038"/>
            <a:ext cx="81328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For each correctly ordered pair of messages </a:t>
            </a:r>
            <a:r>
              <a:rPr lang="en-US" sz="2400" dirty="0">
                <a:sym typeface="Wingdings" pitchFamily="2" charset="2"/>
              </a:rPr>
              <a:t> +1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each incorrect  -1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a pair left unordered  +0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Normalize by total pairs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2328915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254A7E-0442-685F-E889-BA6F8515C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EE4010F-603E-A684-0FC8-B97D0C132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A4B245C-9908-C47C-D9C4-167AFBF890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FB5CF1-6F84-C5F8-05BE-F95A4700C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325624-4F55-F997-171B-C1FB4B0E5F8E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AF3E0EE-BCA3-B1D5-7AD2-479725F385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D01F68D-E6D4-256D-57EB-77FAB94B31BD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8" name="Right Arrow 7">
            <a:extLst>
              <a:ext uri="{FF2B5EF4-FFF2-40B4-BE49-F238E27FC236}">
                <a16:creationId xmlns:a16="http://schemas.microsoft.com/office/drawing/2014/main" id="{BB58A659-1893-0231-D924-0C9350BD3CAF}"/>
              </a:ext>
            </a:extLst>
          </p:cNvPr>
          <p:cNvSpPr/>
          <p:nvPr/>
        </p:nvSpPr>
        <p:spPr>
          <a:xfrm rot="16200000">
            <a:off x="5884244" y="4793382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3FFBB8-5FB1-E27C-75B4-BF828C004F73}"/>
              </a:ext>
            </a:extLst>
          </p:cNvPr>
          <p:cNvSpPr txBox="1"/>
          <p:nvPr/>
        </p:nvSpPr>
        <p:spPr>
          <a:xfrm>
            <a:off x="5013157" y="3415761"/>
            <a:ext cx="37249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Error distributions seeded to the clients</a:t>
            </a:r>
          </a:p>
        </p:txBody>
      </p:sp>
    </p:spTree>
    <p:extLst>
      <p:ext uri="{BB962C8B-B14F-4D97-AF65-F5344CB8AC3E}">
        <p14:creationId xmlns:p14="http://schemas.microsoft.com/office/powerpoint/2010/main" val="1915962349"/>
      </p:ext>
    </p:extLst>
  </p:cSld>
  <p:clrMapOvr>
    <a:masterClrMapping/>
  </p:clrMapOvr>
  <p:transition spd="slow">
    <p:strips dir="ru"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7DF07E-329C-5792-1D24-C80D6063D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7D6A073-3A4A-95A8-2783-4D6D35EBDC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8AFD71A-AF85-C453-C57A-4AEC1C7B21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BE4CEF-DFBC-B15C-22E1-4FB696960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3B84FB2-E5BC-56E4-9325-6F77467E92C5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9A7C782-25AA-09FC-E851-0059F82CF6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86182AC-F838-98B7-FC48-13202D4B1E43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6" name="Oval 5">
            <a:extLst>
              <a:ext uri="{FF2B5EF4-FFF2-40B4-BE49-F238E27FC236}">
                <a16:creationId xmlns:a16="http://schemas.microsoft.com/office/drawing/2014/main" id="{DE1AB91A-2CAB-4BE2-D636-7739DAE80E42}"/>
              </a:ext>
            </a:extLst>
          </p:cNvPr>
          <p:cNvSpPr/>
          <p:nvPr/>
        </p:nvSpPr>
        <p:spPr>
          <a:xfrm>
            <a:off x="3869355" y="3012707"/>
            <a:ext cx="394636" cy="375385"/>
          </a:xfrm>
          <a:prstGeom prst="ellipse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9A8C211-4699-8D8B-8C45-E379734DF1D9}"/>
              </a:ext>
            </a:extLst>
          </p:cNvPr>
          <p:cNvSpPr/>
          <p:nvPr/>
        </p:nvSpPr>
        <p:spPr>
          <a:xfrm>
            <a:off x="3946357" y="3585315"/>
            <a:ext cx="317634" cy="275064"/>
          </a:xfrm>
          <a:prstGeom prst="ellips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FB962BC-9EF9-A7D3-5468-EB1610092349}"/>
              </a:ext>
            </a:extLst>
          </p:cNvPr>
          <p:cNvSpPr/>
          <p:nvPr/>
        </p:nvSpPr>
        <p:spPr>
          <a:xfrm>
            <a:off x="4004109" y="4057603"/>
            <a:ext cx="192506" cy="143823"/>
          </a:xfrm>
          <a:prstGeom prst="ellipse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35D6FE-165F-E5B1-A330-BA08D32BFAB8}"/>
              </a:ext>
            </a:extLst>
          </p:cNvPr>
          <p:cNvSpPr txBox="1"/>
          <p:nvPr/>
        </p:nvSpPr>
        <p:spPr>
          <a:xfrm>
            <a:off x="4585877" y="3023216"/>
            <a:ext cx="243374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Color intensity and the size of the marker is proportional to the “step” parameter</a:t>
            </a:r>
          </a:p>
        </p:txBody>
      </p:sp>
    </p:spTree>
    <p:extLst>
      <p:ext uri="{BB962C8B-B14F-4D97-AF65-F5344CB8AC3E}">
        <p14:creationId xmlns:p14="http://schemas.microsoft.com/office/powerpoint/2010/main" val="2775123578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1" grpId="0" animBg="1"/>
      <p:bldP spid="13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13B0C7-DE31-1FD1-1E7F-EAA6F26C8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69E351A-1EA9-E419-FBBE-E74C2D7A5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DFB3440-5036-6F88-B061-8948C73E9A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E7CA1B-3E62-8B97-CCA6-E33D598E9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D25C1D2-F146-9553-E49C-8023E024A674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17E88F6-936A-29C5-038D-ADE2A976C9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DD5C133-DA23-4A80-D791-5F32000349E4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9119001"/>
      </p:ext>
    </p:extLst>
  </p:cSld>
  <p:clrMapOvr>
    <a:masterClrMapping/>
  </p:clrMapOvr>
  <p:transition spd="slow">
    <p:strips dir="ru"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99358C-9533-6846-1B39-2F0AF71B8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238B5D9-032D-39F5-DB15-A8F4737BF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832826D-FAA0-68AA-E9F0-366022D19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79371C-3BA6-A148-AF96-A3F1DC3F10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5BC9CF0-AB5E-0DDE-B57C-0C5A8F5A5BC6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B7B1CF8-50C0-DED4-E477-DD76AD0E76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014D615-AF36-C1C7-72FE-07EFF1301DB9}"/>
                </a:ext>
              </a:extLst>
            </p:cNvPr>
            <p:cNvSpPr/>
            <p:nvPr/>
          </p:nvSpPr>
          <p:spPr>
            <a:xfrm>
              <a:off x="2810577" y="2577920"/>
              <a:ext cx="6708808" cy="276410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D01281D6-F490-E56A-53D7-50AB5FD61C8D}"/>
              </a:ext>
            </a:extLst>
          </p:cNvPr>
          <p:cNvSpPr/>
          <p:nvPr/>
        </p:nvSpPr>
        <p:spPr>
          <a:xfrm>
            <a:off x="2810575" y="2046948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385A98F-6F10-C2DB-9882-6FC6432905BA}"/>
              </a:ext>
            </a:extLst>
          </p:cNvPr>
          <p:cNvSpPr/>
          <p:nvPr/>
        </p:nvSpPr>
        <p:spPr>
          <a:xfrm>
            <a:off x="2810575" y="2031392"/>
            <a:ext cx="317634" cy="275064"/>
          </a:xfrm>
          <a:prstGeom prst="ellips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4097315"/>
      </p:ext>
    </p:extLst>
  </p:cSld>
  <p:clrMapOvr>
    <a:masterClrMapping/>
  </p:clrMapOvr>
  <p:transition spd="slow">
    <p:strips dir="ru"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5437E4-2FE6-6E36-7E89-2B2149130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49B65DDB-D903-E8C3-A4AC-EB982C64E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4EA869F-E5E9-4F94-DE1C-CC9AD3ED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42F935-1E67-8746-9491-7B0A70407A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57F47D-E945-9AD4-5E51-5BEC258C93E1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0B71B35-1D5D-A81E-ADC9-3C7BA3191D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6311690-5F43-B7BD-58DE-B1C11B758242}"/>
                </a:ext>
              </a:extLst>
            </p:cNvPr>
            <p:cNvSpPr/>
            <p:nvPr/>
          </p:nvSpPr>
          <p:spPr>
            <a:xfrm>
              <a:off x="2810577" y="2577920"/>
              <a:ext cx="6708808" cy="276410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128E202C-6189-5135-085F-C76A3AF285FC}"/>
              </a:ext>
            </a:extLst>
          </p:cNvPr>
          <p:cNvSpPr/>
          <p:nvPr/>
        </p:nvSpPr>
        <p:spPr>
          <a:xfrm>
            <a:off x="2823409" y="2046949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512B53F-B83F-84FA-8BB4-E180E82DF8EA}"/>
              </a:ext>
            </a:extLst>
          </p:cNvPr>
          <p:cNvSpPr/>
          <p:nvPr/>
        </p:nvSpPr>
        <p:spPr>
          <a:xfrm>
            <a:off x="2810575" y="2020835"/>
            <a:ext cx="317634" cy="275064"/>
          </a:xfrm>
          <a:prstGeom prst="ellips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5-Point Star 7">
            <a:extLst>
              <a:ext uri="{FF2B5EF4-FFF2-40B4-BE49-F238E27FC236}">
                <a16:creationId xmlns:a16="http://schemas.microsoft.com/office/drawing/2014/main" id="{24D51665-99AA-A07E-A26B-F238A6E62798}"/>
              </a:ext>
            </a:extLst>
          </p:cNvPr>
          <p:cNvSpPr/>
          <p:nvPr/>
        </p:nvSpPr>
        <p:spPr>
          <a:xfrm>
            <a:off x="2823409" y="2001535"/>
            <a:ext cx="304800" cy="297874"/>
          </a:xfrm>
          <a:prstGeom prst="star5">
            <a:avLst/>
          </a:pr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BF17E1A-C04A-67D6-0467-42B3FFEADCB1}"/>
              </a:ext>
            </a:extLst>
          </p:cNvPr>
          <p:cNvSpPr/>
          <p:nvPr/>
        </p:nvSpPr>
        <p:spPr>
          <a:xfrm>
            <a:off x="3141043" y="2102806"/>
            <a:ext cx="317634" cy="275064"/>
          </a:xfrm>
          <a:prstGeom prst="ellips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5-Point Star 13">
            <a:extLst>
              <a:ext uri="{FF2B5EF4-FFF2-40B4-BE49-F238E27FC236}">
                <a16:creationId xmlns:a16="http://schemas.microsoft.com/office/drawing/2014/main" id="{68A51197-B7E0-45DB-A5AC-AFCC73D44B18}"/>
              </a:ext>
            </a:extLst>
          </p:cNvPr>
          <p:cNvSpPr/>
          <p:nvPr/>
        </p:nvSpPr>
        <p:spPr>
          <a:xfrm>
            <a:off x="3153877" y="2723347"/>
            <a:ext cx="304800" cy="297874"/>
          </a:xfrm>
          <a:prstGeom prst="star5">
            <a:avLst/>
          </a:pr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C2B708B-84F5-05FC-5417-1378C252D929}"/>
              </a:ext>
            </a:extLst>
          </p:cNvPr>
          <p:cNvSpPr/>
          <p:nvPr/>
        </p:nvSpPr>
        <p:spPr>
          <a:xfrm>
            <a:off x="3207326" y="2442572"/>
            <a:ext cx="185068" cy="180750"/>
          </a:xfrm>
          <a:prstGeom prst="ellips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6" name="5-Point Star 15">
            <a:extLst>
              <a:ext uri="{FF2B5EF4-FFF2-40B4-BE49-F238E27FC236}">
                <a16:creationId xmlns:a16="http://schemas.microsoft.com/office/drawing/2014/main" id="{2602C79D-78F4-5D4E-99DD-C51053456B21}"/>
              </a:ext>
            </a:extLst>
          </p:cNvPr>
          <p:cNvSpPr/>
          <p:nvPr/>
        </p:nvSpPr>
        <p:spPr>
          <a:xfrm>
            <a:off x="3153877" y="4075539"/>
            <a:ext cx="238517" cy="191661"/>
          </a:xfrm>
          <a:prstGeom prst="star5">
            <a:avLst/>
          </a:prstGeom>
          <a:noFill/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20089901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4" grpId="0" animBg="1"/>
      <p:bldP spid="15" grpId="0" animBg="1"/>
      <p:bldP spid="16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1767CC-5AF3-9D9F-71DF-DCCB68F4D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0C9A053-1D45-34B0-812C-849C0DAD41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C32B40F-E5C9-E9D6-9E83-555E640D92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DD139F-2934-16C2-B913-044259FD1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FF48D1-FDA3-E626-8611-A275220FD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760" y="1854746"/>
            <a:ext cx="8132880" cy="4508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803325"/>
      </p:ext>
    </p:extLst>
  </p:cSld>
  <p:clrMapOvr>
    <a:masterClrMapping/>
  </p:clrMapOvr>
  <p:transition spd="slow">
    <p:strips dir="ru"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430DB-EFD4-794A-52D3-83D77D834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C4DE2-C60D-E25B-3D97-40969914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717AA-99FC-3FBA-14DA-A906FAD10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Online sequencing</a:t>
            </a:r>
          </a:p>
          <a:p>
            <a:pPr lvl="1"/>
            <a:r>
              <a:rPr lang="en-US" dirty="0"/>
              <a:t>How can a sequencer be sure that no new message will arrive that requires a lower sequence number?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 for cyclic probabilities</a:t>
            </a:r>
          </a:p>
          <a:p>
            <a:pPr lvl="1"/>
            <a:r>
              <a:rPr lang="en-US" dirty="0"/>
              <a:t>Make a graph acyclic by removing some edges</a:t>
            </a:r>
          </a:p>
          <a:p>
            <a:pPr lvl="2"/>
            <a:r>
              <a:rPr lang="en-US" dirty="0"/>
              <a:t>Unfair towards some clients</a:t>
            </a:r>
          </a:p>
          <a:p>
            <a:pPr lvl="1"/>
            <a:r>
              <a:rPr lang="en-US" dirty="0"/>
              <a:t>Attempt to balance out unfairness over some time horizon</a:t>
            </a:r>
          </a:p>
          <a:p>
            <a:r>
              <a:rPr lang="en-US" dirty="0"/>
              <a:t>Byzantine clients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7420A6-35BF-6875-7585-5EADE4610EE9}"/>
              </a:ext>
            </a:extLst>
          </p:cNvPr>
          <p:cNvSpPr/>
          <p:nvPr/>
        </p:nvSpPr>
        <p:spPr>
          <a:xfrm>
            <a:off x="1689096" y="5253633"/>
            <a:ext cx="821686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Thanks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2393909504"/>
      </p:ext>
    </p:extLst>
  </p:cSld>
  <p:clrMapOvr>
    <a:masterClrMapping/>
  </p:clrMapOvr>
  <p:transition spd="slow"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2057</TotalTime>
  <Words>974</Words>
  <Application>Microsoft Macintosh PowerPoint</Application>
  <PresentationFormat>Widescreen</PresentationFormat>
  <Paragraphs>219</Paragraphs>
  <Slides>45</Slides>
  <Notes>2</Notes>
  <HiddenSlides>6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2" baseType="lpstr">
      <vt:lpstr>Aptos</vt:lpstr>
      <vt:lpstr>Aptos Display</vt:lpstr>
      <vt:lpstr>Arial</vt:lpstr>
      <vt:lpstr>Calibri</vt:lpstr>
      <vt:lpstr>Mistral</vt:lpstr>
      <vt:lpstr>Wingdings</vt:lpstr>
      <vt:lpstr>1_Office Theme</vt:lpstr>
      <vt:lpstr>Towards Probabilistic Fair Order</vt:lpstr>
      <vt:lpstr>A Financial Market</vt:lpstr>
      <vt:lpstr>A Financial Market</vt:lpstr>
      <vt:lpstr>A Financial Market</vt:lpstr>
      <vt:lpstr>A Financial Market</vt:lpstr>
      <vt:lpstr>A Financial Market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Sequencer Overview</vt:lpstr>
      <vt:lpstr>Sequencer 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237</cp:revision>
  <dcterms:created xsi:type="dcterms:W3CDTF">2025-10-29T17:15:14Z</dcterms:created>
  <dcterms:modified xsi:type="dcterms:W3CDTF">2025-11-13T04:12:47Z</dcterms:modified>
</cp:coreProperties>
</file>