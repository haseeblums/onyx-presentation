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1"/>
  </p:notesMasterIdLst>
  <p:sldIdLst>
    <p:sldId id="263" r:id="rId2"/>
    <p:sldId id="351" r:id="rId3"/>
    <p:sldId id="352" r:id="rId4"/>
    <p:sldId id="353" r:id="rId5"/>
    <p:sldId id="354" r:id="rId6"/>
    <p:sldId id="355" r:id="rId7"/>
    <p:sldId id="356" r:id="rId8"/>
    <p:sldId id="357" r:id="rId9"/>
    <p:sldId id="358" r:id="rId10"/>
    <p:sldId id="359" r:id="rId11"/>
    <p:sldId id="360" r:id="rId12"/>
    <p:sldId id="361" r:id="rId13"/>
    <p:sldId id="362" r:id="rId14"/>
    <p:sldId id="363" r:id="rId15"/>
    <p:sldId id="364" r:id="rId16"/>
    <p:sldId id="365" r:id="rId17"/>
    <p:sldId id="366" r:id="rId18"/>
    <p:sldId id="368" r:id="rId19"/>
    <p:sldId id="277" r:id="rId20"/>
    <p:sldId id="340" r:id="rId21"/>
    <p:sldId id="369" r:id="rId22"/>
    <p:sldId id="370" r:id="rId23"/>
    <p:sldId id="371" r:id="rId24"/>
    <p:sldId id="372" r:id="rId25"/>
    <p:sldId id="374" r:id="rId26"/>
    <p:sldId id="376" r:id="rId27"/>
    <p:sldId id="377" r:id="rId28"/>
    <p:sldId id="378" r:id="rId29"/>
    <p:sldId id="385" r:id="rId30"/>
    <p:sldId id="273" r:id="rId31"/>
    <p:sldId id="386" r:id="rId32"/>
    <p:sldId id="389" r:id="rId33"/>
    <p:sldId id="384" r:id="rId34"/>
    <p:sldId id="388" r:id="rId35"/>
    <p:sldId id="390" r:id="rId36"/>
    <p:sldId id="392" r:id="rId37"/>
    <p:sldId id="383" r:id="rId38"/>
    <p:sldId id="380" r:id="rId39"/>
    <p:sldId id="393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649"/>
    <p:restoredTop sz="93701"/>
  </p:normalViewPr>
  <p:slideViewPr>
    <p:cSldViewPr snapToGrid="0">
      <p:cViewPr varScale="1">
        <p:scale>
          <a:sx n="126" d="100"/>
          <a:sy n="126" d="100"/>
        </p:scale>
        <p:origin x="-11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emf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>
                <a:solidFill>
                  <a:srgbClr val="7030A0"/>
                </a:solidFill>
              </a:rPr>
              <a:t>Haseeb Ashfaq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Jinkun Geng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Radhika Mittal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Aurojit Panda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Srinivas Narayana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04291" y="4999164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</a:rPr>
              <a:t>NYU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UIUC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Rutgers University</a:t>
            </a:r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38386-D84F-67FD-9F6E-31528209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2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8A623-A5D2-8F7D-A271-E1B68D63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3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572546F5-F22C-0DE0-1D29-1EC5E0A76C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64C3-37EC-49C1-C14C-57895B3FF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4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A1CAD604-E832-1FAC-7935-3412F930CA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C9113-8AEF-BBAC-B487-291339FB0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5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10BB1DAE-9A67-B7D2-F0B1-7DC4FC4729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E0D4869-70CC-0F21-6DE9-5CCC78BB643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FABA1E46-7DE3-7E83-307D-3580F12A83C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9272677E-CB3D-8242-D78E-54D89A23FFD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B5C4193A-1BB1-1DBF-BD50-36C1D9C3C7E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641275" y="149715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641275" y="297937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674779" y="446159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whoever asked first!</a:t>
            </a:r>
          </a:p>
        </p:txBody>
      </p:sp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C7D2A-720C-518A-83C6-19913CA08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6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C2B292DE-8C03-DC4A-6942-F149BE89D3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4087090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pic>
        <p:nvPicPr>
          <p:cNvPr id="15" name="Graphic 14" descr="Question Mark with solid fill">
            <a:extLst>
              <a:ext uri="{FF2B5EF4-FFF2-40B4-BE49-F238E27FC236}">
                <a16:creationId xmlns:a16="http://schemas.microsoft.com/office/drawing/2014/main" id="{E11FD498-207A-9028-8322-FE074302062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906043" y="2095015"/>
            <a:ext cx="700266" cy="700266"/>
          </a:xfrm>
          <a:prstGeom prst="rect">
            <a:avLst/>
          </a:prstGeom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4087089" y="3429000"/>
            <a:ext cx="4633899" cy="1325562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 decel="100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3F06C-2397-39CD-408E-C05D0CC79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3164A5-0EFE-2F48-0ED1-C0A620728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7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3D96C1A-530B-1103-9C55-A758E4E702C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7CAAC65-910C-A0EA-D093-035FE09CC03D}"/>
              </a:ext>
            </a:extLst>
          </p:cNvPr>
          <p:cNvSpPr/>
          <p:nvPr/>
        </p:nvSpPr>
        <p:spPr>
          <a:xfrm>
            <a:off x="1489360" y="2596283"/>
            <a:ext cx="8991601" cy="2026227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23045895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F054-2ED4-CA1C-AA20-9F70C10E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8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6B77087-D146-3F54-AB13-9311033B137C}"/>
              </a:ext>
            </a:extLst>
          </p:cNvPr>
          <p:cNvSpPr/>
          <p:nvPr/>
        </p:nvSpPr>
        <p:spPr>
          <a:xfrm>
            <a:off x="1489360" y="2596283"/>
            <a:ext cx="8991601" cy="2026227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96A1132D-ACD4-8E9D-94D4-C65F9426DE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C76E0F45-850D-DDA1-BADD-837246D7EA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E7FFE3E3-CACF-A0C3-16F7-0515C5C007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</a:t>
            </a:r>
            <a:r>
              <a:rPr lang="en-US" sz="2800" dirty="0">
                <a:solidFill>
                  <a:schemeClr val="bg1"/>
                </a:solidFill>
                <a:highlight>
                  <a:srgbClr val="FF0000"/>
                </a:highlight>
              </a:rPr>
              <a:t>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F9A30-7221-B85B-AE16-639897C90641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</a:t>
            </a:r>
            <a:r>
              <a:rPr lang="en-US" sz="2800" dirty="0">
                <a:solidFill>
                  <a:schemeClr val="bg1"/>
                </a:solidFill>
                <a:highlight>
                  <a:srgbClr val="FF0000"/>
                </a:highlight>
              </a:rPr>
              <a:t>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6D8C4E2-E66B-D24C-13D5-6CFA11CEF13E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8166A68A-5921-C26F-74AC-F23769E73B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0BE69F7B-3D03-F056-96C3-DEE9C65120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EDFA497-70BE-6CCC-DAB4-4F4671A9C7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6892637" y="416722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42E92BA-B28C-3D25-E186-B82EA31D7B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786549" y="2619550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9F519B8-4089-DE9E-2DA0-ADCA58589B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2815203" y="2618929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7DCE4E2-15E3-2BFA-F35A-30E33F8148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4736757" y="2599194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B2650-2C8C-F10D-9303-B6E4D53E4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12AEC06-BA69-D35C-FADB-0B8D9D6674DA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B9D80AE-1EA8-AA1A-2806-8D543F3723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376756">
            <a:off x="6786549" y="2619550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14FDA53E-0579-83A3-19F2-16FE477BE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756516">
            <a:off x="2815203" y="2618929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39813B02-8883-0FC1-6CBA-18EEEC231E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18788">
            <a:off x="4736757" y="2599194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1DC8F9B-53C0-AA38-AD63-A1C84FC4D2C9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</p:spTree>
    <p:extLst>
      <p:ext uri="{BB962C8B-B14F-4D97-AF65-F5344CB8AC3E}">
        <p14:creationId xmlns:p14="http://schemas.microsoft.com/office/powerpoint/2010/main" val="29837972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98873-9C47-FF70-CB2A-C85F2FB5A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EE4BB2E-72B1-BB66-045F-0F2A2B6D6B5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13D1EBDF-4915-B5A9-16AE-568921810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215335">
            <a:off x="6786549" y="192466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31ABAB2-BE16-8A2E-0B01-F99E887187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378094">
            <a:off x="2815203" y="192404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9914F3B6-854D-FE8A-6755-80755A5870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659468">
            <a:off x="4736757" y="190431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9AB9CE-A56E-1754-5BA5-0ECA64FEC4B4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F4FE3-A206-B743-A89B-B5C1E442D9B4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1F1B849-EC06-F10B-8F75-E6F2BCA066BC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4270D84-6DD6-D71A-3B09-09FDD2388292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True Time comparison by only comparing local time</a:t>
            </a:r>
          </a:p>
        </p:txBody>
      </p:sp>
    </p:spTree>
    <p:extLst>
      <p:ext uri="{BB962C8B-B14F-4D97-AF65-F5344CB8AC3E}">
        <p14:creationId xmlns:p14="http://schemas.microsoft.com/office/powerpoint/2010/main" val="9708260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CFAB5-8AEF-C565-9810-2B08A9508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B4B1CE9-DA81-2053-3DA3-057E20B8C6C6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94C93DC4-19A2-D5C3-9737-E329E91D93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215335">
            <a:off x="6786549" y="192466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52EBB7-83DE-29A5-ACAD-4561CD5BA3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378094">
            <a:off x="2815203" y="192404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8C5B2475-51DB-B7A6-F27B-32F78EEBD7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659468">
            <a:off x="4736757" y="190431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873C2EE-03B9-ADB6-6896-523FE586FCF9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220A784-B5CE-4852-1E05-6F07E3D6229D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9F64AE5-1C7A-1F0E-63B9-EF466E8679B5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0A47632-BF93-BACB-38E0-78C2C961BEC4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01D4E0-EDE4-6662-B286-4EC476043736}"/>
              </a:ext>
            </a:extLst>
          </p:cNvPr>
          <p:cNvSpPr txBox="1"/>
          <p:nvPr/>
        </p:nvSpPr>
        <p:spPr>
          <a:xfrm>
            <a:off x="9272052" y="4310983"/>
            <a:ext cx="248497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3F7B18A-214F-E9B0-5AFD-6CBB236EA493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8545085" y="4695704"/>
            <a:ext cx="726967" cy="874718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52800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E6FB9-1A41-356D-92A6-862A58684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169252D-C91A-6E3E-7FE2-C2587F11A793}"/>
              </a:ext>
            </a:extLst>
          </p:cNvPr>
          <p:cNvSpPr/>
          <p:nvPr/>
        </p:nvSpPr>
        <p:spPr>
          <a:xfrm>
            <a:off x="5338246" y="1374868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E5C91E7-357D-666A-BE08-4264FDFDE979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46FA30D-9913-A4B7-DC10-B0D942D4E26F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6E32169-6A6E-0DDC-EAAF-F7740B9D2F40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708F02-1633-89E6-098B-F1FA39524A6C}"/>
              </a:ext>
            </a:extLst>
          </p:cNvPr>
          <p:cNvSpPr txBox="1"/>
          <p:nvPr/>
        </p:nvSpPr>
        <p:spPr>
          <a:xfrm>
            <a:off x="2201943" y="1442138"/>
            <a:ext cx="30107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9841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9268A-F027-18DF-D925-009465B99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04604C2-111D-D455-DB9E-20834C819605}"/>
              </a:ext>
            </a:extLst>
          </p:cNvPr>
          <p:cNvSpPr/>
          <p:nvPr/>
        </p:nvSpPr>
        <p:spPr>
          <a:xfrm>
            <a:off x="1828801" y="1638104"/>
            <a:ext cx="82850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Probabilistic 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2C60EA4-1139-BC95-81C5-C25A42763D65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1429452-F591-9542-48D5-E33EF825A135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9CCA99-8103-7BB5-625C-CCC6FC0710A3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2D6D64D-9F9B-8B1A-8754-BEBDAA6778F6}"/>
              </a:ext>
            </a:extLst>
          </p:cNvPr>
          <p:cNvSpPr/>
          <p:nvPr/>
        </p:nvSpPr>
        <p:spPr>
          <a:xfrm>
            <a:off x="1828801" y="579477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2035736-DAC3-3512-5455-212907E36756}"/>
              </a:ext>
            </a:extLst>
          </p:cNvPr>
          <p:cNvSpPr/>
          <p:nvPr/>
        </p:nvSpPr>
        <p:spPr>
          <a:xfrm>
            <a:off x="6352674" y="2958762"/>
            <a:ext cx="5005137" cy="127053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Although we cannot get exact True timestamp, we can compare two True timestamps probabilistically.</a:t>
            </a:r>
          </a:p>
        </p:txBody>
      </p:sp>
    </p:spTree>
    <p:extLst>
      <p:ext uri="{BB962C8B-B14F-4D97-AF65-F5344CB8AC3E}">
        <p14:creationId xmlns:p14="http://schemas.microsoft.com/office/powerpoint/2010/main" val="42659322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98807D-BF3B-7E0E-F1BA-F3D2A0193C0A}"/>
              </a:ext>
            </a:extLst>
          </p:cNvPr>
          <p:cNvSpPr/>
          <p:nvPr/>
        </p:nvSpPr>
        <p:spPr>
          <a:xfrm>
            <a:off x="8091055" y="1757113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60959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431568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9CD885-647B-8B30-795D-38E72B83CE1A}"/>
              </a:ext>
            </a:extLst>
          </p:cNvPr>
          <p:cNvSpPr/>
          <p:nvPr/>
        </p:nvSpPr>
        <p:spPr>
          <a:xfrm>
            <a:off x="706581" y="1454728"/>
            <a:ext cx="6560125" cy="180109"/>
          </a:xfrm>
          <a:custGeom>
            <a:avLst/>
            <a:gdLst>
              <a:gd name="connsiteX0" fmla="*/ 0 w 6560125"/>
              <a:gd name="connsiteY0" fmla="*/ 0 h 180109"/>
              <a:gd name="connsiteX1" fmla="*/ 399571 w 6560125"/>
              <a:gd name="connsiteY1" fmla="*/ 0 h 180109"/>
              <a:gd name="connsiteX2" fmla="*/ 1127149 w 6560125"/>
              <a:gd name="connsiteY2" fmla="*/ 0 h 180109"/>
              <a:gd name="connsiteX3" fmla="*/ 1789125 w 6560125"/>
              <a:gd name="connsiteY3" fmla="*/ 0 h 180109"/>
              <a:gd name="connsiteX4" fmla="*/ 2188696 w 6560125"/>
              <a:gd name="connsiteY4" fmla="*/ 0 h 180109"/>
              <a:gd name="connsiteX5" fmla="*/ 2719470 w 6560125"/>
              <a:gd name="connsiteY5" fmla="*/ 0 h 180109"/>
              <a:gd name="connsiteX6" fmla="*/ 3447048 w 6560125"/>
              <a:gd name="connsiteY6" fmla="*/ 0 h 180109"/>
              <a:gd name="connsiteX7" fmla="*/ 4043423 w 6560125"/>
              <a:gd name="connsiteY7" fmla="*/ 0 h 180109"/>
              <a:gd name="connsiteX8" fmla="*/ 4705399 w 6560125"/>
              <a:gd name="connsiteY8" fmla="*/ 0 h 180109"/>
              <a:gd name="connsiteX9" fmla="*/ 5236173 w 6560125"/>
              <a:gd name="connsiteY9" fmla="*/ 0 h 180109"/>
              <a:gd name="connsiteX10" fmla="*/ 5832548 w 6560125"/>
              <a:gd name="connsiteY10" fmla="*/ 0 h 180109"/>
              <a:gd name="connsiteX11" fmla="*/ 6560125 w 6560125"/>
              <a:gd name="connsiteY11" fmla="*/ 0 h 180109"/>
              <a:gd name="connsiteX12" fmla="*/ 6560125 w 6560125"/>
              <a:gd name="connsiteY12" fmla="*/ 180109 h 180109"/>
              <a:gd name="connsiteX13" fmla="*/ 6160554 w 6560125"/>
              <a:gd name="connsiteY13" fmla="*/ 180109 h 180109"/>
              <a:gd name="connsiteX14" fmla="*/ 5760983 w 6560125"/>
              <a:gd name="connsiteY14" fmla="*/ 180109 h 180109"/>
              <a:gd name="connsiteX15" fmla="*/ 5099006 w 6560125"/>
              <a:gd name="connsiteY15" fmla="*/ 180109 h 180109"/>
              <a:gd name="connsiteX16" fmla="*/ 4699435 w 6560125"/>
              <a:gd name="connsiteY16" fmla="*/ 180109 h 180109"/>
              <a:gd name="connsiteX17" fmla="*/ 4103060 w 6560125"/>
              <a:gd name="connsiteY17" fmla="*/ 180109 h 180109"/>
              <a:gd name="connsiteX18" fmla="*/ 3637888 w 6560125"/>
              <a:gd name="connsiteY18" fmla="*/ 180109 h 180109"/>
              <a:gd name="connsiteX19" fmla="*/ 3041513 w 6560125"/>
              <a:gd name="connsiteY19" fmla="*/ 180109 h 180109"/>
              <a:gd name="connsiteX20" fmla="*/ 2445137 w 6560125"/>
              <a:gd name="connsiteY20" fmla="*/ 180109 h 180109"/>
              <a:gd name="connsiteX21" fmla="*/ 1848762 w 6560125"/>
              <a:gd name="connsiteY21" fmla="*/ 180109 h 180109"/>
              <a:gd name="connsiteX22" fmla="*/ 1252387 w 6560125"/>
              <a:gd name="connsiteY22" fmla="*/ 180109 h 180109"/>
              <a:gd name="connsiteX23" fmla="*/ 721614 w 6560125"/>
              <a:gd name="connsiteY23" fmla="*/ 180109 h 180109"/>
              <a:gd name="connsiteX24" fmla="*/ 0 w 6560125"/>
              <a:gd name="connsiteY24" fmla="*/ 180109 h 180109"/>
              <a:gd name="connsiteX25" fmla="*/ 0 w 6560125"/>
              <a:gd name="connsiteY25" fmla="*/ 0 h 180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560125" h="180109" fill="none" extrusionOk="0">
                <a:moveTo>
                  <a:pt x="0" y="0"/>
                </a:moveTo>
                <a:cubicBezTo>
                  <a:pt x="93079" y="-24371"/>
                  <a:pt x="278315" y="592"/>
                  <a:pt x="399571" y="0"/>
                </a:cubicBezTo>
                <a:cubicBezTo>
                  <a:pt x="520827" y="-592"/>
                  <a:pt x="869396" y="14101"/>
                  <a:pt x="1127149" y="0"/>
                </a:cubicBezTo>
                <a:cubicBezTo>
                  <a:pt x="1384902" y="-14101"/>
                  <a:pt x="1541827" y="74442"/>
                  <a:pt x="1789125" y="0"/>
                </a:cubicBezTo>
                <a:cubicBezTo>
                  <a:pt x="2036423" y="-74442"/>
                  <a:pt x="2042118" y="39310"/>
                  <a:pt x="2188696" y="0"/>
                </a:cubicBezTo>
                <a:cubicBezTo>
                  <a:pt x="2335274" y="-39310"/>
                  <a:pt x="2504451" y="1198"/>
                  <a:pt x="2719470" y="0"/>
                </a:cubicBezTo>
                <a:cubicBezTo>
                  <a:pt x="2934489" y="-1198"/>
                  <a:pt x="3212094" y="76278"/>
                  <a:pt x="3447048" y="0"/>
                </a:cubicBezTo>
                <a:cubicBezTo>
                  <a:pt x="3682002" y="-76278"/>
                  <a:pt x="3884580" y="20218"/>
                  <a:pt x="4043423" y="0"/>
                </a:cubicBezTo>
                <a:cubicBezTo>
                  <a:pt x="4202267" y="-20218"/>
                  <a:pt x="4562783" y="73588"/>
                  <a:pt x="4705399" y="0"/>
                </a:cubicBezTo>
                <a:cubicBezTo>
                  <a:pt x="4848015" y="-73588"/>
                  <a:pt x="5067470" y="45843"/>
                  <a:pt x="5236173" y="0"/>
                </a:cubicBezTo>
                <a:cubicBezTo>
                  <a:pt x="5404876" y="-45843"/>
                  <a:pt x="5638241" y="16924"/>
                  <a:pt x="5832548" y="0"/>
                </a:cubicBezTo>
                <a:cubicBezTo>
                  <a:pt x="6026855" y="-16924"/>
                  <a:pt x="6380958" y="36439"/>
                  <a:pt x="6560125" y="0"/>
                </a:cubicBezTo>
                <a:cubicBezTo>
                  <a:pt x="6572722" y="60361"/>
                  <a:pt x="6552397" y="95898"/>
                  <a:pt x="6560125" y="180109"/>
                </a:cubicBezTo>
                <a:cubicBezTo>
                  <a:pt x="6369462" y="212114"/>
                  <a:pt x="6345447" y="140515"/>
                  <a:pt x="6160554" y="180109"/>
                </a:cubicBezTo>
                <a:cubicBezTo>
                  <a:pt x="5975661" y="219703"/>
                  <a:pt x="5930306" y="150532"/>
                  <a:pt x="5760983" y="180109"/>
                </a:cubicBezTo>
                <a:cubicBezTo>
                  <a:pt x="5591660" y="209686"/>
                  <a:pt x="5285742" y="106575"/>
                  <a:pt x="5099006" y="180109"/>
                </a:cubicBezTo>
                <a:cubicBezTo>
                  <a:pt x="4912270" y="253643"/>
                  <a:pt x="4827180" y="133626"/>
                  <a:pt x="4699435" y="180109"/>
                </a:cubicBezTo>
                <a:cubicBezTo>
                  <a:pt x="4571690" y="226592"/>
                  <a:pt x="4245108" y="141770"/>
                  <a:pt x="4103060" y="180109"/>
                </a:cubicBezTo>
                <a:cubicBezTo>
                  <a:pt x="3961013" y="218448"/>
                  <a:pt x="3826924" y="150872"/>
                  <a:pt x="3637888" y="180109"/>
                </a:cubicBezTo>
                <a:cubicBezTo>
                  <a:pt x="3448852" y="209346"/>
                  <a:pt x="3268535" y="172336"/>
                  <a:pt x="3041513" y="180109"/>
                </a:cubicBezTo>
                <a:cubicBezTo>
                  <a:pt x="2814492" y="187882"/>
                  <a:pt x="2652883" y="165019"/>
                  <a:pt x="2445137" y="180109"/>
                </a:cubicBezTo>
                <a:cubicBezTo>
                  <a:pt x="2237391" y="195199"/>
                  <a:pt x="2124635" y="146621"/>
                  <a:pt x="1848762" y="180109"/>
                </a:cubicBezTo>
                <a:cubicBezTo>
                  <a:pt x="1572890" y="213597"/>
                  <a:pt x="1518016" y="134321"/>
                  <a:pt x="1252387" y="180109"/>
                </a:cubicBezTo>
                <a:cubicBezTo>
                  <a:pt x="986759" y="225897"/>
                  <a:pt x="938880" y="175617"/>
                  <a:pt x="721614" y="180109"/>
                </a:cubicBezTo>
                <a:cubicBezTo>
                  <a:pt x="504348" y="184601"/>
                  <a:pt x="196115" y="172397"/>
                  <a:pt x="0" y="180109"/>
                </a:cubicBezTo>
                <a:cubicBezTo>
                  <a:pt x="-10644" y="113599"/>
                  <a:pt x="8546" y="65985"/>
                  <a:pt x="0" y="0"/>
                </a:cubicBezTo>
                <a:close/>
              </a:path>
              <a:path w="6560125" h="180109" stroke="0" extrusionOk="0">
                <a:moveTo>
                  <a:pt x="0" y="0"/>
                </a:moveTo>
                <a:cubicBezTo>
                  <a:pt x="262678" y="-15794"/>
                  <a:pt x="324387" y="52621"/>
                  <a:pt x="530774" y="0"/>
                </a:cubicBezTo>
                <a:cubicBezTo>
                  <a:pt x="737161" y="-52621"/>
                  <a:pt x="763948" y="1149"/>
                  <a:pt x="930345" y="0"/>
                </a:cubicBezTo>
                <a:cubicBezTo>
                  <a:pt x="1096742" y="-1149"/>
                  <a:pt x="1469441" y="23267"/>
                  <a:pt x="1657923" y="0"/>
                </a:cubicBezTo>
                <a:cubicBezTo>
                  <a:pt x="1846405" y="-23267"/>
                  <a:pt x="1962484" y="53122"/>
                  <a:pt x="2188696" y="0"/>
                </a:cubicBezTo>
                <a:cubicBezTo>
                  <a:pt x="2414908" y="-53122"/>
                  <a:pt x="2509858" y="19949"/>
                  <a:pt x="2719470" y="0"/>
                </a:cubicBezTo>
                <a:cubicBezTo>
                  <a:pt x="2929082" y="-19949"/>
                  <a:pt x="3137248" y="72350"/>
                  <a:pt x="3447048" y="0"/>
                </a:cubicBezTo>
                <a:cubicBezTo>
                  <a:pt x="3756848" y="-72350"/>
                  <a:pt x="3696986" y="40809"/>
                  <a:pt x="3912220" y="0"/>
                </a:cubicBezTo>
                <a:cubicBezTo>
                  <a:pt x="4127454" y="-40809"/>
                  <a:pt x="4358494" y="84444"/>
                  <a:pt x="4639798" y="0"/>
                </a:cubicBezTo>
                <a:cubicBezTo>
                  <a:pt x="4921102" y="-84444"/>
                  <a:pt x="5011131" y="79389"/>
                  <a:pt x="5367375" y="0"/>
                </a:cubicBezTo>
                <a:cubicBezTo>
                  <a:pt x="5723619" y="-79389"/>
                  <a:pt x="5755728" y="54091"/>
                  <a:pt x="5963750" y="0"/>
                </a:cubicBezTo>
                <a:cubicBezTo>
                  <a:pt x="6171773" y="-54091"/>
                  <a:pt x="6326448" y="54204"/>
                  <a:pt x="6560125" y="0"/>
                </a:cubicBezTo>
                <a:cubicBezTo>
                  <a:pt x="6569910" y="55787"/>
                  <a:pt x="6543166" y="90879"/>
                  <a:pt x="6560125" y="180109"/>
                </a:cubicBezTo>
                <a:cubicBezTo>
                  <a:pt x="6465890" y="198281"/>
                  <a:pt x="6282318" y="152187"/>
                  <a:pt x="6160554" y="180109"/>
                </a:cubicBezTo>
                <a:cubicBezTo>
                  <a:pt x="6038790" y="208031"/>
                  <a:pt x="5605240" y="130138"/>
                  <a:pt x="5432976" y="180109"/>
                </a:cubicBezTo>
                <a:cubicBezTo>
                  <a:pt x="5260712" y="230080"/>
                  <a:pt x="5132902" y="143962"/>
                  <a:pt x="4967804" y="180109"/>
                </a:cubicBezTo>
                <a:cubicBezTo>
                  <a:pt x="4802706" y="216256"/>
                  <a:pt x="4610215" y="121996"/>
                  <a:pt x="4371429" y="180109"/>
                </a:cubicBezTo>
                <a:cubicBezTo>
                  <a:pt x="4132644" y="238222"/>
                  <a:pt x="3831048" y="151702"/>
                  <a:pt x="3643851" y="180109"/>
                </a:cubicBezTo>
                <a:cubicBezTo>
                  <a:pt x="3456654" y="208516"/>
                  <a:pt x="3300671" y="117049"/>
                  <a:pt x="3047476" y="180109"/>
                </a:cubicBezTo>
                <a:cubicBezTo>
                  <a:pt x="2794282" y="243169"/>
                  <a:pt x="2735543" y="140250"/>
                  <a:pt x="2647905" y="180109"/>
                </a:cubicBezTo>
                <a:cubicBezTo>
                  <a:pt x="2560267" y="219968"/>
                  <a:pt x="2366569" y="160744"/>
                  <a:pt x="2182733" y="180109"/>
                </a:cubicBezTo>
                <a:cubicBezTo>
                  <a:pt x="1998897" y="199474"/>
                  <a:pt x="1734880" y="138199"/>
                  <a:pt x="1455155" y="180109"/>
                </a:cubicBezTo>
                <a:cubicBezTo>
                  <a:pt x="1175430" y="222019"/>
                  <a:pt x="1028262" y="177887"/>
                  <a:pt x="858780" y="180109"/>
                </a:cubicBezTo>
                <a:cubicBezTo>
                  <a:pt x="689299" y="182331"/>
                  <a:pt x="345146" y="157005"/>
                  <a:pt x="0" y="180109"/>
                </a:cubicBezTo>
                <a:cubicBezTo>
                  <a:pt x="-13722" y="95078"/>
                  <a:pt x="1346" y="37299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2294240" y="531398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73" y="237805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774754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697" y="2558167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4619244" y="5516434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D1B925-E730-6E51-112F-AD0B8894B9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881" y="2558167"/>
            <a:ext cx="3758184" cy="32243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743A391-0E9C-EAEF-B09B-7F8B385CFEDC}"/>
              </a:ext>
            </a:extLst>
          </p:cNvPr>
          <p:cNvSpPr txBox="1"/>
          <p:nvPr/>
        </p:nvSpPr>
        <p:spPr>
          <a:xfrm>
            <a:off x="8611859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General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5434144" y="3122100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5" grpId="0"/>
      <p:bldP spid="1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718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3D2D24EA-CF77-3797-20CD-936D1BBDA6A4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18" name="Title 1">
            <a:extLst>
              <a:ext uri="{FF2B5EF4-FFF2-40B4-BE49-F238E27FC236}">
                <a16:creationId xmlns:a16="http://schemas.microsoft.com/office/drawing/2014/main" id="{33D9059B-38E4-7F04-73F7-5F37721DB6AE}"/>
              </a:ext>
            </a:extLst>
          </p:cNvPr>
          <p:cNvSpPr txBox="1">
            <a:spLocks/>
          </p:cNvSpPr>
          <p:nvPr/>
        </p:nvSpPr>
        <p:spPr>
          <a:xfrm>
            <a:off x="838200" y="18417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186545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523020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FDA3CB-6B8F-1DA3-49D2-0402D3418C54}"/>
              </a:ext>
            </a:extLst>
          </p:cNvPr>
          <p:cNvSpPr txBox="1"/>
          <p:nvPr/>
        </p:nvSpPr>
        <p:spPr>
          <a:xfrm>
            <a:off x="3422074" y="3075057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2FB84D-CDAF-FC73-F573-25904E267089}"/>
              </a:ext>
            </a:extLst>
          </p:cNvPr>
          <p:cNvSpPr txBox="1"/>
          <p:nvPr/>
        </p:nvSpPr>
        <p:spPr>
          <a:xfrm>
            <a:off x="7767779" y="2985004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191C93-ADB3-21C1-57A5-CE453466C998}"/>
              </a:ext>
            </a:extLst>
          </p:cNvPr>
          <p:cNvSpPr txBox="1"/>
          <p:nvPr/>
        </p:nvSpPr>
        <p:spPr>
          <a:xfrm>
            <a:off x="3422074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1B8694-CFFF-4411-2B8E-FEF437A3DFDB}"/>
              </a:ext>
            </a:extLst>
          </p:cNvPr>
          <p:cNvSpPr txBox="1"/>
          <p:nvPr/>
        </p:nvSpPr>
        <p:spPr>
          <a:xfrm>
            <a:off x="7767779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/>
      <p:bldP spid="21" grpId="0"/>
      <p:bldP spid="22" grpId="0"/>
      <p:bldP spid="2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447EA-2FEF-EA4A-9206-3CFE973DC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984D58A-9063-7A64-ACAD-5C9D71F2090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411DB6A-2AD3-413F-59DA-1F8C20673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C74F384-2C4B-6117-557A-63BCA467CA5F}"/>
              </a:ext>
            </a:extLst>
          </p:cNvPr>
          <p:cNvSpPr/>
          <p:nvPr/>
        </p:nvSpPr>
        <p:spPr>
          <a:xfrm>
            <a:off x="3186545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37EB68C-941E-941D-0E01-F9E2409A23DA}"/>
              </a:ext>
            </a:extLst>
          </p:cNvPr>
          <p:cNvSpPr/>
          <p:nvPr/>
        </p:nvSpPr>
        <p:spPr>
          <a:xfrm>
            <a:off x="7523020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9F1D21-9710-52BC-BAD4-3E06CCAA11EA}"/>
              </a:ext>
            </a:extLst>
          </p:cNvPr>
          <p:cNvSpPr txBox="1"/>
          <p:nvPr/>
        </p:nvSpPr>
        <p:spPr>
          <a:xfrm>
            <a:off x="3422073" y="3075057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CCD095D-7BA6-9DF0-4BB2-2B4BCA4C376A}"/>
              </a:ext>
            </a:extLst>
          </p:cNvPr>
          <p:cNvSpPr txBox="1"/>
          <p:nvPr/>
        </p:nvSpPr>
        <p:spPr>
          <a:xfrm>
            <a:off x="7767779" y="2985004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EC9B86-B192-D48F-1C21-5D1793981DBC}"/>
              </a:ext>
            </a:extLst>
          </p:cNvPr>
          <p:cNvSpPr txBox="1"/>
          <p:nvPr/>
        </p:nvSpPr>
        <p:spPr>
          <a:xfrm>
            <a:off x="3422074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C487A1-8980-2215-E442-FCFCDE504C9B}"/>
              </a:ext>
            </a:extLst>
          </p:cNvPr>
          <p:cNvSpPr txBox="1"/>
          <p:nvPr/>
        </p:nvSpPr>
        <p:spPr>
          <a:xfrm>
            <a:off x="7767779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20958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4FC07-926E-A720-6F1E-16555E71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45134AC-EC8D-1E2E-4623-974763061AD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9967EBF-EA05-702C-DCAE-B663AAC25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18A5158-44AB-D694-11D9-5724496EA56C}"/>
              </a:ext>
            </a:extLst>
          </p:cNvPr>
          <p:cNvSpPr/>
          <p:nvPr/>
        </p:nvSpPr>
        <p:spPr>
          <a:xfrm>
            <a:off x="3120371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0BFD04D-8510-447B-5551-CA60F9E09CF9}"/>
              </a:ext>
            </a:extLst>
          </p:cNvPr>
          <p:cNvSpPr/>
          <p:nvPr/>
        </p:nvSpPr>
        <p:spPr>
          <a:xfrm>
            <a:off x="7456846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8D7F0A-17A7-DFBD-96E5-184B621FADAA}"/>
              </a:ext>
            </a:extLst>
          </p:cNvPr>
          <p:cNvSpPr txBox="1"/>
          <p:nvPr/>
        </p:nvSpPr>
        <p:spPr>
          <a:xfrm>
            <a:off x="3283527" y="2367171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1A0FE9-18D5-5446-4C6B-9AC0AEB28174}"/>
              </a:ext>
            </a:extLst>
          </p:cNvPr>
          <p:cNvSpPr txBox="1"/>
          <p:nvPr/>
        </p:nvSpPr>
        <p:spPr>
          <a:xfrm>
            <a:off x="7629233" y="2277118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B34C01AC-DB0D-693C-5A6A-89BB18F0F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0330021-9A5E-6C3C-0780-9E870A61AA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9E6896BD-B6FD-3D40-C863-8FD487CFD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2B1CD507-E5C8-62CC-1E7E-3A78B395D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7351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AC125A0E-B4F9-5CD5-5587-1F5A1638D592}"/>
              </a:ext>
            </a:extLst>
          </p:cNvPr>
          <p:cNvSpPr/>
          <p:nvPr/>
        </p:nvSpPr>
        <p:spPr>
          <a:xfrm>
            <a:off x="3120371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157CD66-15E8-4CB2-572D-7A44D127B2FB}"/>
              </a:ext>
            </a:extLst>
          </p:cNvPr>
          <p:cNvSpPr/>
          <p:nvPr/>
        </p:nvSpPr>
        <p:spPr>
          <a:xfrm>
            <a:off x="7456846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850E35-1293-8107-367B-0AD5349FABF6}"/>
              </a:ext>
            </a:extLst>
          </p:cNvPr>
          <p:cNvSpPr txBox="1"/>
          <p:nvPr/>
        </p:nvSpPr>
        <p:spPr>
          <a:xfrm>
            <a:off x="3283527" y="2367171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4820D3-B650-8850-30B6-6F45CED3402D}"/>
              </a:ext>
            </a:extLst>
          </p:cNvPr>
          <p:cNvSpPr txBox="1"/>
          <p:nvPr/>
        </p:nvSpPr>
        <p:spPr>
          <a:xfrm>
            <a:off x="7629233" y="2277118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096000" y="4772543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DF81BE-7EB8-39FD-F708-CF17D45B338C}"/>
              </a:ext>
            </a:extLst>
          </p:cNvPr>
          <p:cNvSpPr txBox="1"/>
          <p:nvPr/>
        </p:nvSpPr>
        <p:spPr>
          <a:xfrm>
            <a:off x="7006175" y="3818436"/>
            <a:ext cx="45485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For independent Gaussian-distributed errors</a:t>
            </a: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C5EEFF-D09A-162D-8E27-D87E31892013}"/>
              </a:ext>
            </a:extLst>
          </p:cNvPr>
          <p:cNvGrpSpPr/>
          <p:nvPr/>
        </p:nvGrpSpPr>
        <p:grpSpPr>
          <a:xfrm>
            <a:off x="3338945" y="1814598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CD8C034-ABA6-4461-2F9E-AA0E37F5CDE4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42B7035-E744-449C-A7F2-FF728E81E1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728CF02E-D163-0617-7CEB-AA6C48DEBEB7}"/>
              </a:ext>
            </a:extLst>
          </p:cNvPr>
          <p:cNvSpPr/>
          <p:nvPr/>
        </p:nvSpPr>
        <p:spPr>
          <a:xfrm>
            <a:off x="4449652" y="2601221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935677AA-EDA2-FCDF-CE7F-1FFEA59C792B}"/>
              </a:ext>
            </a:extLst>
          </p:cNvPr>
          <p:cNvSpPr/>
          <p:nvPr/>
        </p:nvSpPr>
        <p:spPr>
          <a:xfrm rot="5400000">
            <a:off x="7172034" y="2939441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D987C016-01A3-914A-C140-9124115CC7F6}"/>
              </a:ext>
            </a:extLst>
          </p:cNvPr>
          <p:cNvSpPr/>
          <p:nvPr/>
        </p:nvSpPr>
        <p:spPr>
          <a:xfrm rot="13290293">
            <a:off x="4691366" y="4272365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4D3AF-674F-27D9-45BA-703343CAF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99943FE0-292F-A4DA-1CCE-A14F14E01EC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536018F3-F442-E440-06C3-A814439C2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8DC6273E-16EB-4A0A-078F-7CF6883DEDB6}"/>
              </a:ext>
            </a:extLst>
          </p:cNvPr>
          <p:cNvSpPr/>
          <p:nvPr/>
        </p:nvSpPr>
        <p:spPr>
          <a:xfrm>
            <a:off x="570379" y="31791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6EA2B36-2D5A-D1D5-A7AF-D9C268117570}"/>
              </a:ext>
            </a:extLst>
          </p:cNvPr>
          <p:cNvSpPr/>
          <p:nvPr/>
        </p:nvSpPr>
        <p:spPr>
          <a:xfrm>
            <a:off x="2815571" y="21959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271A3E9-36FB-95B7-9124-5A90BEA23031}"/>
              </a:ext>
            </a:extLst>
          </p:cNvPr>
          <p:cNvSpPr/>
          <p:nvPr/>
        </p:nvSpPr>
        <p:spPr>
          <a:xfrm>
            <a:off x="4398784" y="38862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39238FD0-7622-71D2-580D-4E5CFBEB5B96}"/>
              </a:ext>
            </a:extLst>
          </p:cNvPr>
          <p:cNvSpPr/>
          <p:nvPr/>
        </p:nvSpPr>
        <p:spPr>
          <a:xfrm>
            <a:off x="1429361" y="236569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4E6B0977-681D-CD26-6BAF-866FB44ABC4D}"/>
              </a:ext>
            </a:extLst>
          </p:cNvPr>
          <p:cNvSpPr/>
          <p:nvPr/>
        </p:nvSpPr>
        <p:spPr>
          <a:xfrm rot="5400000">
            <a:off x="4151743" y="270391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06A4D0E6-25EB-6295-E313-E707D10779C5}"/>
              </a:ext>
            </a:extLst>
          </p:cNvPr>
          <p:cNvSpPr/>
          <p:nvPr/>
        </p:nvSpPr>
        <p:spPr>
          <a:xfrm rot="13290293">
            <a:off x="1671075" y="4036838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06CD7F5-696D-CFCB-67BA-2212E9C0CEB3}"/>
              </a:ext>
            </a:extLst>
          </p:cNvPr>
          <p:cNvSpPr/>
          <p:nvPr/>
        </p:nvSpPr>
        <p:spPr>
          <a:xfrm>
            <a:off x="6525491" y="2780114"/>
            <a:ext cx="4568965" cy="210361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Probabilities are not necessarily transitive</a:t>
            </a:r>
          </a:p>
        </p:txBody>
      </p:sp>
    </p:spTree>
    <p:extLst>
      <p:ext uri="{BB962C8B-B14F-4D97-AF65-F5344CB8AC3E}">
        <p14:creationId xmlns:p14="http://schemas.microsoft.com/office/powerpoint/2010/main" val="27806394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21D3C-4648-2C8C-F232-C79FD82EC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2786CF2F-D813-AE52-74DE-B6456B6560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B5732CF7-0D26-1467-E210-4A077FF812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68244AE4-E7F7-A495-E517-1C82BA225CC9}"/>
              </a:ext>
            </a:extLst>
          </p:cNvPr>
          <p:cNvSpPr/>
          <p:nvPr/>
        </p:nvSpPr>
        <p:spPr>
          <a:xfrm>
            <a:off x="570379" y="31791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3BC41F2-2F96-2002-80C2-47CB5B0134BA}"/>
              </a:ext>
            </a:extLst>
          </p:cNvPr>
          <p:cNvSpPr/>
          <p:nvPr/>
        </p:nvSpPr>
        <p:spPr>
          <a:xfrm>
            <a:off x="2815571" y="21959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4743033-B953-BA42-3AB1-22C75F32A89B}"/>
              </a:ext>
            </a:extLst>
          </p:cNvPr>
          <p:cNvSpPr/>
          <p:nvPr/>
        </p:nvSpPr>
        <p:spPr>
          <a:xfrm>
            <a:off x="4398784" y="38862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7815C3E4-311A-19CD-84C6-EBA01E26BB29}"/>
              </a:ext>
            </a:extLst>
          </p:cNvPr>
          <p:cNvSpPr/>
          <p:nvPr/>
        </p:nvSpPr>
        <p:spPr>
          <a:xfrm>
            <a:off x="1429361" y="236569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4075B8E4-46E0-9971-8CEB-685A8FE4E62E}"/>
              </a:ext>
            </a:extLst>
          </p:cNvPr>
          <p:cNvSpPr/>
          <p:nvPr/>
        </p:nvSpPr>
        <p:spPr>
          <a:xfrm rot="5400000">
            <a:off x="4151743" y="270391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18628007-5DDD-6E30-3F78-6FAFFD161B79}"/>
              </a:ext>
            </a:extLst>
          </p:cNvPr>
          <p:cNvSpPr/>
          <p:nvPr/>
        </p:nvSpPr>
        <p:spPr>
          <a:xfrm rot="13290293">
            <a:off x="1671075" y="4036838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74F73B2-5679-07D3-A43A-B8DD18D5C9F6}"/>
              </a:ext>
            </a:extLst>
          </p:cNvPr>
          <p:cNvSpPr/>
          <p:nvPr/>
        </p:nvSpPr>
        <p:spPr>
          <a:xfrm>
            <a:off x="6774874" y="3686660"/>
            <a:ext cx="3602182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p:sp>
        <p:nvSpPr>
          <p:cNvPr id="4" name="&quot;No&quot; Symbol 3">
            <a:extLst>
              <a:ext uri="{FF2B5EF4-FFF2-40B4-BE49-F238E27FC236}">
                <a16:creationId xmlns:a16="http://schemas.microsoft.com/office/drawing/2014/main" id="{DC2D8271-AD2F-ABB7-CFFF-BABDA301EC27}"/>
              </a:ext>
            </a:extLst>
          </p:cNvPr>
          <p:cNvSpPr/>
          <p:nvPr/>
        </p:nvSpPr>
        <p:spPr>
          <a:xfrm>
            <a:off x="2025107" y="4368040"/>
            <a:ext cx="1369258" cy="1243051"/>
          </a:xfrm>
          <a:prstGeom prst="noSmok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CF0E818-F29F-BF0A-A4D5-04E58E2B267E}"/>
              </a:ext>
            </a:extLst>
          </p:cNvPr>
          <p:cNvSpPr/>
          <p:nvPr/>
        </p:nvSpPr>
        <p:spPr>
          <a:xfrm>
            <a:off x="6096000" y="2228634"/>
            <a:ext cx="4237148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Gaussian-distributed errors</a:t>
            </a:r>
          </a:p>
        </p:txBody>
      </p:sp>
    </p:spTree>
    <p:extLst>
      <p:ext uri="{BB962C8B-B14F-4D97-AF65-F5344CB8AC3E}">
        <p14:creationId xmlns:p14="http://schemas.microsoft.com/office/powerpoint/2010/main" val="3427165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3645876" y="2919173"/>
            <a:ext cx="804881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message at time 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t to get a simulated observed time 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t’ and seeded distributions are shared with the sequencer</a:t>
            </a:r>
          </a:p>
          <a:p>
            <a:endParaRPr lang="en-US" sz="2800" dirty="0"/>
          </a:p>
          <a:p>
            <a:r>
              <a:rPr lang="en-US" sz="2800" dirty="0"/>
              <a:t>A parameter “step” defines inter-message generation gap across clients</a:t>
            </a:r>
          </a:p>
        </p:txBody>
      </p:sp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093CB-1FA2-146A-1409-2545E50AE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68C5F-E6D6-7E43-3741-3ADEB9C62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05F22E1-9FD0-B6B3-F1DE-DBCF3537AA1F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A369DB1-BFB4-4466-748B-35D92492A2B7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D4EC7BA-AB9B-67AF-240B-E7E1DC8EE2BD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48F988-9FCB-31DD-9547-75DEA9787AC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61A03E4-81A9-01FD-7086-9884671A81F5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6A7B64F5-83CB-2B4F-79B1-688EE894AB6E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D639712-066C-384F-F464-5AB763472FE9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BC97D17-0D45-418D-50B7-9F0578F3D390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C9A6D07A-C8E5-91AF-7A53-66F830D0ACA6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E613752-9E6F-88D4-9330-C98F0501B1CA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2D8D513-E734-4D5B-01F2-CF91EFCAC93D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C0126959-A6D7-D7DD-2FCD-E3D0174114F8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828B17E-1E11-9BFC-1C04-B17770654AFB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06F3C19-7A06-6AAA-92F6-0B94065892A1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FD583AF2-BCA6-DF23-719B-2798EEC63D92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244BD63-CAC7-90B5-442F-59863557E06D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7EAA5CD-755A-ED66-4BD5-6E3B668BF4A1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D55F715-F677-DC07-020A-B4060AB34EDD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Sequencer: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4BBF09-D606-EBD0-62ED-5394E86C5F1C}"/>
              </a:ext>
            </a:extLst>
          </p:cNvPr>
          <p:cNvSpPr txBox="1"/>
          <p:nvPr/>
        </p:nvSpPr>
        <p:spPr>
          <a:xfrm>
            <a:off x="3645876" y="3009939"/>
            <a:ext cx="71323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Gathers observed timestamps from clients and their distributions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 Applies statistical model to figure out fair order of messages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Actual timestamps are collected from clients to construct ground truth</a:t>
            </a:r>
          </a:p>
        </p:txBody>
      </p:sp>
    </p:spTree>
    <p:extLst>
      <p:ext uri="{BB962C8B-B14F-4D97-AF65-F5344CB8AC3E}">
        <p14:creationId xmlns:p14="http://schemas.microsoft.com/office/powerpoint/2010/main" val="1352375426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F604E-4439-624D-18FB-E754CC42E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B2362-A80C-B368-A93F-E21E748DC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45EEA0F-223C-473E-53E3-41A39ED7AF5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5D5E8DC-4025-BBEF-226F-97037938E295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9388DA4-9886-6FEF-79BD-631932F0AD9B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74A5A12-0743-D361-FFC7-0487A760CD4F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44865A6-9CEE-245F-CC13-7E19222483CA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A6A8CBD8-069B-18C4-7CB3-D38DFCEEF2E2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DF5D7E7-35F0-C9BA-6AC2-FB7E1B0AFC62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4925899-A5AE-FDAF-39DE-80E23FB6C4BB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2C52B8AD-B585-AE4E-8E0A-5D0FC4601358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A799E28-F6FB-9B2E-4F79-83C2B844849E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63F438B-4BFE-F447-1DB4-4A0D5088FAAB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17A3D33B-F90B-2282-C3B1-8EFC90EAF8B2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1C53F7-B64C-FFFC-1860-782C5F20FBD3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E92A5AB-81E0-1840-259F-18D7F4D1B01A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2578F5D2-9ABB-1390-8522-A3CE5E09232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A3CD8C2-8892-B0BC-21D4-346678A78AC3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B03D991-D64E-DE88-E006-39727A1EE3CC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E1166A1-9453-6AE3-DC7B-5DDF5263EDB5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33A42F-B00E-D9BF-A795-9088C5653567}"/>
              </a:ext>
            </a:extLst>
          </p:cNvPr>
          <p:cNvSpPr txBox="1"/>
          <p:nvPr/>
        </p:nvSpPr>
        <p:spPr>
          <a:xfrm>
            <a:off x="3645875" y="3009939"/>
            <a:ext cx="80488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Use Spanner’s </a:t>
            </a:r>
            <a:r>
              <a:rPr lang="en-US" sz="2800" dirty="0" err="1"/>
              <a:t>TrueTime</a:t>
            </a:r>
            <a:r>
              <a:rPr lang="en-US" sz="2800" dirty="0"/>
              <a:t> API to represent each observed timestamp as an interval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Two non-overlapping intervals can be ordered perfectly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Two overlapping intervals are left unordered i.e., given the same sequence number</a:t>
            </a:r>
          </a:p>
        </p:txBody>
      </p:sp>
    </p:spTree>
    <p:extLst>
      <p:ext uri="{BB962C8B-B14F-4D97-AF65-F5344CB8AC3E}">
        <p14:creationId xmlns:p14="http://schemas.microsoft.com/office/powerpoint/2010/main" val="2623827639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033FD85-B964-3D8A-1AFA-40ADD1E92CA1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5E2DDA4-7558-1055-535D-F6CB5F2AD1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7B803A2-98E3-3A3F-5A7B-BCCDB17B9CF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2103118" y="2935706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614284" y="2529038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messages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254A7E-0442-685F-E889-BA6F8515C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E4010F-603E-A684-0FC8-B97D0C132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A4B245C-9908-C47C-D9C4-167AFBF890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FB5CF1-6F84-C5F8-05BE-F95A4700C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325624-4F55-F997-171B-C1FB4B0E5F8E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AF3E0EE-BCA3-B1D5-7AD2-479725F385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D01F68D-E6D4-256D-57EB-77FAB94B31B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8" name="Right Arrow 7">
            <a:extLst>
              <a:ext uri="{FF2B5EF4-FFF2-40B4-BE49-F238E27FC236}">
                <a16:creationId xmlns:a16="http://schemas.microsoft.com/office/drawing/2014/main" id="{BB58A659-1893-0231-D924-0C9350BD3CAF}"/>
              </a:ext>
            </a:extLst>
          </p:cNvPr>
          <p:cNvSpPr/>
          <p:nvPr/>
        </p:nvSpPr>
        <p:spPr>
          <a:xfrm rot="16200000">
            <a:off x="5884244" y="4793382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3FFBB8-5FB1-E27C-75B4-BF828C004F73}"/>
              </a:ext>
            </a:extLst>
          </p:cNvPr>
          <p:cNvSpPr txBox="1"/>
          <p:nvPr/>
        </p:nvSpPr>
        <p:spPr>
          <a:xfrm>
            <a:off x="5013157" y="3415761"/>
            <a:ext cx="37249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Error distributions seeded to the clients</a:t>
            </a:r>
          </a:p>
        </p:txBody>
      </p:sp>
    </p:spTree>
    <p:extLst>
      <p:ext uri="{BB962C8B-B14F-4D97-AF65-F5344CB8AC3E}">
        <p14:creationId xmlns:p14="http://schemas.microsoft.com/office/powerpoint/2010/main" val="1915962349"/>
      </p:ext>
    </p:extLst>
  </p:cSld>
  <p:clrMapOvr>
    <a:masterClrMapping/>
  </p:clrMapOvr>
  <p:transition spd="slow">
    <p:strips dir="r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7DF07E-329C-5792-1D24-C80D6063D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7D6A073-3A4A-95A8-2783-4D6D35EBD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8AFD71A-AF85-C453-C57A-4AEC1C7B21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BE4CEF-DFBC-B15C-22E1-4FB696960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3B84FB2-E5BC-56E4-9325-6F77467E92C5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9A7C782-25AA-09FC-E851-0059F82CF6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86182AC-F838-98B7-FC48-13202D4B1E43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DE1AB91A-2CAB-4BE2-D636-7739DAE80E42}"/>
              </a:ext>
            </a:extLst>
          </p:cNvPr>
          <p:cNvSpPr/>
          <p:nvPr/>
        </p:nvSpPr>
        <p:spPr>
          <a:xfrm>
            <a:off x="3869355" y="3012707"/>
            <a:ext cx="394636" cy="375385"/>
          </a:xfrm>
          <a:prstGeom prst="ellips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9A8C211-4699-8D8B-8C45-E379734DF1D9}"/>
              </a:ext>
            </a:extLst>
          </p:cNvPr>
          <p:cNvSpPr/>
          <p:nvPr/>
        </p:nvSpPr>
        <p:spPr>
          <a:xfrm>
            <a:off x="3946357" y="3585315"/>
            <a:ext cx="317634" cy="275064"/>
          </a:xfrm>
          <a:prstGeom prst="ellips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FB962BC-9EF9-A7D3-5468-EB1610092349}"/>
              </a:ext>
            </a:extLst>
          </p:cNvPr>
          <p:cNvSpPr/>
          <p:nvPr/>
        </p:nvSpPr>
        <p:spPr>
          <a:xfrm>
            <a:off x="4004109" y="4057603"/>
            <a:ext cx="192506" cy="143823"/>
          </a:xfrm>
          <a:prstGeom prst="ellipse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35D6FE-165F-E5B1-A330-BA08D32BFAB8}"/>
              </a:ext>
            </a:extLst>
          </p:cNvPr>
          <p:cNvSpPr txBox="1"/>
          <p:nvPr/>
        </p:nvSpPr>
        <p:spPr>
          <a:xfrm>
            <a:off x="4585877" y="3023216"/>
            <a:ext cx="24337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Color intensity and the size of the marker is proportional to the “step” parameter</a:t>
            </a:r>
          </a:p>
        </p:txBody>
      </p:sp>
    </p:spTree>
    <p:extLst>
      <p:ext uri="{BB962C8B-B14F-4D97-AF65-F5344CB8AC3E}">
        <p14:creationId xmlns:p14="http://schemas.microsoft.com/office/powerpoint/2010/main" val="2775123578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1" grpId="0" animBg="1"/>
      <p:bldP spid="13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13B0C7-DE31-1FD1-1E7F-EAA6F26C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9E351A-1EA9-E419-FBBE-E74C2D7A5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DFB3440-5036-6F88-B061-8948C73E9A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E7CA1B-3E62-8B97-CCA6-E33D598E9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D25C1D2-F146-9553-E49C-8023E024A674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17E88F6-936A-29C5-038D-ADE2A976C9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DD5C133-DA23-4A80-D791-5F32000349E4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9119001"/>
      </p:ext>
    </p:extLst>
  </p:cSld>
  <p:clrMapOvr>
    <a:masterClrMapping/>
  </p:clrMapOvr>
  <p:transition spd="slow">
    <p:strips dir="ru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 spd="slow">
    <p:strips dir="r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a sequencer be sure that no new message will arrive that requires a lower sequence number?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  <a:p>
            <a:r>
              <a:rPr lang="en-US" dirty="0"/>
              <a:t>Byzantine clients</a:t>
            </a:r>
          </a:p>
        </p:txBody>
      </p:sp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015E7-F215-99C8-5838-804046CE9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4973D-9536-E45D-41A5-3F97B54E0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F70CD3-A060-C1CB-16E0-586FA52C10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Online sequencing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How can a sequencer be sure that no new message will arrive that requires a lower sequence number?</a:t>
            </a: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Extension to 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</a:rPr>
              <a:t>stochastically-fair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total order for cyclic probabilities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Mak a graph acyclic by removing some edges</a:t>
            </a:r>
          </a:p>
          <a:p>
            <a:pPr lvl="2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Unfair towards some clients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Attempt to balance out unfairness over some time horizon</a:t>
            </a:r>
          </a:p>
          <a:p>
            <a:r>
              <a:rPr lang="en-US" dirty="0"/>
              <a:t>Byzantine clients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B1B09C-271E-7E47-2926-EF9A2086D903}"/>
              </a:ext>
            </a:extLst>
          </p:cNvPr>
          <p:cNvSpPr/>
          <p:nvPr/>
        </p:nvSpPr>
        <p:spPr>
          <a:xfrm>
            <a:off x="1689096" y="5253633"/>
            <a:ext cx="82168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115448910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1064</TotalTime>
  <Words>833</Words>
  <Application>Microsoft Macintosh PowerPoint</Application>
  <PresentationFormat>Widescreen</PresentationFormat>
  <Paragraphs>189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Aptos</vt:lpstr>
      <vt:lpstr>Aptos Display</vt:lpstr>
      <vt:lpstr>Arial</vt:lpstr>
      <vt:lpstr>Calibri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Next steps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188</cp:revision>
  <dcterms:created xsi:type="dcterms:W3CDTF">2025-10-29T17:15:14Z</dcterms:created>
  <dcterms:modified xsi:type="dcterms:W3CDTF">2025-11-12T02:48:37Z</dcterms:modified>
</cp:coreProperties>
</file>