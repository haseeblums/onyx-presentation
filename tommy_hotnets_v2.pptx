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4"/>
  </p:notesMasterIdLst>
  <p:sldIdLst>
    <p:sldId id="263" r:id="rId2"/>
    <p:sldId id="351" r:id="rId3"/>
    <p:sldId id="352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366" r:id="rId18"/>
    <p:sldId id="368" r:id="rId19"/>
    <p:sldId id="277" r:id="rId20"/>
    <p:sldId id="340" r:id="rId21"/>
    <p:sldId id="369" r:id="rId22"/>
    <p:sldId id="370" r:id="rId23"/>
    <p:sldId id="371" r:id="rId24"/>
    <p:sldId id="372" r:id="rId25"/>
    <p:sldId id="374" r:id="rId26"/>
    <p:sldId id="376" r:id="rId27"/>
    <p:sldId id="377" r:id="rId28"/>
    <p:sldId id="378" r:id="rId29"/>
    <p:sldId id="273" r:id="rId30"/>
    <p:sldId id="379" r:id="rId31"/>
    <p:sldId id="380" r:id="rId32"/>
    <p:sldId id="38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44"/>
    <p:restoredTop sz="93708"/>
  </p:normalViewPr>
  <p:slideViewPr>
    <p:cSldViewPr snapToGrid="0">
      <p:cViewPr varScale="1">
        <p:scale>
          <a:sx n="132" d="100"/>
          <a:sy n="132" d="100"/>
        </p:scale>
        <p:origin x="1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e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572546F5-F22C-0DE0-1D29-1EC5E0A76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A1CAD604-E832-1FAC-7935-3412F930C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10BB1DAE-9A67-B7D2-F0B1-7DC4FC472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stock,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C2B292DE-8C03-DC4A-6942-F149BE89D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F06C-2397-39CD-408E-C05D0CC7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64A5-0EFE-2F48-0ED1-C0A62072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3D96C1A-530B-1103-9C55-A758E4E702C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CAAC65-910C-A0EA-D093-035FE09CC03D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23045895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B77087-D146-3F54-AB13-9311033B137C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96A1132D-ACD4-8E9D-94D4-C65F9426D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76E0F45-850D-DDA1-BADD-837246D7E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E7FFE3E3-CACF-A0C3-16F7-0515C5C00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F9A30-7221-B85B-AE16-639897C90641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D8C4E2-E66B-D24C-13D5-6CFA11CEF13E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8166A68A-5921-C26F-74AC-F23769E73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0BE69F7B-3D03-F056-96C3-DEE9C6512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EDFA497-70BE-6CCC-DAB4-4F4671A9C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42E92BA-B28C-3D25-E186-B82EA31D7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9F519B8-4089-DE9E-2DA0-ADCA58589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7DCE4E2-15E3-2BFA-F35A-30E33F814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B2650-2C8C-F10D-9303-B6E4D53E4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2AEC06-BA69-D35C-FADB-0B8D9D6674DA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B9D80AE-1EA8-AA1A-2806-8D543F372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76756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14FDA53E-0579-83A3-19F2-16FE477BE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756516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39813B02-8883-0FC1-6CBA-18EEEC231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18788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1DC8F9B-53C0-AA38-AD63-A1C84FC4D2C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9837972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33D9059B-38E4-7F04-73F7-5F37721DB6AE}"/>
              </a:ext>
            </a:extLst>
          </p:cNvPr>
          <p:cNvSpPr txBox="1">
            <a:spLocks/>
          </p:cNvSpPr>
          <p:nvPr/>
        </p:nvSpPr>
        <p:spPr>
          <a:xfrm>
            <a:off x="838200" y="18417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22074" y="3075057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67779" y="298500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C74F384-2C4B-6117-557A-63BCA467CA5F}"/>
              </a:ext>
            </a:extLst>
          </p:cNvPr>
          <p:cNvSpPr/>
          <p:nvPr/>
        </p:nvSpPr>
        <p:spPr>
          <a:xfrm>
            <a:off x="3186545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37EB68C-941E-941D-0E01-F9E2409A23DA}"/>
              </a:ext>
            </a:extLst>
          </p:cNvPr>
          <p:cNvSpPr/>
          <p:nvPr/>
        </p:nvSpPr>
        <p:spPr>
          <a:xfrm>
            <a:off x="7523020" y="184265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9F1D21-9710-52BC-BAD4-3E06CCAA11EA}"/>
              </a:ext>
            </a:extLst>
          </p:cNvPr>
          <p:cNvSpPr txBox="1"/>
          <p:nvPr/>
        </p:nvSpPr>
        <p:spPr>
          <a:xfrm>
            <a:off x="3422073" y="3075057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CCD095D-7BA6-9DF0-4BB2-2B4BCA4C376A}"/>
              </a:ext>
            </a:extLst>
          </p:cNvPr>
          <p:cNvSpPr txBox="1"/>
          <p:nvPr/>
        </p:nvSpPr>
        <p:spPr>
          <a:xfrm>
            <a:off x="7767779" y="2985004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C9B86-B192-D48F-1C21-5D1793981DBC}"/>
              </a:ext>
            </a:extLst>
          </p:cNvPr>
          <p:cNvSpPr txBox="1"/>
          <p:nvPr/>
        </p:nvSpPr>
        <p:spPr>
          <a:xfrm>
            <a:off x="3422074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487A1-8980-2215-E442-FCFCDE504C9B}"/>
              </a:ext>
            </a:extLst>
          </p:cNvPr>
          <p:cNvSpPr txBox="1"/>
          <p:nvPr/>
        </p:nvSpPr>
        <p:spPr>
          <a:xfrm>
            <a:off x="7767779" y="3782943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018A5158-44AB-D694-11D9-5724496EA56C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0BFD04D-8510-447B-5551-CA60F9E09CF9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8D7F0A-17A7-DFBD-96E5-184B621FADAA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1A0FE9-18D5-5446-4C6B-9AC0AEB28174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AC125A0E-B4F9-5CD5-5587-1F5A1638D592}"/>
              </a:ext>
            </a:extLst>
          </p:cNvPr>
          <p:cNvSpPr/>
          <p:nvPr/>
        </p:nvSpPr>
        <p:spPr>
          <a:xfrm>
            <a:off x="3120371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157CD66-15E8-4CB2-572D-7A44D127B2FB}"/>
              </a:ext>
            </a:extLst>
          </p:cNvPr>
          <p:cNvSpPr/>
          <p:nvPr/>
        </p:nvSpPr>
        <p:spPr>
          <a:xfrm>
            <a:off x="7456846" y="144368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850E35-1293-8107-367B-0AD5349FABF6}"/>
              </a:ext>
            </a:extLst>
          </p:cNvPr>
          <p:cNvSpPr txBox="1"/>
          <p:nvPr/>
        </p:nvSpPr>
        <p:spPr>
          <a:xfrm>
            <a:off x="3283527" y="2367171"/>
            <a:ext cx="25353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4820D3-B650-8850-30B6-6F45CED3402D}"/>
              </a:ext>
            </a:extLst>
          </p:cNvPr>
          <p:cNvSpPr txBox="1"/>
          <p:nvPr/>
        </p:nvSpPr>
        <p:spPr>
          <a:xfrm>
            <a:off x="7629233" y="2277118"/>
            <a:ext cx="3038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dirty="0">
                <a:solidFill>
                  <a:srgbClr val="FF0000"/>
                </a:solidFill>
              </a:rPr>
              <a:t> 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endParaRPr lang="en-US" sz="4000" baseline="-25000" dirty="0">
              <a:solidFill>
                <a:srgbClr val="FF0000"/>
              </a:solidFill>
            </a:endParaRPr>
          </a:p>
        </p:txBody>
      </p:sp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096000" y="4772543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DF81BE-7EB8-39FD-F708-CF17D45B338C}"/>
              </a:ext>
            </a:extLst>
          </p:cNvPr>
          <p:cNvSpPr txBox="1"/>
          <p:nvPr/>
        </p:nvSpPr>
        <p:spPr>
          <a:xfrm>
            <a:off x="7006175" y="3818436"/>
            <a:ext cx="454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For independent 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28CF02E-D163-0617-7CEB-AA6C48DEBEB7}"/>
              </a:ext>
            </a:extLst>
          </p:cNvPr>
          <p:cNvSpPr/>
          <p:nvPr/>
        </p:nvSpPr>
        <p:spPr>
          <a:xfrm>
            <a:off x="4449652" y="260122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935677AA-EDA2-FCDF-CE7F-1FFEA59C792B}"/>
              </a:ext>
            </a:extLst>
          </p:cNvPr>
          <p:cNvSpPr/>
          <p:nvPr/>
        </p:nvSpPr>
        <p:spPr>
          <a:xfrm rot="5400000">
            <a:off x="7172034" y="2939441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D987C016-01A3-914A-C140-9124115CC7F6}"/>
              </a:ext>
            </a:extLst>
          </p:cNvPr>
          <p:cNvSpPr/>
          <p:nvPr/>
        </p:nvSpPr>
        <p:spPr>
          <a:xfrm rot="13290293">
            <a:off x="4691366" y="4272365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4D3AF-674F-27D9-45BA-703343CAF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99943FE0-292F-A4DA-1CCE-A14F14E01ECD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536018F3-F442-E440-06C3-A814439C2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DC6273E-16EB-4A0A-078F-7CF6883DEDB6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EA2B36-2D5A-D1D5-A7AF-D9C268117570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271A3E9-36FB-95B7-9124-5A90BEA23031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39238FD0-7622-71D2-580D-4E5CFBEB5B96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E6B0977-681D-CD26-6BAF-866FB44ABC4D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06A4D0E6-25EB-6295-E313-E707D10779C5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06CD7F5-696D-CFCB-67BA-2212E9C0CEB3}"/>
              </a:ext>
            </a:extLst>
          </p:cNvPr>
          <p:cNvSpPr/>
          <p:nvPr/>
        </p:nvSpPr>
        <p:spPr>
          <a:xfrm>
            <a:off x="6525491" y="2780114"/>
            <a:ext cx="4568965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Probabilities are not necessarily transitive</a:t>
            </a:r>
          </a:p>
        </p:txBody>
      </p:sp>
    </p:spTree>
    <p:extLst>
      <p:ext uri="{BB962C8B-B14F-4D97-AF65-F5344CB8AC3E}">
        <p14:creationId xmlns:p14="http://schemas.microsoft.com/office/powerpoint/2010/main" val="27806394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21D3C-4648-2C8C-F232-C79FD82EC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786CF2F-D813-AE52-74DE-B6456B6560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B5732CF7-0D26-1467-E210-4A077FF81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68244AE4-E7F7-A495-E517-1C82BA225CC9}"/>
              </a:ext>
            </a:extLst>
          </p:cNvPr>
          <p:cNvSpPr/>
          <p:nvPr/>
        </p:nvSpPr>
        <p:spPr>
          <a:xfrm>
            <a:off x="570379" y="3179193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3BC41F2-2F96-2002-80C2-47CB5B0134BA}"/>
              </a:ext>
            </a:extLst>
          </p:cNvPr>
          <p:cNvSpPr/>
          <p:nvPr/>
        </p:nvSpPr>
        <p:spPr>
          <a:xfrm>
            <a:off x="2815571" y="2195945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4743033-B953-BA42-3AB1-22C75F32A89B}"/>
              </a:ext>
            </a:extLst>
          </p:cNvPr>
          <p:cNvSpPr/>
          <p:nvPr/>
        </p:nvSpPr>
        <p:spPr>
          <a:xfrm>
            <a:off x="4398784" y="3886200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7815C3E4-311A-19CD-84C6-EBA01E26BB29}"/>
              </a:ext>
            </a:extLst>
          </p:cNvPr>
          <p:cNvSpPr/>
          <p:nvPr/>
        </p:nvSpPr>
        <p:spPr>
          <a:xfrm>
            <a:off x="1429361" y="236569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Bent Arrow 5">
            <a:extLst>
              <a:ext uri="{FF2B5EF4-FFF2-40B4-BE49-F238E27FC236}">
                <a16:creationId xmlns:a16="http://schemas.microsoft.com/office/drawing/2014/main" id="{4075B8E4-46E0-9971-8CEB-685A8FE4E62E}"/>
              </a:ext>
            </a:extLst>
          </p:cNvPr>
          <p:cNvSpPr/>
          <p:nvPr/>
        </p:nvSpPr>
        <p:spPr>
          <a:xfrm rot="5400000">
            <a:off x="4151743" y="2703914"/>
            <a:ext cx="1191491" cy="720436"/>
          </a:xfrm>
          <a:custGeom>
            <a:avLst/>
            <a:gdLst>
              <a:gd name="connsiteX0" fmla="*/ 0 w 1191491"/>
              <a:gd name="connsiteY0" fmla="*/ 720436 h 720436"/>
              <a:gd name="connsiteX1" fmla="*/ 0 w 1191491"/>
              <a:gd name="connsiteY1" fmla="*/ 412176 h 720436"/>
              <a:gd name="connsiteX2" fmla="*/ 315191 w 1191491"/>
              <a:gd name="connsiteY2" fmla="*/ 96985 h 720436"/>
              <a:gd name="connsiteX3" fmla="*/ 656325 w 1191491"/>
              <a:gd name="connsiteY3" fmla="*/ 96985 h 720436"/>
              <a:gd name="connsiteX4" fmla="*/ 1011382 w 1191491"/>
              <a:gd name="connsiteY4" fmla="*/ 96985 h 720436"/>
              <a:gd name="connsiteX5" fmla="*/ 1011382 w 1191491"/>
              <a:gd name="connsiteY5" fmla="*/ 0 h 720436"/>
              <a:gd name="connsiteX6" fmla="*/ 1191491 w 1191491"/>
              <a:gd name="connsiteY6" fmla="*/ 187040 h 720436"/>
              <a:gd name="connsiteX7" fmla="*/ 1011382 w 1191491"/>
              <a:gd name="connsiteY7" fmla="*/ 374079 h 720436"/>
              <a:gd name="connsiteX8" fmla="*/ 1011382 w 1191491"/>
              <a:gd name="connsiteY8" fmla="*/ 277094 h 720436"/>
              <a:gd name="connsiteX9" fmla="*/ 656325 w 1191491"/>
              <a:gd name="connsiteY9" fmla="*/ 277094 h 720436"/>
              <a:gd name="connsiteX10" fmla="*/ 315191 w 1191491"/>
              <a:gd name="connsiteY10" fmla="*/ 277094 h 720436"/>
              <a:gd name="connsiteX11" fmla="*/ 180109 w 1191491"/>
              <a:gd name="connsiteY11" fmla="*/ 412176 h 720436"/>
              <a:gd name="connsiteX12" fmla="*/ 180109 w 1191491"/>
              <a:gd name="connsiteY12" fmla="*/ 720436 h 720436"/>
              <a:gd name="connsiteX13" fmla="*/ 0 w 1191491"/>
              <a:gd name="connsiteY13" fmla="*/ 720436 h 7204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1491" h="720436" fill="none" extrusionOk="0">
                <a:moveTo>
                  <a:pt x="0" y="720436"/>
                </a:moveTo>
                <a:cubicBezTo>
                  <a:pt x="-16433" y="617098"/>
                  <a:pt x="9030" y="488586"/>
                  <a:pt x="0" y="412176"/>
                </a:cubicBezTo>
                <a:cubicBezTo>
                  <a:pt x="-286" y="244906"/>
                  <a:pt x="174299" y="77302"/>
                  <a:pt x="315191" y="96985"/>
                </a:cubicBezTo>
                <a:cubicBezTo>
                  <a:pt x="417080" y="88717"/>
                  <a:pt x="582165" y="131696"/>
                  <a:pt x="656325" y="96985"/>
                </a:cubicBezTo>
                <a:cubicBezTo>
                  <a:pt x="730485" y="62274"/>
                  <a:pt x="842668" y="135608"/>
                  <a:pt x="1011382" y="96985"/>
                </a:cubicBezTo>
                <a:cubicBezTo>
                  <a:pt x="1007278" y="72027"/>
                  <a:pt x="1018511" y="39451"/>
                  <a:pt x="1011382" y="0"/>
                </a:cubicBezTo>
                <a:cubicBezTo>
                  <a:pt x="1071222" y="22629"/>
                  <a:pt x="1142021" y="156881"/>
                  <a:pt x="1191491" y="187040"/>
                </a:cubicBezTo>
                <a:cubicBezTo>
                  <a:pt x="1142912" y="277956"/>
                  <a:pt x="1086540" y="274006"/>
                  <a:pt x="1011382" y="374079"/>
                </a:cubicBezTo>
                <a:cubicBezTo>
                  <a:pt x="1001104" y="335522"/>
                  <a:pt x="1016397" y="318429"/>
                  <a:pt x="1011382" y="277094"/>
                </a:cubicBezTo>
                <a:cubicBezTo>
                  <a:pt x="897113" y="308546"/>
                  <a:pt x="790060" y="246073"/>
                  <a:pt x="656325" y="277094"/>
                </a:cubicBezTo>
                <a:cubicBezTo>
                  <a:pt x="522590" y="308115"/>
                  <a:pt x="471276" y="269424"/>
                  <a:pt x="315191" y="277094"/>
                </a:cubicBezTo>
                <a:cubicBezTo>
                  <a:pt x="238441" y="276271"/>
                  <a:pt x="188153" y="329662"/>
                  <a:pt x="180109" y="412176"/>
                </a:cubicBezTo>
                <a:cubicBezTo>
                  <a:pt x="191012" y="498450"/>
                  <a:pt x="180082" y="587824"/>
                  <a:pt x="180109" y="720436"/>
                </a:cubicBezTo>
                <a:cubicBezTo>
                  <a:pt x="107214" y="739321"/>
                  <a:pt x="65715" y="711420"/>
                  <a:pt x="0" y="720436"/>
                </a:cubicBezTo>
                <a:close/>
              </a:path>
              <a:path w="1191491" h="720436" stroke="0" extrusionOk="0">
                <a:moveTo>
                  <a:pt x="0" y="720436"/>
                </a:moveTo>
                <a:cubicBezTo>
                  <a:pt x="-1998" y="636807"/>
                  <a:pt x="29934" y="510315"/>
                  <a:pt x="0" y="412176"/>
                </a:cubicBezTo>
                <a:cubicBezTo>
                  <a:pt x="10617" y="240202"/>
                  <a:pt x="138595" y="86174"/>
                  <a:pt x="315191" y="96985"/>
                </a:cubicBezTo>
                <a:cubicBezTo>
                  <a:pt x="481552" y="80748"/>
                  <a:pt x="526405" y="102481"/>
                  <a:pt x="656325" y="96985"/>
                </a:cubicBezTo>
                <a:cubicBezTo>
                  <a:pt x="786245" y="91489"/>
                  <a:pt x="915831" y="125923"/>
                  <a:pt x="1011382" y="96985"/>
                </a:cubicBezTo>
                <a:cubicBezTo>
                  <a:pt x="1000639" y="70042"/>
                  <a:pt x="1022618" y="47440"/>
                  <a:pt x="1011382" y="0"/>
                </a:cubicBezTo>
                <a:cubicBezTo>
                  <a:pt x="1096148" y="60763"/>
                  <a:pt x="1127607" y="127371"/>
                  <a:pt x="1191491" y="187040"/>
                </a:cubicBezTo>
                <a:cubicBezTo>
                  <a:pt x="1171363" y="248901"/>
                  <a:pt x="1069907" y="310074"/>
                  <a:pt x="1011382" y="374079"/>
                </a:cubicBezTo>
                <a:cubicBezTo>
                  <a:pt x="1001523" y="334934"/>
                  <a:pt x="1013540" y="321799"/>
                  <a:pt x="1011382" y="277094"/>
                </a:cubicBezTo>
                <a:cubicBezTo>
                  <a:pt x="918085" y="304384"/>
                  <a:pt x="741642" y="269298"/>
                  <a:pt x="656325" y="277094"/>
                </a:cubicBezTo>
                <a:cubicBezTo>
                  <a:pt x="571008" y="284890"/>
                  <a:pt x="410587" y="250815"/>
                  <a:pt x="315191" y="277094"/>
                </a:cubicBezTo>
                <a:cubicBezTo>
                  <a:pt x="242947" y="274165"/>
                  <a:pt x="167918" y="332859"/>
                  <a:pt x="180109" y="412176"/>
                </a:cubicBezTo>
                <a:cubicBezTo>
                  <a:pt x="215134" y="510682"/>
                  <a:pt x="150701" y="580289"/>
                  <a:pt x="180109" y="720436"/>
                </a:cubicBezTo>
                <a:cubicBezTo>
                  <a:pt x="95632" y="725929"/>
                  <a:pt x="47934" y="701800"/>
                  <a:pt x="0" y="720436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ent Arrow 7">
            <a:extLst>
              <a:ext uri="{FF2B5EF4-FFF2-40B4-BE49-F238E27FC236}">
                <a16:creationId xmlns:a16="http://schemas.microsoft.com/office/drawing/2014/main" id="{18628007-5DDD-6E30-3F78-6FAFFD161B79}"/>
              </a:ext>
            </a:extLst>
          </p:cNvPr>
          <p:cNvSpPr/>
          <p:nvPr/>
        </p:nvSpPr>
        <p:spPr>
          <a:xfrm rot="13290293">
            <a:off x="1671075" y="4036838"/>
            <a:ext cx="2338829" cy="1451380"/>
          </a:xfrm>
          <a:custGeom>
            <a:avLst/>
            <a:gdLst>
              <a:gd name="connsiteX0" fmla="*/ 0 w 2338829"/>
              <a:gd name="connsiteY0" fmla="*/ 1451380 h 1451380"/>
              <a:gd name="connsiteX1" fmla="*/ 0 w 2338829"/>
              <a:gd name="connsiteY1" fmla="*/ 1128452 h 1451380"/>
              <a:gd name="connsiteX2" fmla="*/ 0 w 2338829"/>
              <a:gd name="connsiteY2" fmla="*/ 830364 h 1451380"/>
              <a:gd name="connsiteX3" fmla="*/ 634979 w 2338829"/>
              <a:gd name="connsiteY3" fmla="*/ 195385 h 1451380"/>
              <a:gd name="connsiteX4" fmla="*/ 1041751 w 2338829"/>
              <a:gd name="connsiteY4" fmla="*/ 195385 h 1451380"/>
              <a:gd name="connsiteX5" fmla="*/ 1502162 w 2338829"/>
              <a:gd name="connsiteY5" fmla="*/ 195385 h 1451380"/>
              <a:gd name="connsiteX6" fmla="*/ 1975984 w 2338829"/>
              <a:gd name="connsiteY6" fmla="*/ 195385 h 1451380"/>
              <a:gd name="connsiteX7" fmla="*/ 1975984 w 2338829"/>
              <a:gd name="connsiteY7" fmla="*/ 0 h 1451380"/>
              <a:gd name="connsiteX8" fmla="*/ 2338829 w 2338829"/>
              <a:gd name="connsiteY8" fmla="*/ 376807 h 1451380"/>
              <a:gd name="connsiteX9" fmla="*/ 1975984 w 2338829"/>
              <a:gd name="connsiteY9" fmla="*/ 753615 h 1451380"/>
              <a:gd name="connsiteX10" fmla="*/ 1975984 w 2338829"/>
              <a:gd name="connsiteY10" fmla="*/ 558230 h 1451380"/>
              <a:gd name="connsiteX11" fmla="*/ 1515572 w 2338829"/>
              <a:gd name="connsiteY11" fmla="*/ 558230 h 1451380"/>
              <a:gd name="connsiteX12" fmla="*/ 1095391 w 2338829"/>
              <a:gd name="connsiteY12" fmla="*/ 558230 h 1451380"/>
              <a:gd name="connsiteX13" fmla="*/ 634979 w 2338829"/>
              <a:gd name="connsiteY13" fmla="*/ 558230 h 1451380"/>
              <a:gd name="connsiteX14" fmla="*/ 362845 w 2338829"/>
              <a:gd name="connsiteY14" fmla="*/ 830364 h 1451380"/>
              <a:gd name="connsiteX15" fmla="*/ 362845 w 2338829"/>
              <a:gd name="connsiteY15" fmla="*/ 1140872 h 1451380"/>
              <a:gd name="connsiteX16" fmla="*/ 362845 w 2338829"/>
              <a:gd name="connsiteY16" fmla="*/ 1451380 h 1451380"/>
              <a:gd name="connsiteX17" fmla="*/ 0 w 2338829"/>
              <a:gd name="connsiteY17" fmla="*/ 1451380 h 14513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338829" h="1451380" fill="none" extrusionOk="0">
                <a:moveTo>
                  <a:pt x="0" y="1451380"/>
                </a:moveTo>
                <a:cubicBezTo>
                  <a:pt x="-31163" y="1356073"/>
                  <a:pt x="24097" y="1284160"/>
                  <a:pt x="0" y="1128452"/>
                </a:cubicBezTo>
                <a:cubicBezTo>
                  <a:pt x="-24097" y="972744"/>
                  <a:pt x="26153" y="973357"/>
                  <a:pt x="0" y="830364"/>
                </a:cubicBezTo>
                <a:cubicBezTo>
                  <a:pt x="-47848" y="539311"/>
                  <a:pt x="287002" y="187043"/>
                  <a:pt x="634979" y="195385"/>
                </a:cubicBezTo>
                <a:cubicBezTo>
                  <a:pt x="779225" y="149203"/>
                  <a:pt x="911755" y="201278"/>
                  <a:pt x="1041751" y="195385"/>
                </a:cubicBezTo>
                <a:cubicBezTo>
                  <a:pt x="1171747" y="189492"/>
                  <a:pt x="1331562" y="224176"/>
                  <a:pt x="1502162" y="195385"/>
                </a:cubicBezTo>
                <a:cubicBezTo>
                  <a:pt x="1672762" y="166594"/>
                  <a:pt x="1762656" y="229994"/>
                  <a:pt x="1975984" y="195385"/>
                </a:cubicBezTo>
                <a:cubicBezTo>
                  <a:pt x="1957312" y="140913"/>
                  <a:pt x="1981415" y="47677"/>
                  <a:pt x="1975984" y="0"/>
                </a:cubicBezTo>
                <a:cubicBezTo>
                  <a:pt x="2151165" y="93892"/>
                  <a:pt x="2191685" y="280800"/>
                  <a:pt x="2338829" y="376807"/>
                </a:cubicBezTo>
                <a:cubicBezTo>
                  <a:pt x="2212520" y="525627"/>
                  <a:pt x="2089020" y="570215"/>
                  <a:pt x="1975984" y="753615"/>
                </a:cubicBezTo>
                <a:cubicBezTo>
                  <a:pt x="1955185" y="704754"/>
                  <a:pt x="1992543" y="637217"/>
                  <a:pt x="1975984" y="558230"/>
                </a:cubicBezTo>
                <a:cubicBezTo>
                  <a:pt x="1762250" y="561278"/>
                  <a:pt x="1657754" y="549796"/>
                  <a:pt x="1515572" y="558230"/>
                </a:cubicBezTo>
                <a:cubicBezTo>
                  <a:pt x="1373390" y="566664"/>
                  <a:pt x="1182196" y="527263"/>
                  <a:pt x="1095391" y="558230"/>
                </a:cubicBezTo>
                <a:cubicBezTo>
                  <a:pt x="1008586" y="589197"/>
                  <a:pt x="817921" y="557330"/>
                  <a:pt x="634979" y="558230"/>
                </a:cubicBezTo>
                <a:cubicBezTo>
                  <a:pt x="477992" y="562551"/>
                  <a:pt x="348876" y="659161"/>
                  <a:pt x="362845" y="830364"/>
                </a:cubicBezTo>
                <a:cubicBezTo>
                  <a:pt x="392589" y="973367"/>
                  <a:pt x="336041" y="1055818"/>
                  <a:pt x="362845" y="1140872"/>
                </a:cubicBezTo>
                <a:cubicBezTo>
                  <a:pt x="389649" y="1225926"/>
                  <a:pt x="360134" y="1311614"/>
                  <a:pt x="362845" y="1451380"/>
                </a:cubicBezTo>
                <a:cubicBezTo>
                  <a:pt x="281331" y="1472668"/>
                  <a:pt x="135036" y="1432575"/>
                  <a:pt x="0" y="1451380"/>
                </a:cubicBezTo>
                <a:close/>
              </a:path>
              <a:path w="2338829" h="1451380" stroke="0" extrusionOk="0">
                <a:moveTo>
                  <a:pt x="0" y="1451380"/>
                </a:moveTo>
                <a:cubicBezTo>
                  <a:pt x="-19093" y="1307772"/>
                  <a:pt x="18007" y="1258140"/>
                  <a:pt x="0" y="1147082"/>
                </a:cubicBezTo>
                <a:cubicBezTo>
                  <a:pt x="-18007" y="1036024"/>
                  <a:pt x="37" y="942647"/>
                  <a:pt x="0" y="830364"/>
                </a:cubicBezTo>
                <a:cubicBezTo>
                  <a:pt x="-69294" y="547345"/>
                  <a:pt x="265841" y="297358"/>
                  <a:pt x="634979" y="195385"/>
                </a:cubicBezTo>
                <a:cubicBezTo>
                  <a:pt x="820158" y="168369"/>
                  <a:pt x="920119" y="240468"/>
                  <a:pt x="1055161" y="195385"/>
                </a:cubicBezTo>
                <a:cubicBezTo>
                  <a:pt x="1190203" y="150302"/>
                  <a:pt x="1379395" y="219098"/>
                  <a:pt x="1528982" y="195385"/>
                </a:cubicBezTo>
                <a:cubicBezTo>
                  <a:pt x="1678569" y="171672"/>
                  <a:pt x="1756782" y="245890"/>
                  <a:pt x="1975984" y="195385"/>
                </a:cubicBezTo>
                <a:cubicBezTo>
                  <a:pt x="1974757" y="122980"/>
                  <a:pt x="1978693" y="93905"/>
                  <a:pt x="1975984" y="0"/>
                </a:cubicBezTo>
                <a:cubicBezTo>
                  <a:pt x="2152372" y="132303"/>
                  <a:pt x="2227120" y="261012"/>
                  <a:pt x="2338829" y="376807"/>
                </a:cubicBezTo>
                <a:cubicBezTo>
                  <a:pt x="2198728" y="602587"/>
                  <a:pt x="2030317" y="634047"/>
                  <a:pt x="1975984" y="753615"/>
                </a:cubicBezTo>
                <a:cubicBezTo>
                  <a:pt x="1954003" y="669824"/>
                  <a:pt x="1982635" y="618184"/>
                  <a:pt x="1975984" y="558230"/>
                </a:cubicBezTo>
                <a:cubicBezTo>
                  <a:pt x="1885957" y="582659"/>
                  <a:pt x="1675605" y="517823"/>
                  <a:pt x="1528982" y="558230"/>
                </a:cubicBezTo>
                <a:cubicBezTo>
                  <a:pt x="1382359" y="598637"/>
                  <a:pt x="1298147" y="528477"/>
                  <a:pt x="1108801" y="558230"/>
                </a:cubicBezTo>
                <a:cubicBezTo>
                  <a:pt x="919455" y="587983"/>
                  <a:pt x="806776" y="547702"/>
                  <a:pt x="634979" y="558230"/>
                </a:cubicBezTo>
                <a:cubicBezTo>
                  <a:pt x="467257" y="522707"/>
                  <a:pt x="363775" y="667495"/>
                  <a:pt x="362845" y="830364"/>
                </a:cubicBezTo>
                <a:cubicBezTo>
                  <a:pt x="369499" y="965858"/>
                  <a:pt x="334819" y="1011103"/>
                  <a:pt x="362845" y="1147082"/>
                </a:cubicBezTo>
                <a:cubicBezTo>
                  <a:pt x="390871" y="1283061"/>
                  <a:pt x="336541" y="1319003"/>
                  <a:pt x="362845" y="1451380"/>
                </a:cubicBezTo>
                <a:cubicBezTo>
                  <a:pt x="275974" y="1488195"/>
                  <a:pt x="124314" y="1431482"/>
                  <a:pt x="0" y="1451380"/>
                </a:cubicBezTo>
                <a:close/>
              </a:path>
            </a:pathLst>
          </a:custGeom>
          <a:solidFill>
            <a:schemeClr val="accent2"/>
          </a:solidFill>
          <a:ln>
            <a:extLst>
              <a:ext uri="{C807C97D-BFC1-408E-A445-0C87EB9F89A2}">
                <ask:lineSketchStyleProps xmlns:ask="http://schemas.microsoft.com/office/drawing/2018/sketchyshapes" sd="1219033472">
                  <a:prstGeom prst="bentArrow">
                    <a:avLst>
                      <a:gd name="adj1" fmla="val 25000"/>
                      <a:gd name="adj2" fmla="val 25962"/>
                      <a:gd name="adj3" fmla="val 25000"/>
                      <a:gd name="adj4" fmla="val 43750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4F73B2-5679-07D3-A43A-B8DD18D5C9F6}"/>
              </a:ext>
            </a:extLst>
          </p:cNvPr>
          <p:cNvSpPr/>
          <p:nvPr/>
        </p:nvSpPr>
        <p:spPr>
          <a:xfrm>
            <a:off x="6774874" y="3686660"/>
            <a:ext cx="3602182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sp>
        <p:nvSpPr>
          <p:cNvPr id="4" name="&quot;No&quot; Symbol 3">
            <a:extLst>
              <a:ext uri="{FF2B5EF4-FFF2-40B4-BE49-F238E27FC236}">
                <a16:creationId xmlns:a16="http://schemas.microsoft.com/office/drawing/2014/main" id="{DC2D8271-AD2F-ABB7-CFFF-BABDA301EC27}"/>
              </a:ext>
            </a:extLst>
          </p:cNvPr>
          <p:cNvSpPr/>
          <p:nvPr/>
        </p:nvSpPr>
        <p:spPr>
          <a:xfrm>
            <a:off x="2025107" y="4368040"/>
            <a:ext cx="1369258" cy="1243051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CF0E818-F29F-BF0A-A4D5-04E58E2B267E}"/>
              </a:ext>
            </a:extLst>
          </p:cNvPr>
          <p:cNvSpPr/>
          <p:nvPr/>
        </p:nvSpPr>
        <p:spPr>
          <a:xfrm>
            <a:off x="6096000" y="2228634"/>
            <a:ext cx="4237148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Gaussian-distributed errors</a:t>
            </a:r>
          </a:p>
        </p:txBody>
      </p:sp>
    </p:spTree>
    <p:extLst>
      <p:ext uri="{BB962C8B-B14F-4D97-AF65-F5344CB8AC3E}">
        <p14:creationId xmlns:p14="http://schemas.microsoft.com/office/powerpoint/2010/main" val="3427165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4D88D-E86D-C58C-ECF5-0910F13D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71C7C-3D2F-6EF2-8A95-F207141DB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88EFE-F5AB-281D-0629-CD7404407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ABE580-077C-C750-B5CB-5B1285F8F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406183"/>
      </p:ext>
    </p:extLst>
  </p:cSld>
  <p:clrMapOvr>
    <a:masterClrMapping/>
  </p:clrMapOvr>
  <p:transition spd="slow">
    <p:strips dir="r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Safe message emission from the sequencer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r>
              <a:rPr lang="en-US" dirty="0"/>
              <a:t>Byzantine clients</a:t>
            </a: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A8662-D8A0-61F7-7317-D4EE58B5E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5B2D7-7D4B-2ADC-9342-9D6136131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1F076-E680-D9CE-08A5-2870D2227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Online sequencing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Safe message emission from the sequencer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Extension to 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stochastically-fair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total order for cyclic probabilities</a:t>
            </a:r>
          </a:p>
          <a:p>
            <a:r>
              <a:rPr lang="en-US" dirty="0"/>
              <a:t>Byzantine clients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47A83C-F18B-AD26-AD52-DD8524031781}"/>
              </a:ext>
            </a:extLst>
          </p:cNvPr>
          <p:cNvSpPr/>
          <p:nvPr/>
        </p:nvSpPr>
        <p:spPr>
          <a:xfrm>
            <a:off x="1640970" y="4394652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02873678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816</TotalTime>
  <Words>551</Words>
  <Application>Microsoft Macintosh PowerPoint</Application>
  <PresentationFormat>Widescreen</PresentationFormat>
  <Paragraphs>138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Mistral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Next steps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161</cp:revision>
  <dcterms:created xsi:type="dcterms:W3CDTF">2025-10-29T17:15:14Z</dcterms:created>
  <dcterms:modified xsi:type="dcterms:W3CDTF">2025-11-11T22:40:09Z</dcterms:modified>
</cp:coreProperties>
</file>