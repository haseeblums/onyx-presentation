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93" r:id="rId13"/>
    <p:sldId id="400" r:id="rId14"/>
    <p:sldId id="402" r:id="rId15"/>
    <p:sldId id="368" r:id="rId16"/>
    <p:sldId id="277" r:id="rId17"/>
    <p:sldId id="415" r:id="rId18"/>
    <p:sldId id="340" r:id="rId19"/>
    <p:sldId id="369" r:id="rId20"/>
    <p:sldId id="411" r:id="rId21"/>
    <p:sldId id="412" r:id="rId22"/>
    <p:sldId id="374" r:id="rId23"/>
    <p:sldId id="376" r:id="rId24"/>
    <p:sldId id="413" r:id="rId25"/>
    <p:sldId id="414" r:id="rId26"/>
    <p:sldId id="385" r:id="rId27"/>
    <p:sldId id="273" r:id="rId28"/>
    <p:sldId id="384" r:id="rId29"/>
    <p:sldId id="408" r:id="rId30"/>
    <p:sldId id="383" r:id="rId31"/>
    <p:sldId id="38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64"/>
    <p:restoredTop sz="93701"/>
  </p:normalViewPr>
  <p:slideViewPr>
    <p:cSldViewPr snapToGrid="0">
      <p:cViewPr>
        <p:scale>
          <a:sx n="125" d="100"/>
          <a:sy n="125" d="100"/>
        </p:scale>
        <p:origin x="1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Open Question: Dealing with cycles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1172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5.png"/><Relationship Id="rId5" Type="http://schemas.openxmlformats.org/officeDocument/2006/relationships/image" Target="../media/image34.png"/><Relationship Id="rId15" Type="http://schemas.openxmlformats.org/officeDocument/2006/relationships/image" Target="../media/image49.png"/><Relationship Id="rId10" Type="http://schemas.openxmlformats.org/officeDocument/2006/relationships/image" Target="../media/image44.png"/><Relationship Id="rId4" Type="http://schemas.openxmlformats.org/officeDocument/2006/relationships/image" Target="../media/image33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image" Target="../media/image5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E446CBC-202E-7078-CACD-27C4AEA503F7}"/>
              </a:ext>
            </a:extLst>
          </p:cNvPr>
          <p:cNvSpPr txBox="1"/>
          <p:nvPr/>
        </p:nvSpPr>
        <p:spPr>
          <a:xfrm>
            <a:off x="3251200" y="5434149"/>
            <a:ext cx="548372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</a:rPr>
              <a:t>probabilistically compare</a:t>
            </a: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imprecise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</a:rPr>
              <a:t>probabilistically compare</a:t>
            </a:r>
            <a:r>
              <a:rPr lang="en-US" sz="28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imprecise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29771" y="1681020"/>
            <a:ext cx="2953511" cy="10814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Equalized Cable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765070" y="1681020"/>
            <a:ext cx="2987420" cy="1073929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  <a:br>
              <a:rPr lang="en-US" sz="5400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SIGCOMM’25</a:t>
            </a:r>
            <a:endParaRPr lang="en-US" sz="54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E5B4536-8D83-FD48-1876-E0FA95316A73}"/>
              </a:ext>
            </a:extLst>
          </p:cNvPr>
          <p:cNvSpPr/>
          <p:nvPr/>
        </p:nvSpPr>
        <p:spPr>
          <a:xfrm>
            <a:off x="314510" y="1414504"/>
            <a:ext cx="11420290" cy="83268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" dirty="0">
                <a:solidFill>
                  <a:schemeClr val="accent6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D9159-65B2-87EB-8094-B5D93DF82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BA1CAC90-D90C-EBFD-2A1C-868DF740A29F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D3F87-C13B-9EC1-5E00-1413EDE30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3BF33D9F-89AC-616C-6BFF-6EC62257F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488FF363-3D0D-ABB9-BFF6-DF2AE36E6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D3FB802F-C2F4-E858-6DB6-382C270CF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69A32D20-122D-3A73-116E-D60E262F1E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60CCA746-643E-4FE7-7554-63D83E36C02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0F6092-8EB0-3F27-3E55-A872D54CAA56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DDA8148-DAAA-075B-CCA4-1CD6A173CD72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0FCB57-B496-2421-D425-147D03FDD667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43FF7F-B345-F617-C27B-E259EEA3A6B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E2AB4EDE-243B-CC50-9DFE-6C11ECDC64EC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B9B30AC3-2319-4D0B-1B19-E0C62324442D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850363A-8B49-A5E3-17E9-D457C1ACC41E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B3CF548-CA56-8085-1E89-7D2456AEBB7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4C983D4-363B-70FD-D645-D52C55113139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5ADE9C0-4EA1-376F-2A40-5BCF0056867B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BD788C9F-51A6-840E-2C37-586C8F8B0C72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6A985DFF-35D8-4035-EF8B-F13C84EE8E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260E1B7E-2E20-399D-6FFB-004F1485A3B2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5C827AE5-004F-5A8E-DB29-182DA4BCB7C1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591D57FB-038A-1D3B-B9D5-377174E03D5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5B07E745-1C62-E22C-CE5E-29E91AB3D09C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B718CA8-64E4-134D-4C21-A1C90B02F79D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A6A05307-5C1A-A478-D5F7-F77230FD8AF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8A227BD1-B341-04C2-EE9A-203CD3E62285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57C529-73B3-EAAC-A936-73ACB7642670}"/>
              </a:ext>
            </a:extLst>
          </p:cNvPr>
          <p:cNvGrpSpPr/>
          <p:nvPr/>
        </p:nvGrpSpPr>
        <p:grpSpPr>
          <a:xfrm>
            <a:off x="3419735" y="3466610"/>
            <a:ext cx="418924" cy="419672"/>
            <a:chOff x="6302631" y="3337852"/>
            <a:chExt cx="418924" cy="419672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2AD82E81-1D13-4FB0-F238-6082ADC2BB7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FE5E4C-10FB-5BE0-46E6-4260B51AE6F8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94627AC-D228-056A-3136-BA843AB4F55D}"/>
              </a:ext>
            </a:extLst>
          </p:cNvPr>
          <p:cNvGrpSpPr/>
          <p:nvPr/>
        </p:nvGrpSpPr>
        <p:grpSpPr>
          <a:xfrm>
            <a:off x="3867347" y="3466610"/>
            <a:ext cx="418924" cy="419672"/>
            <a:chOff x="6302631" y="3337852"/>
            <a:chExt cx="418924" cy="419672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B415BC6-D220-8407-03D5-50300A6E5DE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80ABB6-48AF-B255-035D-410F4A0A15E2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D635A9-EE2B-BEB0-E90F-EF6CB74F3528}"/>
              </a:ext>
            </a:extLst>
          </p:cNvPr>
          <p:cNvGrpSpPr/>
          <p:nvPr/>
        </p:nvGrpSpPr>
        <p:grpSpPr>
          <a:xfrm>
            <a:off x="4737558" y="3474399"/>
            <a:ext cx="418924" cy="419672"/>
            <a:chOff x="6302631" y="3337852"/>
            <a:chExt cx="418924" cy="419672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E7998973-1B0A-412D-842D-3A7DDC12782F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09EEB9D-9C91-2FE0-0DE4-10B37F570985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6FAB8C-8529-E526-6F3D-F7278BAEAF73}"/>
              </a:ext>
            </a:extLst>
          </p:cNvPr>
          <p:cNvGrpSpPr/>
          <p:nvPr/>
        </p:nvGrpSpPr>
        <p:grpSpPr>
          <a:xfrm>
            <a:off x="5191428" y="3466610"/>
            <a:ext cx="418924" cy="419672"/>
            <a:chOff x="6302631" y="3337852"/>
            <a:chExt cx="418924" cy="419672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629B0CF-4C67-C4E8-CA62-D1D6A91375B7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03BF1F-8B99-9BF5-7423-3DE18D7C496A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4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355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-1.11111E-6 C 0.00182 0.0037 -0.00052 0.00023 0.00169 0.0331 C 0.00377 0.06597 -0.01472 0.16667 0.01237 0.19676 C 0.04166 0.23125 0.11875 0.22361 0.15338 0.22824 " pathEditMode="relative" rAng="0" ptsTypes="AA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04" y="1141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-1.11111E-6 C 0.00183 0.00417 -0.00052 0.0007 0.0017 0.03333 C 0.00378 0.06644 -0.01472 0.1669 0.01237 0.19699 C 0.04167 0.23171 0.16446 0.22361 0.19909 0.22847 " pathEditMode="relative" rAng="0" ptsTypes="AAAA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96" y="1141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1.48148E-6 C 0.00234 0.00324 2.5E-6 0.00069 0.00234 0.03241 C 0.00703 0.06898 0.00091 0.16967 0.00065 0.21782 " pathEditMode="relative" rAng="0" ptsTypes="AAA">
                                      <p:cBhvr>
                                        <p:cTn id="1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088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-0.00046 C 0.0026 0.00324 0.00026 0.00023 0.00247 0.03264 C 0.00456 0.06551 -0.01393 0.16597 0.01315 0.19607 C 0.04284 0.23079 0.01536 0.2213 0.05 0.22616 " pathEditMode="relative" rAng="0" ptsTypes="AAAA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131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True Values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327720" y="3342428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Observed Values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B641560-27CE-BBE9-3CFD-475F836E1C4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True Values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BD101-DC65-8EA7-6098-7303497E9521}"/>
              </a:ext>
            </a:extLst>
          </p:cNvPr>
          <p:cNvSpPr txBox="1"/>
          <p:nvPr/>
        </p:nvSpPr>
        <p:spPr>
          <a:xfrm>
            <a:off x="9327720" y="3342428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Observed Values</a:t>
            </a:r>
          </a:p>
        </p:txBody>
      </p:sp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114870" y="4280852"/>
                <a:ext cx="4194050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dirty="0"/>
                        <m:t>normally</m:t>
                      </m:r>
                      <m:r>
                        <m:rPr>
                          <m:nor/>
                        </m:rPr>
                        <a:rPr lang="en-US" sz="2800" dirty="0"/>
                        <m:t> </m:t>
                      </m:r>
                      <m:r>
                        <m:rPr>
                          <m:nor/>
                        </m:rPr>
                        <a:rPr lang="en-US" sz="2800" dirty="0"/>
                        <m:t>distributed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870" y="4280852"/>
                <a:ext cx="4194050" cy="557910"/>
              </a:xfrm>
              <a:prstGeom prst="rect">
                <a:avLst/>
              </a:prstGeom>
              <a:blipFill>
                <a:blip r:embed="rId14"/>
                <a:stretch>
                  <a:fillRect t="-6522" r="-3625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1034592B-0FDC-031D-4193-B5795E553EF9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True Values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4A9B72-BD55-A706-0A13-CEBD14872DA1}"/>
              </a:ext>
            </a:extLst>
          </p:cNvPr>
          <p:cNvSpPr txBox="1"/>
          <p:nvPr/>
        </p:nvSpPr>
        <p:spPr>
          <a:xfrm>
            <a:off x="9327720" y="3342428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Observed Values</a:t>
            </a:r>
          </a:p>
        </p:txBody>
      </p: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224910" y="287624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470102" y="189299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053315" y="358324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7E8EA1AE-8F97-CF1C-3BDE-A8865E42191C}"/>
              </a:ext>
            </a:extLst>
          </p:cNvPr>
          <p:cNvSpPr/>
          <p:nvPr/>
        </p:nvSpPr>
        <p:spPr>
          <a:xfrm rot="20185536">
            <a:off x="4436467" y="2536771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CC60C383-228D-8C55-A107-AA46C6071BA8}"/>
              </a:ext>
            </a:extLst>
          </p:cNvPr>
          <p:cNvSpPr/>
          <p:nvPr/>
        </p:nvSpPr>
        <p:spPr>
          <a:xfrm rot="3221364">
            <a:off x="6547870" y="3044571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DD26C82A-FD3E-962A-4287-88780F685FB6}"/>
              </a:ext>
            </a:extLst>
          </p:cNvPr>
          <p:cNvSpPr/>
          <p:nvPr/>
        </p:nvSpPr>
        <p:spPr>
          <a:xfrm rot="11578444">
            <a:off x="5132698" y="3611787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C0BB4192-0CD1-A665-6222-2B6560048FD4}"/>
              </a:ext>
            </a:extLst>
          </p:cNvPr>
          <p:cNvSpPr/>
          <p:nvPr/>
        </p:nvSpPr>
        <p:spPr>
          <a:xfrm rot="20185536">
            <a:off x="1628117" y="2382524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1C9DEDDF-D6F9-F026-489E-6E92B7E64956}"/>
              </a:ext>
            </a:extLst>
          </p:cNvPr>
          <p:cNvSpPr/>
          <p:nvPr/>
        </p:nvSpPr>
        <p:spPr>
          <a:xfrm rot="3221364">
            <a:off x="3739520" y="2890324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C19D0BCC-DD8C-1D7F-4D97-E58CB75FC4BE}"/>
              </a:ext>
            </a:extLst>
          </p:cNvPr>
          <p:cNvSpPr/>
          <p:nvPr/>
        </p:nvSpPr>
        <p:spPr>
          <a:xfrm rot="11578444">
            <a:off x="2324348" y="3457540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385D930-BC02-9AA7-1F43-C4B915D63BE4}"/>
              </a:ext>
            </a:extLst>
          </p:cNvPr>
          <p:cNvSpPr/>
          <p:nvPr/>
        </p:nvSpPr>
        <p:spPr>
          <a:xfrm>
            <a:off x="6319520" y="3693829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4A946EFA-9C8D-3C02-2B16-5394BD0C43C1}"/>
                  </a:ext>
                </a:extLst>
              </p:cNvPr>
              <p:cNvSpPr/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3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3600" dirty="0">
                    <a:solidFill>
                      <a:schemeClr val="tx1"/>
                    </a:solidFill>
                  </a:rPr>
                  <a:t> normally distributed</a:t>
                </a: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4A946EFA-9C8D-3C02-2B16-5394BD0C43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AB714990-E6F0-6FE7-0CB1-077A58D2A519}"/>
              </a:ext>
            </a:extLst>
          </p:cNvPr>
          <p:cNvSpPr/>
          <p:nvPr/>
        </p:nvSpPr>
        <p:spPr>
          <a:xfrm rot="21467272">
            <a:off x="1606759" y="3014143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6129488B-2EAD-A1F4-C4CD-108CA31A6BD3}"/>
              </a:ext>
            </a:extLst>
          </p:cNvPr>
          <p:cNvSpPr/>
          <p:nvPr/>
        </p:nvSpPr>
        <p:spPr>
          <a:xfrm rot="8007">
            <a:off x="3685349" y="3049101"/>
            <a:ext cx="785406" cy="464649"/>
          </a:xfrm>
          <a:custGeom>
            <a:avLst/>
            <a:gdLst>
              <a:gd name="connsiteX0" fmla="*/ 0 w 785406"/>
              <a:gd name="connsiteY0" fmla="*/ 197058 h 464649"/>
              <a:gd name="connsiteX1" fmla="*/ 582931 w 785406"/>
              <a:gd name="connsiteY1" fmla="*/ 197058 h 464649"/>
              <a:gd name="connsiteX2" fmla="*/ 582931 w 785406"/>
              <a:gd name="connsiteY2" fmla="*/ 0 h 464649"/>
              <a:gd name="connsiteX3" fmla="*/ 785406 w 785406"/>
              <a:gd name="connsiteY3" fmla="*/ 232325 h 464649"/>
              <a:gd name="connsiteX4" fmla="*/ 582931 w 785406"/>
              <a:gd name="connsiteY4" fmla="*/ 464649 h 464649"/>
              <a:gd name="connsiteX5" fmla="*/ 582931 w 785406"/>
              <a:gd name="connsiteY5" fmla="*/ 267591 h 464649"/>
              <a:gd name="connsiteX6" fmla="*/ 0 w 785406"/>
              <a:gd name="connsiteY6" fmla="*/ 267591 h 464649"/>
              <a:gd name="connsiteX7" fmla="*/ 0 w 785406"/>
              <a:gd name="connsiteY7" fmla="*/ 197058 h 46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5406" h="464649" fill="none" extrusionOk="0">
                <a:moveTo>
                  <a:pt x="0" y="197058"/>
                </a:moveTo>
                <a:cubicBezTo>
                  <a:pt x="240925" y="137101"/>
                  <a:pt x="323205" y="209291"/>
                  <a:pt x="582931" y="197058"/>
                </a:cubicBezTo>
                <a:cubicBezTo>
                  <a:pt x="573142" y="119539"/>
                  <a:pt x="597434" y="78814"/>
                  <a:pt x="582931" y="0"/>
                </a:cubicBezTo>
                <a:cubicBezTo>
                  <a:pt x="629906" y="51530"/>
                  <a:pt x="679400" y="158831"/>
                  <a:pt x="785406" y="232325"/>
                </a:cubicBezTo>
                <a:cubicBezTo>
                  <a:pt x="720094" y="349291"/>
                  <a:pt x="672404" y="357824"/>
                  <a:pt x="582931" y="464649"/>
                </a:cubicBezTo>
                <a:cubicBezTo>
                  <a:pt x="574907" y="398805"/>
                  <a:pt x="589299" y="330240"/>
                  <a:pt x="582931" y="267591"/>
                </a:cubicBezTo>
                <a:cubicBezTo>
                  <a:pt x="334449" y="321247"/>
                  <a:pt x="240017" y="264272"/>
                  <a:pt x="0" y="267591"/>
                </a:cubicBezTo>
                <a:cubicBezTo>
                  <a:pt x="-4556" y="237950"/>
                  <a:pt x="3596" y="213456"/>
                  <a:pt x="0" y="197058"/>
                </a:cubicBezTo>
                <a:close/>
              </a:path>
              <a:path w="785406" h="464649" stroke="0" extrusionOk="0">
                <a:moveTo>
                  <a:pt x="0" y="197058"/>
                </a:moveTo>
                <a:cubicBezTo>
                  <a:pt x="269171" y="146981"/>
                  <a:pt x="295181" y="231192"/>
                  <a:pt x="582931" y="197058"/>
                </a:cubicBezTo>
                <a:cubicBezTo>
                  <a:pt x="578478" y="141635"/>
                  <a:pt x="583316" y="81855"/>
                  <a:pt x="582931" y="0"/>
                </a:cubicBezTo>
                <a:cubicBezTo>
                  <a:pt x="695833" y="92531"/>
                  <a:pt x="717200" y="163920"/>
                  <a:pt x="785406" y="232325"/>
                </a:cubicBezTo>
                <a:cubicBezTo>
                  <a:pt x="713874" y="324766"/>
                  <a:pt x="669575" y="348811"/>
                  <a:pt x="582931" y="464649"/>
                </a:cubicBezTo>
                <a:cubicBezTo>
                  <a:pt x="569082" y="403705"/>
                  <a:pt x="586580" y="335179"/>
                  <a:pt x="582931" y="267591"/>
                </a:cubicBezTo>
                <a:cubicBezTo>
                  <a:pt x="367625" y="304044"/>
                  <a:pt x="134825" y="241381"/>
                  <a:pt x="0" y="267591"/>
                </a:cubicBezTo>
                <a:cubicBezTo>
                  <a:pt x="-2869" y="235571"/>
                  <a:pt x="6181" y="226437"/>
                  <a:pt x="0" y="197058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>
                      <a:gd name="adj1" fmla="val 15180"/>
                      <a:gd name="adj2" fmla="val 4357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319520" y="3693829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3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3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36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3600" dirty="0">
                    <a:solidFill>
                      <a:schemeClr val="tx1"/>
                    </a:solidFill>
                  </a:rPr>
                  <a:t> normally distributed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520" y="2255433"/>
                <a:ext cx="5455920" cy="139660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91BE675-ECF5-7851-D3AF-C24C8ED5A60E}"/>
              </a:ext>
            </a:extLst>
          </p:cNvPr>
          <p:cNvSpPr txBox="1"/>
          <p:nvPr/>
        </p:nvSpPr>
        <p:spPr>
          <a:xfrm>
            <a:off x="828675" y="1633874"/>
            <a:ext cx="11308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Clients</a:t>
            </a:r>
          </a:p>
        </p:txBody>
      </p: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an event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2" y="4675273"/>
            <a:ext cx="68341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 solution for ordering events: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02CD83D-DB62-DF37-2398-6353ADD071B1}"/>
              </a:ext>
            </a:extLst>
          </p:cNvPr>
          <p:cNvSpPr txBox="1"/>
          <p:nvPr/>
        </p:nvSpPr>
        <p:spPr>
          <a:xfrm>
            <a:off x="828675" y="1633874"/>
            <a:ext cx="11308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events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>
    <p:strips dir="r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4833</TotalTime>
  <Words>741</Words>
  <Application>Microsoft Macintosh PowerPoint</Application>
  <PresentationFormat>Widescreen</PresentationFormat>
  <Paragraphs>186</Paragraphs>
  <Slides>31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Cambria Math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459</cp:revision>
  <dcterms:created xsi:type="dcterms:W3CDTF">2025-10-29T17:15:14Z</dcterms:created>
  <dcterms:modified xsi:type="dcterms:W3CDTF">2025-11-15T02:28:55Z</dcterms:modified>
</cp:coreProperties>
</file>