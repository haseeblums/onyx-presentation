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385" r:id="rId28"/>
    <p:sldId id="273" r:id="rId29"/>
    <p:sldId id="384" r:id="rId30"/>
    <p:sldId id="408" r:id="rId31"/>
    <p:sldId id="383" r:id="rId32"/>
    <p:sldId id="3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82"/>
    <p:restoredTop sz="93701"/>
  </p:normalViewPr>
  <p:slideViewPr>
    <p:cSldViewPr snapToGrid="0">
      <p:cViewPr varScale="1">
        <p:scale>
          <a:sx n="98" d="100"/>
          <a:sy n="98" d="100"/>
        </p:scale>
        <p:origin x="216" y="7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11/17/25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16</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26</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37167874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some distributions</a:t>
            </a:r>
          </a:p>
        </p:txBody>
      </p:sp>
      <p:sp>
        <p:nvSpPr>
          <p:cNvPr id="4" name="Slide Number Placeholder 3"/>
          <p:cNvSpPr>
            <a:spLocks noGrp="1"/>
          </p:cNvSpPr>
          <p:nvPr>
            <p:ph type="sldNum" sz="quarter" idx="5"/>
          </p:nvPr>
        </p:nvSpPr>
        <p:spPr/>
        <p:txBody>
          <a:bodyPr/>
          <a:lstStyle/>
          <a:p>
            <a:fld id="{B3E8125A-D8BB-E74B-8C6E-AB7BD2C997CF}" type="slidenum">
              <a:rPr lang="en-US" smtClean="0"/>
              <a:t>28</a:t>
            </a:fld>
            <a:endParaRPr lang="en-US"/>
          </a:p>
        </p:txBody>
      </p:sp>
    </p:spTree>
    <p:extLst>
      <p:ext uri="{BB962C8B-B14F-4D97-AF65-F5344CB8AC3E}">
        <p14:creationId xmlns:p14="http://schemas.microsoft.com/office/powerpoint/2010/main" val="8956837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distribution</a:t>
            </a:r>
          </a:p>
        </p:txBody>
      </p:sp>
      <p:sp>
        <p:nvSpPr>
          <p:cNvPr id="4" name="Slide Number Placeholder 3"/>
          <p:cNvSpPr>
            <a:spLocks noGrp="1"/>
          </p:cNvSpPr>
          <p:nvPr>
            <p:ph type="sldNum" sz="quarter" idx="5"/>
          </p:nvPr>
        </p:nvSpPr>
        <p:spPr/>
        <p:txBody>
          <a:bodyPr/>
          <a:lstStyle/>
          <a:p>
            <a:fld id="{B3E8125A-D8BB-E74B-8C6E-AB7BD2C997CF}" type="slidenum">
              <a:rPr lang="en-US" smtClean="0"/>
              <a:t>29</a:t>
            </a:fld>
            <a:endParaRPr lang="en-US"/>
          </a:p>
        </p:txBody>
      </p:sp>
    </p:spTree>
    <p:extLst>
      <p:ext uri="{BB962C8B-B14F-4D97-AF65-F5344CB8AC3E}">
        <p14:creationId xmlns:p14="http://schemas.microsoft.com/office/powerpoint/2010/main" val="34505060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32</a:t>
            </a:fld>
            <a:endParaRPr lang="en-US"/>
          </a:p>
        </p:txBody>
      </p:sp>
    </p:spTree>
    <p:extLst>
      <p:ext uri="{BB962C8B-B14F-4D97-AF65-F5344CB8AC3E}">
        <p14:creationId xmlns:p14="http://schemas.microsoft.com/office/powerpoint/2010/main" val="3516946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11/17/25</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11/17/25</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11/17/25</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11/17/25</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11/17/25</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11/17/25</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11/17/25</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11/17/25</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11/17/25</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11/17/25</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11/17/25</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11/17/25</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8.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image" Target="../media/image53.emf"/><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Towards Probabilistic Fair Order</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onnsiteX0" fmla="*/ 0 w 982925"/>
              <a:gd name="connsiteY0" fmla="*/ 96893 h 387570"/>
              <a:gd name="connsiteX1" fmla="*/ 402461 w 982925"/>
              <a:gd name="connsiteY1" fmla="*/ 96893 h 387570"/>
              <a:gd name="connsiteX2" fmla="*/ 789140 w 982925"/>
              <a:gd name="connsiteY2" fmla="*/ 96893 h 387570"/>
              <a:gd name="connsiteX3" fmla="*/ 789140 w 982925"/>
              <a:gd name="connsiteY3" fmla="*/ 0 h 387570"/>
              <a:gd name="connsiteX4" fmla="*/ 982925 w 982925"/>
              <a:gd name="connsiteY4" fmla="*/ 193785 h 387570"/>
              <a:gd name="connsiteX5" fmla="*/ 789140 w 982925"/>
              <a:gd name="connsiteY5" fmla="*/ 387570 h 387570"/>
              <a:gd name="connsiteX6" fmla="*/ 789140 w 982925"/>
              <a:gd name="connsiteY6" fmla="*/ 290678 h 387570"/>
              <a:gd name="connsiteX7" fmla="*/ 394570 w 982925"/>
              <a:gd name="connsiteY7" fmla="*/ 290678 h 387570"/>
              <a:gd name="connsiteX8" fmla="*/ 0 w 982925"/>
              <a:gd name="connsiteY8" fmla="*/ 290678 h 387570"/>
              <a:gd name="connsiteX9" fmla="*/ 0 w 9829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onnsiteX0" fmla="*/ 0 w 1049525"/>
              <a:gd name="connsiteY0" fmla="*/ 96893 h 387570"/>
              <a:gd name="connsiteX1" fmla="*/ 436427 w 1049525"/>
              <a:gd name="connsiteY1" fmla="*/ 96893 h 387570"/>
              <a:gd name="connsiteX2" fmla="*/ 855740 w 1049525"/>
              <a:gd name="connsiteY2" fmla="*/ 96893 h 387570"/>
              <a:gd name="connsiteX3" fmla="*/ 855740 w 1049525"/>
              <a:gd name="connsiteY3" fmla="*/ 0 h 387570"/>
              <a:gd name="connsiteX4" fmla="*/ 1049525 w 1049525"/>
              <a:gd name="connsiteY4" fmla="*/ 193785 h 387570"/>
              <a:gd name="connsiteX5" fmla="*/ 855740 w 1049525"/>
              <a:gd name="connsiteY5" fmla="*/ 387570 h 387570"/>
              <a:gd name="connsiteX6" fmla="*/ 855740 w 1049525"/>
              <a:gd name="connsiteY6" fmla="*/ 290678 h 387570"/>
              <a:gd name="connsiteX7" fmla="*/ 427870 w 1049525"/>
              <a:gd name="connsiteY7" fmla="*/ 290678 h 387570"/>
              <a:gd name="connsiteX8" fmla="*/ 0 w 1049525"/>
              <a:gd name="connsiteY8" fmla="*/ 290678 h 387570"/>
              <a:gd name="connsiteX9" fmla="*/ 0 w 10495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001172" cy="369332"/>
          </a:xfrm>
          <a:prstGeom prst="rect">
            <a:avLst/>
          </a:prstGeom>
          <a:noFill/>
        </p:spPr>
        <p:txBody>
          <a:bodyPr wrap="none" rtlCol="0">
            <a:spAutoFit/>
          </a:bodyPr>
          <a:lstStyle/>
          <a:p>
            <a:r>
              <a:rPr lang="en-US" dirty="0">
                <a:solidFill>
                  <a:schemeClr val="accent6"/>
                </a:solidFill>
              </a:rPr>
              <a:t>Learned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62D835-6EC9-09BC-1450-35EDBAF9D3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41B629-6791-10F9-C913-C6FFA11402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548F6B94-EDF5-3AA4-414C-8237277C4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E47311-E01C-F9BA-D2ED-CD570AC22735}"/>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CA0C71B-849B-972F-CD06-FD04EF311B02}"/>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1</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7" name="Oval 6">
            <a:extLst>
              <a:ext uri="{FF2B5EF4-FFF2-40B4-BE49-F238E27FC236}">
                <a16:creationId xmlns:a16="http://schemas.microsoft.com/office/drawing/2014/main" id="{F7C8B318-28EE-7EBF-3D2F-2F817CF748A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2</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Oval 7">
            <a:extLst>
              <a:ext uri="{FF2B5EF4-FFF2-40B4-BE49-F238E27FC236}">
                <a16:creationId xmlns:a16="http://schemas.microsoft.com/office/drawing/2014/main" id="{E556DD1C-9F22-0FD8-9225-BEC3E86CBEC8}"/>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3</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F1557C94-022C-B191-4052-D66F98B62998}"/>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rPr>
              <a:t>500</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cxnSp>
        <p:nvCxnSpPr>
          <p:cNvPr id="13" name="Straight Connector 12">
            <a:extLst>
              <a:ext uri="{FF2B5EF4-FFF2-40B4-BE49-F238E27FC236}">
                <a16:creationId xmlns:a16="http://schemas.microsoft.com/office/drawing/2014/main" id="{A3F916E4-457F-22CA-B453-520471D86B7B}"/>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91BE675-ECF5-7851-D3AF-C24C8ED5A60E}"/>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58782916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2C99FF-0575-C686-0441-8A7C7943A13C}"/>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B7DE859-2139-8458-7BDF-C2A9E5D7DCDC}"/>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1</a:t>
            </a:r>
            <a:endParaRPr lang="en-US" dirty="0"/>
          </a:p>
        </p:txBody>
      </p:sp>
      <p:sp>
        <p:nvSpPr>
          <p:cNvPr id="7" name="Oval 6">
            <a:extLst>
              <a:ext uri="{FF2B5EF4-FFF2-40B4-BE49-F238E27FC236}">
                <a16:creationId xmlns:a16="http://schemas.microsoft.com/office/drawing/2014/main" id="{E485067B-724D-8A63-066B-79714ADE266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2</a:t>
            </a:r>
            <a:endParaRPr lang="en-US" dirty="0"/>
          </a:p>
        </p:txBody>
      </p:sp>
      <p:sp>
        <p:nvSpPr>
          <p:cNvPr id="8" name="Oval 7">
            <a:extLst>
              <a:ext uri="{FF2B5EF4-FFF2-40B4-BE49-F238E27FC236}">
                <a16:creationId xmlns:a16="http://schemas.microsoft.com/office/drawing/2014/main" id="{DC5CF6B0-3AEE-4A39-B118-0F8762BCB5B9}"/>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3</a:t>
            </a:r>
            <a:endParaRPr lang="en-US" dirty="0"/>
          </a:p>
        </p:txBody>
      </p:sp>
      <p:sp>
        <p:nvSpPr>
          <p:cNvPr id="9" name="Oval 8">
            <a:extLst>
              <a:ext uri="{FF2B5EF4-FFF2-40B4-BE49-F238E27FC236}">
                <a16:creationId xmlns:a16="http://schemas.microsoft.com/office/drawing/2014/main" id="{F2A91347-0717-DD8E-B507-572CA798173A}"/>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500</a:t>
            </a:r>
            <a:endParaRPr lang="en-US" dirty="0"/>
          </a:p>
        </p:txBody>
      </p:sp>
      <p:cxnSp>
        <p:nvCxnSpPr>
          <p:cNvPr id="13" name="Straight Connector 12">
            <a:extLst>
              <a:ext uri="{FF2B5EF4-FFF2-40B4-BE49-F238E27FC236}">
                <a16:creationId xmlns:a16="http://schemas.microsoft.com/office/drawing/2014/main" id="{EA9B5538-1526-4B6F-56B5-24BB7DF5A034}"/>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16" name="Freeform 15">
            <a:extLst>
              <a:ext uri="{FF2B5EF4-FFF2-40B4-BE49-F238E27FC236}">
                <a16:creationId xmlns:a16="http://schemas.microsoft.com/office/drawing/2014/main" id="{2CBF3630-4A52-4428-57FD-B8C67A7D3F5D}"/>
              </a:ext>
            </a:extLst>
          </p:cNvPr>
          <p:cNvSpPr/>
          <p:nvPr/>
        </p:nvSpPr>
        <p:spPr>
          <a:xfrm>
            <a:off x="2103471" y="2332960"/>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7" name="Straight Arrow Connector 16">
            <a:extLst>
              <a:ext uri="{FF2B5EF4-FFF2-40B4-BE49-F238E27FC236}">
                <a16:creationId xmlns:a16="http://schemas.microsoft.com/office/drawing/2014/main" id="{74C30EAF-6CB1-3938-851B-EBA91987E38A}"/>
              </a:ext>
            </a:extLst>
          </p:cNvPr>
          <p:cNvCxnSpPr>
            <a:cxnSpLocks/>
          </p:cNvCxnSpPr>
          <p:nvPr/>
        </p:nvCxnSpPr>
        <p:spPr>
          <a:xfrm>
            <a:off x="2077943" y="2805092"/>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20E931E9-0D6F-2A2F-743F-B5273E806EE6}"/>
              </a:ext>
            </a:extLst>
          </p:cNvPr>
          <p:cNvCxnSpPr>
            <a:cxnSpLocks/>
          </p:cNvCxnSpPr>
          <p:nvPr/>
        </p:nvCxnSpPr>
        <p:spPr>
          <a:xfrm flipV="1">
            <a:off x="2077943" y="2332960"/>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Freeform 18">
            <a:extLst>
              <a:ext uri="{FF2B5EF4-FFF2-40B4-BE49-F238E27FC236}">
                <a16:creationId xmlns:a16="http://schemas.microsoft.com/office/drawing/2014/main" id="{A0FD426A-32C1-DD30-166F-BB4876EB6ABD}"/>
              </a:ext>
            </a:extLst>
          </p:cNvPr>
          <p:cNvSpPr/>
          <p:nvPr/>
        </p:nvSpPr>
        <p:spPr>
          <a:xfrm>
            <a:off x="2103471" y="3213988"/>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0" name="Straight Arrow Connector 19">
            <a:extLst>
              <a:ext uri="{FF2B5EF4-FFF2-40B4-BE49-F238E27FC236}">
                <a16:creationId xmlns:a16="http://schemas.microsoft.com/office/drawing/2014/main" id="{56D4BDCC-832A-38B9-3849-41E5044394AF}"/>
              </a:ext>
            </a:extLst>
          </p:cNvPr>
          <p:cNvCxnSpPr>
            <a:cxnSpLocks/>
          </p:cNvCxnSpPr>
          <p:nvPr/>
        </p:nvCxnSpPr>
        <p:spPr>
          <a:xfrm>
            <a:off x="2077943" y="3686120"/>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046185CC-48DB-DF6F-B162-49938C1D9FF1}"/>
              </a:ext>
            </a:extLst>
          </p:cNvPr>
          <p:cNvCxnSpPr>
            <a:cxnSpLocks/>
          </p:cNvCxnSpPr>
          <p:nvPr/>
        </p:nvCxnSpPr>
        <p:spPr>
          <a:xfrm flipV="1">
            <a:off x="2077943" y="3213988"/>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Freeform 21">
            <a:extLst>
              <a:ext uri="{FF2B5EF4-FFF2-40B4-BE49-F238E27FC236}">
                <a16:creationId xmlns:a16="http://schemas.microsoft.com/office/drawing/2014/main" id="{05C872CF-9A72-8AD0-765F-85653B8820B1}"/>
              </a:ext>
            </a:extLst>
          </p:cNvPr>
          <p:cNvSpPr/>
          <p:nvPr/>
        </p:nvSpPr>
        <p:spPr>
          <a:xfrm>
            <a:off x="2077943" y="4186205"/>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3" name="Straight Arrow Connector 22">
            <a:extLst>
              <a:ext uri="{FF2B5EF4-FFF2-40B4-BE49-F238E27FC236}">
                <a16:creationId xmlns:a16="http://schemas.microsoft.com/office/drawing/2014/main" id="{B8081B9B-605D-2A23-9BE3-ED5083DC5212}"/>
              </a:ext>
            </a:extLst>
          </p:cNvPr>
          <p:cNvCxnSpPr>
            <a:cxnSpLocks/>
          </p:cNvCxnSpPr>
          <p:nvPr/>
        </p:nvCxnSpPr>
        <p:spPr>
          <a:xfrm>
            <a:off x="2052415" y="4658337"/>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450D81D-A232-E765-E9AF-95C972F971CB}"/>
              </a:ext>
            </a:extLst>
          </p:cNvPr>
          <p:cNvCxnSpPr>
            <a:cxnSpLocks/>
          </p:cNvCxnSpPr>
          <p:nvPr/>
        </p:nvCxnSpPr>
        <p:spPr>
          <a:xfrm flipV="1">
            <a:off x="2052415" y="4186205"/>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Freeform 24">
            <a:extLst>
              <a:ext uri="{FF2B5EF4-FFF2-40B4-BE49-F238E27FC236}">
                <a16:creationId xmlns:a16="http://schemas.microsoft.com/office/drawing/2014/main" id="{D9531940-13B7-2E28-E144-0A46DF1E4381}"/>
              </a:ext>
            </a:extLst>
          </p:cNvPr>
          <p:cNvSpPr/>
          <p:nvPr/>
        </p:nvSpPr>
        <p:spPr>
          <a:xfrm>
            <a:off x="2110117" y="5740337"/>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6" name="Straight Arrow Connector 25">
            <a:extLst>
              <a:ext uri="{FF2B5EF4-FFF2-40B4-BE49-F238E27FC236}">
                <a16:creationId xmlns:a16="http://schemas.microsoft.com/office/drawing/2014/main" id="{26E7CB78-1A6E-F1D4-2169-FD38CF2D7435}"/>
              </a:ext>
            </a:extLst>
          </p:cNvPr>
          <p:cNvCxnSpPr>
            <a:cxnSpLocks/>
          </p:cNvCxnSpPr>
          <p:nvPr/>
        </p:nvCxnSpPr>
        <p:spPr>
          <a:xfrm>
            <a:off x="2084589" y="6212469"/>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A94F6149-B47E-14C6-E476-C5E0E2FFA04D}"/>
              </a:ext>
            </a:extLst>
          </p:cNvPr>
          <p:cNvCxnSpPr>
            <a:cxnSpLocks/>
          </p:cNvCxnSpPr>
          <p:nvPr/>
        </p:nvCxnSpPr>
        <p:spPr>
          <a:xfrm flipV="1">
            <a:off x="2084589" y="5740337"/>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1AEE2991-B4EE-DBC3-4AD1-A2015AE82FBF}"/>
              </a:ext>
            </a:extLst>
          </p:cNvPr>
          <p:cNvSpPr txBox="1"/>
          <p:nvPr/>
        </p:nvSpPr>
        <p:spPr>
          <a:xfrm>
            <a:off x="2960070" y="1913640"/>
            <a:ext cx="2287418" cy="584775"/>
          </a:xfrm>
          <a:prstGeom prst="rect">
            <a:avLst/>
          </a:prstGeom>
          <a:noFill/>
        </p:spPr>
        <p:txBody>
          <a:bodyPr wrap="square" rtlCol="0">
            <a:spAutoFit/>
          </a:bodyPr>
          <a:lstStyle/>
          <a:p>
            <a:r>
              <a:rPr lang="en-US" sz="3200" dirty="0"/>
              <a:t>Each client:</a:t>
            </a:r>
          </a:p>
        </p:txBody>
      </p:sp>
      <p:sp>
        <p:nvSpPr>
          <p:cNvPr id="29" name="TextBox 28">
            <a:extLst>
              <a:ext uri="{FF2B5EF4-FFF2-40B4-BE49-F238E27FC236}">
                <a16:creationId xmlns:a16="http://schemas.microsoft.com/office/drawing/2014/main" id="{32D96C21-4057-C096-874D-564109EB9764}"/>
              </a:ext>
            </a:extLst>
          </p:cNvPr>
          <p:cNvSpPr txBox="1"/>
          <p:nvPr/>
        </p:nvSpPr>
        <p:spPr>
          <a:xfrm>
            <a:off x="2960070" y="2367538"/>
            <a:ext cx="88661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Generates an event at time </a:t>
            </a:r>
            <a:r>
              <a:rPr lang="en-US" sz="2800" dirty="0">
                <a:solidFill>
                  <a:srgbClr val="FF0000"/>
                </a:solidFill>
              </a:rPr>
              <a:t>T</a:t>
            </a:r>
          </a:p>
          <a:p>
            <a:pPr marL="285750" indent="-285750">
              <a:buFont typeface="Arial" panose="020B0604020202020204" pitchFamily="34" charset="0"/>
              <a:buChar char="•"/>
            </a:pPr>
            <a:r>
              <a:rPr lang="en-US" sz="2800" dirty="0"/>
              <a:t>Samples an error from the distribution</a:t>
            </a:r>
          </a:p>
          <a:p>
            <a:pPr marL="285750" indent="-285750">
              <a:buFont typeface="Arial" panose="020B0604020202020204" pitchFamily="34" charset="0"/>
              <a:buChar char="•"/>
            </a:pPr>
            <a:r>
              <a:rPr lang="en-US" sz="2800" dirty="0"/>
              <a:t>Adds error to </a:t>
            </a:r>
            <a:r>
              <a:rPr lang="en-US" sz="2800" dirty="0">
                <a:solidFill>
                  <a:srgbClr val="FF0000"/>
                </a:solidFill>
              </a:rPr>
              <a:t>T</a:t>
            </a:r>
            <a:r>
              <a:rPr lang="en-US" sz="2800" dirty="0"/>
              <a:t> to get a simulated observed time </a:t>
            </a:r>
            <a:r>
              <a:rPr lang="en-US" sz="2800" dirty="0">
                <a:solidFill>
                  <a:schemeClr val="accent6"/>
                </a:solidFill>
              </a:rPr>
              <a:t>T’</a:t>
            </a:r>
          </a:p>
          <a:p>
            <a:pPr marL="285750" indent="-285750">
              <a:buFont typeface="Arial" panose="020B0604020202020204" pitchFamily="34" charset="0"/>
              <a:buChar char="•"/>
            </a:pPr>
            <a:r>
              <a:rPr lang="en-US" sz="2800" dirty="0">
                <a:solidFill>
                  <a:schemeClr val="accent6"/>
                </a:solidFill>
              </a:rPr>
              <a:t>T’</a:t>
            </a:r>
            <a:r>
              <a:rPr lang="en-US" sz="2800" dirty="0"/>
              <a:t> and the distributions are shared with the sequencer</a:t>
            </a:r>
          </a:p>
        </p:txBody>
      </p:sp>
      <p:sp>
        <p:nvSpPr>
          <p:cNvPr id="3" name="TextBox 2">
            <a:extLst>
              <a:ext uri="{FF2B5EF4-FFF2-40B4-BE49-F238E27FC236}">
                <a16:creationId xmlns:a16="http://schemas.microsoft.com/office/drawing/2014/main" id="{C562F91C-C22B-D29B-9BF8-E5477D7D214B}"/>
              </a:ext>
            </a:extLst>
          </p:cNvPr>
          <p:cNvSpPr txBox="1"/>
          <p:nvPr/>
        </p:nvSpPr>
        <p:spPr>
          <a:xfrm>
            <a:off x="2960062" y="4675273"/>
            <a:ext cx="6834177"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Baseline solution for ordering events:</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DBB6CF2-3889-EA7F-CFA6-EDD8DC7E40B3}"/>
                  </a:ext>
                </a:extLst>
              </p:cNvPr>
              <p:cNvSpPr txBox="1"/>
              <p:nvPr/>
            </p:nvSpPr>
            <p:spPr>
              <a:xfrm>
                <a:off x="2960062" y="5143060"/>
                <a:ext cx="8616707"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out of </a:t>
                </a:r>
                <a:r>
                  <a:rPr lang="en-US" sz="2800" dirty="0">
                    <a:solidFill>
                      <a:schemeClr val="accent6"/>
                    </a:solidFill>
                  </a:rPr>
                  <a:t>T’</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4" name="TextBox 3">
                <a:extLst>
                  <a:ext uri="{FF2B5EF4-FFF2-40B4-BE49-F238E27FC236}">
                    <a16:creationId xmlns:a16="http://schemas.microsoft.com/office/drawing/2014/main" id="{4DBB6CF2-3889-EA7F-CFA6-EDD8DC7E40B3}"/>
                  </a:ext>
                </a:extLst>
              </p:cNvPr>
              <p:cNvSpPr txBox="1">
                <a:spLocks noRot="1" noChangeAspect="1" noMove="1" noResize="1" noEditPoints="1" noAdjustHandles="1" noChangeArrowheads="1" noChangeShapeType="1" noTextEdit="1"/>
              </p:cNvSpPr>
              <p:nvPr/>
            </p:nvSpPr>
            <p:spPr>
              <a:xfrm>
                <a:off x="2960062" y="5143060"/>
                <a:ext cx="8616707" cy="954107"/>
              </a:xfrm>
              <a:prstGeom prst="rect">
                <a:avLst/>
              </a:prstGeom>
              <a:blipFill>
                <a:blip r:embed="rId3"/>
                <a:stretch>
                  <a:fillRect l="-1325" t="-7895" b="-1578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02CD83D-DB62-DF37-2398-6353ADD071B1}"/>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3137829382"/>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6" presetClass="entr" presetSubtype="16"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circle(in)">
                                      <p:cBhvr>
                                        <p:cTn id="11" dur="1000"/>
                                        <p:tgtEl>
                                          <p:spTgt spid="16"/>
                                        </p:tgtEl>
                                      </p:cBhvr>
                                    </p:animEffect>
                                  </p:childTnLst>
                                </p:cTn>
                              </p:par>
                              <p:par>
                                <p:cTn id="12" presetID="1" presetClass="entr" presetSubtype="0" fill="hold" nodeType="with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par>
                                <p:cTn id="16" presetID="6" presetClass="entr" presetSubtype="16"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circle(in)">
                                      <p:cBhvr>
                                        <p:cTn id="18" dur="1000"/>
                                        <p:tgtEl>
                                          <p:spTgt spid="19"/>
                                        </p:tgtEl>
                                      </p:cBhvr>
                                    </p:animEffec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6" presetClass="entr" presetSubtype="16"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circle(in)">
                                      <p:cBhvr>
                                        <p:cTn id="25" dur="1000"/>
                                        <p:tgtEl>
                                          <p:spTgt spid="22"/>
                                        </p:tgtEl>
                                      </p:cBhvr>
                                    </p:animEffect>
                                  </p:childTnLst>
                                </p:cTn>
                              </p:par>
                              <p:par>
                                <p:cTn id="26" presetID="1"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childTnLst>
                                </p:cTn>
                              </p:par>
                              <p:par>
                                <p:cTn id="30" presetID="6" presetClass="entr" presetSubtype="16"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circle(in)">
                                      <p:cBhvr>
                                        <p:cTn id="32" dur="10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2" grpId="0" animBg="1"/>
      <p:bldP spid="25" grpId="0" animBg="1"/>
      <p:bldP spid="28" grpId="0"/>
      <p:bldP spid="29" grpId="0" build="p"/>
      <p:bldP spid="3" grpId="0"/>
      <p:bldP spid="4"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DC16B3-3DE4-F97E-4FFA-C7A3A94CE58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96A9FA-8BDE-4BE3-ADD5-C04A6E4A80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8C7D107D-58AB-6E2A-1542-E8379E186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D14EEDC-67F4-B7ED-3366-2B8EB49D7D8A}"/>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9" name="Rectangle 8">
            <a:extLst>
              <a:ext uri="{FF2B5EF4-FFF2-40B4-BE49-F238E27FC236}">
                <a16:creationId xmlns:a16="http://schemas.microsoft.com/office/drawing/2014/main" id="{C87AE6BF-E32B-495D-D14B-0911E3856B7A}"/>
              </a:ext>
            </a:extLst>
          </p:cNvPr>
          <p:cNvSpPr/>
          <p:nvPr/>
        </p:nvSpPr>
        <p:spPr>
          <a:xfrm rot="5400000">
            <a:off x="7615356" y="3803257"/>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E73F9A7-4DDC-2A15-4EDD-71DC6AF40636}"/>
              </a:ext>
            </a:extLst>
          </p:cNvPr>
          <p:cNvSpPr/>
          <p:nvPr/>
        </p:nvSpPr>
        <p:spPr>
          <a:xfrm>
            <a:off x="2608445" y="2089885"/>
            <a:ext cx="7921592" cy="2213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0B8C5B7-0FF7-30CC-4C20-B0C2856DF026}"/>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15" name="Rectangle 14">
            <a:extLst>
              <a:ext uri="{FF2B5EF4-FFF2-40B4-BE49-F238E27FC236}">
                <a16:creationId xmlns:a16="http://schemas.microsoft.com/office/drawing/2014/main" id="{9CE97421-5AA3-351E-4F6D-FE9254535896}"/>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3568679-3D3E-9EEC-DFC1-788C3EFF81FD}"/>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25DF6A-F87E-716C-B6FE-9DD5485F3144}"/>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17" name="TextBox 16">
                <a:extLst>
                  <a:ext uri="{FF2B5EF4-FFF2-40B4-BE49-F238E27FC236}">
                    <a16:creationId xmlns:a16="http://schemas.microsoft.com/office/drawing/2014/main" id="{9D25DF6A-F87E-716C-B6FE-9DD5485F314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A11ECA19-5E4C-F045-D9EF-E56E6AFE7623}"/>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C47A5946-8A84-97B9-ED15-9B5ED1A1A32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ight Arrow 5">
            <a:extLst>
              <a:ext uri="{FF2B5EF4-FFF2-40B4-BE49-F238E27FC236}">
                <a16:creationId xmlns:a16="http://schemas.microsoft.com/office/drawing/2014/main" id="{D1947DDF-F866-DA3A-3714-D61FB111E971}"/>
              </a:ext>
            </a:extLst>
          </p:cNvPr>
          <p:cNvSpPr/>
          <p:nvPr/>
        </p:nvSpPr>
        <p:spPr>
          <a:xfrm>
            <a:off x="2436811" y="3421641"/>
            <a:ext cx="1414915" cy="567889"/>
          </a:xfrm>
          <a:custGeom>
            <a:avLst/>
            <a:gdLst>
              <a:gd name="connsiteX0" fmla="*/ 0 w 1414915"/>
              <a:gd name="connsiteY0" fmla="*/ 141972 h 567889"/>
              <a:gd name="connsiteX1" fmla="*/ 576795 w 1414915"/>
              <a:gd name="connsiteY1" fmla="*/ 141972 h 567889"/>
              <a:gd name="connsiteX2" fmla="*/ 1130971 w 1414915"/>
              <a:gd name="connsiteY2" fmla="*/ 141972 h 567889"/>
              <a:gd name="connsiteX3" fmla="*/ 1130971 w 1414915"/>
              <a:gd name="connsiteY3" fmla="*/ 0 h 567889"/>
              <a:gd name="connsiteX4" fmla="*/ 1414915 w 1414915"/>
              <a:gd name="connsiteY4" fmla="*/ 283945 h 567889"/>
              <a:gd name="connsiteX5" fmla="*/ 1130971 w 1414915"/>
              <a:gd name="connsiteY5" fmla="*/ 567889 h 567889"/>
              <a:gd name="connsiteX6" fmla="*/ 1130971 w 1414915"/>
              <a:gd name="connsiteY6" fmla="*/ 425917 h 567889"/>
              <a:gd name="connsiteX7" fmla="*/ 565486 w 1414915"/>
              <a:gd name="connsiteY7" fmla="*/ 425917 h 567889"/>
              <a:gd name="connsiteX8" fmla="*/ 0 w 1414915"/>
              <a:gd name="connsiteY8" fmla="*/ 425917 h 567889"/>
              <a:gd name="connsiteX9" fmla="*/ 0 w 1414915"/>
              <a:gd name="connsiteY9" fmla="*/ 141972 h 567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CA90170-232A-CE66-9123-1CC54A91C061}"/>
              </a:ext>
            </a:extLst>
          </p:cNvPr>
          <p:cNvSpPr txBox="1"/>
          <p:nvPr/>
        </p:nvSpPr>
        <p:spPr>
          <a:xfrm>
            <a:off x="3947977" y="3014973"/>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
        <p:nvSpPr>
          <p:cNvPr id="20" name="TextBox 19">
            <a:extLst>
              <a:ext uri="{FF2B5EF4-FFF2-40B4-BE49-F238E27FC236}">
                <a16:creationId xmlns:a16="http://schemas.microsoft.com/office/drawing/2014/main" id="{FC6FF6B1-E882-8D63-981D-421DC4DFA408}"/>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22328915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05F8DB-BF8A-54F5-4C7E-D8F0F4BE94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C4C7E-D191-643C-C0ED-ED48517E8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3A7A5B57-5BE3-BAAC-F9EB-C982640D3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45A8B5-5A90-4A7A-B0D7-7993498115B2}"/>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13" name="Rectangle 12">
            <a:extLst>
              <a:ext uri="{FF2B5EF4-FFF2-40B4-BE49-F238E27FC236}">
                <a16:creationId xmlns:a16="http://schemas.microsoft.com/office/drawing/2014/main" id="{A11CB0AA-F998-518B-06D1-1C2D38BA74DA}"/>
              </a:ext>
            </a:extLst>
          </p:cNvPr>
          <p:cNvSpPr/>
          <p:nvPr/>
        </p:nvSpPr>
        <p:spPr>
          <a:xfrm rot="5400000">
            <a:off x="7817487" y="3565811"/>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7C994C-A8ED-7011-D032-EFA2F890C48F}"/>
              </a:ext>
            </a:extLst>
          </p:cNvPr>
          <p:cNvSpPr/>
          <p:nvPr/>
        </p:nvSpPr>
        <p:spPr>
          <a:xfrm>
            <a:off x="2810576" y="1919918"/>
            <a:ext cx="7921592" cy="736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AEF5CB28-1D64-2EF2-BE3A-F3C5BFFB5778}"/>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8" name="Rectangle 17">
            <a:extLst>
              <a:ext uri="{FF2B5EF4-FFF2-40B4-BE49-F238E27FC236}">
                <a16:creationId xmlns:a16="http://schemas.microsoft.com/office/drawing/2014/main" id="{B00649B4-2948-B5CD-9158-68AAB0B7AAEE}"/>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DFC8099-CFC2-685A-F0EE-9F2714385659}"/>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4897E44-B589-32C0-9659-F33D2EA09EC4}"/>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20" name="TextBox 19">
                <a:extLst>
                  <a:ext uri="{FF2B5EF4-FFF2-40B4-BE49-F238E27FC236}">
                    <a16:creationId xmlns:a16="http://schemas.microsoft.com/office/drawing/2014/main" id="{B4897E44-B589-32C0-9659-F33D2EA09EC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FCE82905-6A66-937D-926D-355CA53A602B}"/>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1FCC7751-9D9A-DA88-AB41-3817A1D8E3D5}"/>
              </a:ext>
            </a:extLst>
          </p:cNvPr>
          <p:cNvSpPr/>
          <p:nvPr/>
        </p:nvSpPr>
        <p:spPr>
          <a:xfrm>
            <a:off x="2789692" y="2094136"/>
            <a:ext cx="115506" cy="140963"/>
          </a:xfrm>
          <a:prstGeom prst="ellipse">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5-Point Star 10">
            <a:extLst>
              <a:ext uri="{FF2B5EF4-FFF2-40B4-BE49-F238E27FC236}">
                <a16:creationId xmlns:a16="http://schemas.microsoft.com/office/drawing/2014/main" id="{FE61F7DF-AEA9-3059-7C91-0AD5B8874CB5}"/>
              </a:ext>
            </a:extLst>
          </p:cNvPr>
          <p:cNvSpPr/>
          <p:nvPr/>
        </p:nvSpPr>
        <p:spPr>
          <a:xfrm>
            <a:off x="2789691" y="2096378"/>
            <a:ext cx="129945" cy="149351"/>
          </a:xfrm>
          <a:prstGeom prst="star5">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A2D5007-4C94-61CF-24C3-24541215EB5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F18211F8-CE90-5D92-E0E1-523B6C9452BA}"/>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211831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1767CC-5AF3-9D9F-71DF-DCCB68F4D33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0C9A053-1D45-34B0-812C-849C0DAD4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0C32B40F-E5C9-E9D6-9E83-555E640D9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CDD139F-2934-16C2-B913-044259FD1B18}"/>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pic>
        <p:nvPicPr>
          <p:cNvPr id="5" name="Picture 4">
            <a:extLst>
              <a:ext uri="{FF2B5EF4-FFF2-40B4-BE49-F238E27FC236}">
                <a16:creationId xmlns:a16="http://schemas.microsoft.com/office/drawing/2014/main" id="{04FF48D1-FDA3-E626-8611-A275220FD853}"/>
              </a:ext>
            </a:extLst>
          </p:cNvPr>
          <p:cNvPicPr>
            <a:picLocks noChangeAspect="1"/>
          </p:cNvPicPr>
          <p:nvPr/>
        </p:nvPicPr>
        <p:blipFill>
          <a:blip r:embed="rId2"/>
          <a:stretch>
            <a:fillRect/>
          </a:stretch>
        </p:blipFill>
        <p:spPr>
          <a:xfrm>
            <a:off x="1538760" y="1854746"/>
            <a:ext cx="8132880" cy="4508840"/>
          </a:xfrm>
          <a:prstGeom prst="rect">
            <a:avLst/>
          </a:prstGeom>
        </p:spPr>
      </p:pic>
      <p:pic>
        <p:nvPicPr>
          <p:cNvPr id="4" name="Picture 3">
            <a:extLst>
              <a:ext uri="{FF2B5EF4-FFF2-40B4-BE49-F238E27FC236}">
                <a16:creationId xmlns:a16="http://schemas.microsoft.com/office/drawing/2014/main" id="{348734C0-F420-5ED3-A548-77F575D596F0}"/>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6" name="Rectangle 5">
            <a:extLst>
              <a:ext uri="{FF2B5EF4-FFF2-40B4-BE49-F238E27FC236}">
                <a16:creationId xmlns:a16="http://schemas.microsoft.com/office/drawing/2014/main" id="{3EB1FB84-8892-3216-2EF7-2159F38D0A80}"/>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6BF245F-A985-3040-CE67-D040470B05FB}"/>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6AA69C-39B0-17B1-FACE-146A13E64B68}"/>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9" name="TextBox 8">
                <a:extLst>
                  <a:ext uri="{FF2B5EF4-FFF2-40B4-BE49-F238E27FC236}">
                    <a16:creationId xmlns:a16="http://schemas.microsoft.com/office/drawing/2014/main" id="{D66AA69C-39B0-17B1-FACE-146A13E64B68}"/>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6F1443E-CC89-61BE-8226-2BC6353FE801}"/>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722803325"/>
      </p:ext>
    </p:extLst>
  </p:cSld>
  <p:clrMapOvr>
    <a:masterClrMapping/>
  </p:clrMapOvr>
  <p:transition>
    <p:strips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EB0717AA-99FC-3FBA-14DA-A906FAD10348}"/>
              </a:ext>
            </a:extLst>
          </p:cNvPr>
          <p:cNvSpPr>
            <a:spLocks noGrp="1"/>
          </p:cNvSpPr>
          <p:nvPr>
            <p:ph idx="1"/>
          </p:nvPr>
        </p:nvSpPr>
        <p:spPr/>
        <p:txBody>
          <a:bodyPr>
            <a:normAutofit/>
          </a:bodyPr>
          <a:lstStyle/>
          <a:p>
            <a:r>
              <a:rPr lang="en-US" dirty="0"/>
              <a:t>Online sequencing</a:t>
            </a:r>
          </a:p>
          <a:p>
            <a:endParaRPr lang="en-US" dirty="0"/>
          </a:p>
          <a:p>
            <a:r>
              <a:rPr lang="en-US" dirty="0"/>
              <a:t>Generalizing to cycles in the </a:t>
            </a:r>
            <a:br>
              <a:rPr lang="en-US" dirty="0"/>
            </a:br>
            <a:r>
              <a:rPr lang="en-US" dirty="0"/>
              <a:t>likely-happened-before graph</a:t>
            </a:r>
          </a:p>
        </p:txBody>
      </p:sp>
      <p:grpSp>
        <p:nvGrpSpPr>
          <p:cNvPr id="10" name="Group 9">
            <a:extLst>
              <a:ext uri="{FF2B5EF4-FFF2-40B4-BE49-F238E27FC236}">
                <a16:creationId xmlns:a16="http://schemas.microsoft.com/office/drawing/2014/main" id="{D8147C2A-F2F3-AB58-97F9-E6FCA303C7F3}"/>
              </a:ext>
            </a:extLst>
          </p:cNvPr>
          <p:cNvGrpSpPr/>
          <p:nvPr/>
        </p:nvGrpSpPr>
        <p:grpSpPr>
          <a:xfrm>
            <a:off x="3445422" y="904557"/>
            <a:ext cx="7908378" cy="4642506"/>
            <a:chOff x="3445422" y="904557"/>
            <a:chExt cx="7908378" cy="4642506"/>
          </a:xfrm>
        </p:grpSpPr>
        <p:sp>
          <p:nvSpPr>
            <p:cNvPr id="5" name="TextBox 4">
              <a:extLst>
                <a:ext uri="{FF2B5EF4-FFF2-40B4-BE49-F238E27FC236}">
                  <a16:creationId xmlns:a16="http://schemas.microsoft.com/office/drawing/2014/main" id="{A1F76CFF-5048-1FE3-1C34-144DBB2E2B9E}"/>
                </a:ext>
              </a:extLst>
            </p:cNvPr>
            <p:cNvSpPr txBox="1"/>
            <p:nvPr/>
          </p:nvSpPr>
          <p:spPr>
            <a:xfrm>
              <a:off x="3445422" y="4346734"/>
              <a:ext cx="4023537" cy="1200329"/>
            </a:xfrm>
            <a:prstGeom prst="rect">
              <a:avLst/>
            </a:prstGeom>
            <a:noFill/>
          </p:spPr>
          <p:txBody>
            <a:bodyPr wrap="none" rtlCol="0">
              <a:spAutoFit/>
            </a:bodyPr>
            <a:lstStyle/>
            <a:p>
              <a:r>
                <a:rPr lang="en-US" sz="3600" dirty="0"/>
                <a:t>mh6218@nyu.edu</a:t>
              </a:r>
            </a:p>
            <a:p>
              <a:r>
                <a:rPr lang="en-US" sz="3600" dirty="0" err="1">
                  <a:solidFill>
                    <a:srgbClr val="FF0000"/>
                  </a:solidFill>
                </a:rPr>
                <a:t>haseeb</a:t>
              </a:r>
              <a:r>
                <a:rPr lang="en-US" sz="3600" dirty="0" err="1">
                  <a:solidFill>
                    <a:schemeClr val="accent1">
                      <a:lumMod val="60000"/>
                      <a:lumOff val="40000"/>
                    </a:schemeClr>
                  </a:solidFill>
                </a:rPr>
                <a:t>ashfaq</a:t>
              </a:r>
              <a:r>
                <a:rPr lang="en-US" sz="3600" dirty="0" err="1"/>
                <a:t>.com</a:t>
              </a:r>
              <a:endParaRPr lang="en-US" sz="3600" dirty="0"/>
            </a:p>
          </p:txBody>
        </p:sp>
        <p:pic>
          <p:nvPicPr>
            <p:cNvPr id="9" name="Picture 8" descr="haseebashfaq.com">
              <a:extLst>
                <a:ext uri="{FF2B5EF4-FFF2-40B4-BE49-F238E27FC236}">
                  <a16:creationId xmlns:a16="http://schemas.microsoft.com/office/drawing/2014/main" id="{C951BD39-F182-B5E1-5642-B9F6CE8A4275}"/>
                </a:ext>
              </a:extLst>
            </p:cNvPr>
            <p:cNvPicPr>
              <a:picLocks noChangeAspect="1"/>
            </p:cNvPicPr>
            <p:nvPr/>
          </p:nvPicPr>
          <p:blipFill>
            <a:blip r:embed="rId3"/>
            <a:stretch>
              <a:fillRect/>
            </a:stretch>
          </p:blipFill>
          <p:spPr>
            <a:xfrm>
              <a:off x="8033543" y="904557"/>
              <a:ext cx="3320257" cy="3320257"/>
            </a:xfrm>
            <a:prstGeom prst="rect">
              <a:avLst/>
            </a:prstGeom>
          </p:spPr>
        </p:pic>
      </p:grpSp>
    </p:spTree>
    <p:extLst>
      <p:ext uri="{BB962C8B-B14F-4D97-AF65-F5344CB8AC3E}">
        <p14:creationId xmlns:p14="http://schemas.microsoft.com/office/powerpoint/2010/main" val="2393909504"/>
      </p:ext>
    </p:extLst>
  </p:cSld>
  <p:clrMapOvr>
    <a:masterClrMapping/>
  </p:clrMapOvr>
  <p:transition>
    <p:strips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9768</TotalTime>
  <Words>1094</Words>
  <Application>Microsoft Macintosh PowerPoint</Application>
  <PresentationFormat>Widescreen</PresentationFormat>
  <Paragraphs>231</Paragraphs>
  <Slides>32</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Calibri</vt:lpstr>
      <vt:lpstr>Cambria Math</vt:lpstr>
      <vt:lpstr>Wingdings</vt:lpstr>
      <vt:lpstr>1_Office Theme</vt:lpstr>
      <vt:lpstr>Towards Probabilistic Fair Order</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Simulation Result</vt:lpstr>
      <vt:lpstr>Simulation Result</vt:lpstr>
      <vt:lpstr>Simulation Result</vt:lpstr>
      <vt:lpstr>Simulation Result</vt:lpstr>
      <vt:lpstr>Simulation Result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Muhammad Haseeb</cp:lastModifiedBy>
  <cp:revision>530</cp:revision>
  <dcterms:created xsi:type="dcterms:W3CDTF">2025-10-29T17:15:14Z</dcterms:created>
  <dcterms:modified xsi:type="dcterms:W3CDTF">2025-11-18T12:45:02Z</dcterms:modified>
</cp:coreProperties>
</file>