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6"/>
  </p:notesMasterIdLst>
  <p:sldIdLst>
    <p:sldId id="256" r:id="rId3"/>
    <p:sldId id="257" r:id="rId4"/>
    <p:sldId id="258" r:id="rId5"/>
    <p:sldId id="260" r:id="rId6"/>
    <p:sldId id="262" r:id="rId7"/>
    <p:sldId id="263" r:id="rId8"/>
    <p:sldId id="264" r:id="rId9"/>
    <p:sldId id="265" r:id="rId10"/>
    <p:sldId id="266" r:id="rId11"/>
    <p:sldId id="277" r:id="rId12"/>
    <p:sldId id="267" r:id="rId13"/>
    <p:sldId id="268" r:id="rId14"/>
    <p:sldId id="278" r:id="rId15"/>
    <p:sldId id="279" r:id="rId16"/>
    <p:sldId id="280" r:id="rId17"/>
    <p:sldId id="269" r:id="rId18"/>
    <p:sldId id="270" r:id="rId19"/>
    <p:sldId id="271" r:id="rId20"/>
    <p:sldId id="272" r:id="rId21"/>
    <p:sldId id="273" r:id="rId22"/>
    <p:sldId id="276" r:id="rId23"/>
    <p:sldId id="281" r:id="rId24"/>
    <p:sldId id="282" r:id="rId25"/>
    <p:sldId id="294" r:id="rId26"/>
    <p:sldId id="376" r:id="rId27"/>
    <p:sldId id="377" r:id="rId28"/>
    <p:sldId id="378" r:id="rId29"/>
    <p:sldId id="379" r:id="rId30"/>
    <p:sldId id="380" r:id="rId31"/>
    <p:sldId id="381" r:id="rId32"/>
    <p:sldId id="382" r:id="rId33"/>
    <p:sldId id="383" r:id="rId34"/>
    <p:sldId id="384" r:id="rId35"/>
    <p:sldId id="385" r:id="rId36"/>
    <p:sldId id="386" r:id="rId37"/>
    <p:sldId id="411" r:id="rId38"/>
    <p:sldId id="390" r:id="rId39"/>
    <p:sldId id="424" r:id="rId40"/>
    <p:sldId id="409" r:id="rId41"/>
    <p:sldId id="423" r:id="rId42"/>
    <p:sldId id="425" r:id="rId43"/>
    <p:sldId id="414" r:id="rId44"/>
    <p:sldId id="416" r:id="rId45"/>
    <p:sldId id="391" r:id="rId46"/>
    <p:sldId id="408" r:id="rId47"/>
    <p:sldId id="394" r:id="rId48"/>
    <p:sldId id="395" r:id="rId49"/>
    <p:sldId id="396" r:id="rId50"/>
    <p:sldId id="397" r:id="rId51"/>
    <p:sldId id="398" r:id="rId52"/>
    <p:sldId id="399" r:id="rId53"/>
    <p:sldId id="400" r:id="rId54"/>
    <p:sldId id="401" r:id="rId55"/>
    <p:sldId id="403" r:id="rId56"/>
    <p:sldId id="404" r:id="rId57"/>
    <p:sldId id="405" r:id="rId58"/>
    <p:sldId id="410" r:id="rId59"/>
    <p:sldId id="407" r:id="rId60"/>
    <p:sldId id="312" r:id="rId61"/>
    <p:sldId id="1852" r:id="rId62"/>
    <p:sldId id="1853" r:id="rId63"/>
    <p:sldId id="1855" r:id="rId64"/>
    <p:sldId id="1950" r:id="rId65"/>
    <p:sldId id="1947" r:id="rId66"/>
    <p:sldId id="1911" r:id="rId67"/>
    <p:sldId id="1948" r:id="rId68"/>
    <p:sldId id="1949" r:id="rId69"/>
    <p:sldId id="1951" r:id="rId70"/>
    <p:sldId id="314" r:id="rId71"/>
    <p:sldId id="1916" r:id="rId72"/>
    <p:sldId id="1917" r:id="rId73"/>
    <p:sldId id="1918" r:id="rId74"/>
    <p:sldId id="1919" r:id="rId75"/>
    <p:sldId id="1892" r:id="rId76"/>
    <p:sldId id="1893" r:id="rId77"/>
    <p:sldId id="1920" r:id="rId78"/>
    <p:sldId id="1921" r:id="rId79"/>
    <p:sldId id="1922" r:id="rId80"/>
    <p:sldId id="1923" r:id="rId81"/>
    <p:sldId id="1924" r:id="rId82"/>
    <p:sldId id="1925" r:id="rId83"/>
    <p:sldId id="1926" r:id="rId84"/>
    <p:sldId id="1927" r:id="rId85"/>
    <p:sldId id="1928" r:id="rId86"/>
    <p:sldId id="1929" r:id="rId87"/>
    <p:sldId id="1930" r:id="rId88"/>
    <p:sldId id="1931" r:id="rId89"/>
    <p:sldId id="1932" r:id="rId90"/>
    <p:sldId id="1933" r:id="rId91"/>
    <p:sldId id="1895" r:id="rId92"/>
    <p:sldId id="1894" r:id="rId93"/>
    <p:sldId id="1897" r:id="rId94"/>
    <p:sldId id="1898" r:id="rId95"/>
    <p:sldId id="1899" r:id="rId96"/>
    <p:sldId id="1900" r:id="rId97"/>
    <p:sldId id="1901" r:id="rId98"/>
    <p:sldId id="1902" r:id="rId99"/>
    <p:sldId id="1903" r:id="rId100"/>
    <p:sldId id="1904" r:id="rId101"/>
    <p:sldId id="1905" r:id="rId102"/>
    <p:sldId id="1906" r:id="rId103"/>
    <p:sldId id="1934" r:id="rId104"/>
    <p:sldId id="1915" r:id="rId105"/>
    <p:sldId id="1907" r:id="rId106"/>
    <p:sldId id="1908" r:id="rId107"/>
    <p:sldId id="1909" r:id="rId108"/>
    <p:sldId id="1910" r:id="rId109"/>
    <p:sldId id="350" r:id="rId110"/>
    <p:sldId id="359" r:id="rId111"/>
    <p:sldId id="427" r:id="rId112"/>
    <p:sldId id="360" r:id="rId113"/>
    <p:sldId id="428" r:id="rId114"/>
    <p:sldId id="353" r:id="rId115"/>
    <p:sldId id="432" r:id="rId116"/>
    <p:sldId id="1856" r:id="rId117"/>
    <p:sldId id="1857" r:id="rId118"/>
    <p:sldId id="351" r:id="rId119"/>
    <p:sldId id="352" r:id="rId120"/>
    <p:sldId id="1858" r:id="rId121"/>
    <p:sldId id="354" r:id="rId122"/>
    <p:sldId id="355" r:id="rId123"/>
    <p:sldId id="1859" r:id="rId124"/>
    <p:sldId id="357" r:id="rId125"/>
    <p:sldId id="358" r:id="rId126"/>
    <p:sldId id="1860" r:id="rId127"/>
    <p:sldId id="1861" r:id="rId128"/>
    <p:sldId id="393" r:id="rId129"/>
    <p:sldId id="1862" r:id="rId130"/>
    <p:sldId id="402" r:id="rId131"/>
    <p:sldId id="1864" r:id="rId132"/>
    <p:sldId id="415" r:id="rId133"/>
    <p:sldId id="340" r:id="rId134"/>
    <p:sldId id="1865" r:id="rId135"/>
    <p:sldId id="1866" r:id="rId136"/>
    <p:sldId id="1867" r:id="rId137"/>
    <p:sldId id="412" r:id="rId138"/>
    <p:sldId id="1868" r:id="rId139"/>
    <p:sldId id="1869" r:id="rId140"/>
    <p:sldId id="413" r:id="rId141"/>
    <p:sldId id="1870" r:id="rId142"/>
    <p:sldId id="1936" r:id="rId143"/>
    <p:sldId id="1872" r:id="rId144"/>
    <p:sldId id="419" r:id="rId145"/>
    <p:sldId id="1914" r:id="rId146"/>
    <p:sldId id="1937" r:id="rId147"/>
    <p:sldId id="1873" r:id="rId148"/>
    <p:sldId id="1953" r:id="rId149"/>
    <p:sldId id="1952" r:id="rId150"/>
    <p:sldId id="1939" r:id="rId151"/>
    <p:sldId id="1941" r:id="rId152"/>
    <p:sldId id="1942" r:id="rId153"/>
    <p:sldId id="1954" r:id="rId154"/>
    <p:sldId id="1944" r:id="rId155"/>
    <p:sldId id="1945" r:id="rId156"/>
    <p:sldId id="1946" r:id="rId157"/>
    <p:sldId id="1879" r:id="rId158"/>
    <p:sldId id="1874" r:id="rId159"/>
    <p:sldId id="1876" r:id="rId160"/>
    <p:sldId id="1877" r:id="rId161"/>
    <p:sldId id="1912" r:id="rId162"/>
    <p:sldId id="1935" r:id="rId163"/>
    <p:sldId id="1913" r:id="rId164"/>
    <p:sldId id="1880" r:id="rId165"/>
    <p:sldId id="1881" r:id="rId166"/>
    <p:sldId id="1956" r:id="rId167"/>
    <p:sldId id="1955" r:id="rId168"/>
    <p:sldId id="1882" r:id="rId169"/>
    <p:sldId id="1883" r:id="rId170"/>
    <p:sldId id="1884" r:id="rId171"/>
    <p:sldId id="1885" r:id="rId172"/>
    <p:sldId id="1886" r:id="rId173"/>
    <p:sldId id="1888" r:id="rId174"/>
    <p:sldId id="1890" r:id="rId1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7DB"/>
    <a:srgbClr val="FF24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12"/>
    <p:restoredTop sz="91046"/>
  </p:normalViewPr>
  <p:slideViewPr>
    <p:cSldViewPr snapToGrid="0">
      <p:cViewPr varScale="1">
        <p:scale>
          <a:sx n="111" d="100"/>
          <a:sy n="111" d="100"/>
        </p:scale>
        <p:origin x="240"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presProps" Target="presProp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tableStyles" Target="tableStyle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notesMaster" Target="notesMasters/notes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C193F0-260F-4751-A737-E1FF503D57AB}" type="doc">
      <dgm:prSet loTypeId="urn:microsoft.com/office/officeart/2005/8/layout/list1" loCatId="icon" qsTypeId="urn:microsoft.com/office/officeart/2005/8/quickstyle/simple4" qsCatId="simple" csTypeId="urn:microsoft.com/office/officeart/2005/8/colors/colorful1" csCatId="colorful" phldr="1"/>
      <dgm:spPr/>
      <dgm:t>
        <a:bodyPr/>
        <a:lstStyle/>
        <a:p>
          <a:endParaRPr lang="en-US"/>
        </a:p>
      </dgm:t>
    </dgm:pt>
    <dgm:pt modelId="{BE56D008-5F82-4D13-AD48-BDFC48C7BBA4}">
      <dgm:prSet custT="1"/>
      <dgm:spPr/>
      <dgm:t>
        <a:bodyPr/>
        <a:lstStyle/>
        <a:p>
          <a:r>
            <a:rPr lang="en-US" sz="2400" dirty="0"/>
            <a:t>A Scalable And Latency Fair Order Submission Service</a:t>
          </a:r>
        </a:p>
      </dgm:t>
    </dgm:pt>
    <dgm:pt modelId="{BF393C9E-8F0D-4752-BE3F-88032991DDA5}" type="parTrans" cxnId="{775D4170-49DB-4CF3-AEE9-D6E69D62B6FB}">
      <dgm:prSet/>
      <dgm:spPr/>
      <dgm:t>
        <a:bodyPr/>
        <a:lstStyle/>
        <a:p>
          <a:endParaRPr lang="en-US"/>
        </a:p>
      </dgm:t>
    </dgm:pt>
    <dgm:pt modelId="{45BA05AD-D4F1-45E3-A9BC-199371EC6E7D}" type="sibTrans" cxnId="{775D4170-49DB-4CF3-AEE9-D6E69D62B6FB}">
      <dgm:prSet/>
      <dgm:spPr/>
      <dgm:t>
        <a:bodyPr/>
        <a:lstStyle/>
        <a:p>
          <a:endParaRPr lang="en-US"/>
        </a:p>
      </dgm:t>
    </dgm:pt>
    <dgm:pt modelId="{C8510ED0-B9A9-4CAF-BE13-85B66A901392}">
      <dgm:prSet/>
      <dgm:spPr/>
      <dgm:t>
        <a:bodyPr/>
        <a:lstStyle/>
        <a:p>
          <a:r>
            <a:rPr lang="en-US" dirty="0"/>
            <a:t>Prototyped on AWS and GCP</a:t>
          </a:r>
        </a:p>
      </dgm:t>
    </dgm:pt>
    <dgm:pt modelId="{3029BDC9-A449-42F0-9B60-71F962DFCC7E}" type="parTrans" cxnId="{A85AFC6B-F495-4B14-B140-758F7D2F2CFC}">
      <dgm:prSet/>
      <dgm:spPr/>
      <dgm:t>
        <a:bodyPr/>
        <a:lstStyle/>
        <a:p>
          <a:endParaRPr lang="en-US"/>
        </a:p>
      </dgm:t>
    </dgm:pt>
    <dgm:pt modelId="{72DB009F-C5F0-4D9C-AAE0-EEC4822A3623}" type="sibTrans" cxnId="{A85AFC6B-F495-4B14-B140-758F7D2F2CFC}">
      <dgm:prSet/>
      <dgm:spPr/>
      <dgm:t>
        <a:bodyPr/>
        <a:lstStyle/>
        <a:p>
          <a:endParaRPr lang="en-US"/>
        </a:p>
      </dgm:t>
    </dgm:pt>
    <dgm:pt modelId="{2D353E8A-2426-4D87-A117-A232975F7A4F}">
      <dgm:prSet custT="1"/>
      <dgm:spPr/>
      <dgm:t>
        <a:bodyPr/>
        <a:lstStyle/>
        <a:p>
          <a:r>
            <a:rPr lang="en-US" sz="2400" dirty="0"/>
            <a:t>A Scalable And Latency Fair Multicast Service</a:t>
          </a:r>
        </a:p>
      </dgm:t>
    </dgm:pt>
    <dgm:pt modelId="{6E72DBE8-C572-4A0A-AFF6-99D979B7C60A}" type="sibTrans" cxnId="{9D7275ED-CFC4-4A11-9CE2-F4192110F3B4}">
      <dgm:prSet/>
      <dgm:spPr/>
      <dgm:t>
        <a:bodyPr/>
        <a:lstStyle/>
        <a:p>
          <a:endParaRPr lang="en-US"/>
        </a:p>
      </dgm:t>
    </dgm:pt>
    <dgm:pt modelId="{64107B4A-258F-4DC2-8A81-2F08E2BA5E35}" type="parTrans" cxnId="{9D7275ED-CFC4-4A11-9CE2-F4192110F3B4}">
      <dgm:prSet/>
      <dgm:spPr/>
      <dgm:t>
        <a:bodyPr/>
        <a:lstStyle/>
        <a:p>
          <a:endParaRPr lang="en-US"/>
        </a:p>
      </dgm:t>
    </dgm:pt>
    <dgm:pt modelId="{6A0511E4-EF99-E14F-AE2C-A81BD688921C}" type="pres">
      <dgm:prSet presAssocID="{85C193F0-260F-4751-A737-E1FF503D57AB}" presName="linear" presStyleCnt="0">
        <dgm:presLayoutVars>
          <dgm:dir/>
          <dgm:animLvl val="lvl"/>
          <dgm:resizeHandles val="exact"/>
        </dgm:presLayoutVars>
      </dgm:prSet>
      <dgm:spPr/>
    </dgm:pt>
    <dgm:pt modelId="{B9885A88-7130-124C-838F-BC2B6343F506}" type="pres">
      <dgm:prSet presAssocID="{2D353E8A-2426-4D87-A117-A232975F7A4F}" presName="parentLin" presStyleCnt="0"/>
      <dgm:spPr/>
    </dgm:pt>
    <dgm:pt modelId="{45E4A3AF-0F8D-494A-A0E6-D9C938EF77AE}" type="pres">
      <dgm:prSet presAssocID="{2D353E8A-2426-4D87-A117-A232975F7A4F}" presName="parentLeftMargin" presStyleLbl="node1" presStyleIdx="0" presStyleCnt="3"/>
      <dgm:spPr/>
    </dgm:pt>
    <dgm:pt modelId="{382E76DE-0916-BF4F-940E-5CCE6068F0CC}" type="pres">
      <dgm:prSet presAssocID="{2D353E8A-2426-4D87-A117-A232975F7A4F}" presName="parentText" presStyleLbl="node1" presStyleIdx="0" presStyleCnt="3" custScaleX="101512" custScaleY="215690" custLinFactNeighborX="-12431" custLinFactNeighborY="-60902">
        <dgm:presLayoutVars>
          <dgm:chMax val="0"/>
          <dgm:bulletEnabled val="1"/>
        </dgm:presLayoutVars>
      </dgm:prSet>
      <dgm:spPr/>
    </dgm:pt>
    <dgm:pt modelId="{E540DFA1-6CD7-8F44-B52B-3BA262999A8F}" type="pres">
      <dgm:prSet presAssocID="{2D353E8A-2426-4D87-A117-A232975F7A4F}" presName="negativeSpace" presStyleCnt="0"/>
      <dgm:spPr/>
    </dgm:pt>
    <dgm:pt modelId="{1B8A2073-DDFC-A945-965F-34F057A13413}" type="pres">
      <dgm:prSet presAssocID="{2D353E8A-2426-4D87-A117-A232975F7A4F}" presName="childText" presStyleLbl="conFgAcc1" presStyleIdx="0" presStyleCnt="3" custLinFactY="-57067" custLinFactNeighborY="-100000">
        <dgm:presLayoutVars>
          <dgm:bulletEnabled val="1"/>
        </dgm:presLayoutVars>
      </dgm:prSet>
      <dgm:spPr/>
    </dgm:pt>
    <dgm:pt modelId="{65711CED-26E8-7B4E-9B17-1C90497EBA03}" type="pres">
      <dgm:prSet presAssocID="{6E72DBE8-C572-4A0A-AFF6-99D979B7C60A}" presName="spaceBetweenRectangles" presStyleCnt="0"/>
      <dgm:spPr/>
    </dgm:pt>
    <dgm:pt modelId="{8569FE4D-76C4-8144-8A7B-A1F6FDC9EAC9}" type="pres">
      <dgm:prSet presAssocID="{BE56D008-5F82-4D13-AD48-BDFC48C7BBA4}" presName="parentLin" presStyleCnt="0"/>
      <dgm:spPr/>
    </dgm:pt>
    <dgm:pt modelId="{3F4AC45D-EB8C-724C-A2FC-07E66F5EB5B4}" type="pres">
      <dgm:prSet presAssocID="{BE56D008-5F82-4D13-AD48-BDFC48C7BBA4}" presName="parentLeftMargin" presStyleLbl="node1" presStyleIdx="0" presStyleCnt="3"/>
      <dgm:spPr/>
    </dgm:pt>
    <dgm:pt modelId="{EC6F2A64-226F-F043-A736-0E712AA93A63}" type="pres">
      <dgm:prSet presAssocID="{BE56D008-5F82-4D13-AD48-BDFC48C7BBA4}" presName="parentText" presStyleLbl="node1" presStyleIdx="1" presStyleCnt="3" custScaleX="105401" custScaleY="242224" custLinFactX="19556" custLinFactNeighborX="100000" custLinFactNeighborY="-53440">
        <dgm:presLayoutVars>
          <dgm:chMax val="0"/>
          <dgm:bulletEnabled val="1"/>
        </dgm:presLayoutVars>
      </dgm:prSet>
      <dgm:spPr/>
    </dgm:pt>
    <dgm:pt modelId="{88F01646-B055-7649-B360-0B87ED227990}" type="pres">
      <dgm:prSet presAssocID="{BE56D008-5F82-4D13-AD48-BDFC48C7BBA4}" presName="negativeSpace" presStyleCnt="0"/>
      <dgm:spPr/>
    </dgm:pt>
    <dgm:pt modelId="{E1F2A502-4B18-4E44-9443-18DEF06AC982}" type="pres">
      <dgm:prSet presAssocID="{BE56D008-5F82-4D13-AD48-BDFC48C7BBA4}" presName="childText" presStyleLbl="conFgAcc1" presStyleIdx="1" presStyleCnt="3" custLinFactY="-40598" custLinFactNeighborY="-100000">
        <dgm:presLayoutVars>
          <dgm:bulletEnabled val="1"/>
        </dgm:presLayoutVars>
      </dgm:prSet>
      <dgm:spPr/>
    </dgm:pt>
    <dgm:pt modelId="{FE75E647-941B-4E4E-BDE4-62DAFC55B8DB}" type="pres">
      <dgm:prSet presAssocID="{45BA05AD-D4F1-45E3-A9BC-199371EC6E7D}" presName="spaceBetweenRectangles" presStyleCnt="0"/>
      <dgm:spPr/>
    </dgm:pt>
    <dgm:pt modelId="{1F40D43A-044E-9548-B5DB-A01EECCFC114}" type="pres">
      <dgm:prSet presAssocID="{C8510ED0-B9A9-4CAF-BE13-85B66A901392}" presName="parentLin" presStyleCnt="0"/>
      <dgm:spPr/>
    </dgm:pt>
    <dgm:pt modelId="{B94783D4-254C-024E-9562-481FE0200C40}" type="pres">
      <dgm:prSet presAssocID="{C8510ED0-B9A9-4CAF-BE13-85B66A901392}" presName="parentLeftMargin" presStyleLbl="node1" presStyleIdx="1" presStyleCnt="3"/>
      <dgm:spPr/>
    </dgm:pt>
    <dgm:pt modelId="{F71D5DF7-3038-2041-8621-DF8C046A658D}" type="pres">
      <dgm:prSet presAssocID="{C8510ED0-B9A9-4CAF-BE13-85B66A901392}" presName="parentText" presStyleLbl="node1" presStyleIdx="2" presStyleCnt="3" custLinFactNeighborX="-49723" custLinFactNeighborY="-31770">
        <dgm:presLayoutVars>
          <dgm:chMax val="0"/>
          <dgm:bulletEnabled val="1"/>
        </dgm:presLayoutVars>
      </dgm:prSet>
      <dgm:spPr/>
    </dgm:pt>
    <dgm:pt modelId="{BA184240-21C1-6048-AC76-A6622EE238EA}" type="pres">
      <dgm:prSet presAssocID="{C8510ED0-B9A9-4CAF-BE13-85B66A901392}" presName="negativeSpace" presStyleCnt="0"/>
      <dgm:spPr/>
    </dgm:pt>
    <dgm:pt modelId="{6853193F-8754-5547-B915-A85C1FD214C5}" type="pres">
      <dgm:prSet presAssocID="{C8510ED0-B9A9-4CAF-BE13-85B66A901392}" presName="childText" presStyleLbl="conFgAcc1" presStyleIdx="2" presStyleCnt="3" custLinFactNeighborX="-414" custLinFactNeighborY="-28240">
        <dgm:presLayoutVars>
          <dgm:bulletEnabled val="1"/>
        </dgm:presLayoutVars>
      </dgm:prSet>
      <dgm:spPr/>
    </dgm:pt>
  </dgm:ptLst>
  <dgm:cxnLst>
    <dgm:cxn modelId="{4A7AE70A-D133-F844-A8EF-B84A3EA07776}" type="presOf" srcId="{C8510ED0-B9A9-4CAF-BE13-85B66A901392}" destId="{B94783D4-254C-024E-9562-481FE0200C40}" srcOrd="0" destOrd="0" presId="urn:microsoft.com/office/officeart/2005/8/layout/list1"/>
    <dgm:cxn modelId="{CB4F2A1D-F965-B24B-8FD9-C54B87309FB8}" type="presOf" srcId="{BE56D008-5F82-4D13-AD48-BDFC48C7BBA4}" destId="{EC6F2A64-226F-F043-A736-0E712AA93A63}" srcOrd="1" destOrd="0" presId="urn:microsoft.com/office/officeart/2005/8/layout/list1"/>
    <dgm:cxn modelId="{C4125A25-191C-5D43-9B30-6D7D1DC6593C}" type="presOf" srcId="{2D353E8A-2426-4D87-A117-A232975F7A4F}" destId="{45E4A3AF-0F8D-494A-A0E6-D9C938EF77AE}" srcOrd="0" destOrd="0" presId="urn:microsoft.com/office/officeart/2005/8/layout/list1"/>
    <dgm:cxn modelId="{3294CD6A-3844-DE4D-A030-FCDDE70CE8CC}" type="presOf" srcId="{2D353E8A-2426-4D87-A117-A232975F7A4F}" destId="{382E76DE-0916-BF4F-940E-5CCE6068F0CC}" srcOrd="1" destOrd="0" presId="urn:microsoft.com/office/officeart/2005/8/layout/list1"/>
    <dgm:cxn modelId="{A85AFC6B-F495-4B14-B140-758F7D2F2CFC}" srcId="{85C193F0-260F-4751-A737-E1FF503D57AB}" destId="{C8510ED0-B9A9-4CAF-BE13-85B66A901392}" srcOrd="2" destOrd="0" parTransId="{3029BDC9-A449-42F0-9B60-71F962DFCC7E}" sibTransId="{72DB009F-C5F0-4D9C-AAE0-EEC4822A3623}"/>
    <dgm:cxn modelId="{775D4170-49DB-4CF3-AEE9-D6E69D62B6FB}" srcId="{85C193F0-260F-4751-A737-E1FF503D57AB}" destId="{BE56D008-5F82-4D13-AD48-BDFC48C7BBA4}" srcOrd="1" destOrd="0" parTransId="{BF393C9E-8F0D-4752-BE3F-88032991DDA5}" sibTransId="{45BA05AD-D4F1-45E3-A9BC-199371EC6E7D}"/>
    <dgm:cxn modelId="{2A661A89-6EE3-AE49-83E8-CF2FBEF37ECE}" type="presOf" srcId="{85C193F0-260F-4751-A737-E1FF503D57AB}" destId="{6A0511E4-EF99-E14F-AE2C-A81BD688921C}" srcOrd="0" destOrd="0" presId="urn:microsoft.com/office/officeart/2005/8/layout/list1"/>
    <dgm:cxn modelId="{33FC08A3-A38A-0F43-BFC6-4B58272013C3}" type="presOf" srcId="{BE56D008-5F82-4D13-AD48-BDFC48C7BBA4}" destId="{3F4AC45D-EB8C-724C-A2FC-07E66F5EB5B4}" srcOrd="0" destOrd="0" presId="urn:microsoft.com/office/officeart/2005/8/layout/list1"/>
    <dgm:cxn modelId="{E64A4FB5-99A4-634F-902D-7C5825D37174}" type="presOf" srcId="{C8510ED0-B9A9-4CAF-BE13-85B66A901392}" destId="{F71D5DF7-3038-2041-8621-DF8C046A658D}" srcOrd="1" destOrd="0" presId="urn:microsoft.com/office/officeart/2005/8/layout/list1"/>
    <dgm:cxn modelId="{9D7275ED-CFC4-4A11-9CE2-F4192110F3B4}" srcId="{85C193F0-260F-4751-A737-E1FF503D57AB}" destId="{2D353E8A-2426-4D87-A117-A232975F7A4F}" srcOrd="0" destOrd="0" parTransId="{64107B4A-258F-4DC2-8A81-2F08E2BA5E35}" sibTransId="{6E72DBE8-C572-4A0A-AFF6-99D979B7C60A}"/>
    <dgm:cxn modelId="{8C376CF9-ED40-4047-9D2C-287D0FF580F7}" type="presParOf" srcId="{6A0511E4-EF99-E14F-AE2C-A81BD688921C}" destId="{B9885A88-7130-124C-838F-BC2B6343F506}" srcOrd="0" destOrd="0" presId="urn:microsoft.com/office/officeart/2005/8/layout/list1"/>
    <dgm:cxn modelId="{B6552006-28DC-BF41-BE70-2ABA9F596B6E}" type="presParOf" srcId="{B9885A88-7130-124C-838F-BC2B6343F506}" destId="{45E4A3AF-0F8D-494A-A0E6-D9C938EF77AE}" srcOrd="0" destOrd="0" presId="urn:microsoft.com/office/officeart/2005/8/layout/list1"/>
    <dgm:cxn modelId="{17AE23AC-2C3E-B24A-847C-E9CDEFC1D50B}" type="presParOf" srcId="{B9885A88-7130-124C-838F-BC2B6343F506}" destId="{382E76DE-0916-BF4F-940E-5CCE6068F0CC}" srcOrd="1" destOrd="0" presId="urn:microsoft.com/office/officeart/2005/8/layout/list1"/>
    <dgm:cxn modelId="{0D9683BB-7F3A-F848-9CCA-8517D525B085}" type="presParOf" srcId="{6A0511E4-EF99-E14F-AE2C-A81BD688921C}" destId="{E540DFA1-6CD7-8F44-B52B-3BA262999A8F}" srcOrd="1" destOrd="0" presId="urn:microsoft.com/office/officeart/2005/8/layout/list1"/>
    <dgm:cxn modelId="{86CD785A-C3A3-574B-858D-0945FF19C83E}" type="presParOf" srcId="{6A0511E4-EF99-E14F-AE2C-A81BD688921C}" destId="{1B8A2073-DDFC-A945-965F-34F057A13413}" srcOrd="2" destOrd="0" presId="urn:microsoft.com/office/officeart/2005/8/layout/list1"/>
    <dgm:cxn modelId="{7573C76F-7CBB-CE45-B564-5767A160EEB9}" type="presParOf" srcId="{6A0511E4-EF99-E14F-AE2C-A81BD688921C}" destId="{65711CED-26E8-7B4E-9B17-1C90497EBA03}" srcOrd="3" destOrd="0" presId="urn:microsoft.com/office/officeart/2005/8/layout/list1"/>
    <dgm:cxn modelId="{4E38AB4A-1FA4-0749-A072-78097136997D}" type="presParOf" srcId="{6A0511E4-EF99-E14F-AE2C-A81BD688921C}" destId="{8569FE4D-76C4-8144-8A7B-A1F6FDC9EAC9}" srcOrd="4" destOrd="0" presId="urn:microsoft.com/office/officeart/2005/8/layout/list1"/>
    <dgm:cxn modelId="{A6935315-B74B-FB45-B68D-35C50A8FD087}" type="presParOf" srcId="{8569FE4D-76C4-8144-8A7B-A1F6FDC9EAC9}" destId="{3F4AC45D-EB8C-724C-A2FC-07E66F5EB5B4}" srcOrd="0" destOrd="0" presId="urn:microsoft.com/office/officeart/2005/8/layout/list1"/>
    <dgm:cxn modelId="{460BDF6F-E8C3-4842-812E-A04B6D658787}" type="presParOf" srcId="{8569FE4D-76C4-8144-8A7B-A1F6FDC9EAC9}" destId="{EC6F2A64-226F-F043-A736-0E712AA93A63}" srcOrd="1" destOrd="0" presId="urn:microsoft.com/office/officeart/2005/8/layout/list1"/>
    <dgm:cxn modelId="{97A93D8D-EB6D-C94D-BB94-09035ACE096C}" type="presParOf" srcId="{6A0511E4-EF99-E14F-AE2C-A81BD688921C}" destId="{88F01646-B055-7649-B360-0B87ED227990}" srcOrd="5" destOrd="0" presId="urn:microsoft.com/office/officeart/2005/8/layout/list1"/>
    <dgm:cxn modelId="{5F186514-4B03-8B4B-AC04-AD1E556B25FB}" type="presParOf" srcId="{6A0511E4-EF99-E14F-AE2C-A81BD688921C}" destId="{E1F2A502-4B18-4E44-9443-18DEF06AC982}" srcOrd="6" destOrd="0" presId="urn:microsoft.com/office/officeart/2005/8/layout/list1"/>
    <dgm:cxn modelId="{2846FD41-885C-4B42-8F42-B8279C167E33}" type="presParOf" srcId="{6A0511E4-EF99-E14F-AE2C-A81BD688921C}" destId="{FE75E647-941B-4E4E-BDE4-62DAFC55B8DB}" srcOrd="7" destOrd="0" presId="urn:microsoft.com/office/officeart/2005/8/layout/list1"/>
    <dgm:cxn modelId="{E9790DB0-7CB0-9647-BBBF-1863BBB682C4}" type="presParOf" srcId="{6A0511E4-EF99-E14F-AE2C-A81BD688921C}" destId="{1F40D43A-044E-9548-B5DB-A01EECCFC114}" srcOrd="8" destOrd="0" presId="urn:microsoft.com/office/officeart/2005/8/layout/list1"/>
    <dgm:cxn modelId="{A98A54F4-4673-E542-B5FF-977905020AEA}" type="presParOf" srcId="{1F40D43A-044E-9548-B5DB-A01EECCFC114}" destId="{B94783D4-254C-024E-9562-481FE0200C40}" srcOrd="0" destOrd="0" presId="urn:microsoft.com/office/officeart/2005/8/layout/list1"/>
    <dgm:cxn modelId="{3AF91C03-DDC8-D641-A4AD-F4AE723314C9}" type="presParOf" srcId="{1F40D43A-044E-9548-B5DB-A01EECCFC114}" destId="{F71D5DF7-3038-2041-8621-DF8C046A658D}" srcOrd="1" destOrd="0" presId="urn:microsoft.com/office/officeart/2005/8/layout/list1"/>
    <dgm:cxn modelId="{32FFCB4D-E358-4D46-AAAE-7784082C1C56}" type="presParOf" srcId="{6A0511E4-EF99-E14F-AE2C-A81BD688921C}" destId="{BA184240-21C1-6048-AC76-A6622EE238EA}" srcOrd="9" destOrd="0" presId="urn:microsoft.com/office/officeart/2005/8/layout/list1"/>
    <dgm:cxn modelId="{E974F214-E6BF-2F42-B6E0-EC1EE3BE0A65}" type="presParOf" srcId="{6A0511E4-EF99-E14F-AE2C-A81BD688921C}" destId="{6853193F-8754-5547-B915-A85C1FD214C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A2073-DDFC-A945-965F-34F057A13413}">
      <dsp:nvSpPr>
        <dsp:cNvPr id="0" name=""/>
        <dsp:cNvSpPr/>
      </dsp:nvSpPr>
      <dsp:spPr>
        <a:xfrm>
          <a:off x="0" y="1144956"/>
          <a:ext cx="6790149" cy="68039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82E76DE-0916-BF4F-940E-5CCE6068F0CC}">
      <dsp:nvSpPr>
        <dsp:cNvPr id="0" name=""/>
        <dsp:cNvSpPr/>
      </dsp:nvSpPr>
      <dsp:spPr>
        <a:xfrm>
          <a:off x="297303" y="0"/>
          <a:ext cx="4824971" cy="17191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656" tIns="0" rIns="179656" bIns="0" numCol="1" spcCol="1270" anchor="ctr" anchorCtr="0">
          <a:noAutofit/>
        </a:bodyPr>
        <a:lstStyle/>
        <a:p>
          <a:pPr marL="0" lvl="0" indent="0" algn="l" defTabSz="1066800">
            <a:lnSpc>
              <a:spcPct val="90000"/>
            </a:lnSpc>
            <a:spcBef>
              <a:spcPct val="0"/>
            </a:spcBef>
            <a:spcAft>
              <a:spcPct val="35000"/>
            </a:spcAft>
            <a:buNone/>
          </a:pPr>
          <a:r>
            <a:rPr lang="en-US" sz="2400" kern="1200" dirty="0"/>
            <a:t>A Scalable And Latency Fair Multicast Service</a:t>
          </a:r>
        </a:p>
      </dsp:txBody>
      <dsp:txXfrm>
        <a:off x="381224" y="83921"/>
        <a:ext cx="4657129" cy="1551293"/>
      </dsp:txXfrm>
    </dsp:sp>
    <dsp:sp modelId="{E1F2A502-4B18-4E44-9443-18DEF06AC982}">
      <dsp:nvSpPr>
        <dsp:cNvPr id="0" name=""/>
        <dsp:cNvSpPr/>
      </dsp:nvSpPr>
      <dsp:spPr>
        <a:xfrm>
          <a:off x="0" y="3615314"/>
          <a:ext cx="6790149" cy="680399"/>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C6F2A64-226F-F043-A736-0E712AA93A63}">
      <dsp:nvSpPr>
        <dsp:cNvPr id="0" name=""/>
        <dsp:cNvSpPr/>
      </dsp:nvSpPr>
      <dsp:spPr>
        <a:xfrm>
          <a:off x="1608531" y="2079302"/>
          <a:ext cx="5009819" cy="193062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656" tIns="0" rIns="179656" bIns="0" numCol="1" spcCol="1270" anchor="ctr" anchorCtr="0">
          <a:noAutofit/>
        </a:bodyPr>
        <a:lstStyle/>
        <a:p>
          <a:pPr marL="0" lvl="0" indent="0" algn="l" defTabSz="1066800">
            <a:lnSpc>
              <a:spcPct val="90000"/>
            </a:lnSpc>
            <a:spcBef>
              <a:spcPct val="0"/>
            </a:spcBef>
            <a:spcAft>
              <a:spcPct val="35000"/>
            </a:spcAft>
            <a:buNone/>
          </a:pPr>
          <a:r>
            <a:rPr lang="en-US" sz="2400" kern="1200" dirty="0"/>
            <a:t>A Scalable And Latency Fair Order Submission Service</a:t>
          </a:r>
        </a:p>
      </dsp:txBody>
      <dsp:txXfrm>
        <a:off x="1702776" y="2173547"/>
        <a:ext cx="4821329" cy="1742132"/>
      </dsp:txXfrm>
    </dsp:sp>
    <dsp:sp modelId="{6853193F-8754-5547-B915-A85C1FD214C5}">
      <dsp:nvSpPr>
        <dsp:cNvPr id="0" name=""/>
        <dsp:cNvSpPr/>
      </dsp:nvSpPr>
      <dsp:spPr>
        <a:xfrm>
          <a:off x="0" y="5149520"/>
          <a:ext cx="6790149" cy="680399"/>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71D5DF7-3038-2041-8621-DF8C046A658D}">
      <dsp:nvSpPr>
        <dsp:cNvPr id="0" name=""/>
        <dsp:cNvSpPr/>
      </dsp:nvSpPr>
      <dsp:spPr>
        <a:xfrm>
          <a:off x="170694" y="4610323"/>
          <a:ext cx="4753104" cy="797039"/>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656" tIns="0" rIns="179656" bIns="0" numCol="1" spcCol="1270" anchor="ctr" anchorCtr="0">
          <a:noAutofit/>
        </a:bodyPr>
        <a:lstStyle/>
        <a:p>
          <a:pPr marL="0" lvl="0" indent="0" algn="l" defTabSz="1200150">
            <a:lnSpc>
              <a:spcPct val="90000"/>
            </a:lnSpc>
            <a:spcBef>
              <a:spcPct val="0"/>
            </a:spcBef>
            <a:spcAft>
              <a:spcPct val="35000"/>
            </a:spcAft>
            <a:buNone/>
          </a:pPr>
          <a:r>
            <a:rPr lang="en-US" sz="2700" kern="1200" dirty="0"/>
            <a:t>Prototyped on AWS and GCP</a:t>
          </a:r>
        </a:p>
      </dsp:txBody>
      <dsp:txXfrm>
        <a:off x="209602" y="4649231"/>
        <a:ext cx="4675288" cy="71922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89E14C-4B77-9345-AC7C-9D930EA32606}" type="datetimeFigureOut">
              <a:rPr lang="en-US" smtClean="0"/>
              <a:t>4/7/26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2936D-68DF-C34D-84E6-1FDAB4C19BCF}" type="slidenum">
              <a:rPr lang="en-US" smtClean="0"/>
              <a:t>‹#›</a:t>
            </a:fld>
            <a:endParaRPr lang="en-US"/>
          </a:p>
        </p:txBody>
      </p:sp>
    </p:spTree>
    <p:extLst>
      <p:ext uri="{BB962C8B-B14F-4D97-AF65-F5344CB8AC3E}">
        <p14:creationId xmlns:p14="http://schemas.microsoft.com/office/powerpoint/2010/main" val="1367195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As </a:t>
            </a:r>
            <a:r>
              <a:rPr lang="en-US" dirty="0" err="1"/>
              <a:t>trisks</a:t>
            </a:r>
            <a:endParaRPr lang="en-US" dirty="0"/>
          </a:p>
        </p:txBody>
      </p:sp>
      <p:sp>
        <p:nvSpPr>
          <p:cNvPr id="4" name="Slide Number Placeholder 3"/>
          <p:cNvSpPr>
            <a:spLocks noGrp="1"/>
          </p:cNvSpPr>
          <p:nvPr>
            <p:ph type="sldNum" sz="quarter" idx="5"/>
          </p:nvPr>
        </p:nvSpPr>
        <p:spPr/>
        <p:txBody>
          <a:bodyPr/>
          <a:lstStyle/>
          <a:p>
            <a:fld id="{5AD2936D-68DF-C34D-84E6-1FDAB4C19BCF}" type="slidenum">
              <a:rPr lang="en-US" smtClean="0"/>
              <a:t>2</a:t>
            </a:fld>
            <a:endParaRPr lang="en-US"/>
          </a:p>
        </p:txBody>
      </p:sp>
    </p:spTree>
    <p:extLst>
      <p:ext uri="{BB962C8B-B14F-4D97-AF65-F5344CB8AC3E}">
        <p14:creationId xmlns:p14="http://schemas.microsoft.com/office/powerpoint/2010/main" val="64242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 having latency fairness can lead to unwanted unfair competition, users may not come</a:t>
            </a:r>
          </a:p>
        </p:txBody>
      </p:sp>
      <p:sp>
        <p:nvSpPr>
          <p:cNvPr id="4" name="Slide Number Placeholder 3"/>
          <p:cNvSpPr>
            <a:spLocks noGrp="1"/>
          </p:cNvSpPr>
          <p:nvPr>
            <p:ph type="sldNum" sz="quarter" idx="5"/>
          </p:nvPr>
        </p:nvSpPr>
        <p:spPr/>
        <p:txBody>
          <a:bodyPr/>
          <a:lstStyle/>
          <a:p>
            <a:fld id="{5AD2936D-68DF-C34D-84E6-1FDAB4C19BCF}" type="slidenum">
              <a:rPr lang="en-US" smtClean="0"/>
              <a:t>7</a:t>
            </a:fld>
            <a:endParaRPr lang="en-US"/>
          </a:p>
        </p:txBody>
      </p:sp>
    </p:spTree>
    <p:extLst>
      <p:ext uri="{BB962C8B-B14F-4D97-AF65-F5344CB8AC3E}">
        <p14:creationId xmlns:p14="http://schemas.microsoft.com/office/powerpoint/2010/main" val="572064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022B6-65E5-2318-A990-AB7A74085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04C8E-9FAA-628F-EEE8-3287CB0C21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909A3B-0482-FAD7-8EE6-6B9B53012E0A}"/>
              </a:ext>
            </a:extLst>
          </p:cNvPr>
          <p:cNvSpPr>
            <a:spLocks noGrp="1"/>
          </p:cNvSpPr>
          <p:nvPr>
            <p:ph type="body" idx="1"/>
          </p:nvPr>
        </p:nvSpPr>
        <p:spPr/>
        <p:txBody>
          <a:bodyPr/>
          <a:lstStyle/>
          <a:p>
            <a:r>
              <a:rPr lang="en-US" dirty="0"/>
              <a:t>Not having latency fairness can lead to unwanted unfair competition, users may not come</a:t>
            </a:r>
          </a:p>
        </p:txBody>
      </p:sp>
      <p:sp>
        <p:nvSpPr>
          <p:cNvPr id="4" name="Slide Number Placeholder 3">
            <a:extLst>
              <a:ext uri="{FF2B5EF4-FFF2-40B4-BE49-F238E27FC236}">
                <a16:creationId xmlns:a16="http://schemas.microsoft.com/office/drawing/2014/main" id="{0D521CFE-92B1-DEE7-1D5B-857FC63DB485}"/>
              </a:ext>
            </a:extLst>
          </p:cNvPr>
          <p:cNvSpPr>
            <a:spLocks noGrp="1"/>
          </p:cNvSpPr>
          <p:nvPr>
            <p:ph type="sldNum" sz="quarter" idx="5"/>
          </p:nvPr>
        </p:nvSpPr>
        <p:spPr/>
        <p:txBody>
          <a:bodyPr/>
          <a:lstStyle/>
          <a:p>
            <a:fld id="{5AD2936D-68DF-C34D-84E6-1FDAB4C19BCF}" type="slidenum">
              <a:rPr lang="en-US" smtClean="0"/>
              <a:t>8</a:t>
            </a:fld>
            <a:endParaRPr lang="en-US"/>
          </a:p>
        </p:txBody>
      </p:sp>
    </p:spTree>
    <p:extLst>
      <p:ext uri="{BB962C8B-B14F-4D97-AF65-F5344CB8AC3E}">
        <p14:creationId xmlns:p14="http://schemas.microsoft.com/office/powerpoint/2010/main" val="3648190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20C4-A110-B0A6-0D9A-CE3A63087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DBF13-DD74-7F87-98C0-ABF5A2C384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63F68D-BD19-D82B-D8E0-30DD9CB527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BDFB2A-B417-97F6-CCA7-A8732C82F464}"/>
              </a:ext>
            </a:extLst>
          </p:cNvPr>
          <p:cNvSpPr>
            <a:spLocks noGrp="1"/>
          </p:cNvSpPr>
          <p:nvPr>
            <p:ph type="sldNum" sz="quarter" idx="5"/>
          </p:nvPr>
        </p:nvSpPr>
        <p:spPr/>
        <p:txBody>
          <a:bodyPr/>
          <a:lstStyle/>
          <a:p>
            <a:fld id="{5AD2936D-68DF-C34D-84E6-1FDAB4C19BCF}" type="slidenum">
              <a:rPr lang="en-US" smtClean="0"/>
              <a:t>9</a:t>
            </a:fld>
            <a:endParaRPr lang="en-US"/>
          </a:p>
        </p:txBody>
      </p:sp>
    </p:spTree>
    <p:extLst>
      <p:ext uri="{BB962C8B-B14F-4D97-AF65-F5344CB8AC3E}">
        <p14:creationId xmlns:p14="http://schemas.microsoft.com/office/powerpoint/2010/main" val="2395246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89F7-A5F1-AF50-0FA1-105CD333E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1DA64-C8D1-D27D-D5AD-A3D98887D8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948389-62D1-C105-6B56-F55383D3EE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BCC38-694B-6B20-BD21-9386BBD0D7E2}"/>
              </a:ext>
            </a:extLst>
          </p:cNvPr>
          <p:cNvSpPr>
            <a:spLocks noGrp="1"/>
          </p:cNvSpPr>
          <p:nvPr>
            <p:ph type="sldNum" sz="quarter" idx="5"/>
          </p:nvPr>
        </p:nvSpPr>
        <p:spPr/>
        <p:txBody>
          <a:bodyPr/>
          <a:lstStyle/>
          <a:p>
            <a:fld id="{5AD2936D-68DF-C34D-84E6-1FDAB4C19BCF}" type="slidenum">
              <a:rPr lang="en-US" smtClean="0"/>
              <a:t>10</a:t>
            </a:fld>
            <a:endParaRPr lang="en-US"/>
          </a:p>
        </p:txBody>
      </p:sp>
    </p:spTree>
    <p:extLst>
      <p:ext uri="{BB962C8B-B14F-4D97-AF65-F5344CB8AC3E}">
        <p14:creationId xmlns:p14="http://schemas.microsoft.com/office/powerpoint/2010/main" val="908645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600EC-9AA9-ED24-DA66-4B56DBFC5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89F1B-9E14-F5A4-1DD3-8DC017DCC3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ADAE91-2671-8816-9265-487C57D65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689BE7-D39F-23CF-8119-82EEBFF9D083}"/>
              </a:ext>
            </a:extLst>
          </p:cNvPr>
          <p:cNvSpPr>
            <a:spLocks noGrp="1"/>
          </p:cNvSpPr>
          <p:nvPr>
            <p:ph type="sldNum" sz="quarter" idx="5"/>
          </p:nvPr>
        </p:nvSpPr>
        <p:spPr/>
        <p:txBody>
          <a:bodyPr/>
          <a:lstStyle/>
          <a:p>
            <a:fld id="{5AD2936D-68DF-C34D-84E6-1FDAB4C19BCF}" type="slidenum">
              <a:rPr lang="en-US" smtClean="0"/>
              <a:t>11</a:t>
            </a:fld>
            <a:endParaRPr lang="en-US"/>
          </a:p>
        </p:txBody>
      </p:sp>
    </p:spTree>
    <p:extLst>
      <p:ext uri="{BB962C8B-B14F-4D97-AF65-F5344CB8AC3E}">
        <p14:creationId xmlns:p14="http://schemas.microsoft.com/office/powerpoint/2010/main" val="3029730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E749F-93F4-125D-E541-5C8E5D71F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E8ED6-5EF4-400A-E2C0-A86C94EA1C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342344-12F8-A6E3-2055-816BE7BE0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D698C9-EE8C-96FE-DB9A-291287ECEEDC}"/>
              </a:ext>
            </a:extLst>
          </p:cNvPr>
          <p:cNvSpPr>
            <a:spLocks noGrp="1"/>
          </p:cNvSpPr>
          <p:nvPr>
            <p:ph type="sldNum" sz="quarter" idx="5"/>
          </p:nvPr>
        </p:nvSpPr>
        <p:spPr/>
        <p:txBody>
          <a:bodyPr/>
          <a:lstStyle/>
          <a:p>
            <a:fld id="{5AD2936D-68DF-C34D-84E6-1FDAB4C19BCF}" type="slidenum">
              <a:rPr lang="en-US" smtClean="0"/>
              <a:t>12</a:t>
            </a:fld>
            <a:endParaRPr lang="en-US"/>
          </a:p>
        </p:txBody>
      </p:sp>
    </p:spTree>
    <p:extLst>
      <p:ext uri="{BB962C8B-B14F-4D97-AF65-F5344CB8AC3E}">
        <p14:creationId xmlns:p14="http://schemas.microsoft.com/office/powerpoint/2010/main" val="153028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BC2CA-C3D1-4544-C530-3E0E4B167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B5B33-CA3F-127D-6DFB-1EB8594F41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E87660-E55D-2941-AC3A-CFFCC09F0A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941A67-3764-B3AC-C3B6-CF07C3AA1502}"/>
              </a:ext>
            </a:extLst>
          </p:cNvPr>
          <p:cNvSpPr>
            <a:spLocks noGrp="1"/>
          </p:cNvSpPr>
          <p:nvPr>
            <p:ph type="sldNum" sz="quarter" idx="5"/>
          </p:nvPr>
        </p:nvSpPr>
        <p:spPr/>
        <p:txBody>
          <a:bodyPr/>
          <a:lstStyle/>
          <a:p>
            <a:fld id="{5AD2936D-68DF-C34D-84E6-1FDAB4C19BCF}" type="slidenum">
              <a:rPr lang="en-US" smtClean="0"/>
              <a:t>13</a:t>
            </a:fld>
            <a:endParaRPr lang="en-US"/>
          </a:p>
        </p:txBody>
      </p:sp>
    </p:spTree>
    <p:extLst>
      <p:ext uri="{BB962C8B-B14F-4D97-AF65-F5344CB8AC3E}">
        <p14:creationId xmlns:p14="http://schemas.microsoft.com/office/powerpoint/2010/main" val="3008036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736C-0546-B22A-0E51-1D915737B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078BB-E7DD-46A3-D395-D7BDB922F5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C43F81-E12F-2D3E-CEA3-AF077DE43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4289EC-035D-A8E2-D0A8-2F238B5E404F}"/>
              </a:ext>
            </a:extLst>
          </p:cNvPr>
          <p:cNvSpPr>
            <a:spLocks noGrp="1"/>
          </p:cNvSpPr>
          <p:nvPr>
            <p:ph type="sldNum" sz="quarter" idx="5"/>
          </p:nvPr>
        </p:nvSpPr>
        <p:spPr/>
        <p:txBody>
          <a:bodyPr/>
          <a:lstStyle/>
          <a:p>
            <a:fld id="{5AD2936D-68DF-C34D-84E6-1FDAB4C19BCF}" type="slidenum">
              <a:rPr lang="en-US" smtClean="0"/>
              <a:t>14</a:t>
            </a:fld>
            <a:endParaRPr lang="en-US"/>
          </a:p>
        </p:txBody>
      </p:sp>
    </p:spTree>
    <p:extLst>
      <p:ext uri="{BB962C8B-B14F-4D97-AF65-F5344CB8AC3E}">
        <p14:creationId xmlns:p14="http://schemas.microsoft.com/office/powerpoint/2010/main" val="2137941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C320-3B7C-09A2-200E-DDE80E604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510F-3905-EBE7-9101-24FE30B00D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D4B288-7A7F-1742-9508-E1818D7C23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7A9963-7D3E-BFD2-CBBF-4C55CB1C021C}"/>
              </a:ext>
            </a:extLst>
          </p:cNvPr>
          <p:cNvSpPr>
            <a:spLocks noGrp="1"/>
          </p:cNvSpPr>
          <p:nvPr>
            <p:ph type="sldNum" sz="quarter" idx="5"/>
          </p:nvPr>
        </p:nvSpPr>
        <p:spPr/>
        <p:txBody>
          <a:bodyPr/>
          <a:lstStyle/>
          <a:p>
            <a:fld id="{5AD2936D-68DF-C34D-84E6-1FDAB4C19BCF}" type="slidenum">
              <a:rPr lang="en-US" smtClean="0"/>
              <a:t>15</a:t>
            </a:fld>
            <a:endParaRPr lang="en-US"/>
          </a:p>
        </p:txBody>
      </p:sp>
    </p:spTree>
    <p:extLst>
      <p:ext uri="{BB962C8B-B14F-4D97-AF65-F5344CB8AC3E}">
        <p14:creationId xmlns:p14="http://schemas.microsoft.com/office/powerpoint/2010/main" val="1342639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DD48C-35CA-7315-A026-635A7512D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97AD3-4CFE-1DF7-96D2-E8556A50B6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037D92-5B95-DFA8-FD38-FE9B904A9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A06B6A-45E8-6852-5DE7-618D9747D8E7}"/>
              </a:ext>
            </a:extLst>
          </p:cNvPr>
          <p:cNvSpPr>
            <a:spLocks noGrp="1"/>
          </p:cNvSpPr>
          <p:nvPr>
            <p:ph type="sldNum" sz="quarter" idx="5"/>
          </p:nvPr>
        </p:nvSpPr>
        <p:spPr/>
        <p:txBody>
          <a:bodyPr/>
          <a:lstStyle/>
          <a:p>
            <a:fld id="{5AD2936D-68DF-C34D-84E6-1FDAB4C19BCF}" type="slidenum">
              <a:rPr lang="en-US" smtClean="0"/>
              <a:t>16</a:t>
            </a:fld>
            <a:endParaRPr lang="en-US"/>
          </a:p>
        </p:txBody>
      </p:sp>
    </p:spTree>
    <p:extLst>
      <p:ext uri="{BB962C8B-B14F-4D97-AF65-F5344CB8AC3E}">
        <p14:creationId xmlns:p14="http://schemas.microsoft.com/office/powerpoint/2010/main" val="1013648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86912-8D16-E435-5C22-A90E748FF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D73EF-5AEE-8EC9-A6E8-0C4466DBFA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2519F4-B304-570C-296F-C835E1C203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7CC44C-E247-7DEB-CCC9-15D1BC0DBB41}"/>
              </a:ext>
            </a:extLst>
          </p:cNvPr>
          <p:cNvSpPr>
            <a:spLocks noGrp="1"/>
          </p:cNvSpPr>
          <p:nvPr>
            <p:ph type="sldNum" sz="quarter" idx="5"/>
          </p:nvPr>
        </p:nvSpPr>
        <p:spPr/>
        <p:txBody>
          <a:bodyPr/>
          <a:lstStyle/>
          <a:p>
            <a:fld id="{5AD2936D-68DF-C34D-84E6-1FDAB4C19BCF}" type="slidenum">
              <a:rPr lang="en-US" smtClean="0"/>
              <a:t>17</a:t>
            </a:fld>
            <a:endParaRPr lang="en-US"/>
          </a:p>
        </p:txBody>
      </p:sp>
    </p:spTree>
    <p:extLst>
      <p:ext uri="{BB962C8B-B14F-4D97-AF65-F5344CB8AC3E}">
        <p14:creationId xmlns:p14="http://schemas.microsoft.com/office/powerpoint/2010/main" val="903150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EB3D0-1E06-2B88-0153-4E2E25297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9168E-EC7C-4EFA-A948-1BD168CCBB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747B9B-C5F9-E2C8-787A-B00209079B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068103-71FA-E1EA-1C35-91C986073B35}"/>
              </a:ext>
            </a:extLst>
          </p:cNvPr>
          <p:cNvSpPr>
            <a:spLocks noGrp="1"/>
          </p:cNvSpPr>
          <p:nvPr>
            <p:ph type="sldNum" sz="quarter" idx="5"/>
          </p:nvPr>
        </p:nvSpPr>
        <p:spPr/>
        <p:txBody>
          <a:bodyPr/>
          <a:lstStyle/>
          <a:p>
            <a:fld id="{5AD2936D-68DF-C34D-84E6-1FDAB4C19BCF}" type="slidenum">
              <a:rPr lang="en-US" smtClean="0"/>
              <a:t>18</a:t>
            </a:fld>
            <a:endParaRPr lang="en-US"/>
          </a:p>
        </p:txBody>
      </p:sp>
    </p:spTree>
    <p:extLst>
      <p:ext uri="{BB962C8B-B14F-4D97-AF65-F5344CB8AC3E}">
        <p14:creationId xmlns:p14="http://schemas.microsoft.com/office/powerpoint/2010/main" val="2458115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5D0F-F53A-8FBF-64D9-A67F2836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39AA8-66B5-E374-EBF1-749B2DECA9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F470EBD-83E0-7813-FE78-35AED5F19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85C3C6-ACAD-032E-F56A-3AE71677C988}"/>
              </a:ext>
            </a:extLst>
          </p:cNvPr>
          <p:cNvSpPr>
            <a:spLocks noGrp="1"/>
          </p:cNvSpPr>
          <p:nvPr>
            <p:ph type="sldNum" sz="quarter" idx="5"/>
          </p:nvPr>
        </p:nvSpPr>
        <p:spPr/>
        <p:txBody>
          <a:bodyPr/>
          <a:lstStyle/>
          <a:p>
            <a:fld id="{5AD2936D-68DF-C34D-84E6-1FDAB4C19BCF}" type="slidenum">
              <a:rPr lang="en-US" smtClean="0"/>
              <a:t>19</a:t>
            </a:fld>
            <a:endParaRPr lang="en-US"/>
          </a:p>
        </p:txBody>
      </p:sp>
    </p:spTree>
    <p:extLst>
      <p:ext uri="{BB962C8B-B14F-4D97-AF65-F5344CB8AC3E}">
        <p14:creationId xmlns:p14="http://schemas.microsoft.com/office/powerpoint/2010/main" val="171951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0D004-F083-99D8-B51B-26F7BB562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93473-C5E7-E48E-6384-B5787AE669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C3F9A3-8AFA-6B23-FB16-C842D8772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53653-B344-DA14-85BC-D91CE5F14669}"/>
              </a:ext>
            </a:extLst>
          </p:cNvPr>
          <p:cNvSpPr>
            <a:spLocks noGrp="1"/>
          </p:cNvSpPr>
          <p:nvPr>
            <p:ph type="sldNum" sz="quarter" idx="5"/>
          </p:nvPr>
        </p:nvSpPr>
        <p:spPr/>
        <p:txBody>
          <a:bodyPr/>
          <a:lstStyle/>
          <a:p>
            <a:fld id="{5AD2936D-68DF-C34D-84E6-1FDAB4C19BCF}" type="slidenum">
              <a:rPr lang="en-US" smtClean="0"/>
              <a:t>20</a:t>
            </a:fld>
            <a:endParaRPr lang="en-US"/>
          </a:p>
        </p:txBody>
      </p:sp>
    </p:spTree>
    <p:extLst>
      <p:ext uri="{BB962C8B-B14F-4D97-AF65-F5344CB8AC3E}">
        <p14:creationId xmlns:p14="http://schemas.microsoft.com/office/powerpoint/2010/main" val="2607917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C0A0-A527-AB60-C375-2279D78A1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07C0F-F044-9CA5-A27E-65D99F2FB4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F7997C-22A7-1852-BBC8-13B00A027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374653-F9AE-2D0D-E56F-42C68A086C27}"/>
              </a:ext>
            </a:extLst>
          </p:cNvPr>
          <p:cNvSpPr>
            <a:spLocks noGrp="1"/>
          </p:cNvSpPr>
          <p:nvPr>
            <p:ph type="sldNum" sz="quarter" idx="5"/>
          </p:nvPr>
        </p:nvSpPr>
        <p:spPr/>
        <p:txBody>
          <a:bodyPr/>
          <a:lstStyle/>
          <a:p>
            <a:fld id="{5AD2936D-68DF-C34D-84E6-1FDAB4C19BCF}" type="slidenum">
              <a:rPr lang="en-US" smtClean="0"/>
              <a:t>21</a:t>
            </a:fld>
            <a:endParaRPr lang="en-US"/>
          </a:p>
        </p:txBody>
      </p:sp>
    </p:spTree>
    <p:extLst>
      <p:ext uri="{BB962C8B-B14F-4D97-AF65-F5344CB8AC3E}">
        <p14:creationId xmlns:p14="http://schemas.microsoft.com/office/powerpoint/2010/main" val="3780556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0CADE-31CB-CFD5-187D-FB90C4A8D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CD94A-62E9-D64F-AC91-A9FD3919F7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F4ADE3-3668-9E50-6FFE-F7B456C15C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5C9549-C470-86BC-1EE8-67C3AB749131}"/>
              </a:ext>
            </a:extLst>
          </p:cNvPr>
          <p:cNvSpPr>
            <a:spLocks noGrp="1"/>
          </p:cNvSpPr>
          <p:nvPr>
            <p:ph type="sldNum" sz="quarter" idx="5"/>
          </p:nvPr>
        </p:nvSpPr>
        <p:spPr/>
        <p:txBody>
          <a:bodyPr/>
          <a:lstStyle/>
          <a:p>
            <a:fld id="{5AD2936D-68DF-C34D-84E6-1FDAB4C19BCF}" type="slidenum">
              <a:rPr lang="en-US" smtClean="0"/>
              <a:t>22</a:t>
            </a:fld>
            <a:endParaRPr lang="en-US"/>
          </a:p>
        </p:txBody>
      </p:sp>
    </p:spTree>
    <p:extLst>
      <p:ext uri="{BB962C8B-B14F-4D97-AF65-F5344CB8AC3E}">
        <p14:creationId xmlns:p14="http://schemas.microsoft.com/office/powerpoint/2010/main" val="3546566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E3F121B-B2EC-A8DC-FF10-A1FEFAD48C6C}"/>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B5ADD324-26F1-2DA8-0C9D-9EF3B4026A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2B078746-65C1-A222-FCAE-A0224FA5E9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8737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D09C80A5-A9A0-5592-D782-AA72A57E3CB0}"/>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4CB70A6E-38AF-6012-6B66-3D2A33722C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332D20F5-71C8-DC49-919B-2F202EAAFF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290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88CDFDF8-0685-498A-8AEB-5F4EFEF15853}"/>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9827B912-96F1-C80F-0415-CB1D35FDB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5166CC31-3D8C-434D-2456-06772ECCD3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0090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406F462-5F96-0B6F-DA67-BDA4E177BD8F}"/>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F855BC8A-1995-B0C9-66EA-A58BF06E1C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E0B025B2-3B1E-9A50-F184-7FFD7080BC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303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DBCFC4AF-8CFE-723C-734F-22CB624C3963}"/>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A73504D7-663C-9908-640D-A70E12A2F8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03F42BEE-563D-FB62-B79A-13674B1361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5812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77389B7F-69A9-79A4-0469-C8DDF739EDA9}"/>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A17CBF0D-CADA-EB8E-7853-71C449FAD1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C862463D-3669-B860-D0D5-E576B25E1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028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F7739029-D541-14C3-A3D3-DC6F6AF3E99B}"/>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9272EFBB-E4A9-E4BF-C783-0DB3C0A355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F2CD8091-CF0F-4B7F-2D04-201D7B8044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5133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85D976B2-80F9-DCFC-E145-A84D232F4D75}"/>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A9108BC8-5BAE-C236-FC63-0BC79F59F2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F1437CA7-2900-21EC-64A1-211908BA82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99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E4C337B-D9F6-81ED-B34E-7289417E0B86}"/>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63B63FF8-2458-0939-80A5-71BB7049B8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F1E46847-886A-5A01-F7EE-4136B5F805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6422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966BB8D6-F2EE-0BC8-07A1-24BF2F54F148}"/>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2245C3B6-8C9F-F8A0-8C8B-0AD73B7DFB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2B667CA1-2EE3-B466-F8FA-D3EA1470F2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8440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2A3E145-60A0-906B-F309-968DB39344C1}"/>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3CD801E4-2A6B-1ED8-25B8-B1DA3B825D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3BBFAFAA-30BE-11F5-4DAE-5B78D1868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42025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F46528C7-7184-8D22-54F2-0C2FC7AE7499}"/>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642588CC-C717-2F4E-6B1F-B90BFE45E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A049AED3-38BA-A4CF-9731-DBBBAC3485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Price time priority algorithm</a:t>
            </a:r>
            <a:endParaRPr dirty="0"/>
          </a:p>
        </p:txBody>
      </p:sp>
    </p:spTree>
    <p:extLst>
      <p:ext uri="{BB962C8B-B14F-4D97-AF65-F5344CB8AC3E}">
        <p14:creationId xmlns:p14="http://schemas.microsoft.com/office/powerpoint/2010/main" val="2265167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DA0EDF3-595E-6D98-05C3-24AC4CA53CCA}"/>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B80C2E72-5336-A1A7-956B-B651E49B3D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5" name="Google Shape;65;g3092d2458f9_0_62:notes">
            <a:extLst>
              <a:ext uri="{FF2B5EF4-FFF2-40B4-BE49-F238E27FC236}">
                <a16:creationId xmlns:a16="http://schemas.microsoft.com/office/drawing/2014/main" id="{E60A6744-F705-8205-223B-F794D5111A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3279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Will replace </a:t>
            </a:r>
            <a:r>
              <a:rPr lang="en-US" dirty="0" err="1"/>
              <a:t>png</a:t>
            </a:r>
            <a:r>
              <a:rPr lang="en-US" dirty="0"/>
              <a:t> with pdf, somehow adding pdf is making it too heavy for </a:t>
            </a:r>
            <a:r>
              <a:rPr lang="en-US" dirty="0" err="1"/>
              <a:t>powerpoint</a:t>
            </a:r>
            <a:r>
              <a:rPr lang="en-US" dirty="0"/>
              <a:t> to handle.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A9493B-55D8-874A-9DCB-2503F8885D5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51054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16DCC82-8A87-B6E0-D37F-18A25DD86F7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1B73974-CB96-D06B-24D6-FCE230062A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D03C7707-3C00-8240-10FF-004B8382C8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367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AB2FE54-A703-16E7-1399-389C88A2BAF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76B11D6-2BD2-4B01-F530-05742AD59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BF8BD569-71A2-99DF-E28F-8FD007E25A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06686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5693181-C99A-C505-C78E-1BB018A2034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0EA0158-6E15-5BAD-AACF-0FB123395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9E31BF72-0A71-98AE-C954-BACDF87B16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63798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590B108-7C49-09A3-F1C3-21B022799C96}"/>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8DCD5B32-E7ED-2CF2-E508-7055BA9F91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CDC0B48-46C9-1DEB-2B5A-5E29A26296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86962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9B63EEA-188C-3FBD-A6AB-AD231212B204}"/>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147FE3A1-08C6-CBC6-A113-84D0D66F31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9445D650-A345-C963-00EF-95575214F1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9535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F32DC1A-5BA2-BFF9-251B-1FCBD4D5124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BBD1CBB-FB28-4A98-5319-E682657AE1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EE4A1228-A0C5-7EFB-A0A8-A136573E5D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2528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1B40030-FF82-D44D-8AB0-1471A76427C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F1AD595-01E9-677E-9BBF-FE463F354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A9265B3D-9447-C8B0-A329-260C4DF164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94108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7D263C0-B2AE-D4DC-3339-0307A3D6DF3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5711F022-5464-CA69-309B-AF6B320B25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BB453350-433D-9CE3-EC0E-59D16EFF0B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88832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F52AE5C-4370-CDE3-2C2D-7C9C267C453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B917B074-2FFA-8CAD-85A7-3DF6D48036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4B802C45-B481-8C36-4EA1-F06305CAAB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22760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E2702E0-93CF-C67D-63B5-10828F393B41}"/>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5F67FE3-528E-F7B4-1B8D-F107F31AB3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076BF2AD-B214-EB27-6121-96C5D175E7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802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737D177-B4D9-4121-79EE-1605B8ED94F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C9DA06C-69C7-F3AE-701A-3BBC9A5EC6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8B0FE4B7-554E-9811-4EDA-5798C51CD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78441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C34E2C1-3216-5C4A-AE8C-C19AB11320EC}"/>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C90433C-B072-4459-829E-BA18D4D31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4ECA09C9-E966-99F4-9D69-8CA3AB1AD2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7499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3524569-6A97-910C-16AA-4C1D554AB14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92ED0B0-00F7-5660-27DA-C9BC9997BC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DEFB5040-A5E2-59AE-5A1B-4E507717F6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34631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5D3B0A3-A85D-5543-62CC-87B8F5967BA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A6D27378-8447-52C5-891B-D8F264D79A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39B32425-EB16-3F81-AA83-5C7DCA71E4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98593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695A024-1E95-3BE5-4C67-14060950478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4CCE9F5-2DB0-4159-4840-A48A97909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77E834D1-E1F3-7E45-C1B9-D48F725E9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81548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AFCB15DB-E194-7A39-9EDF-B996F7057AFB}"/>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0EA0530-69D4-8F9C-A0C5-53F2846FF1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3790B7F-E138-B516-8EE8-D6E8137D4A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30016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tLang="zh-CN" dirty="0"/>
              <a:t>We</a:t>
            </a:r>
            <a:r>
              <a:rPr lang="zh-CN" altLang="en-US" dirty="0"/>
              <a:t> </a:t>
            </a:r>
            <a:r>
              <a:rPr lang="en-US" altLang="zh-CN" dirty="0"/>
              <a:t>cannot</a:t>
            </a:r>
            <a:r>
              <a:rPr lang="zh-CN" altLang="en-US" dirty="0"/>
              <a:t> </a:t>
            </a:r>
            <a:r>
              <a:rPr lang="en-US" altLang="zh-CN" dirty="0"/>
              <a:t>control</a:t>
            </a:r>
            <a:r>
              <a:rPr lang="zh-CN" altLang="en-US" dirty="0"/>
              <a:t> </a:t>
            </a:r>
            <a:r>
              <a:rPr lang="en-US" altLang="zh-CN" dirty="0"/>
              <a:t>the</a:t>
            </a:r>
            <a:r>
              <a:rPr lang="zh-CN" altLang="en-US" dirty="0"/>
              <a:t> </a:t>
            </a:r>
            <a:r>
              <a:rPr lang="en-US" altLang="zh-CN" dirty="0"/>
              <a:t>arrival</a:t>
            </a:r>
            <a:r>
              <a:rPr lang="zh-CN" altLang="en-US" dirty="0"/>
              <a:t> </a:t>
            </a:r>
            <a:r>
              <a:rPr lang="en-US" altLang="zh-CN" dirty="0"/>
              <a:t>time</a:t>
            </a:r>
            <a:r>
              <a:rPr lang="zh-CN" altLang="en-US" dirty="0"/>
              <a:t> </a:t>
            </a:r>
            <a:r>
              <a:rPr lang="en-US" altLang="zh-CN" dirty="0"/>
              <a:t>of</a:t>
            </a:r>
            <a:r>
              <a:rPr lang="zh-CN" altLang="en-US" dirty="0"/>
              <a:t> </a:t>
            </a:r>
            <a:r>
              <a:rPr lang="en-US" altLang="zh-CN" dirty="0"/>
              <a:t>the</a:t>
            </a:r>
            <a:r>
              <a:rPr lang="zh-CN" altLang="en-US" dirty="0"/>
              <a:t> </a:t>
            </a:r>
            <a:r>
              <a:rPr lang="en-US" altLang="zh-CN" dirty="0"/>
              <a:t>messages</a:t>
            </a:r>
            <a:r>
              <a:rPr lang="zh-CN" altLang="en-US" dirty="0"/>
              <a:t> </a:t>
            </a:r>
            <a:r>
              <a:rPr lang="en-US" altLang="zh-CN" dirty="0"/>
              <a:t>at</a:t>
            </a:r>
            <a:r>
              <a:rPr lang="zh-CN" altLang="en-US" dirty="0"/>
              <a:t> </a:t>
            </a:r>
            <a:r>
              <a:rPr lang="en-US" altLang="zh-CN" dirty="0"/>
              <a:t>each</a:t>
            </a:r>
            <a:r>
              <a:rPr lang="zh-CN" altLang="en-US" dirty="0"/>
              <a:t> </a:t>
            </a:r>
            <a:r>
              <a:rPr lang="en-US" altLang="zh-CN" dirty="0"/>
              <a:t>receiver.</a:t>
            </a:r>
            <a:r>
              <a:rPr lang="zh-CN" altLang="en-US" dirty="0"/>
              <a:t> </a:t>
            </a:r>
            <a:r>
              <a:rPr lang="en-US" altLang="zh-CN" dirty="0"/>
              <a:t>The</a:t>
            </a:r>
            <a:r>
              <a:rPr lang="zh-CN" altLang="en-US" dirty="0"/>
              <a:t> </a:t>
            </a:r>
            <a:r>
              <a:rPr lang="en-US" altLang="zh-CN" dirty="0"/>
              <a:t>messages</a:t>
            </a:r>
            <a:r>
              <a:rPr lang="zh-CN" altLang="en-US" dirty="0"/>
              <a:t> </a:t>
            </a:r>
            <a:r>
              <a:rPr lang="en-US" altLang="zh-CN" dirty="0"/>
              <a:t>can</a:t>
            </a:r>
            <a:r>
              <a:rPr lang="zh-CN" altLang="en-US" dirty="0"/>
              <a:t> </a:t>
            </a:r>
            <a:r>
              <a:rPr lang="en-US" altLang="zh-CN" dirty="0"/>
              <a:t>arrive</a:t>
            </a:r>
            <a:r>
              <a:rPr lang="zh-CN" altLang="en-US" dirty="0"/>
              <a:t> </a:t>
            </a:r>
            <a:r>
              <a:rPr lang="en-US" altLang="zh-CN" dirty="0"/>
              <a:t>at</a:t>
            </a:r>
            <a:r>
              <a:rPr lang="zh-CN" altLang="en-US" dirty="0"/>
              <a:t> </a:t>
            </a:r>
            <a:r>
              <a:rPr lang="en-US" altLang="zh-CN" dirty="0"/>
              <a:t>the</a:t>
            </a:r>
            <a:r>
              <a:rPr lang="zh-CN" altLang="en-US" dirty="0"/>
              <a:t> </a:t>
            </a:r>
            <a:r>
              <a:rPr lang="en-US" altLang="zh-CN" dirty="0"/>
              <a:t>receivers</a:t>
            </a:r>
            <a:r>
              <a:rPr lang="zh-CN" altLang="en-US" dirty="0"/>
              <a:t> </a:t>
            </a:r>
            <a:r>
              <a:rPr lang="en-US" altLang="zh-CN" dirty="0"/>
              <a:t>at</a:t>
            </a:r>
            <a:r>
              <a:rPr lang="zh-CN" altLang="en-US" dirty="0"/>
              <a:t> </a:t>
            </a:r>
            <a:r>
              <a:rPr lang="en-US" altLang="zh-CN" dirty="0"/>
              <a:t>unpredictable</a:t>
            </a:r>
            <a:r>
              <a:rPr lang="zh-CN" altLang="en-US" dirty="0"/>
              <a:t> </a:t>
            </a:r>
            <a:r>
              <a:rPr lang="en-US" altLang="zh-CN" dirty="0"/>
              <a:t>times.</a:t>
            </a:r>
            <a:r>
              <a:rPr lang="zh-CN" altLang="en-US" dirty="0"/>
              <a:t> </a:t>
            </a:r>
            <a:endParaRPr lang="en-US" altLang="zh-CN" dirty="0"/>
          </a:p>
          <a:p>
            <a:endParaRPr lang="en-US" altLang="zh-CN" dirty="0"/>
          </a:p>
          <a:p>
            <a:r>
              <a:rPr lang="en-US" altLang="zh-CN" dirty="0"/>
              <a:t>But</a:t>
            </a:r>
            <a:r>
              <a:rPr lang="zh-CN" altLang="en-US" dirty="0"/>
              <a:t> </a:t>
            </a:r>
            <a:r>
              <a:rPr lang="en-US" altLang="zh-CN" dirty="0"/>
              <a:t>since</a:t>
            </a:r>
            <a:r>
              <a:rPr lang="zh-CN" altLang="en-US" dirty="0"/>
              <a:t> </a:t>
            </a:r>
            <a:r>
              <a:rPr lang="en-US" altLang="zh-CN" dirty="0"/>
              <a:t>the</a:t>
            </a:r>
            <a:r>
              <a:rPr lang="zh-CN" altLang="en-US" dirty="0"/>
              <a:t> </a:t>
            </a:r>
            <a:r>
              <a:rPr lang="en-US" altLang="zh-CN" dirty="0"/>
              <a:t>receivers</a:t>
            </a:r>
            <a:r>
              <a:rPr lang="zh-CN" altLang="en-US" dirty="0"/>
              <a:t> </a:t>
            </a:r>
            <a:r>
              <a:rPr lang="en-US" altLang="zh-CN" dirty="0"/>
              <a:t>are</a:t>
            </a:r>
            <a:r>
              <a:rPr lang="zh-CN" altLang="en-US" dirty="0"/>
              <a:t> </a:t>
            </a:r>
            <a:r>
              <a:rPr lang="en-US" altLang="zh-CN" dirty="0"/>
              <a:t>sharing</a:t>
            </a:r>
            <a:r>
              <a:rPr lang="zh-CN" altLang="en-US" dirty="0"/>
              <a:t> </a:t>
            </a:r>
            <a:r>
              <a:rPr lang="en-US" altLang="zh-CN" dirty="0"/>
              <a:t>the</a:t>
            </a:r>
            <a:r>
              <a:rPr lang="zh-CN" altLang="en-US" dirty="0"/>
              <a:t> </a:t>
            </a:r>
            <a:r>
              <a:rPr lang="en-US" altLang="zh-CN" dirty="0"/>
              <a:t>same</a:t>
            </a:r>
            <a:r>
              <a:rPr lang="zh-CN" altLang="en-US" dirty="0"/>
              <a:t> </a:t>
            </a:r>
            <a:r>
              <a:rPr lang="en-US" altLang="zh-CN" dirty="0"/>
              <a:t>timeline,</a:t>
            </a:r>
            <a:r>
              <a:rPr lang="zh-CN" altLang="en-US" dirty="0"/>
              <a:t> </a:t>
            </a:r>
            <a:endParaRPr lang="en-US" altLang="zh-CN" dirty="0"/>
          </a:p>
          <a:p>
            <a:r>
              <a:rPr lang="en-US" altLang="zh-CN" dirty="0"/>
              <a:t>we</a:t>
            </a:r>
            <a:r>
              <a:rPr lang="zh-CN" altLang="en-US" dirty="0"/>
              <a:t> </a:t>
            </a:r>
            <a:r>
              <a:rPr lang="en-US" altLang="zh-CN" dirty="0"/>
              <a:t>can</a:t>
            </a:r>
            <a:r>
              <a:rPr lang="zh-CN" altLang="en-US" dirty="0"/>
              <a:t> </a:t>
            </a:r>
            <a:r>
              <a:rPr lang="en-US" altLang="zh-CN" dirty="0"/>
              <a:t>make</a:t>
            </a:r>
            <a:r>
              <a:rPr lang="zh-CN" altLang="en-US" dirty="0"/>
              <a:t> </a:t>
            </a:r>
            <a:r>
              <a:rPr lang="en-US" altLang="zh-CN" dirty="0"/>
              <a:t>each</a:t>
            </a:r>
            <a:r>
              <a:rPr lang="zh-CN" altLang="en-US" dirty="0"/>
              <a:t> </a:t>
            </a:r>
            <a:r>
              <a:rPr lang="en-US" altLang="zh-CN" dirty="0"/>
              <a:t>receiver</a:t>
            </a:r>
            <a:r>
              <a:rPr lang="zh-CN" altLang="en-US" dirty="0"/>
              <a:t> </a:t>
            </a:r>
            <a:r>
              <a:rPr lang="en-US" altLang="zh-CN" dirty="0"/>
              <a:t>to</a:t>
            </a:r>
            <a:r>
              <a:rPr lang="zh-CN" altLang="en-US" dirty="0"/>
              <a:t> </a:t>
            </a:r>
            <a:r>
              <a:rPr lang="en-US" altLang="zh-CN" dirty="0"/>
              <a:t>hold</a:t>
            </a:r>
            <a:r>
              <a:rPr lang="zh-CN" altLang="en-US" dirty="0"/>
              <a:t> </a:t>
            </a:r>
            <a:r>
              <a:rPr lang="en-US" altLang="zh-CN" dirty="0"/>
              <a:t>the</a:t>
            </a:r>
            <a:r>
              <a:rPr lang="zh-CN" altLang="en-US" dirty="0"/>
              <a:t> </a:t>
            </a:r>
            <a:r>
              <a:rPr lang="en-US" altLang="zh-CN" dirty="0"/>
              <a:t>messages</a:t>
            </a:r>
            <a:r>
              <a:rPr lang="zh-CN" altLang="en-US" dirty="0"/>
              <a:t> </a:t>
            </a:r>
            <a:r>
              <a:rPr lang="en-US" altLang="zh-CN" dirty="0"/>
              <a:t>and</a:t>
            </a:r>
            <a:r>
              <a:rPr lang="zh-CN" altLang="en-US" dirty="0"/>
              <a:t> </a:t>
            </a:r>
            <a:r>
              <a:rPr lang="en-US" altLang="zh-CN" dirty="0"/>
              <a:t>process</a:t>
            </a:r>
            <a:r>
              <a:rPr lang="zh-CN" altLang="en-US" dirty="0"/>
              <a:t> </a:t>
            </a:r>
            <a:r>
              <a:rPr lang="en-US" altLang="zh-CN" dirty="0"/>
              <a:t>the</a:t>
            </a:r>
            <a:r>
              <a:rPr lang="zh-CN" altLang="en-US" dirty="0"/>
              <a:t> </a:t>
            </a:r>
            <a:r>
              <a:rPr lang="en-US" altLang="zh-CN" dirty="0"/>
              <a:t>message</a:t>
            </a:r>
            <a:r>
              <a:rPr lang="zh-CN" altLang="en-US" dirty="0"/>
              <a:t> </a:t>
            </a:r>
            <a:r>
              <a:rPr lang="en-US" altLang="zh-CN" dirty="0"/>
              <a:t>at</a:t>
            </a:r>
            <a:r>
              <a:rPr lang="zh-CN" altLang="en-US" dirty="0"/>
              <a:t> </a:t>
            </a:r>
            <a:r>
              <a:rPr lang="en-US" altLang="zh-CN" dirty="0"/>
              <a:t>the</a:t>
            </a:r>
            <a:r>
              <a:rPr lang="zh-CN" altLang="en-US" dirty="0"/>
              <a:t> </a:t>
            </a:r>
            <a:r>
              <a:rPr lang="en-US" altLang="zh-CN" dirty="0"/>
              <a:t>same</a:t>
            </a:r>
            <a:r>
              <a:rPr lang="zh-CN" altLang="en-US" dirty="0"/>
              <a:t> </a:t>
            </a:r>
            <a:r>
              <a:rPr lang="en-US" altLang="zh-CN" dirty="0"/>
              <a:t>time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EF7A7-27AB-6E4C-AB55-71A628D244D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18335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45E815E-9F83-4208-CBFD-FAB1AD231EF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482B5E2-D71B-75B1-A260-B41FBC1A39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B545BED2-ECDE-F1FB-A952-6FE45A3A0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10734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1B0082B-5777-9E02-6770-CB517AE227C0}"/>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5783604-DF19-1AA6-9EEE-5A2A3466FC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EA5AE2FA-78CD-37DD-4020-2E695395D1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5343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325BE27-1DE8-71DD-D4FA-0AB86532D8F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613D512D-6418-3DF7-ED63-9522E5E232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DB941AC4-1F97-0471-FFDE-1DB61DBF61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59437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534CCBE-9DFD-B6AC-F994-35A9E0B87FD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7727C3B-F07A-6964-7840-4BA054F17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2B4A4ADE-09A9-8732-C6CD-F5639F1E97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18911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25BD3EE-2CE7-3F4F-F906-88CAE0B117B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64C0398-71DE-F106-AE49-1EBD7B2343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C937A469-D036-3804-C4B9-2A8D9BEE6F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39188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BE0EA22-2D1A-855F-324F-A6BB049B3EE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1E133B3-50E6-4140-AA90-8BD3DBA851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D4A2884A-2551-F094-A5AB-563D5B52E2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305022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412A137-95A3-A90C-76DF-21F8357870B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49E53244-6D91-85AC-B90F-19A1B5DD90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0C2E63D5-BFCD-49E7-E081-690B3ADA3C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72597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DB20845-AA84-8D22-7748-7B8A0CD9EE6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EFF847C-31ED-237F-2F46-9296983594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81D16309-9F22-D5B6-4597-E2267424F9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7980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C67F08B-EE6C-0246-FA9F-DEBB9E81F64F}"/>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158B569F-AA5E-652F-027B-6EED02747E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CA28E59F-57A4-A491-1264-3F4A20F7AB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67844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EB50EF4-2B30-3023-6C9B-40E2E56A1F0E}"/>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5D064BEC-4654-33B7-2F68-5B5BFB4C17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B1E96115-77A9-0D95-7ACB-1DA53A1B07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74159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01C2F53-45D1-2608-D82A-11C5E7A27DE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AB0BF744-21D3-9537-DEC6-D92BDE05EF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D77691C0-F11B-E5E6-7637-58A6F59711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64405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ACB23B7-159C-4AE2-41E3-4A7C18903B2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547C3F8-1CDA-CCDC-DE1F-E1FBA77577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FC51D38-B1BA-B15F-1BF5-9D5E58483F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63347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9714CF1-CC1B-CE94-D64D-588E2C2BFCAB}"/>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42BCA3AB-AADD-7C01-F7BD-DF84E5004C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E0398AAA-2E5F-58F6-76CA-0E3B76609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59963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41BDDCE-578D-63BC-CE89-B94BA155AAA5}"/>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A446161-DF09-90A4-0B03-10EE464D9E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870E5122-B33D-F03D-0603-B55A3B694D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194474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D4EE2F7-4E64-795A-D88D-8F43836EA230}"/>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D5B0812D-A599-44FF-1034-2B3549287D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75E2DBD-64C6-CA1A-B41B-6FE59FC028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03384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0A46879-B8C4-FE0B-7309-58ACC2D2811C}"/>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C9C8069-1E08-03E1-CBD1-ED21264014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26436540-9C7F-6874-A5BD-3F7575A131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4981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B61AD6B-50EB-1925-2345-6E3283D7A28E}"/>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65F6E31-EED2-09C6-A293-3CED64E069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0AF3AE2B-2186-BE09-6354-965CB0C6EF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32091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0CF3872-50DD-878B-FF7C-572030AAE56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B801EAA1-C1AD-0CA9-C937-4C37A834EA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CD0B9A9A-825C-C7DE-A980-8EFA5F3609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62088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2584BF39-2149-0FB0-7C84-71CB3992768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73B8A53-65F4-5B6F-3FFA-C9D52F021F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9EABD972-455B-6D1F-17BD-B45083B705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523897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25F3ACF-6375-E5A4-62DD-2FEFF4952D6B}"/>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D4AD7588-7968-239B-60E2-4CFBD7045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D9DDBE5F-B3C5-441B-101C-F20529A02C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68720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8AF7CEA-680B-CC87-21F8-0E7725D0446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06C95C6-7918-67A2-3903-D43F25409B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AA3899B3-6122-7DD2-4B34-3F58D7AC27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9663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11FA921-2D8B-B3B2-1570-B230BB44718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722D7E3B-75D3-1D58-A266-B60D43D4CE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60F857B-C6A5-1A28-0A4B-7E92EFB52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221140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4C424D8-C9EC-A3CB-E59E-F2AD1F5D5A7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BAB42EA-E05C-F2C7-B478-908207A1D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6D854DB1-4E6F-B9F9-E8CD-B31EC02892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877191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E1CE6CC-763D-E878-AE41-F9A74FD2786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19558BEA-C520-A5D1-9A22-08541090B5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22CF1E1E-78DE-FAC5-C346-E99714E407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08623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221B411-D8EE-ABCD-5CE5-26B36FC66A75}"/>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1037C724-7681-9FF4-364D-B2C9956DC6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E1E52BAD-BB02-3FE9-DFF6-B333C98E7D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04121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288ED6B-08F5-A143-D8D4-97DD9CB286A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1BAEF48-1591-1ACF-D9C5-0B1A583B30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1702D841-FB30-ABDA-A884-1B53A2D928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533109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50FC629-6E18-A13E-31EF-00AA056BA026}"/>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4BDE57FC-9B5C-2723-5FE9-4FA8C1DCB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46478B6E-4541-FCF0-64A2-A417CEE674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88459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6714E60-4428-040D-81EF-1C1D9969B88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3A73B1FE-2870-95D8-7D34-5DBDB0FCC7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5A5E9B32-32C6-033E-7FC2-7730CBDB2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23842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BBC171D-CF16-596D-1637-CEAD87825351}"/>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3987210C-0B36-1C29-BEF5-92B7320067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6CDCE2B-95AA-4F0F-3FDA-56BDF8DDC8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649371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B50948E-270C-AA80-AEDD-13F40530EA5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5591141-B61C-6791-FC6C-B35F4F6ED8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FC7C8F94-64CD-53FA-4517-87C66609E8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52976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21119E0F-D326-C420-232B-6CE0D6492EB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E3988C44-0B59-A079-CD2C-D34852B90C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C8ACC7A6-3077-C513-055A-AA563181C8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96391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6FCC78E-554E-4D43-BAC6-C3D5C7D1BB15}"/>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7F36EF7-543D-9788-1EB0-3CAE2C48BE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5FD5BE7E-CF6E-E15E-2D0F-E5D00C1068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98185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F11CA78-ADB9-8EDD-4C51-D45CC574AF0C}"/>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632B3B35-D66A-FABA-41D2-FDDEC8269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2BCA23F3-7A21-1EFC-0BA0-77BFA8EA80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80306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D7B044B-ACDB-7192-AE3D-AA067331DAC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724CA776-B2EF-6EFA-24BF-E46BC417C2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AA813E31-D4AB-DA16-44B3-D7122A1E11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20695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4B55671-6089-7BAB-3609-BF0DB0F3854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37A2D737-7336-1BAC-421E-AC2D6CD2A6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6D542A4F-1951-D6BC-44B0-A2F1B4CE3B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75021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54C64A4-3B0C-7072-56C3-6EA1744751E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2B38D8F-612A-9C2C-B522-4ABDF9C404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ED0783AB-4FE3-211B-2257-5ABA48CE6D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628263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300CBCA-A9BE-8C14-8EFF-15EF14D8FD7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82FA7537-9DAF-06B5-6895-CF2101ED98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96E411AD-682C-8B2D-DCC4-1D8908AF5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695615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390B975-CD23-F785-5E23-0F9FE9DE6D11}"/>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700908D9-5499-02EB-91E0-64589704FE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73BBB2A0-5E34-2691-F769-C9D8208AD9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Somebody, before everyone, asked to buy at a very low price and then somebody, still </a:t>
            </a:r>
            <a:r>
              <a:rPr lang="en-US" dirty="0" err="1"/>
              <a:t>ebfroe</a:t>
            </a:r>
            <a:r>
              <a:rPr lang="en-US" dirty="0"/>
              <a:t> anyone else, is willing to </a:t>
            </a:r>
            <a:r>
              <a:rPr lang="en-US" dirty="0" err="1"/>
              <a:t>seel</a:t>
            </a:r>
            <a:r>
              <a:rPr lang="en-US" dirty="0"/>
              <a:t> at a very low price. In that </a:t>
            </a:r>
            <a:r>
              <a:rPr lang="en-US" dirty="0" err="1"/>
              <a:t>settint</a:t>
            </a:r>
            <a:r>
              <a:rPr lang="en-US" dirty="0"/>
              <a:t> these people’s orders should be matched with each other. But if we were to prioritize based on raw </a:t>
            </a:r>
            <a:r>
              <a:rPr lang="en-US" dirty="0" err="1"/>
              <a:t>pirce</a:t>
            </a:r>
            <a:r>
              <a:rPr lang="en-US" dirty="0"/>
              <a:t>, we may just leave such orders in the network and they may not reach the </a:t>
            </a:r>
            <a:r>
              <a:rPr lang="en-US" dirty="0" err="1"/>
              <a:t>excgange</a:t>
            </a:r>
            <a:r>
              <a:rPr lang="en-US" dirty="0"/>
              <a:t> on time. Such a price based prioritization changes the semantics, it definitely loses the fairness i.e., the same effect as if all the latencies were equal.</a:t>
            </a:r>
            <a:endParaRPr dirty="0"/>
          </a:p>
        </p:txBody>
      </p:sp>
    </p:spTree>
    <p:extLst>
      <p:ext uri="{BB962C8B-B14F-4D97-AF65-F5344CB8AC3E}">
        <p14:creationId xmlns:p14="http://schemas.microsoft.com/office/powerpoint/2010/main" val="41970447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988E07C-703C-D6B4-0D87-EB59FC13B5A6}"/>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46691365-91FF-7603-D544-394EF430B6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156CED34-C4CD-7885-8BC2-E54EE4EB2D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46070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D9310E6-E5D3-0260-37AD-DC921ADFE90E}"/>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2217446-9AD6-6FCC-1271-BC0CB27080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A9464652-9E37-5355-EF4B-9492A9E577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 critical </a:t>
            </a:r>
            <a:r>
              <a:rPr lang="en-US" dirty="0" err="1"/>
              <a:t>gonna</a:t>
            </a:r>
            <a:r>
              <a:rPr lang="en-US" dirty="0"/>
              <a:t> match with non-critical with the same mid price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23766267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6A57CC4-5283-2505-2805-347E4DC72684}"/>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416938A-EB85-CCD5-A1D3-D0EF28B0CA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55E427ED-2546-7D1A-B8C4-25F60C9EF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 critical </a:t>
            </a:r>
            <a:r>
              <a:rPr lang="en-US" dirty="0" err="1"/>
              <a:t>gonna</a:t>
            </a:r>
            <a:r>
              <a:rPr lang="en-US" dirty="0"/>
              <a:t> match with non-critical with the same mid price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182617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99B29B2-7CDD-D76A-57D7-5EECE88A3D4E}"/>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8D32555-EEDB-064A-47D6-17919E2A47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A11CED9A-7311-8B99-FFE6-EC80E39775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46025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2B84769-3738-C318-C096-677ED552338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3B2B53E-7306-17F8-9374-C0171C5F83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AB0AF706-27C7-E7FF-A3B9-B2CF3BC698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65674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7BBA70B-5691-C92F-7F89-C1F3550DFC6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BAD17005-BFB8-5B9C-7E4C-318302722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6607F25C-F7C1-FD3C-0F54-29BF614DC6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602913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9ECAA4A-55DD-79CF-7A31-07F684135F0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5E59B2AF-56F6-E371-296D-CEC52A5343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5B3267A3-F581-E897-1071-958E07AAD2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3276546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483C1C4-28BC-D7F4-7720-DB3F6B7831C6}"/>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8339308C-7A25-0FB7-809F-D8DE196041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 name="Google Shape;110;g3092d2458f9_0_41:notes">
            <a:extLst>
              <a:ext uri="{FF2B5EF4-FFF2-40B4-BE49-F238E27FC236}">
                <a16:creationId xmlns:a16="http://schemas.microsoft.com/office/drawing/2014/main" id="{8BCBD64E-C0BC-A31A-BE6E-9BEBF64898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378605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58D49325-DBE0-09DB-7D96-6A5E0DC369C5}"/>
            </a:ext>
          </a:extLst>
        </p:cNvPr>
        <p:cNvGrpSpPr/>
        <p:nvPr/>
      </p:nvGrpSpPr>
      <p:grpSpPr>
        <a:xfrm>
          <a:off x="0" y="0"/>
          <a:ext cx="0" cy="0"/>
          <a:chOff x="0" y="0"/>
          <a:chExt cx="0" cy="0"/>
        </a:xfrm>
      </p:grpSpPr>
      <p:sp>
        <p:nvSpPr>
          <p:cNvPr id="411" name="Google Shape;411;g3096dc1af9c_0_161:notes">
            <a:extLst>
              <a:ext uri="{FF2B5EF4-FFF2-40B4-BE49-F238E27FC236}">
                <a16:creationId xmlns:a16="http://schemas.microsoft.com/office/drawing/2014/main" id="{F2BD9B0C-99BB-E6F9-BE02-979BCB4BAB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3096dc1af9c_0_161:notes">
            <a:extLst>
              <a:ext uri="{FF2B5EF4-FFF2-40B4-BE49-F238E27FC236}">
                <a16:creationId xmlns:a16="http://schemas.microsoft.com/office/drawing/2014/main" id="{3B9A1A02-F38F-0BAA-C1D0-E4BAB28A02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236261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2EC99D79-0533-202F-5D8F-961DAC0801DD}"/>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9AD48E00-FD9E-79C9-4DE4-6FB6AD4254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04" name="Google Shape;404;g3096dc1af9c_0_143:notes">
            <a:extLst>
              <a:ext uri="{FF2B5EF4-FFF2-40B4-BE49-F238E27FC236}">
                <a16:creationId xmlns:a16="http://schemas.microsoft.com/office/drawing/2014/main" id="{2A0FAD95-D5FF-81D1-BA1B-B64CE0BEE6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Order matched per second</a:t>
            </a:r>
            <a:br>
              <a:rPr lang="en-US" dirty="0"/>
            </a:br>
            <a:r>
              <a:rPr lang="en-US" dirty="0"/>
              <a:t>100K orders per second, cumulative by 100 MPs</a:t>
            </a:r>
          </a:p>
          <a:p>
            <a:pPr marL="0" lvl="0" indent="0" algn="l" rtl="0">
              <a:spcBef>
                <a:spcPts val="0"/>
              </a:spcBef>
              <a:spcAft>
                <a:spcPts val="0"/>
              </a:spcAft>
              <a:buNone/>
            </a:pPr>
            <a:r>
              <a:rPr lang="en-US" dirty="0"/>
              <a:t>Periodic burst makes 20x load</a:t>
            </a:r>
          </a:p>
          <a:p>
            <a:pPr marL="0" lvl="0" indent="0" algn="l" rtl="0">
              <a:spcBef>
                <a:spcPts val="0"/>
              </a:spcBef>
              <a:spcAft>
                <a:spcPts val="0"/>
              </a:spcAft>
              <a:buNone/>
            </a:pPr>
            <a:r>
              <a:rPr lang="en-US" dirty="0"/>
              <a:t>Every 3</a:t>
            </a:r>
            <a:r>
              <a:rPr lang="en-US" baseline="30000" dirty="0"/>
              <a:t>rd</a:t>
            </a:r>
            <a:r>
              <a:rPr lang="en-US" dirty="0"/>
              <a:t> second, a burst occurs</a:t>
            </a:r>
            <a:endParaRPr dirty="0"/>
          </a:p>
        </p:txBody>
      </p:sp>
    </p:spTree>
    <p:extLst>
      <p:ext uri="{BB962C8B-B14F-4D97-AF65-F5344CB8AC3E}">
        <p14:creationId xmlns:p14="http://schemas.microsoft.com/office/powerpoint/2010/main" val="166113158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CBD42CBD-B143-94B9-B5DC-DC78D333441C}"/>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F7C14042-1FB9-0B14-5834-BD7AD8A150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04" name="Google Shape;404;g3096dc1af9c_0_143:notes">
            <a:extLst>
              <a:ext uri="{FF2B5EF4-FFF2-40B4-BE49-F238E27FC236}">
                <a16:creationId xmlns:a16="http://schemas.microsoft.com/office/drawing/2014/main" id="{568391AA-0D33-6CDA-8C52-F4F7359D68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121403205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cat</a:t>
            </a:r>
          </a:p>
        </p:txBody>
      </p:sp>
      <p:sp>
        <p:nvSpPr>
          <p:cNvPr id="4" name="Slide Number Placeholder 3"/>
          <p:cNvSpPr>
            <a:spLocks noGrp="1"/>
          </p:cNvSpPr>
          <p:nvPr>
            <p:ph type="sldNum" sz="quarter" idx="5"/>
          </p:nvPr>
        </p:nvSpPr>
        <p:spPr/>
        <p:txBody>
          <a:bodyPr/>
          <a:lstStyle/>
          <a:p>
            <a:fld id="{B3E8125A-D8BB-E74B-8C6E-AB7BD2C997CF}" type="slidenum">
              <a:rPr lang="en-US" smtClean="0"/>
              <a:t>116</a:t>
            </a:fld>
            <a:endParaRPr lang="en-US"/>
          </a:p>
        </p:txBody>
      </p:sp>
    </p:spTree>
    <p:extLst>
      <p:ext uri="{BB962C8B-B14F-4D97-AF65-F5344CB8AC3E}">
        <p14:creationId xmlns:p14="http://schemas.microsoft.com/office/powerpoint/2010/main" val="74647171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imagine a financial market, where we have a stock</a:t>
            </a:r>
          </a:p>
        </p:txBody>
      </p:sp>
      <p:sp>
        <p:nvSpPr>
          <p:cNvPr id="4" name="Slide Number Placeholder 3"/>
          <p:cNvSpPr>
            <a:spLocks noGrp="1"/>
          </p:cNvSpPr>
          <p:nvPr>
            <p:ph type="sldNum" sz="quarter" idx="5"/>
          </p:nvPr>
        </p:nvSpPr>
        <p:spPr/>
        <p:txBody>
          <a:bodyPr/>
          <a:lstStyle/>
          <a:p>
            <a:fld id="{B3E8125A-D8BB-E74B-8C6E-AB7BD2C997CF}" type="slidenum">
              <a:rPr lang="en-US" smtClean="0"/>
              <a:t>117</a:t>
            </a:fld>
            <a:endParaRPr lang="en-US"/>
          </a:p>
        </p:txBody>
      </p:sp>
    </p:spTree>
    <p:extLst>
      <p:ext uri="{BB962C8B-B14F-4D97-AF65-F5344CB8AC3E}">
        <p14:creationId xmlns:p14="http://schemas.microsoft.com/office/powerpoint/2010/main" val="387080290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And several buyers are interested in buying</a:t>
            </a:r>
          </a:p>
        </p:txBody>
      </p:sp>
      <p:sp>
        <p:nvSpPr>
          <p:cNvPr id="4" name="Slide Number Placeholder 3"/>
          <p:cNvSpPr>
            <a:spLocks noGrp="1"/>
          </p:cNvSpPr>
          <p:nvPr>
            <p:ph type="sldNum" sz="quarter" idx="5"/>
          </p:nvPr>
        </p:nvSpPr>
        <p:spPr/>
        <p:txBody>
          <a:bodyPr/>
          <a:lstStyle/>
          <a:p>
            <a:fld id="{B3E8125A-D8BB-E74B-8C6E-AB7BD2C997CF}" type="slidenum">
              <a:rPr lang="en-US" smtClean="0"/>
              <a:t>118</a:t>
            </a:fld>
            <a:endParaRPr lang="en-US"/>
          </a:p>
        </p:txBody>
      </p:sp>
    </p:spTree>
    <p:extLst>
      <p:ext uri="{BB962C8B-B14F-4D97-AF65-F5344CB8AC3E}">
        <p14:creationId xmlns:p14="http://schemas.microsoft.com/office/powerpoint/2010/main" val="13027702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we run into this problem: </a:t>
            </a:r>
            <a:r>
              <a:rPr lang="en-US" dirty="0" err="1"/>
              <a:t>ther</a:t>
            </a:r>
            <a:r>
              <a:rPr lang="en-US" dirty="0"/>
              <a:t> is only 1 share of the stock to sell, but four interested buyers. </a:t>
            </a:r>
          </a:p>
          <a:p>
            <a:r>
              <a:rPr lang="en-US" dirty="0"/>
              <a:t>A question arises: who gets to buy it. Well a simple </a:t>
            </a:r>
            <a:r>
              <a:rPr lang="en-US" dirty="0" err="1"/>
              <a:t>anwer</a:t>
            </a:r>
            <a:r>
              <a:rPr lang="en-US" dirty="0"/>
              <a:t> is: whoever asked first. And this answer is actually used by many financial market today.</a:t>
            </a:r>
          </a:p>
        </p:txBody>
      </p:sp>
      <p:sp>
        <p:nvSpPr>
          <p:cNvPr id="4" name="Slide Number Placeholder 3"/>
          <p:cNvSpPr>
            <a:spLocks noGrp="1"/>
          </p:cNvSpPr>
          <p:nvPr>
            <p:ph type="sldNum" sz="quarter" idx="5"/>
          </p:nvPr>
        </p:nvSpPr>
        <p:spPr/>
        <p:txBody>
          <a:bodyPr/>
          <a:lstStyle/>
          <a:p>
            <a:fld id="{B3E8125A-D8BB-E74B-8C6E-AB7BD2C997CF}" type="slidenum">
              <a:rPr lang="en-US" smtClean="0"/>
              <a:t>120</a:t>
            </a:fld>
            <a:endParaRPr lang="en-US"/>
          </a:p>
        </p:txBody>
      </p:sp>
    </p:spTree>
    <p:extLst>
      <p:ext uri="{BB962C8B-B14F-4D97-AF65-F5344CB8AC3E}">
        <p14:creationId xmlns:p14="http://schemas.microsoft.com/office/powerpoint/2010/main" val="295451739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how do we know who asked first, after all networks are asynchronous and the server may receive information about events in an arbitrary order, not necessarily in the order of events </a:t>
            </a:r>
            <a:r>
              <a:rPr lang="en-US" dirty="0" err="1"/>
              <a:t>occurence</a:t>
            </a:r>
            <a:r>
              <a:rPr lang="en-US" dirty="0"/>
              <a:t>. </a:t>
            </a:r>
          </a:p>
          <a:p>
            <a:r>
              <a:rPr lang="en-US" dirty="0"/>
              <a:t>That’s why we need a mechanism to fairly order the events.</a:t>
            </a:r>
          </a:p>
        </p:txBody>
      </p:sp>
      <p:sp>
        <p:nvSpPr>
          <p:cNvPr id="4" name="Slide Number Placeholder 3"/>
          <p:cNvSpPr>
            <a:spLocks noGrp="1"/>
          </p:cNvSpPr>
          <p:nvPr>
            <p:ph type="sldNum" sz="quarter" idx="5"/>
          </p:nvPr>
        </p:nvSpPr>
        <p:spPr/>
        <p:txBody>
          <a:bodyPr/>
          <a:lstStyle/>
          <a:p>
            <a:fld id="{B3E8125A-D8BB-E74B-8C6E-AB7BD2C997CF}" type="slidenum">
              <a:rPr lang="en-US" smtClean="0"/>
              <a:t>121</a:t>
            </a:fld>
            <a:endParaRPr lang="en-US"/>
          </a:p>
        </p:txBody>
      </p:sp>
    </p:spTree>
    <p:extLst>
      <p:ext uri="{BB962C8B-B14F-4D97-AF65-F5344CB8AC3E}">
        <p14:creationId xmlns:p14="http://schemas.microsoft.com/office/powerpoint/2010/main" val="188893921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define fair ordering as : events generated by clients, they should be observed by a server in the same order as their true occurrence order. True occurrence order is hard to determine.</a:t>
            </a:r>
          </a:p>
          <a:p>
            <a:endParaRPr lang="en-US" dirty="0"/>
          </a:p>
          <a:p>
            <a:r>
              <a:rPr lang="en-US" dirty="0"/>
              <a:t>Aa-</a:t>
            </a:r>
            <a:r>
              <a:rPr lang="en-US" dirty="0" err="1"/>
              <a:t>kUr</a:t>
            </a:r>
            <a:r>
              <a:rPr lang="en-US" dirty="0"/>
              <a:t>-</a:t>
            </a:r>
            <a:r>
              <a:rPr lang="en-US" dirty="0" err="1"/>
              <a:t>Unce</a:t>
            </a:r>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122</a:t>
            </a:fld>
            <a:endParaRPr lang="en-US"/>
          </a:p>
        </p:txBody>
      </p:sp>
    </p:spTree>
    <p:extLst>
      <p:ext uri="{BB962C8B-B14F-4D97-AF65-F5344CB8AC3E}">
        <p14:creationId xmlns:p14="http://schemas.microsoft.com/office/powerpoint/2010/main" val="334664521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lets say that we have clients with perfectly synchronized clocks. They could timestamp the events they generate. And a server </a:t>
            </a:r>
            <a:r>
              <a:rPr lang="en-US" dirty="0" err="1"/>
              <a:t>coild</a:t>
            </a:r>
            <a:r>
              <a:rPr lang="en-US" dirty="0"/>
              <a:t> process events in the order of their timestamps. It would achieve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124</a:t>
            </a:fld>
            <a:endParaRPr lang="en-US"/>
          </a:p>
        </p:txBody>
      </p:sp>
    </p:spTree>
    <p:extLst>
      <p:ext uri="{BB962C8B-B14F-4D97-AF65-F5344CB8AC3E}">
        <p14:creationId xmlns:p14="http://schemas.microsoft.com/office/powerpoint/2010/main" val="97335212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here is the problem: perfect clock synchronization is impossible to achieve.</a:t>
            </a:r>
          </a:p>
        </p:txBody>
      </p:sp>
      <p:sp>
        <p:nvSpPr>
          <p:cNvPr id="4" name="Slide Number Placeholder 3"/>
          <p:cNvSpPr>
            <a:spLocks noGrp="1"/>
          </p:cNvSpPr>
          <p:nvPr>
            <p:ph type="sldNum" sz="quarter" idx="5"/>
          </p:nvPr>
        </p:nvSpPr>
        <p:spPr/>
        <p:txBody>
          <a:bodyPr/>
          <a:lstStyle/>
          <a:p>
            <a:fld id="{B3E8125A-D8BB-E74B-8C6E-AB7BD2C997CF}" type="slidenum">
              <a:rPr lang="en-US" smtClean="0"/>
              <a:t>125</a:t>
            </a:fld>
            <a:endParaRPr lang="en-US"/>
          </a:p>
        </p:txBody>
      </p:sp>
    </p:spTree>
    <p:extLst>
      <p:ext uri="{BB962C8B-B14F-4D97-AF65-F5344CB8AC3E}">
        <p14:creationId xmlns:p14="http://schemas.microsoft.com/office/powerpoint/2010/main" val="224306858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That;s</a:t>
            </a:r>
            <a:r>
              <a:rPr lang="en-US" dirty="0"/>
              <a:t> why this mechanism is not practical. </a:t>
            </a:r>
          </a:p>
        </p:txBody>
      </p:sp>
      <p:sp>
        <p:nvSpPr>
          <p:cNvPr id="4" name="Slide Number Placeholder 3"/>
          <p:cNvSpPr>
            <a:spLocks noGrp="1"/>
          </p:cNvSpPr>
          <p:nvPr>
            <p:ph type="sldNum" sz="quarter" idx="5"/>
          </p:nvPr>
        </p:nvSpPr>
        <p:spPr/>
        <p:txBody>
          <a:bodyPr/>
          <a:lstStyle/>
          <a:p>
            <a:fld id="{B3E8125A-D8BB-E74B-8C6E-AB7BD2C997CF}" type="slidenum">
              <a:rPr lang="en-US" smtClean="0"/>
              <a:t>126</a:t>
            </a:fld>
            <a:endParaRPr lang="en-US"/>
          </a:p>
        </p:txBody>
      </p:sp>
    </p:spTree>
    <p:extLst>
      <p:ext uri="{BB962C8B-B14F-4D97-AF65-F5344CB8AC3E}">
        <p14:creationId xmlns:p14="http://schemas.microsoft.com/office/powerpoint/2010/main" val="374354341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That;s</a:t>
            </a:r>
            <a:r>
              <a:rPr lang="en-US" dirty="0"/>
              <a:t> where our proposal comes into the picture. </a:t>
            </a:r>
          </a:p>
          <a:p>
            <a:r>
              <a:rPr lang="en-US" dirty="0"/>
              <a:t>We </a:t>
            </a:r>
            <a:r>
              <a:rPr lang="en-US" dirty="0" err="1"/>
              <a:t>embrach</a:t>
            </a:r>
            <a:r>
              <a:rPr lang="en-US" dirty="0"/>
              <a:t> the fact that its impossible to obtain precise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127</a:t>
            </a:fld>
            <a:endParaRPr lang="en-US"/>
          </a:p>
        </p:txBody>
      </p:sp>
    </p:spTree>
    <p:extLst>
      <p:ext uri="{BB962C8B-B14F-4D97-AF65-F5344CB8AC3E}">
        <p14:creationId xmlns:p14="http://schemas.microsoft.com/office/powerpoint/2010/main" val="220269142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br>
              <a:rPr lang="en-US" dirty="0"/>
            </a:br>
            <a:r>
              <a:rPr lang="en-US" dirty="0"/>
              <a:t>We can probabilistically compare two imprecise timestamps and that’s the foundation of our system, Tommy that achieves probabilistic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128</a:t>
            </a:fld>
            <a:endParaRPr lang="en-US"/>
          </a:p>
        </p:txBody>
      </p:sp>
    </p:spTree>
    <p:extLst>
      <p:ext uri="{BB962C8B-B14F-4D97-AF65-F5344CB8AC3E}">
        <p14:creationId xmlns:p14="http://schemas.microsoft.com/office/powerpoint/2010/main" val="37677027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130</a:t>
            </a:fld>
            <a:endParaRPr lang="en-US"/>
          </a:p>
        </p:txBody>
      </p:sp>
    </p:spTree>
    <p:extLst>
      <p:ext uri="{BB962C8B-B14F-4D97-AF65-F5344CB8AC3E}">
        <p14:creationId xmlns:p14="http://schemas.microsoft.com/office/powerpoint/2010/main" val="374924293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 the slide Ideal time left: 4 minutes</a:t>
            </a:r>
          </a:p>
        </p:txBody>
      </p:sp>
      <p:sp>
        <p:nvSpPr>
          <p:cNvPr id="4" name="Slide Number Placeholder 3"/>
          <p:cNvSpPr>
            <a:spLocks noGrp="1"/>
          </p:cNvSpPr>
          <p:nvPr>
            <p:ph type="sldNum" sz="quarter" idx="5"/>
          </p:nvPr>
        </p:nvSpPr>
        <p:spPr/>
        <p:txBody>
          <a:bodyPr/>
          <a:lstStyle/>
          <a:p>
            <a:fld id="{B3E8125A-D8BB-E74B-8C6E-AB7BD2C997CF}" type="slidenum">
              <a:rPr lang="en-US" smtClean="0"/>
              <a:t>132</a:t>
            </a:fld>
            <a:endParaRPr lang="en-US"/>
          </a:p>
        </p:txBody>
      </p:sp>
    </p:spTree>
    <p:extLst>
      <p:ext uri="{BB962C8B-B14F-4D97-AF65-F5344CB8AC3E}">
        <p14:creationId xmlns:p14="http://schemas.microsoft.com/office/powerpoint/2010/main" val="416651492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say we have two events I and j</a:t>
            </a:r>
            <a:br>
              <a:rPr lang="en-US" dirty="0"/>
            </a:br>
            <a:r>
              <a:rPr lang="en-US" dirty="0"/>
              <a:t>they occur at timestamp Ti and </a:t>
            </a:r>
            <a:r>
              <a:rPr lang="en-US" dirty="0" err="1"/>
              <a:t>Tj</a:t>
            </a:r>
            <a:r>
              <a:rPr lang="en-US" dirty="0"/>
              <a:t> which we cannot know. These are true values. </a:t>
            </a:r>
          </a:p>
          <a:p>
            <a:r>
              <a:rPr lang="en-US" dirty="0"/>
              <a:t>But what we can observe is: Ti’ and </a:t>
            </a:r>
            <a:r>
              <a:rPr lang="en-US" dirty="0" err="1"/>
              <a:t>Tj</a:t>
            </a:r>
            <a:r>
              <a:rPr lang="en-US" dirty="0"/>
              <a:t>’, which are the clients local clocks’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133</a:t>
            </a:fld>
            <a:endParaRPr lang="en-US"/>
          </a:p>
        </p:txBody>
      </p:sp>
    </p:spTree>
    <p:extLst>
      <p:ext uri="{BB962C8B-B14F-4D97-AF65-F5344CB8AC3E}">
        <p14:creationId xmlns:p14="http://schemas.microsoft.com/office/powerpoint/2010/main" val="401825263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Theta I and theta j are local clock offsets that we also don’t know. We will try to formulate this probability in a way that on the R.H.S we have no red term.</a:t>
            </a:r>
          </a:p>
        </p:txBody>
      </p:sp>
      <p:sp>
        <p:nvSpPr>
          <p:cNvPr id="4" name="Slide Number Placeholder 3"/>
          <p:cNvSpPr>
            <a:spLocks noGrp="1"/>
          </p:cNvSpPr>
          <p:nvPr>
            <p:ph type="sldNum" sz="quarter" idx="5"/>
          </p:nvPr>
        </p:nvSpPr>
        <p:spPr/>
        <p:txBody>
          <a:bodyPr/>
          <a:lstStyle/>
          <a:p>
            <a:fld id="{B3E8125A-D8BB-E74B-8C6E-AB7BD2C997CF}" type="slidenum">
              <a:rPr lang="en-US" smtClean="0"/>
              <a:t>134</a:t>
            </a:fld>
            <a:endParaRPr lang="en-US"/>
          </a:p>
        </p:txBody>
      </p:sp>
    </p:spTree>
    <p:extLst>
      <p:ext uri="{BB962C8B-B14F-4D97-AF65-F5344CB8AC3E}">
        <p14:creationId xmlns:p14="http://schemas.microsoft.com/office/powerpoint/2010/main" val="270291327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Cycles may occur, preventing us from getting a linear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Open Question: Dealing with cycles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3E8125A-D8BB-E74B-8C6E-AB7BD2C997CF}" type="slidenum">
              <a:rPr lang="en-US" smtClean="0"/>
              <a:t>138</a:t>
            </a:fld>
            <a:endParaRPr lang="en-US"/>
          </a:p>
        </p:txBody>
      </p:sp>
    </p:spTree>
    <p:extLst>
      <p:ext uri="{BB962C8B-B14F-4D97-AF65-F5344CB8AC3E}">
        <p14:creationId xmlns:p14="http://schemas.microsoft.com/office/powerpoint/2010/main" val="92611722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140</a:t>
            </a:fld>
            <a:endParaRPr lang="en-US"/>
          </a:p>
        </p:txBody>
      </p:sp>
    </p:spTree>
    <p:extLst>
      <p:ext uri="{BB962C8B-B14F-4D97-AF65-F5344CB8AC3E}">
        <p14:creationId xmlns:p14="http://schemas.microsoft.com/office/powerpoint/2010/main" val="349051810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A33BB-1352-8263-8A69-B1E0A74DA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3B61B-7E63-B7B9-73A2-51477B1AF3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D8787A-DBB4-8371-2354-7B993180B8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F9EF73-CFB5-7A5A-0224-8B28CED9DB3B}"/>
              </a:ext>
            </a:extLst>
          </p:cNvPr>
          <p:cNvSpPr>
            <a:spLocks noGrp="1"/>
          </p:cNvSpPr>
          <p:nvPr>
            <p:ph type="sldNum" sz="quarter" idx="5"/>
          </p:nvPr>
        </p:nvSpPr>
        <p:spPr/>
        <p:txBody>
          <a:bodyPr/>
          <a:lstStyle/>
          <a:p>
            <a:fld id="{B3E8125A-D8BB-E74B-8C6E-AB7BD2C997CF}" type="slidenum">
              <a:rPr lang="en-US" smtClean="0"/>
              <a:t>141</a:t>
            </a:fld>
            <a:endParaRPr lang="en-US"/>
          </a:p>
        </p:txBody>
      </p:sp>
    </p:spTree>
    <p:extLst>
      <p:ext uri="{BB962C8B-B14F-4D97-AF65-F5344CB8AC3E}">
        <p14:creationId xmlns:p14="http://schemas.microsoft.com/office/powerpoint/2010/main" val="189447026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BD63-417C-5B0A-8E9D-F886C2778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9D28-78BF-AF69-8469-568665DF42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A8931B-8F81-096C-3547-FEDBF11B95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87973F-8DBB-129A-91E6-037E2B3095BD}"/>
              </a:ext>
            </a:extLst>
          </p:cNvPr>
          <p:cNvSpPr>
            <a:spLocks noGrp="1"/>
          </p:cNvSpPr>
          <p:nvPr>
            <p:ph type="sldNum" sz="quarter" idx="5"/>
          </p:nvPr>
        </p:nvSpPr>
        <p:spPr/>
        <p:txBody>
          <a:bodyPr/>
          <a:lstStyle/>
          <a:p>
            <a:fld id="{B3E8125A-D8BB-E74B-8C6E-AB7BD2C997CF}" type="slidenum">
              <a:rPr lang="en-US" smtClean="0"/>
              <a:t>142</a:t>
            </a:fld>
            <a:endParaRPr lang="en-US"/>
          </a:p>
        </p:txBody>
      </p:sp>
    </p:spTree>
    <p:extLst>
      <p:ext uri="{BB962C8B-B14F-4D97-AF65-F5344CB8AC3E}">
        <p14:creationId xmlns:p14="http://schemas.microsoft.com/office/powerpoint/2010/main" val="265865198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BA6A2-4AF7-FEFB-FA84-4B65779E4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EF2A1-EFDD-35F2-E6CA-323C9ACF4F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160864-F75E-9167-E6C4-525769F5C1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5DBEC3-9A5D-081A-D8FE-A969D45132FD}"/>
              </a:ext>
            </a:extLst>
          </p:cNvPr>
          <p:cNvSpPr>
            <a:spLocks noGrp="1"/>
          </p:cNvSpPr>
          <p:nvPr>
            <p:ph type="sldNum" sz="quarter" idx="5"/>
          </p:nvPr>
        </p:nvSpPr>
        <p:spPr/>
        <p:txBody>
          <a:bodyPr/>
          <a:lstStyle/>
          <a:p>
            <a:fld id="{B3E8125A-D8BB-E74B-8C6E-AB7BD2C997CF}" type="slidenum">
              <a:rPr lang="en-US" smtClean="0"/>
              <a:t>143</a:t>
            </a:fld>
            <a:endParaRPr lang="en-US"/>
          </a:p>
        </p:txBody>
      </p:sp>
    </p:spTree>
    <p:extLst>
      <p:ext uri="{BB962C8B-B14F-4D97-AF65-F5344CB8AC3E}">
        <p14:creationId xmlns:p14="http://schemas.microsoft.com/office/powerpoint/2010/main" val="43566292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E152-FBEF-EEF9-5F54-035661780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E8C10-6107-9795-0B79-05BB4DE59C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6E661D-84B0-4F07-D759-CA78BEA20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13759-0652-672F-290B-3C8CEC72D69D}"/>
              </a:ext>
            </a:extLst>
          </p:cNvPr>
          <p:cNvSpPr>
            <a:spLocks noGrp="1"/>
          </p:cNvSpPr>
          <p:nvPr>
            <p:ph type="sldNum" sz="quarter" idx="5"/>
          </p:nvPr>
        </p:nvSpPr>
        <p:spPr/>
        <p:txBody>
          <a:bodyPr/>
          <a:lstStyle/>
          <a:p>
            <a:fld id="{B3E8125A-D8BB-E74B-8C6E-AB7BD2C997CF}" type="slidenum">
              <a:rPr lang="en-US" smtClean="0"/>
              <a:t>144</a:t>
            </a:fld>
            <a:endParaRPr lang="en-US"/>
          </a:p>
        </p:txBody>
      </p:sp>
    </p:spTree>
    <p:extLst>
      <p:ext uri="{BB962C8B-B14F-4D97-AF65-F5344CB8AC3E}">
        <p14:creationId xmlns:p14="http://schemas.microsoft.com/office/powerpoint/2010/main" val="162182672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8CA5B-4690-9AFD-975D-3FC598E48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EC7B4-01F1-F45E-830D-612EAD8B10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4D38846-5B3B-C0B6-78C5-2EE9613F7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A6669F-5358-BDB9-26A5-67A7F92726BE}"/>
              </a:ext>
            </a:extLst>
          </p:cNvPr>
          <p:cNvSpPr>
            <a:spLocks noGrp="1"/>
          </p:cNvSpPr>
          <p:nvPr>
            <p:ph type="sldNum" sz="quarter" idx="5"/>
          </p:nvPr>
        </p:nvSpPr>
        <p:spPr/>
        <p:txBody>
          <a:bodyPr/>
          <a:lstStyle/>
          <a:p>
            <a:fld id="{B3E8125A-D8BB-E74B-8C6E-AB7BD2C997CF}" type="slidenum">
              <a:rPr lang="en-US" smtClean="0"/>
              <a:t>145</a:t>
            </a:fld>
            <a:endParaRPr lang="en-US"/>
          </a:p>
        </p:txBody>
      </p:sp>
    </p:spTree>
    <p:extLst>
      <p:ext uri="{BB962C8B-B14F-4D97-AF65-F5344CB8AC3E}">
        <p14:creationId xmlns:p14="http://schemas.microsoft.com/office/powerpoint/2010/main" val="137809493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8937-D2A9-444A-5306-7ECDB442B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CEA78-F616-B783-B4C8-19FE878AC8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22E021C-3F7D-99D7-470B-0BB6ACBF76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F4FA48-EDC3-2D26-C2D4-585F98AF6724}"/>
              </a:ext>
            </a:extLst>
          </p:cNvPr>
          <p:cNvSpPr>
            <a:spLocks noGrp="1"/>
          </p:cNvSpPr>
          <p:nvPr>
            <p:ph type="sldNum" sz="quarter" idx="5"/>
          </p:nvPr>
        </p:nvSpPr>
        <p:spPr/>
        <p:txBody>
          <a:bodyPr/>
          <a:lstStyle/>
          <a:p>
            <a:fld id="{B3E8125A-D8BB-E74B-8C6E-AB7BD2C997CF}" type="slidenum">
              <a:rPr lang="en-US" smtClean="0"/>
              <a:t>146</a:t>
            </a:fld>
            <a:endParaRPr lang="en-US"/>
          </a:p>
        </p:txBody>
      </p:sp>
    </p:spTree>
    <p:extLst>
      <p:ext uri="{BB962C8B-B14F-4D97-AF65-F5344CB8AC3E}">
        <p14:creationId xmlns:p14="http://schemas.microsoft.com/office/powerpoint/2010/main" val="385393478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D68F-516B-F76E-84CB-07AAE8F94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6E98D-3EFE-EB4A-EF20-E29DBF02C4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433161-CC56-2AD3-D858-D1BDF628EA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49C7EB-946C-5AE2-E672-6366495F6F79}"/>
              </a:ext>
            </a:extLst>
          </p:cNvPr>
          <p:cNvSpPr>
            <a:spLocks noGrp="1"/>
          </p:cNvSpPr>
          <p:nvPr>
            <p:ph type="sldNum" sz="quarter" idx="5"/>
          </p:nvPr>
        </p:nvSpPr>
        <p:spPr/>
        <p:txBody>
          <a:bodyPr/>
          <a:lstStyle/>
          <a:p>
            <a:fld id="{B3E8125A-D8BB-E74B-8C6E-AB7BD2C997CF}" type="slidenum">
              <a:rPr lang="en-US" smtClean="0"/>
              <a:t>147</a:t>
            </a:fld>
            <a:endParaRPr lang="en-US"/>
          </a:p>
        </p:txBody>
      </p:sp>
    </p:spTree>
    <p:extLst>
      <p:ext uri="{BB962C8B-B14F-4D97-AF65-F5344CB8AC3E}">
        <p14:creationId xmlns:p14="http://schemas.microsoft.com/office/powerpoint/2010/main" val="379780272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CB9A-7048-62FA-7E94-1371540C8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8EB2FB-C8C9-573E-3D26-5141A5D772F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273917-F2A6-6F1C-ABAE-48E647D127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84976E-95C5-D940-DC3F-E23003E1C690}"/>
              </a:ext>
            </a:extLst>
          </p:cNvPr>
          <p:cNvSpPr>
            <a:spLocks noGrp="1"/>
          </p:cNvSpPr>
          <p:nvPr>
            <p:ph type="sldNum" sz="quarter" idx="5"/>
          </p:nvPr>
        </p:nvSpPr>
        <p:spPr/>
        <p:txBody>
          <a:bodyPr/>
          <a:lstStyle/>
          <a:p>
            <a:fld id="{B3E8125A-D8BB-E74B-8C6E-AB7BD2C997CF}" type="slidenum">
              <a:rPr lang="en-US" smtClean="0"/>
              <a:t>148</a:t>
            </a:fld>
            <a:endParaRPr lang="en-US"/>
          </a:p>
        </p:txBody>
      </p:sp>
    </p:spTree>
    <p:extLst>
      <p:ext uri="{BB962C8B-B14F-4D97-AF65-F5344CB8AC3E}">
        <p14:creationId xmlns:p14="http://schemas.microsoft.com/office/powerpoint/2010/main" val="161912168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4ADB6-B8B5-99D6-13D0-BC2E07881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2A9B2-DF23-C422-4478-FD4D5D307A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9D87EF-9060-8177-1333-42F0935703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BECA7A-8B64-3590-EEB3-331AD3FB919D}"/>
              </a:ext>
            </a:extLst>
          </p:cNvPr>
          <p:cNvSpPr>
            <a:spLocks noGrp="1"/>
          </p:cNvSpPr>
          <p:nvPr>
            <p:ph type="sldNum" sz="quarter" idx="5"/>
          </p:nvPr>
        </p:nvSpPr>
        <p:spPr/>
        <p:txBody>
          <a:bodyPr/>
          <a:lstStyle/>
          <a:p>
            <a:fld id="{B3E8125A-D8BB-E74B-8C6E-AB7BD2C997CF}" type="slidenum">
              <a:rPr lang="en-US" smtClean="0"/>
              <a:t>149</a:t>
            </a:fld>
            <a:endParaRPr lang="en-US"/>
          </a:p>
        </p:txBody>
      </p:sp>
    </p:spTree>
    <p:extLst>
      <p:ext uri="{BB962C8B-B14F-4D97-AF65-F5344CB8AC3E}">
        <p14:creationId xmlns:p14="http://schemas.microsoft.com/office/powerpoint/2010/main" val="16232810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5422-D5D5-3123-3AAE-D58541986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563B6-2630-BEE5-2E3B-B18A647969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60B2D9-A92B-76A7-23E4-6E99425DE3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1FFCDD-4695-C04C-74D6-A933BB28C905}"/>
              </a:ext>
            </a:extLst>
          </p:cNvPr>
          <p:cNvSpPr>
            <a:spLocks noGrp="1"/>
          </p:cNvSpPr>
          <p:nvPr>
            <p:ph type="sldNum" sz="quarter" idx="5"/>
          </p:nvPr>
        </p:nvSpPr>
        <p:spPr/>
        <p:txBody>
          <a:bodyPr/>
          <a:lstStyle/>
          <a:p>
            <a:fld id="{B3E8125A-D8BB-E74B-8C6E-AB7BD2C997CF}" type="slidenum">
              <a:rPr lang="en-US" smtClean="0"/>
              <a:t>150</a:t>
            </a:fld>
            <a:endParaRPr lang="en-US"/>
          </a:p>
        </p:txBody>
      </p:sp>
    </p:spTree>
    <p:extLst>
      <p:ext uri="{BB962C8B-B14F-4D97-AF65-F5344CB8AC3E}">
        <p14:creationId xmlns:p14="http://schemas.microsoft.com/office/powerpoint/2010/main" val="136411777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FF4F0-4FD0-6E70-74A7-87B25449D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6AB64-9F9C-450A-DEA4-D7B3681F27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C54D3E-97E8-8C7F-E5E8-F1582E88C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1125B8-79C9-2EBF-7EBB-3B1337B16268}"/>
              </a:ext>
            </a:extLst>
          </p:cNvPr>
          <p:cNvSpPr>
            <a:spLocks noGrp="1"/>
          </p:cNvSpPr>
          <p:nvPr>
            <p:ph type="sldNum" sz="quarter" idx="5"/>
          </p:nvPr>
        </p:nvSpPr>
        <p:spPr/>
        <p:txBody>
          <a:bodyPr/>
          <a:lstStyle/>
          <a:p>
            <a:fld id="{B3E8125A-D8BB-E74B-8C6E-AB7BD2C997CF}" type="slidenum">
              <a:rPr lang="en-US" smtClean="0"/>
              <a:t>151</a:t>
            </a:fld>
            <a:endParaRPr lang="en-US"/>
          </a:p>
        </p:txBody>
      </p:sp>
    </p:spTree>
    <p:extLst>
      <p:ext uri="{BB962C8B-B14F-4D97-AF65-F5344CB8AC3E}">
        <p14:creationId xmlns:p14="http://schemas.microsoft.com/office/powerpoint/2010/main" val="165416715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05473-AD64-36D4-8907-10D103F7E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4D4F8-7ACE-D607-E141-864B2C22A3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CB37D8-9A4F-B62C-61AC-7E66E1CBED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62BE15-79B8-9AE8-2E3B-2A09560BC668}"/>
              </a:ext>
            </a:extLst>
          </p:cNvPr>
          <p:cNvSpPr>
            <a:spLocks noGrp="1"/>
          </p:cNvSpPr>
          <p:nvPr>
            <p:ph type="sldNum" sz="quarter" idx="5"/>
          </p:nvPr>
        </p:nvSpPr>
        <p:spPr/>
        <p:txBody>
          <a:bodyPr/>
          <a:lstStyle/>
          <a:p>
            <a:fld id="{B3E8125A-D8BB-E74B-8C6E-AB7BD2C997CF}" type="slidenum">
              <a:rPr lang="en-US" smtClean="0"/>
              <a:t>152</a:t>
            </a:fld>
            <a:endParaRPr lang="en-US"/>
          </a:p>
        </p:txBody>
      </p:sp>
    </p:spTree>
    <p:extLst>
      <p:ext uri="{BB962C8B-B14F-4D97-AF65-F5344CB8AC3E}">
        <p14:creationId xmlns:p14="http://schemas.microsoft.com/office/powerpoint/2010/main" val="144717237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3D020-CDB1-CC14-94F7-F208237DF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B4C42-85BF-E507-8C08-7D2A21CC0B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B6FD86-6A2A-A853-91B3-8D34E44E6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7ADD66-FA17-4A6B-75DF-B65F084ED952}"/>
              </a:ext>
            </a:extLst>
          </p:cNvPr>
          <p:cNvSpPr>
            <a:spLocks noGrp="1"/>
          </p:cNvSpPr>
          <p:nvPr>
            <p:ph type="sldNum" sz="quarter" idx="5"/>
          </p:nvPr>
        </p:nvSpPr>
        <p:spPr/>
        <p:txBody>
          <a:bodyPr/>
          <a:lstStyle/>
          <a:p>
            <a:fld id="{B3E8125A-D8BB-E74B-8C6E-AB7BD2C997CF}" type="slidenum">
              <a:rPr lang="en-US" smtClean="0"/>
              <a:t>153</a:t>
            </a:fld>
            <a:endParaRPr lang="en-US"/>
          </a:p>
        </p:txBody>
      </p:sp>
    </p:spTree>
    <p:extLst>
      <p:ext uri="{BB962C8B-B14F-4D97-AF65-F5344CB8AC3E}">
        <p14:creationId xmlns:p14="http://schemas.microsoft.com/office/powerpoint/2010/main" val="133075906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9C498-DCDE-B684-8E67-2C43E76A5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E7F04-A0B5-7095-01E3-B06E588CF4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FF85032-6102-1C80-7867-166C24F547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10EF1C-CA63-19B5-AE5D-365A97AE43FA}"/>
              </a:ext>
            </a:extLst>
          </p:cNvPr>
          <p:cNvSpPr>
            <a:spLocks noGrp="1"/>
          </p:cNvSpPr>
          <p:nvPr>
            <p:ph type="sldNum" sz="quarter" idx="5"/>
          </p:nvPr>
        </p:nvSpPr>
        <p:spPr/>
        <p:txBody>
          <a:bodyPr/>
          <a:lstStyle/>
          <a:p>
            <a:fld id="{B3E8125A-D8BB-E74B-8C6E-AB7BD2C997CF}" type="slidenum">
              <a:rPr lang="en-US" smtClean="0"/>
              <a:t>154</a:t>
            </a:fld>
            <a:endParaRPr lang="en-US"/>
          </a:p>
        </p:txBody>
      </p:sp>
    </p:spTree>
    <p:extLst>
      <p:ext uri="{BB962C8B-B14F-4D97-AF65-F5344CB8AC3E}">
        <p14:creationId xmlns:p14="http://schemas.microsoft.com/office/powerpoint/2010/main" val="101552035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2E013-0020-DB59-E355-BD032C723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46B5B4-923D-1966-B0CD-4673E4C387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BC6DEC-9FCA-4AEE-8CC1-0684E0ACD5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0ED5BB-BF44-673A-2194-5226021A55D8}"/>
              </a:ext>
            </a:extLst>
          </p:cNvPr>
          <p:cNvSpPr>
            <a:spLocks noGrp="1"/>
          </p:cNvSpPr>
          <p:nvPr>
            <p:ph type="sldNum" sz="quarter" idx="5"/>
          </p:nvPr>
        </p:nvSpPr>
        <p:spPr/>
        <p:txBody>
          <a:bodyPr/>
          <a:lstStyle/>
          <a:p>
            <a:fld id="{B3E8125A-D8BB-E74B-8C6E-AB7BD2C997CF}" type="slidenum">
              <a:rPr lang="en-US" smtClean="0"/>
              <a:t>155</a:t>
            </a:fld>
            <a:endParaRPr lang="en-US"/>
          </a:p>
        </p:txBody>
      </p:sp>
    </p:spTree>
    <p:extLst>
      <p:ext uri="{BB962C8B-B14F-4D97-AF65-F5344CB8AC3E}">
        <p14:creationId xmlns:p14="http://schemas.microsoft.com/office/powerpoint/2010/main" val="213124597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B9598-54D4-F720-AD22-86584EDE4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6409F-CD12-5C96-7F3F-4C9358C381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A64E63-C785-D525-11BB-82A06465FB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B3D434-A39F-9422-7A3F-F0D430BAAB60}"/>
              </a:ext>
            </a:extLst>
          </p:cNvPr>
          <p:cNvSpPr>
            <a:spLocks noGrp="1"/>
          </p:cNvSpPr>
          <p:nvPr>
            <p:ph type="sldNum" sz="quarter" idx="5"/>
          </p:nvPr>
        </p:nvSpPr>
        <p:spPr/>
        <p:txBody>
          <a:bodyPr/>
          <a:lstStyle/>
          <a:p>
            <a:fld id="{B3E8125A-D8BB-E74B-8C6E-AB7BD2C997CF}" type="slidenum">
              <a:rPr lang="en-US" smtClean="0"/>
              <a:t>156</a:t>
            </a:fld>
            <a:endParaRPr lang="en-US"/>
          </a:p>
        </p:txBody>
      </p:sp>
    </p:spTree>
    <p:extLst>
      <p:ext uri="{BB962C8B-B14F-4D97-AF65-F5344CB8AC3E}">
        <p14:creationId xmlns:p14="http://schemas.microsoft.com/office/powerpoint/2010/main" val="375848181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simple way to implement the above integral is to have two for loops iterating over the distributions, then we find </a:t>
            </a:r>
            <a:r>
              <a:rPr lang="en-US" dirty="0" err="1"/>
              <a:t>pariwsie</a:t>
            </a:r>
            <a:r>
              <a:rPr lang="en-US" dirty="0"/>
              <a:t> differences of the iterating elements and see </a:t>
            </a:r>
            <a:r>
              <a:rPr lang="en-US" dirty="0" err="1"/>
              <a:t>wehter</a:t>
            </a:r>
            <a:r>
              <a:rPr lang="en-US" dirty="0"/>
              <a:t> they are above that threshold or not. </a:t>
            </a:r>
          </a:p>
        </p:txBody>
      </p:sp>
      <p:sp>
        <p:nvSpPr>
          <p:cNvPr id="4" name="Slide Number Placeholder 3"/>
          <p:cNvSpPr>
            <a:spLocks noGrp="1"/>
          </p:cNvSpPr>
          <p:nvPr>
            <p:ph type="sldNum" sz="quarter" idx="5"/>
          </p:nvPr>
        </p:nvSpPr>
        <p:spPr/>
        <p:txBody>
          <a:bodyPr/>
          <a:lstStyle/>
          <a:p>
            <a:fld id="{5AD2936D-68DF-C34D-84E6-1FDAB4C19BCF}" type="slidenum">
              <a:rPr lang="en-US" smtClean="0"/>
              <a:t>160</a:t>
            </a:fld>
            <a:endParaRPr lang="en-US"/>
          </a:p>
        </p:txBody>
      </p:sp>
    </p:spTree>
    <p:extLst>
      <p:ext uri="{BB962C8B-B14F-4D97-AF65-F5344CB8AC3E}">
        <p14:creationId xmlns:p14="http://schemas.microsoft.com/office/powerpoint/2010/main" val="329187079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83A4F750-2D21-9A2D-1BF4-A13B49D52F72}"/>
            </a:ext>
          </a:extLst>
        </p:cNvPr>
        <p:cNvGrpSpPr/>
        <p:nvPr/>
      </p:nvGrpSpPr>
      <p:grpSpPr>
        <a:xfrm>
          <a:off x="0" y="0"/>
          <a:ext cx="0" cy="0"/>
          <a:chOff x="0" y="0"/>
          <a:chExt cx="0" cy="0"/>
        </a:xfrm>
      </p:grpSpPr>
      <p:sp>
        <p:nvSpPr>
          <p:cNvPr id="411" name="Google Shape;411;g3096dc1af9c_0_161:notes">
            <a:extLst>
              <a:ext uri="{FF2B5EF4-FFF2-40B4-BE49-F238E27FC236}">
                <a16:creationId xmlns:a16="http://schemas.microsoft.com/office/drawing/2014/main" id="{4870F183-CBD6-43CA-E256-8DC485F9B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3096dc1af9c_0_161:notes">
            <a:extLst>
              <a:ext uri="{FF2B5EF4-FFF2-40B4-BE49-F238E27FC236}">
                <a16:creationId xmlns:a16="http://schemas.microsoft.com/office/drawing/2014/main" id="{1DEF29DD-0657-2069-0817-6A63806FB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299889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9A59-998D-0127-2CA1-74051CBD4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EF5D2-7D0D-2D37-685C-454E4E67FD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AF6276-BC17-50A2-54C7-F7ECFCA230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F2CAC-3B21-CB46-3806-6846B43162C7}"/>
              </a:ext>
            </a:extLst>
          </p:cNvPr>
          <p:cNvSpPr>
            <a:spLocks noGrp="1"/>
          </p:cNvSpPr>
          <p:nvPr>
            <p:ph type="sldNum" sz="quarter" idx="5"/>
          </p:nvPr>
        </p:nvSpPr>
        <p:spPr/>
        <p:txBody>
          <a:bodyPr/>
          <a:lstStyle/>
          <a:p>
            <a:fld id="{5AD2936D-68DF-C34D-84E6-1FDAB4C19BCF}" type="slidenum">
              <a:rPr lang="en-US" smtClean="0"/>
              <a:t>171</a:t>
            </a:fld>
            <a:endParaRPr lang="en-US"/>
          </a:p>
        </p:txBody>
      </p:sp>
    </p:spTree>
    <p:extLst>
      <p:ext uri="{BB962C8B-B14F-4D97-AF65-F5344CB8AC3E}">
        <p14:creationId xmlns:p14="http://schemas.microsoft.com/office/powerpoint/2010/main" val="115167192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17188-6147-F413-6F4D-B0E338098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ECF0-0D02-0C75-D804-97931D66FA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A88F7C-37AC-6343-6CBC-07CFC1BB4A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36B534-E455-5721-DED3-1ACADDB73C3E}"/>
              </a:ext>
            </a:extLst>
          </p:cNvPr>
          <p:cNvSpPr>
            <a:spLocks noGrp="1"/>
          </p:cNvSpPr>
          <p:nvPr>
            <p:ph type="sldNum" sz="quarter" idx="5"/>
          </p:nvPr>
        </p:nvSpPr>
        <p:spPr/>
        <p:txBody>
          <a:bodyPr/>
          <a:lstStyle/>
          <a:p>
            <a:fld id="{5AD2936D-68DF-C34D-84E6-1FDAB4C19BCF}" type="slidenum">
              <a:rPr lang="en-US" smtClean="0"/>
              <a:t>172</a:t>
            </a:fld>
            <a:endParaRPr lang="en-US"/>
          </a:p>
        </p:txBody>
      </p:sp>
    </p:spTree>
    <p:extLst>
      <p:ext uri="{BB962C8B-B14F-4D97-AF65-F5344CB8AC3E}">
        <p14:creationId xmlns:p14="http://schemas.microsoft.com/office/powerpoint/2010/main" val="186740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232F-6866-C467-C19F-34F75D8058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77CA47-BDC6-4647-49B0-5358FF0E4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C4AEA8-F1C0-00F2-7C22-F11BEEF30584}"/>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5" name="Footer Placeholder 4">
            <a:extLst>
              <a:ext uri="{FF2B5EF4-FFF2-40B4-BE49-F238E27FC236}">
                <a16:creationId xmlns:a16="http://schemas.microsoft.com/office/drawing/2014/main" id="{5C3A1231-2F02-CE3F-906C-1659FF45D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5591-E1F4-D134-3ED2-3F462C8D6A5F}"/>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2083264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5294B-B8B9-A871-3A00-C77EB3E2460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D68EB7C-1549-DE03-65EC-2EE36860401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46E7176-85A7-0D24-8184-F699E6339E61}"/>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5" name="Footer Placeholder 4">
            <a:extLst>
              <a:ext uri="{FF2B5EF4-FFF2-40B4-BE49-F238E27FC236}">
                <a16:creationId xmlns:a16="http://schemas.microsoft.com/office/drawing/2014/main" id="{E9B4BF1D-67D8-2281-686D-AF0061F5C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32D01-6C0E-43FD-E04C-46901E03EFD3}"/>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098256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DB81-50A0-51D4-BC74-9607C7A9F7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DCA24D-7451-A31E-C574-E87CFA434F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02BB10-28AD-4C19-CB26-142CB8869A0C}"/>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5" name="Footer Placeholder 4">
            <a:extLst>
              <a:ext uri="{FF2B5EF4-FFF2-40B4-BE49-F238E27FC236}">
                <a16:creationId xmlns:a16="http://schemas.microsoft.com/office/drawing/2014/main" id="{C0D870A0-3F7A-B96C-A995-88CE4B3E7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B23E8-12C6-706C-6C92-0725BB343F92}"/>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836893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E459-D084-52AC-6116-2CBBC36223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2B8156-4298-8078-2EF4-064DB846E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085B4E-DEBF-8CD9-AB7E-BE088C86B2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485E6E-C076-55BC-ACC7-D885909AEC64}"/>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6" name="Footer Placeholder 5">
            <a:extLst>
              <a:ext uri="{FF2B5EF4-FFF2-40B4-BE49-F238E27FC236}">
                <a16:creationId xmlns:a16="http://schemas.microsoft.com/office/drawing/2014/main" id="{4BF014C5-C9DA-C2E5-47CD-B44EA3243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C1A98-3AA2-6107-98A1-45E45FD13F04}"/>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305878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51E6-0460-738A-8A28-6EC056BF60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C6E4E7-2BB7-99AA-9127-E92045DF1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06493-52E4-CE01-BE54-ECD611CBD9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DD6F15-9C8C-DB7F-B913-BF57AEED76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6265FB-C60F-EB4E-1989-9039A934E4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5197B4-79EB-69E0-C5C8-AE3C66B30E0C}"/>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8" name="Footer Placeholder 7">
            <a:extLst>
              <a:ext uri="{FF2B5EF4-FFF2-40B4-BE49-F238E27FC236}">
                <a16:creationId xmlns:a16="http://schemas.microsoft.com/office/drawing/2014/main" id="{5383F0A4-9169-0219-CD20-74BEC57A8D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11ECF-C8E6-BC81-FC36-B0789EECC6BB}"/>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32504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747F2-D554-3D97-153C-319E5D0733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13918F-676A-C15F-9BBE-073F6ADA7D60}"/>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4" name="Footer Placeholder 3">
            <a:extLst>
              <a:ext uri="{FF2B5EF4-FFF2-40B4-BE49-F238E27FC236}">
                <a16:creationId xmlns:a16="http://schemas.microsoft.com/office/drawing/2014/main" id="{806CA4C0-116B-3B8D-63F0-02AB46700A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E5503C-D9BA-0C50-DA18-282280DBAADD}"/>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3250753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BC6982-2604-8CDB-98BD-544112049B60}"/>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3" name="Footer Placeholder 2">
            <a:extLst>
              <a:ext uri="{FF2B5EF4-FFF2-40B4-BE49-F238E27FC236}">
                <a16:creationId xmlns:a16="http://schemas.microsoft.com/office/drawing/2014/main" id="{30036E79-B1DB-E888-A5BC-81FC63C457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F2AD5A-F837-C7C2-1329-1080C00AC6A7}"/>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2297188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DC1B-3684-40AC-714B-FC8889F17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85B665-A056-561D-E982-0193F267EC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1DA867-1F67-4E0A-C8A1-B3F447AC1C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A3151-5DE0-BDB6-96E3-E443CA55DFFD}"/>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6" name="Footer Placeholder 5">
            <a:extLst>
              <a:ext uri="{FF2B5EF4-FFF2-40B4-BE49-F238E27FC236}">
                <a16:creationId xmlns:a16="http://schemas.microsoft.com/office/drawing/2014/main" id="{087AB6DF-34D8-CC58-BE71-6596F41FC7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E2ADC-8D68-C9CB-436E-375F997EDFB1}"/>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19540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22E6-210B-E06D-2AED-8C2B3106DE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91B08B-1FC6-BB18-3FA0-5EB5978380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3D7BD5-F088-0216-7878-A8040FF924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F195F-059F-3F93-A048-2C2FF214D7B1}"/>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6" name="Footer Placeholder 5">
            <a:extLst>
              <a:ext uri="{FF2B5EF4-FFF2-40B4-BE49-F238E27FC236}">
                <a16:creationId xmlns:a16="http://schemas.microsoft.com/office/drawing/2014/main" id="{60B888F6-BE37-F6A5-6779-F0FA8CABA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FB356-3F52-0F76-C5A0-CFAC5BA211E1}"/>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2291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D2557-DB1E-2548-FCAE-33143F7D00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47E6AA-E563-9655-3665-36C7A1000D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B32E69-889D-FD49-A4BB-3E7DAEECBEC1}"/>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5" name="Footer Placeholder 4">
            <a:extLst>
              <a:ext uri="{FF2B5EF4-FFF2-40B4-BE49-F238E27FC236}">
                <a16:creationId xmlns:a16="http://schemas.microsoft.com/office/drawing/2014/main" id="{8EEAFA8E-751D-207F-4CE5-85FB48D3E4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291E4-7DA5-131F-1694-22C8960831B2}"/>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51717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B8BCC1-7A54-2E32-7BAF-EF5C3405C3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7F8EF-A45E-8D91-8979-64445B67D2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60C1E-5545-9EF7-40CC-9291F86DA06B}"/>
              </a:ext>
            </a:extLst>
          </p:cNvPr>
          <p:cNvSpPr>
            <a:spLocks noGrp="1"/>
          </p:cNvSpPr>
          <p:nvPr>
            <p:ph type="dt" sz="half" idx="10"/>
          </p:nvPr>
        </p:nvSpPr>
        <p:spPr/>
        <p:txBody>
          <a:bodyPr/>
          <a:lstStyle/>
          <a:p>
            <a:fld id="{D76E4002-9283-1F4C-A40A-752C4DF2EDD0}" type="datetimeFigureOut">
              <a:rPr lang="en-US" smtClean="0"/>
              <a:t>4/7/26</a:t>
            </a:fld>
            <a:endParaRPr lang="en-US"/>
          </a:p>
        </p:txBody>
      </p:sp>
      <p:sp>
        <p:nvSpPr>
          <p:cNvPr id="5" name="Footer Placeholder 4">
            <a:extLst>
              <a:ext uri="{FF2B5EF4-FFF2-40B4-BE49-F238E27FC236}">
                <a16:creationId xmlns:a16="http://schemas.microsoft.com/office/drawing/2014/main" id="{E4D12ED2-6501-97C8-9F8C-011A87FA8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7E1AC-A1D2-EB0B-201F-28BD2093AEE2}"/>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98669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0E38F-804B-355A-6B24-9808EA4B7A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8D870F-3C54-2F21-BA4A-0E2674FEB6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B95634-60D7-5F36-E36F-4F47C875E9D7}"/>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5" name="Footer Placeholder 4">
            <a:extLst>
              <a:ext uri="{FF2B5EF4-FFF2-40B4-BE49-F238E27FC236}">
                <a16:creationId xmlns:a16="http://schemas.microsoft.com/office/drawing/2014/main" id="{28A49AF9-2BC5-1E7B-9FE9-AD4CA04AD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0DFC67-7A45-0D2C-ECE6-F17FFE362092}"/>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78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5B8B-C691-3548-0D27-FB4D83BADE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4DED34-5A15-2839-DD64-C395195BFB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A917E1-1300-5F65-C3BB-DFB72E8A2D23}"/>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5" name="Footer Placeholder 4">
            <a:extLst>
              <a:ext uri="{FF2B5EF4-FFF2-40B4-BE49-F238E27FC236}">
                <a16:creationId xmlns:a16="http://schemas.microsoft.com/office/drawing/2014/main" id="{EBBEE00B-45FB-54E9-2634-208A682877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D971C-3102-5983-1AB1-4ED26EA5C251}"/>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463400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A449-D0C7-5791-340E-58E359E96D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4C9534-D3CC-3EA9-86B3-87F10E9FDF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6E370E-D9D3-A78E-4851-ABA422416F2A}"/>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5" name="Footer Placeholder 4">
            <a:extLst>
              <a:ext uri="{FF2B5EF4-FFF2-40B4-BE49-F238E27FC236}">
                <a16:creationId xmlns:a16="http://schemas.microsoft.com/office/drawing/2014/main" id="{B7CFC65C-869F-CB3D-DE4C-FBE3042F1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56BA1E-C67F-6F5D-1196-9C93E56F414B}"/>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966631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60486-41BD-D29F-3448-9578AE07A8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7F5BD9-2BD8-97C3-2577-1C544D42A7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91449D-3B5F-F89D-05FF-2DE193E7B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FCBAE4-D338-8E01-BDA6-EB37C5A9AA87}"/>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6" name="Footer Placeholder 5">
            <a:extLst>
              <a:ext uri="{FF2B5EF4-FFF2-40B4-BE49-F238E27FC236}">
                <a16:creationId xmlns:a16="http://schemas.microsoft.com/office/drawing/2014/main" id="{FDBD388E-D193-944A-5520-4E9DDFEC33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21CB16-02AD-0B0D-0804-51B53E694848}"/>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881783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BD92-5E2F-6E93-B4A2-0E0A569073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44640B-3C85-BAF5-17C5-C96EB03CCB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6120B3-E53B-E6C8-1061-C1C518F19B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FCD208-E460-0DEC-DD33-ED16831DAB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CE2FB9-0569-0ABA-FA77-6C955C2D7E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FD9EDD-DA62-FA09-5CDF-8005D5213FE7}"/>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8" name="Footer Placeholder 7">
            <a:extLst>
              <a:ext uri="{FF2B5EF4-FFF2-40B4-BE49-F238E27FC236}">
                <a16:creationId xmlns:a16="http://schemas.microsoft.com/office/drawing/2014/main" id="{F521F064-9F1E-8919-D941-0F1059ABED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DF124D-657F-DCD5-81A3-5AA337C518FB}"/>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522416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6C26-059F-7F83-662A-C775EEDB5C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9A508A-D3AF-3E43-E951-76161492EA1F}"/>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4" name="Footer Placeholder 3">
            <a:extLst>
              <a:ext uri="{FF2B5EF4-FFF2-40B4-BE49-F238E27FC236}">
                <a16:creationId xmlns:a16="http://schemas.microsoft.com/office/drawing/2014/main" id="{CDB50C86-1F79-5D62-ED53-2BC184BE8A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35B9DF-B0BB-73C5-A2DE-1F1234FE6965}"/>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1421433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338F67-5AEA-F14A-D386-EA7599BF3F05}"/>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3" name="Footer Placeholder 2">
            <a:extLst>
              <a:ext uri="{FF2B5EF4-FFF2-40B4-BE49-F238E27FC236}">
                <a16:creationId xmlns:a16="http://schemas.microsoft.com/office/drawing/2014/main" id="{C9E7CA59-BE6B-C7D4-B8C5-91B22CAF3D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CA4E58-9229-25CD-8651-1FB863E22DFC}"/>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851085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A976-B03F-F03D-22D7-27BB890C3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4FE671-F707-869A-8332-AAC8F4CA8B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011610-E1C8-0136-D891-C3C0A8AEC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95989-5D26-662E-6A94-468C11370F2D}"/>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6" name="Footer Placeholder 5">
            <a:extLst>
              <a:ext uri="{FF2B5EF4-FFF2-40B4-BE49-F238E27FC236}">
                <a16:creationId xmlns:a16="http://schemas.microsoft.com/office/drawing/2014/main" id="{B35D0CE9-468A-0AD4-684D-2376F2D07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C85989-3375-7934-7D8A-4F6AF917D64F}"/>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718986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6D14-FE76-AC70-30D8-4DBF8F5F97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3B7B5F-EA18-9868-DFFD-EAAA6BA818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97EDFF-4E43-5F5B-B675-1F652AC4D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28E092-71F9-78F6-616C-DC70A072630B}"/>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6" name="Footer Placeholder 5">
            <a:extLst>
              <a:ext uri="{FF2B5EF4-FFF2-40B4-BE49-F238E27FC236}">
                <a16:creationId xmlns:a16="http://schemas.microsoft.com/office/drawing/2014/main" id="{C60DBEF1-8B89-3126-0D28-A01202C2C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3E7C3-0D47-B303-8159-B0DEB7C6B724}"/>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5295947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81008-1A33-061F-FD1F-6DC6C9734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4C5739-D576-528C-C6E9-AD012ADF04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E3E4A-8229-FF55-BE4B-177829658C21}"/>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5" name="Footer Placeholder 4">
            <a:extLst>
              <a:ext uri="{FF2B5EF4-FFF2-40B4-BE49-F238E27FC236}">
                <a16:creationId xmlns:a16="http://schemas.microsoft.com/office/drawing/2014/main" id="{5DBB395E-1C15-E39E-F001-E3ECF407A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3CC53-EAFF-696B-2A0D-86F501B57FE0}"/>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880116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53BA54-1BE2-D2AD-25D2-A1A2202A57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2B7175-F2AE-6107-5BB0-788502BF5B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3BB788-FEB6-2615-B6B9-BC1EECAE6668}"/>
              </a:ext>
            </a:extLst>
          </p:cNvPr>
          <p:cNvSpPr>
            <a:spLocks noGrp="1"/>
          </p:cNvSpPr>
          <p:nvPr>
            <p:ph type="dt" sz="half" idx="10"/>
          </p:nvPr>
        </p:nvSpPr>
        <p:spPr/>
        <p:txBody>
          <a:bodyPr/>
          <a:lstStyle/>
          <a:p>
            <a:fld id="{673638E0-472D-D649-AD00-050E9BA3484C}" type="datetimeFigureOut">
              <a:rPr lang="en-US" smtClean="0"/>
              <a:t>4/7/26</a:t>
            </a:fld>
            <a:endParaRPr lang="en-US"/>
          </a:p>
        </p:txBody>
      </p:sp>
      <p:sp>
        <p:nvSpPr>
          <p:cNvPr id="5" name="Footer Placeholder 4">
            <a:extLst>
              <a:ext uri="{FF2B5EF4-FFF2-40B4-BE49-F238E27FC236}">
                <a16:creationId xmlns:a16="http://schemas.microsoft.com/office/drawing/2014/main" id="{33F3FE62-3F9E-BAF6-7933-8DDA49183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2D5B18-7F83-597D-27C3-4A40F8D18667}"/>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4110372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28585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36068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5EEC2F-5AE0-D0BB-92B8-06A5DFCE99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A1772F-F4FC-79FA-79D4-15AE7F900A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AB578BE-F40A-25B8-5064-6E9D64D44A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Times New Roman" panose="02020603050405020304" pitchFamily="18" charset="0"/>
                <a:cs typeface="Times New Roman" panose="02020603050405020304" pitchFamily="18" charset="0"/>
              </a:defRPr>
            </a:lvl1pPr>
          </a:lstStyle>
          <a:p>
            <a:fld id="{D76E4002-9283-1F4C-A40A-752C4DF2EDD0}" type="datetimeFigureOut">
              <a:rPr lang="en-US" smtClean="0"/>
              <a:pPr/>
              <a:t>4/7/26</a:t>
            </a:fld>
            <a:endParaRPr lang="en-US"/>
          </a:p>
        </p:txBody>
      </p:sp>
      <p:sp>
        <p:nvSpPr>
          <p:cNvPr id="5" name="Footer Placeholder 4">
            <a:extLst>
              <a:ext uri="{FF2B5EF4-FFF2-40B4-BE49-F238E27FC236}">
                <a16:creationId xmlns:a16="http://schemas.microsoft.com/office/drawing/2014/main" id="{30241DE4-57AA-A96E-21B4-BDCCE208BD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FEBB0332-BBB2-30E2-C6F2-026DDB3026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Times New Roman" panose="02020603050405020304" pitchFamily="18" charset="0"/>
                <a:cs typeface="Times New Roman" panose="02020603050405020304" pitchFamily="18" charset="0"/>
              </a:defRPr>
            </a:lvl1pPr>
          </a:lstStyle>
          <a:p>
            <a:fld id="{EC77079B-D8A8-4C4F-BE5B-5250A28F918D}" type="slidenum">
              <a:rPr lang="en-US" smtClean="0"/>
              <a:pPr/>
              <a:t>‹#›</a:t>
            </a:fld>
            <a:endParaRPr lang="en-US"/>
          </a:p>
        </p:txBody>
      </p:sp>
    </p:spTree>
    <p:extLst>
      <p:ext uri="{BB962C8B-B14F-4D97-AF65-F5344CB8AC3E}">
        <p14:creationId xmlns:p14="http://schemas.microsoft.com/office/powerpoint/2010/main" val="3073690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E6BB8E-79F5-9293-44C1-733E5E313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8D753C-C910-0266-96A0-51DD1BD5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FA11B-AAB3-1B0B-BA50-A1B36CE8A1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3638E0-472D-D649-AD00-050E9BA3484C}" type="datetimeFigureOut">
              <a:rPr lang="en-US" smtClean="0"/>
              <a:t>4/7/26</a:t>
            </a:fld>
            <a:endParaRPr lang="en-US"/>
          </a:p>
        </p:txBody>
      </p:sp>
      <p:sp>
        <p:nvSpPr>
          <p:cNvPr id="5" name="Footer Placeholder 4">
            <a:extLst>
              <a:ext uri="{FF2B5EF4-FFF2-40B4-BE49-F238E27FC236}">
                <a16:creationId xmlns:a16="http://schemas.microsoft.com/office/drawing/2014/main" id="{4FCF6049-4EF7-B8D5-409A-96390F1E92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844DA2-0CBF-6678-E7BC-EFEAB9388D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60FA99-C6D4-C943-8FA9-F1521C0FF306}" type="slidenum">
              <a:rPr lang="en-US" smtClean="0"/>
              <a:t>‹#›</a:t>
            </a:fld>
            <a:endParaRPr lang="en-US"/>
          </a:p>
        </p:txBody>
      </p:sp>
    </p:spTree>
    <p:extLst>
      <p:ext uri="{BB962C8B-B14F-4D97-AF65-F5344CB8AC3E}">
        <p14:creationId xmlns:p14="http://schemas.microsoft.com/office/powerpoint/2010/main" val="17925805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image" Target="../media/image8.emf"/><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image" Target="../media/image9.svg"/><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oleObject" Target="../embeddings/oleObject1.bin"/><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slideLayout" Target="../slideLayouts/slideLayout1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61" Type="http://schemas.openxmlformats.org/officeDocument/2006/relationships/tags" Target="../tags/tag61.xml"/><Relationship Id="rId8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23.xml"/><Relationship Id="rId4" Type="http://schemas.openxmlformats.org/officeDocument/2006/relationships/image" Target="../media/image11.emf"/></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23.xml"/><Relationship Id="rId4" Type="http://schemas.openxmlformats.org/officeDocument/2006/relationships/image" Target="../media/image11.e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1.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4.xml"/></Relationships>
</file>

<file path=ppt/slides/_rels/slide9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7.xml"/><Relationship Id="rId1" Type="http://schemas.openxmlformats.org/officeDocument/2006/relationships/slideLayout" Target="../slideLayouts/slideLayout24.xml"/></Relationships>
</file>

<file path=ppt/slides/_rels/slide10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8.xml"/><Relationship Id="rId1" Type="http://schemas.openxmlformats.org/officeDocument/2006/relationships/slideLayout" Target="../slideLayouts/slideLayout24.xml"/></Relationships>
</file>

<file path=ppt/slides/_rels/slide10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9.xml"/><Relationship Id="rId1" Type="http://schemas.openxmlformats.org/officeDocument/2006/relationships/slideLayout" Target="../slideLayouts/slideLayout24.xml"/></Relationships>
</file>

<file path=ppt/slides/_rels/slide10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0.xml"/><Relationship Id="rId1" Type="http://schemas.openxmlformats.org/officeDocument/2006/relationships/slideLayout" Target="../slideLayouts/slideLayout2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emf"/></Relationships>
</file>

<file path=ppt/slides/_rels/slide10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1.xml"/><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2.xml"/><Relationship Id="rId1" Type="http://schemas.openxmlformats.org/officeDocument/2006/relationships/slideLayout" Target="../slideLayouts/slideLayout24.xml"/></Relationships>
</file>

<file path=ppt/slides/_rels/slide10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3.xml"/><Relationship Id="rId1" Type="http://schemas.openxmlformats.org/officeDocument/2006/relationships/slideLayout" Target="../slideLayouts/slideLayout24.xml"/></Relationships>
</file>

<file path=ppt/slides/_rels/slide10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4.xml"/><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4.xml"/></Relationships>
</file>

<file path=ppt/slides/_rels/slide11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4.xml"/></Relationships>
</file>

<file path=ppt/slides/_rels/slide1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4.xml"/></Relationships>
</file>

<file path=ppt/slides/_rels/slide11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4.xml"/></Relationships>
</file>

<file path=ppt/slides/_rels/slide1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97.xml"/><Relationship Id="rId1" Type="http://schemas.openxmlformats.org/officeDocument/2006/relationships/slideLayout" Target="../slideLayouts/slideLayout23.xml"/></Relationships>
</file>

<file path=ppt/slides/_rels/slide1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98.xml"/><Relationship Id="rId1" Type="http://schemas.openxmlformats.org/officeDocument/2006/relationships/slideLayout" Target="../slideLayouts/slideLayout2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9.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1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101.xml"/><Relationship Id="rId1" Type="http://schemas.openxmlformats.org/officeDocument/2006/relationships/slideLayout" Target="../slideLayouts/slideLayout1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19.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5.svg"/><Relationship Id="rId2" Type="http://schemas.openxmlformats.org/officeDocument/2006/relationships/image" Target="../media/image21.svg"/><Relationship Id="rId1" Type="http://schemas.openxmlformats.org/officeDocument/2006/relationships/slideLayout" Target="../slideLayouts/slideLayout13.xml"/><Relationship Id="rId6" Type="http://schemas.openxmlformats.org/officeDocument/2006/relationships/image" Target="../media/image26.svg"/><Relationship Id="rId5" Type="http://schemas.openxmlformats.org/officeDocument/2006/relationships/image" Target="../media/image24.svg"/><Relationship Id="rId4" Type="http://schemas.openxmlformats.org/officeDocument/2006/relationships/image" Target="../media/image23.svg"/></Relationships>
</file>

<file path=ppt/slides/_rels/slide12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102.xml"/><Relationship Id="rId1" Type="http://schemas.openxmlformats.org/officeDocument/2006/relationships/slideLayout" Target="../slideLayouts/slideLayout1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2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1.svg"/><Relationship Id="rId7" Type="http://schemas.openxmlformats.org/officeDocument/2006/relationships/image" Target="../media/image26.svg"/><Relationship Id="rId2" Type="http://schemas.openxmlformats.org/officeDocument/2006/relationships/notesSlide" Target="../notesSlides/notesSlide103.xml"/><Relationship Id="rId1" Type="http://schemas.openxmlformats.org/officeDocument/2006/relationships/slideLayout" Target="../slideLayouts/slideLayout1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png"/><Relationship Id="rId2" Type="http://schemas.openxmlformats.org/officeDocument/2006/relationships/notesSlide" Target="../notesSlides/notesSlide110.xml"/><Relationship Id="rId1" Type="http://schemas.openxmlformats.org/officeDocument/2006/relationships/slideLayout" Target="../slideLayouts/slideLayout13.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3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svg"/></Relationships>
</file>

<file path=ppt/slides/_rels/slide132.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png"/><Relationship Id="rId2" Type="http://schemas.openxmlformats.org/officeDocument/2006/relationships/notesSlide" Target="../notesSlides/notesSlide111.xml"/><Relationship Id="rId1" Type="http://schemas.openxmlformats.org/officeDocument/2006/relationships/slideLayout" Target="../slideLayouts/slideLayout13.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33.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12.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2.png"/></Relationships>
</file>

<file path=ppt/slides/_rels/slide13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3.xml"/><Relationship Id="rId1" Type="http://schemas.openxmlformats.org/officeDocument/2006/relationships/slideLayout" Target="../slideLayouts/slideLayout13.xml"/><Relationship Id="rId6" Type="http://schemas.openxmlformats.org/officeDocument/2006/relationships/image" Target="../media/image330.png"/><Relationship Id="rId5" Type="http://schemas.openxmlformats.org/officeDocument/2006/relationships/image" Target="../media/image32.png"/><Relationship Id="rId4" Type="http://schemas.openxmlformats.org/officeDocument/2006/relationships/image" Target="../media/image370.png"/></Relationships>
</file>

<file path=ppt/slides/_rels/slide13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0.png"/><Relationship Id="rId7"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35.png"/><Relationship Id="rId5" Type="http://schemas.openxmlformats.org/officeDocument/2006/relationships/image" Target="../media/image390.png"/><Relationship Id="rId10" Type="http://schemas.openxmlformats.org/officeDocument/2006/relationships/image" Target="../media/image34.png"/><Relationship Id="rId4" Type="http://schemas.openxmlformats.org/officeDocument/2006/relationships/image" Target="../media/image380.png"/><Relationship Id="rId9" Type="http://schemas.openxmlformats.org/officeDocument/2006/relationships/image" Target="../media/image330.png"/></Relationships>
</file>

<file path=ppt/slides/_rels/slide136.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5.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45.png"/><Relationship Id="rId11" Type="http://schemas.openxmlformats.org/officeDocument/2006/relationships/image" Target="../media/image330.png"/><Relationship Id="rId5" Type="http://schemas.openxmlformats.org/officeDocument/2006/relationships/image" Target="../media/image44.pn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48.png"/></Relationships>
</file>

<file path=ppt/slides/_rels/slide1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5.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1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6.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2.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F84E-F0FF-85E6-6A8C-57FD40BF4DF1}"/>
              </a:ext>
            </a:extLst>
          </p:cNvPr>
          <p:cNvSpPr>
            <a:spLocks noGrp="1"/>
          </p:cNvSpPr>
          <p:nvPr>
            <p:ph type="ctrTitle"/>
          </p:nvPr>
        </p:nvSpPr>
        <p:spPr>
          <a:xfrm>
            <a:off x="772160" y="766763"/>
            <a:ext cx="5811520" cy="2387600"/>
          </a:xfrm>
        </p:spPr>
        <p:txBody>
          <a:bodyPr>
            <a:normAutofit/>
          </a:bodyPr>
          <a:lstStyle/>
          <a:p>
            <a:pPr algn="l"/>
            <a:r>
              <a:rPr lang="en-US" sz="4000" dirty="0">
                <a:solidFill>
                  <a:srgbClr val="7030A0"/>
                </a:solidFill>
                <a:latin typeface="Times New Roman" panose="02020603050405020304" pitchFamily="18" charset="0"/>
                <a:cs typeface="Times New Roman" panose="02020603050405020304" pitchFamily="18" charset="0"/>
              </a:rPr>
              <a:t>Latency Fairness On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Commodity Networking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Infrastructure</a:t>
            </a:r>
          </a:p>
        </p:txBody>
      </p:sp>
      <p:sp>
        <p:nvSpPr>
          <p:cNvPr id="5" name="TextBox 4">
            <a:extLst>
              <a:ext uri="{FF2B5EF4-FFF2-40B4-BE49-F238E27FC236}">
                <a16:creationId xmlns:a16="http://schemas.microsoft.com/office/drawing/2014/main" id="{890D88BF-0073-1951-4F02-254298021936}"/>
              </a:ext>
            </a:extLst>
          </p:cNvPr>
          <p:cNvSpPr txBox="1"/>
          <p:nvPr/>
        </p:nvSpPr>
        <p:spPr>
          <a:xfrm>
            <a:off x="7691120" y="1830924"/>
            <a:ext cx="4500880" cy="1323439"/>
          </a:xfrm>
          <a:prstGeom prst="rect">
            <a:avLst/>
          </a:prstGeom>
          <a:noFill/>
        </p:spPr>
        <p:txBody>
          <a:bodyPr wrap="square" rtlCol="0">
            <a:spAutoFit/>
          </a:bodyPr>
          <a:lstStyle/>
          <a:p>
            <a:r>
              <a:rPr lang="en-US" sz="2800" dirty="0">
                <a:solidFill>
                  <a:srgbClr val="7030A0"/>
                </a:solidFill>
                <a:latin typeface="Times New Roman" panose="02020603050405020304" pitchFamily="18" charset="0"/>
                <a:cs typeface="Times New Roman" panose="02020603050405020304" pitchFamily="18" charset="0"/>
              </a:rPr>
              <a:t>PhD Thesis Defense</a:t>
            </a:r>
            <a:br>
              <a:rPr lang="en-US" sz="2800" dirty="0">
                <a:solidFill>
                  <a:srgbClr val="7030A0"/>
                </a:solidFill>
                <a:latin typeface="Times New Roman" panose="02020603050405020304" pitchFamily="18" charset="0"/>
                <a:cs typeface="Times New Roman" panose="02020603050405020304" pitchFamily="18" charset="0"/>
              </a:rPr>
            </a:br>
            <a:r>
              <a:rPr lang="en-US" sz="2800" dirty="0">
                <a:solidFill>
                  <a:srgbClr val="7030A0"/>
                </a:solidFill>
                <a:latin typeface="Times New Roman" panose="02020603050405020304" pitchFamily="18" charset="0"/>
                <a:cs typeface="Times New Roman" panose="02020603050405020304" pitchFamily="18" charset="0"/>
              </a:rPr>
              <a:t>Muhammad Haseeb</a:t>
            </a:r>
            <a:br>
              <a:rPr lang="en-US" sz="2800" dirty="0">
                <a:solidFill>
                  <a:srgbClr val="7030A0"/>
                </a:solidFill>
                <a:latin typeface="Times New Roman" panose="02020603050405020304" pitchFamily="18" charset="0"/>
                <a:cs typeface="Times New Roman" panose="02020603050405020304" pitchFamily="18" charset="0"/>
              </a:rPr>
            </a:br>
            <a:r>
              <a:rPr lang="en-US" sz="2400" dirty="0">
                <a:solidFill>
                  <a:srgbClr val="7030A0"/>
                </a:solidFill>
                <a:latin typeface="Times New Roman" panose="02020603050405020304" pitchFamily="18" charset="0"/>
                <a:cs typeface="Times New Roman" panose="02020603050405020304" pitchFamily="18" charset="0"/>
              </a:rPr>
              <a:t>(alias: Haseeb Ashfaq)</a:t>
            </a:r>
            <a:endParaRPr lang="en-US" sz="2800" dirty="0">
              <a:solidFill>
                <a:srgbClr val="7030A0"/>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E5DCD39-C27B-8984-DE5E-CF75C6C593EB}"/>
              </a:ext>
            </a:extLst>
          </p:cNvPr>
          <p:cNvSpPr/>
          <p:nvPr/>
        </p:nvSpPr>
        <p:spPr>
          <a:xfrm>
            <a:off x="7493000" y="1756957"/>
            <a:ext cx="116840" cy="157918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CB36658-B17B-D180-7A14-E4A8398E8458}"/>
              </a:ext>
            </a:extLst>
          </p:cNvPr>
          <p:cNvSpPr txBox="1"/>
          <p:nvPr/>
        </p:nvSpPr>
        <p:spPr>
          <a:xfrm>
            <a:off x="772160" y="3911600"/>
            <a:ext cx="454152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Advisor: Anirudh Sivaraman</a:t>
            </a:r>
          </a:p>
        </p:txBody>
      </p:sp>
      <p:sp>
        <p:nvSpPr>
          <p:cNvPr id="8" name="TextBox 7">
            <a:extLst>
              <a:ext uri="{FF2B5EF4-FFF2-40B4-BE49-F238E27FC236}">
                <a16:creationId xmlns:a16="http://schemas.microsoft.com/office/drawing/2014/main" id="{84D13F56-690F-6EA0-C787-345441CB11CA}"/>
              </a:ext>
            </a:extLst>
          </p:cNvPr>
          <p:cNvSpPr txBox="1"/>
          <p:nvPr/>
        </p:nvSpPr>
        <p:spPr>
          <a:xfrm>
            <a:off x="772160" y="4500880"/>
            <a:ext cx="9804400"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Committee: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Anirudh Sivaraman, Aurojit Panda, Radhika Mittal</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Lakshminarayanan Subramanian, Jinyang Li</a:t>
            </a:r>
          </a:p>
        </p:txBody>
      </p:sp>
      <p:sp>
        <p:nvSpPr>
          <p:cNvPr id="9" name="TextBox 8">
            <a:extLst>
              <a:ext uri="{FF2B5EF4-FFF2-40B4-BE49-F238E27FC236}">
                <a16:creationId xmlns:a16="http://schemas.microsoft.com/office/drawing/2014/main" id="{F7686E8A-4E57-7D85-C33A-84E8BAF7982A}"/>
              </a:ext>
            </a:extLst>
          </p:cNvPr>
          <p:cNvSpPr txBox="1"/>
          <p:nvPr/>
        </p:nvSpPr>
        <p:spPr>
          <a:xfrm>
            <a:off x="7691120" y="3884054"/>
            <a:ext cx="4135120" cy="830997"/>
          </a:xfrm>
          <a:prstGeom prst="rect">
            <a:avLst/>
          </a:prstGeom>
          <a:noFill/>
        </p:spPr>
        <p:txBody>
          <a:bodyPr wrap="square" rtlCol="0">
            <a:spAutoFit/>
          </a:bodyPr>
          <a:lstStyle/>
          <a:p>
            <a:r>
              <a:rPr lang="en-US" sz="2400" dirty="0">
                <a:solidFill>
                  <a:srgbClr val="7030A0"/>
                </a:solidFill>
                <a:latin typeface="Times New Roman" panose="02020603050405020304" pitchFamily="18" charset="0"/>
                <a:cs typeface="Times New Roman" panose="02020603050405020304" pitchFamily="18" charset="0"/>
              </a:rPr>
              <a:t>Computer Science Department</a:t>
            </a:r>
            <a:br>
              <a:rPr lang="en-US" sz="2400" dirty="0">
                <a:solidFill>
                  <a:srgbClr val="7030A0"/>
                </a:solidFill>
                <a:latin typeface="Times New Roman" panose="02020603050405020304" pitchFamily="18" charset="0"/>
                <a:cs typeface="Times New Roman" panose="02020603050405020304" pitchFamily="18" charset="0"/>
              </a:rPr>
            </a:br>
            <a:r>
              <a:rPr lang="en-US" sz="2400" dirty="0">
                <a:solidFill>
                  <a:srgbClr val="7030A0"/>
                </a:solidFill>
                <a:latin typeface="Times New Roman" panose="02020603050405020304" pitchFamily="18" charset="0"/>
                <a:cs typeface="Times New Roman" panose="02020603050405020304" pitchFamily="18" charset="0"/>
              </a:rPr>
              <a:t>New York University</a:t>
            </a:r>
          </a:p>
        </p:txBody>
      </p:sp>
      <p:sp>
        <p:nvSpPr>
          <p:cNvPr id="10" name="Rectangle 9">
            <a:extLst>
              <a:ext uri="{FF2B5EF4-FFF2-40B4-BE49-F238E27FC236}">
                <a16:creationId xmlns:a16="http://schemas.microsoft.com/office/drawing/2014/main" id="{304BB7B2-4B5D-8F7F-5F23-385114A329F5}"/>
              </a:ext>
            </a:extLst>
          </p:cNvPr>
          <p:cNvSpPr/>
          <p:nvPr/>
        </p:nvSpPr>
        <p:spPr>
          <a:xfrm>
            <a:off x="7495540" y="3521858"/>
            <a:ext cx="116840" cy="1579185"/>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016052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D18F4229-C9B6-4487-A584-667F7C25FA64}"/>
              </a:ext>
            </a:extLst>
          </p:cNvPr>
          <p:cNvSpPr txBox="1">
            <a:spLocks/>
          </p:cNvSpPr>
          <p:nvPr/>
        </p:nvSpPr>
        <p:spPr>
          <a:xfrm>
            <a:off x="3190240" y="2006283"/>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 On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Commodity Networking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Infrastructure</a:t>
            </a:r>
          </a:p>
        </p:txBody>
      </p:sp>
      <p:sp>
        <p:nvSpPr>
          <p:cNvPr id="17" name="Rectangle 16">
            <a:extLst>
              <a:ext uri="{FF2B5EF4-FFF2-40B4-BE49-F238E27FC236}">
                <a16:creationId xmlns:a16="http://schemas.microsoft.com/office/drawing/2014/main" id="{D3CD66FE-DC43-757E-6948-05C58364ECFF}"/>
              </a:ext>
            </a:extLst>
          </p:cNvPr>
          <p:cNvSpPr/>
          <p:nvPr/>
        </p:nvSpPr>
        <p:spPr>
          <a:xfrm>
            <a:off x="3017520" y="1570633"/>
            <a:ext cx="45719" cy="1548487"/>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EA1B4587-6474-87E6-7EF6-C8CAFD6C5C41}"/>
              </a:ext>
            </a:extLst>
          </p:cNvPr>
          <p:cNvSpPr/>
          <p:nvPr/>
        </p:nvSpPr>
        <p:spPr>
          <a:xfrm>
            <a:off x="8422640" y="2814698"/>
            <a:ext cx="53340" cy="1696342"/>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E356B41-3E9C-A4BC-664F-CCA480C0A1C8}"/>
              </a:ext>
            </a:extLst>
          </p:cNvPr>
          <p:cNvSpPr txBox="1"/>
          <p:nvPr/>
        </p:nvSpPr>
        <p:spPr>
          <a:xfrm>
            <a:off x="3190240" y="1652340"/>
            <a:ext cx="367792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Can We Achieve</a:t>
            </a:r>
          </a:p>
        </p:txBody>
      </p:sp>
      <p:sp>
        <p:nvSpPr>
          <p:cNvPr id="20" name="TextBox 19">
            <a:extLst>
              <a:ext uri="{FF2B5EF4-FFF2-40B4-BE49-F238E27FC236}">
                <a16:creationId xmlns:a16="http://schemas.microsoft.com/office/drawing/2014/main" id="{0B305DDE-6A86-84D6-428B-A6B48FB37A03}"/>
              </a:ext>
            </a:extLst>
          </p:cNvPr>
          <p:cNvSpPr txBox="1"/>
          <p:nvPr/>
        </p:nvSpPr>
        <p:spPr>
          <a:xfrm>
            <a:off x="5994400" y="3357880"/>
            <a:ext cx="68072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4122159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7EF22-9C4F-4708-95F5-AC1003B12AD3}"/>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B7B9327D-73A0-7490-618E-334A9F9DB0B7}"/>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A38D9987-F4A3-3D6C-FDED-327FC12FE715}"/>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8527C1E5-E704-6387-68B5-7635850AFD8E}"/>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874570"/>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AA5B3-712F-6E9A-8E97-5DCC437E4256}"/>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D549D387-2FAB-8B19-C677-E1367435A065}"/>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EA057AAD-A7DE-0803-D929-98D54BAD6D27}"/>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64F7254-0CD1-F421-6C43-A847C1E8C362}"/>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67755810-7970-2604-2BA0-463C072C41F0}"/>
              </a:ext>
            </a:extLst>
          </p:cNvPr>
          <p:cNvSpPr/>
          <p:nvPr/>
        </p:nvSpPr>
        <p:spPr>
          <a:xfrm>
            <a:off x="6183088"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796716-0AE6-68E2-8E60-4E43236E5939}"/>
              </a:ext>
            </a:extLst>
          </p:cNvPr>
          <p:cNvSpPr txBox="1"/>
          <p:nvPr/>
        </p:nvSpPr>
        <p:spPr>
          <a:xfrm>
            <a:off x="5844534"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18707975-C4BE-D24A-3CC2-BA67BA13EECE}"/>
              </a:ext>
            </a:extLst>
          </p:cNvPr>
          <p:cNvSpPr/>
          <p:nvPr/>
        </p:nvSpPr>
        <p:spPr>
          <a:xfrm>
            <a:off x="423672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81FF857-36DC-8591-7049-277522B60D84}"/>
              </a:ext>
            </a:extLst>
          </p:cNvPr>
          <p:cNvSpPr txBox="1"/>
          <p:nvPr/>
        </p:nvSpPr>
        <p:spPr>
          <a:xfrm>
            <a:off x="4007479"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5" name="Oval 4">
            <a:extLst>
              <a:ext uri="{FF2B5EF4-FFF2-40B4-BE49-F238E27FC236}">
                <a16:creationId xmlns:a16="http://schemas.microsoft.com/office/drawing/2014/main" id="{DDC71D5C-193F-3D78-BAF2-25F30A656584}"/>
              </a:ext>
            </a:extLst>
          </p:cNvPr>
          <p:cNvSpPr/>
          <p:nvPr/>
        </p:nvSpPr>
        <p:spPr>
          <a:xfrm>
            <a:off x="5645331"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CDC26A6F-236C-06F2-6937-9D660F60EE5A}"/>
              </a:ext>
            </a:extLst>
          </p:cNvPr>
          <p:cNvSpPr/>
          <p:nvPr/>
        </p:nvSpPr>
        <p:spPr>
          <a:xfrm>
            <a:off x="799054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070B3DE-C544-43D5-DFE3-D8A2FA526217}"/>
              </a:ext>
            </a:extLst>
          </p:cNvPr>
          <p:cNvCxnSpPr/>
          <p:nvPr/>
        </p:nvCxnSpPr>
        <p:spPr>
          <a:xfrm>
            <a:off x="6772550"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54E6A77-61EA-8C76-C1EE-AF3D94B56FC8}"/>
              </a:ext>
            </a:extLst>
          </p:cNvPr>
          <p:cNvSpPr txBox="1"/>
          <p:nvPr/>
        </p:nvSpPr>
        <p:spPr>
          <a:xfrm>
            <a:off x="5620421"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15" name="TextBox 14">
            <a:extLst>
              <a:ext uri="{FF2B5EF4-FFF2-40B4-BE49-F238E27FC236}">
                <a16:creationId xmlns:a16="http://schemas.microsoft.com/office/drawing/2014/main" id="{6C0FA2BA-178F-04BA-4587-5FCB3BAADE52}"/>
              </a:ext>
            </a:extLst>
          </p:cNvPr>
          <p:cNvSpPr txBox="1"/>
          <p:nvPr/>
        </p:nvSpPr>
        <p:spPr>
          <a:xfrm>
            <a:off x="7674812"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cxnSp>
        <p:nvCxnSpPr>
          <p:cNvPr id="19" name="Straight Connector 18">
            <a:extLst>
              <a:ext uri="{FF2B5EF4-FFF2-40B4-BE49-F238E27FC236}">
                <a16:creationId xmlns:a16="http://schemas.microsoft.com/office/drawing/2014/main" id="{9957F088-C59F-A5E4-16C6-C407A20D19EB}"/>
              </a:ext>
            </a:extLst>
          </p:cNvPr>
          <p:cNvCxnSpPr>
            <a:cxnSpLocks/>
          </p:cNvCxnSpPr>
          <p:nvPr/>
        </p:nvCxnSpPr>
        <p:spPr>
          <a:xfrm flipH="1">
            <a:off x="4898571"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65D5B6-F420-9EE7-C38D-BCA65796EDC3}"/>
              </a:ext>
            </a:extLst>
          </p:cNvPr>
          <p:cNvSpPr txBox="1"/>
          <p:nvPr/>
        </p:nvSpPr>
        <p:spPr>
          <a:xfrm>
            <a:off x="3816350"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spTree>
    <p:extLst>
      <p:ext uri="{BB962C8B-B14F-4D97-AF65-F5344CB8AC3E}">
        <p14:creationId xmlns:p14="http://schemas.microsoft.com/office/powerpoint/2010/main" val="349547391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1755E-C173-8AC6-CCB7-88CA41F8BA47}"/>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0A204BAD-2AE3-2BEB-4251-CED19E078723}"/>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AFEAA05D-721A-B81E-D08A-B8C7A54AB48D}"/>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32DB8AC-0D90-0E62-F236-97523C8E511B}"/>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CCBA6EE3-80B4-7C7C-1A75-FDCAC047CF81}"/>
              </a:ext>
            </a:extLst>
          </p:cNvPr>
          <p:cNvSpPr/>
          <p:nvPr/>
        </p:nvSpPr>
        <p:spPr>
          <a:xfrm>
            <a:off x="6183088"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53B216C-8C98-A33D-0B07-A8F00229337B}"/>
              </a:ext>
            </a:extLst>
          </p:cNvPr>
          <p:cNvSpPr txBox="1"/>
          <p:nvPr/>
        </p:nvSpPr>
        <p:spPr>
          <a:xfrm>
            <a:off x="5844534"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84A15F72-1E09-B5EF-D994-3884138E4974}"/>
              </a:ext>
            </a:extLst>
          </p:cNvPr>
          <p:cNvSpPr/>
          <p:nvPr/>
        </p:nvSpPr>
        <p:spPr>
          <a:xfrm>
            <a:off x="423672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F76A8F01-4F4E-FD58-407B-486E14DB92D5}"/>
              </a:ext>
            </a:extLst>
          </p:cNvPr>
          <p:cNvSpPr/>
          <p:nvPr/>
        </p:nvSpPr>
        <p:spPr>
          <a:xfrm>
            <a:off x="5645331"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7D6B3EC0-216F-51C5-48E9-5B7D8EF9D662}"/>
              </a:ext>
            </a:extLst>
          </p:cNvPr>
          <p:cNvSpPr/>
          <p:nvPr/>
        </p:nvSpPr>
        <p:spPr>
          <a:xfrm>
            <a:off x="799054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AF37B989-4F63-9656-1096-6E4DC99977A6}"/>
              </a:ext>
            </a:extLst>
          </p:cNvPr>
          <p:cNvCxnSpPr/>
          <p:nvPr/>
        </p:nvCxnSpPr>
        <p:spPr>
          <a:xfrm>
            <a:off x="6772550"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F46326F-B42F-09AC-29F7-05609C09F5DC}"/>
              </a:ext>
            </a:extLst>
          </p:cNvPr>
          <p:cNvCxnSpPr>
            <a:cxnSpLocks/>
          </p:cNvCxnSpPr>
          <p:nvPr/>
        </p:nvCxnSpPr>
        <p:spPr>
          <a:xfrm flipH="1">
            <a:off x="4898571"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F0017D1-AF53-F59D-E0BF-82AD02E5705A}"/>
              </a:ext>
            </a:extLst>
          </p:cNvPr>
          <p:cNvSpPr txBox="1"/>
          <p:nvPr/>
        </p:nvSpPr>
        <p:spPr>
          <a:xfrm>
            <a:off x="3816350"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6882A26D-9AD0-F761-DD5F-1B6F1A0FB528}"/>
              </a:ext>
            </a:extLst>
          </p:cNvPr>
          <p:cNvCxnSpPr>
            <a:cxnSpLocks/>
            <a:stCxn id="2" idx="4"/>
            <a:endCxn id="5" idx="0"/>
          </p:cNvCxnSpPr>
          <p:nvPr/>
        </p:nvCxnSpPr>
        <p:spPr>
          <a:xfrm flipH="1">
            <a:off x="6096000"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49E8D3C-F351-9100-FF50-FB750F36D49B}"/>
              </a:ext>
            </a:extLst>
          </p:cNvPr>
          <p:cNvCxnSpPr>
            <a:cxnSpLocks/>
            <a:stCxn id="2" idx="4"/>
            <a:endCxn id="10" idx="0"/>
          </p:cNvCxnSpPr>
          <p:nvPr/>
        </p:nvCxnSpPr>
        <p:spPr>
          <a:xfrm>
            <a:off x="6633757"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67DD44FF-CE97-2CB1-9C9D-896046234F7B}"/>
              </a:ext>
            </a:extLst>
          </p:cNvPr>
          <p:cNvSpPr txBox="1"/>
          <p:nvPr/>
        </p:nvSpPr>
        <p:spPr>
          <a:xfrm>
            <a:off x="5962244"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AD108A5D-E1CA-683A-2BFF-9C7FB884DFA4}"/>
              </a:ext>
            </a:extLst>
          </p:cNvPr>
          <p:cNvSpPr txBox="1"/>
          <p:nvPr/>
        </p:nvSpPr>
        <p:spPr>
          <a:xfrm>
            <a:off x="7231651"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2391C58C-24F7-1099-CC70-0D8346E614DA}"/>
              </a:ext>
            </a:extLst>
          </p:cNvPr>
          <p:cNvSpPr txBox="1"/>
          <p:nvPr/>
        </p:nvSpPr>
        <p:spPr>
          <a:xfrm>
            <a:off x="4007479"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6DE4AA79-253F-0A70-F589-4CB54928CDB3}"/>
              </a:ext>
            </a:extLst>
          </p:cNvPr>
          <p:cNvSpPr txBox="1"/>
          <p:nvPr/>
        </p:nvSpPr>
        <p:spPr>
          <a:xfrm>
            <a:off x="5620421"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8D9094E4-F048-C5EE-41E2-6258F9F01387}"/>
              </a:ext>
            </a:extLst>
          </p:cNvPr>
          <p:cNvSpPr txBox="1"/>
          <p:nvPr/>
        </p:nvSpPr>
        <p:spPr>
          <a:xfrm>
            <a:off x="7674812"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Tree>
    <p:extLst>
      <p:ext uri="{BB962C8B-B14F-4D97-AF65-F5344CB8AC3E}">
        <p14:creationId xmlns:p14="http://schemas.microsoft.com/office/powerpoint/2010/main" val="3086061470"/>
      </p:ext>
    </p:extLst>
  </p:cSld>
  <p:clrMapOvr>
    <a:masterClrMapping/>
  </p:clrMapOvr>
  <mc:AlternateContent xmlns:mc="http://schemas.openxmlformats.org/markup-compatibility/2006" xmlns:p159="http://schemas.microsoft.com/office/powerpoint/2015/09/main">
    <mc:Choice Requires="p159">
      <p:transition>
        <p159:morph option="byWord"/>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1B84-C3D2-0512-F238-F96AAFC68B60}"/>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89A92299-5C6B-2398-C237-A0BF53310FEE}"/>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5FB9B97A-CDEE-A98E-3709-B0D4FE4B63B4}"/>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D3A324CB-1C92-04A0-9C3E-668334A78F8F}"/>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9B2FE237-FC45-F917-9B03-7B96BE775EF7}"/>
              </a:ext>
            </a:extLst>
          </p:cNvPr>
          <p:cNvSpPr/>
          <p:nvPr/>
        </p:nvSpPr>
        <p:spPr>
          <a:xfrm>
            <a:off x="8497572"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331760F-3F11-E61A-220F-2D9D5F24420C}"/>
              </a:ext>
            </a:extLst>
          </p:cNvPr>
          <p:cNvSpPr txBox="1"/>
          <p:nvPr/>
        </p:nvSpPr>
        <p:spPr>
          <a:xfrm>
            <a:off x="8159018"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3E8A4293-5A06-EB17-6909-2373990365BD}"/>
              </a:ext>
            </a:extLst>
          </p:cNvPr>
          <p:cNvSpPr/>
          <p:nvPr/>
        </p:nvSpPr>
        <p:spPr>
          <a:xfrm>
            <a:off x="655120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A57B0007-8C67-8F7C-D173-D267BE3BFEEE}"/>
              </a:ext>
            </a:extLst>
          </p:cNvPr>
          <p:cNvSpPr/>
          <p:nvPr/>
        </p:nvSpPr>
        <p:spPr>
          <a:xfrm>
            <a:off x="7959815"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55E5BAF8-3640-C46F-75E6-136B6ADA553B}"/>
              </a:ext>
            </a:extLst>
          </p:cNvPr>
          <p:cNvSpPr/>
          <p:nvPr/>
        </p:nvSpPr>
        <p:spPr>
          <a:xfrm>
            <a:off x="1030502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35DF2E18-22EB-5F6C-8F04-D8757765A5A5}"/>
              </a:ext>
            </a:extLst>
          </p:cNvPr>
          <p:cNvCxnSpPr/>
          <p:nvPr/>
        </p:nvCxnSpPr>
        <p:spPr>
          <a:xfrm>
            <a:off x="9087034"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8213D92-E999-BBC4-4870-BE36D2EDF770}"/>
              </a:ext>
            </a:extLst>
          </p:cNvPr>
          <p:cNvCxnSpPr>
            <a:cxnSpLocks/>
          </p:cNvCxnSpPr>
          <p:nvPr/>
        </p:nvCxnSpPr>
        <p:spPr>
          <a:xfrm flipH="1">
            <a:off x="7213055"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4CFB281-93FC-0337-C42C-E88DE9BB1BA9}"/>
              </a:ext>
            </a:extLst>
          </p:cNvPr>
          <p:cNvSpPr txBox="1"/>
          <p:nvPr/>
        </p:nvSpPr>
        <p:spPr>
          <a:xfrm>
            <a:off x="6130834"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1834301D-D908-2577-872B-C83EF70465A9}"/>
              </a:ext>
            </a:extLst>
          </p:cNvPr>
          <p:cNvCxnSpPr>
            <a:cxnSpLocks/>
            <a:stCxn id="2" idx="4"/>
            <a:endCxn id="5" idx="0"/>
          </p:cNvCxnSpPr>
          <p:nvPr/>
        </p:nvCxnSpPr>
        <p:spPr>
          <a:xfrm flipH="1">
            <a:off x="8410484"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A45D0F6-BFD4-413A-D431-C887B69E4E7A}"/>
              </a:ext>
            </a:extLst>
          </p:cNvPr>
          <p:cNvCxnSpPr>
            <a:cxnSpLocks/>
            <a:stCxn id="2" idx="4"/>
            <a:endCxn id="10" idx="0"/>
          </p:cNvCxnSpPr>
          <p:nvPr/>
        </p:nvCxnSpPr>
        <p:spPr>
          <a:xfrm>
            <a:off x="8948241"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D328095-C878-8ED9-2CE4-292AD231B837}"/>
              </a:ext>
            </a:extLst>
          </p:cNvPr>
          <p:cNvSpPr txBox="1"/>
          <p:nvPr/>
        </p:nvSpPr>
        <p:spPr>
          <a:xfrm>
            <a:off x="8276728"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16BDBEB0-F1ED-B7E0-F43B-CFF2B3EFFB99}"/>
              </a:ext>
            </a:extLst>
          </p:cNvPr>
          <p:cNvSpPr txBox="1"/>
          <p:nvPr/>
        </p:nvSpPr>
        <p:spPr>
          <a:xfrm>
            <a:off x="9546135"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7F28D4E7-7A82-9381-29DD-B2E25638C142}"/>
              </a:ext>
            </a:extLst>
          </p:cNvPr>
          <p:cNvSpPr txBox="1"/>
          <p:nvPr/>
        </p:nvSpPr>
        <p:spPr>
          <a:xfrm>
            <a:off x="6321963"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FFA5D318-D663-0502-66E3-6CB49CD6075E}"/>
              </a:ext>
            </a:extLst>
          </p:cNvPr>
          <p:cNvSpPr txBox="1"/>
          <p:nvPr/>
        </p:nvSpPr>
        <p:spPr>
          <a:xfrm>
            <a:off x="7934905"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40164C9E-2226-D901-5F8F-0A41F92D7613}"/>
              </a:ext>
            </a:extLst>
          </p:cNvPr>
          <p:cNvSpPr txBox="1"/>
          <p:nvPr/>
        </p:nvSpPr>
        <p:spPr>
          <a:xfrm>
            <a:off x="9989296"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Tree>
    <p:extLst>
      <p:ext uri="{BB962C8B-B14F-4D97-AF65-F5344CB8AC3E}">
        <p14:creationId xmlns:p14="http://schemas.microsoft.com/office/powerpoint/2010/main" val="433049594"/>
      </p:ext>
    </p:extLst>
  </p:cSld>
  <p:clrMapOvr>
    <a:masterClrMapping/>
  </p:clrMapOvr>
  <mc:AlternateContent xmlns:mc="http://schemas.openxmlformats.org/markup-compatibility/2006" xmlns:p159="http://schemas.microsoft.com/office/powerpoint/2015/09/main">
    <mc:Choice Requires="p159">
      <p:transition>
        <p159:morph option="byWord"/>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E90AC-5F90-3894-F518-C43A70CDD337}"/>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7727AF2-4F5C-A202-DE9B-C416D8F490C1}"/>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E5F89CE2-E7C5-4B87-54D7-7EA7735D1D63}"/>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0C3388-5524-C488-48F2-B17650679A49}"/>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3C447D92-04E5-ABD6-30AB-7B96AA9286B0}"/>
              </a:ext>
            </a:extLst>
          </p:cNvPr>
          <p:cNvSpPr/>
          <p:nvPr/>
        </p:nvSpPr>
        <p:spPr>
          <a:xfrm>
            <a:off x="8497572"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69B8993-2AA7-14EF-D794-B3F1683049A1}"/>
              </a:ext>
            </a:extLst>
          </p:cNvPr>
          <p:cNvSpPr txBox="1"/>
          <p:nvPr/>
        </p:nvSpPr>
        <p:spPr>
          <a:xfrm>
            <a:off x="8159018"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D6F38C70-114C-BBD5-C5E0-5B4B24D3A083}"/>
              </a:ext>
            </a:extLst>
          </p:cNvPr>
          <p:cNvSpPr/>
          <p:nvPr/>
        </p:nvSpPr>
        <p:spPr>
          <a:xfrm>
            <a:off x="655120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1808D0C6-204D-B5EF-53A0-6E3AF05A649E}"/>
              </a:ext>
            </a:extLst>
          </p:cNvPr>
          <p:cNvSpPr/>
          <p:nvPr/>
        </p:nvSpPr>
        <p:spPr>
          <a:xfrm>
            <a:off x="7959815"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61492C4A-8D93-3B31-0806-2032050D884A}"/>
              </a:ext>
            </a:extLst>
          </p:cNvPr>
          <p:cNvSpPr/>
          <p:nvPr/>
        </p:nvSpPr>
        <p:spPr>
          <a:xfrm>
            <a:off x="1030502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C6E826D9-4C82-0FD8-BC95-3B5269866D49}"/>
              </a:ext>
            </a:extLst>
          </p:cNvPr>
          <p:cNvCxnSpPr/>
          <p:nvPr/>
        </p:nvCxnSpPr>
        <p:spPr>
          <a:xfrm>
            <a:off x="9087034"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F712ABB-41CC-604E-41E0-3B7B839E971D}"/>
              </a:ext>
            </a:extLst>
          </p:cNvPr>
          <p:cNvCxnSpPr>
            <a:cxnSpLocks/>
          </p:cNvCxnSpPr>
          <p:nvPr/>
        </p:nvCxnSpPr>
        <p:spPr>
          <a:xfrm flipH="1">
            <a:off x="7213055"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E5C86ED-DCFD-9B90-3297-6BE9FC63E922}"/>
              </a:ext>
            </a:extLst>
          </p:cNvPr>
          <p:cNvSpPr txBox="1"/>
          <p:nvPr/>
        </p:nvSpPr>
        <p:spPr>
          <a:xfrm>
            <a:off x="6130834"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1F9B1823-2EC1-1508-3152-71575FB19E43}"/>
              </a:ext>
            </a:extLst>
          </p:cNvPr>
          <p:cNvCxnSpPr>
            <a:cxnSpLocks/>
            <a:stCxn id="2" idx="4"/>
            <a:endCxn id="5" idx="0"/>
          </p:cNvCxnSpPr>
          <p:nvPr/>
        </p:nvCxnSpPr>
        <p:spPr>
          <a:xfrm flipH="1">
            <a:off x="8410484"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525E116-50E3-046C-317D-138A1C399C9B}"/>
              </a:ext>
            </a:extLst>
          </p:cNvPr>
          <p:cNvCxnSpPr>
            <a:cxnSpLocks/>
            <a:stCxn id="2" idx="4"/>
            <a:endCxn id="10" idx="0"/>
          </p:cNvCxnSpPr>
          <p:nvPr/>
        </p:nvCxnSpPr>
        <p:spPr>
          <a:xfrm>
            <a:off x="8948241"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AF14C3CB-9347-F813-B9B2-32B6A9A477B1}"/>
              </a:ext>
            </a:extLst>
          </p:cNvPr>
          <p:cNvSpPr txBox="1"/>
          <p:nvPr/>
        </p:nvSpPr>
        <p:spPr>
          <a:xfrm>
            <a:off x="8276728"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E0E30447-0495-35A7-1FF7-53CB7E824849}"/>
              </a:ext>
            </a:extLst>
          </p:cNvPr>
          <p:cNvSpPr txBox="1"/>
          <p:nvPr/>
        </p:nvSpPr>
        <p:spPr>
          <a:xfrm>
            <a:off x="9546135"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62D10E4F-278A-F361-E7B6-8B02D12E2AA2}"/>
              </a:ext>
            </a:extLst>
          </p:cNvPr>
          <p:cNvSpPr txBox="1"/>
          <p:nvPr/>
        </p:nvSpPr>
        <p:spPr>
          <a:xfrm>
            <a:off x="6321963"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EA8396D4-A697-F022-22A8-6F5C4DB2659A}"/>
              </a:ext>
            </a:extLst>
          </p:cNvPr>
          <p:cNvSpPr txBox="1"/>
          <p:nvPr/>
        </p:nvSpPr>
        <p:spPr>
          <a:xfrm>
            <a:off x="7934905"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97B3F969-99E1-DB2C-D2BF-AE9B19F2AA11}"/>
              </a:ext>
            </a:extLst>
          </p:cNvPr>
          <p:cNvSpPr txBox="1"/>
          <p:nvPr/>
        </p:nvSpPr>
        <p:spPr>
          <a:xfrm>
            <a:off x="9989296"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
        <p:nvSpPr>
          <p:cNvPr id="12" name="TextBox 11">
            <a:extLst>
              <a:ext uri="{FF2B5EF4-FFF2-40B4-BE49-F238E27FC236}">
                <a16:creationId xmlns:a16="http://schemas.microsoft.com/office/drawing/2014/main" id="{61BC61E1-FB7D-3901-DA55-0912562B0D9E}"/>
              </a:ext>
            </a:extLst>
          </p:cNvPr>
          <p:cNvSpPr txBox="1"/>
          <p:nvPr/>
        </p:nvSpPr>
        <p:spPr>
          <a:xfrm>
            <a:off x="760549" y="2659042"/>
            <a:ext cx="5095723"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Critical for competitive systems</a:t>
            </a:r>
          </a:p>
          <a:p>
            <a:r>
              <a:rPr lang="en-US" sz="3000" dirty="0">
                <a:latin typeface="Times New Roman" panose="02020603050405020304" pitchFamily="18" charset="0"/>
                <a:cs typeface="Times New Roman" panose="02020603050405020304" pitchFamily="18" charset="0"/>
              </a:rPr>
              <a:t>e.g., financial exchanges, ad exchanges.</a:t>
            </a:r>
          </a:p>
        </p:txBody>
      </p:sp>
    </p:spTree>
    <p:extLst>
      <p:ext uri="{BB962C8B-B14F-4D97-AF65-F5344CB8AC3E}">
        <p14:creationId xmlns:p14="http://schemas.microsoft.com/office/powerpoint/2010/main" val="4252485894"/>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B61D3-F707-60BE-A582-D834BDC0DE54}"/>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8EBCB744-E077-AA56-DD2E-5781D3DAD1D2}"/>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63AAC567-73B0-AF7E-8CA6-E22EB49EE7E6}"/>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953927F1-53D0-B5A4-674F-2ED2D5D03FEC}"/>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84A45410-7D22-70EE-437F-98D1500F8BA0}"/>
              </a:ext>
            </a:extLst>
          </p:cNvPr>
          <p:cNvSpPr/>
          <p:nvPr/>
        </p:nvSpPr>
        <p:spPr>
          <a:xfrm>
            <a:off x="8497572"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CDC1E3-9137-3E58-5286-C90629581A63}"/>
              </a:ext>
            </a:extLst>
          </p:cNvPr>
          <p:cNvSpPr txBox="1"/>
          <p:nvPr/>
        </p:nvSpPr>
        <p:spPr>
          <a:xfrm>
            <a:off x="8159018"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2ECC147A-4F95-5F2E-93D5-691C3BE90F2A}"/>
              </a:ext>
            </a:extLst>
          </p:cNvPr>
          <p:cNvSpPr/>
          <p:nvPr/>
        </p:nvSpPr>
        <p:spPr>
          <a:xfrm>
            <a:off x="655120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8EBEA846-AE53-8609-C025-4510011CBCB2}"/>
              </a:ext>
            </a:extLst>
          </p:cNvPr>
          <p:cNvSpPr/>
          <p:nvPr/>
        </p:nvSpPr>
        <p:spPr>
          <a:xfrm>
            <a:off x="7959815"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FEF1BE27-2C18-8206-6DAB-42731654ECFD}"/>
              </a:ext>
            </a:extLst>
          </p:cNvPr>
          <p:cNvSpPr/>
          <p:nvPr/>
        </p:nvSpPr>
        <p:spPr>
          <a:xfrm>
            <a:off x="1030502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67942988-0894-8864-7954-8771B374B017}"/>
              </a:ext>
            </a:extLst>
          </p:cNvPr>
          <p:cNvCxnSpPr/>
          <p:nvPr/>
        </p:nvCxnSpPr>
        <p:spPr>
          <a:xfrm>
            <a:off x="9087034"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7496BBA-646B-4176-C17D-B3EFD77D7D8A}"/>
              </a:ext>
            </a:extLst>
          </p:cNvPr>
          <p:cNvCxnSpPr>
            <a:cxnSpLocks/>
          </p:cNvCxnSpPr>
          <p:nvPr/>
        </p:nvCxnSpPr>
        <p:spPr>
          <a:xfrm flipH="1">
            <a:off x="7213055"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2DEA32D-A6B5-7CC2-3BA5-9F5E719139FB}"/>
              </a:ext>
            </a:extLst>
          </p:cNvPr>
          <p:cNvSpPr txBox="1"/>
          <p:nvPr/>
        </p:nvSpPr>
        <p:spPr>
          <a:xfrm>
            <a:off x="6130834"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23B2342E-40B7-0A82-A93E-A632BF277510}"/>
              </a:ext>
            </a:extLst>
          </p:cNvPr>
          <p:cNvCxnSpPr>
            <a:cxnSpLocks/>
            <a:stCxn id="2" idx="4"/>
            <a:endCxn id="5" idx="0"/>
          </p:cNvCxnSpPr>
          <p:nvPr/>
        </p:nvCxnSpPr>
        <p:spPr>
          <a:xfrm flipH="1">
            <a:off x="8410484"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709A8FF-C9D4-DBCD-32DF-4DAD0A8607EE}"/>
              </a:ext>
            </a:extLst>
          </p:cNvPr>
          <p:cNvCxnSpPr>
            <a:cxnSpLocks/>
            <a:stCxn id="2" idx="4"/>
            <a:endCxn id="10" idx="0"/>
          </p:cNvCxnSpPr>
          <p:nvPr/>
        </p:nvCxnSpPr>
        <p:spPr>
          <a:xfrm>
            <a:off x="8948241"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ECDF1BC-9E96-E20F-FE19-44E5F2F3271B}"/>
              </a:ext>
            </a:extLst>
          </p:cNvPr>
          <p:cNvSpPr txBox="1"/>
          <p:nvPr/>
        </p:nvSpPr>
        <p:spPr>
          <a:xfrm>
            <a:off x="8276728"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BBDD467F-AFFD-AFEE-1408-5C56457843C3}"/>
              </a:ext>
            </a:extLst>
          </p:cNvPr>
          <p:cNvSpPr txBox="1"/>
          <p:nvPr/>
        </p:nvSpPr>
        <p:spPr>
          <a:xfrm>
            <a:off x="9546135"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61C469F5-EDC6-88C3-4CA0-33B5E8271007}"/>
              </a:ext>
            </a:extLst>
          </p:cNvPr>
          <p:cNvSpPr txBox="1"/>
          <p:nvPr/>
        </p:nvSpPr>
        <p:spPr>
          <a:xfrm>
            <a:off x="6321963"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5EA42736-3A77-D627-3E20-DAD995CB3D21}"/>
              </a:ext>
            </a:extLst>
          </p:cNvPr>
          <p:cNvSpPr txBox="1"/>
          <p:nvPr/>
        </p:nvSpPr>
        <p:spPr>
          <a:xfrm>
            <a:off x="7934905"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12018B42-98D2-E24F-F87D-57F4D8CB6179}"/>
              </a:ext>
            </a:extLst>
          </p:cNvPr>
          <p:cNvSpPr txBox="1"/>
          <p:nvPr/>
        </p:nvSpPr>
        <p:spPr>
          <a:xfrm>
            <a:off x="9989296"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
        <p:nvSpPr>
          <p:cNvPr id="12" name="TextBox 11">
            <a:extLst>
              <a:ext uri="{FF2B5EF4-FFF2-40B4-BE49-F238E27FC236}">
                <a16:creationId xmlns:a16="http://schemas.microsoft.com/office/drawing/2014/main" id="{DB65EC44-72EE-0640-21EC-23D33EBE9683}"/>
              </a:ext>
            </a:extLst>
          </p:cNvPr>
          <p:cNvSpPr txBox="1"/>
          <p:nvPr/>
        </p:nvSpPr>
        <p:spPr>
          <a:xfrm>
            <a:off x="760549" y="2659042"/>
            <a:ext cx="5095723"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Critical for competitive systems</a:t>
            </a:r>
          </a:p>
          <a:p>
            <a:r>
              <a:rPr lang="en-US" sz="3000" dirty="0">
                <a:latin typeface="Times New Roman" panose="02020603050405020304" pitchFamily="18" charset="0"/>
                <a:cs typeface="Times New Roman" panose="02020603050405020304" pitchFamily="18" charset="0"/>
              </a:rPr>
              <a:t>e.g., financial exchanges, ad exchanges.</a:t>
            </a:r>
          </a:p>
        </p:txBody>
      </p:sp>
      <p:sp>
        <p:nvSpPr>
          <p:cNvPr id="14" name="Oval 13">
            <a:extLst>
              <a:ext uri="{FF2B5EF4-FFF2-40B4-BE49-F238E27FC236}">
                <a16:creationId xmlns:a16="http://schemas.microsoft.com/office/drawing/2014/main" id="{92BDDD35-1ADE-1229-9118-E765CEB0C347}"/>
              </a:ext>
            </a:extLst>
          </p:cNvPr>
          <p:cNvSpPr/>
          <p:nvPr/>
        </p:nvSpPr>
        <p:spPr>
          <a:xfrm>
            <a:off x="2436518" y="2599598"/>
            <a:ext cx="3624649" cy="725710"/>
          </a:xfrm>
          <a:custGeom>
            <a:avLst/>
            <a:gdLst>
              <a:gd name="csX0" fmla="*/ 0 w 3624649"/>
              <a:gd name="csY0" fmla="*/ 362855 h 725710"/>
              <a:gd name="csX1" fmla="*/ 1812325 w 3624649"/>
              <a:gd name="csY1" fmla="*/ 0 h 725710"/>
              <a:gd name="csX2" fmla="*/ 3624650 w 3624649"/>
              <a:gd name="csY2" fmla="*/ 362855 h 725710"/>
              <a:gd name="csX3" fmla="*/ 1812325 w 3624649"/>
              <a:gd name="csY3" fmla="*/ 725710 h 725710"/>
              <a:gd name="csX4" fmla="*/ 0 w 3624649"/>
              <a:gd name="csY4" fmla="*/ 362855 h 725710"/>
            </a:gdLst>
            <a:ahLst/>
            <a:cxnLst>
              <a:cxn ang="0">
                <a:pos x="csX0" y="csY0"/>
              </a:cxn>
              <a:cxn ang="0">
                <a:pos x="csX1" y="csY1"/>
              </a:cxn>
              <a:cxn ang="0">
                <a:pos x="csX2" y="csY2"/>
              </a:cxn>
              <a:cxn ang="0">
                <a:pos x="csX3" y="csY3"/>
              </a:cxn>
              <a:cxn ang="0">
                <a:pos x="csX4" y="csY4"/>
              </a:cxn>
            </a:cxnLst>
            <a:rect l="l" t="t" r="r" b="b"/>
            <a:pathLst>
              <a:path w="3624649" h="725710" extrusionOk="0">
                <a:moveTo>
                  <a:pt x="0" y="362855"/>
                </a:moveTo>
                <a:cubicBezTo>
                  <a:pt x="-115163" y="91421"/>
                  <a:pt x="660948" y="56469"/>
                  <a:pt x="1812325" y="0"/>
                </a:cubicBezTo>
                <a:cubicBezTo>
                  <a:pt x="2834112" y="4393"/>
                  <a:pt x="3594571" y="163412"/>
                  <a:pt x="3624650" y="362855"/>
                </a:cubicBezTo>
                <a:cubicBezTo>
                  <a:pt x="3570103" y="616522"/>
                  <a:pt x="2802006" y="787829"/>
                  <a:pt x="1812325" y="725710"/>
                </a:cubicBezTo>
                <a:cubicBezTo>
                  <a:pt x="806512" y="723032"/>
                  <a:pt x="17732" y="571726"/>
                  <a:pt x="0" y="362855"/>
                </a:cubicBezTo>
                <a:close/>
              </a:path>
            </a:pathLst>
          </a:custGeom>
          <a:noFill/>
          <a:ln w="69850">
            <a:solidFill>
              <a:srgbClr val="FF0000"/>
            </a:solidFill>
            <a:extLst>
              <a:ext uri="{C807C97D-BFC1-408E-A445-0C87EB9F89A2}">
                <ask:lineSketchStyleProps xmlns:ask="http://schemas.microsoft.com/office/drawing/2018/sketchyshapes" sd="1219033472">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2B3D87A-E58E-0F06-296E-E9B7F56BCC87}"/>
              </a:ext>
            </a:extLst>
          </p:cNvPr>
          <p:cNvSpPr txBox="1"/>
          <p:nvPr/>
        </p:nvSpPr>
        <p:spPr>
          <a:xfrm>
            <a:off x="3459289" y="3589382"/>
            <a:ext cx="1797287" cy="553998"/>
          </a:xfrm>
          <a:prstGeom prst="rect">
            <a:avLst/>
          </a:prstGeom>
          <a:noFill/>
        </p:spPr>
        <p:txBody>
          <a:bodyPr wrap="none" rtlCol="0">
            <a:spAutoFit/>
          </a:bodyPr>
          <a:lstStyle/>
          <a:p>
            <a:r>
              <a:rPr lang="en-US" sz="3000" dirty="0">
                <a:solidFill>
                  <a:srgbClr val="FF0000"/>
                </a:solidFill>
                <a:latin typeface="Times New Roman" panose="02020603050405020304" pitchFamily="18" charset="0"/>
                <a:cs typeface="Times New Roman" panose="02020603050405020304" pitchFamily="18" charset="0"/>
              </a:rPr>
              <a:t>Our Focus</a:t>
            </a:r>
          </a:p>
        </p:txBody>
      </p:sp>
    </p:spTree>
    <p:extLst>
      <p:ext uri="{BB962C8B-B14F-4D97-AF65-F5344CB8AC3E}">
        <p14:creationId xmlns:p14="http://schemas.microsoft.com/office/powerpoint/2010/main" val="2119589616"/>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DE6F-EC31-8FC4-5776-F5DEC79A2E0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78C640C-40FE-FCF1-64FB-1C3ECB15BCCE}"/>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2A761770-44DE-0756-A768-2BC3F2BC5A44}"/>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296CDD6-6407-1054-019E-BA411163C2AC}"/>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Tree>
    <p:extLst>
      <p:ext uri="{BB962C8B-B14F-4D97-AF65-F5344CB8AC3E}">
        <p14:creationId xmlns:p14="http://schemas.microsoft.com/office/powerpoint/2010/main" val="100310589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24308-F2B6-2128-FB02-CA0D02F1EB3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9D6ED4E-E8E5-E558-2F81-F2CA901C9F91}"/>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9C8AFE51-05C5-F984-E491-37B2F08E48D3}"/>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63FA6DE-963A-6EBB-8251-3FAA7F0FD9A0}"/>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E54E7E8C-43C3-43C9-4259-0DABD061500C}"/>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7" name="TextBox 6">
            <a:extLst>
              <a:ext uri="{FF2B5EF4-FFF2-40B4-BE49-F238E27FC236}">
                <a16:creationId xmlns:a16="http://schemas.microsoft.com/office/drawing/2014/main" id="{EEF28FB5-C657-4375-3CB5-BACCCAF99B38}"/>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9" name="TextBox 8">
            <a:extLst>
              <a:ext uri="{FF2B5EF4-FFF2-40B4-BE49-F238E27FC236}">
                <a16:creationId xmlns:a16="http://schemas.microsoft.com/office/drawing/2014/main" id="{E3F83F9C-D8FE-02EA-2E2A-DD0A1C4B6F11}"/>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Rectangle 10">
            <a:extLst>
              <a:ext uri="{FF2B5EF4-FFF2-40B4-BE49-F238E27FC236}">
                <a16:creationId xmlns:a16="http://schemas.microsoft.com/office/drawing/2014/main" id="{D16890F8-C39D-9F52-4322-BF3055B01862}"/>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270797"/>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DB5B-2EB8-99F1-5D27-B7DE542E132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D1E2116-853C-CD5A-F31B-40C8B7C615D4}"/>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894DFEED-391B-E6C5-4886-EBE11CA64C84}"/>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37BB2A6-BF16-9B08-08BA-DC9ABBC9C8DB}"/>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04E8E50E-70CE-0C67-BEFD-5DB460BA6A62}"/>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7" name="TextBox 6">
            <a:extLst>
              <a:ext uri="{FF2B5EF4-FFF2-40B4-BE49-F238E27FC236}">
                <a16:creationId xmlns:a16="http://schemas.microsoft.com/office/drawing/2014/main" id="{687ADB50-CBB3-E406-3A47-7D0EA903ED37}"/>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8" name="TextBox 7">
            <a:extLst>
              <a:ext uri="{FF2B5EF4-FFF2-40B4-BE49-F238E27FC236}">
                <a16:creationId xmlns:a16="http://schemas.microsoft.com/office/drawing/2014/main" id="{FC411999-1E8A-8CA9-6E02-283B092D3D33}"/>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9" name="TextBox 8">
            <a:extLst>
              <a:ext uri="{FF2B5EF4-FFF2-40B4-BE49-F238E27FC236}">
                <a16:creationId xmlns:a16="http://schemas.microsoft.com/office/drawing/2014/main" id="{96465F3E-4C19-045E-905D-35D7D9029867}"/>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FB4BED7D-4B5E-952B-86A8-299F5F8EA4E3}"/>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1" name="Rectangle 10">
            <a:extLst>
              <a:ext uri="{FF2B5EF4-FFF2-40B4-BE49-F238E27FC236}">
                <a16:creationId xmlns:a16="http://schemas.microsoft.com/office/drawing/2014/main" id="{0B99D3DB-B510-22AB-1991-A1915A4878C7}"/>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749138"/>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B1B1B-7C7F-0D23-FC0A-0191D992B12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3D9B647-F77F-7408-1713-249CDF5F30EE}"/>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2A96CA1-550D-FF52-7A6C-87D4B134651B}"/>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7A8BC6A-D1FB-5D5E-F335-368C9AC742C1}"/>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6FEBDB26-6BE4-FDD1-0A01-880F943359F5}"/>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4" name="TextBox 3">
            <a:extLst>
              <a:ext uri="{FF2B5EF4-FFF2-40B4-BE49-F238E27FC236}">
                <a16:creationId xmlns:a16="http://schemas.microsoft.com/office/drawing/2014/main" id="{FE5AE08A-01D4-5FE3-CB15-2C26BB4F3C9B}"/>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6F3D0DA5-E2E5-E515-AA17-165F9624A7FA}"/>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07F37804-12AF-C717-C3B7-E1C04B1DBC2B}"/>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33BF1DE6-DDD3-1E07-36B2-A6227D23FF9E}"/>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CEF57110-9383-C7A7-E2DF-8D0B3E533F7F}"/>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02675D14-DB97-4FA8-755C-10F1F7DC3754}"/>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9B93914B-4D43-3516-76BA-6B9D454F0297}"/>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9414"/>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E7AE8-23B2-E205-FD0E-4E29AE46607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026211A-E2D6-417B-F9B3-A095CBA8DC4E}"/>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AB33D0A-C428-1366-C3AE-B208287F0BFC}"/>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44696ED-4E93-4B0B-AE4E-ED3E804815A4}"/>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973039A3-A80B-D2B1-8A5C-AF12899E6760}"/>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3" name="Rounded Rectangle 2">
            <a:extLst>
              <a:ext uri="{FF2B5EF4-FFF2-40B4-BE49-F238E27FC236}">
                <a16:creationId xmlns:a16="http://schemas.microsoft.com/office/drawing/2014/main" id="{7B05D2CD-4141-39F8-70E8-855B669DC9EF}"/>
              </a:ext>
            </a:extLst>
          </p:cNvPr>
          <p:cNvSpPr/>
          <p:nvPr/>
        </p:nvSpPr>
        <p:spPr>
          <a:xfrm>
            <a:off x="472966" y="4755944"/>
            <a:ext cx="4482094" cy="1213932"/>
          </a:xfrm>
          <a:custGeom>
            <a:avLst/>
            <a:gdLst>
              <a:gd name="csX0" fmla="*/ 0 w 4482094"/>
              <a:gd name="csY0" fmla="*/ 202326 h 1213932"/>
              <a:gd name="csX1" fmla="*/ 202326 w 4482094"/>
              <a:gd name="csY1" fmla="*/ 0 h 1213932"/>
              <a:gd name="csX2" fmla="*/ 703269 w 4482094"/>
              <a:gd name="csY2" fmla="*/ 0 h 1213932"/>
              <a:gd name="csX3" fmla="*/ 1163437 w 4482094"/>
              <a:gd name="csY3" fmla="*/ 0 h 1213932"/>
              <a:gd name="csX4" fmla="*/ 1705155 w 4482094"/>
              <a:gd name="csY4" fmla="*/ 0 h 1213932"/>
              <a:gd name="csX5" fmla="*/ 2328421 w 4482094"/>
              <a:gd name="csY5" fmla="*/ 0 h 1213932"/>
              <a:gd name="csX6" fmla="*/ 2992461 w 4482094"/>
              <a:gd name="csY6" fmla="*/ 0 h 1213932"/>
              <a:gd name="csX7" fmla="*/ 3534179 w 4482094"/>
              <a:gd name="csY7" fmla="*/ 0 h 1213932"/>
              <a:gd name="csX8" fmla="*/ 4279768 w 4482094"/>
              <a:gd name="csY8" fmla="*/ 0 h 1213932"/>
              <a:gd name="csX9" fmla="*/ 4482094 w 4482094"/>
              <a:gd name="csY9" fmla="*/ 202326 h 1213932"/>
              <a:gd name="csX10" fmla="*/ 4482094 w 4482094"/>
              <a:gd name="csY10" fmla="*/ 598873 h 1213932"/>
              <a:gd name="csX11" fmla="*/ 4482094 w 4482094"/>
              <a:gd name="csY11" fmla="*/ 1011606 h 1213932"/>
              <a:gd name="csX12" fmla="*/ 4279768 w 4482094"/>
              <a:gd name="csY12" fmla="*/ 1213932 h 1213932"/>
              <a:gd name="csX13" fmla="*/ 3615727 w 4482094"/>
              <a:gd name="csY13" fmla="*/ 1213932 h 1213932"/>
              <a:gd name="csX14" fmla="*/ 2992461 w 4482094"/>
              <a:gd name="csY14" fmla="*/ 1213932 h 1213932"/>
              <a:gd name="csX15" fmla="*/ 2369195 w 4482094"/>
              <a:gd name="csY15" fmla="*/ 1213932 h 1213932"/>
              <a:gd name="csX16" fmla="*/ 1909027 w 4482094"/>
              <a:gd name="csY16" fmla="*/ 1213932 h 1213932"/>
              <a:gd name="csX17" fmla="*/ 1448858 w 4482094"/>
              <a:gd name="csY17" fmla="*/ 1213932 h 1213932"/>
              <a:gd name="csX18" fmla="*/ 988690 w 4482094"/>
              <a:gd name="csY18" fmla="*/ 1213932 h 1213932"/>
              <a:gd name="csX19" fmla="*/ 202326 w 4482094"/>
              <a:gd name="csY19" fmla="*/ 1213932 h 1213932"/>
              <a:gd name="csX20" fmla="*/ 0 w 4482094"/>
              <a:gd name="csY20" fmla="*/ 1011606 h 1213932"/>
              <a:gd name="csX21" fmla="*/ 0 w 4482094"/>
              <a:gd name="csY21" fmla="*/ 623152 h 1213932"/>
              <a:gd name="csX22" fmla="*/ 0 w 4482094"/>
              <a:gd name="csY22"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82094" h="1213932" fill="none" extrusionOk="0">
                <a:moveTo>
                  <a:pt x="0" y="202326"/>
                </a:moveTo>
                <a:cubicBezTo>
                  <a:pt x="26695" y="78017"/>
                  <a:pt x="75354" y="6686"/>
                  <a:pt x="202326" y="0"/>
                </a:cubicBezTo>
                <a:cubicBezTo>
                  <a:pt x="310846" y="-50018"/>
                  <a:pt x="593216" y="34946"/>
                  <a:pt x="703269" y="0"/>
                </a:cubicBezTo>
                <a:cubicBezTo>
                  <a:pt x="813322" y="-34946"/>
                  <a:pt x="955403" y="25942"/>
                  <a:pt x="1163437" y="0"/>
                </a:cubicBezTo>
                <a:cubicBezTo>
                  <a:pt x="1371471" y="-25942"/>
                  <a:pt x="1593315" y="40294"/>
                  <a:pt x="1705155" y="0"/>
                </a:cubicBezTo>
                <a:cubicBezTo>
                  <a:pt x="1816995" y="-40294"/>
                  <a:pt x="2122609" y="42548"/>
                  <a:pt x="2328421" y="0"/>
                </a:cubicBezTo>
                <a:cubicBezTo>
                  <a:pt x="2534233" y="-42548"/>
                  <a:pt x="2780578" y="59133"/>
                  <a:pt x="2992461" y="0"/>
                </a:cubicBezTo>
                <a:cubicBezTo>
                  <a:pt x="3204344" y="-59133"/>
                  <a:pt x="3421836" y="36180"/>
                  <a:pt x="3534179" y="0"/>
                </a:cubicBezTo>
                <a:cubicBezTo>
                  <a:pt x="3646522" y="-36180"/>
                  <a:pt x="4090705" y="35347"/>
                  <a:pt x="4279768" y="0"/>
                </a:cubicBezTo>
                <a:cubicBezTo>
                  <a:pt x="4374039" y="17153"/>
                  <a:pt x="4478954" y="94594"/>
                  <a:pt x="4482094" y="202326"/>
                </a:cubicBezTo>
                <a:cubicBezTo>
                  <a:pt x="4499112" y="317165"/>
                  <a:pt x="4466703" y="476425"/>
                  <a:pt x="4482094" y="598873"/>
                </a:cubicBezTo>
                <a:cubicBezTo>
                  <a:pt x="4497485" y="721321"/>
                  <a:pt x="4433159" y="915363"/>
                  <a:pt x="4482094" y="1011606"/>
                </a:cubicBezTo>
                <a:cubicBezTo>
                  <a:pt x="4500655" y="1107200"/>
                  <a:pt x="4371140" y="1231747"/>
                  <a:pt x="4279768" y="1213932"/>
                </a:cubicBezTo>
                <a:cubicBezTo>
                  <a:pt x="3949763" y="1262404"/>
                  <a:pt x="3886087" y="1171221"/>
                  <a:pt x="3615727" y="1213932"/>
                </a:cubicBezTo>
                <a:cubicBezTo>
                  <a:pt x="3345367" y="1256643"/>
                  <a:pt x="3188927" y="1158815"/>
                  <a:pt x="2992461" y="1213932"/>
                </a:cubicBezTo>
                <a:cubicBezTo>
                  <a:pt x="2795995" y="1269049"/>
                  <a:pt x="2642429" y="1202278"/>
                  <a:pt x="2369195" y="1213932"/>
                </a:cubicBezTo>
                <a:cubicBezTo>
                  <a:pt x="2095961" y="1225586"/>
                  <a:pt x="2124900" y="1207898"/>
                  <a:pt x="1909027" y="1213932"/>
                </a:cubicBezTo>
                <a:cubicBezTo>
                  <a:pt x="1693154" y="1219966"/>
                  <a:pt x="1674914" y="1164025"/>
                  <a:pt x="1448858" y="1213932"/>
                </a:cubicBezTo>
                <a:cubicBezTo>
                  <a:pt x="1222802" y="1263839"/>
                  <a:pt x="1114471" y="1165257"/>
                  <a:pt x="988690" y="1213932"/>
                </a:cubicBezTo>
                <a:cubicBezTo>
                  <a:pt x="862909" y="1262607"/>
                  <a:pt x="434083" y="1185791"/>
                  <a:pt x="202326" y="1213932"/>
                </a:cubicBezTo>
                <a:cubicBezTo>
                  <a:pt x="103782" y="1218548"/>
                  <a:pt x="15230" y="1124784"/>
                  <a:pt x="0" y="1011606"/>
                </a:cubicBezTo>
                <a:cubicBezTo>
                  <a:pt x="-5740" y="817584"/>
                  <a:pt x="4281" y="721549"/>
                  <a:pt x="0" y="623152"/>
                </a:cubicBezTo>
                <a:cubicBezTo>
                  <a:pt x="-4281" y="524755"/>
                  <a:pt x="41708" y="293725"/>
                  <a:pt x="0" y="202326"/>
                </a:cubicBezTo>
                <a:close/>
              </a:path>
              <a:path w="4482094" h="1213932" stroke="0" extrusionOk="0">
                <a:moveTo>
                  <a:pt x="0" y="202326"/>
                </a:moveTo>
                <a:cubicBezTo>
                  <a:pt x="-16723" y="104191"/>
                  <a:pt x="101543" y="-28700"/>
                  <a:pt x="202326" y="0"/>
                </a:cubicBezTo>
                <a:cubicBezTo>
                  <a:pt x="436127" y="-38849"/>
                  <a:pt x="523360" y="22818"/>
                  <a:pt x="784818" y="0"/>
                </a:cubicBezTo>
                <a:cubicBezTo>
                  <a:pt x="1046276" y="-22818"/>
                  <a:pt x="1235129" y="60004"/>
                  <a:pt x="1448858" y="0"/>
                </a:cubicBezTo>
                <a:cubicBezTo>
                  <a:pt x="1662587" y="-60004"/>
                  <a:pt x="1803950" y="17905"/>
                  <a:pt x="1909027" y="0"/>
                </a:cubicBezTo>
                <a:cubicBezTo>
                  <a:pt x="2014104" y="-17905"/>
                  <a:pt x="2245709" y="15579"/>
                  <a:pt x="2369195" y="0"/>
                </a:cubicBezTo>
                <a:cubicBezTo>
                  <a:pt x="2492681" y="-15579"/>
                  <a:pt x="2662699" y="41827"/>
                  <a:pt x="2910912" y="0"/>
                </a:cubicBezTo>
                <a:cubicBezTo>
                  <a:pt x="3159125" y="-41827"/>
                  <a:pt x="3274654" y="25262"/>
                  <a:pt x="3493404" y="0"/>
                </a:cubicBezTo>
                <a:cubicBezTo>
                  <a:pt x="3712154" y="-25262"/>
                  <a:pt x="4011493" y="69021"/>
                  <a:pt x="4279768" y="0"/>
                </a:cubicBezTo>
                <a:cubicBezTo>
                  <a:pt x="4400494" y="30317"/>
                  <a:pt x="4459968" y="67561"/>
                  <a:pt x="4482094" y="202326"/>
                </a:cubicBezTo>
                <a:cubicBezTo>
                  <a:pt x="4512683" y="389701"/>
                  <a:pt x="4438350" y="470058"/>
                  <a:pt x="4482094" y="598873"/>
                </a:cubicBezTo>
                <a:cubicBezTo>
                  <a:pt x="4525838" y="727688"/>
                  <a:pt x="4439543" y="818110"/>
                  <a:pt x="4482094" y="1011606"/>
                </a:cubicBezTo>
                <a:cubicBezTo>
                  <a:pt x="4501699" y="1146361"/>
                  <a:pt x="4403210" y="1213086"/>
                  <a:pt x="4279768" y="1213932"/>
                </a:cubicBezTo>
                <a:cubicBezTo>
                  <a:pt x="4053273" y="1262350"/>
                  <a:pt x="3993693" y="1199585"/>
                  <a:pt x="3819600" y="1213932"/>
                </a:cubicBezTo>
                <a:cubicBezTo>
                  <a:pt x="3645507" y="1228279"/>
                  <a:pt x="3564206" y="1206396"/>
                  <a:pt x="3359431" y="1213932"/>
                </a:cubicBezTo>
                <a:cubicBezTo>
                  <a:pt x="3154656" y="1221468"/>
                  <a:pt x="3031699" y="1166407"/>
                  <a:pt x="2899263" y="1213932"/>
                </a:cubicBezTo>
                <a:cubicBezTo>
                  <a:pt x="2766827" y="1261457"/>
                  <a:pt x="2645038" y="1211015"/>
                  <a:pt x="2439094" y="1213932"/>
                </a:cubicBezTo>
                <a:cubicBezTo>
                  <a:pt x="2233150" y="1216849"/>
                  <a:pt x="2142178" y="1158375"/>
                  <a:pt x="1856602" y="1213932"/>
                </a:cubicBezTo>
                <a:cubicBezTo>
                  <a:pt x="1571026" y="1269489"/>
                  <a:pt x="1587404" y="1184297"/>
                  <a:pt x="1396434" y="1213932"/>
                </a:cubicBezTo>
                <a:cubicBezTo>
                  <a:pt x="1205464" y="1243567"/>
                  <a:pt x="999372" y="1142548"/>
                  <a:pt x="732393" y="1213932"/>
                </a:cubicBezTo>
                <a:cubicBezTo>
                  <a:pt x="465414" y="1285316"/>
                  <a:pt x="429827" y="1204260"/>
                  <a:pt x="202326" y="1213932"/>
                </a:cubicBezTo>
                <a:cubicBezTo>
                  <a:pt x="98367" y="1220249"/>
                  <a:pt x="15313" y="1128582"/>
                  <a:pt x="0" y="1011606"/>
                </a:cubicBezTo>
                <a:cubicBezTo>
                  <a:pt x="-22348" y="922605"/>
                  <a:pt x="18797" y="799667"/>
                  <a:pt x="0" y="615059"/>
                </a:cubicBezTo>
                <a:cubicBezTo>
                  <a:pt x="-18797" y="430451"/>
                  <a:pt x="27808" y="389567"/>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247587333">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DF3EBA0-ECEC-CFC3-CDB1-D6D0D4982F8F}"/>
              </a:ext>
            </a:extLst>
          </p:cNvPr>
          <p:cNvSpPr/>
          <p:nvPr/>
        </p:nvSpPr>
        <p:spPr>
          <a:xfrm>
            <a:off x="6615105" y="4696264"/>
            <a:ext cx="4658815" cy="1213932"/>
          </a:xfrm>
          <a:custGeom>
            <a:avLst/>
            <a:gdLst>
              <a:gd name="csX0" fmla="*/ 0 w 4658815"/>
              <a:gd name="csY0" fmla="*/ 202326 h 1213932"/>
              <a:gd name="csX1" fmla="*/ 202326 w 4658815"/>
              <a:gd name="csY1" fmla="*/ 0 h 1213932"/>
              <a:gd name="csX2" fmla="*/ 776638 w 4658815"/>
              <a:gd name="csY2" fmla="*/ 0 h 1213932"/>
              <a:gd name="csX3" fmla="*/ 1223325 w 4658815"/>
              <a:gd name="csY3" fmla="*/ 0 h 1213932"/>
              <a:gd name="csX4" fmla="*/ 1797637 w 4658815"/>
              <a:gd name="csY4" fmla="*/ 0 h 1213932"/>
              <a:gd name="csX5" fmla="*/ 2201783 w 4658815"/>
              <a:gd name="csY5" fmla="*/ 0 h 1213932"/>
              <a:gd name="csX6" fmla="*/ 2776095 w 4658815"/>
              <a:gd name="csY6" fmla="*/ 0 h 1213932"/>
              <a:gd name="csX7" fmla="*/ 3222782 w 4658815"/>
              <a:gd name="csY7" fmla="*/ 0 h 1213932"/>
              <a:gd name="csX8" fmla="*/ 3626927 w 4658815"/>
              <a:gd name="csY8" fmla="*/ 0 h 1213932"/>
              <a:gd name="csX9" fmla="*/ 4456489 w 4658815"/>
              <a:gd name="csY9" fmla="*/ 0 h 1213932"/>
              <a:gd name="csX10" fmla="*/ 4658815 w 4658815"/>
              <a:gd name="csY10" fmla="*/ 202326 h 1213932"/>
              <a:gd name="csX11" fmla="*/ 4658815 w 4658815"/>
              <a:gd name="csY11" fmla="*/ 615059 h 1213932"/>
              <a:gd name="csX12" fmla="*/ 4658815 w 4658815"/>
              <a:gd name="csY12" fmla="*/ 1011606 h 1213932"/>
              <a:gd name="csX13" fmla="*/ 4456489 w 4658815"/>
              <a:gd name="csY13" fmla="*/ 1213932 h 1213932"/>
              <a:gd name="csX14" fmla="*/ 4052344 w 4658815"/>
              <a:gd name="csY14" fmla="*/ 1213932 h 1213932"/>
              <a:gd name="csX15" fmla="*/ 3435490 w 4658815"/>
              <a:gd name="csY15" fmla="*/ 1213932 h 1213932"/>
              <a:gd name="csX16" fmla="*/ 2903720 w 4658815"/>
              <a:gd name="csY16" fmla="*/ 1213932 h 1213932"/>
              <a:gd name="csX17" fmla="*/ 2286866 w 4658815"/>
              <a:gd name="csY17" fmla="*/ 1213932 h 1213932"/>
              <a:gd name="csX18" fmla="*/ 1712554 w 4658815"/>
              <a:gd name="csY18" fmla="*/ 1213932 h 1213932"/>
              <a:gd name="csX19" fmla="*/ 1223325 w 4658815"/>
              <a:gd name="csY19" fmla="*/ 1213932 h 1213932"/>
              <a:gd name="csX20" fmla="*/ 202326 w 4658815"/>
              <a:gd name="csY20" fmla="*/ 1213932 h 1213932"/>
              <a:gd name="csX21" fmla="*/ 0 w 4658815"/>
              <a:gd name="csY21" fmla="*/ 1011606 h 1213932"/>
              <a:gd name="csX22" fmla="*/ 0 w 4658815"/>
              <a:gd name="csY22" fmla="*/ 606966 h 1213932"/>
              <a:gd name="csX23" fmla="*/ 0 w 4658815"/>
              <a:gd name="csY23"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658815" h="1213932" fill="none" extrusionOk="0">
                <a:moveTo>
                  <a:pt x="0" y="202326"/>
                </a:moveTo>
                <a:cubicBezTo>
                  <a:pt x="-13865" y="118417"/>
                  <a:pt x="86826" y="-4987"/>
                  <a:pt x="202326" y="0"/>
                </a:cubicBezTo>
                <a:cubicBezTo>
                  <a:pt x="461530" y="-6300"/>
                  <a:pt x="508999" y="20240"/>
                  <a:pt x="776638" y="0"/>
                </a:cubicBezTo>
                <a:cubicBezTo>
                  <a:pt x="1044277" y="-20240"/>
                  <a:pt x="1043875" y="3992"/>
                  <a:pt x="1223325" y="0"/>
                </a:cubicBezTo>
                <a:cubicBezTo>
                  <a:pt x="1402775" y="-3992"/>
                  <a:pt x="1646824" y="1804"/>
                  <a:pt x="1797637" y="0"/>
                </a:cubicBezTo>
                <a:cubicBezTo>
                  <a:pt x="1948450" y="-1804"/>
                  <a:pt x="2058582" y="8185"/>
                  <a:pt x="2201783" y="0"/>
                </a:cubicBezTo>
                <a:cubicBezTo>
                  <a:pt x="2344984" y="-8185"/>
                  <a:pt x="2546989" y="67223"/>
                  <a:pt x="2776095" y="0"/>
                </a:cubicBezTo>
                <a:cubicBezTo>
                  <a:pt x="3005201" y="-67223"/>
                  <a:pt x="3036691" y="4785"/>
                  <a:pt x="3222782" y="0"/>
                </a:cubicBezTo>
                <a:cubicBezTo>
                  <a:pt x="3408873" y="-4785"/>
                  <a:pt x="3499934" y="35826"/>
                  <a:pt x="3626927" y="0"/>
                </a:cubicBezTo>
                <a:cubicBezTo>
                  <a:pt x="3753921" y="-35826"/>
                  <a:pt x="4236949" y="27302"/>
                  <a:pt x="4456489" y="0"/>
                </a:cubicBezTo>
                <a:cubicBezTo>
                  <a:pt x="4562502" y="21437"/>
                  <a:pt x="4685616" y="98271"/>
                  <a:pt x="4658815" y="202326"/>
                </a:cubicBezTo>
                <a:cubicBezTo>
                  <a:pt x="4699777" y="365515"/>
                  <a:pt x="4655207" y="490933"/>
                  <a:pt x="4658815" y="615059"/>
                </a:cubicBezTo>
                <a:cubicBezTo>
                  <a:pt x="4662423" y="739185"/>
                  <a:pt x="4635272" y="887276"/>
                  <a:pt x="4658815" y="1011606"/>
                </a:cubicBezTo>
                <a:cubicBezTo>
                  <a:pt x="4669788" y="1150168"/>
                  <a:pt x="4587821" y="1233312"/>
                  <a:pt x="4456489" y="1213932"/>
                </a:cubicBezTo>
                <a:cubicBezTo>
                  <a:pt x="4299887" y="1239580"/>
                  <a:pt x="4187456" y="1179398"/>
                  <a:pt x="4052344" y="1213932"/>
                </a:cubicBezTo>
                <a:cubicBezTo>
                  <a:pt x="3917233" y="1248466"/>
                  <a:pt x="3661664" y="1199401"/>
                  <a:pt x="3435490" y="1213932"/>
                </a:cubicBezTo>
                <a:cubicBezTo>
                  <a:pt x="3209316" y="1228463"/>
                  <a:pt x="3082040" y="1205725"/>
                  <a:pt x="2903720" y="1213932"/>
                </a:cubicBezTo>
                <a:cubicBezTo>
                  <a:pt x="2725400" y="1222139"/>
                  <a:pt x="2587397" y="1145467"/>
                  <a:pt x="2286866" y="1213932"/>
                </a:cubicBezTo>
                <a:cubicBezTo>
                  <a:pt x="1986335" y="1282397"/>
                  <a:pt x="1936315" y="1195658"/>
                  <a:pt x="1712554" y="1213932"/>
                </a:cubicBezTo>
                <a:cubicBezTo>
                  <a:pt x="1488793" y="1232206"/>
                  <a:pt x="1435692" y="1196997"/>
                  <a:pt x="1223325" y="1213932"/>
                </a:cubicBezTo>
                <a:cubicBezTo>
                  <a:pt x="1010958" y="1230867"/>
                  <a:pt x="612559" y="1189547"/>
                  <a:pt x="202326" y="1213932"/>
                </a:cubicBezTo>
                <a:cubicBezTo>
                  <a:pt x="90953" y="1230726"/>
                  <a:pt x="13269" y="1111441"/>
                  <a:pt x="0" y="1011606"/>
                </a:cubicBezTo>
                <a:cubicBezTo>
                  <a:pt x="-45144" y="925982"/>
                  <a:pt x="36711" y="708230"/>
                  <a:pt x="0" y="606966"/>
                </a:cubicBezTo>
                <a:cubicBezTo>
                  <a:pt x="-36711" y="505702"/>
                  <a:pt x="11056" y="331283"/>
                  <a:pt x="0" y="202326"/>
                </a:cubicBezTo>
                <a:close/>
              </a:path>
              <a:path w="4658815" h="1213932" stroke="0" extrusionOk="0">
                <a:moveTo>
                  <a:pt x="0" y="202326"/>
                </a:moveTo>
                <a:cubicBezTo>
                  <a:pt x="-4482" y="87820"/>
                  <a:pt x="67944" y="8497"/>
                  <a:pt x="202326" y="0"/>
                </a:cubicBezTo>
                <a:cubicBezTo>
                  <a:pt x="485467" y="-16537"/>
                  <a:pt x="622590" y="33956"/>
                  <a:pt x="819180" y="0"/>
                </a:cubicBezTo>
                <a:cubicBezTo>
                  <a:pt x="1015770" y="-33956"/>
                  <a:pt x="1101224" y="48252"/>
                  <a:pt x="1308408" y="0"/>
                </a:cubicBezTo>
                <a:cubicBezTo>
                  <a:pt x="1515592" y="-48252"/>
                  <a:pt x="1635004" y="50099"/>
                  <a:pt x="1755095" y="0"/>
                </a:cubicBezTo>
                <a:cubicBezTo>
                  <a:pt x="1875186" y="-50099"/>
                  <a:pt x="2191388" y="4252"/>
                  <a:pt x="2329408" y="0"/>
                </a:cubicBezTo>
                <a:cubicBezTo>
                  <a:pt x="2467428" y="-4252"/>
                  <a:pt x="2666761" y="55587"/>
                  <a:pt x="2818636" y="0"/>
                </a:cubicBezTo>
                <a:cubicBezTo>
                  <a:pt x="2970511" y="-55587"/>
                  <a:pt x="3287266" y="29637"/>
                  <a:pt x="3435490" y="0"/>
                </a:cubicBezTo>
                <a:cubicBezTo>
                  <a:pt x="3583714" y="-29637"/>
                  <a:pt x="3683091" y="7055"/>
                  <a:pt x="3882177" y="0"/>
                </a:cubicBezTo>
                <a:cubicBezTo>
                  <a:pt x="4081263" y="-7055"/>
                  <a:pt x="4263947" y="22576"/>
                  <a:pt x="4456489" y="0"/>
                </a:cubicBezTo>
                <a:cubicBezTo>
                  <a:pt x="4580725" y="3004"/>
                  <a:pt x="4652930" y="89632"/>
                  <a:pt x="4658815" y="202326"/>
                </a:cubicBezTo>
                <a:cubicBezTo>
                  <a:pt x="4688865" y="325324"/>
                  <a:pt x="4634746" y="457901"/>
                  <a:pt x="4658815" y="606966"/>
                </a:cubicBezTo>
                <a:cubicBezTo>
                  <a:pt x="4682884" y="756031"/>
                  <a:pt x="4622469" y="844144"/>
                  <a:pt x="4658815" y="1011606"/>
                </a:cubicBezTo>
                <a:cubicBezTo>
                  <a:pt x="4670900" y="1138151"/>
                  <a:pt x="4586142" y="1198250"/>
                  <a:pt x="4456489" y="1213932"/>
                </a:cubicBezTo>
                <a:cubicBezTo>
                  <a:pt x="4305302" y="1251813"/>
                  <a:pt x="4166599" y="1175047"/>
                  <a:pt x="3924719" y="1213932"/>
                </a:cubicBezTo>
                <a:cubicBezTo>
                  <a:pt x="3682839" y="1252817"/>
                  <a:pt x="3636809" y="1211537"/>
                  <a:pt x="3392948" y="1213932"/>
                </a:cubicBezTo>
                <a:cubicBezTo>
                  <a:pt x="3149087" y="1216327"/>
                  <a:pt x="3019653" y="1187995"/>
                  <a:pt x="2776095" y="1213932"/>
                </a:cubicBezTo>
                <a:cubicBezTo>
                  <a:pt x="2532537" y="1239869"/>
                  <a:pt x="2374460" y="1202954"/>
                  <a:pt x="2244324" y="1213932"/>
                </a:cubicBezTo>
                <a:cubicBezTo>
                  <a:pt x="2114188" y="1224910"/>
                  <a:pt x="2039497" y="1172031"/>
                  <a:pt x="1840179" y="1213932"/>
                </a:cubicBezTo>
                <a:cubicBezTo>
                  <a:pt x="1640861" y="1255833"/>
                  <a:pt x="1583331" y="1207787"/>
                  <a:pt x="1393492" y="1213932"/>
                </a:cubicBezTo>
                <a:cubicBezTo>
                  <a:pt x="1203653" y="1220077"/>
                  <a:pt x="914863" y="1201446"/>
                  <a:pt x="776638" y="1213932"/>
                </a:cubicBezTo>
                <a:cubicBezTo>
                  <a:pt x="638413" y="1226418"/>
                  <a:pt x="437328" y="1174067"/>
                  <a:pt x="202326" y="1213932"/>
                </a:cubicBezTo>
                <a:cubicBezTo>
                  <a:pt x="93009" y="1218734"/>
                  <a:pt x="-19492" y="1133627"/>
                  <a:pt x="0" y="1011606"/>
                </a:cubicBezTo>
                <a:cubicBezTo>
                  <a:pt x="-34041" y="867494"/>
                  <a:pt x="19408" y="757014"/>
                  <a:pt x="0" y="598873"/>
                </a:cubicBezTo>
                <a:cubicBezTo>
                  <a:pt x="-19408" y="440732"/>
                  <a:pt x="27962" y="330545"/>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03D777F-D3E8-D744-4DEF-24AD7856E762}"/>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DD58DDA8-6876-E0AE-8F89-381FAC6BAB65}"/>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6D8D20BF-2A80-93AB-ED2E-578DDAE30605}"/>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61BEF6D6-7F50-3474-3C68-6B377887AF8D}"/>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3A5C3FE4-F006-BB31-9D4D-DC6DCC7D9793}"/>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1C8BC007-EF9F-C19A-5B1A-73340A3AABD0}"/>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C25B29ED-040B-60F9-E404-67AA8B15DB43}"/>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009595"/>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8491-5CC0-F458-8C52-AD9ED97CFC5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BF42178-8D05-1E52-C3DF-AD000D2DB441}"/>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13B306A-69EB-6385-B029-06F97A345912}"/>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171BF48-CB24-D447-3EC6-0EC13DF6ADAC}"/>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EE84CE14-AF67-E732-C1A2-0F030DD9D5AB}"/>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3" name="Rounded Rectangle 2">
            <a:extLst>
              <a:ext uri="{FF2B5EF4-FFF2-40B4-BE49-F238E27FC236}">
                <a16:creationId xmlns:a16="http://schemas.microsoft.com/office/drawing/2014/main" id="{DBF43B3E-FBFD-0D0E-E41F-CDCEAE3DE379}"/>
              </a:ext>
            </a:extLst>
          </p:cNvPr>
          <p:cNvSpPr/>
          <p:nvPr/>
        </p:nvSpPr>
        <p:spPr>
          <a:xfrm>
            <a:off x="472966" y="4755944"/>
            <a:ext cx="4482094" cy="1213932"/>
          </a:xfrm>
          <a:custGeom>
            <a:avLst/>
            <a:gdLst>
              <a:gd name="csX0" fmla="*/ 0 w 4482094"/>
              <a:gd name="csY0" fmla="*/ 202326 h 1213932"/>
              <a:gd name="csX1" fmla="*/ 202326 w 4482094"/>
              <a:gd name="csY1" fmla="*/ 0 h 1213932"/>
              <a:gd name="csX2" fmla="*/ 703269 w 4482094"/>
              <a:gd name="csY2" fmla="*/ 0 h 1213932"/>
              <a:gd name="csX3" fmla="*/ 1163437 w 4482094"/>
              <a:gd name="csY3" fmla="*/ 0 h 1213932"/>
              <a:gd name="csX4" fmla="*/ 1705155 w 4482094"/>
              <a:gd name="csY4" fmla="*/ 0 h 1213932"/>
              <a:gd name="csX5" fmla="*/ 2328421 w 4482094"/>
              <a:gd name="csY5" fmla="*/ 0 h 1213932"/>
              <a:gd name="csX6" fmla="*/ 2992461 w 4482094"/>
              <a:gd name="csY6" fmla="*/ 0 h 1213932"/>
              <a:gd name="csX7" fmla="*/ 3534179 w 4482094"/>
              <a:gd name="csY7" fmla="*/ 0 h 1213932"/>
              <a:gd name="csX8" fmla="*/ 4279768 w 4482094"/>
              <a:gd name="csY8" fmla="*/ 0 h 1213932"/>
              <a:gd name="csX9" fmla="*/ 4482094 w 4482094"/>
              <a:gd name="csY9" fmla="*/ 202326 h 1213932"/>
              <a:gd name="csX10" fmla="*/ 4482094 w 4482094"/>
              <a:gd name="csY10" fmla="*/ 598873 h 1213932"/>
              <a:gd name="csX11" fmla="*/ 4482094 w 4482094"/>
              <a:gd name="csY11" fmla="*/ 1011606 h 1213932"/>
              <a:gd name="csX12" fmla="*/ 4279768 w 4482094"/>
              <a:gd name="csY12" fmla="*/ 1213932 h 1213932"/>
              <a:gd name="csX13" fmla="*/ 3615727 w 4482094"/>
              <a:gd name="csY13" fmla="*/ 1213932 h 1213932"/>
              <a:gd name="csX14" fmla="*/ 2992461 w 4482094"/>
              <a:gd name="csY14" fmla="*/ 1213932 h 1213932"/>
              <a:gd name="csX15" fmla="*/ 2369195 w 4482094"/>
              <a:gd name="csY15" fmla="*/ 1213932 h 1213932"/>
              <a:gd name="csX16" fmla="*/ 1909027 w 4482094"/>
              <a:gd name="csY16" fmla="*/ 1213932 h 1213932"/>
              <a:gd name="csX17" fmla="*/ 1448858 w 4482094"/>
              <a:gd name="csY17" fmla="*/ 1213932 h 1213932"/>
              <a:gd name="csX18" fmla="*/ 988690 w 4482094"/>
              <a:gd name="csY18" fmla="*/ 1213932 h 1213932"/>
              <a:gd name="csX19" fmla="*/ 202326 w 4482094"/>
              <a:gd name="csY19" fmla="*/ 1213932 h 1213932"/>
              <a:gd name="csX20" fmla="*/ 0 w 4482094"/>
              <a:gd name="csY20" fmla="*/ 1011606 h 1213932"/>
              <a:gd name="csX21" fmla="*/ 0 w 4482094"/>
              <a:gd name="csY21" fmla="*/ 623152 h 1213932"/>
              <a:gd name="csX22" fmla="*/ 0 w 4482094"/>
              <a:gd name="csY22"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82094" h="1213932" fill="none" extrusionOk="0">
                <a:moveTo>
                  <a:pt x="0" y="202326"/>
                </a:moveTo>
                <a:cubicBezTo>
                  <a:pt x="26695" y="78017"/>
                  <a:pt x="75354" y="6686"/>
                  <a:pt x="202326" y="0"/>
                </a:cubicBezTo>
                <a:cubicBezTo>
                  <a:pt x="310846" y="-50018"/>
                  <a:pt x="593216" y="34946"/>
                  <a:pt x="703269" y="0"/>
                </a:cubicBezTo>
                <a:cubicBezTo>
                  <a:pt x="813322" y="-34946"/>
                  <a:pt x="955403" y="25942"/>
                  <a:pt x="1163437" y="0"/>
                </a:cubicBezTo>
                <a:cubicBezTo>
                  <a:pt x="1371471" y="-25942"/>
                  <a:pt x="1593315" y="40294"/>
                  <a:pt x="1705155" y="0"/>
                </a:cubicBezTo>
                <a:cubicBezTo>
                  <a:pt x="1816995" y="-40294"/>
                  <a:pt x="2122609" y="42548"/>
                  <a:pt x="2328421" y="0"/>
                </a:cubicBezTo>
                <a:cubicBezTo>
                  <a:pt x="2534233" y="-42548"/>
                  <a:pt x="2780578" y="59133"/>
                  <a:pt x="2992461" y="0"/>
                </a:cubicBezTo>
                <a:cubicBezTo>
                  <a:pt x="3204344" y="-59133"/>
                  <a:pt x="3421836" y="36180"/>
                  <a:pt x="3534179" y="0"/>
                </a:cubicBezTo>
                <a:cubicBezTo>
                  <a:pt x="3646522" y="-36180"/>
                  <a:pt x="4090705" y="35347"/>
                  <a:pt x="4279768" y="0"/>
                </a:cubicBezTo>
                <a:cubicBezTo>
                  <a:pt x="4374039" y="17153"/>
                  <a:pt x="4478954" y="94594"/>
                  <a:pt x="4482094" y="202326"/>
                </a:cubicBezTo>
                <a:cubicBezTo>
                  <a:pt x="4499112" y="317165"/>
                  <a:pt x="4466703" y="476425"/>
                  <a:pt x="4482094" y="598873"/>
                </a:cubicBezTo>
                <a:cubicBezTo>
                  <a:pt x="4497485" y="721321"/>
                  <a:pt x="4433159" y="915363"/>
                  <a:pt x="4482094" y="1011606"/>
                </a:cubicBezTo>
                <a:cubicBezTo>
                  <a:pt x="4500655" y="1107200"/>
                  <a:pt x="4371140" y="1231747"/>
                  <a:pt x="4279768" y="1213932"/>
                </a:cubicBezTo>
                <a:cubicBezTo>
                  <a:pt x="3949763" y="1262404"/>
                  <a:pt x="3886087" y="1171221"/>
                  <a:pt x="3615727" y="1213932"/>
                </a:cubicBezTo>
                <a:cubicBezTo>
                  <a:pt x="3345367" y="1256643"/>
                  <a:pt x="3188927" y="1158815"/>
                  <a:pt x="2992461" y="1213932"/>
                </a:cubicBezTo>
                <a:cubicBezTo>
                  <a:pt x="2795995" y="1269049"/>
                  <a:pt x="2642429" y="1202278"/>
                  <a:pt x="2369195" y="1213932"/>
                </a:cubicBezTo>
                <a:cubicBezTo>
                  <a:pt x="2095961" y="1225586"/>
                  <a:pt x="2124900" y="1207898"/>
                  <a:pt x="1909027" y="1213932"/>
                </a:cubicBezTo>
                <a:cubicBezTo>
                  <a:pt x="1693154" y="1219966"/>
                  <a:pt x="1674914" y="1164025"/>
                  <a:pt x="1448858" y="1213932"/>
                </a:cubicBezTo>
                <a:cubicBezTo>
                  <a:pt x="1222802" y="1263839"/>
                  <a:pt x="1114471" y="1165257"/>
                  <a:pt x="988690" y="1213932"/>
                </a:cubicBezTo>
                <a:cubicBezTo>
                  <a:pt x="862909" y="1262607"/>
                  <a:pt x="434083" y="1185791"/>
                  <a:pt x="202326" y="1213932"/>
                </a:cubicBezTo>
                <a:cubicBezTo>
                  <a:pt x="103782" y="1218548"/>
                  <a:pt x="15230" y="1124784"/>
                  <a:pt x="0" y="1011606"/>
                </a:cubicBezTo>
                <a:cubicBezTo>
                  <a:pt x="-5740" y="817584"/>
                  <a:pt x="4281" y="721549"/>
                  <a:pt x="0" y="623152"/>
                </a:cubicBezTo>
                <a:cubicBezTo>
                  <a:pt x="-4281" y="524755"/>
                  <a:pt x="41708" y="293725"/>
                  <a:pt x="0" y="202326"/>
                </a:cubicBezTo>
                <a:close/>
              </a:path>
              <a:path w="4482094" h="1213932" stroke="0" extrusionOk="0">
                <a:moveTo>
                  <a:pt x="0" y="202326"/>
                </a:moveTo>
                <a:cubicBezTo>
                  <a:pt x="-16723" y="104191"/>
                  <a:pt x="101543" y="-28700"/>
                  <a:pt x="202326" y="0"/>
                </a:cubicBezTo>
                <a:cubicBezTo>
                  <a:pt x="436127" y="-38849"/>
                  <a:pt x="523360" y="22818"/>
                  <a:pt x="784818" y="0"/>
                </a:cubicBezTo>
                <a:cubicBezTo>
                  <a:pt x="1046276" y="-22818"/>
                  <a:pt x="1235129" y="60004"/>
                  <a:pt x="1448858" y="0"/>
                </a:cubicBezTo>
                <a:cubicBezTo>
                  <a:pt x="1662587" y="-60004"/>
                  <a:pt x="1803950" y="17905"/>
                  <a:pt x="1909027" y="0"/>
                </a:cubicBezTo>
                <a:cubicBezTo>
                  <a:pt x="2014104" y="-17905"/>
                  <a:pt x="2245709" y="15579"/>
                  <a:pt x="2369195" y="0"/>
                </a:cubicBezTo>
                <a:cubicBezTo>
                  <a:pt x="2492681" y="-15579"/>
                  <a:pt x="2662699" y="41827"/>
                  <a:pt x="2910912" y="0"/>
                </a:cubicBezTo>
                <a:cubicBezTo>
                  <a:pt x="3159125" y="-41827"/>
                  <a:pt x="3274654" y="25262"/>
                  <a:pt x="3493404" y="0"/>
                </a:cubicBezTo>
                <a:cubicBezTo>
                  <a:pt x="3712154" y="-25262"/>
                  <a:pt x="4011493" y="69021"/>
                  <a:pt x="4279768" y="0"/>
                </a:cubicBezTo>
                <a:cubicBezTo>
                  <a:pt x="4400494" y="30317"/>
                  <a:pt x="4459968" y="67561"/>
                  <a:pt x="4482094" y="202326"/>
                </a:cubicBezTo>
                <a:cubicBezTo>
                  <a:pt x="4512683" y="389701"/>
                  <a:pt x="4438350" y="470058"/>
                  <a:pt x="4482094" y="598873"/>
                </a:cubicBezTo>
                <a:cubicBezTo>
                  <a:pt x="4525838" y="727688"/>
                  <a:pt x="4439543" y="818110"/>
                  <a:pt x="4482094" y="1011606"/>
                </a:cubicBezTo>
                <a:cubicBezTo>
                  <a:pt x="4501699" y="1146361"/>
                  <a:pt x="4403210" y="1213086"/>
                  <a:pt x="4279768" y="1213932"/>
                </a:cubicBezTo>
                <a:cubicBezTo>
                  <a:pt x="4053273" y="1262350"/>
                  <a:pt x="3993693" y="1199585"/>
                  <a:pt x="3819600" y="1213932"/>
                </a:cubicBezTo>
                <a:cubicBezTo>
                  <a:pt x="3645507" y="1228279"/>
                  <a:pt x="3564206" y="1206396"/>
                  <a:pt x="3359431" y="1213932"/>
                </a:cubicBezTo>
                <a:cubicBezTo>
                  <a:pt x="3154656" y="1221468"/>
                  <a:pt x="3031699" y="1166407"/>
                  <a:pt x="2899263" y="1213932"/>
                </a:cubicBezTo>
                <a:cubicBezTo>
                  <a:pt x="2766827" y="1261457"/>
                  <a:pt x="2645038" y="1211015"/>
                  <a:pt x="2439094" y="1213932"/>
                </a:cubicBezTo>
                <a:cubicBezTo>
                  <a:pt x="2233150" y="1216849"/>
                  <a:pt x="2142178" y="1158375"/>
                  <a:pt x="1856602" y="1213932"/>
                </a:cubicBezTo>
                <a:cubicBezTo>
                  <a:pt x="1571026" y="1269489"/>
                  <a:pt x="1587404" y="1184297"/>
                  <a:pt x="1396434" y="1213932"/>
                </a:cubicBezTo>
                <a:cubicBezTo>
                  <a:pt x="1205464" y="1243567"/>
                  <a:pt x="999372" y="1142548"/>
                  <a:pt x="732393" y="1213932"/>
                </a:cubicBezTo>
                <a:cubicBezTo>
                  <a:pt x="465414" y="1285316"/>
                  <a:pt x="429827" y="1204260"/>
                  <a:pt x="202326" y="1213932"/>
                </a:cubicBezTo>
                <a:cubicBezTo>
                  <a:pt x="98367" y="1220249"/>
                  <a:pt x="15313" y="1128582"/>
                  <a:pt x="0" y="1011606"/>
                </a:cubicBezTo>
                <a:cubicBezTo>
                  <a:pt x="-22348" y="922605"/>
                  <a:pt x="18797" y="799667"/>
                  <a:pt x="0" y="615059"/>
                </a:cubicBezTo>
                <a:cubicBezTo>
                  <a:pt x="-18797" y="430451"/>
                  <a:pt x="27808" y="389567"/>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247587333">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9F8CA6B4-FA51-63DB-FAA8-25BD9B9E763E}"/>
              </a:ext>
            </a:extLst>
          </p:cNvPr>
          <p:cNvSpPr/>
          <p:nvPr/>
        </p:nvSpPr>
        <p:spPr>
          <a:xfrm>
            <a:off x="6615105" y="4696264"/>
            <a:ext cx="4658815" cy="1213932"/>
          </a:xfrm>
          <a:custGeom>
            <a:avLst/>
            <a:gdLst>
              <a:gd name="csX0" fmla="*/ 0 w 4658815"/>
              <a:gd name="csY0" fmla="*/ 202326 h 1213932"/>
              <a:gd name="csX1" fmla="*/ 202326 w 4658815"/>
              <a:gd name="csY1" fmla="*/ 0 h 1213932"/>
              <a:gd name="csX2" fmla="*/ 776638 w 4658815"/>
              <a:gd name="csY2" fmla="*/ 0 h 1213932"/>
              <a:gd name="csX3" fmla="*/ 1223325 w 4658815"/>
              <a:gd name="csY3" fmla="*/ 0 h 1213932"/>
              <a:gd name="csX4" fmla="*/ 1797637 w 4658815"/>
              <a:gd name="csY4" fmla="*/ 0 h 1213932"/>
              <a:gd name="csX5" fmla="*/ 2201783 w 4658815"/>
              <a:gd name="csY5" fmla="*/ 0 h 1213932"/>
              <a:gd name="csX6" fmla="*/ 2776095 w 4658815"/>
              <a:gd name="csY6" fmla="*/ 0 h 1213932"/>
              <a:gd name="csX7" fmla="*/ 3222782 w 4658815"/>
              <a:gd name="csY7" fmla="*/ 0 h 1213932"/>
              <a:gd name="csX8" fmla="*/ 3626927 w 4658815"/>
              <a:gd name="csY8" fmla="*/ 0 h 1213932"/>
              <a:gd name="csX9" fmla="*/ 4456489 w 4658815"/>
              <a:gd name="csY9" fmla="*/ 0 h 1213932"/>
              <a:gd name="csX10" fmla="*/ 4658815 w 4658815"/>
              <a:gd name="csY10" fmla="*/ 202326 h 1213932"/>
              <a:gd name="csX11" fmla="*/ 4658815 w 4658815"/>
              <a:gd name="csY11" fmla="*/ 615059 h 1213932"/>
              <a:gd name="csX12" fmla="*/ 4658815 w 4658815"/>
              <a:gd name="csY12" fmla="*/ 1011606 h 1213932"/>
              <a:gd name="csX13" fmla="*/ 4456489 w 4658815"/>
              <a:gd name="csY13" fmla="*/ 1213932 h 1213932"/>
              <a:gd name="csX14" fmla="*/ 4052344 w 4658815"/>
              <a:gd name="csY14" fmla="*/ 1213932 h 1213932"/>
              <a:gd name="csX15" fmla="*/ 3435490 w 4658815"/>
              <a:gd name="csY15" fmla="*/ 1213932 h 1213932"/>
              <a:gd name="csX16" fmla="*/ 2903720 w 4658815"/>
              <a:gd name="csY16" fmla="*/ 1213932 h 1213932"/>
              <a:gd name="csX17" fmla="*/ 2286866 w 4658815"/>
              <a:gd name="csY17" fmla="*/ 1213932 h 1213932"/>
              <a:gd name="csX18" fmla="*/ 1712554 w 4658815"/>
              <a:gd name="csY18" fmla="*/ 1213932 h 1213932"/>
              <a:gd name="csX19" fmla="*/ 1223325 w 4658815"/>
              <a:gd name="csY19" fmla="*/ 1213932 h 1213932"/>
              <a:gd name="csX20" fmla="*/ 202326 w 4658815"/>
              <a:gd name="csY20" fmla="*/ 1213932 h 1213932"/>
              <a:gd name="csX21" fmla="*/ 0 w 4658815"/>
              <a:gd name="csY21" fmla="*/ 1011606 h 1213932"/>
              <a:gd name="csX22" fmla="*/ 0 w 4658815"/>
              <a:gd name="csY22" fmla="*/ 606966 h 1213932"/>
              <a:gd name="csX23" fmla="*/ 0 w 4658815"/>
              <a:gd name="csY23"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658815" h="1213932" fill="none" extrusionOk="0">
                <a:moveTo>
                  <a:pt x="0" y="202326"/>
                </a:moveTo>
                <a:cubicBezTo>
                  <a:pt x="-13865" y="118417"/>
                  <a:pt x="86826" y="-4987"/>
                  <a:pt x="202326" y="0"/>
                </a:cubicBezTo>
                <a:cubicBezTo>
                  <a:pt x="461530" y="-6300"/>
                  <a:pt x="508999" y="20240"/>
                  <a:pt x="776638" y="0"/>
                </a:cubicBezTo>
                <a:cubicBezTo>
                  <a:pt x="1044277" y="-20240"/>
                  <a:pt x="1043875" y="3992"/>
                  <a:pt x="1223325" y="0"/>
                </a:cubicBezTo>
                <a:cubicBezTo>
                  <a:pt x="1402775" y="-3992"/>
                  <a:pt x="1646824" y="1804"/>
                  <a:pt x="1797637" y="0"/>
                </a:cubicBezTo>
                <a:cubicBezTo>
                  <a:pt x="1948450" y="-1804"/>
                  <a:pt x="2058582" y="8185"/>
                  <a:pt x="2201783" y="0"/>
                </a:cubicBezTo>
                <a:cubicBezTo>
                  <a:pt x="2344984" y="-8185"/>
                  <a:pt x="2546989" y="67223"/>
                  <a:pt x="2776095" y="0"/>
                </a:cubicBezTo>
                <a:cubicBezTo>
                  <a:pt x="3005201" y="-67223"/>
                  <a:pt x="3036691" y="4785"/>
                  <a:pt x="3222782" y="0"/>
                </a:cubicBezTo>
                <a:cubicBezTo>
                  <a:pt x="3408873" y="-4785"/>
                  <a:pt x="3499934" y="35826"/>
                  <a:pt x="3626927" y="0"/>
                </a:cubicBezTo>
                <a:cubicBezTo>
                  <a:pt x="3753921" y="-35826"/>
                  <a:pt x="4236949" y="27302"/>
                  <a:pt x="4456489" y="0"/>
                </a:cubicBezTo>
                <a:cubicBezTo>
                  <a:pt x="4562502" y="21437"/>
                  <a:pt x="4685616" y="98271"/>
                  <a:pt x="4658815" y="202326"/>
                </a:cubicBezTo>
                <a:cubicBezTo>
                  <a:pt x="4699777" y="365515"/>
                  <a:pt x="4655207" y="490933"/>
                  <a:pt x="4658815" y="615059"/>
                </a:cubicBezTo>
                <a:cubicBezTo>
                  <a:pt x="4662423" y="739185"/>
                  <a:pt x="4635272" y="887276"/>
                  <a:pt x="4658815" y="1011606"/>
                </a:cubicBezTo>
                <a:cubicBezTo>
                  <a:pt x="4669788" y="1150168"/>
                  <a:pt x="4587821" y="1233312"/>
                  <a:pt x="4456489" y="1213932"/>
                </a:cubicBezTo>
                <a:cubicBezTo>
                  <a:pt x="4299887" y="1239580"/>
                  <a:pt x="4187456" y="1179398"/>
                  <a:pt x="4052344" y="1213932"/>
                </a:cubicBezTo>
                <a:cubicBezTo>
                  <a:pt x="3917233" y="1248466"/>
                  <a:pt x="3661664" y="1199401"/>
                  <a:pt x="3435490" y="1213932"/>
                </a:cubicBezTo>
                <a:cubicBezTo>
                  <a:pt x="3209316" y="1228463"/>
                  <a:pt x="3082040" y="1205725"/>
                  <a:pt x="2903720" y="1213932"/>
                </a:cubicBezTo>
                <a:cubicBezTo>
                  <a:pt x="2725400" y="1222139"/>
                  <a:pt x="2587397" y="1145467"/>
                  <a:pt x="2286866" y="1213932"/>
                </a:cubicBezTo>
                <a:cubicBezTo>
                  <a:pt x="1986335" y="1282397"/>
                  <a:pt x="1936315" y="1195658"/>
                  <a:pt x="1712554" y="1213932"/>
                </a:cubicBezTo>
                <a:cubicBezTo>
                  <a:pt x="1488793" y="1232206"/>
                  <a:pt x="1435692" y="1196997"/>
                  <a:pt x="1223325" y="1213932"/>
                </a:cubicBezTo>
                <a:cubicBezTo>
                  <a:pt x="1010958" y="1230867"/>
                  <a:pt x="612559" y="1189547"/>
                  <a:pt x="202326" y="1213932"/>
                </a:cubicBezTo>
                <a:cubicBezTo>
                  <a:pt x="90953" y="1230726"/>
                  <a:pt x="13269" y="1111441"/>
                  <a:pt x="0" y="1011606"/>
                </a:cubicBezTo>
                <a:cubicBezTo>
                  <a:pt x="-45144" y="925982"/>
                  <a:pt x="36711" y="708230"/>
                  <a:pt x="0" y="606966"/>
                </a:cubicBezTo>
                <a:cubicBezTo>
                  <a:pt x="-36711" y="505702"/>
                  <a:pt x="11056" y="331283"/>
                  <a:pt x="0" y="202326"/>
                </a:cubicBezTo>
                <a:close/>
              </a:path>
              <a:path w="4658815" h="1213932" stroke="0" extrusionOk="0">
                <a:moveTo>
                  <a:pt x="0" y="202326"/>
                </a:moveTo>
                <a:cubicBezTo>
                  <a:pt x="-4482" y="87820"/>
                  <a:pt x="67944" y="8497"/>
                  <a:pt x="202326" y="0"/>
                </a:cubicBezTo>
                <a:cubicBezTo>
                  <a:pt x="485467" y="-16537"/>
                  <a:pt x="622590" y="33956"/>
                  <a:pt x="819180" y="0"/>
                </a:cubicBezTo>
                <a:cubicBezTo>
                  <a:pt x="1015770" y="-33956"/>
                  <a:pt x="1101224" y="48252"/>
                  <a:pt x="1308408" y="0"/>
                </a:cubicBezTo>
                <a:cubicBezTo>
                  <a:pt x="1515592" y="-48252"/>
                  <a:pt x="1635004" y="50099"/>
                  <a:pt x="1755095" y="0"/>
                </a:cubicBezTo>
                <a:cubicBezTo>
                  <a:pt x="1875186" y="-50099"/>
                  <a:pt x="2191388" y="4252"/>
                  <a:pt x="2329408" y="0"/>
                </a:cubicBezTo>
                <a:cubicBezTo>
                  <a:pt x="2467428" y="-4252"/>
                  <a:pt x="2666761" y="55587"/>
                  <a:pt x="2818636" y="0"/>
                </a:cubicBezTo>
                <a:cubicBezTo>
                  <a:pt x="2970511" y="-55587"/>
                  <a:pt x="3287266" y="29637"/>
                  <a:pt x="3435490" y="0"/>
                </a:cubicBezTo>
                <a:cubicBezTo>
                  <a:pt x="3583714" y="-29637"/>
                  <a:pt x="3683091" y="7055"/>
                  <a:pt x="3882177" y="0"/>
                </a:cubicBezTo>
                <a:cubicBezTo>
                  <a:pt x="4081263" y="-7055"/>
                  <a:pt x="4263947" y="22576"/>
                  <a:pt x="4456489" y="0"/>
                </a:cubicBezTo>
                <a:cubicBezTo>
                  <a:pt x="4580725" y="3004"/>
                  <a:pt x="4652930" y="89632"/>
                  <a:pt x="4658815" y="202326"/>
                </a:cubicBezTo>
                <a:cubicBezTo>
                  <a:pt x="4688865" y="325324"/>
                  <a:pt x="4634746" y="457901"/>
                  <a:pt x="4658815" y="606966"/>
                </a:cubicBezTo>
                <a:cubicBezTo>
                  <a:pt x="4682884" y="756031"/>
                  <a:pt x="4622469" y="844144"/>
                  <a:pt x="4658815" y="1011606"/>
                </a:cubicBezTo>
                <a:cubicBezTo>
                  <a:pt x="4670900" y="1138151"/>
                  <a:pt x="4586142" y="1198250"/>
                  <a:pt x="4456489" y="1213932"/>
                </a:cubicBezTo>
                <a:cubicBezTo>
                  <a:pt x="4305302" y="1251813"/>
                  <a:pt x="4166599" y="1175047"/>
                  <a:pt x="3924719" y="1213932"/>
                </a:cubicBezTo>
                <a:cubicBezTo>
                  <a:pt x="3682839" y="1252817"/>
                  <a:pt x="3636809" y="1211537"/>
                  <a:pt x="3392948" y="1213932"/>
                </a:cubicBezTo>
                <a:cubicBezTo>
                  <a:pt x="3149087" y="1216327"/>
                  <a:pt x="3019653" y="1187995"/>
                  <a:pt x="2776095" y="1213932"/>
                </a:cubicBezTo>
                <a:cubicBezTo>
                  <a:pt x="2532537" y="1239869"/>
                  <a:pt x="2374460" y="1202954"/>
                  <a:pt x="2244324" y="1213932"/>
                </a:cubicBezTo>
                <a:cubicBezTo>
                  <a:pt x="2114188" y="1224910"/>
                  <a:pt x="2039497" y="1172031"/>
                  <a:pt x="1840179" y="1213932"/>
                </a:cubicBezTo>
                <a:cubicBezTo>
                  <a:pt x="1640861" y="1255833"/>
                  <a:pt x="1583331" y="1207787"/>
                  <a:pt x="1393492" y="1213932"/>
                </a:cubicBezTo>
                <a:cubicBezTo>
                  <a:pt x="1203653" y="1220077"/>
                  <a:pt x="914863" y="1201446"/>
                  <a:pt x="776638" y="1213932"/>
                </a:cubicBezTo>
                <a:cubicBezTo>
                  <a:pt x="638413" y="1226418"/>
                  <a:pt x="437328" y="1174067"/>
                  <a:pt x="202326" y="1213932"/>
                </a:cubicBezTo>
                <a:cubicBezTo>
                  <a:pt x="93009" y="1218734"/>
                  <a:pt x="-19492" y="1133627"/>
                  <a:pt x="0" y="1011606"/>
                </a:cubicBezTo>
                <a:cubicBezTo>
                  <a:pt x="-34041" y="867494"/>
                  <a:pt x="19408" y="757014"/>
                  <a:pt x="0" y="598873"/>
                </a:cubicBezTo>
                <a:cubicBezTo>
                  <a:pt x="-19408" y="440732"/>
                  <a:pt x="27962" y="330545"/>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DF6AFA8-94E7-8FA3-5C74-5E447284DF69}"/>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F5BD2CE3-70F8-11B9-7D58-29E170870203}"/>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4780C420-0517-09E3-3306-16FEF5D3971E}"/>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A17BFBDF-5704-7FE3-B059-1EFA7AEB28BE}"/>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BB3688C0-2564-B347-6E66-6E8EFA2EEB20}"/>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27FDCFBB-6F77-3E38-840A-25FE417742F7}"/>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B6929B5A-ACCF-B441-ACD5-3B26045D5CDE}"/>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C171F2CF-42BA-AEE3-8EB7-076D1BD7BE7D}"/>
              </a:ext>
            </a:extLst>
          </p:cNvPr>
          <p:cNvSpPr/>
          <p:nvPr/>
        </p:nvSpPr>
        <p:spPr>
          <a:xfrm>
            <a:off x="3155766" y="5757425"/>
            <a:ext cx="5425726" cy="69545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Specialized Infrastructure used by on-premises financial exchanges</a:t>
            </a:r>
          </a:p>
        </p:txBody>
      </p:sp>
    </p:spTree>
    <p:extLst>
      <p:ext uri="{BB962C8B-B14F-4D97-AF65-F5344CB8AC3E}">
        <p14:creationId xmlns:p14="http://schemas.microsoft.com/office/powerpoint/2010/main" val="326645979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83306-CD41-340E-E289-BE2BD6A0F6F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BEDC353-4BC1-F2DD-5794-8436701EE72B}"/>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42037120-FE8A-DBCE-FD1B-3D1532654AF7}"/>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0B0479C-494E-1D72-B4B2-C7C78BF777AD}"/>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D197B7C2-A3A4-7CC4-20A8-DD6E28D2F59D}"/>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3" name="Rounded Rectangle 2">
            <a:extLst>
              <a:ext uri="{FF2B5EF4-FFF2-40B4-BE49-F238E27FC236}">
                <a16:creationId xmlns:a16="http://schemas.microsoft.com/office/drawing/2014/main" id="{7088CEF2-0FFF-83BF-E570-0728B6DD3A80}"/>
              </a:ext>
            </a:extLst>
          </p:cNvPr>
          <p:cNvSpPr/>
          <p:nvPr/>
        </p:nvSpPr>
        <p:spPr>
          <a:xfrm>
            <a:off x="472966" y="4755944"/>
            <a:ext cx="4482094" cy="1213932"/>
          </a:xfrm>
          <a:custGeom>
            <a:avLst/>
            <a:gdLst>
              <a:gd name="csX0" fmla="*/ 0 w 4482094"/>
              <a:gd name="csY0" fmla="*/ 202326 h 1213932"/>
              <a:gd name="csX1" fmla="*/ 202326 w 4482094"/>
              <a:gd name="csY1" fmla="*/ 0 h 1213932"/>
              <a:gd name="csX2" fmla="*/ 703269 w 4482094"/>
              <a:gd name="csY2" fmla="*/ 0 h 1213932"/>
              <a:gd name="csX3" fmla="*/ 1163437 w 4482094"/>
              <a:gd name="csY3" fmla="*/ 0 h 1213932"/>
              <a:gd name="csX4" fmla="*/ 1705155 w 4482094"/>
              <a:gd name="csY4" fmla="*/ 0 h 1213932"/>
              <a:gd name="csX5" fmla="*/ 2328421 w 4482094"/>
              <a:gd name="csY5" fmla="*/ 0 h 1213932"/>
              <a:gd name="csX6" fmla="*/ 2992461 w 4482094"/>
              <a:gd name="csY6" fmla="*/ 0 h 1213932"/>
              <a:gd name="csX7" fmla="*/ 3534179 w 4482094"/>
              <a:gd name="csY7" fmla="*/ 0 h 1213932"/>
              <a:gd name="csX8" fmla="*/ 4279768 w 4482094"/>
              <a:gd name="csY8" fmla="*/ 0 h 1213932"/>
              <a:gd name="csX9" fmla="*/ 4482094 w 4482094"/>
              <a:gd name="csY9" fmla="*/ 202326 h 1213932"/>
              <a:gd name="csX10" fmla="*/ 4482094 w 4482094"/>
              <a:gd name="csY10" fmla="*/ 598873 h 1213932"/>
              <a:gd name="csX11" fmla="*/ 4482094 w 4482094"/>
              <a:gd name="csY11" fmla="*/ 1011606 h 1213932"/>
              <a:gd name="csX12" fmla="*/ 4279768 w 4482094"/>
              <a:gd name="csY12" fmla="*/ 1213932 h 1213932"/>
              <a:gd name="csX13" fmla="*/ 3615727 w 4482094"/>
              <a:gd name="csY13" fmla="*/ 1213932 h 1213932"/>
              <a:gd name="csX14" fmla="*/ 2992461 w 4482094"/>
              <a:gd name="csY14" fmla="*/ 1213932 h 1213932"/>
              <a:gd name="csX15" fmla="*/ 2369195 w 4482094"/>
              <a:gd name="csY15" fmla="*/ 1213932 h 1213932"/>
              <a:gd name="csX16" fmla="*/ 1909027 w 4482094"/>
              <a:gd name="csY16" fmla="*/ 1213932 h 1213932"/>
              <a:gd name="csX17" fmla="*/ 1448858 w 4482094"/>
              <a:gd name="csY17" fmla="*/ 1213932 h 1213932"/>
              <a:gd name="csX18" fmla="*/ 988690 w 4482094"/>
              <a:gd name="csY18" fmla="*/ 1213932 h 1213932"/>
              <a:gd name="csX19" fmla="*/ 202326 w 4482094"/>
              <a:gd name="csY19" fmla="*/ 1213932 h 1213932"/>
              <a:gd name="csX20" fmla="*/ 0 w 4482094"/>
              <a:gd name="csY20" fmla="*/ 1011606 h 1213932"/>
              <a:gd name="csX21" fmla="*/ 0 w 4482094"/>
              <a:gd name="csY21" fmla="*/ 623152 h 1213932"/>
              <a:gd name="csX22" fmla="*/ 0 w 4482094"/>
              <a:gd name="csY22"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82094" h="1213932" fill="none" extrusionOk="0">
                <a:moveTo>
                  <a:pt x="0" y="202326"/>
                </a:moveTo>
                <a:cubicBezTo>
                  <a:pt x="26695" y="78017"/>
                  <a:pt x="75354" y="6686"/>
                  <a:pt x="202326" y="0"/>
                </a:cubicBezTo>
                <a:cubicBezTo>
                  <a:pt x="310846" y="-50018"/>
                  <a:pt x="593216" y="34946"/>
                  <a:pt x="703269" y="0"/>
                </a:cubicBezTo>
                <a:cubicBezTo>
                  <a:pt x="813322" y="-34946"/>
                  <a:pt x="955403" y="25942"/>
                  <a:pt x="1163437" y="0"/>
                </a:cubicBezTo>
                <a:cubicBezTo>
                  <a:pt x="1371471" y="-25942"/>
                  <a:pt x="1593315" y="40294"/>
                  <a:pt x="1705155" y="0"/>
                </a:cubicBezTo>
                <a:cubicBezTo>
                  <a:pt x="1816995" y="-40294"/>
                  <a:pt x="2122609" y="42548"/>
                  <a:pt x="2328421" y="0"/>
                </a:cubicBezTo>
                <a:cubicBezTo>
                  <a:pt x="2534233" y="-42548"/>
                  <a:pt x="2780578" y="59133"/>
                  <a:pt x="2992461" y="0"/>
                </a:cubicBezTo>
                <a:cubicBezTo>
                  <a:pt x="3204344" y="-59133"/>
                  <a:pt x="3421836" y="36180"/>
                  <a:pt x="3534179" y="0"/>
                </a:cubicBezTo>
                <a:cubicBezTo>
                  <a:pt x="3646522" y="-36180"/>
                  <a:pt x="4090705" y="35347"/>
                  <a:pt x="4279768" y="0"/>
                </a:cubicBezTo>
                <a:cubicBezTo>
                  <a:pt x="4374039" y="17153"/>
                  <a:pt x="4478954" y="94594"/>
                  <a:pt x="4482094" y="202326"/>
                </a:cubicBezTo>
                <a:cubicBezTo>
                  <a:pt x="4499112" y="317165"/>
                  <a:pt x="4466703" y="476425"/>
                  <a:pt x="4482094" y="598873"/>
                </a:cubicBezTo>
                <a:cubicBezTo>
                  <a:pt x="4497485" y="721321"/>
                  <a:pt x="4433159" y="915363"/>
                  <a:pt x="4482094" y="1011606"/>
                </a:cubicBezTo>
                <a:cubicBezTo>
                  <a:pt x="4500655" y="1107200"/>
                  <a:pt x="4371140" y="1231747"/>
                  <a:pt x="4279768" y="1213932"/>
                </a:cubicBezTo>
                <a:cubicBezTo>
                  <a:pt x="3949763" y="1262404"/>
                  <a:pt x="3886087" y="1171221"/>
                  <a:pt x="3615727" y="1213932"/>
                </a:cubicBezTo>
                <a:cubicBezTo>
                  <a:pt x="3345367" y="1256643"/>
                  <a:pt x="3188927" y="1158815"/>
                  <a:pt x="2992461" y="1213932"/>
                </a:cubicBezTo>
                <a:cubicBezTo>
                  <a:pt x="2795995" y="1269049"/>
                  <a:pt x="2642429" y="1202278"/>
                  <a:pt x="2369195" y="1213932"/>
                </a:cubicBezTo>
                <a:cubicBezTo>
                  <a:pt x="2095961" y="1225586"/>
                  <a:pt x="2124900" y="1207898"/>
                  <a:pt x="1909027" y="1213932"/>
                </a:cubicBezTo>
                <a:cubicBezTo>
                  <a:pt x="1693154" y="1219966"/>
                  <a:pt x="1674914" y="1164025"/>
                  <a:pt x="1448858" y="1213932"/>
                </a:cubicBezTo>
                <a:cubicBezTo>
                  <a:pt x="1222802" y="1263839"/>
                  <a:pt x="1114471" y="1165257"/>
                  <a:pt x="988690" y="1213932"/>
                </a:cubicBezTo>
                <a:cubicBezTo>
                  <a:pt x="862909" y="1262607"/>
                  <a:pt x="434083" y="1185791"/>
                  <a:pt x="202326" y="1213932"/>
                </a:cubicBezTo>
                <a:cubicBezTo>
                  <a:pt x="103782" y="1218548"/>
                  <a:pt x="15230" y="1124784"/>
                  <a:pt x="0" y="1011606"/>
                </a:cubicBezTo>
                <a:cubicBezTo>
                  <a:pt x="-5740" y="817584"/>
                  <a:pt x="4281" y="721549"/>
                  <a:pt x="0" y="623152"/>
                </a:cubicBezTo>
                <a:cubicBezTo>
                  <a:pt x="-4281" y="524755"/>
                  <a:pt x="41708" y="293725"/>
                  <a:pt x="0" y="202326"/>
                </a:cubicBezTo>
                <a:close/>
              </a:path>
              <a:path w="4482094" h="1213932" stroke="0" extrusionOk="0">
                <a:moveTo>
                  <a:pt x="0" y="202326"/>
                </a:moveTo>
                <a:cubicBezTo>
                  <a:pt x="-16723" y="104191"/>
                  <a:pt x="101543" y="-28700"/>
                  <a:pt x="202326" y="0"/>
                </a:cubicBezTo>
                <a:cubicBezTo>
                  <a:pt x="436127" y="-38849"/>
                  <a:pt x="523360" y="22818"/>
                  <a:pt x="784818" y="0"/>
                </a:cubicBezTo>
                <a:cubicBezTo>
                  <a:pt x="1046276" y="-22818"/>
                  <a:pt x="1235129" y="60004"/>
                  <a:pt x="1448858" y="0"/>
                </a:cubicBezTo>
                <a:cubicBezTo>
                  <a:pt x="1662587" y="-60004"/>
                  <a:pt x="1803950" y="17905"/>
                  <a:pt x="1909027" y="0"/>
                </a:cubicBezTo>
                <a:cubicBezTo>
                  <a:pt x="2014104" y="-17905"/>
                  <a:pt x="2245709" y="15579"/>
                  <a:pt x="2369195" y="0"/>
                </a:cubicBezTo>
                <a:cubicBezTo>
                  <a:pt x="2492681" y="-15579"/>
                  <a:pt x="2662699" y="41827"/>
                  <a:pt x="2910912" y="0"/>
                </a:cubicBezTo>
                <a:cubicBezTo>
                  <a:pt x="3159125" y="-41827"/>
                  <a:pt x="3274654" y="25262"/>
                  <a:pt x="3493404" y="0"/>
                </a:cubicBezTo>
                <a:cubicBezTo>
                  <a:pt x="3712154" y="-25262"/>
                  <a:pt x="4011493" y="69021"/>
                  <a:pt x="4279768" y="0"/>
                </a:cubicBezTo>
                <a:cubicBezTo>
                  <a:pt x="4400494" y="30317"/>
                  <a:pt x="4459968" y="67561"/>
                  <a:pt x="4482094" y="202326"/>
                </a:cubicBezTo>
                <a:cubicBezTo>
                  <a:pt x="4512683" y="389701"/>
                  <a:pt x="4438350" y="470058"/>
                  <a:pt x="4482094" y="598873"/>
                </a:cubicBezTo>
                <a:cubicBezTo>
                  <a:pt x="4525838" y="727688"/>
                  <a:pt x="4439543" y="818110"/>
                  <a:pt x="4482094" y="1011606"/>
                </a:cubicBezTo>
                <a:cubicBezTo>
                  <a:pt x="4501699" y="1146361"/>
                  <a:pt x="4403210" y="1213086"/>
                  <a:pt x="4279768" y="1213932"/>
                </a:cubicBezTo>
                <a:cubicBezTo>
                  <a:pt x="4053273" y="1262350"/>
                  <a:pt x="3993693" y="1199585"/>
                  <a:pt x="3819600" y="1213932"/>
                </a:cubicBezTo>
                <a:cubicBezTo>
                  <a:pt x="3645507" y="1228279"/>
                  <a:pt x="3564206" y="1206396"/>
                  <a:pt x="3359431" y="1213932"/>
                </a:cubicBezTo>
                <a:cubicBezTo>
                  <a:pt x="3154656" y="1221468"/>
                  <a:pt x="3031699" y="1166407"/>
                  <a:pt x="2899263" y="1213932"/>
                </a:cubicBezTo>
                <a:cubicBezTo>
                  <a:pt x="2766827" y="1261457"/>
                  <a:pt x="2645038" y="1211015"/>
                  <a:pt x="2439094" y="1213932"/>
                </a:cubicBezTo>
                <a:cubicBezTo>
                  <a:pt x="2233150" y="1216849"/>
                  <a:pt x="2142178" y="1158375"/>
                  <a:pt x="1856602" y="1213932"/>
                </a:cubicBezTo>
                <a:cubicBezTo>
                  <a:pt x="1571026" y="1269489"/>
                  <a:pt x="1587404" y="1184297"/>
                  <a:pt x="1396434" y="1213932"/>
                </a:cubicBezTo>
                <a:cubicBezTo>
                  <a:pt x="1205464" y="1243567"/>
                  <a:pt x="999372" y="1142548"/>
                  <a:pt x="732393" y="1213932"/>
                </a:cubicBezTo>
                <a:cubicBezTo>
                  <a:pt x="465414" y="1285316"/>
                  <a:pt x="429827" y="1204260"/>
                  <a:pt x="202326" y="1213932"/>
                </a:cubicBezTo>
                <a:cubicBezTo>
                  <a:pt x="98367" y="1220249"/>
                  <a:pt x="15313" y="1128582"/>
                  <a:pt x="0" y="1011606"/>
                </a:cubicBezTo>
                <a:cubicBezTo>
                  <a:pt x="-22348" y="922605"/>
                  <a:pt x="18797" y="799667"/>
                  <a:pt x="0" y="615059"/>
                </a:cubicBezTo>
                <a:cubicBezTo>
                  <a:pt x="-18797" y="430451"/>
                  <a:pt x="27808" y="389567"/>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247587333">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A0B9AEF3-49AA-2E61-60B5-E8B25CF0FB6D}"/>
              </a:ext>
            </a:extLst>
          </p:cNvPr>
          <p:cNvSpPr/>
          <p:nvPr/>
        </p:nvSpPr>
        <p:spPr>
          <a:xfrm>
            <a:off x="6615105" y="4696264"/>
            <a:ext cx="4658815" cy="1213932"/>
          </a:xfrm>
          <a:custGeom>
            <a:avLst/>
            <a:gdLst>
              <a:gd name="csX0" fmla="*/ 0 w 4658815"/>
              <a:gd name="csY0" fmla="*/ 202326 h 1213932"/>
              <a:gd name="csX1" fmla="*/ 202326 w 4658815"/>
              <a:gd name="csY1" fmla="*/ 0 h 1213932"/>
              <a:gd name="csX2" fmla="*/ 776638 w 4658815"/>
              <a:gd name="csY2" fmla="*/ 0 h 1213932"/>
              <a:gd name="csX3" fmla="*/ 1223325 w 4658815"/>
              <a:gd name="csY3" fmla="*/ 0 h 1213932"/>
              <a:gd name="csX4" fmla="*/ 1797637 w 4658815"/>
              <a:gd name="csY4" fmla="*/ 0 h 1213932"/>
              <a:gd name="csX5" fmla="*/ 2201783 w 4658815"/>
              <a:gd name="csY5" fmla="*/ 0 h 1213932"/>
              <a:gd name="csX6" fmla="*/ 2776095 w 4658815"/>
              <a:gd name="csY6" fmla="*/ 0 h 1213932"/>
              <a:gd name="csX7" fmla="*/ 3222782 w 4658815"/>
              <a:gd name="csY7" fmla="*/ 0 h 1213932"/>
              <a:gd name="csX8" fmla="*/ 3626927 w 4658815"/>
              <a:gd name="csY8" fmla="*/ 0 h 1213932"/>
              <a:gd name="csX9" fmla="*/ 4456489 w 4658815"/>
              <a:gd name="csY9" fmla="*/ 0 h 1213932"/>
              <a:gd name="csX10" fmla="*/ 4658815 w 4658815"/>
              <a:gd name="csY10" fmla="*/ 202326 h 1213932"/>
              <a:gd name="csX11" fmla="*/ 4658815 w 4658815"/>
              <a:gd name="csY11" fmla="*/ 615059 h 1213932"/>
              <a:gd name="csX12" fmla="*/ 4658815 w 4658815"/>
              <a:gd name="csY12" fmla="*/ 1011606 h 1213932"/>
              <a:gd name="csX13" fmla="*/ 4456489 w 4658815"/>
              <a:gd name="csY13" fmla="*/ 1213932 h 1213932"/>
              <a:gd name="csX14" fmla="*/ 4052344 w 4658815"/>
              <a:gd name="csY14" fmla="*/ 1213932 h 1213932"/>
              <a:gd name="csX15" fmla="*/ 3435490 w 4658815"/>
              <a:gd name="csY15" fmla="*/ 1213932 h 1213932"/>
              <a:gd name="csX16" fmla="*/ 2903720 w 4658815"/>
              <a:gd name="csY16" fmla="*/ 1213932 h 1213932"/>
              <a:gd name="csX17" fmla="*/ 2286866 w 4658815"/>
              <a:gd name="csY17" fmla="*/ 1213932 h 1213932"/>
              <a:gd name="csX18" fmla="*/ 1712554 w 4658815"/>
              <a:gd name="csY18" fmla="*/ 1213932 h 1213932"/>
              <a:gd name="csX19" fmla="*/ 1223325 w 4658815"/>
              <a:gd name="csY19" fmla="*/ 1213932 h 1213932"/>
              <a:gd name="csX20" fmla="*/ 202326 w 4658815"/>
              <a:gd name="csY20" fmla="*/ 1213932 h 1213932"/>
              <a:gd name="csX21" fmla="*/ 0 w 4658815"/>
              <a:gd name="csY21" fmla="*/ 1011606 h 1213932"/>
              <a:gd name="csX22" fmla="*/ 0 w 4658815"/>
              <a:gd name="csY22" fmla="*/ 606966 h 1213932"/>
              <a:gd name="csX23" fmla="*/ 0 w 4658815"/>
              <a:gd name="csY23"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658815" h="1213932" fill="none" extrusionOk="0">
                <a:moveTo>
                  <a:pt x="0" y="202326"/>
                </a:moveTo>
                <a:cubicBezTo>
                  <a:pt x="-13865" y="118417"/>
                  <a:pt x="86826" y="-4987"/>
                  <a:pt x="202326" y="0"/>
                </a:cubicBezTo>
                <a:cubicBezTo>
                  <a:pt x="461530" y="-6300"/>
                  <a:pt x="508999" y="20240"/>
                  <a:pt x="776638" y="0"/>
                </a:cubicBezTo>
                <a:cubicBezTo>
                  <a:pt x="1044277" y="-20240"/>
                  <a:pt x="1043875" y="3992"/>
                  <a:pt x="1223325" y="0"/>
                </a:cubicBezTo>
                <a:cubicBezTo>
                  <a:pt x="1402775" y="-3992"/>
                  <a:pt x="1646824" y="1804"/>
                  <a:pt x="1797637" y="0"/>
                </a:cubicBezTo>
                <a:cubicBezTo>
                  <a:pt x="1948450" y="-1804"/>
                  <a:pt x="2058582" y="8185"/>
                  <a:pt x="2201783" y="0"/>
                </a:cubicBezTo>
                <a:cubicBezTo>
                  <a:pt x="2344984" y="-8185"/>
                  <a:pt x="2546989" y="67223"/>
                  <a:pt x="2776095" y="0"/>
                </a:cubicBezTo>
                <a:cubicBezTo>
                  <a:pt x="3005201" y="-67223"/>
                  <a:pt x="3036691" y="4785"/>
                  <a:pt x="3222782" y="0"/>
                </a:cubicBezTo>
                <a:cubicBezTo>
                  <a:pt x="3408873" y="-4785"/>
                  <a:pt x="3499934" y="35826"/>
                  <a:pt x="3626927" y="0"/>
                </a:cubicBezTo>
                <a:cubicBezTo>
                  <a:pt x="3753921" y="-35826"/>
                  <a:pt x="4236949" y="27302"/>
                  <a:pt x="4456489" y="0"/>
                </a:cubicBezTo>
                <a:cubicBezTo>
                  <a:pt x="4562502" y="21437"/>
                  <a:pt x="4685616" y="98271"/>
                  <a:pt x="4658815" y="202326"/>
                </a:cubicBezTo>
                <a:cubicBezTo>
                  <a:pt x="4699777" y="365515"/>
                  <a:pt x="4655207" y="490933"/>
                  <a:pt x="4658815" y="615059"/>
                </a:cubicBezTo>
                <a:cubicBezTo>
                  <a:pt x="4662423" y="739185"/>
                  <a:pt x="4635272" y="887276"/>
                  <a:pt x="4658815" y="1011606"/>
                </a:cubicBezTo>
                <a:cubicBezTo>
                  <a:pt x="4669788" y="1150168"/>
                  <a:pt x="4587821" y="1233312"/>
                  <a:pt x="4456489" y="1213932"/>
                </a:cubicBezTo>
                <a:cubicBezTo>
                  <a:pt x="4299887" y="1239580"/>
                  <a:pt x="4187456" y="1179398"/>
                  <a:pt x="4052344" y="1213932"/>
                </a:cubicBezTo>
                <a:cubicBezTo>
                  <a:pt x="3917233" y="1248466"/>
                  <a:pt x="3661664" y="1199401"/>
                  <a:pt x="3435490" y="1213932"/>
                </a:cubicBezTo>
                <a:cubicBezTo>
                  <a:pt x="3209316" y="1228463"/>
                  <a:pt x="3082040" y="1205725"/>
                  <a:pt x="2903720" y="1213932"/>
                </a:cubicBezTo>
                <a:cubicBezTo>
                  <a:pt x="2725400" y="1222139"/>
                  <a:pt x="2587397" y="1145467"/>
                  <a:pt x="2286866" y="1213932"/>
                </a:cubicBezTo>
                <a:cubicBezTo>
                  <a:pt x="1986335" y="1282397"/>
                  <a:pt x="1936315" y="1195658"/>
                  <a:pt x="1712554" y="1213932"/>
                </a:cubicBezTo>
                <a:cubicBezTo>
                  <a:pt x="1488793" y="1232206"/>
                  <a:pt x="1435692" y="1196997"/>
                  <a:pt x="1223325" y="1213932"/>
                </a:cubicBezTo>
                <a:cubicBezTo>
                  <a:pt x="1010958" y="1230867"/>
                  <a:pt x="612559" y="1189547"/>
                  <a:pt x="202326" y="1213932"/>
                </a:cubicBezTo>
                <a:cubicBezTo>
                  <a:pt x="90953" y="1230726"/>
                  <a:pt x="13269" y="1111441"/>
                  <a:pt x="0" y="1011606"/>
                </a:cubicBezTo>
                <a:cubicBezTo>
                  <a:pt x="-45144" y="925982"/>
                  <a:pt x="36711" y="708230"/>
                  <a:pt x="0" y="606966"/>
                </a:cubicBezTo>
                <a:cubicBezTo>
                  <a:pt x="-36711" y="505702"/>
                  <a:pt x="11056" y="331283"/>
                  <a:pt x="0" y="202326"/>
                </a:cubicBezTo>
                <a:close/>
              </a:path>
              <a:path w="4658815" h="1213932" stroke="0" extrusionOk="0">
                <a:moveTo>
                  <a:pt x="0" y="202326"/>
                </a:moveTo>
                <a:cubicBezTo>
                  <a:pt x="-4482" y="87820"/>
                  <a:pt x="67944" y="8497"/>
                  <a:pt x="202326" y="0"/>
                </a:cubicBezTo>
                <a:cubicBezTo>
                  <a:pt x="485467" y="-16537"/>
                  <a:pt x="622590" y="33956"/>
                  <a:pt x="819180" y="0"/>
                </a:cubicBezTo>
                <a:cubicBezTo>
                  <a:pt x="1015770" y="-33956"/>
                  <a:pt x="1101224" y="48252"/>
                  <a:pt x="1308408" y="0"/>
                </a:cubicBezTo>
                <a:cubicBezTo>
                  <a:pt x="1515592" y="-48252"/>
                  <a:pt x="1635004" y="50099"/>
                  <a:pt x="1755095" y="0"/>
                </a:cubicBezTo>
                <a:cubicBezTo>
                  <a:pt x="1875186" y="-50099"/>
                  <a:pt x="2191388" y="4252"/>
                  <a:pt x="2329408" y="0"/>
                </a:cubicBezTo>
                <a:cubicBezTo>
                  <a:pt x="2467428" y="-4252"/>
                  <a:pt x="2666761" y="55587"/>
                  <a:pt x="2818636" y="0"/>
                </a:cubicBezTo>
                <a:cubicBezTo>
                  <a:pt x="2970511" y="-55587"/>
                  <a:pt x="3287266" y="29637"/>
                  <a:pt x="3435490" y="0"/>
                </a:cubicBezTo>
                <a:cubicBezTo>
                  <a:pt x="3583714" y="-29637"/>
                  <a:pt x="3683091" y="7055"/>
                  <a:pt x="3882177" y="0"/>
                </a:cubicBezTo>
                <a:cubicBezTo>
                  <a:pt x="4081263" y="-7055"/>
                  <a:pt x="4263947" y="22576"/>
                  <a:pt x="4456489" y="0"/>
                </a:cubicBezTo>
                <a:cubicBezTo>
                  <a:pt x="4580725" y="3004"/>
                  <a:pt x="4652930" y="89632"/>
                  <a:pt x="4658815" y="202326"/>
                </a:cubicBezTo>
                <a:cubicBezTo>
                  <a:pt x="4688865" y="325324"/>
                  <a:pt x="4634746" y="457901"/>
                  <a:pt x="4658815" y="606966"/>
                </a:cubicBezTo>
                <a:cubicBezTo>
                  <a:pt x="4682884" y="756031"/>
                  <a:pt x="4622469" y="844144"/>
                  <a:pt x="4658815" y="1011606"/>
                </a:cubicBezTo>
                <a:cubicBezTo>
                  <a:pt x="4670900" y="1138151"/>
                  <a:pt x="4586142" y="1198250"/>
                  <a:pt x="4456489" y="1213932"/>
                </a:cubicBezTo>
                <a:cubicBezTo>
                  <a:pt x="4305302" y="1251813"/>
                  <a:pt x="4166599" y="1175047"/>
                  <a:pt x="3924719" y="1213932"/>
                </a:cubicBezTo>
                <a:cubicBezTo>
                  <a:pt x="3682839" y="1252817"/>
                  <a:pt x="3636809" y="1211537"/>
                  <a:pt x="3392948" y="1213932"/>
                </a:cubicBezTo>
                <a:cubicBezTo>
                  <a:pt x="3149087" y="1216327"/>
                  <a:pt x="3019653" y="1187995"/>
                  <a:pt x="2776095" y="1213932"/>
                </a:cubicBezTo>
                <a:cubicBezTo>
                  <a:pt x="2532537" y="1239869"/>
                  <a:pt x="2374460" y="1202954"/>
                  <a:pt x="2244324" y="1213932"/>
                </a:cubicBezTo>
                <a:cubicBezTo>
                  <a:pt x="2114188" y="1224910"/>
                  <a:pt x="2039497" y="1172031"/>
                  <a:pt x="1840179" y="1213932"/>
                </a:cubicBezTo>
                <a:cubicBezTo>
                  <a:pt x="1640861" y="1255833"/>
                  <a:pt x="1583331" y="1207787"/>
                  <a:pt x="1393492" y="1213932"/>
                </a:cubicBezTo>
                <a:cubicBezTo>
                  <a:pt x="1203653" y="1220077"/>
                  <a:pt x="914863" y="1201446"/>
                  <a:pt x="776638" y="1213932"/>
                </a:cubicBezTo>
                <a:cubicBezTo>
                  <a:pt x="638413" y="1226418"/>
                  <a:pt x="437328" y="1174067"/>
                  <a:pt x="202326" y="1213932"/>
                </a:cubicBezTo>
                <a:cubicBezTo>
                  <a:pt x="93009" y="1218734"/>
                  <a:pt x="-19492" y="1133627"/>
                  <a:pt x="0" y="1011606"/>
                </a:cubicBezTo>
                <a:cubicBezTo>
                  <a:pt x="-34041" y="867494"/>
                  <a:pt x="19408" y="757014"/>
                  <a:pt x="0" y="598873"/>
                </a:cubicBezTo>
                <a:cubicBezTo>
                  <a:pt x="-19408" y="440732"/>
                  <a:pt x="27962" y="330545"/>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5868C3-9E4D-4E95-B31C-7C057D383E7E}"/>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9DC10634-893E-0AE8-543B-239A3FDD3AC4}"/>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F2D0FD17-F6A8-BAD0-05C6-9D749A7C6CF3}"/>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08132746-6200-E816-8E25-DA0B9F3DE748}"/>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99E1D45C-C17F-4356-52E4-D7CF03618260}"/>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23F4BA12-DC7D-61A3-6A34-9391D46B4402}"/>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B92399B0-7DAC-F651-F7E0-C2093D94BF3A}"/>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124AF337-F26F-C290-A807-EF1EC23C569F}"/>
              </a:ext>
            </a:extLst>
          </p:cNvPr>
          <p:cNvSpPr/>
          <p:nvPr/>
        </p:nvSpPr>
        <p:spPr>
          <a:xfrm>
            <a:off x="3155766" y="5757425"/>
            <a:ext cx="5425726" cy="69545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Specialized Infrastructure used by on-premises financial exchanges</a:t>
            </a:r>
          </a:p>
        </p:txBody>
      </p:sp>
      <p:sp>
        <p:nvSpPr>
          <p:cNvPr id="14" name="Rounded Rectangle 13">
            <a:extLst>
              <a:ext uri="{FF2B5EF4-FFF2-40B4-BE49-F238E27FC236}">
                <a16:creationId xmlns:a16="http://schemas.microsoft.com/office/drawing/2014/main" id="{C3AC7196-B58F-8FE9-5358-E4FCB44ECA06}"/>
              </a:ext>
            </a:extLst>
          </p:cNvPr>
          <p:cNvSpPr/>
          <p:nvPr/>
        </p:nvSpPr>
        <p:spPr>
          <a:xfrm>
            <a:off x="4741097" y="405121"/>
            <a:ext cx="6677997" cy="147732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New Roman" panose="02020603050405020304" pitchFamily="18" charset="0"/>
                <a:cs typeface="Times New Roman" panose="02020603050405020304" pitchFamily="18" charset="0"/>
              </a:rPr>
              <a:t>Commodity Networking Infrastructure</a:t>
            </a:r>
          </a:p>
        </p:txBody>
      </p:sp>
      <p:sp>
        <p:nvSpPr>
          <p:cNvPr id="19" name="Up Arrow 18">
            <a:extLst>
              <a:ext uri="{FF2B5EF4-FFF2-40B4-BE49-F238E27FC236}">
                <a16:creationId xmlns:a16="http://schemas.microsoft.com/office/drawing/2014/main" id="{376DD3FE-B035-98E4-7546-7AF67D36A2FA}"/>
              </a:ext>
            </a:extLst>
          </p:cNvPr>
          <p:cNvSpPr/>
          <p:nvPr/>
        </p:nvSpPr>
        <p:spPr>
          <a:xfrm rot="1624721">
            <a:off x="5546592" y="1978943"/>
            <a:ext cx="644072" cy="3681988"/>
          </a:xfrm>
          <a:custGeom>
            <a:avLst/>
            <a:gdLst>
              <a:gd name="csX0" fmla="*/ 0 w 644072"/>
              <a:gd name="csY0" fmla="*/ 608700 h 3681988"/>
              <a:gd name="csX1" fmla="*/ 157798 w 644072"/>
              <a:gd name="csY1" fmla="*/ 310437 h 3681988"/>
              <a:gd name="csX2" fmla="*/ 322036 w 644072"/>
              <a:gd name="csY2" fmla="*/ 0 h 3681988"/>
              <a:gd name="csX3" fmla="*/ 486274 w 644072"/>
              <a:gd name="csY3" fmla="*/ 310437 h 3681988"/>
              <a:gd name="csX4" fmla="*/ 644072 w 644072"/>
              <a:gd name="csY4" fmla="*/ 608700 h 3681988"/>
              <a:gd name="csX5" fmla="*/ 483054 w 644072"/>
              <a:gd name="csY5" fmla="*/ 608700 h 3681988"/>
              <a:gd name="csX6" fmla="*/ 483054 w 644072"/>
              <a:gd name="csY6" fmla="*/ 1059449 h 3681988"/>
              <a:gd name="csX7" fmla="*/ 483054 w 644072"/>
              <a:gd name="csY7" fmla="*/ 1540931 h 3681988"/>
              <a:gd name="csX8" fmla="*/ 483054 w 644072"/>
              <a:gd name="csY8" fmla="*/ 2114611 h 3681988"/>
              <a:gd name="csX9" fmla="*/ 483054 w 644072"/>
              <a:gd name="csY9" fmla="*/ 2626826 h 3681988"/>
              <a:gd name="csX10" fmla="*/ 483054 w 644072"/>
              <a:gd name="csY10" fmla="*/ 3169773 h 3681988"/>
              <a:gd name="csX11" fmla="*/ 483054 w 644072"/>
              <a:gd name="csY11" fmla="*/ 3681988 h 3681988"/>
              <a:gd name="csX12" fmla="*/ 161018 w 644072"/>
              <a:gd name="csY12" fmla="*/ 3681988 h 3681988"/>
              <a:gd name="csX13" fmla="*/ 161018 w 644072"/>
              <a:gd name="csY13" fmla="*/ 3139040 h 3681988"/>
              <a:gd name="csX14" fmla="*/ 161018 w 644072"/>
              <a:gd name="csY14" fmla="*/ 2688292 h 3681988"/>
              <a:gd name="csX15" fmla="*/ 161018 w 644072"/>
              <a:gd name="csY15" fmla="*/ 2268276 h 3681988"/>
              <a:gd name="csX16" fmla="*/ 161018 w 644072"/>
              <a:gd name="csY16" fmla="*/ 1848259 h 3681988"/>
              <a:gd name="csX17" fmla="*/ 161018 w 644072"/>
              <a:gd name="csY17" fmla="*/ 1305312 h 3681988"/>
              <a:gd name="csX18" fmla="*/ 161018 w 644072"/>
              <a:gd name="csY18" fmla="*/ 608700 h 3681988"/>
              <a:gd name="csX19" fmla="*/ 0 w 644072"/>
              <a:gd name="csY19" fmla="*/ 608700 h 3681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44072" h="3681988" fill="none" extrusionOk="0">
                <a:moveTo>
                  <a:pt x="0" y="608700"/>
                </a:moveTo>
                <a:cubicBezTo>
                  <a:pt x="39281" y="527294"/>
                  <a:pt x="116321" y="436673"/>
                  <a:pt x="157798" y="310437"/>
                </a:cubicBezTo>
                <a:cubicBezTo>
                  <a:pt x="199275" y="184201"/>
                  <a:pt x="288738" y="88404"/>
                  <a:pt x="322036" y="0"/>
                </a:cubicBezTo>
                <a:cubicBezTo>
                  <a:pt x="413927" y="144486"/>
                  <a:pt x="412813" y="245340"/>
                  <a:pt x="486274" y="310437"/>
                </a:cubicBezTo>
                <a:cubicBezTo>
                  <a:pt x="559735" y="375534"/>
                  <a:pt x="590978" y="529753"/>
                  <a:pt x="644072" y="608700"/>
                </a:cubicBezTo>
                <a:cubicBezTo>
                  <a:pt x="606168" y="627873"/>
                  <a:pt x="541071" y="606610"/>
                  <a:pt x="483054" y="608700"/>
                </a:cubicBezTo>
                <a:cubicBezTo>
                  <a:pt x="533927" y="747854"/>
                  <a:pt x="436638" y="950735"/>
                  <a:pt x="483054" y="1059449"/>
                </a:cubicBezTo>
                <a:cubicBezTo>
                  <a:pt x="529470" y="1168163"/>
                  <a:pt x="454704" y="1350265"/>
                  <a:pt x="483054" y="1540931"/>
                </a:cubicBezTo>
                <a:cubicBezTo>
                  <a:pt x="511404" y="1731597"/>
                  <a:pt x="456230" y="1958127"/>
                  <a:pt x="483054" y="2114611"/>
                </a:cubicBezTo>
                <a:cubicBezTo>
                  <a:pt x="509878" y="2271095"/>
                  <a:pt x="433209" y="2447887"/>
                  <a:pt x="483054" y="2626826"/>
                </a:cubicBezTo>
                <a:cubicBezTo>
                  <a:pt x="532899" y="2805766"/>
                  <a:pt x="470900" y="2988063"/>
                  <a:pt x="483054" y="3169773"/>
                </a:cubicBezTo>
                <a:cubicBezTo>
                  <a:pt x="495208" y="3351483"/>
                  <a:pt x="469942" y="3556428"/>
                  <a:pt x="483054" y="3681988"/>
                </a:cubicBezTo>
                <a:cubicBezTo>
                  <a:pt x="375647" y="3684812"/>
                  <a:pt x="234776" y="3663767"/>
                  <a:pt x="161018" y="3681988"/>
                </a:cubicBezTo>
                <a:cubicBezTo>
                  <a:pt x="145560" y="3549593"/>
                  <a:pt x="210738" y="3393822"/>
                  <a:pt x="161018" y="3139040"/>
                </a:cubicBezTo>
                <a:cubicBezTo>
                  <a:pt x="111298" y="2884258"/>
                  <a:pt x="182870" y="2798159"/>
                  <a:pt x="161018" y="2688292"/>
                </a:cubicBezTo>
                <a:cubicBezTo>
                  <a:pt x="139166" y="2578425"/>
                  <a:pt x="167559" y="2470814"/>
                  <a:pt x="161018" y="2268276"/>
                </a:cubicBezTo>
                <a:cubicBezTo>
                  <a:pt x="154477" y="2065738"/>
                  <a:pt x="208539" y="1974379"/>
                  <a:pt x="161018" y="1848259"/>
                </a:cubicBezTo>
                <a:cubicBezTo>
                  <a:pt x="113497" y="1722139"/>
                  <a:pt x="212588" y="1442667"/>
                  <a:pt x="161018" y="1305312"/>
                </a:cubicBezTo>
                <a:cubicBezTo>
                  <a:pt x="109448" y="1167957"/>
                  <a:pt x="239086" y="820263"/>
                  <a:pt x="161018" y="608700"/>
                </a:cubicBezTo>
                <a:cubicBezTo>
                  <a:pt x="90389" y="620596"/>
                  <a:pt x="80176" y="599850"/>
                  <a:pt x="0" y="608700"/>
                </a:cubicBezTo>
                <a:close/>
              </a:path>
              <a:path w="644072" h="3681988" stroke="0" extrusionOk="0">
                <a:moveTo>
                  <a:pt x="0" y="608700"/>
                </a:moveTo>
                <a:cubicBezTo>
                  <a:pt x="51471" y="471540"/>
                  <a:pt x="139895" y="413925"/>
                  <a:pt x="157798" y="310437"/>
                </a:cubicBezTo>
                <a:cubicBezTo>
                  <a:pt x="175701" y="206949"/>
                  <a:pt x="284488" y="119666"/>
                  <a:pt x="322036" y="0"/>
                </a:cubicBezTo>
                <a:cubicBezTo>
                  <a:pt x="398686" y="122195"/>
                  <a:pt x="415136" y="218985"/>
                  <a:pt x="489495" y="316524"/>
                </a:cubicBezTo>
                <a:cubicBezTo>
                  <a:pt x="563853" y="414063"/>
                  <a:pt x="578272" y="546520"/>
                  <a:pt x="644072" y="608700"/>
                </a:cubicBezTo>
                <a:cubicBezTo>
                  <a:pt x="594988" y="620728"/>
                  <a:pt x="521131" y="605554"/>
                  <a:pt x="483054" y="608700"/>
                </a:cubicBezTo>
                <a:cubicBezTo>
                  <a:pt x="515748" y="828608"/>
                  <a:pt x="448129" y="1045969"/>
                  <a:pt x="483054" y="1182380"/>
                </a:cubicBezTo>
                <a:cubicBezTo>
                  <a:pt x="517979" y="1318791"/>
                  <a:pt x="442970" y="1613958"/>
                  <a:pt x="483054" y="1756061"/>
                </a:cubicBezTo>
                <a:cubicBezTo>
                  <a:pt x="523138" y="1898164"/>
                  <a:pt x="470766" y="2088833"/>
                  <a:pt x="483054" y="2268276"/>
                </a:cubicBezTo>
                <a:cubicBezTo>
                  <a:pt x="495342" y="2447720"/>
                  <a:pt x="447206" y="2600004"/>
                  <a:pt x="483054" y="2841956"/>
                </a:cubicBezTo>
                <a:cubicBezTo>
                  <a:pt x="518902" y="3083908"/>
                  <a:pt x="396369" y="3462765"/>
                  <a:pt x="483054" y="3681988"/>
                </a:cubicBezTo>
                <a:cubicBezTo>
                  <a:pt x="409494" y="3718826"/>
                  <a:pt x="250908" y="3663367"/>
                  <a:pt x="161018" y="3681988"/>
                </a:cubicBezTo>
                <a:cubicBezTo>
                  <a:pt x="156329" y="3545531"/>
                  <a:pt x="199713" y="3324976"/>
                  <a:pt x="161018" y="3169773"/>
                </a:cubicBezTo>
                <a:cubicBezTo>
                  <a:pt x="122323" y="3014570"/>
                  <a:pt x="206286" y="2885510"/>
                  <a:pt x="161018" y="2719024"/>
                </a:cubicBezTo>
                <a:cubicBezTo>
                  <a:pt x="115750" y="2552538"/>
                  <a:pt x="197145" y="2330729"/>
                  <a:pt x="161018" y="2206810"/>
                </a:cubicBezTo>
                <a:cubicBezTo>
                  <a:pt x="124891" y="2082891"/>
                  <a:pt x="225623" y="1869557"/>
                  <a:pt x="161018" y="1633129"/>
                </a:cubicBezTo>
                <a:cubicBezTo>
                  <a:pt x="96413" y="1396701"/>
                  <a:pt x="184646" y="1237331"/>
                  <a:pt x="161018" y="1120915"/>
                </a:cubicBezTo>
                <a:cubicBezTo>
                  <a:pt x="137390" y="1004499"/>
                  <a:pt x="161914" y="854141"/>
                  <a:pt x="161018" y="608700"/>
                </a:cubicBezTo>
                <a:cubicBezTo>
                  <a:pt x="123617" y="627052"/>
                  <a:pt x="66666" y="591792"/>
                  <a:pt x="0" y="608700"/>
                </a:cubicBezTo>
                <a:close/>
              </a:path>
            </a:pathLst>
          </a:custGeom>
          <a:solidFill>
            <a:srgbClr val="FF0000"/>
          </a:solidFill>
          <a:ln>
            <a:extLst>
              <a:ext uri="{C807C97D-BFC1-408E-A445-0C87EB9F89A2}">
                <ask:lineSketchStyleProps xmlns:ask="http://schemas.microsoft.com/office/drawing/2018/sketchyshapes" sd="1219033472">
                  <a:prstGeom prst="upArrow">
                    <a:avLst>
                      <a:gd name="adj1" fmla="val 50000"/>
                      <a:gd name="adj2" fmla="val 9450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9018216"/>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DAEBF-8BAF-F3E0-B3D6-E4931F66CAA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D871015-EDE6-E81D-7BC0-086BC48FAE5C}"/>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7CA8CF64-7878-8473-459D-E8C099F6658D}"/>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741FE454-70F9-322F-C660-D8A2A5E49172}"/>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512C3D2-1CC7-A28A-2894-186A3513B4E0}"/>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769B4D-8DE9-1F9A-62CE-60D365BC0A13}"/>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821B6EFD-0B57-09ED-798A-1B738DB4ADE8}"/>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Tree>
    <p:extLst>
      <p:ext uri="{BB962C8B-B14F-4D97-AF65-F5344CB8AC3E}">
        <p14:creationId xmlns:p14="http://schemas.microsoft.com/office/powerpoint/2010/main" val="1322128794"/>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B6789-B3A8-D2BE-1DFD-24C65814625C}"/>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DFC14CF6-D2DE-6E62-3827-CB5EFFA939A2}"/>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EA2A3EC-77DB-5725-483C-D2C1A58BC2A8}"/>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AB2275E-ED05-B4EF-DA5A-1CF7BB2D0049}"/>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798050B-D649-4451-42D7-AC068326F9AA}"/>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5DC5370-96DA-FC09-FD1C-A9952418DFDD}"/>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2301127B-D00E-8895-F547-B125F7D1D8CD}"/>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050D947B-F757-3816-C5A0-DC60C90A1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94F594E8-BA68-BA69-578C-6F82EAFDF0C1}"/>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Tree>
    <p:extLst>
      <p:ext uri="{BB962C8B-B14F-4D97-AF65-F5344CB8AC3E}">
        <p14:creationId xmlns:p14="http://schemas.microsoft.com/office/powerpoint/2010/main" val="1834231864"/>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75F0E-83D9-B2EF-DA0F-2432CE4054E4}"/>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B9B202EB-22D3-D5DC-1662-54FD99455845}"/>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2799CBC-BEE6-91F7-F338-E913CA3EE074}"/>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213FAB46-FF81-4306-B26A-5DD0346FE1C8}"/>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5685F09-890E-EEB0-8E6E-58F658C38486}"/>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B7557A0-5EE6-3A7C-044E-CFE1CC73DAFC}"/>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DB7AE55C-0AA9-6C81-156E-C79BAACE2B08}"/>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430540FE-3929-1ECF-94B3-369F58C210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7E101FEE-6EFF-7EE3-0AE7-66FE7CA17C4D}"/>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B45E7900-A42C-E8D5-A587-62015E92E7F1}"/>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A5E1B3E-60E2-AAB7-DED5-B166F29F5ADA}"/>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Tree>
    <p:extLst>
      <p:ext uri="{BB962C8B-B14F-4D97-AF65-F5344CB8AC3E}">
        <p14:creationId xmlns:p14="http://schemas.microsoft.com/office/powerpoint/2010/main" val="366053074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EBD4-ED13-6CBD-00AF-7A62EC1F89F6}"/>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BB8E0F07-4FFE-BB58-6C05-8669AA98C5E7}"/>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23A66F5-0D92-D77D-C653-D58EA35005B7}"/>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9CFE63B5-932E-3DFD-308B-FC0860DA087E}"/>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E44CFF1-F54A-2325-4B2F-2D5989C5A006}"/>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F367196-774A-F674-BF2F-2C92C1D81EA7}"/>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A33975DC-1D8E-7593-0160-027F7BE9AB3E}"/>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7A5AA61F-047E-A4CE-40AE-5AA6CA0B6B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396476CC-78FD-B16D-9FC4-480773B78E51}"/>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2E2982C1-8924-EFFA-36D8-1B95244D228A}"/>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54DB84D-496B-A60D-454E-ECF5BA788CE3}"/>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5B73A4EF-48C6-379E-A387-DA4E76F2D8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9C608732-D4D6-BFFD-B6C7-55791B611A86}"/>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Tree>
    <p:extLst>
      <p:ext uri="{BB962C8B-B14F-4D97-AF65-F5344CB8AC3E}">
        <p14:creationId xmlns:p14="http://schemas.microsoft.com/office/powerpoint/2010/main" val="2465174136"/>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A7BE4-2F6D-50E8-B5EA-E9BBB4763B05}"/>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05CE231-BAC5-9ED6-3C4F-062502954516}"/>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FDFB00-D95F-435A-CB89-E87916646793}"/>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4E7F626-103D-3BA1-42F9-211847917C12}"/>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350AFCA-CE89-1A02-B58E-1B2B22A28034}"/>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5CA6EB-E3C2-ED3F-1264-A7A554866077}"/>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1A401610-C405-FE5D-753E-B5D7DFC24D10}"/>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C1E514BE-4A3E-6FCE-E902-24C3370D67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307F30E8-D4F8-B3FC-FDA8-BE0D7CB9AE5B}"/>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53274D20-301F-A4CB-EB38-3DD11CFC7147}"/>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D180D5-504B-B0A2-4348-AAE53CBD0D84}"/>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B6B7790C-443C-3E07-213A-980A49AC4E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06CAAFA5-F0F7-B64B-945B-F008BBFF8FEB}"/>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
        <p:nvSpPr>
          <p:cNvPr id="9" name="TextBox 8">
            <a:extLst>
              <a:ext uri="{FF2B5EF4-FFF2-40B4-BE49-F238E27FC236}">
                <a16:creationId xmlns:a16="http://schemas.microsoft.com/office/drawing/2014/main" id="{E3F2E211-91A5-DD9B-70BF-573CB855077D}"/>
              </a:ext>
            </a:extLst>
          </p:cNvPr>
          <p:cNvSpPr txBox="1"/>
          <p:nvPr/>
        </p:nvSpPr>
        <p:spPr>
          <a:xfrm>
            <a:off x="2121325" y="4564534"/>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SIGCOMM’25</a:t>
            </a:r>
          </a:p>
        </p:txBody>
      </p:sp>
      <p:sp>
        <p:nvSpPr>
          <p:cNvPr id="14" name="TextBox 13">
            <a:extLst>
              <a:ext uri="{FF2B5EF4-FFF2-40B4-BE49-F238E27FC236}">
                <a16:creationId xmlns:a16="http://schemas.microsoft.com/office/drawing/2014/main" id="{AAC98C97-4F56-BA56-E984-2DBDF1E4D90E}"/>
              </a:ext>
            </a:extLst>
          </p:cNvPr>
          <p:cNvSpPr txBox="1"/>
          <p:nvPr/>
        </p:nvSpPr>
        <p:spPr>
          <a:xfrm>
            <a:off x="7643442" y="4111538"/>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HotNets’25</a:t>
            </a:r>
          </a:p>
        </p:txBody>
      </p:sp>
      <p:sp>
        <p:nvSpPr>
          <p:cNvPr id="15" name="TextBox 14">
            <a:extLst>
              <a:ext uri="{FF2B5EF4-FFF2-40B4-BE49-F238E27FC236}">
                <a16:creationId xmlns:a16="http://schemas.microsoft.com/office/drawing/2014/main" id="{887EE278-208A-4B93-637F-68B276C2F983}"/>
              </a:ext>
            </a:extLst>
          </p:cNvPr>
          <p:cNvSpPr txBox="1"/>
          <p:nvPr/>
        </p:nvSpPr>
        <p:spPr>
          <a:xfrm>
            <a:off x="7643442" y="4507299"/>
            <a:ext cx="3872835" cy="461665"/>
          </a:xfrm>
          <a:prstGeom prst="rect">
            <a:avLst/>
          </a:prstGeom>
          <a:noFill/>
        </p:spPr>
        <p:txBody>
          <a:bodyPr wrap="square" rtlCol="0">
            <a:spAutoFit/>
          </a:bodyPr>
          <a:lstStyle/>
          <a:p>
            <a:pPr algn="ctr"/>
            <a:r>
              <a:rPr lang="en-US" sz="2400" dirty="0">
                <a:solidFill>
                  <a:schemeClr val="bg1">
                    <a:lumMod val="50000"/>
                  </a:schemeClr>
                </a:solidFill>
                <a:latin typeface="Times New Roman" panose="02020603050405020304" pitchFamily="18" charset="0"/>
                <a:cs typeface="Times New Roman" panose="02020603050405020304" pitchFamily="18" charset="0"/>
              </a:rPr>
              <a:t>Submitted to SIGCOMM’26</a:t>
            </a:r>
          </a:p>
        </p:txBody>
      </p:sp>
    </p:spTree>
    <p:extLst>
      <p:ext uri="{BB962C8B-B14F-4D97-AF65-F5344CB8AC3E}">
        <p14:creationId xmlns:p14="http://schemas.microsoft.com/office/powerpoint/2010/main" val="22992911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B5CA3-9610-7961-1B95-96F35195D1C8}"/>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CDB2F0E-92F1-2447-4AFB-9C2AE402C6BF}"/>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0DFBDE7-5E2E-5800-F1C0-A20B261A1755}"/>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27B1ED2F-A8D1-2AF2-FE8B-3E6187AA2C8E}"/>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4C2A527-A0EA-8B4C-9EC6-6DDFB7C965FD}"/>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EA2168A-D26C-B5B6-2A8D-229247BE723E}"/>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57EDC1AC-909B-4FDD-19F3-6083605CF67A}"/>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7CA41EBB-C6FA-DB22-3E79-DEA8E56EF4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E1739C3C-A360-3329-AC33-3EC88A1DDBF6}"/>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9A0DB9F4-97FE-53E9-6644-C22A4EAA8EE4}"/>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8BA897-9EEB-ECE3-39C3-1CD97B0783CC}"/>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3011D6E4-E375-4389-751A-8CBB6AD1DF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C1E3FA76-CA6A-C389-4AE7-2B33B1C3E432}"/>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
        <p:nvSpPr>
          <p:cNvPr id="9" name="TextBox 8">
            <a:extLst>
              <a:ext uri="{FF2B5EF4-FFF2-40B4-BE49-F238E27FC236}">
                <a16:creationId xmlns:a16="http://schemas.microsoft.com/office/drawing/2014/main" id="{5D5568BD-6B32-8B0A-63B4-D590ED562165}"/>
              </a:ext>
            </a:extLst>
          </p:cNvPr>
          <p:cNvSpPr txBox="1"/>
          <p:nvPr/>
        </p:nvSpPr>
        <p:spPr>
          <a:xfrm>
            <a:off x="2121325" y="4564534"/>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SIGCOMM’25</a:t>
            </a:r>
          </a:p>
        </p:txBody>
      </p:sp>
      <p:sp>
        <p:nvSpPr>
          <p:cNvPr id="14" name="TextBox 13">
            <a:extLst>
              <a:ext uri="{FF2B5EF4-FFF2-40B4-BE49-F238E27FC236}">
                <a16:creationId xmlns:a16="http://schemas.microsoft.com/office/drawing/2014/main" id="{483786E7-FAD5-1A6D-984D-A0C6475A77C9}"/>
              </a:ext>
            </a:extLst>
          </p:cNvPr>
          <p:cNvSpPr txBox="1"/>
          <p:nvPr/>
        </p:nvSpPr>
        <p:spPr>
          <a:xfrm>
            <a:off x="7643442" y="4111538"/>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HotNets’25</a:t>
            </a:r>
          </a:p>
        </p:txBody>
      </p:sp>
      <p:sp>
        <p:nvSpPr>
          <p:cNvPr id="15" name="TextBox 14">
            <a:extLst>
              <a:ext uri="{FF2B5EF4-FFF2-40B4-BE49-F238E27FC236}">
                <a16:creationId xmlns:a16="http://schemas.microsoft.com/office/drawing/2014/main" id="{5ADA7C2F-E097-A499-6683-94AB6092CCE0}"/>
              </a:ext>
            </a:extLst>
          </p:cNvPr>
          <p:cNvSpPr txBox="1"/>
          <p:nvPr/>
        </p:nvSpPr>
        <p:spPr>
          <a:xfrm>
            <a:off x="7643442" y="4507299"/>
            <a:ext cx="3872835" cy="461665"/>
          </a:xfrm>
          <a:prstGeom prst="rect">
            <a:avLst/>
          </a:prstGeom>
          <a:noFill/>
        </p:spPr>
        <p:txBody>
          <a:bodyPr wrap="square" rtlCol="0">
            <a:spAutoFit/>
          </a:bodyPr>
          <a:lstStyle/>
          <a:p>
            <a:pPr algn="ctr"/>
            <a:r>
              <a:rPr lang="en-US" sz="2400" dirty="0">
                <a:solidFill>
                  <a:schemeClr val="bg1">
                    <a:lumMod val="50000"/>
                  </a:schemeClr>
                </a:solidFill>
                <a:latin typeface="Times New Roman" panose="02020603050405020304" pitchFamily="18" charset="0"/>
                <a:cs typeface="Times New Roman" panose="02020603050405020304" pitchFamily="18" charset="0"/>
              </a:rPr>
              <a:t>Submitted to SIGCOMM’26</a:t>
            </a:r>
          </a:p>
        </p:txBody>
      </p:sp>
      <p:sp>
        <p:nvSpPr>
          <p:cNvPr id="19" name="TextBox 18">
            <a:extLst>
              <a:ext uri="{FF2B5EF4-FFF2-40B4-BE49-F238E27FC236}">
                <a16:creationId xmlns:a16="http://schemas.microsoft.com/office/drawing/2014/main" id="{241566FE-8602-2728-E06A-15A91CC6D3C9}"/>
              </a:ext>
            </a:extLst>
          </p:cNvPr>
          <p:cNvSpPr txBox="1"/>
          <p:nvPr/>
        </p:nvSpPr>
        <p:spPr>
          <a:xfrm>
            <a:off x="1676952" y="5134908"/>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19CAE7B6-A427-7062-A40F-37C2326B4796}"/>
              </a:ext>
            </a:extLst>
          </p:cNvPr>
          <p:cNvSpPr txBox="1"/>
          <p:nvPr/>
        </p:nvSpPr>
        <p:spPr>
          <a:xfrm>
            <a:off x="7412603" y="5134908"/>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spTree>
    <p:extLst>
      <p:ext uri="{BB962C8B-B14F-4D97-AF65-F5344CB8AC3E}">
        <p14:creationId xmlns:p14="http://schemas.microsoft.com/office/powerpoint/2010/main" val="3396139960"/>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5072-D311-F68C-B2A5-279E63571EB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F082ADE-2353-BB96-6239-C215B9C48190}"/>
              </a:ext>
            </a:extLst>
          </p:cNvPr>
          <p:cNvSpPr/>
          <p:nvPr/>
        </p:nvSpPr>
        <p:spPr>
          <a:xfrm rot="16200000">
            <a:off x="8170505" y="1124325"/>
            <a:ext cx="45719" cy="47481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9CAEC30-4E16-3A5C-9CDD-6F84FC205990}"/>
              </a:ext>
            </a:extLst>
          </p:cNvPr>
          <p:cNvPicPr>
            <a:picLocks noChangeAspect="1"/>
          </p:cNvPicPr>
          <p:nvPr/>
        </p:nvPicPr>
        <p:blipFill>
          <a:blip r:embed="rId3"/>
          <a:stretch>
            <a:fillRect/>
          </a:stretch>
        </p:blipFill>
        <p:spPr>
          <a:xfrm>
            <a:off x="1041006" y="1283720"/>
            <a:ext cx="9948215" cy="2145280"/>
          </a:xfrm>
          <a:prstGeom prst="rect">
            <a:avLst/>
          </a:prstGeom>
        </p:spPr>
      </p:pic>
      <p:sp>
        <p:nvSpPr>
          <p:cNvPr id="18" name="Rectangle 17">
            <a:extLst>
              <a:ext uri="{FF2B5EF4-FFF2-40B4-BE49-F238E27FC236}">
                <a16:creationId xmlns:a16="http://schemas.microsoft.com/office/drawing/2014/main" id="{EC386F67-4617-C1E9-24BC-0E8729AABF75}"/>
              </a:ext>
            </a:extLst>
          </p:cNvPr>
          <p:cNvSpPr/>
          <p:nvPr/>
        </p:nvSpPr>
        <p:spPr>
          <a:xfrm rot="16200000">
            <a:off x="3421012" y="1214037"/>
            <a:ext cx="45719" cy="456874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FEE93460-00C4-9471-E71C-67988F56158E}"/>
              </a:ext>
            </a:extLst>
          </p:cNvPr>
          <p:cNvSpPr txBox="1"/>
          <p:nvPr/>
        </p:nvSpPr>
        <p:spPr>
          <a:xfrm>
            <a:off x="-210844" y="694172"/>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85477FD3-0A11-FC88-E33A-30AC03A3243B}"/>
              </a:ext>
            </a:extLst>
          </p:cNvPr>
          <p:cNvSpPr txBox="1"/>
          <p:nvPr/>
        </p:nvSpPr>
        <p:spPr>
          <a:xfrm>
            <a:off x="7433045" y="5569553"/>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pic>
        <p:nvPicPr>
          <p:cNvPr id="25" name="Picture 24">
            <a:extLst>
              <a:ext uri="{FF2B5EF4-FFF2-40B4-BE49-F238E27FC236}">
                <a16:creationId xmlns:a16="http://schemas.microsoft.com/office/drawing/2014/main" id="{DF448D99-0312-5AF1-763A-B28EC7528449}"/>
              </a:ext>
            </a:extLst>
          </p:cNvPr>
          <p:cNvPicPr>
            <a:picLocks noChangeAspect="1"/>
          </p:cNvPicPr>
          <p:nvPr/>
        </p:nvPicPr>
        <p:blipFill>
          <a:blip r:embed="rId4"/>
          <a:stretch>
            <a:fillRect/>
          </a:stretch>
        </p:blipFill>
        <p:spPr>
          <a:xfrm>
            <a:off x="681675" y="3850326"/>
            <a:ext cx="10417835" cy="1719227"/>
          </a:xfrm>
          <a:prstGeom prst="rect">
            <a:avLst/>
          </a:prstGeom>
        </p:spPr>
      </p:pic>
    </p:spTree>
    <p:extLst>
      <p:ext uri="{BB962C8B-B14F-4D97-AF65-F5344CB8AC3E}">
        <p14:creationId xmlns:p14="http://schemas.microsoft.com/office/powerpoint/2010/main" val="49794195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CD869-F24A-06AE-7C01-B6FD6CAFA1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4A599D-E91B-9B15-20BC-DF403757B7E5}"/>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E54E147F-C9DD-9C1A-B96F-C10E9D36CB0D}"/>
              </a:ext>
            </a:extLst>
          </p:cNvPr>
          <p:cNvSpPr/>
          <p:nvPr/>
        </p:nvSpPr>
        <p:spPr>
          <a:xfrm>
            <a:off x="-210532" y="-296945"/>
            <a:ext cx="12613064" cy="7282206"/>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051242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ight Triangle 6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3" name="Rectangle 6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4" name="Google Shape;54;p13"/>
          <p:cNvSpPr txBox="1">
            <a:spLocks noGrp="1"/>
          </p:cNvSpPr>
          <p:nvPr>
            <p:ph type="ctrTitle"/>
          </p:nvPr>
        </p:nvSpPr>
        <p:spPr>
          <a:xfrm>
            <a:off x="1079147" y="1045871"/>
            <a:ext cx="8074815" cy="1618489"/>
          </a:xfrm>
          <a:prstGeom prst="rect">
            <a:avLst/>
          </a:prstGeom>
        </p:spPr>
        <p:txBody>
          <a:bodyPr spcFirstLastPara="1" vert="horz" lIns="91440" tIns="45720" rIns="91440" bIns="45720" rtlCol="0" anchor="ctr" anchorCtr="0">
            <a:normAutofit/>
          </a:bodyPr>
          <a:lstStyle/>
          <a:p>
            <a:pPr algn="l">
              <a:buSzPct val="36787"/>
            </a:pPr>
            <a:r>
              <a:rPr lang="en-US" sz="4000" kern="1200" dirty="0">
                <a:solidFill>
                  <a:schemeClr val="tx1"/>
                </a:solidFill>
                <a:latin typeface="+mj-lt"/>
                <a:ea typeface="+mj-ea"/>
                <a:cs typeface="+mj-cs"/>
              </a:rPr>
              <a:t>Network Support For Scalable And High-Performance Cloud Exchanges</a:t>
            </a:r>
          </a:p>
        </p:txBody>
      </p:sp>
      <p:sp>
        <p:nvSpPr>
          <p:cNvPr id="4" name="TextBox 3">
            <a:extLst>
              <a:ext uri="{FF2B5EF4-FFF2-40B4-BE49-F238E27FC236}">
                <a16:creationId xmlns:a16="http://schemas.microsoft.com/office/drawing/2014/main" id="{AA3352D4-9C60-CC7E-EA72-6E7DB767AF10}"/>
              </a:ext>
            </a:extLst>
          </p:cNvPr>
          <p:cNvSpPr txBox="1"/>
          <p:nvPr/>
        </p:nvSpPr>
        <p:spPr>
          <a:xfrm>
            <a:off x="1079147" y="2969470"/>
            <a:ext cx="8074815" cy="1219448"/>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ts val="0"/>
              </a:spcBef>
              <a:spcAft>
                <a:spcPts val="600"/>
              </a:spcAft>
              <a:buClr>
                <a:srgbClr val="000000"/>
              </a:buClr>
              <a:buSzTx/>
              <a:buFontTx/>
              <a:buNone/>
              <a:tabLst/>
              <a:defRPr/>
            </a:pP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Muhammad Haseeb</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Jinkun Geng, </a:t>
            </a:r>
            <a:r>
              <a:rPr kumimoji="0" lang="en-US" sz="2400" b="0" i="0" u="none" strike="noStrike" kern="1200" cap="none" spc="0" normalizeH="0" baseline="0" noProof="0" dirty="0">
                <a:ln>
                  <a:noFill/>
                </a:ln>
                <a:solidFill>
                  <a:srgbClr val="4EA72E">
                    <a:lumMod val="60000"/>
                    <a:lumOff val="40000"/>
                  </a:srgbClr>
                </a:solidFill>
                <a:effectLst/>
                <a:uLnTx/>
                <a:uFillTx/>
                <a:latin typeface="Aptos" panose="02110004020202020204"/>
                <a:ea typeface="+mn-ea"/>
                <a:cs typeface="+mn-cs"/>
                <a:sym typeface="Arial"/>
              </a:rPr>
              <a:t>Daniel Duclos-Cavalcanti</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Xiyu Hao</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Ulysses Butler</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sym typeface="Arial"/>
              </a:rPr>
              <a:t>Radhika Mittal</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0070C0"/>
                </a:solidFill>
                <a:effectLst/>
                <a:uLnTx/>
                <a:uFillTx/>
                <a:latin typeface="Aptos" panose="02110004020202020204"/>
                <a:ea typeface="+mn-ea"/>
                <a:cs typeface="+mn-cs"/>
                <a:sym typeface="Arial"/>
              </a:rPr>
              <a:t>Srinivas Narayana</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Anirudh Sivaraman</a:t>
            </a:r>
          </a:p>
        </p:txBody>
      </p:sp>
      <p:sp>
        <p:nvSpPr>
          <p:cNvPr id="2" name="TextBox 1">
            <a:extLst>
              <a:ext uri="{FF2B5EF4-FFF2-40B4-BE49-F238E27FC236}">
                <a16:creationId xmlns:a16="http://schemas.microsoft.com/office/drawing/2014/main" id="{47936DC3-CB73-BBD2-B537-135F2D543B50}"/>
              </a:ext>
            </a:extLst>
          </p:cNvPr>
          <p:cNvSpPr txBox="1"/>
          <p:nvPr/>
        </p:nvSpPr>
        <p:spPr>
          <a:xfrm>
            <a:off x="1079147" y="4489304"/>
            <a:ext cx="9054515" cy="1219448"/>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ts val="0"/>
              </a:spcBef>
              <a:spcAft>
                <a:spcPts val="600"/>
              </a:spcAft>
              <a:buClr>
                <a:srgbClr val="000000"/>
              </a:buClr>
              <a:buSzTx/>
              <a:buFontTx/>
              <a:buNone/>
              <a:tabLst/>
              <a:defRPr/>
            </a:pP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New York University, </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Clockwork Inc., </a:t>
            </a:r>
            <a:r>
              <a:rPr kumimoji="0" lang="en-US" sz="2400" b="0" i="0" u="none" strike="noStrike" kern="1200" cap="none" spc="0" normalizeH="0" baseline="0" noProof="0" dirty="0">
                <a:ln>
                  <a:noFill/>
                </a:ln>
                <a:solidFill>
                  <a:srgbClr val="4EA72E">
                    <a:lumMod val="60000"/>
                    <a:lumOff val="40000"/>
                  </a:srgbClr>
                </a:solidFill>
                <a:effectLst/>
                <a:uLnTx/>
                <a:uFillTx/>
                <a:latin typeface="Aptos" panose="02110004020202020204"/>
                <a:ea typeface="+mn-ea"/>
                <a:cs typeface="+mn-cs"/>
                <a:sym typeface="Arial"/>
              </a:rPr>
              <a:t>Technical University of Munich, </a:t>
            </a:r>
            <a:r>
              <a:rPr kumimoji="0" lang="en-US" sz="2400" b="0" i="0" u="none" strike="noStrike" kern="1200" cap="none" spc="0" normalizeH="0" baseline="0" noProof="0" dirty="0">
                <a:ln>
                  <a:noFill/>
                </a:ln>
                <a:solidFill>
                  <a:srgbClr val="0070C0"/>
                </a:solidFill>
                <a:effectLst/>
                <a:uLnTx/>
                <a:uFillTx/>
                <a:latin typeface="Aptos" panose="02110004020202020204"/>
                <a:ea typeface="+mn-ea"/>
                <a:cs typeface="+mn-cs"/>
                <a:sym typeface="Arial"/>
              </a:rPr>
              <a:t>Rutgers University, </a:t>
            </a:r>
            <a:r>
              <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sym typeface="Arial"/>
              </a:rPr>
              <a:t>University of Illinois Urbana-Champaign </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A236B874-3F78-12B3-903B-E233EAB379D3}"/>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113B8FBD-8B4B-7940-80CD-999D39F2B6D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Primer On Financial Exchanges</a:t>
            </a:r>
            <a:endParaRPr dirty="0"/>
          </a:p>
        </p:txBody>
      </p:sp>
      <p:sp>
        <p:nvSpPr>
          <p:cNvPr id="2" name="Oval 1">
            <a:extLst>
              <a:ext uri="{FF2B5EF4-FFF2-40B4-BE49-F238E27FC236}">
                <a16:creationId xmlns:a16="http://schemas.microsoft.com/office/drawing/2014/main" id="{57EEC8E6-E104-ABEE-4A8D-62211B66B3BF}"/>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D3CEAA7F-2CEB-637E-1124-5135FDD213F1}"/>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E5F305B6-098F-D947-6CF0-0CFC2561D86C}"/>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2EE237BC-3008-72A8-3AAD-1451FE073E51}"/>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Tree>
    <p:extLst>
      <p:ext uri="{BB962C8B-B14F-4D97-AF65-F5344CB8AC3E}">
        <p14:creationId xmlns:p14="http://schemas.microsoft.com/office/powerpoint/2010/main" val="313935661"/>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49340A91-478B-47BA-43C9-FBDF8E31BDAD}"/>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0AFFADCB-CB02-8A1E-6F13-0878E2BAD47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446C7F2B-6DC2-C75D-A115-367E7C777546}"/>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CBB997D0-B57D-8CF2-0F95-13BAE2BC4C5A}"/>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12C2EAA1-06F6-A7C0-1EEB-6BA6351D5F38}"/>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359C3B95-592C-1F5B-8C3B-9611EEAF9AEA}"/>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60DA7E42-A564-F245-7A75-2F95DC7E93A5}"/>
              </a:ext>
            </a:extLst>
          </p:cNvPr>
          <p:cNvSpPr/>
          <p:nvPr/>
        </p:nvSpPr>
        <p:spPr>
          <a:xfrm>
            <a:off x="5387926" y="28612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1412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4EBC9255-5E7D-10AD-ED87-A426223F2713}"/>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929F4F3-8E9C-B30C-CA58-01DF4E4727D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F3B0A72F-4DBE-7024-1B98-F87EA3F55EA5}"/>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42BF9DC9-B9A6-BFD8-6454-47175320B4DB}"/>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1738A0E6-14A0-676E-A281-E0AC1ED047C4}"/>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77AD7DDE-A614-644B-4316-596989791FBA}"/>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D686641B-D937-C226-741A-6F2D54AF46C4}"/>
              </a:ext>
            </a:extLst>
          </p:cNvPr>
          <p:cNvSpPr/>
          <p:nvPr/>
        </p:nvSpPr>
        <p:spPr>
          <a:xfrm>
            <a:off x="5387926" y="28612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0812A6A9-B7DC-C02B-D18F-6BE2A9DAAB33}"/>
              </a:ext>
            </a:extLst>
          </p:cNvPr>
          <p:cNvSpPr/>
          <p:nvPr/>
        </p:nvSpPr>
        <p:spPr>
          <a:xfrm>
            <a:off x="5540326" y="30136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530DFA98-3FDB-0281-D533-A75D9A147573}"/>
              </a:ext>
            </a:extLst>
          </p:cNvPr>
          <p:cNvSpPr/>
          <p:nvPr/>
        </p:nvSpPr>
        <p:spPr>
          <a:xfrm>
            <a:off x="5692726" y="31660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307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11576BAD-C08C-6286-9D41-F5F300905F22}"/>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AFF34040-6EC2-AA31-C234-3651FCC3B6D6}"/>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F45171D6-F44B-08E2-015F-10CDDF045642}"/>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64567F68-30DB-B602-7C4A-8AA705913959}"/>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4156B486-7F3B-C648-4B4C-565A770A6774}"/>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1E81366A-815E-F884-EA32-AE2A04C2B203}"/>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91094115-88E4-A875-CF28-62AC6DD29273}"/>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B4EFA45-8AA6-15C6-D09D-08BED2303AFA}"/>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9F68288B-1215-14E1-6F4A-4A8A716B40D9}"/>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59278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D4F78221-C096-0AE0-0729-349A9B90DCF9}"/>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87BFA9AA-E8B1-74C7-4C75-5F98220F61A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526D674A-58B6-D845-8256-3F6E0A14AFEF}"/>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69BC7D09-F50B-E8CC-9FA9-FE7F8BD3EA93}"/>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40BD4F17-C1E8-039E-C737-9D4D4B0DD524}"/>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93B63F46-EAAC-B2D3-3AD9-9E6F2B873660}"/>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EF98D9F8-B687-1C12-2E6D-68E49EBB6464}"/>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FAD03277-5936-8553-74BC-FC79D8AB4824}"/>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849E7BB0-2A76-F314-4689-5542D9A59798}"/>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3452C56B-E434-9073-F126-F26B8C2E4379}"/>
              </a:ext>
            </a:extLst>
          </p:cNvPr>
          <p:cNvSpPr/>
          <p:nvPr/>
        </p:nvSpPr>
        <p:spPr>
          <a:xfrm>
            <a:off x="5387926" y="28612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4719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699D41C2-3661-8E23-C8DF-4C7284BC6DA6}"/>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ADEC067C-AC5A-1E53-E172-5F1D763CEFF4}"/>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F69883F-68F6-A1C2-E72F-CA40D2EC6142}"/>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D22EBFF4-2CE8-EA30-5C36-0460F3F93B37}"/>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DD67A8C8-B770-D72B-F370-1FC58BC30C1C}"/>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004919CB-15FA-E8CE-07A5-2E38EC0C01A8}"/>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A48EFF34-E1E9-C789-2A2F-CC79B62E41EF}"/>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880D8C69-862C-C991-A857-CEB56E6A8682}"/>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CC7A6247-F8F1-660A-91F2-634D24971A18}"/>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EBCD925B-A9E0-1847-B4A3-22BA8AB47BA3}"/>
              </a:ext>
            </a:extLst>
          </p:cNvPr>
          <p:cNvSpPr/>
          <p:nvPr/>
        </p:nvSpPr>
        <p:spPr>
          <a:xfrm>
            <a:off x="5387926" y="28612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442EAE7-E5F8-713A-B753-F786C623BCEF}"/>
              </a:ext>
            </a:extLst>
          </p:cNvPr>
          <p:cNvSpPr/>
          <p:nvPr/>
        </p:nvSpPr>
        <p:spPr>
          <a:xfrm>
            <a:off x="5540326" y="30136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AE3160C-F1D9-099B-8D63-F158748C1522}"/>
              </a:ext>
            </a:extLst>
          </p:cNvPr>
          <p:cNvSpPr/>
          <p:nvPr/>
        </p:nvSpPr>
        <p:spPr>
          <a:xfrm>
            <a:off x="5692726" y="31660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3897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91A20FFE-EE6D-866E-C5D4-25349E3301B9}"/>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0FE2C22B-AA67-3D0D-5697-A99FE6606B3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F5875F1B-9B95-CCC9-9EAF-2C62F7F9802F}"/>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13F2E2B7-77B4-3203-11DB-63E9991F16E2}"/>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8742B5B2-7712-9A63-2D8B-FBD5F4564319}"/>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B97AF8D2-72B3-BFD6-A8F5-B845C6F87298}"/>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DDF62A32-181C-0CEB-CACD-626ADACF29CF}"/>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CF86C9C-E665-2379-5083-B87EBE4F6986}"/>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8113F2F5-2C34-A100-F3ED-AF22DB3918F7}"/>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04490AF2-DAAB-BDD4-5534-954A210F3311}"/>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14326CA-3218-6D0B-EBE4-DA1BF5C51310}"/>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FAAE4D09-9D39-42C7-F94C-5A3205A1107A}"/>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9538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8563807A-040B-B31A-2B67-BB6F3C57BECC}"/>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59348CF9-C69F-91EF-5FAF-0557BF87FB4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4753F46-6990-5AD6-08F4-5D16E33CA749}"/>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49BFF761-743E-4E27-91B8-A687B69D794F}"/>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68AD5523-AE77-E6F7-C8D5-2311C82B724E}"/>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164DFE9E-4045-3656-2815-80AF64C1CB18}"/>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44FF4289-774A-2AC6-9F97-3E83EC201EFF}"/>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3123661-AC66-51D6-7369-A7C7193DB8AC}"/>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643B1A6A-39B0-A6D1-9FD4-6DD61EE9E6E2}"/>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DCB7CC0E-9BE8-F79E-4A63-7496E63C6345}"/>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F39EC45-FAE9-4FDE-F0AA-1D168085B813}"/>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ED1A7E8-ED6B-89B1-830A-94EB12C6F6FF}"/>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07BBF1F3-7473-3968-F1F5-CB0E343E0622}"/>
              </a:ext>
            </a:extLst>
          </p:cNvPr>
          <p:cNvSpPr/>
          <p:nvPr/>
        </p:nvSpPr>
        <p:spPr>
          <a:xfrm>
            <a:off x="2943665" y="461898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65A73D30-1CB3-5FEE-337B-E20390DBD640}"/>
              </a:ext>
            </a:extLst>
          </p:cNvPr>
          <p:cNvSpPr/>
          <p:nvPr/>
        </p:nvSpPr>
        <p:spPr>
          <a:xfrm>
            <a:off x="5927188" y="461898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609D63A1-2608-6658-A6C5-C93D04CE3B96}"/>
              </a:ext>
            </a:extLst>
          </p:cNvPr>
          <p:cNvSpPr/>
          <p:nvPr/>
        </p:nvSpPr>
        <p:spPr>
          <a:xfrm>
            <a:off x="8785275" y="46291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74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BA9259FF-6B51-6D78-3084-F6B5765746D8}"/>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675FCEC7-1E7A-F863-538A-F1497C2E741A}"/>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187AC7EB-605D-04B0-E303-E26CAC5595B3}"/>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1EEE4B9D-1A8F-B185-59AF-F7E45D251025}"/>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BBDBD939-B981-EF75-91B4-0D40F6B08203}"/>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00F562D5-6767-B846-2C99-27993B2FAB1C}"/>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1A251E4F-A531-DD82-571D-ACA311504FCB}"/>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3BF34D7-F359-F89E-4C16-5068BF4ABEC5}"/>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12A7644-AAEC-35BD-FB04-695F4E191532}"/>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0D16BCE7-436B-FD6F-4C18-A019AAF274EF}"/>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A1B318D-E549-F84E-6751-5594E941632B}"/>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58720E4-76AA-00A0-BA8F-93F0A6649D16}"/>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0D4DD409-3766-41E6-4D28-994283A29833}"/>
              </a:ext>
            </a:extLst>
          </p:cNvPr>
          <p:cNvSpPr/>
          <p:nvPr/>
        </p:nvSpPr>
        <p:spPr>
          <a:xfrm>
            <a:off x="4722641"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C89064E1-9BC5-F825-E586-1E4346CAE8DA}"/>
              </a:ext>
            </a:extLst>
          </p:cNvPr>
          <p:cNvSpPr/>
          <p:nvPr/>
        </p:nvSpPr>
        <p:spPr>
          <a:xfrm>
            <a:off x="5274803"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DA9D48B9-DE90-944D-D92A-6A6EE859D5B9}"/>
              </a:ext>
            </a:extLst>
          </p:cNvPr>
          <p:cNvSpPr/>
          <p:nvPr/>
        </p:nvSpPr>
        <p:spPr>
          <a:xfrm>
            <a:off x="5841318" y="254594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578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7165FC8A-92F2-927B-603A-958562CDA48D}"/>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7785A193-5696-2737-CFCF-1A96C580379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E067B3B-7122-37C0-4747-D774114FE358}"/>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B18C4E6F-E494-BBC7-095C-5639F3F47554}"/>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E8D6AED7-E8F5-E367-226D-65CA3D896119}"/>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7B0664D8-344D-7FCD-CC10-8C6CB002F24F}"/>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47BE4531-88A0-3DD7-1A3B-94EDAD64FFA9}"/>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29005A9E-CDA8-CB8F-0C89-9E7DFBE76B5B}"/>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96B192A5-F9B4-3FBC-A62A-0001EAB19FD1}"/>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5E2EA57F-037E-E0E3-4385-44EDCBE9A3C8}"/>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9FC63A62-BB90-7513-1513-F57F33FD6EC4}"/>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0B1D68A-2275-9A54-0911-63CF91F486B3}"/>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355264BC-8263-A644-0409-D85F587A964B}"/>
              </a:ext>
            </a:extLst>
          </p:cNvPr>
          <p:cNvSpPr/>
          <p:nvPr/>
        </p:nvSpPr>
        <p:spPr>
          <a:xfrm>
            <a:off x="2943665" y="4618982"/>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FED9FEE2-2DCA-8F82-46F6-0C47BFF00873}"/>
              </a:ext>
            </a:extLst>
          </p:cNvPr>
          <p:cNvSpPr/>
          <p:nvPr/>
        </p:nvSpPr>
        <p:spPr>
          <a:xfrm>
            <a:off x="5927188" y="4618982"/>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A9D94DEE-B79A-F8B0-944F-F0BD531DB3FB}"/>
              </a:ext>
            </a:extLst>
          </p:cNvPr>
          <p:cNvSpPr/>
          <p:nvPr/>
        </p:nvSpPr>
        <p:spPr>
          <a:xfrm>
            <a:off x="8785275" y="4629107"/>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86A6B37C-752F-5EED-C3A8-957259A4E69D}"/>
              </a:ext>
            </a:extLst>
          </p:cNvPr>
          <p:cNvSpPr/>
          <p:nvPr/>
        </p:nvSpPr>
        <p:spPr>
          <a:xfrm>
            <a:off x="4722641"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A8B0D656-7151-837F-2ACE-24A3EA9C6E61}"/>
              </a:ext>
            </a:extLst>
          </p:cNvPr>
          <p:cNvSpPr/>
          <p:nvPr/>
        </p:nvSpPr>
        <p:spPr>
          <a:xfrm>
            <a:off x="5274803"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FC68383B-93D3-6A59-2BB2-30020AC59C33}"/>
              </a:ext>
            </a:extLst>
          </p:cNvPr>
          <p:cNvSpPr/>
          <p:nvPr/>
        </p:nvSpPr>
        <p:spPr>
          <a:xfrm>
            <a:off x="5841318" y="254594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9397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96769B5C-2A14-66CF-5952-F00668DC419E}"/>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66B4E20D-D83A-952C-1135-1D9426108939}"/>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79422F61-5969-4421-10AF-7DE858595715}"/>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A998F38D-408C-49E3-6E83-3F8995BA6A99}"/>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1EAB0C75-95EE-0B79-0522-70AE0987E147}"/>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AA88E04F-BF22-92ED-E875-0F7D93A3C112}"/>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7C747BE2-DB0B-2F1C-BEC6-68E65A752196}"/>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84D7F50E-A67C-EAA3-9CEF-06860E8AA946}"/>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1C5B648-0501-AD87-DA8E-09DD8CD8446B}"/>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255DB383-73F0-D520-076D-83390904DC13}"/>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C9F5637-3A3B-817F-F0DD-32A56C589402}"/>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04FA9A1-9B33-060B-B14F-B3347BCB4891}"/>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49E262D7-7922-BA00-F729-A103AF38BF8E}"/>
              </a:ext>
            </a:extLst>
          </p:cNvPr>
          <p:cNvSpPr/>
          <p:nvPr/>
        </p:nvSpPr>
        <p:spPr>
          <a:xfrm>
            <a:off x="5274802" y="2332823"/>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BAAEF8A2-B338-FBDC-3A1D-56BFE0E14F71}"/>
              </a:ext>
            </a:extLst>
          </p:cNvPr>
          <p:cNvSpPr/>
          <p:nvPr/>
        </p:nvSpPr>
        <p:spPr>
          <a:xfrm>
            <a:off x="5855090" y="2285124"/>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87B75CD9-A6D6-C098-C487-3EB4743582C5}"/>
              </a:ext>
            </a:extLst>
          </p:cNvPr>
          <p:cNvSpPr/>
          <p:nvPr/>
        </p:nvSpPr>
        <p:spPr>
          <a:xfrm>
            <a:off x="4708286" y="233352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D82E9859-BA86-B1B3-5DB8-2302F8CC2806}"/>
              </a:ext>
            </a:extLst>
          </p:cNvPr>
          <p:cNvSpPr/>
          <p:nvPr/>
        </p:nvSpPr>
        <p:spPr>
          <a:xfrm>
            <a:off x="4722641"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27C187ED-98FD-9539-006E-5C74C64F828F}"/>
              </a:ext>
            </a:extLst>
          </p:cNvPr>
          <p:cNvSpPr/>
          <p:nvPr/>
        </p:nvSpPr>
        <p:spPr>
          <a:xfrm>
            <a:off x="5274803"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0826DDC5-FF44-CD39-6D97-495A387E61D7}"/>
              </a:ext>
            </a:extLst>
          </p:cNvPr>
          <p:cNvSpPr/>
          <p:nvPr/>
        </p:nvSpPr>
        <p:spPr>
          <a:xfrm>
            <a:off x="5841318" y="254594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5504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2EF2E01D-5C74-6451-7890-DE6857C2BC19}"/>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DF32F7C-FF60-286D-CD3B-8C5B781E518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6E0A65E-31D2-4A54-9B64-E91B4EA4212E}"/>
              </a:ext>
            </a:extLst>
          </p:cNvPr>
          <p:cNvSpPr/>
          <p:nvPr/>
        </p:nvSpPr>
        <p:spPr>
          <a:xfrm>
            <a:off x="682886" y="1801239"/>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18" name="Picture 17">
            <a:extLst>
              <a:ext uri="{FF2B5EF4-FFF2-40B4-BE49-F238E27FC236}">
                <a16:creationId xmlns:a16="http://schemas.microsoft.com/office/drawing/2014/main" id="{7345F838-C012-2504-AEC2-D173E087D549}"/>
              </a:ext>
            </a:extLst>
          </p:cNvPr>
          <p:cNvPicPr>
            <a:picLocks noChangeAspect="1"/>
          </p:cNvPicPr>
          <p:nvPr/>
        </p:nvPicPr>
        <p:blipFill>
          <a:blip r:embed="rId3"/>
          <a:stretch>
            <a:fillRect/>
          </a:stretch>
        </p:blipFill>
        <p:spPr>
          <a:xfrm>
            <a:off x="415600" y="2940722"/>
            <a:ext cx="4959768" cy="3680834"/>
          </a:xfrm>
          <a:prstGeom prst="rect">
            <a:avLst/>
          </a:prstGeom>
        </p:spPr>
      </p:pic>
      <p:sp>
        <p:nvSpPr>
          <p:cNvPr id="19" name="TextBox 18">
            <a:extLst>
              <a:ext uri="{FF2B5EF4-FFF2-40B4-BE49-F238E27FC236}">
                <a16:creationId xmlns:a16="http://schemas.microsoft.com/office/drawing/2014/main" id="{E0270677-1900-B2BA-CA00-1E4105377FE3}"/>
              </a:ext>
            </a:extLst>
          </p:cNvPr>
          <p:cNvSpPr txBox="1"/>
          <p:nvPr/>
        </p:nvSpPr>
        <p:spPr>
          <a:xfrm>
            <a:off x="4819927" y="2248088"/>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closer to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Immediate execution/match</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BF7DEA3A-5D0E-3CC8-D798-D11EAA104610}"/>
              </a:ext>
            </a:extLst>
          </p:cNvPr>
          <p:cNvSpPr txBox="1"/>
          <p:nvPr/>
        </p:nvSpPr>
        <p:spPr>
          <a:xfrm>
            <a:off x="4819927" y="3655806"/>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away from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potential execution/match in future</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22C75900-2D66-9029-435C-CDB670514F36}"/>
              </a:ext>
            </a:extLst>
          </p:cNvPr>
          <p:cNvSpPr txBox="1"/>
          <p:nvPr/>
        </p:nvSpPr>
        <p:spPr>
          <a:xfrm>
            <a:off x="4819927" y="5138681"/>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Position in the queue/price </a:t>
            </a:r>
            <a:b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level matters!</a:t>
            </a:r>
          </a:p>
        </p:txBody>
      </p:sp>
    </p:spTree>
    <p:extLst>
      <p:ext uri="{BB962C8B-B14F-4D97-AF65-F5344CB8AC3E}">
        <p14:creationId xmlns:p14="http://schemas.microsoft.com/office/powerpoint/2010/main" val="52774341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7BC2511D-C94F-637B-4B5E-826BDD164F6A}"/>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84E1594-7B32-AE72-0704-C5B80AD5136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Primer On Financial Exchanges</a:t>
            </a:r>
            <a:endParaRPr dirty="0"/>
          </a:p>
        </p:txBody>
      </p:sp>
      <p:sp>
        <p:nvSpPr>
          <p:cNvPr id="2" name="Oval 1">
            <a:extLst>
              <a:ext uri="{FF2B5EF4-FFF2-40B4-BE49-F238E27FC236}">
                <a16:creationId xmlns:a16="http://schemas.microsoft.com/office/drawing/2014/main" id="{1AFF6A39-A26D-2A51-20F5-E187D3B31201}"/>
              </a:ext>
            </a:extLst>
          </p:cNvPr>
          <p:cNvSpPr/>
          <p:nvPr/>
        </p:nvSpPr>
        <p:spPr>
          <a:xfrm>
            <a:off x="682886" y="1801239"/>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18" name="Picture 17">
            <a:extLst>
              <a:ext uri="{FF2B5EF4-FFF2-40B4-BE49-F238E27FC236}">
                <a16:creationId xmlns:a16="http://schemas.microsoft.com/office/drawing/2014/main" id="{909F9C84-4680-B58B-753B-E4AF6E58A6B4}"/>
              </a:ext>
            </a:extLst>
          </p:cNvPr>
          <p:cNvPicPr>
            <a:picLocks noChangeAspect="1"/>
          </p:cNvPicPr>
          <p:nvPr/>
        </p:nvPicPr>
        <p:blipFill>
          <a:blip r:embed="rId3"/>
          <a:stretch>
            <a:fillRect/>
          </a:stretch>
        </p:blipFill>
        <p:spPr>
          <a:xfrm>
            <a:off x="415600" y="2940722"/>
            <a:ext cx="4959768" cy="3680834"/>
          </a:xfrm>
          <a:prstGeom prst="rect">
            <a:avLst/>
          </a:prstGeom>
        </p:spPr>
      </p:pic>
      <p:sp>
        <p:nvSpPr>
          <p:cNvPr id="19" name="TextBox 18">
            <a:extLst>
              <a:ext uri="{FF2B5EF4-FFF2-40B4-BE49-F238E27FC236}">
                <a16:creationId xmlns:a16="http://schemas.microsoft.com/office/drawing/2014/main" id="{AA69F39E-6BF6-6B8B-FDBE-1DD87EE8D482}"/>
              </a:ext>
            </a:extLst>
          </p:cNvPr>
          <p:cNvSpPr txBox="1"/>
          <p:nvPr/>
        </p:nvSpPr>
        <p:spPr>
          <a:xfrm>
            <a:off x="4819927" y="2248088"/>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closer to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Immediate execution/match</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CFC2EEB6-7107-F1E4-1103-8AA4FFEDA74C}"/>
              </a:ext>
            </a:extLst>
          </p:cNvPr>
          <p:cNvSpPr txBox="1"/>
          <p:nvPr/>
        </p:nvSpPr>
        <p:spPr>
          <a:xfrm>
            <a:off x="4819927" y="3655806"/>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away from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potential execution/match in future</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7B1C08CD-6CC6-5CB1-5C85-B10FF82DD395}"/>
              </a:ext>
            </a:extLst>
          </p:cNvPr>
          <p:cNvSpPr txBox="1"/>
          <p:nvPr/>
        </p:nvSpPr>
        <p:spPr>
          <a:xfrm>
            <a:off x="4819927" y="5138681"/>
            <a:ext cx="719388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Position in the queue/price </a:t>
            </a:r>
            <a:b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b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level matters!</a:t>
            </a:r>
          </a:p>
        </p:txBody>
      </p:sp>
      <p:sp>
        <p:nvSpPr>
          <p:cNvPr id="3" name="Rounded Rectangle 2">
            <a:extLst>
              <a:ext uri="{FF2B5EF4-FFF2-40B4-BE49-F238E27FC236}">
                <a16:creationId xmlns:a16="http://schemas.microsoft.com/office/drawing/2014/main" id="{076363CE-F651-6AFA-5D9C-527FE8C4F61B}"/>
              </a:ext>
            </a:extLst>
          </p:cNvPr>
          <p:cNvSpPr/>
          <p:nvPr/>
        </p:nvSpPr>
        <p:spPr>
          <a:xfrm>
            <a:off x="6096000" y="3429000"/>
            <a:ext cx="3926698" cy="1564252"/>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Competition Among MPs</a:t>
            </a:r>
          </a:p>
        </p:txBody>
      </p:sp>
      <p:sp>
        <p:nvSpPr>
          <p:cNvPr id="4" name="Rectangle 3">
            <a:extLst>
              <a:ext uri="{FF2B5EF4-FFF2-40B4-BE49-F238E27FC236}">
                <a16:creationId xmlns:a16="http://schemas.microsoft.com/office/drawing/2014/main" id="{F593E40F-8BE6-21BC-F867-78CD18543412}"/>
              </a:ext>
            </a:extLst>
          </p:cNvPr>
          <p:cNvSpPr/>
          <p:nvPr/>
        </p:nvSpPr>
        <p:spPr>
          <a:xfrm>
            <a:off x="4908324" y="1356966"/>
            <a:ext cx="6219221" cy="19155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white"/>
                </a:solidFill>
                <a:effectLst/>
                <a:uLnTx/>
                <a:uFillTx/>
                <a:latin typeface="Aptos" panose="02110004020202020204"/>
                <a:ea typeface="+mn-ea"/>
                <a:cs typeface="+mn-cs"/>
              </a:rPr>
              <a:t>Traditional exchanges built in private data centers or colocation facilities!</a:t>
            </a:r>
          </a:p>
        </p:txBody>
      </p:sp>
    </p:spTree>
    <p:extLst>
      <p:ext uri="{BB962C8B-B14F-4D97-AF65-F5344CB8AC3E}">
        <p14:creationId xmlns:p14="http://schemas.microsoft.com/office/powerpoint/2010/main" val="31735413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994C19-636C-6217-A88E-E21D23C13D26}"/>
              </a:ext>
            </a:extLst>
          </p:cNvPr>
          <p:cNvSpPr txBox="1"/>
          <p:nvPr/>
        </p:nvSpPr>
        <p:spPr>
          <a:xfrm>
            <a:off x="240323" y="1997839"/>
            <a:ext cx="11711354" cy="28623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Can we use the public cloud to </a:t>
            </a:r>
            <a:r>
              <a:rPr kumimoji="0" lang="en-US" sz="6000" b="0" i="0" u="none" strike="noStrike" kern="1200" cap="none" spc="0" normalizeH="0" baseline="0" noProof="0" dirty="0">
                <a:ln>
                  <a:noFill/>
                </a:ln>
                <a:solidFill>
                  <a:srgbClr val="C00000"/>
                </a:solidFill>
                <a:effectLst/>
                <a:uLnTx/>
                <a:uFillTx/>
                <a:latin typeface="Aptos" panose="02110004020202020204"/>
                <a:ea typeface="+mn-ea"/>
                <a:cs typeface="+mn-cs"/>
              </a:rPr>
              <a:t>build</a:t>
            </a: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 and </a:t>
            </a:r>
            <a:r>
              <a:rPr kumimoji="0" lang="en-US" sz="6000" b="0" i="0" u="none" strike="noStrike" kern="1200" cap="none" spc="0" normalizeH="0" baseline="0" noProof="0" dirty="0">
                <a:ln>
                  <a:noFill/>
                </a:ln>
                <a:solidFill>
                  <a:srgbClr val="C00000"/>
                </a:solidFill>
                <a:effectLst/>
                <a:uLnTx/>
                <a:uFillTx/>
                <a:latin typeface="Aptos" panose="02110004020202020204"/>
                <a:ea typeface="+mn-ea"/>
                <a:cs typeface="+mn-cs"/>
              </a:rPr>
              <a:t>scale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financial exchanges?</a:t>
            </a:r>
          </a:p>
        </p:txBody>
      </p:sp>
    </p:spTree>
    <p:extLst>
      <p:ext uri="{BB962C8B-B14F-4D97-AF65-F5344CB8AC3E}">
        <p14:creationId xmlns:p14="http://schemas.microsoft.com/office/powerpoint/2010/main" val="3181368583"/>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50D253-F2C4-4B85-8E4E-25642F169002}"/>
              </a:ext>
            </a:extLst>
          </p:cNvPr>
          <p:cNvSpPr>
            <a:spLocks noGrp="1"/>
          </p:cNvSpPr>
          <p:nvPr>
            <p:ph type="title"/>
          </p:nvPr>
        </p:nvSpPr>
        <p:spPr>
          <a:xfrm>
            <a:off x="818984" y="4230093"/>
            <a:ext cx="4150581" cy="1800165"/>
          </a:xfrm>
        </p:spPr>
        <p:txBody>
          <a:bodyPr vert="horz" lIns="91440" tIns="45720" rIns="91440" bIns="45720" rtlCol="0" anchor="t">
            <a:normAutofit/>
          </a:bodyPr>
          <a:lstStyle/>
          <a:p>
            <a:pPr algn="r">
              <a:spcBef>
                <a:spcPct val="0"/>
              </a:spcBef>
            </a:pPr>
            <a:r>
              <a:rPr lang="en-US" sz="4000" kern="1200" dirty="0">
                <a:solidFill>
                  <a:schemeClr val="tx1"/>
                </a:solidFill>
                <a:latin typeface="+mj-lt"/>
                <a:ea typeface="+mj-ea"/>
                <a:cs typeface="+mj-cs"/>
              </a:rPr>
              <a:t>Public Cloud Exhibits High Latency </a:t>
            </a:r>
            <a:r>
              <a:rPr lang="en-US" sz="4000" dirty="0"/>
              <a:t>&amp; </a:t>
            </a:r>
            <a:r>
              <a:rPr lang="en-US" sz="4000" kern="1200" dirty="0">
                <a:solidFill>
                  <a:schemeClr val="tx1"/>
                </a:solidFill>
                <a:latin typeface="+mj-lt"/>
                <a:ea typeface="+mj-ea"/>
                <a:cs typeface="+mj-cs"/>
              </a:rPr>
              <a:t>Variance</a:t>
            </a:r>
          </a:p>
        </p:txBody>
      </p:sp>
      <p:pic>
        <p:nvPicPr>
          <p:cNvPr id="7" name="Picture 6" descr="A green line graph with numbers&#10;&#10;AI-generated content may be incorrect.">
            <a:extLst>
              <a:ext uri="{FF2B5EF4-FFF2-40B4-BE49-F238E27FC236}">
                <a16:creationId xmlns:a16="http://schemas.microsoft.com/office/drawing/2014/main" id="{524C1768-0D83-2672-E01C-AB9533EC5854}"/>
              </a:ext>
            </a:extLst>
          </p:cNvPr>
          <p:cNvPicPr>
            <a:picLocks noChangeAspect="1"/>
          </p:cNvPicPr>
          <p:nvPr/>
        </p:nvPicPr>
        <p:blipFill>
          <a:blip r:embed="rId3"/>
          <a:srcRect l="6659" t="8107" r="9298"/>
          <a:stretch>
            <a:fillRect/>
          </a:stretch>
        </p:blipFill>
        <p:spPr>
          <a:xfrm>
            <a:off x="1374371" y="457200"/>
            <a:ext cx="9504220" cy="3455325"/>
          </a:xfrm>
          <a:prstGeom prst="rect">
            <a:avLst/>
          </a:prstGeom>
        </p:spPr>
      </p:pic>
      <p:sp>
        <p:nvSpPr>
          <p:cNvPr id="8" name="TextBox 7">
            <a:extLst>
              <a:ext uri="{FF2B5EF4-FFF2-40B4-BE49-F238E27FC236}">
                <a16:creationId xmlns:a16="http://schemas.microsoft.com/office/drawing/2014/main" id="{220C27FC-00B4-FA78-7403-3013CE370A95}"/>
              </a:ext>
            </a:extLst>
          </p:cNvPr>
          <p:cNvSpPr txBox="1"/>
          <p:nvPr/>
        </p:nvSpPr>
        <p:spPr>
          <a:xfrm>
            <a:off x="5246415" y="4230094"/>
            <a:ext cx="6235268" cy="1800164"/>
          </a:xfrm>
          <a:prstGeom prst="rect">
            <a:avLst/>
          </a:prstGeom>
        </p:spPr>
        <p:txBody>
          <a:bodyPr vert="horz" lIns="91440" tIns="45720" rIns="91440" bIns="45720" rtlCol="0" anchor="t">
            <a:normAutofit/>
          </a:bodyPr>
          <a:lstStyle/>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Latency varies temporally</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Latency varies spatially – across multiple clients</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Unfit for fair competition</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Onyx: mechanisms to achieve fairness + high performance at scale</a:t>
            </a:r>
          </a:p>
        </p:txBody>
      </p:sp>
      <p:sp>
        <p:nvSpPr>
          <p:cNvPr id="15" name="Rectangle 14">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350269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D7EE-D0F9-F30C-4D84-CD298466334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3E41FEC-4794-0FB3-FA59-1D619D1EF899}"/>
              </a:ext>
            </a:extLst>
          </p:cNvPr>
          <p:cNvCxnSpPr>
            <a:cxnSpLocks/>
          </p:cNvCxnSpPr>
          <p:nvPr/>
        </p:nvCxnSpPr>
        <p:spPr>
          <a:xfrm flipH="1">
            <a:off x="2795953" y="510988"/>
            <a:ext cx="6541477" cy="5432613"/>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21A8EAA-7162-489E-0D5E-C4F622ABD4BC}"/>
              </a:ext>
            </a:extLst>
          </p:cNvPr>
          <p:cNvCxnSpPr>
            <a:cxnSpLocks/>
          </p:cNvCxnSpPr>
          <p:nvPr/>
        </p:nvCxnSpPr>
        <p:spPr>
          <a:xfrm>
            <a:off x="3059723" y="685801"/>
            <a:ext cx="6277707" cy="5257800"/>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D44DC3-168A-C3F4-9068-42C5684FEFEA}"/>
              </a:ext>
            </a:extLst>
          </p:cNvPr>
          <p:cNvSpPr txBox="1"/>
          <p:nvPr/>
        </p:nvSpPr>
        <p:spPr>
          <a:xfrm>
            <a:off x="9396047" y="143849"/>
            <a:ext cx="288628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scalability</a:t>
            </a:r>
          </a:p>
        </p:txBody>
      </p:sp>
      <p:sp>
        <p:nvSpPr>
          <p:cNvPr id="18" name="TextBox 17">
            <a:extLst>
              <a:ext uri="{FF2B5EF4-FFF2-40B4-BE49-F238E27FC236}">
                <a16:creationId xmlns:a16="http://schemas.microsoft.com/office/drawing/2014/main" id="{14B23827-BA4F-5918-8348-B31FACCE5E6F}"/>
              </a:ext>
            </a:extLst>
          </p:cNvPr>
          <p:cNvSpPr txBox="1"/>
          <p:nvPr/>
        </p:nvSpPr>
        <p:spPr>
          <a:xfrm>
            <a:off x="562707" y="126266"/>
            <a:ext cx="281847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economy</a:t>
            </a:r>
          </a:p>
        </p:txBody>
      </p:sp>
      <p:sp>
        <p:nvSpPr>
          <p:cNvPr id="19" name="TextBox 18">
            <a:extLst>
              <a:ext uri="{FF2B5EF4-FFF2-40B4-BE49-F238E27FC236}">
                <a16:creationId xmlns:a16="http://schemas.microsoft.com/office/drawing/2014/main" id="{B5DC0346-EF18-F156-C2FB-E42928EAD4C8}"/>
              </a:ext>
            </a:extLst>
          </p:cNvPr>
          <p:cNvSpPr txBox="1"/>
          <p:nvPr/>
        </p:nvSpPr>
        <p:spPr>
          <a:xfrm>
            <a:off x="9305714" y="5961550"/>
            <a:ext cx="288628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sp>
        <p:nvSpPr>
          <p:cNvPr id="20" name="TextBox 19">
            <a:extLst>
              <a:ext uri="{FF2B5EF4-FFF2-40B4-BE49-F238E27FC236}">
                <a16:creationId xmlns:a16="http://schemas.microsoft.com/office/drawing/2014/main" id="{C9D792CB-CE22-CADB-C321-260A451A4B03}"/>
              </a:ext>
            </a:extLst>
          </p:cNvPr>
          <p:cNvSpPr txBox="1"/>
          <p:nvPr/>
        </p:nvSpPr>
        <p:spPr>
          <a:xfrm>
            <a:off x="562707" y="5965465"/>
            <a:ext cx="367518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performance</a:t>
            </a:r>
          </a:p>
        </p:txBody>
      </p:sp>
      <p:sp>
        <p:nvSpPr>
          <p:cNvPr id="21" name="Oval 20">
            <a:extLst>
              <a:ext uri="{FF2B5EF4-FFF2-40B4-BE49-F238E27FC236}">
                <a16:creationId xmlns:a16="http://schemas.microsoft.com/office/drawing/2014/main" id="{2E46A233-0044-3021-2539-B77FC2BF9E2B}"/>
              </a:ext>
            </a:extLst>
          </p:cNvPr>
          <p:cNvSpPr/>
          <p:nvPr/>
        </p:nvSpPr>
        <p:spPr>
          <a:xfrm>
            <a:off x="360484" y="1072807"/>
            <a:ext cx="1565031" cy="14606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Aptos" panose="02110004020202020204"/>
                <a:ea typeface="+mn-ea"/>
                <a:cs typeface="+mn-cs"/>
              </a:rPr>
              <a:t>Web APIs</a:t>
            </a:r>
          </a:p>
        </p:txBody>
      </p:sp>
      <p:cxnSp>
        <p:nvCxnSpPr>
          <p:cNvPr id="23" name="Straight Connector 22">
            <a:extLst>
              <a:ext uri="{FF2B5EF4-FFF2-40B4-BE49-F238E27FC236}">
                <a16:creationId xmlns:a16="http://schemas.microsoft.com/office/drawing/2014/main" id="{3482D5C4-19A7-DBF2-0113-F8D5DDE10151}"/>
              </a:ext>
            </a:extLst>
          </p:cNvPr>
          <p:cNvCxnSpPr>
            <a:cxnSpLocks/>
          </p:cNvCxnSpPr>
          <p:nvPr/>
        </p:nvCxnSpPr>
        <p:spPr>
          <a:xfrm>
            <a:off x="3833447" y="1316908"/>
            <a:ext cx="4466491" cy="19523"/>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910874B-6583-BC0E-4A8D-257C3A01E301}"/>
              </a:ext>
            </a:extLst>
          </p:cNvPr>
          <p:cNvCxnSpPr>
            <a:cxnSpLocks/>
          </p:cNvCxnSpPr>
          <p:nvPr/>
        </p:nvCxnSpPr>
        <p:spPr>
          <a:xfrm flipV="1">
            <a:off x="6629401" y="1336431"/>
            <a:ext cx="1670537" cy="2483771"/>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6970EAD-23BC-8054-3263-5C2B10E921F5}"/>
              </a:ext>
            </a:extLst>
          </p:cNvPr>
          <p:cNvCxnSpPr>
            <a:cxnSpLocks/>
          </p:cNvCxnSpPr>
          <p:nvPr/>
        </p:nvCxnSpPr>
        <p:spPr>
          <a:xfrm>
            <a:off x="5350621" y="3851031"/>
            <a:ext cx="1319812" cy="0"/>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C26B230-BAF0-93B2-63A3-0E14502A70E9}"/>
              </a:ext>
            </a:extLst>
          </p:cNvPr>
          <p:cNvCxnSpPr>
            <a:cxnSpLocks/>
          </p:cNvCxnSpPr>
          <p:nvPr/>
        </p:nvCxnSpPr>
        <p:spPr>
          <a:xfrm flipH="1" flipV="1">
            <a:off x="3833447" y="1444562"/>
            <a:ext cx="1517174" cy="2336313"/>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09AA9595-F546-C061-7C48-930AE84BFF56}"/>
              </a:ext>
            </a:extLst>
          </p:cNvPr>
          <p:cNvSpPr/>
          <p:nvPr/>
        </p:nvSpPr>
        <p:spPr>
          <a:xfrm>
            <a:off x="349243" y="3120714"/>
            <a:ext cx="1565031" cy="146063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Aptos" panose="02110004020202020204"/>
                <a:ea typeface="+mn-ea"/>
                <a:cs typeface="+mn-cs"/>
              </a:rPr>
              <a:t>On-Prem</a:t>
            </a:r>
          </a:p>
        </p:txBody>
      </p:sp>
      <p:cxnSp>
        <p:nvCxnSpPr>
          <p:cNvPr id="38" name="Straight Connector 37">
            <a:extLst>
              <a:ext uri="{FF2B5EF4-FFF2-40B4-BE49-F238E27FC236}">
                <a16:creationId xmlns:a16="http://schemas.microsoft.com/office/drawing/2014/main" id="{D707C351-2EF4-9FE6-363F-75EEE649A664}"/>
              </a:ext>
            </a:extLst>
          </p:cNvPr>
          <p:cNvCxnSpPr>
            <a:cxnSpLocks/>
          </p:cNvCxnSpPr>
          <p:nvPr/>
        </p:nvCxnSpPr>
        <p:spPr>
          <a:xfrm flipV="1">
            <a:off x="3360848" y="2720549"/>
            <a:ext cx="1989773" cy="2796642"/>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86A6836-9F74-50DC-923C-F7573F458FCC}"/>
              </a:ext>
            </a:extLst>
          </p:cNvPr>
          <p:cNvCxnSpPr>
            <a:cxnSpLocks/>
          </p:cNvCxnSpPr>
          <p:nvPr/>
        </p:nvCxnSpPr>
        <p:spPr>
          <a:xfrm flipV="1">
            <a:off x="3381183" y="5378198"/>
            <a:ext cx="5200109" cy="35240"/>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91B3576-5F4D-E4CE-2357-0ACADD7B4310}"/>
              </a:ext>
            </a:extLst>
          </p:cNvPr>
          <p:cNvCxnSpPr>
            <a:cxnSpLocks/>
          </p:cNvCxnSpPr>
          <p:nvPr/>
        </p:nvCxnSpPr>
        <p:spPr>
          <a:xfrm>
            <a:off x="6841381" y="2563629"/>
            <a:ext cx="1739911" cy="2710816"/>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069F2B3-6C08-2BE5-40D1-BFF80A755A8A}"/>
              </a:ext>
            </a:extLst>
          </p:cNvPr>
          <p:cNvCxnSpPr>
            <a:cxnSpLocks/>
          </p:cNvCxnSpPr>
          <p:nvPr/>
        </p:nvCxnSpPr>
        <p:spPr>
          <a:xfrm flipV="1">
            <a:off x="5415320" y="2563629"/>
            <a:ext cx="1426061" cy="51876"/>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443F3226-66FC-B71E-8DF1-6425DD94FB93}"/>
              </a:ext>
            </a:extLst>
          </p:cNvPr>
          <p:cNvSpPr/>
          <p:nvPr/>
        </p:nvSpPr>
        <p:spPr>
          <a:xfrm>
            <a:off x="9578717" y="1968367"/>
            <a:ext cx="2264040" cy="2216771"/>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Aptos" panose="02110004020202020204"/>
                <a:ea typeface="+mn-ea"/>
                <a:cs typeface="+mn-cs"/>
              </a:rPr>
              <a:t>Onyx</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ptos" panose="02110004020202020204"/>
                <a:ea typeface="+mn-ea"/>
                <a:cs typeface="+mn-cs"/>
              </a:rPr>
              <a:t>(this work)</a:t>
            </a:r>
          </a:p>
        </p:txBody>
      </p:sp>
      <p:cxnSp>
        <p:nvCxnSpPr>
          <p:cNvPr id="51" name="Straight Connector 50">
            <a:extLst>
              <a:ext uri="{FF2B5EF4-FFF2-40B4-BE49-F238E27FC236}">
                <a16:creationId xmlns:a16="http://schemas.microsoft.com/office/drawing/2014/main" id="{5E7FDEF5-F854-42FA-EE85-F1392553B8B8}"/>
              </a:ext>
            </a:extLst>
          </p:cNvPr>
          <p:cNvCxnSpPr>
            <a:cxnSpLocks/>
          </p:cNvCxnSpPr>
          <p:nvPr/>
        </p:nvCxnSpPr>
        <p:spPr>
          <a:xfrm>
            <a:off x="4589585" y="1968367"/>
            <a:ext cx="2954215" cy="0"/>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3884B1B-B881-1A56-79C0-E4815E9BAD6A}"/>
              </a:ext>
            </a:extLst>
          </p:cNvPr>
          <p:cNvCxnSpPr>
            <a:cxnSpLocks/>
          </p:cNvCxnSpPr>
          <p:nvPr/>
        </p:nvCxnSpPr>
        <p:spPr>
          <a:xfrm flipV="1">
            <a:off x="4535869" y="1968367"/>
            <a:ext cx="53716" cy="2396154"/>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1A54ADDD-D93B-2E9B-8F46-BAD8451DAD87}"/>
              </a:ext>
            </a:extLst>
          </p:cNvPr>
          <p:cNvCxnSpPr>
            <a:cxnSpLocks/>
          </p:cNvCxnSpPr>
          <p:nvPr/>
        </p:nvCxnSpPr>
        <p:spPr>
          <a:xfrm flipV="1">
            <a:off x="4589585" y="4364521"/>
            <a:ext cx="2743200" cy="45260"/>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658DC817-739C-61A2-7EB5-23EDDBE97C1F}"/>
              </a:ext>
            </a:extLst>
          </p:cNvPr>
          <p:cNvCxnSpPr>
            <a:cxnSpLocks/>
          </p:cNvCxnSpPr>
          <p:nvPr/>
        </p:nvCxnSpPr>
        <p:spPr>
          <a:xfrm>
            <a:off x="7485185" y="2003537"/>
            <a:ext cx="0" cy="2513384"/>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F2B03A1B-9CCF-846D-6F80-4E6D13B131CD}"/>
              </a:ext>
            </a:extLst>
          </p:cNvPr>
          <p:cNvCxnSpPr>
            <a:cxnSpLocks/>
          </p:cNvCxnSpPr>
          <p:nvPr/>
        </p:nvCxnSpPr>
        <p:spPr>
          <a:xfrm flipV="1">
            <a:off x="5350621" y="5936630"/>
            <a:ext cx="364379" cy="3229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6E29177E-CF4B-8F1F-291A-AA2F034F935E}"/>
              </a:ext>
            </a:extLst>
          </p:cNvPr>
          <p:cNvCxnSpPr>
            <a:cxnSpLocks/>
          </p:cNvCxnSpPr>
          <p:nvPr/>
        </p:nvCxnSpPr>
        <p:spPr>
          <a:xfrm>
            <a:off x="5350621" y="6363040"/>
            <a:ext cx="364379" cy="360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C5623635-639D-E30A-EF47-97C2A5A760F5}"/>
              </a:ext>
            </a:extLst>
          </p:cNvPr>
          <p:cNvCxnSpPr>
            <a:cxnSpLocks/>
          </p:cNvCxnSpPr>
          <p:nvPr/>
        </p:nvCxnSpPr>
        <p:spPr>
          <a:xfrm flipH="1">
            <a:off x="4805499" y="6358834"/>
            <a:ext cx="438652" cy="3965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D7788F3F-6665-0D22-0870-F2A1B5E15DCD}"/>
              </a:ext>
            </a:extLst>
          </p:cNvPr>
          <p:cNvCxnSpPr>
            <a:cxnSpLocks/>
          </p:cNvCxnSpPr>
          <p:nvPr/>
        </p:nvCxnSpPr>
        <p:spPr>
          <a:xfrm flipH="1" flipV="1">
            <a:off x="4856327" y="5943601"/>
            <a:ext cx="387824" cy="343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C1EF0457-614F-7BB6-8B5A-BB5AE1009905}"/>
              </a:ext>
            </a:extLst>
          </p:cNvPr>
          <p:cNvSpPr txBox="1"/>
          <p:nvPr/>
        </p:nvSpPr>
        <p:spPr>
          <a:xfrm>
            <a:off x="5597612" y="6132311"/>
            <a:ext cx="28862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Away from center = better</a:t>
            </a:r>
          </a:p>
        </p:txBody>
      </p:sp>
      <p:sp>
        <p:nvSpPr>
          <p:cNvPr id="86" name="TextBox 85">
            <a:extLst>
              <a:ext uri="{FF2B5EF4-FFF2-40B4-BE49-F238E27FC236}">
                <a16:creationId xmlns:a16="http://schemas.microsoft.com/office/drawing/2014/main" id="{2D5434C5-0101-5AFE-B4CC-A34DB521DE55}"/>
              </a:ext>
            </a:extLst>
          </p:cNvPr>
          <p:cNvSpPr txBox="1"/>
          <p:nvPr/>
        </p:nvSpPr>
        <p:spPr>
          <a:xfrm>
            <a:off x="7086601" y="933223"/>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10,000 MPs</a:t>
            </a:r>
          </a:p>
        </p:txBody>
      </p:sp>
      <p:sp>
        <p:nvSpPr>
          <p:cNvPr id="87" name="TextBox 86">
            <a:extLst>
              <a:ext uri="{FF2B5EF4-FFF2-40B4-BE49-F238E27FC236}">
                <a16:creationId xmlns:a16="http://schemas.microsoft.com/office/drawing/2014/main" id="{E7F86D4D-F5A5-1E21-9972-3FC1C388F275}"/>
              </a:ext>
            </a:extLst>
          </p:cNvPr>
          <p:cNvSpPr txBox="1"/>
          <p:nvPr/>
        </p:nvSpPr>
        <p:spPr>
          <a:xfrm>
            <a:off x="3104689" y="3624748"/>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ms</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8" name="TextBox 87">
            <a:extLst>
              <a:ext uri="{FF2B5EF4-FFF2-40B4-BE49-F238E27FC236}">
                <a16:creationId xmlns:a16="http://schemas.microsoft.com/office/drawing/2014/main" id="{7986400B-5300-A8A7-0D2F-7F271741AA00}"/>
              </a:ext>
            </a:extLst>
          </p:cNvPr>
          <p:cNvSpPr txBox="1"/>
          <p:nvPr/>
        </p:nvSpPr>
        <p:spPr>
          <a:xfrm>
            <a:off x="4484077" y="4479397"/>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&lt; 100 us</a:t>
            </a:r>
          </a:p>
        </p:txBody>
      </p:sp>
      <p:sp>
        <p:nvSpPr>
          <p:cNvPr id="89" name="TextBox 88">
            <a:extLst>
              <a:ext uri="{FF2B5EF4-FFF2-40B4-BE49-F238E27FC236}">
                <a16:creationId xmlns:a16="http://schemas.microsoft.com/office/drawing/2014/main" id="{C29D5899-CE1E-76E8-AFEA-8A0B353739A0}"/>
              </a:ext>
            </a:extLst>
          </p:cNvPr>
          <p:cNvSpPr txBox="1"/>
          <p:nvPr/>
        </p:nvSpPr>
        <p:spPr>
          <a:xfrm>
            <a:off x="3381183" y="5563254"/>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&lt; 1 us</a:t>
            </a:r>
          </a:p>
        </p:txBody>
      </p:sp>
      <p:sp>
        <p:nvSpPr>
          <p:cNvPr id="90" name="TextBox 89">
            <a:extLst>
              <a:ext uri="{FF2B5EF4-FFF2-40B4-BE49-F238E27FC236}">
                <a16:creationId xmlns:a16="http://schemas.microsoft.com/office/drawing/2014/main" id="{454D3CFA-E8D1-D948-D131-2B0038BC5C00}"/>
              </a:ext>
            </a:extLst>
          </p:cNvPr>
          <p:cNvSpPr txBox="1"/>
          <p:nvPr/>
        </p:nvSpPr>
        <p:spPr>
          <a:xfrm>
            <a:off x="7882807" y="1894755"/>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1000 MPs</a:t>
            </a:r>
          </a:p>
        </p:txBody>
      </p:sp>
      <p:sp>
        <p:nvSpPr>
          <p:cNvPr id="91" name="TextBox 90">
            <a:extLst>
              <a:ext uri="{FF2B5EF4-FFF2-40B4-BE49-F238E27FC236}">
                <a16:creationId xmlns:a16="http://schemas.microsoft.com/office/drawing/2014/main" id="{66887003-4412-C6ED-3C78-E5AA479FDAF3}"/>
              </a:ext>
            </a:extLst>
          </p:cNvPr>
          <p:cNvSpPr txBox="1"/>
          <p:nvPr/>
        </p:nvSpPr>
        <p:spPr>
          <a:xfrm>
            <a:off x="7509595" y="2716398"/>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 MPs</a:t>
            </a:r>
          </a:p>
        </p:txBody>
      </p:sp>
      <p:sp>
        <p:nvSpPr>
          <p:cNvPr id="92" name="TextBox 91">
            <a:extLst>
              <a:ext uri="{FF2B5EF4-FFF2-40B4-BE49-F238E27FC236}">
                <a16:creationId xmlns:a16="http://schemas.microsoft.com/office/drawing/2014/main" id="{045B1CA6-3A24-6DE2-19D1-F1F60CDC7D40}"/>
              </a:ext>
            </a:extLst>
          </p:cNvPr>
          <p:cNvSpPr txBox="1"/>
          <p:nvPr/>
        </p:nvSpPr>
        <p:spPr>
          <a:xfrm>
            <a:off x="6781802" y="4366535"/>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 us</a:t>
            </a:r>
          </a:p>
        </p:txBody>
      </p:sp>
      <p:sp>
        <p:nvSpPr>
          <p:cNvPr id="93" name="TextBox 92">
            <a:extLst>
              <a:ext uri="{FF2B5EF4-FFF2-40B4-BE49-F238E27FC236}">
                <a16:creationId xmlns:a16="http://schemas.microsoft.com/office/drawing/2014/main" id="{4FBC12F5-D6E9-59AA-2B9D-375ABDB493DC}"/>
              </a:ext>
            </a:extLst>
          </p:cNvPr>
          <p:cNvSpPr txBox="1"/>
          <p:nvPr/>
        </p:nvSpPr>
        <p:spPr>
          <a:xfrm>
            <a:off x="8752240" y="5147859"/>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10 ns</a:t>
            </a:r>
          </a:p>
        </p:txBody>
      </p:sp>
      <p:sp>
        <p:nvSpPr>
          <p:cNvPr id="94" name="TextBox 93">
            <a:extLst>
              <a:ext uri="{FF2B5EF4-FFF2-40B4-BE49-F238E27FC236}">
                <a16:creationId xmlns:a16="http://schemas.microsoft.com/office/drawing/2014/main" id="{0761262B-86E6-265A-2A4B-E5330AE412FC}"/>
              </a:ext>
            </a:extLst>
          </p:cNvPr>
          <p:cNvSpPr txBox="1"/>
          <p:nvPr/>
        </p:nvSpPr>
        <p:spPr>
          <a:xfrm>
            <a:off x="5984629" y="3888307"/>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10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ms</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5" name="TextBox 94">
            <a:extLst>
              <a:ext uri="{FF2B5EF4-FFF2-40B4-BE49-F238E27FC236}">
                <a16:creationId xmlns:a16="http://schemas.microsoft.com/office/drawing/2014/main" id="{BC76C45B-EF9E-084C-9560-1E5C07958FAC}"/>
              </a:ext>
            </a:extLst>
          </p:cNvPr>
          <p:cNvSpPr txBox="1"/>
          <p:nvPr/>
        </p:nvSpPr>
        <p:spPr>
          <a:xfrm>
            <a:off x="2409093" y="2754799"/>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$60K/month/MP</a:t>
            </a:r>
          </a:p>
        </p:txBody>
      </p:sp>
      <p:sp>
        <p:nvSpPr>
          <p:cNvPr id="96" name="TextBox 95">
            <a:extLst>
              <a:ext uri="{FF2B5EF4-FFF2-40B4-BE49-F238E27FC236}">
                <a16:creationId xmlns:a16="http://schemas.microsoft.com/office/drawing/2014/main" id="{713C673E-E971-081F-D6FA-D19C25D5A49D}"/>
              </a:ext>
            </a:extLst>
          </p:cNvPr>
          <p:cNvSpPr txBox="1"/>
          <p:nvPr/>
        </p:nvSpPr>
        <p:spPr>
          <a:xfrm>
            <a:off x="2569319" y="1968037"/>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$16/month/MP</a:t>
            </a:r>
          </a:p>
        </p:txBody>
      </p:sp>
    </p:spTree>
    <p:extLst>
      <p:ext uri="{BB962C8B-B14F-4D97-AF65-F5344CB8AC3E}">
        <p14:creationId xmlns:p14="http://schemas.microsoft.com/office/powerpoint/2010/main" val="336620407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dissolve">
                                      <p:cBhvr>
                                        <p:cTn id="10" dur="500"/>
                                        <p:tgtEl>
                                          <p:spTgt spid="20"/>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dissolve">
                                      <p:cBhvr>
                                        <p:cTn id="19" dur="500"/>
                                        <p:tgtEl>
                                          <p:spTgt spid="1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dissolve">
                                      <p:cBhvr>
                                        <p:cTn id="27" dur="500"/>
                                        <p:tgtEl>
                                          <p:spTgt spid="37"/>
                                        </p:tgtEl>
                                      </p:cBhvr>
                                    </p:animEffect>
                                  </p:childTnLst>
                                </p:cTn>
                              </p:par>
                              <p:par>
                                <p:cTn id="28" presetID="9"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dissolve">
                                      <p:cBhvr>
                                        <p:cTn id="30" dur="500"/>
                                        <p:tgtEl>
                                          <p:spTgt spid="38"/>
                                        </p:tgtEl>
                                      </p:cBhvr>
                                    </p:animEffect>
                                  </p:childTnLst>
                                </p:cTn>
                              </p:par>
                              <p:par>
                                <p:cTn id="31" presetID="9"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dissolve">
                                      <p:cBhvr>
                                        <p:cTn id="33" dur="500"/>
                                        <p:tgtEl>
                                          <p:spTgt spid="42"/>
                                        </p:tgtEl>
                                      </p:cBhvr>
                                    </p:animEffect>
                                  </p:childTnLst>
                                </p:cTn>
                              </p:par>
                              <p:par>
                                <p:cTn id="34" presetID="9" presetClass="entr" presetSubtype="0" fill="hold"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dissolve">
                                      <p:cBhvr>
                                        <p:cTn id="36" dur="500"/>
                                        <p:tgtEl>
                                          <p:spTgt spid="45"/>
                                        </p:tgtEl>
                                      </p:cBhvr>
                                    </p:animEffect>
                                  </p:childTnLst>
                                </p:cTn>
                              </p:par>
                              <p:par>
                                <p:cTn id="37" presetID="9" presetClass="entr" presetSubtype="0"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dissolve">
                                      <p:cBhvr>
                                        <p:cTn id="39" dur="500"/>
                                        <p:tgtEl>
                                          <p:spTgt spid="48"/>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8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9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par>
                                <p:cTn id="53" presetID="9"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dissolve">
                                      <p:cBhvr>
                                        <p:cTn id="55" dur="500"/>
                                        <p:tgtEl>
                                          <p:spTgt spid="23"/>
                                        </p:tgtEl>
                                      </p:cBhvr>
                                    </p:animEffect>
                                  </p:childTnLst>
                                </p:cTn>
                              </p:par>
                              <p:par>
                                <p:cTn id="56" presetID="9" presetClass="entr" presetSubtype="0"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dissolve">
                                      <p:cBhvr>
                                        <p:cTn id="58" dur="500"/>
                                        <p:tgtEl>
                                          <p:spTgt spid="34"/>
                                        </p:tgtEl>
                                      </p:cBhvr>
                                    </p:animEffect>
                                  </p:childTnLst>
                                </p:cTn>
                              </p:par>
                              <p:par>
                                <p:cTn id="59" presetID="9"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dissolve">
                                      <p:cBhvr>
                                        <p:cTn id="61" dur="500"/>
                                        <p:tgtEl>
                                          <p:spTgt spid="27"/>
                                        </p:tgtEl>
                                      </p:cBhvr>
                                    </p:animEffect>
                                  </p:childTnLst>
                                </p:cTn>
                              </p:par>
                              <p:par>
                                <p:cTn id="62" presetID="9" presetClass="entr" presetSubtype="0" fill="hold"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dissolve">
                                      <p:cBhvr>
                                        <p:cTn id="64" dur="500"/>
                                        <p:tgtEl>
                                          <p:spTgt spid="31"/>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dissolve">
                                      <p:cBhvr>
                                        <p:cTn id="75" dur="500"/>
                                        <p:tgtEl>
                                          <p:spTgt spid="50"/>
                                        </p:tgtEl>
                                      </p:cBhvr>
                                    </p:animEffect>
                                  </p:childTnLst>
                                </p:cTn>
                              </p:par>
                              <p:par>
                                <p:cTn id="76" presetID="9" presetClass="entr" presetSubtype="0" fill="hold" nodeType="withEffect">
                                  <p:stCondLst>
                                    <p:cond delay="0"/>
                                  </p:stCondLst>
                                  <p:childTnLst>
                                    <p:set>
                                      <p:cBhvr>
                                        <p:cTn id="77" dur="1" fill="hold">
                                          <p:stCondLst>
                                            <p:cond delay="0"/>
                                          </p:stCondLst>
                                        </p:cTn>
                                        <p:tgtEl>
                                          <p:spTgt spid="54"/>
                                        </p:tgtEl>
                                        <p:attrNameLst>
                                          <p:attrName>style.visibility</p:attrName>
                                        </p:attrNameLst>
                                      </p:cBhvr>
                                      <p:to>
                                        <p:strVal val="visible"/>
                                      </p:to>
                                    </p:set>
                                    <p:animEffect transition="in" filter="dissolve">
                                      <p:cBhvr>
                                        <p:cTn id="78" dur="500"/>
                                        <p:tgtEl>
                                          <p:spTgt spid="54"/>
                                        </p:tgtEl>
                                      </p:cBhvr>
                                    </p:animEffect>
                                  </p:childTnLst>
                                </p:cTn>
                              </p:par>
                              <p:par>
                                <p:cTn id="79" presetID="9" presetClass="entr" presetSubtype="0" fill="hold" nodeType="with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dissolve">
                                      <p:cBhvr>
                                        <p:cTn id="81" dur="500"/>
                                        <p:tgtEl>
                                          <p:spTgt spid="51"/>
                                        </p:tgtEl>
                                      </p:cBhvr>
                                    </p:animEffect>
                                  </p:childTnLst>
                                </p:cTn>
                              </p:par>
                              <p:par>
                                <p:cTn id="82" presetID="9" presetClass="entr" presetSubtype="0" fill="hold" nodeType="with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dissolve">
                                      <p:cBhvr>
                                        <p:cTn id="84" dur="500"/>
                                        <p:tgtEl>
                                          <p:spTgt spid="62"/>
                                        </p:tgtEl>
                                      </p:cBhvr>
                                    </p:animEffect>
                                  </p:childTnLst>
                                </p:cTn>
                              </p:par>
                              <p:par>
                                <p:cTn id="85" presetID="9" presetClass="entr" presetSubtype="0" fill="hold" nodeType="withEffect">
                                  <p:stCondLst>
                                    <p:cond delay="0"/>
                                  </p:stCondLst>
                                  <p:childTnLst>
                                    <p:set>
                                      <p:cBhvr>
                                        <p:cTn id="86" dur="1" fill="hold">
                                          <p:stCondLst>
                                            <p:cond delay="0"/>
                                          </p:stCondLst>
                                        </p:cTn>
                                        <p:tgtEl>
                                          <p:spTgt spid="59"/>
                                        </p:tgtEl>
                                        <p:attrNameLst>
                                          <p:attrName>style.visibility</p:attrName>
                                        </p:attrNameLst>
                                      </p:cBhvr>
                                      <p:to>
                                        <p:strVal val="visible"/>
                                      </p:to>
                                    </p:set>
                                    <p:animEffect transition="in" filter="dissolve">
                                      <p:cBhvr>
                                        <p:cTn id="87" dur="500"/>
                                        <p:tgtEl>
                                          <p:spTgt spid="59"/>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9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88"/>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animBg="1"/>
      <p:bldP spid="37" grpId="0" animBg="1"/>
      <p:bldP spid="50" grpId="0" animBg="1"/>
      <p:bldP spid="86" grpId="0"/>
      <p:bldP spid="87" grpId="0"/>
      <p:bldP spid="88" grpId="0"/>
      <p:bldP spid="89" grpId="0"/>
      <p:bldP spid="90" grpId="0"/>
      <p:bldP spid="91" grpId="0"/>
      <p:bldP spid="92" grpId="0"/>
      <p:bldP spid="93" grpId="0"/>
      <p:bldP spid="94" grpId="0"/>
      <p:bldP spid="95" grpId="0"/>
      <p:bldP spid="96"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88678-9A28-758D-C3C6-D98BAD5E2F6F}"/>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C0D9B04F-71F7-70E0-38A6-A3204B9904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9" name="Rectangle 48">
            <a:extLst>
              <a:ext uri="{FF2B5EF4-FFF2-40B4-BE49-F238E27FC236}">
                <a16:creationId xmlns:a16="http://schemas.microsoft.com/office/drawing/2014/main" id="{4DE296CF-617C-ECA4-CB80-D1ECBC6E4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35E895D1-6EF1-5D85-F23C-0C32E754A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1" name="Rectangle 50">
            <a:extLst>
              <a:ext uri="{FF2B5EF4-FFF2-40B4-BE49-F238E27FC236}">
                <a16:creationId xmlns:a16="http://schemas.microsoft.com/office/drawing/2014/main" id="{C75777E5-C3BC-60B0-15D7-D491D128E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2" name="Freeform: Shape 16">
            <a:extLst>
              <a:ext uri="{FF2B5EF4-FFF2-40B4-BE49-F238E27FC236}">
                <a16:creationId xmlns:a16="http://schemas.microsoft.com/office/drawing/2014/main" id="{04170A5F-4EE4-FA02-E57B-B7B8B5400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Rectangle 52">
            <a:extLst>
              <a:ext uri="{FF2B5EF4-FFF2-40B4-BE49-F238E27FC236}">
                <a16:creationId xmlns:a16="http://schemas.microsoft.com/office/drawing/2014/main" id="{2A20B623-424A-C413-368B-B238DD805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FBCE82B-3644-6521-92FB-E7D891B583F0}"/>
              </a:ext>
            </a:extLst>
          </p:cNvPr>
          <p:cNvSpPr>
            <a:spLocks noGrp="1"/>
          </p:cNvSpPr>
          <p:nvPr>
            <p:ph type="title"/>
          </p:nvPr>
        </p:nvSpPr>
        <p:spPr>
          <a:xfrm>
            <a:off x="586478" y="1683756"/>
            <a:ext cx="3115265" cy="2396359"/>
          </a:xfrm>
        </p:spPr>
        <p:txBody>
          <a:bodyPr anchor="b">
            <a:normAutofit/>
          </a:bodyPr>
          <a:lstStyle/>
          <a:p>
            <a:pPr algn="r"/>
            <a:r>
              <a:rPr lang="en-US" sz="3700" dirty="0">
                <a:solidFill>
                  <a:srgbClr val="FFFFFF"/>
                </a:solidFill>
              </a:rPr>
              <a:t>Onyx: Scalable Cloud Financial Exchange</a:t>
            </a:r>
          </a:p>
        </p:txBody>
      </p:sp>
      <p:graphicFrame>
        <p:nvGraphicFramePr>
          <p:cNvPr id="5" name="Content Placeholder 2">
            <a:extLst>
              <a:ext uri="{FF2B5EF4-FFF2-40B4-BE49-F238E27FC236}">
                <a16:creationId xmlns:a16="http://schemas.microsoft.com/office/drawing/2014/main" id="{90473725-4582-2D6A-BEBA-FAEE010172A4}"/>
              </a:ext>
            </a:extLst>
          </p:cNvPr>
          <p:cNvGraphicFramePr>
            <a:graphicFrameLocks noGrp="1"/>
          </p:cNvGraphicFramePr>
          <p:nvPr>
            <p:ph idx="1"/>
            <p:extLst>
              <p:ext uri="{D42A27DB-BD31-4B8C-83A1-F6EECF244321}">
                <p14:modId xmlns:p14="http://schemas.microsoft.com/office/powerpoint/2010/main" val="3652191560"/>
              </p:ext>
            </p:extLst>
          </p:nvPr>
        </p:nvGraphicFramePr>
        <p:xfrm>
          <a:off x="4487451" y="384388"/>
          <a:ext cx="6790149" cy="6300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26155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382E76DE-0916-BF4F-940E-5CCE6068F0CC}"/>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1B8A2073-DDFC-A945-965F-34F057A13413}"/>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EC6F2A64-226F-F043-A736-0E712AA93A63}"/>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graphicEl>
                                              <a:dgm id="{E1F2A502-4B18-4E44-9443-18DEF06AC982}"/>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F71D5DF7-3038-2041-8621-DF8C046A658D}"/>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graphicEl>
                                              <a:dgm id="{6853193F-8754-5547-B915-A85C1FD214C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AB5ADB6-3848-E651-6B0E-8EEC03BACE09}"/>
              </a:ext>
            </a:extLst>
          </p:cNvPr>
          <p:cNvSpPr>
            <a:spLocks noGrp="1"/>
          </p:cNvSpPr>
          <p:nvPr>
            <p:ph type="title"/>
          </p:nvPr>
        </p:nvSpPr>
        <p:spPr>
          <a:xfrm>
            <a:off x="6094105" y="802955"/>
            <a:ext cx="4977976" cy="1454051"/>
          </a:xfrm>
        </p:spPr>
        <p:txBody>
          <a:bodyPr vert="horz" lIns="91440" tIns="45720" rIns="91440" bIns="45720" rtlCol="0" anchor="ctr">
            <a:normAutofit/>
          </a:bodyPr>
          <a:lstStyle/>
          <a:p>
            <a:pPr>
              <a:spcBef>
                <a:spcPct val="0"/>
              </a:spcBef>
            </a:pPr>
            <a:r>
              <a:rPr lang="en-US" sz="3600" kern="1200" dirty="0">
                <a:solidFill>
                  <a:schemeClr val="tx2"/>
                </a:solidFill>
                <a:latin typeface="+mj-lt"/>
                <a:ea typeface="+mj-ea"/>
                <a:cs typeface="+mj-cs"/>
              </a:rPr>
              <a:t>Onyx</a:t>
            </a:r>
          </a:p>
        </p:txBody>
      </p:sp>
      <p:pic>
        <p:nvPicPr>
          <p:cNvPr id="7" name="Graphic 6" descr="Check List">
            <a:extLst>
              <a:ext uri="{FF2B5EF4-FFF2-40B4-BE49-F238E27FC236}">
                <a16:creationId xmlns:a16="http://schemas.microsoft.com/office/drawing/2014/main" id="{C4F1CCD6-E105-C121-CFC1-1BB6A4E352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Text Placeholder 2">
            <a:extLst>
              <a:ext uri="{FF2B5EF4-FFF2-40B4-BE49-F238E27FC236}">
                <a16:creationId xmlns:a16="http://schemas.microsoft.com/office/drawing/2014/main" id="{73EA4F11-57C5-8E7C-CBB3-E5A3C0E4E8A9}"/>
              </a:ext>
            </a:extLst>
          </p:cNvPr>
          <p:cNvSpPr>
            <a:spLocks noGrp="1"/>
          </p:cNvSpPr>
          <p:nvPr>
            <p:ph type="body" idx="1"/>
          </p:nvPr>
        </p:nvSpPr>
        <p:spPr>
          <a:xfrm>
            <a:off x="6094103" y="2257006"/>
            <a:ext cx="4977578" cy="3639289"/>
          </a:xfrm>
        </p:spPr>
        <p:txBody>
          <a:bodyPr vert="horz" lIns="91440" tIns="45720" rIns="91440" bIns="45720" rtlCol="0" anchor="ctr">
            <a:normAutofit/>
          </a:bodyPr>
          <a:lstStyle/>
          <a:p>
            <a:pPr indent="-228600">
              <a:spcAft>
                <a:spcPts val="600"/>
              </a:spcAft>
              <a:buFont typeface="Arial" panose="020B0604020202020204" pitchFamily="34" charset="0"/>
              <a:buChar char="•"/>
            </a:pPr>
            <a:r>
              <a:rPr lang="en-US" sz="2400" dirty="0">
                <a:solidFill>
                  <a:schemeClr val="tx2"/>
                </a:solidFill>
              </a:rPr>
              <a:t>Fairness definitions and relaxation</a:t>
            </a:r>
          </a:p>
          <a:p>
            <a:pPr indent="-228600">
              <a:spcAft>
                <a:spcPts val="600"/>
              </a:spcAft>
              <a:buFont typeface="Arial" panose="020B0604020202020204" pitchFamily="34" charset="0"/>
              <a:buChar char="•"/>
            </a:pPr>
            <a:r>
              <a:rPr lang="en-US" sz="2400" dirty="0">
                <a:solidFill>
                  <a:schemeClr val="tx2"/>
                </a:solidFill>
              </a:rPr>
              <a:t>Scalable outbound fairness</a:t>
            </a:r>
          </a:p>
          <a:p>
            <a:pPr indent="-228600">
              <a:spcAft>
                <a:spcPts val="600"/>
              </a:spcAft>
              <a:buFont typeface="Arial" panose="020B0604020202020204" pitchFamily="34" charset="0"/>
              <a:buChar char="•"/>
            </a:pPr>
            <a:r>
              <a:rPr lang="en-US" sz="2400" dirty="0">
                <a:solidFill>
                  <a:schemeClr val="tx2"/>
                </a:solidFill>
              </a:rPr>
              <a:t>Scalable inbound fairness</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aphicFrame>
        <p:nvGraphicFramePr>
          <p:cNvPr id="5" name="Table 4">
            <a:extLst>
              <a:ext uri="{FF2B5EF4-FFF2-40B4-BE49-F238E27FC236}">
                <a16:creationId xmlns:a16="http://schemas.microsoft.com/office/drawing/2014/main" id="{E9D2B147-FFEC-4388-CB03-56112A4BCFD0}"/>
              </a:ext>
            </a:extLst>
          </p:cNvPr>
          <p:cNvGraphicFramePr>
            <a:graphicFrameLocks noGrp="1"/>
          </p:cNvGraphicFramePr>
          <p:nvPr/>
        </p:nvGraphicFramePr>
        <p:xfrm>
          <a:off x="910624" y="5497975"/>
          <a:ext cx="9894012" cy="637958"/>
        </p:xfrm>
        <a:graphic>
          <a:graphicData uri="http://schemas.openxmlformats.org/drawingml/2006/table">
            <a:tbl>
              <a:tblPr firstRow="1" bandRow="1">
                <a:tableStyleId>{5C22544A-7EE6-4342-B048-85BDC9FD1C3A}</a:tableStyleId>
              </a:tblPr>
              <a:tblGrid>
                <a:gridCol w="3298004">
                  <a:extLst>
                    <a:ext uri="{9D8B030D-6E8A-4147-A177-3AD203B41FA5}">
                      <a16:colId xmlns:a16="http://schemas.microsoft.com/office/drawing/2014/main" val="1418160432"/>
                    </a:ext>
                  </a:extLst>
                </a:gridCol>
                <a:gridCol w="3298004">
                  <a:extLst>
                    <a:ext uri="{9D8B030D-6E8A-4147-A177-3AD203B41FA5}">
                      <a16:colId xmlns:a16="http://schemas.microsoft.com/office/drawing/2014/main" val="2777814822"/>
                    </a:ext>
                  </a:extLst>
                </a:gridCol>
                <a:gridCol w="3298004">
                  <a:extLst>
                    <a:ext uri="{9D8B030D-6E8A-4147-A177-3AD203B41FA5}">
                      <a16:colId xmlns:a16="http://schemas.microsoft.com/office/drawing/2014/main" val="4282663529"/>
                    </a:ext>
                  </a:extLst>
                </a:gridCol>
              </a:tblGrid>
              <a:tr h="637958">
                <a:tc>
                  <a:txBody>
                    <a:bodyPr/>
                    <a:lstStyle/>
                    <a:p>
                      <a:r>
                        <a:rPr lang="en-US" sz="2400" dirty="0"/>
                        <a:t>Definitions</a:t>
                      </a:r>
                    </a:p>
                  </a:txBody>
                  <a:tcPr/>
                </a:tc>
                <a:tc>
                  <a:txBody>
                    <a:bodyPr/>
                    <a:lstStyle/>
                    <a:p>
                      <a:r>
                        <a:rPr lang="en-US" sz="2400" dirty="0"/>
                        <a:t>Outbound</a:t>
                      </a:r>
                    </a:p>
                  </a:txBody>
                  <a:tcPr/>
                </a:tc>
                <a:tc>
                  <a:txBody>
                    <a:bodyPr/>
                    <a:lstStyle/>
                    <a:p>
                      <a:r>
                        <a:rPr lang="en-US" sz="24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9717741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48F9E-DCD6-F04B-15AD-DF1592E03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C377F-8A63-FEDB-F1D3-7895F86D9B79}"/>
              </a:ext>
            </a:extLst>
          </p:cNvPr>
          <p:cNvSpPr>
            <a:spLocks noGrp="1"/>
          </p:cNvSpPr>
          <p:nvPr>
            <p:ph type="title"/>
          </p:nvPr>
        </p:nvSpPr>
        <p:spPr>
          <a:xfrm>
            <a:off x="6094105" y="802955"/>
            <a:ext cx="4977976" cy="1454051"/>
          </a:xfrm>
        </p:spPr>
        <p:txBody>
          <a:bodyPr vert="horz" lIns="91440" tIns="45720" rIns="91440" bIns="45720" rtlCol="0" anchor="ctr">
            <a:normAutofit/>
          </a:bodyPr>
          <a:lstStyle/>
          <a:p>
            <a:pPr>
              <a:spcBef>
                <a:spcPct val="0"/>
              </a:spcBef>
            </a:pPr>
            <a:r>
              <a:rPr lang="en-US" sz="3600" kern="1200" dirty="0">
                <a:solidFill>
                  <a:schemeClr val="tx2"/>
                </a:solidFill>
                <a:latin typeface="+mj-lt"/>
                <a:ea typeface="+mj-ea"/>
                <a:cs typeface="+mj-cs"/>
              </a:rPr>
              <a:t>Onyx</a:t>
            </a:r>
          </a:p>
        </p:txBody>
      </p:sp>
      <p:pic>
        <p:nvPicPr>
          <p:cNvPr id="7" name="Graphic 6" descr="Check List">
            <a:extLst>
              <a:ext uri="{FF2B5EF4-FFF2-40B4-BE49-F238E27FC236}">
                <a16:creationId xmlns:a16="http://schemas.microsoft.com/office/drawing/2014/main" id="{DDAC13C2-2C70-3FE2-9E86-7C70A052D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Text Placeholder 2">
            <a:extLst>
              <a:ext uri="{FF2B5EF4-FFF2-40B4-BE49-F238E27FC236}">
                <a16:creationId xmlns:a16="http://schemas.microsoft.com/office/drawing/2014/main" id="{E961FCE8-0B81-5C70-BC0B-DC8D08C8FF54}"/>
              </a:ext>
            </a:extLst>
          </p:cNvPr>
          <p:cNvSpPr>
            <a:spLocks noGrp="1"/>
          </p:cNvSpPr>
          <p:nvPr>
            <p:ph type="body" idx="1"/>
          </p:nvPr>
        </p:nvSpPr>
        <p:spPr>
          <a:xfrm>
            <a:off x="6094103" y="2257006"/>
            <a:ext cx="4977578" cy="3639289"/>
          </a:xfrm>
        </p:spPr>
        <p:txBody>
          <a:bodyPr vert="horz" lIns="91440" tIns="45720" rIns="91440" bIns="45720" rtlCol="0" anchor="ctr">
            <a:normAutofit/>
          </a:bodyPr>
          <a:lstStyle/>
          <a:p>
            <a:pPr indent="-228600">
              <a:spcAft>
                <a:spcPts val="600"/>
              </a:spcAft>
              <a:buFont typeface="Arial" panose="020B0604020202020204" pitchFamily="34" charset="0"/>
              <a:buChar char="•"/>
            </a:pPr>
            <a:r>
              <a:rPr lang="en-US" sz="2400" dirty="0">
                <a:solidFill>
                  <a:schemeClr val="tx2"/>
                </a:solidFill>
              </a:rPr>
              <a:t>Fairness definitions and relaxation</a:t>
            </a:r>
          </a:p>
          <a:p>
            <a:pPr indent="-228600">
              <a:spcAft>
                <a:spcPts val="600"/>
              </a:spcAft>
              <a:buFont typeface="Arial" panose="020B0604020202020204" pitchFamily="34" charset="0"/>
              <a:buChar char="•"/>
            </a:pPr>
            <a:r>
              <a:rPr lang="en-US" sz="2400" dirty="0">
                <a:solidFill>
                  <a:schemeClr val="tx2"/>
                </a:solidFill>
              </a:rPr>
              <a:t>Scalable outbound fairness</a:t>
            </a:r>
          </a:p>
          <a:p>
            <a:pPr indent="-228600">
              <a:spcAft>
                <a:spcPts val="600"/>
              </a:spcAft>
              <a:buFont typeface="Arial" panose="020B0604020202020204" pitchFamily="34" charset="0"/>
              <a:buChar char="•"/>
            </a:pPr>
            <a:r>
              <a:rPr lang="en-US" sz="2400" dirty="0">
                <a:solidFill>
                  <a:schemeClr val="tx2"/>
                </a:solidFill>
              </a:rPr>
              <a:t>Scalable inbound fairness</a:t>
            </a:r>
          </a:p>
        </p:txBody>
      </p:sp>
      <p:graphicFrame>
        <p:nvGraphicFramePr>
          <p:cNvPr id="5" name="Table 4">
            <a:extLst>
              <a:ext uri="{FF2B5EF4-FFF2-40B4-BE49-F238E27FC236}">
                <a16:creationId xmlns:a16="http://schemas.microsoft.com/office/drawing/2014/main" id="{D422C39A-55C7-E1FB-5AD3-65F9D94F508B}"/>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t>Definitions</a:t>
                      </a:r>
                    </a:p>
                  </a:txBody>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27570668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4677F2E-E363-684D-92DA-14A02C11478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B236555-3ED9-5D6E-167C-E68F6C9CB2C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73A9A1B2-11C5-CF72-2C51-A1B57F4CCBC7}"/>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C8F76380-F83E-8E69-012D-CE58704DC7FD}"/>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14" name="TextBox 13">
            <a:extLst>
              <a:ext uri="{FF2B5EF4-FFF2-40B4-BE49-F238E27FC236}">
                <a16:creationId xmlns:a16="http://schemas.microsoft.com/office/drawing/2014/main" id="{098ABFDE-31AB-983A-5800-679DA02B019D}"/>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 name="Table 1">
            <a:extLst>
              <a:ext uri="{FF2B5EF4-FFF2-40B4-BE49-F238E27FC236}">
                <a16:creationId xmlns:a16="http://schemas.microsoft.com/office/drawing/2014/main" id="{9781423E-4CE5-9660-1A81-879BD85005C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753985065"/>
      </p:ext>
    </p:extLst>
  </p:cSld>
  <p:clrMapOvr>
    <a:masterClrMapping/>
  </p:clrMapOvr>
  <p:transition spd="med">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E2AEE63-0ED7-016F-45B5-D6E6E5F037B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2B39BE6D-53F3-4863-1262-DF4A24101CDE}"/>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641AF601-E630-8CA2-E43E-ACD3791CE6A0}"/>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B1EF6B28-059D-9EA2-78E1-EE2B14A7B297}"/>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FDBACB3F-498A-DA64-5FA8-3E903C9D7595}"/>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8D152D48-E50B-0A8D-2645-F5DAC89EDF49}"/>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BA844FE3-3AF0-5E60-5736-E444FC83A05A}"/>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EC0AE415-55C3-751D-BC30-E2A2EDA00A92}"/>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E1AC9103-7859-F21B-5F9F-6818C681A23D}"/>
              </a:ext>
            </a:extLst>
          </p:cNvPr>
          <p:cNvSpPr/>
          <p:nvPr/>
        </p:nvSpPr>
        <p:spPr>
          <a:xfrm>
            <a:off x="2721658" y="30502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31F89967-0B9B-BAFC-90B9-8CF5F1780667}"/>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 name="Table 1">
            <a:extLst>
              <a:ext uri="{FF2B5EF4-FFF2-40B4-BE49-F238E27FC236}">
                <a16:creationId xmlns:a16="http://schemas.microsoft.com/office/drawing/2014/main" id="{30BA6C20-01AD-7127-88A8-6B1BB1F6EF8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697360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4DEF20A-FA1A-62CF-7956-76B3740D96BE}"/>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7A8119C-12A3-C4C7-3BD0-352761FFCC10}"/>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7040445C-8EC5-81A0-CAE1-532C8A5CF915}"/>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2A1312C5-9A43-0BA5-85CB-D23B6268F1F4}"/>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7F1B0E8C-CAC9-A9EB-493F-29DBC8D92A98}"/>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E26DC419-53AC-CE39-D9ED-A00AAD84D1A0}"/>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E1D85235-C0E3-B753-FB0D-B543AAE45CC3}"/>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9918DFA2-AA94-C691-AC12-3F3901551280}"/>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41FC1A99-9659-31CA-347C-B849439CEF57}"/>
              </a:ext>
            </a:extLst>
          </p:cNvPr>
          <p:cNvSpPr/>
          <p:nvPr/>
        </p:nvSpPr>
        <p:spPr>
          <a:xfrm>
            <a:off x="2721658" y="30502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243F08AF-42E1-149F-8DA8-D25B50AB1B20}"/>
              </a:ext>
            </a:extLst>
          </p:cNvPr>
          <p:cNvSpPr/>
          <p:nvPr/>
        </p:nvSpPr>
        <p:spPr>
          <a:xfrm>
            <a:off x="2874058" y="32026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4F9A5FF2-7EC6-F54F-B44B-0E2F384DD55C}"/>
              </a:ext>
            </a:extLst>
          </p:cNvPr>
          <p:cNvSpPr/>
          <p:nvPr/>
        </p:nvSpPr>
        <p:spPr>
          <a:xfrm>
            <a:off x="3026458" y="33550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1CF546D8-4DBB-B18B-2F22-7D02B25D1328}"/>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9" name="Table 8">
            <a:extLst>
              <a:ext uri="{FF2B5EF4-FFF2-40B4-BE49-F238E27FC236}">
                <a16:creationId xmlns:a16="http://schemas.microsoft.com/office/drawing/2014/main" id="{77FC8FAE-18E0-9F49-0EE0-904418EAA9BB}"/>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809894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D18FC468-CDBC-602E-5B22-6BAC00F2D047}"/>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56B6E81D-CEDE-AEDF-4D35-F86BDAD15A6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0E86577C-4E9F-2492-75AE-23A9676667CB}"/>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EE456D25-18D1-2243-01EB-31B3196649D7}"/>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FAC0C665-78CB-1B96-AC46-6980BB8F5634}"/>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505ECEA-6FBC-2FF8-AAAB-F8DD79BA5A68}"/>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A55900D4-701C-13B6-5441-31BC1A729FC2}"/>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8E3F3628-4A39-6464-3733-6894DF3806BB}"/>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87D9E8D8-C87F-126A-A72A-299C1380FDF3}"/>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DE163202-4FEE-5511-0262-3FE8ED849200}"/>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7B616050-54DA-2D43-10C5-CAA39A574B54}"/>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3D498305-A864-F24C-5883-93CB9205267A}"/>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9" name="Table 8">
            <a:extLst>
              <a:ext uri="{FF2B5EF4-FFF2-40B4-BE49-F238E27FC236}">
                <a16:creationId xmlns:a16="http://schemas.microsoft.com/office/drawing/2014/main" id="{20795CCB-7805-B0A1-A8F6-65039EEC522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610169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E0E61A8-2E79-2F80-44BC-5FD3323B96D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B154D9C1-D58A-000D-F432-A104C1DFCB9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3E008336-77D9-B470-4F8D-991048C54396}"/>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8F31FA75-517A-5360-4C20-CE271D5BC809}"/>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51FFF389-1E25-FCC1-AF09-D37CF3AA30F7}"/>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B33504F5-D851-1BCE-3614-085774A89D7F}"/>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A9FA99F9-331D-1019-2BDF-92283FAC31A1}"/>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C454A941-3B6B-3868-36AF-D4DC12D2C29B}"/>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2995DBE5-F178-DDDF-33F3-6D4008801FB7}"/>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BAEF6B78-C12B-DE2C-D7D0-765FAA8D6D45}"/>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1DF42454-3748-57BD-65C1-609A655EE300}"/>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2D5E4FB5-544C-CF45-12DD-9368C5C07E3D}"/>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5B0B5BB9-46E6-7251-629E-84F0706BC900}"/>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965A269B-639B-83E7-1B8D-2DFCCEBC8EE2}"/>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FE62190D-9FCB-1F81-9EF3-142D6E70C42E}"/>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8" name="TextBox 17">
            <a:extLst>
              <a:ext uri="{FF2B5EF4-FFF2-40B4-BE49-F238E27FC236}">
                <a16:creationId xmlns:a16="http://schemas.microsoft.com/office/drawing/2014/main" id="{2C78D44A-E7FB-B40E-8A71-E15F022AC6EF}"/>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9" name="Table 8">
            <a:extLst>
              <a:ext uri="{FF2B5EF4-FFF2-40B4-BE49-F238E27FC236}">
                <a16:creationId xmlns:a16="http://schemas.microsoft.com/office/drawing/2014/main" id="{4AD5F5F1-F159-30AA-76CB-2905AF67B9C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672783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6ADE9B6-2D34-FFB5-307A-5DF9213C430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9E9A26A-A53B-65A5-E9E9-0C58EBA7EEC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D3311A38-5B6E-833A-E7DF-CB14C6240406}"/>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8D9B465E-A3FF-5CC2-FB6A-163D00BD98F7}"/>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44A4BA12-99A6-FA18-CDE6-F165DF00D742}"/>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D47FD07-F3B6-BCC3-0CFE-90D469EA66F8}"/>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EE86E54F-7C13-20B0-E6A0-262EB118C7E8}"/>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48E4A2E9-DBDF-4C9F-30CE-DC811D580066}"/>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AAF71C3B-986E-4A37-1D0C-CB1F8DCE4C08}"/>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E010C54E-DBE3-4F9E-37EA-2136D728976C}"/>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F9024C05-6817-D8ED-F513-A44F42E3B6F0}"/>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98754420-F000-85AA-AA68-4D4361CDBAD0}"/>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D98DD0EB-5001-BB59-8FCA-E178BE6AD27F}"/>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C26BBE3E-ACBA-18A2-106E-41C48473F39B}"/>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E937B25A-2625-B6CC-E381-A063CC13C96C}"/>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898CAFB8-239F-156F-E5EE-75CBF4B641D8}"/>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C02375D2-E325-4863-B936-45D2BF8C2F01}"/>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A3774072-E82C-2A0B-F80A-7AC8A7DE6B9D}"/>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6A30D7C0-4DEE-EDE5-1A25-AFEB49029657}"/>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B58F7795-C475-2B33-CB2C-5DD787151B3A}"/>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1C365D58-7CEF-94A6-15AC-1B1DED82FBC6}"/>
              </a:ext>
            </a:extLst>
          </p:cNvPr>
          <p:cNvSpPr/>
          <p:nvPr/>
        </p:nvSpPr>
        <p:spPr>
          <a:xfrm>
            <a:off x="8953510" y="395124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3C66AFA9-864A-CC97-E810-94B9347EEF25}"/>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0" name="Table 19">
            <a:extLst>
              <a:ext uri="{FF2B5EF4-FFF2-40B4-BE49-F238E27FC236}">
                <a16:creationId xmlns:a16="http://schemas.microsoft.com/office/drawing/2014/main" id="{75A3F6D5-4531-177C-32AC-B9DC966074B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620493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F09A675-045B-1AF6-26AD-99BD7D68E681}"/>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F9CF8939-DDCD-533F-B6C5-4E524395288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386E139A-0F28-65C1-95C2-5B3861577D41}"/>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901C3877-4EAB-D49A-357F-9192FE4028D4}"/>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E40D9043-9413-934E-9CFF-603985D37A89}"/>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BB851695-6814-FB65-50FC-DB95055D5803}"/>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5B664CFB-D648-BBAF-9025-7A5A53627A95}"/>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660EF87D-F24B-2155-DD1B-80A8C4F440E2}"/>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FA28EB4B-1004-C7A8-046D-0BBE86F7BF4B}"/>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38A518AB-9F2A-F6DA-DFE4-10E08E317CB2}"/>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001F2FCB-ECBF-4922-9642-EE0AEDE02A69}"/>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1EA57750-D458-77CF-1379-DD80844F89CF}"/>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28FBAB75-FAF9-E531-B3A3-49652E908843}"/>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BD5AFE86-9C9F-3B81-23C3-A7C613F2BF81}"/>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72AAB13E-94F5-B7AD-1780-EE5C0D5BE217}"/>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30D3AEE6-52AD-5D24-07E6-0C9D98026853}"/>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7BD73240-3D66-9933-7C70-3EACA82D8D86}"/>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89442BEE-2D9D-A972-0DA3-99362298B8EB}"/>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CFEEB024-8BCB-2A2F-8DEE-6B8D9B6D8FF7}"/>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4626D700-B67C-CE1F-2D3E-C93F1CC0C262}"/>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2510A17F-3539-4E3A-F4E3-99C333363744}"/>
              </a:ext>
            </a:extLst>
          </p:cNvPr>
          <p:cNvSpPr/>
          <p:nvPr/>
        </p:nvSpPr>
        <p:spPr>
          <a:xfrm>
            <a:off x="8953510" y="395124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E8DFEA62-3783-84F6-7528-43D741CD9CFF}"/>
              </a:ext>
            </a:extLst>
          </p:cNvPr>
          <p:cNvSpPr/>
          <p:nvPr/>
        </p:nvSpPr>
        <p:spPr>
          <a:xfrm>
            <a:off x="10538612" y="395124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B6A85CC1-8DF7-2C26-BA3A-F8A2C6D863F5}"/>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0" name="Table 19">
            <a:extLst>
              <a:ext uri="{FF2B5EF4-FFF2-40B4-BE49-F238E27FC236}">
                <a16:creationId xmlns:a16="http://schemas.microsoft.com/office/drawing/2014/main" id="{400D5A03-95EF-E124-1680-82D1D688F9A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26059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22CE0D5-C33E-3810-E1A3-93FF48FF25AB}"/>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8FE0E17-1645-736C-5612-CEEC136B1CE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83F94081-D31F-85E6-D214-FCB65A802940}"/>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F468769B-73E9-E8CD-E1A3-C5EC7692C17E}"/>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2C4C53B0-66BD-6FA7-BCDE-40BE3C42F24A}"/>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3187CB2-D8E2-7922-408A-0F7D53E4D24F}"/>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E3CD8313-0518-D67D-62A5-EA218D453D60}"/>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688BD516-7918-9E54-C40F-CAFF3F98EE35}"/>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12972AA5-D310-E57B-9314-25648E830B20}"/>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A78271A5-BC2A-9777-EE2B-A971C99BCB64}"/>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5FDA627D-85CE-2D2D-80FF-4DE094EC47CD}"/>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4CD949E6-939A-CBDA-E216-46D5AF1B24AC}"/>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4CEAF35B-A668-966C-EF23-32B7BE6B5DFC}"/>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F8F42A35-38F8-1FFC-E370-C97343CF82FC}"/>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AF2A6EFB-FA93-2050-DE41-3EEBFB214E12}"/>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2E71F279-B747-19D0-CB1A-5ADAFA175DA0}"/>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C2D1E25B-7E16-D9CC-212A-869962A1808B}"/>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6DFEE537-357F-5304-555D-5709996A100E}"/>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00C0C617-49AA-412F-EDD8-1FCCB10E5143}"/>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471D1A65-94EB-6001-22E9-BBB83226CB5E}"/>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692FAFD2-AAF3-99A1-A607-3D60A8B9CF55}"/>
              </a:ext>
            </a:extLst>
          </p:cNvPr>
          <p:cNvSpPr/>
          <p:nvPr/>
        </p:nvSpPr>
        <p:spPr>
          <a:xfrm>
            <a:off x="8953510" y="395124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CEBECBE2-D90C-F565-6030-E10E3EC5AFF9}"/>
              </a:ext>
            </a:extLst>
          </p:cNvPr>
          <p:cNvSpPr/>
          <p:nvPr/>
        </p:nvSpPr>
        <p:spPr>
          <a:xfrm>
            <a:off x="10538612" y="395124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F7878FAA-40A8-1FDD-FBB5-BC688D56CD38}"/>
              </a:ext>
            </a:extLst>
          </p:cNvPr>
          <p:cNvSpPr/>
          <p:nvPr/>
        </p:nvSpPr>
        <p:spPr>
          <a:xfrm>
            <a:off x="7187860" y="3951245"/>
            <a:ext cx="481819" cy="426542"/>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1F4174AD-D2DB-36DC-A235-65A7B2124677}"/>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4" name="Table 23">
            <a:extLst>
              <a:ext uri="{FF2B5EF4-FFF2-40B4-BE49-F238E27FC236}">
                <a16:creationId xmlns:a16="http://schemas.microsoft.com/office/drawing/2014/main" id="{12D036A5-CDD3-904A-A95E-435240057FDD}"/>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8777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5726BA9-CCF0-BC6D-FFDC-7B2CFA67124E}"/>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78746C9C-4C79-15CF-EEF0-36BFE74D21B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3E166B7E-21BE-6678-7E9D-10F64C2A00DF}"/>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81D8EAF0-35EF-9ED1-D78C-7951C53BEDC1}"/>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CB760685-71F8-E470-64FD-98925E128336}"/>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375B4F4D-CAD4-A917-74B5-ED587A2A678E}"/>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4E4506DE-BCFD-0201-66F9-9B93B99D9940}"/>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D283516E-0F7C-3395-D547-F06580D5280B}"/>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1F719DD1-26F9-2D35-82A1-19E9FA58F873}"/>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DF50577F-63F9-8D5D-6397-CDA6B825CED6}"/>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CFC8107E-D1A9-B70F-3B5D-B397AEF75A6B}"/>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D239291A-698F-0AFD-43C1-9E39A7EBC31C}"/>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8699C23A-987B-B073-5E3F-7A7C79062DFF}"/>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69A62865-8FF2-B44E-4C8C-6359DAE5B7FD}"/>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DD2DB7F6-48E7-B2C0-6B9E-41935F34C6A9}"/>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B1F29104-6E00-02B8-1BE5-F8645B8CA465}"/>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FD1FD19A-D7DF-BEBD-4D61-5476BBB7C610}"/>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C43187D5-EC38-CC4D-C988-BCCF68DEC9B6}"/>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90D45D07-6F3B-B10E-3282-5CE37F934EF1}"/>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C4277761-3DD3-2A10-403D-B2762A1268FF}"/>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6931C2F7-9237-90AA-C095-2790C6E4E70A}"/>
              </a:ext>
            </a:extLst>
          </p:cNvPr>
          <p:cNvSpPr/>
          <p:nvPr/>
        </p:nvSpPr>
        <p:spPr>
          <a:xfrm>
            <a:off x="8869256" y="1706261"/>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4AEA54EB-04AD-50BB-B3EE-3F4BAFFB49A6}"/>
              </a:ext>
            </a:extLst>
          </p:cNvPr>
          <p:cNvSpPr/>
          <p:nvPr/>
        </p:nvSpPr>
        <p:spPr>
          <a:xfrm>
            <a:off x="8869254" y="220497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F330C3CF-72D5-E2F2-9F37-F11537750473}"/>
              </a:ext>
            </a:extLst>
          </p:cNvPr>
          <p:cNvSpPr/>
          <p:nvPr/>
        </p:nvSpPr>
        <p:spPr>
          <a:xfrm>
            <a:off x="8869255" y="2657260"/>
            <a:ext cx="481819" cy="426542"/>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D186F88B-09D1-6387-E486-DA742B5E99CA}"/>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4" name="Table 23">
            <a:extLst>
              <a:ext uri="{FF2B5EF4-FFF2-40B4-BE49-F238E27FC236}">
                <a16:creationId xmlns:a16="http://schemas.microsoft.com/office/drawing/2014/main" id="{6E997CCF-98D3-D022-C3ED-B0AC697F1C8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80103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62619EC-3C00-ABFE-6834-6F6E7AF03CC2}"/>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37D444F1-1727-A4FD-0264-D43D1DBE8AB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13672F51-1846-1ED1-FDD5-E3E5883D865E}"/>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DD755FC0-92DC-7FED-AE0A-AEDB8B4F5551}"/>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9CBAF6C4-5170-43A6-2C16-077BEA42D756}"/>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037C253-1B9D-D507-B9A1-5D84F5A44857}"/>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2A4E640D-7DE6-6D63-CFE7-8F1239E6B709}"/>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C8F8AF28-8DFF-B713-F749-16BCDC5A5D70}"/>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E87760E3-84FF-9EC0-6070-60B5F34CCBC1}"/>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DAF7887B-2C28-FECF-47DA-D07AEE1A2676}"/>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B14BC95D-2CD8-F9A2-9EFD-F2686477B9BB}"/>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09E0B859-B72C-A756-843C-8E180E5F7481}"/>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D8B5BECA-C057-4FC1-12D6-69ACB13B75D9}"/>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695079EB-F930-5E7F-8FE3-4E5902BB5AA2}"/>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F40AF47B-C09C-93E5-313B-FD90EAB365B3}"/>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E7DB5B05-D67A-E601-DA11-CB45C6BCD454}"/>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57766903-06ED-6AE4-F5DC-292D45FABC91}"/>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1D8CC608-F6BE-4177-BC5F-DEC02A47F56F}"/>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295159DD-93E9-23C2-C507-13FD98B7E5A8}"/>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07BF585F-D616-91A8-C3D3-5FB12C5A8AD6}"/>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8AE7D72C-545E-9FF9-373F-F0F0152439DE}"/>
              </a:ext>
            </a:extLst>
          </p:cNvPr>
          <p:cNvSpPr/>
          <p:nvPr/>
        </p:nvSpPr>
        <p:spPr>
          <a:xfrm>
            <a:off x="8869256" y="1706261"/>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7AA85371-87AD-AF2F-A86F-228CC893507C}"/>
              </a:ext>
            </a:extLst>
          </p:cNvPr>
          <p:cNvSpPr/>
          <p:nvPr/>
        </p:nvSpPr>
        <p:spPr>
          <a:xfrm>
            <a:off x="8869254" y="220497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DA8EB2CE-5F0B-315C-21C5-40D53B748975}"/>
              </a:ext>
            </a:extLst>
          </p:cNvPr>
          <p:cNvSpPr/>
          <p:nvPr/>
        </p:nvSpPr>
        <p:spPr>
          <a:xfrm>
            <a:off x="8869255" y="2657260"/>
            <a:ext cx="481819" cy="426542"/>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2F48C520-8DCD-4DAA-3FE5-1E3D312D0B1F}"/>
              </a:ext>
            </a:extLst>
          </p:cNvPr>
          <p:cNvSpPr/>
          <p:nvPr/>
        </p:nvSpPr>
        <p:spPr>
          <a:xfrm>
            <a:off x="6862864" y="211802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sp>
        <p:nvSpPr>
          <p:cNvPr id="24" name="TextBox 23">
            <a:extLst>
              <a:ext uri="{FF2B5EF4-FFF2-40B4-BE49-F238E27FC236}">
                <a16:creationId xmlns:a16="http://schemas.microsoft.com/office/drawing/2014/main" id="{75092569-C265-D1AC-39C5-CA97EFC3C1B3}"/>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5" name="Table 24">
            <a:extLst>
              <a:ext uri="{FF2B5EF4-FFF2-40B4-BE49-F238E27FC236}">
                <a16:creationId xmlns:a16="http://schemas.microsoft.com/office/drawing/2014/main" id="{CE10A786-B7D0-525E-D672-2C58594D8F8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74268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1954EB3-85F7-9C03-F4CC-6330F2C9C1D9}"/>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E38779FE-98B1-64B9-6D27-BDF76EE1D622}"/>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B985B7C6-C79E-E57C-490E-2BF172BD0CDB}"/>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E11EC9F0-1C4D-55EC-19B6-CD2A696C0297}"/>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75F15D44-3401-E960-6EBF-5C606CC29869}"/>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2E5546B-5BCC-B060-1C12-3CE1B4000E36}"/>
              </a:ext>
            </a:extLst>
          </p:cNvPr>
          <p:cNvSpPr/>
          <p:nvPr/>
        </p:nvSpPr>
        <p:spPr>
          <a:xfrm>
            <a:off x="1475111" y="2304327"/>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04AC63BA-24A9-BDDE-0C4B-605750DC6F92}"/>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1E413D2C-F810-63F9-563C-7949ED3A2CD8}"/>
              </a:ext>
            </a:extLst>
          </p:cNvPr>
          <p:cNvSpPr/>
          <p:nvPr/>
        </p:nvSpPr>
        <p:spPr>
          <a:xfrm>
            <a:off x="6862862" y="3429000"/>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graphicFrame>
        <p:nvGraphicFramePr>
          <p:cNvPr id="2" name="Table 1">
            <a:extLst>
              <a:ext uri="{FF2B5EF4-FFF2-40B4-BE49-F238E27FC236}">
                <a16:creationId xmlns:a16="http://schemas.microsoft.com/office/drawing/2014/main" id="{DC6FEF1E-8161-0E8A-61D2-636AFC405B7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993110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7D40CDD-7D0B-C50D-C02E-9F988AA8CD86}"/>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EF8E9034-89CD-DE11-0A90-4BA7D7A487E9}"/>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4E96BC44-F55F-88A7-E2B9-E19338734CBA}"/>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13F40730-6135-5C55-7536-A3DA0C37259B}"/>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93B752D1-5133-9C65-C1A9-DDD2D8FC5545}"/>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1C1D2A8-2724-E065-B4ED-D3D65E0174AA}"/>
              </a:ext>
            </a:extLst>
          </p:cNvPr>
          <p:cNvSpPr/>
          <p:nvPr/>
        </p:nvSpPr>
        <p:spPr>
          <a:xfrm>
            <a:off x="1475111" y="2304327"/>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CBF76652-8D0A-6A1C-B2E0-45AA5AC98F85}"/>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813C7584-3F3C-42D0-25F8-D7FEC30A7349}"/>
              </a:ext>
            </a:extLst>
          </p:cNvPr>
          <p:cNvSpPr/>
          <p:nvPr/>
        </p:nvSpPr>
        <p:spPr>
          <a:xfrm>
            <a:off x="6862862" y="3429000"/>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graphicFrame>
        <p:nvGraphicFramePr>
          <p:cNvPr id="2" name="Table 1">
            <a:extLst>
              <a:ext uri="{FF2B5EF4-FFF2-40B4-BE49-F238E27FC236}">
                <a16:creationId xmlns:a16="http://schemas.microsoft.com/office/drawing/2014/main" id="{2130BF60-1CEF-6524-F294-0DBEDF66562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302673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02ABB61-5FB2-24F3-C72E-0D1CB6FE8A49}"/>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66F60F55-C667-03AF-236A-BE884975715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05DED8E4-0F3E-996C-D0B5-0E9732E6EC9F}"/>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B88769CD-9708-3C62-A609-DF74716F2895}"/>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92EDA44D-28C0-4E6F-760E-F9C91FB41E3B}"/>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8DE83E3-3094-DA0A-1C4A-398CF3CA3656}"/>
              </a:ext>
            </a:extLst>
          </p:cNvPr>
          <p:cNvSpPr/>
          <p:nvPr/>
        </p:nvSpPr>
        <p:spPr>
          <a:xfrm>
            <a:off x="1475111" y="2304327"/>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9C5B18FC-62C9-D104-F61C-588EF7F148BF}"/>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549ADE82-B1B6-A16A-A142-7D9EC438D11D}"/>
              </a:ext>
            </a:extLst>
          </p:cNvPr>
          <p:cNvSpPr/>
          <p:nvPr/>
        </p:nvSpPr>
        <p:spPr>
          <a:xfrm>
            <a:off x="6862862" y="3429000"/>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graphicFrame>
        <p:nvGraphicFramePr>
          <p:cNvPr id="2" name="Table 1">
            <a:extLst>
              <a:ext uri="{FF2B5EF4-FFF2-40B4-BE49-F238E27FC236}">
                <a16:creationId xmlns:a16="http://schemas.microsoft.com/office/drawing/2014/main" id="{26CA9BC7-5CA1-0320-530B-1C031FE431D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13878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2F1B396-0A9E-D9E1-99EB-D7609CC0363A}"/>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2F644B00-047A-5C30-DA28-D719F4201A2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9EF37490-D970-4E0A-C23F-145FCF2A00A4}"/>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4F35420D-7ED7-D2CE-9494-7BE9070FAB63}"/>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C14B7170-816E-CB2F-C85E-05F5FF12DB6A}"/>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98A1486-9C55-C1EA-6E8F-C664EDC02916}"/>
              </a:ext>
            </a:extLst>
          </p:cNvPr>
          <p:cNvSpPr/>
          <p:nvPr/>
        </p:nvSpPr>
        <p:spPr>
          <a:xfrm>
            <a:off x="1475111" y="2304327"/>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7E2633C3-89CD-7573-C245-0BD245CFDA39}"/>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94412019-D59F-8657-AB2E-7C87C0B3B212}"/>
              </a:ext>
            </a:extLst>
          </p:cNvPr>
          <p:cNvSpPr/>
          <p:nvPr/>
        </p:nvSpPr>
        <p:spPr>
          <a:xfrm>
            <a:off x="6862862" y="3429000"/>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Orders should be seen by the exchange in the timestamped generation order</a:t>
            </a:r>
          </a:p>
        </p:txBody>
      </p:sp>
      <p:sp>
        <p:nvSpPr>
          <p:cNvPr id="2" name="Google Shape;113;p19">
            <a:extLst>
              <a:ext uri="{FF2B5EF4-FFF2-40B4-BE49-F238E27FC236}">
                <a16:creationId xmlns:a16="http://schemas.microsoft.com/office/drawing/2014/main" id="{FA2EA0D6-48B9-A7B1-8827-F287D3148119}"/>
              </a:ext>
            </a:extLst>
          </p:cNvPr>
          <p:cNvSpPr/>
          <p:nvPr/>
        </p:nvSpPr>
        <p:spPr>
          <a:xfrm>
            <a:off x="1913206" y="5666089"/>
            <a:ext cx="7943314" cy="974621"/>
          </a:xfrm>
          <a:prstGeom prst="roundRect">
            <a:avLst>
              <a:gd name="adj" fmla="val 16667"/>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Achieving fairness while being performant at </a:t>
            </a:r>
            <a:b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b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scale is our goal.</a:t>
            </a:r>
            <a:endParaRPr kumimoji="0" sz="2400" b="0" i="0" u="none" strike="noStrike" kern="0" cap="none" spc="0" normalizeH="0" baseline="0" noProof="0" dirty="0">
              <a:ln>
                <a:noFill/>
              </a:ln>
              <a:solidFill>
                <a:prstClr val="white"/>
              </a:solidFill>
              <a:effectLst/>
              <a:uLnTx/>
              <a:uFillTx/>
              <a:latin typeface="Arial"/>
              <a:ea typeface="+mn-ea"/>
              <a:cs typeface="Arial"/>
              <a:sym typeface="Arial"/>
            </a:endParaRPr>
          </a:p>
        </p:txBody>
      </p:sp>
      <p:graphicFrame>
        <p:nvGraphicFramePr>
          <p:cNvPr id="4" name="Table 3">
            <a:extLst>
              <a:ext uri="{FF2B5EF4-FFF2-40B4-BE49-F238E27FC236}">
                <a16:creationId xmlns:a16="http://schemas.microsoft.com/office/drawing/2014/main" id="{122FC294-408C-D267-BB48-9F0B7319DB9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941910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205BBE8-5203-ECB3-6824-05F81C8B7A10}"/>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F248277D-0B09-E1C4-3348-D79521DBA2F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CB761002-F2C9-2968-31C8-1701B9CFE01B}"/>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53441D98-826A-294D-BB9E-2E226608E14C}"/>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5B5A1382-C02D-8EC8-FECA-5CB015DA13C7}"/>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9764EBC-FBCC-AC6B-D855-A6AC459708FF}"/>
              </a:ext>
            </a:extLst>
          </p:cNvPr>
          <p:cNvSpPr/>
          <p:nvPr/>
        </p:nvSpPr>
        <p:spPr>
          <a:xfrm>
            <a:off x="1475111" y="2304327"/>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11B31F0C-9C3F-F586-D5D7-E4FE8CE5D500}"/>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F8043E6C-1BB2-9FC0-CACE-61506051EEFA}"/>
              </a:ext>
            </a:extLst>
          </p:cNvPr>
          <p:cNvSpPr/>
          <p:nvPr/>
        </p:nvSpPr>
        <p:spPr>
          <a:xfrm>
            <a:off x="6862862" y="3429000"/>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Orders should be seen by the exchange in the timestamped generation order</a:t>
            </a:r>
          </a:p>
        </p:txBody>
      </p:sp>
      <p:sp>
        <p:nvSpPr>
          <p:cNvPr id="2" name="Google Shape;113;p19">
            <a:extLst>
              <a:ext uri="{FF2B5EF4-FFF2-40B4-BE49-F238E27FC236}">
                <a16:creationId xmlns:a16="http://schemas.microsoft.com/office/drawing/2014/main" id="{25E60E87-559C-5E2F-C883-9A3CEA3B6402}"/>
              </a:ext>
            </a:extLst>
          </p:cNvPr>
          <p:cNvSpPr/>
          <p:nvPr/>
        </p:nvSpPr>
        <p:spPr>
          <a:xfrm>
            <a:off x="1913206" y="5657770"/>
            <a:ext cx="7943314" cy="974621"/>
          </a:xfrm>
          <a:prstGeom prst="roundRect">
            <a:avLst>
              <a:gd name="adj" fmla="val 16667"/>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Achieving fairness while being performant at </a:t>
            </a:r>
            <a:b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br>
            <a:r>
              <a:rPr kumimoji="0" lang="en-US" sz="3600" b="0" i="0" u="none" strike="noStrike" kern="0" cap="none" spc="0" normalizeH="0" baseline="0" noProof="0" dirty="0">
                <a:ln>
                  <a:noFill/>
                </a:ln>
                <a:solidFill>
                  <a:srgbClr val="4EA72E"/>
                </a:solidFill>
                <a:effectLst/>
                <a:uLnTx/>
                <a:uFillTx/>
                <a:latin typeface="Arial"/>
                <a:ea typeface="+mn-ea"/>
                <a:cs typeface="Arial"/>
                <a:sym typeface="Arial"/>
              </a:rPr>
              <a:t>scale</a:t>
            </a: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 is our goal.</a:t>
            </a:r>
            <a:endParaRPr kumimoji="0" sz="2400" b="0" i="0" u="none" strike="noStrike" kern="0" cap="none" spc="0" normalizeH="0" baseline="0" noProof="0" dirty="0">
              <a:ln>
                <a:noFill/>
              </a:ln>
              <a:solidFill>
                <a:prstClr val="white"/>
              </a:solidFill>
              <a:effectLst/>
              <a:uLnTx/>
              <a:uFillTx/>
              <a:latin typeface="Arial"/>
              <a:ea typeface="+mn-ea"/>
              <a:cs typeface="Arial"/>
              <a:sym typeface="Arial"/>
            </a:endParaRPr>
          </a:p>
        </p:txBody>
      </p:sp>
      <p:sp>
        <p:nvSpPr>
          <p:cNvPr id="4" name="Up Arrow 3">
            <a:extLst>
              <a:ext uri="{FF2B5EF4-FFF2-40B4-BE49-F238E27FC236}">
                <a16:creationId xmlns:a16="http://schemas.microsoft.com/office/drawing/2014/main" id="{4199F83D-4089-27AC-B126-7416CB76A6A9}"/>
              </a:ext>
            </a:extLst>
          </p:cNvPr>
          <p:cNvSpPr/>
          <p:nvPr/>
        </p:nvSpPr>
        <p:spPr>
          <a:xfrm>
            <a:off x="4764363" y="5000610"/>
            <a:ext cx="564776" cy="1264023"/>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EA72E"/>
              </a:solidFill>
              <a:effectLst/>
              <a:uLnTx/>
              <a:uFillTx/>
              <a:latin typeface="Aptos" panose="02110004020202020204"/>
              <a:ea typeface="+mn-ea"/>
              <a:cs typeface="+mn-cs"/>
            </a:endParaRPr>
          </a:p>
        </p:txBody>
      </p:sp>
      <p:sp>
        <p:nvSpPr>
          <p:cNvPr id="6" name="Rounded Rectangle 5">
            <a:extLst>
              <a:ext uri="{FF2B5EF4-FFF2-40B4-BE49-F238E27FC236}">
                <a16:creationId xmlns:a16="http://schemas.microsoft.com/office/drawing/2014/main" id="{1576EBBE-97C9-C011-5166-4A2138005E76}"/>
              </a:ext>
            </a:extLst>
          </p:cNvPr>
          <p:cNvSpPr/>
          <p:nvPr/>
        </p:nvSpPr>
        <p:spPr>
          <a:xfrm>
            <a:off x="2863844" y="3365623"/>
            <a:ext cx="4796118" cy="151055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We target 1000 market participants (MPs). Each MP is a separate VM.</a:t>
            </a:r>
          </a:p>
        </p:txBody>
      </p:sp>
      <p:graphicFrame>
        <p:nvGraphicFramePr>
          <p:cNvPr id="7" name="Table 6">
            <a:extLst>
              <a:ext uri="{FF2B5EF4-FFF2-40B4-BE49-F238E27FC236}">
                <a16:creationId xmlns:a16="http://schemas.microsoft.com/office/drawing/2014/main" id="{23EF4B78-9772-734B-3DEB-42CFA2C245E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632314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D002046-11D5-4952-A95C-24DAF08BFD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BCC01D-AAF2-DC20-7511-4E09A008B4AA}"/>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7" name="TextBox 6">
            <a:extLst>
              <a:ext uri="{FF2B5EF4-FFF2-40B4-BE49-F238E27FC236}">
                <a16:creationId xmlns:a16="http://schemas.microsoft.com/office/drawing/2014/main" id="{99D0147D-FB59-4553-34DE-90EF59240DC0}"/>
              </a:ext>
            </a:extLst>
          </p:cNvPr>
          <p:cNvSpPr txBox="1"/>
          <p:nvPr/>
        </p:nvSpPr>
        <p:spPr>
          <a:xfrm>
            <a:off x="573955" y="1923804"/>
            <a:ext cx="818241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Fairness achieved by a simple “</a:t>
            </a: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Hold-and-release</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primitive.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Not scalable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w.r.t</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the number of receivers/participants.</a:t>
            </a:r>
          </a:p>
        </p:txBody>
      </p:sp>
      <p:graphicFrame>
        <p:nvGraphicFramePr>
          <p:cNvPr id="73" name="Table 72">
            <a:extLst>
              <a:ext uri="{FF2B5EF4-FFF2-40B4-BE49-F238E27FC236}">
                <a16:creationId xmlns:a16="http://schemas.microsoft.com/office/drawing/2014/main" id="{72D928C0-8A84-28FB-CD4F-E407F23157B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1163261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 name="Object 104" hidden="1">
            <a:extLst>
              <a:ext uri="{FF2B5EF4-FFF2-40B4-BE49-F238E27FC236}">
                <a16:creationId xmlns:a16="http://schemas.microsoft.com/office/drawing/2014/main" id="{27043BC4-3D66-4B32-8F58-55FD3DA065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3" imgW="395" imgH="396" progId="TCLayout.ActiveDocument.1">
                  <p:embed/>
                </p:oleObj>
              </mc:Choice>
              <mc:Fallback>
                <p:oleObj name="think-cell Slide" r:id="rId83" imgW="395" imgH="396" progId="TCLayout.ActiveDocument.1">
                  <p:embed/>
                  <p:pic>
                    <p:nvPicPr>
                      <p:cNvPr id="105" name="Object 104" hidden="1">
                        <a:extLst>
                          <a:ext uri="{FF2B5EF4-FFF2-40B4-BE49-F238E27FC236}">
                            <a16:creationId xmlns:a16="http://schemas.microsoft.com/office/drawing/2014/main" id="{27043BC4-3D66-4B32-8F58-55FD3DA065B9}"/>
                          </a:ext>
                        </a:extLst>
                      </p:cNvPr>
                      <p:cNvPicPr/>
                      <p:nvPr/>
                    </p:nvPicPr>
                    <p:blipFill>
                      <a:blip r:embed="rId8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04954E15-8E6C-8002-8F03-793B02042F07}"/>
              </a:ext>
            </a:extLst>
          </p:cNvPr>
          <p:cNvSpPr>
            <a:spLocks noGrp="1"/>
          </p:cNvSpPr>
          <p:nvPr>
            <p:ph type="sldNum" sz="quarter" idx="12"/>
          </p:nvPr>
        </p:nvSpPr>
        <p:spPr>
          <a:xfrm>
            <a:off x="8610600" y="592685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632B31-F1D8-8846-B070-579B61B2702E}"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7" name="TitleTrackerAlpha 7">
            <a:extLst>
              <a:ext uri="{FF2B5EF4-FFF2-40B4-BE49-F238E27FC236}">
                <a16:creationId xmlns:a16="http://schemas.microsoft.com/office/drawing/2014/main" id="{88DA2C5B-5EC5-4E93-B30E-0F58E1617D83}"/>
              </a:ext>
            </a:extLst>
          </p:cNvPr>
          <p:cNvSpPr/>
          <p:nvPr>
            <p:custDataLst>
              <p:tags r:id="rId2"/>
            </p:custDataLst>
          </p:nvPr>
        </p:nvSpPr>
        <p:spPr>
          <a:xfrm>
            <a:off x="5799017" y="155922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S</a:t>
            </a:r>
          </a:p>
        </p:txBody>
      </p:sp>
      <p:pic>
        <p:nvPicPr>
          <p:cNvPr id="18" name="CustomIcon">
            <a:extLst>
              <a:ext uri="{FF2B5EF4-FFF2-40B4-BE49-F238E27FC236}">
                <a16:creationId xmlns:a16="http://schemas.microsoft.com/office/drawing/2014/main" id="{B63B0145-2E2F-4746-AE52-FE62BBC728ED}"/>
              </a:ext>
            </a:extLst>
          </p:cNvPr>
          <p:cNvPicPr>
            <a:picLocks noChangeAspect="1"/>
          </p:cNvPicPr>
          <p:nvPr>
            <p:custDataLst>
              <p:tags r:id="rId3"/>
            </p:custDataLst>
          </p:nvPr>
        </p:nvPicPr>
        <p:blipFill>
          <a:blip>
            <a:extLst>
              <a:ext uri="{96DAC541-7B7A-43D3-8B79-37D633B846F1}">
                <asvg:svgBlip xmlns:asvg="http://schemas.microsoft.com/office/drawing/2016/SVG/main" r:embed="rId85"/>
              </a:ext>
            </a:extLst>
          </a:blip>
          <a:stretch>
            <a:fillRect/>
          </a:stretch>
        </p:blipFill>
        <p:spPr>
          <a:xfrm>
            <a:off x="6873908" y="1707213"/>
            <a:ext cx="344104" cy="344104"/>
          </a:xfrm>
          <a:prstGeom prst="rect">
            <a:avLst/>
          </a:prstGeom>
        </p:spPr>
      </p:pic>
      <p:sp>
        <p:nvSpPr>
          <p:cNvPr id="22" name="TitleTrackerAlpha 7">
            <a:extLst>
              <a:ext uri="{FF2B5EF4-FFF2-40B4-BE49-F238E27FC236}">
                <a16:creationId xmlns:a16="http://schemas.microsoft.com/office/drawing/2014/main" id="{8DB09719-9BCF-4867-A7C7-E5D074659A73}"/>
              </a:ext>
            </a:extLst>
          </p:cNvPr>
          <p:cNvSpPr/>
          <p:nvPr>
            <p:custDataLst>
              <p:tags r:id="rId4"/>
            </p:custDataLst>
          </p:nvPr>
        </p:nvSpPr>
        <p:spPr>
          <a:xfrm>
            <a:off x="5780616"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R4</a:t>
            </a:r>
          </a:p>
        </p:txBody>
      </p:sp>
      <p:sp>
        <p:nvSpPr>
          <p:cNvPr id="23" name="TitleTrackerAlpha 7">
            <a:extLst>
              <a:ext uri="{FF2B5EF4-FFF2-40B4-BE49-F238E27FC236}">
                <a16:creationId xmlns:a16="http://schemas.microsoft.com/office/drawing/2014/main" id="{3BE9A525-0916-403B-8576-B52985B0870B}"/>
              </a:ext>
            </a:extLst>
          </p:cNvPr>
          <p:cNvSpPr/>
          <p:nvPr>
            <p:custDataLst>
              <p:tags r:id="rId5"/>
            </p:custDataLst>
          </p:nvPr>
        </p:nvSpPr>
        <p:spPr>
          <a:xfrm>
            <a:off x="838200"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R1</a:t>
            </a:r>
          </a:p>
        </p:txBody>
      </p:sp>
      <p:sp>
        <p:nvSpPr>
          <p:cNvPr id="24" name="TitleTrackerAlpha 7">
            <a:extLst>
              <a:ext uri="{FF2B5EF4-FFF2-40B4-BE49-F238E27FC236}">
                <a16:creationId xmlns:a16="http://schemas.microsoft.com/office/drawing/2014/main" id="{BCA1BAD7-747E-4148-934B-F990C0308435}"/>
              </a:ext>
            </a:extLst>
          </p:cNvPr>
          <p:cNvSpPr/>
          <p:nvPr>
            <p:custDataLst>
              <p:tags r:id="rId6"/>
            </p:custDataLst>
          </p:nvPr>
        </p:nvSpPr>
        <p:spPr>
          <a:xfrm>
            <a:off x="2485672"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R2</a:t>
            </a:r>
          </a:p>
        </p:txBody>
      </p:sp>
      <p:sp>
        <p:nvSpPr>
          <p:cNvPr id="25" name="TitleTrackerAlpha 7">
            <a:extLst>
              <a:ext uri="{FF2B5EF4-FFF2-40B4-BE49-F238E27FC236}">
                <a16:creationId xmlns:a16="http://schemas.microsoft.com/office/drawing/2014/main" id="{BA541E44-A67A-4882-83BC-2F84F2D9A9A7}"/>
              </a:ext>
            </a:extLst>
          </p:cNvPr>
          <p:cNvSpPr/>
          <p:nvPr>
            <p:custDataLst>
              <p:tags r:id="rId7"/>
            </p:custDataLst>
          </p:nvPr>
        </p:nvSpPr>
        <p:spPr>
          <a:xfrm>
            <a:off x="4133144"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R3</a:t>
            </a:r>
          </a:p>
        </p:txBody>
      </p:sp>
      <p:sp>
        <p:nvSpPr>
          <p:cNvPr id="26" name="TitleTrackerAlpha 7">
            <a:extLst>
              <a:ext uri="{FF2B5EF4-FFF2-40B4-BE49-F238E27FC236}">
                <a16:creationId xmlns:a16="http://schemas.microsoft.com/office/drawing/2014/main" id="{9E10F5D4-39FA-4721-8707-5C83F363FCFB}"/>
              </a:ext>
            </a:extLst>
          </p:cNvPr>
          <p:cNvSpPr/>
          <p:nvPr>
            <p:custDataLst>
              <p:tags r:id="rId8"/>
            </p:custDataLst>
          </p:nvPr>
        </p:nvSpPr>
        <p:spPr>
          <a:xfrm>
            <a:off x="9896967"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Rn</a:t>
            </a:r>
          </a:p>
        </p:txBody>
      </p:sp>
      <p:grpSp>
        <p:nvGrpSpPr>
          <p:cNvPr id="143" name="Group 142">
            <a:extLst>
              <a:ext uri="{FF2B5EF4-FFF2-40B4-BE49-F238E27FC236}">
                <a16:creationId xmlns:a16="http://schemas.microsoft.com/office/drawing/2014/main" id="{1533FF68-6A87-43F4-983F-B3A466767902}"/>
              </a:ext>
            </a:extLst>
          </p:cNvPr>
          <p:cNvGrpSpPr/>
          <p:nvPr/>
        </p:nvGrpSpPr>
        <p:grpSpPr>
          <a:xfrm>
            <a:off x="4260891" y="1707213"/>
            <a:ext cx="1552463" cy="258533"/>
            <a:chOff x="2580681" y="2136708"/>
            <a:chExt cx="1552463" cy="258533"/>
          </a:xfrm>
        </p:grpSpPr>
        <p:sp>
          <p:nvSpPr>
            <p:cNvPr id="28" name="Body1 19">
              <a:extLst>
                <a:ext uri="{FF2B5EF4-FFF2-40B4-BE49-F238E27FC236}">
                  <a16:creationId xmlns:a16="http://schemas.microsoft.com/office/drawing/2014/main" id="{9A62E4E9-FC0B-4B72-A40D-5FF4B77E157A}"/>
                </a:ext>
              </a:extLst>
            </p:cNvPr>
            <p:cNvSpPr txBox="1"/>
            <p:nvPr>
              <p:custDataLst>
                <p:tags r:id="rId80"/>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29" name="Rectangle 28">
              <a:extLst>
                <a:ext uri="{FF2B5EF4-FFF2-40B4-BE49-F238E27FC236}">
                  <a16:creationId xmlns:a16="http://schemas.microsoft.com/office/drawing/2014/main" id="{367E4714-D8F9-4686-849A-D2C0D8101075}"/>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41" name="Body1 19">
            <a:extLst>
              <a:ext uri="{FF2B5EF4-FFF2-40B4-BE49-F238E27FC236}">
                <a16:creationId xmlns:a16="http://schemas.microsoft.com/office/drawing/2014/main" id="{B9D13198-CB8F-4886-A99B-3F466E25925A}"/>
              </a:ext>
            </a:extLst>
          </p:cNvPr>
          <p:cNvSpPr txBox="1"/>
          <p:nvPr>
            <p:custDataLst>
              <p:tags r:id="rId9"/>
            </p:custDataLst>
          </p:nvPr>
        </p:nvSpPr>
        <p:spPr>
          <a:xfrm>
            <a:off x="7029016" y="4666565"/>
            <a:ext cx="2101745" cy="535531"/>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 . . . . .</a:t>
            </a:r>
          </a:p>
        </p:txBody>
      </p:sp>
      <p:sp>
        <p:nvSpPr>
          <p:cNvPr id="40" name="Body1 19">
            <a:extLst>
              <a:ext uri="{FF2B5EF4-FFF2-40B4-BE49-F238E27FC236}">
                <a16:creationId xmlns:a16="http://schemas.microsoft.com/office/drawing/2014/main" id="{1A8E1F52-93CE-42E7-9923-C3C5450AE61A}"/>
              </a:ext>
            </a:extLst>
          </p:cNvPr>
          <p:cNvSpPr txBox="1"/>
          <p:nvPr>
            <p:custDataLst>
              <p:tags r:id="rId10"/>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53" name="Body1 19">
            <a:extLst>
              <a:ext uri="{FF2B5EF4-FFF2-40B4-BE49-F238E27FC236}">
                <a16:creationId xmlns:a16="http://schemas.microsoft.com/office/drawing/2014/main" id="{E1055004-E6C9-43B9-8E3B-C35C54C1A52C}"/>
              </a:ext>
            </a:extLst>
          </p:cNvPr>
          <p:cNvSpPr txBox="1"/>
          <p:nvPr>
            <p:custDataLst>
              <p:tags r:id="rId11"/>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65" name="Body1 19">
            <a:extLst>
              <a:ext uri="{FF2B5EF4-FFF2-40B4-BE49-F238E27FC236}">
                <a16:creationId xmlns:a16="http://schemas.microsoft.com/office/drawing/2014/main" id="{F6EC3F23-0BBE-46A2-9847-5A8F1187BF55}"/>
              </a:ext>
            </a:extLst>
          </p:cNvPr>
          <p:cNvSpPr txBox="1"/>
          <p:nvPr>
            <p:custDataLst>
              <p:tags r:id="rId12"/>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77" name="Body1 19">
            <a:extLst>
              <a:ext uri="{FF2B5EF4-FFF2-40B4-BE49-F238E27FC236}">
                <a16:creationId xmlns:a16="http://schemas.microsoft.com/office/drawing/2014/main" id="{9826027A-D4B6-40FF-9001-BCB68FE5260D}"/>
              </a:ext>
            </a:extLst>
          </p:cNvPr>
          <p:cNvSpPr txBox="1"/>
          <p:nvPr>
            <p:custDataLst>
              <p:tags r:id="rId13"/>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92" name="Body1 19">
            <a:extLst>
              <a:ext uri="{FF2B5EF4-FFF2-40B4-BE49-F238E27FC236}">
                <a16:creationId xmlns:a16="http://schemas.microsoft.com/office/drawing/2014/main" id="{E8530AEE-CA50-4FA2-83F0-1B20930A81DC}"/>
              </a:ext>
            </a:extLst>
          </p:cNvPr>
          <p:cNvSpPr txBox="1"/>
          <p:nvPr>
            <p:custDataLst>
              <p:tags r:id="rId14"/>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104" name="Body1 19">
            <a:extLst>
              <a:ext uri="{FF2B5EF4-FFF2-40B4-BE49-F238E27FC236}">
                <a16:creationId xmlns:a16="http://schemas.microsoft.com/office/drawing/2014/main" id="{7CD22A95-E086-4A9D-B6B2-F6EEED1C5DDF}"/>
              </a:ext>
            </a:extLst>
          </p:cNvPr>
          <p:cNvSpPr txBox="1"/>
          <p:nvPr>
            <p:custDataLst>
              <p:tags r:id="rId15"/>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pic>
        <p:nvPicPr>
          <p:cNvPr id="106" name="CustomIcon">
            <a:extLst>
              <a:ext uri="{FF2B5EF4-FFF2-40B4-BE49-F238E27FC236}">
                <a16:creationId xmlns:a16="http://schemas.microsoft.com/office/drawing/2014/main" id="{8C923341-E015-4735-8072-39775818A947}"/>
              </a:ext>
            </a:extLst>
          </p:cNvPr>
          <p:cNvPicPr>
            <a:picLocks noChangeAspect="1"/>
          </p:cNvPicPr>
          <p:nvPr>
            <p:custDataLst>
              <p:tags r:id="rId16"/>
            </p:custDataLst>
          </p:nvPr>
        </p:nvPicPr>
        <p:blipFill>
          <a:blip>
            <a:extLst>
              <a:ext uri="{96DAC541-7B7A-43D3-8B79-37D633B846F1}">
                <asvg:svgBlip xmlns:asvg="http://schemas.microsoft.com/office/drawing/2016/SVG/main" r:embed="rId85"/>
              </a:ext>
            </a:extLst>
          </a:blip>
          <a:stretch>
            <a:fillRect/>
          </a:stretch>
        </p:blipFill>
        <p:spPr>
          <a:xfrm>
            <a:off x="494096" y="5228666"/>
            <a:ext cx="344104" cy="344104"/>
          </a:xfrm>
          <a:prstGeom prst="rect">
            <a:avLst/>
          </a:prstGeom>
        </p:spPr>
      </p:pic>
      <p:pic>
        <p:nvPicPr>
          <p:cNvPr id="107" name="CustomIcon">
            <a:extLst>
              <a:ext uri="{FF2B5EF4-FFF2-40B4-BE49-F238E27FC236}">
                <a16:creationId xmlns:a16="http://schemas.microsoft.com/office/drawing/2014/main" id="{84525F40-65CA-42EE-BE88-0F4492A0603F}"/>
              </a:ext>
            </a:extLst>
          </p:cNvPr>
          <p:cNvPicPr>
            <a:picLocks noChangeAspect="1"/>
          </p:cNvPicPr>
          <p:nvPr>
            <p:custDataLst>
              <p:tags r:id="rId17"/>
            </p:custDataLst>
          </p:nvPr>
        </p:nvPicPr>
        <p:blipFill>
          <a:blip>
            <a:extLst>
              <a:ext uri="{96DAC541-7B7A-43D3-8B79-37D633B846F1}">
                <asvg:svgBlip xmlns:asvg="http://schemas.microsoft.com/office/drawing/2016/SVG/main" r:embed="rId85"/>
              </a:ext>
            </a:extLst>
          </a:blip>
          <a:stretch>
            <a:fillRect/>
          </a:stretch>
        </p:blipFill>
        <p:spPr>
          <a:xfrm>
            <a:off x="2213306" y="5228666"/>
            <a:ext cx="344104" cy="344104"/>
          </a:xfrm>
          <a:prstGeom prst="rect">
            <a:avLst/>
          </a:prstGeom>
        </p:spPr>
      </p:pic>
      <p:pic>
        <p:nvPicPr>
          <p:cNvPr id="108" name="CustomIcon">
            <a:extLst>
              <a:ext uri="{FF2B5EF4-FFF2-40B4-BE49-F238E27FC236}">
                <a16:creationId xmlns:a16="http://schemas.microsoft.com/office/drawing/2014/main" id="{16A5EA41-D14C-4675-8A35-0FB04038EB45}"/>
              </a:ext>
            </a:extLst>
          </p:cNvPr>
          <p:cNvPicPr>
            <a:picLocks noChangeAspect="1"/>
          </p:cNvPicPr>
          <p:nvPr>
            <p:custDataLst>
              <p:tags r:id="rId18"/>
            </p:custDataLst>
          </p:nvPr>
        </p:nvPicPr>
        <p:blipFill>
          <a:blip>
            <a:extLst>
              <a:ext uri="{96DAC541-7B7A-43D3-8B79-37D633B846F1}">
                <asvg:svgBlip xmlns:asvg="http://schemas.microsoft.com/office/drawing/2016/SVG/main" r:embed="rId85"/>
              </a:ext>
            </a:extLst>
          </a:blip>
          <a:stretch>
            <a:fillRect/>
          </a:stretch>
        </p:blipFill>
        <p:spPr>
          <a:xfrm>
            <a:off x="3934515" y="5228666"/>
            <a:ext cx="344104" cy="344104"/>
          </a:xfrm>
          <a:prstGeom prst="rect">
            <a:avLst/>
          </a:prstGeom>
        </p:spPr>
      </p:pic>
      <p:pic>
        <p:nvPicPr>
          <p:cNvPr id="109" name="CustomIcon">
            <a:extLst>
              <a:ext uri="{FF2B5EF4-FFF2-40B4-BE49-F238E27FC236}">
                <a16:creationId xmlns:a16="http://schemas.microsoft.com/office/drawing/2014/main" id="{5AC56C78-2360-4347-BA18-FF2DBC734CA5}"/>
              </a:ext>
            </a:extLst>
          </p:cNvPr>
          <p:cNvPicPr>
            <a:picLocks noChangeAspect="1"/>
          </p:cNvPicPr>
          <p:nvPr>
            <p:custDataLst>
              <p:tags r:id="rId19"/>
            </p:custDataLst>
          </p:nvPr>
        </p:nvPicPr>
        <p:blipFill>
          <a:blip>
            <a:extLst>
              <a:ext uri="{96DAC541-7B7A-43D3-8B79-37D633B846F1}">
                <asvg:svgBlip xmlns:asvg="http://schemas.microsoft.com/office/drawing/2016/SVG/main" r:embed="rId85"/>
              </a:ext>
            </a:extLst>
          </a:blip>
          <a:stretch>
            <a:fillRect/>
          </a:stretch>
        </p:blipFill>
        <p:spPr>
          <a:xfrm>
            <a:off x="5590670" y="5228666"/>
            <a:ext cx="344104" cy="344104"/>
          </a:xfrm>
          <a:prstGeom prst="rect">
            <a:avLst/>
          </a:prstGeom>
        </p:spPr>
      </p:pic>
      <p:pic>
        <p:nvPicPr>
          <p:cNvPr id="110" name="CustomIcon">
            <a:extLst>
              <a:ext uri="{FF2B5EF4-FFF2-40B4-BE49-F238E27FC236}">
                <a16:creationId xmlns:a16="http://schemas.microsoft.com/office/drawing/2014/main" id="{E414E572-47C3-430D-A12D-244F941EC4BA}"/>
              </a:ext>
            </a:extLst>
          </p:cNvPr>
          <p:cNvPicPr>
            <a:picLocks noChangeAspect="1"/>
          </p:cNvPicPr>
          <p:nvPr>
            <p:custDataLst>
              <p:tags r:id="rId20"/>
            </p:custDataLst>
          </p:nvPr>
        </p:nvPicPr>
        <p:blipFill>
          <a:blip>
            <a:extLst>
              <a:ext uri="{96DAC541-7B7A-43D3-8B79-37D633B846F1}">
                <asvg:svgBlip xmlns:asvg="http://schemas.microsoft.com/office/drawing/2016/SVG/main" r:embed="rId85"/>
              </a:ext>
            </a:extLst>
          </a:blip>
          <a:stretch>
            <a:fillRect/>
          </a:stretch>
        </p:blipFill>
        <p:spPr>
          <a:xfrm>
            <a:off x="9724915" y="5228666"/>
            <a:ext cx="344104" cy="344104"/>
          </a:xfrm>
          <a:prstGeom prst="rect">
            <a:avLst/>
          </a:prstGeom>
        </p:spPr>
      </p:pic>
      <p:sp>
        <p:nvSpPr>
          <p:cNvPr id="39" name="Body1 19">
            <a:extLst>
              <a:ext uri="{FF2B5EF4-FFF2-40B4-BE49-F238E27FC236}">
                <a16:creationId xmlns:a16="http://schemas.microsoft.com/office/drawing/2014/main" id="{A32680FC-10A4-4B31-A673-9CE657FB5D17}"/>
              </a:ext>
            </a:extLst>
          </p:cNvPr>
          <p:cNvSpPr txBox="1"/>
          <p:nvPr>
            <p:custDataLst>
              <p:tags r:id="rId21"/>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52" name="Body1 19">
            <a:extLst>
              <a:ext uri="{FF2B5EF4-FFF2-40B4-BE49-F238E27FC236}">
                <a16:creationId xmlns:a16="http://schemas.microsoft.com/office/drawing/2014/main" id="{5DC6549B-EBCC-4E6F-AF3D-E64A7A14F98C}"/>
              </a:ext>
            </a:extLst>
          </p:cNvPr>
          <p:cNvSpPr txBox="1"/>
          <p:nvPr>
            <p:custDataLst>
              <p:tags r:id="rId22"/>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64" name="Body1 19">
            <a:extLst>
              <a:ext uri="{FF2B5EF4-FFF2-40B4-BE49-F238E27FC236}">
                <a16:creationId xmlns:a16="http://schemas.microsoft.com/office/drawing/2014/main" id="{13679855-271E-44F9-A722-38C958BD958A}"/>
              </a:ext>
            </a:extLst>
          </p:cNvPr>
          <p:cNvSpPr txBox="1"/>
          <p:nvPr>
            <p:custDataLst>
              <p:tags r:id="rId23"/>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76" name="Body1 19">
            <a:extLst>
              <a:ext uri="{FF2B5EF4-FFF2-40B4-BE49-F238E27FC236}">
                <a16:creationId xmlns:a16="http://schemas.microsoft.com/office/drawing/2014/main" id="{5E3511B7-4C98-43AC-A39B-BD8F0795B152}"/>
              </a:ext>
            </a:extLst>
          </p:cNvPr>
          <p:cNvSpPr txBox="1"/>
          <p:nvPr>
            <p:custDataLst>
              <p:tags r:id="rId24"/>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91" name="Body1 19">
            <a:extLst>
              <a:ext uri="{FF2B5EF4-FFF2-40B4-BE49-F238E27FC236}">
                <a16:creationId xmlns:a16="http://schemas.microsoft.com/office/drawing/2014/main" id="{3B3C0CA5-1037-4153-B050-5E628144F502}"/>
              </a:ext>
            </a:extLst>
          </p:cNvPr>
          <p:cNvSpPr txBox="1"/>
          <p:nvPr>
            <p:custDataLst>
              <p:tags r:id="rId25"/>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103" name="Body1 19">
            <a:extLst>
              <a:ext uri="{FF2B5EF4-FFF2-40B4-BE49-F238E27FC236}">
                <a16:creationId xmlns:a16="http://schemas.microsoft.com/office/drawing/2014/main" id="{C20FAA28-3F9D-4C51-99F9-8232ED8F6BC7}"/>
              </a:ext>
            </a:extLst>
          </p:cNvPr>
          <p:cNvSpPr txBox="1"/>
          <p:nvPr>
            <p:custDataLst>
              <p:tags r:id="rId26"/>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38" name="Body1 19">
            <a:extLst>
              <a:ext uri="{FF2B5EF4-FFF2-40B4-BE49-F238E27FC236}">
                <a16:creationId xmlns:a16="http://schemas.microsoft.com/office/drawing/2014/main" id="{FCDC80FD-DCCA-43FB-A07A-D4B60699A394}"/>
              </a:ext>
            </a:extLst>
          </p:cNvPr>
          <p:cNvSpPr txBox="1"/>
          <p:nvPr>
            <p:custDataLst>
              <p:tags r:id="rId27"/>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51" name="Body1 19">
            <a:extLst>
              <a:ext uri="{FF2B5EF4-FFF2-40B4-BE49-F238E27FC236}">
                <a16:creationId xmlns:a16="http://schemas.microsoft.com/office/drawing/2014/main" id="{F3E315AC-23FE-49BF-93D4-8880B7A59FF1}"/>
              </a:ext>
            </a:extLst>
          </p:cNvPr>
          <p:cNvSpPr txBox="1"/>
          <p:nvPr>
            <p:custDataLst>
              <p:tags r:id="rId28"/>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63" name="Body1 19">
            <a:extLst>
              <a:ext uri="{FF2B5EF4-FFF2-40B4-BE49-F238E27FC236}">
                <a16:creationId xmlns:a16="http://schemas.microsoft.com/office/drawing/2014/main" id="{218C6056-3F38-4CE6-88DF-FC657FDE814D}"/>
              </a:ext>
            </a:extLst>
          </p:cNvPr>
          <p:cNvSpPr txBox="1"/>
          <p:nvPr>
            <p:custDataLst>
              <p:tags r:id="rId29"/>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75" name="Body1 19">
            <a:extLst>
              <a:ext uri="{FF2B5EF4-FFF2-40B4-BE49-F238E27FC236}">
                <a16:creationId xmlns:a16="http://schemas.microsoft.com/office/drawing/2014/main" id="{F77CBF52-CBE5-4210-A2D9-0E096CCC3D65}"/>
              </a:ext>
            </a:extLst>
          </p:cNvPr>
          <p:cNvSpPr txBox="1"/>
          <p:nvPr>
            <p:custDataLst>
              <p:tags r:id="rId30"/>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90" name="Body1 19">
            <a:extLst>
              <a:ext uri="{FF2B5EF4-FFF2-40B4-BE49-F238E27FC236}">
                <a16:creationId xmlns:a16="http://schemas.microsoft.com/office/drawing/2014/main" id="{1252580C-7067-40AE-B76E-CC6E4DBB30A7}"/>
              </a:ext>
            </a:extLst>
          </p:cNvPr>
          <p:cNvSpPr txBox="1"/>
          <p:nvPr>
            <p:custDataLst>
              <p:tags r:id="rId31"/>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102" name="Body1 19">
            <a:extLst>
              <a:ext uri="{FF2B5EF4-FFF2-40B4-BE49-F238E27FC236}">
                <a16:creationId xmlns:a16="http://schemas.microsoft.com/office/drawing/2014/main" id="{A8E09093-77D7-4CBB-906C-D75A18DDF9FA}"/>
              </a:ext>
            </a:extLst>
          </p:cNvPr>
          <p:cNvSpPr txBox="1"/>
          <p:nvPr>
            <p:custDataLst>
              <p:tags r:id="rId32"/>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37" name="Body1 19">
            <a:extLst>
              <a:ext uri="{FF2B5EF4-FFF2-40B4-BE49-F238E27FC236}">
                <a16:creationId xmlns:a16="http://schemas.microsoft.com/office/drawing/2014/main" id="{0FBB87A0-B628-4A03-A326-BFD22FDAD84C}"/>
              </a:ext>
            </a:extLst>
          </p:cNvPr>
          <p:cNvSpPr txBox="1"/>
          <p:nvPr>
            <p:custDataLst>
              <p:tags r:id="rId33"/>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50" name="Body1 19">
            <a:extLst>
              <a:ext uri="{FF2B5EF4-FFF2-40B4-BE49-F238E27FC236}">
                <a16:creationId xmlns:a16="http://schemas.microsoft.com/office/drawing/2014/main" id="{866CAD6C-2F02-42AC-963B-869784254563}"/>
              </a:ext>
            </a:extLst>
          </p:cNvPr>
          <p:cNvSpPr txBox="1"/>
          <p:nvPr>
            <p:custDataLst>
              <p:tags r:id="rId34"/>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62" name="Body1 19">
            <a:extLst>
              <a:ext uri="{FF2B5EF4-FFF2-40B4-BE49-F238E27FC236}">
                <a16:creationId xmlns:a16="http://schemas.microsoft.com/office/drawing/2014/main" id="{D5D57715-1DE3-496B-87A7-A15A345F0CA2}"/>
              </a:ext>
            </a:extLst>
          </p:cNvPr>
          <p:cNvSpPr txBox="1"/>
          <p:nvPr>
            <p:custDataLst>
              <p:tags r:id="rId35"/>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74" name="Body1 19">
            <a:extLst>
              <a:ext uri="{FF2B5EF4-FFF2-40B4-BE49-F238E27FC236}">
                <a16:creationId xmlns:a16="http://schemas.microsoft.com/office/drawing/2014/main" id="{7EDB63F0-7F3D-4BD7-8E1C-7F1F6AEC5BB4}"/>
              </a:ext>
            </a:extLst>
          </p:cNvPr>
          <p:cNvSpPr txBox="1"/>
          <p:nvPr>
            <p:custDataLst>
              <p:tags r:id="rId36"/>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89" name="Body1 19">
            <a:extLst>
              <a:ext uri="{FF2B5EF4-FFF2-40B4-BE49-F238E27FC236}">
                <a16:creationId xmlns:a16="http://schemas.microsoft.com/office/drawing/2014/main" id="{FAB207FB-C84B-45AF-8322-2537E7CEDF87}"/>
              </a:ext>
            </a:extLst>
          </p:cNvPr>
          <p:cNvSpPr txBox="1"/>
          <p:nvPr>
            <p:custDataLst>
              <p:tags r:id="rId37"/>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101" name="Body1 19">
            <a:extLst>
              <a:ext uri="{FF2B5EF4-FFF2-40B4-BE49-F238E27FC236}">
                <a16:creationId xmlns:a16="http://schemas.microsoft.com/office/drawing/2014/main" id="{3C0CFA0B-968E-4BAB-8562-C2A1F7EE0657}"/>
              </a:ext>
            </a:extLst>
          </p:cNvPr>
          <p:cNvSpPr txBox="1"/>
          <p:nvPr>
            <p:custDataLst>
              <p:tags r:id="rId38"/>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36" name="Body1 19">
            <a:extLst>
              <a:ext uri="{FF2B5EF4-FFF2-40B4-BE49-F238E27FC236}">
                <a16:creationId xmlns:a16="http://schemas.microsoft.com/office/drawing/2014/main" id="{D1759F28-A426-4AEB-BF78-3B2F66077873}"/>
              </a:ext>
            </a:extLst>
          </p:cNvPr>
          <p:cNvSpPr txBox="1"/>
          <p:nvPr>
            <p:custDataLst>
              <p:tags r:id="rId39"/>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49" name="Body1 19">
            <a:extLst>
              <a:ext uri="{FF2B5EF4-FFF2-40B4-BE49-F238E27FC236}">
                <a16:creationId xmlns:a16="http://schemas.microsoft.com/office/drawing/2014/main" id="{AB7A684D-C0A2-4A6B-9067-453D8891F97E}"/>
              </a:ext>
            </a:extLst>
          </p:cNvPr>
          <p:cNvSpPr txBox="1"/>
          <p:nvPr>
            <p:custDataLst>
              <p:tags r:id="rId40"/>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61" name="Body1 19">
            <a:extLst>
              <a:ext uri="{FF2B5EF4-FFF2-40B4-BE49-F238E27FC236}">
                <a16:creationId xmlns:a16="http://schemas.microsoft.com/office/drawing/2014/main" id="{2B6E5BD2-02EF-4D61-8A69-09DEE0120CAD}"/>
              </a:ext>
            </a:extLst>
          </p:cNvPr>
          <p:cNvSpPr txBox="1"/>
          <p:nvPr>
            <p:custDataLst>
              <p:tags r:id="rId41"/>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73" name="Body1 19">
            <a:extLst>
              <a:ext uri="{FF2B5EF4-FFF2-40B4-BE49-F238E27FC236}">
                <a16:creationId xmlns:a16="http://schemas.microsoft.com/office/drawing/2014/main" id="{FFE8E94F-3F6F-46B9-A5D0-F66F6623D039}"/>
              </a:ext>
            </a:extLst>
          </p:cNvPr>
          <p:cNvSpPr txBox="1"/>
          <p:nvPr>
            <p:custDataLst>
              <p:tags r:id="rId42"/>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88" name="Body1 19">
            <a:extLst>
              <a:ext uri="{FF2B5EF4-FFF2-40B4-BE49-F238E27FC236}">
                <a16:creationId xmlns:a16="http://schemas.microsoft.com/office/drawing/2014/main" id="{572D042E-F972-40C2-841C-7264B0D0045F}"/>
              </a:ext>
            </a:extLst>
          </p:cNvPr>
          <p:cNvSpPr txBox="1"/>
          <p:nvPr>
            <p:custDataLst>
              <p:tags r:id="rId43"/>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100" name="Body1 19">
            <a:extLst>
              <a:ext uri="{FF2B5EF4-FFF2-40B4-BE49-F238E27FC236}">
                <a16:creationId xmlns:a16="http://schemas.microsoft.com/office/drawing/2014/main" id="{1A859F52-A5E6-4D11-BF77-C96E46DB3C4E}"/>
              </a:ext>
            </a:extLst>
          </p:cNvPr>
          <p:cNvSpPr txBox="1"/>
          <p:nvPr>
            <p:custDataLst>
              <p:tags r:id="rId44"/>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35" name="Body1 19">
            <a:extLst>
              <a:ext uri="{FF2B5EF4-FFF2-40B4-BE49-F238E27FC236}">
                <a16:creationId xmlns:a16="http://schemas.microsoft.com/office/drawing/2014/main" id="{CC4898CC-F43F-4424-8B5E-660ECFF4998E}"/>
              </a:ext>
            </a:extLst>
          </p:cNvPr>
          <p:cNvSpPr txBox="1"/>
          <p:nvPr>
            <p:custDataLst>
              <p:tags r:id="rId45"/>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48" name="Body1 19">
            <a:extLst>
              <a:ext uri="{FF2B5EF4-FFF2-40B4-BE49-F238E27FC236}">
                <a16:creationId xmlns:a16="http://schemas.microsoft.com/office/drawing/2014/main" id="{DF9EC921-0969-4339-AE4E-96DCD682B47F}"/>
              </a:ext>
            </a:extLst>
          </p:cNvPr>
          <p:cNvSpPr txBox="1"/>
          <p:nvPr>
            <p:custDataLst>
              <p:tags r:id="rId46"/>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60" name="Body1 19">
            <a:extLst>
              <a:ext uri="{FF2B5EF4-FFF2-40B4-BE49-F238E27FC236}">
                <a16:creationId xmlns:a16="http://schemas.microsoft.com/office/drawing/2014/main" id="{1089D5FD-5FFC-4AD7-81C1-CB4A635875F4}"/>
              </a:ext>
            </a:extLst>
          </p:cNvPr>
          <p:cNvSpPr txBox="1"/>
          <p:nvPr>
            <p:custDataLst>
              <p:tags r:id="rId47"/>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72" name="Body1 19">
            <a:extLst>
              <a:ext uri="{FF2B5EF4-FFF2-40B4-BE49-F238E27FC236}">
                <a16:creationId xmlns:a16="http://schemas.microsoft.com/office/drawing/2014/main" id="{C9AEA5D4-FF7C-4F59-BE85-13A367DD0AEE}"/>
              </a:ext>
            </a:extLst>
          </p:cNvPr>
          <p:cNvSpPr txBox="1"/>
          <p:nvPr>
            <p:custDataLst>
              <p:tags r:id="rId48"/>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87" name="Body1 19">
            <a:extLst>
              <a:ext uri="{FF2B5EF4-FFF2-40B4-BE49-F238E27FC236}">
                <a16:creationId xmlns:a16="http://schemas.microsoft.com/office/drawing/2014/main" id="{DA546C94-5971-4810-8212-BAF1BC88729C}"/>
              </a:ext>
            </a:extLst>
          </p:cNvPr>
          <p:cNvSpPr txBox="1"/>
          <p:nvPr>
            <p:custDataLst>
              <p:tags r:id="rId49"/>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99" name="Body1 19">
            <a:extLst>
              <a:ext uri="{FF2B5EF4-FFF2-40B4-BE49-F238E27FC236}">
                <a16:creationId xmlns:a16="http://schemas.microsoft.com/office/drawing/2014/main" id="{9026B57E-982D-40BA-9202-D2A5D4EAD0A2}"/>
              </a:ext>
            </a:extLst>
          </p:cNvPr>
          <p:cNvSpPr txBox="1"/>
          <p:nvPr>
            <p:custDataLst>
              <p:tags r:id="rId50"/>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34" name="Body1 19">
            <a:extLst>
              <a:ext uri="{FF2B5EF4-FFF2-40B4-BE49-F238E27FC236}">
                <a16:creationId xmlns:a16="http://schemas.microsoft.com/office/drawing/2014/main" id="{A5EBCE7C-E698-47A6-A0E8-C4C1025F1AE4}"/>
              </a:ext>
            </a:extLst>
          </p:cNvPr>
          <p:cNvSpPr txBox="1"/>
          <p:nvPr>
            <p:custDataLst>
              <p:tags r:id="rId51"/>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47" name="Body1 19">
            <a:extLst>
              <a:ext uri="{FF2B5EF4-FFF2-40B4-BE49-F238E27FC236}">
                <a16:creationId xmlns:a16="http://schemas.microsoft.com/office/drawing/2014/main" id="{92EF9181-07B8-4F48-80CB-FFDB87B9725E}"/>
              </a:ext>
            </a:extLst>
          </p:cNvPr>
          <p:cNvSpPr txBox="1"/>
          <p:nvPr>
            <p:custDataLst>
              <p:tags r:id="rId52"/>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59" name="Body1 19">
            <a:extLst>
              <a:ext uri="{FF2B5EF4-FFF2-40B4-BE49-F238E27FC236}">
                <a16:creationId xmlns:a16="http://schemas.microsoft.com/office/drawing/2014/main" id="{C2C6CAA5-6D90-4C40-83A1-FE6A1579779C}"/>
              </a:ext>
            </a:extLst>
          </p:cNvPr>
          <p:cNvSpPr txBox="1"/>
          <p:nvPr>
            <p:custDataLst>
              <p:tags r:id="rId53"/>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71" name="Body1 19">
            <a:extLst>
              <a:ext uri="{FF2B5EF4-FFF2-40B4-BE49-F238E27FC236}">
                <a16:creationId xmlns:a16="http://schemas.microsoft.com/office/drawing/2014/main" id="{CDF605D2-E1EF-4BE9-9E3E-599791F8EF44}"/>
              </a:ext>
            </a:extLst>
          </p:cNvPr>
          <p:cNvSpPr txBox="1"/>
          <p:nvPr>
            <p:custDataLst>
              <p:tags r:id="rId54"/>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86" name="Body1 19">
            <a:extLst>
              <a:ext uri="{FF2B5EF4-FFF2-40B4-BE49-F238E27FC236}">
                <a16:creationId xmlns:a16="http://schemas.microsoft.com/office/drawing/2014/main" id="{D43CBAC4-5734-4676-9B55-46AB31981AA3}"/>
              </a:ext>
            </a:extLst>
          </p:cNvPr>
          <p:cNvSpPr txBox="1"/>
          <p:nvPr>
            <p:custDataLst>
              <p:tags r:id="rId55"/>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98" name="Body1 19">
            <a:extLst>
              <a:ext uri="{FF2B5EF4-FFF2-40B4-BE49-F238E27FC236}">
                <a16:creationId xmlns:a16="http://schemas.microsoft.com/office/drawing/2014/main" id="{646AAB36-4F8A-4E89-B38C-327D514370BB}"/>
              </a:ext>
            </a:extLst>
          </p:cNvPr>
          <p:cNvSpPr txBox="1"/>
          <p:nvPr>
            <p:custDataLst>
              <p:tags r:id="rId56"/>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33" name="Body1 19">
            <a:extLst>
              <a:ext uri="{FF2B5EF4-FFF2-40B4-BE49-F238E27FC236}">
                <a16:creationId xmlns:a16="http://schemas.microsoft.com/office/drawing/2014/main" id="{90CD9A33-8582-4B04-890A-BB408D9F7FE8}"/>
              </a:ext>
            </a:extLst>
          </p:cNvPr>
          <p:cNvSpPr txBox="1"/>
          <p:nvPr>
            <p:custDataLst>
              <p:tags r:id="rId57"/>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46" name="Body1 19">
            <a:extLst>
              <a:ext uri="{FF2B5EF4-FFF2-40B4-BE49-F238E27FC236}">
                <a16:creationId xmlns:a16="http://schemas.microsoft.com/office/drawing/2014/main" id="{5CCEF8FF-C821-466F-8B58-C08DEB7E4516}"/>
              </a:ext>
            </a:extLst>
          </p:cNvPr>
          <p:cNvSpPr txBox="1"/>
          <p:nvPr>
            <p:custDataLst>
              <p:tags r:id="rId58"/>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58" name="Body1 19">
            <a:extLst>
              <a:ext uri="{FF2B5EF4-FFF2-40B4-BE49-F238E27FC236}">
                <a16:creationId xmlns:a16="http://schemas.microsoft.com/office/drawing/2014/main" id="{19BFBAD4-6619-46A1-8B20-FA716E29F64C}"/>
              </a:ext>
            </a:extLst>
          </p:cNvPr>
          <p:cNvSpPr txBox="1"/>
          <p:nvPr>
            <p:custDataLst>
              <p:tags r:id="rId59"/>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70" name="Body1 19">
            <a:extLst>
              <a:ext uri="{FF2B5EF4-FFF2-40B4-BE49-F238E27FC236}">
                <a16:creationId xmlns:a16="http://schemas.microsoft.com/office/drawing/2014/main" id="{0B715B06-D994-4ACA-B07C-0E088FBAB9CB}"/>
              </a:ext>
            </a:extLst>
          </p:cNvPr>
          <p:cNvSpPr txBox="1"/>
          <p:nvPr>
            <p:custDataLst>
              <p:tags r:id="rId60"/>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85" name="Body1 19">
            <a:extLst>
              <a:ext uri="{FF2B5EF4-FFF2-40B4-BE49-F238E27FC236}">
                <a16:creationId xmlns:a16="http://schemas.microsoft.com/office/drawing/2014/main" id="{EE114926-89DD-4BB0-A379-00B7AC221637}"/>
              </a:ext>
            </a:extLst>
          </p:cNvPr>
          <p:cNvSpPr txBox="1"/>
          <p:nvPr>
            <p:custDataLst>
              <p:tags r:id="rId61"/>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97" name="Body1 19">
            <a:extLst>
              <a:ext uri="{FF2B5EF4-FFF2-40B4-BE49-F238E27FC236}">
                <a16:creationId xmlns:a16="http://schemas.microsoft.com/office/drawing/2014/main" id="{5646ED97-9B14-488C-87E7-84972E05BC36}"/>
              </a:ext>
            </a:extLst>
          </p:cNvPr>
          <p:cNvSpPr txBox="1"/>
          <p:nvPr>
            <p:custDataLst>
              <p:tags r:id="rId62"/>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32" name="Body1 19">
            <a:extLst>
              <a:ext uri="{FF2B5EF4-FFF2-40B4-BE49-F238E27FC236}">
                <a16:creationId xmlns:a16="http://schemas.microsoft.com/office/drawing/2014/main" id="{3373F6D4-21E0-4E06-9E95-510450785A8E}"/>
              </a:ext>
            </a:extLst>
          </p:cNvPr>
          <p:cNvSpPr txBox="1"/>
          <p:nvPr>
            <p:custDataLst>
              <p:tags r:id="rId63"/>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45" name="Body1 19">
            <a:extLst>
              <a:ext uri="{FF2B5EF4-FFF2-40B4-BE49-F238E27FC236}">
                <a16:creationId xmlns:a16="http://schemas.microsoft.com/office/drawing/2014/main" id="{21586B87-1622-4927-A434-E78B77B0CC6E}"/>
              </a:ext>
            </a:extLst>
          </p:cNvPr>
          <p:cNvSpPr txBox="1"/>
          <p:nvPr>
            <p:custDataLst>
              <p:tags r:id="rId64"/>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57" name="Body1 19">
            <a:extLst>
              <a:ext uri="{FF2B5EF4-FFF2-40B4-BE49-F238E27FC236}">
                <a16:creationId xmlns:a16="http://schemas.microsoft.com/office/drawing/2014/main" id="{6BAFDE86-F56D-4B87-A245-7864CFEEF323}"/>
              </a:ext>
            </a:extLst>
          </p:cNvPr>
          <p:cNvSpPr txBox="1"/>
          <p:nvPr>
            <p:custDataLst>
              <p:tags r:id="rId65"/>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69" name="Body1 19">
            <a:extLst>
              <a:ext uri="{FF2B5EF4-FFF2-40B4-BE49-F238E27FC236}">
                <a16:creationId xmlns:a16="http://schemas.microsoft.com/office/drawing/2014/main" id="{EE17E3A9-AB33-443A-A339-7E95B575368A}"/>
              </a:ext>
            </a:extLst>
          </p:cNvPr>
          <p:cNvSpPr txBox="1"/>
          <p:nvPr>
            <p:custDataLst>
              <p:tags r:id="rId66"/>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84" name="Body1 19">
            <a:extLst>
              <a:ext uri="{FF2B5EF4-FFF2-40B4-BE49-F238E27FC236}">
                <a16:creationId xmlns:a16="http://schemas.microsoft.com/office/drawing/2014/main" id="{A872B137-9BF1-452B-AAFA-CF553DEDEFAD}"/>
              </a:ext>
            </a:extLst>
          </p:cNvPr>
          <p:cNvSpPr txBox="1"/>
          <p:nvPr>
            <p:custDataLst>
              <p:tags r:id="rId67"/>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96" name="Body1 19">
            <a:extLst>
              <a:ext uri="{FF2B5EF4-FFF2-40B4-BE49-F238E27FC236}">
                <a16:creationId xmlns:a16="http://schemas.microsoft.com/office/drawing/2014/main" id="{E7334B0B-4DA7-48D2-956E-F85DF8143BC6}"/>
              </a:ext>
            </a:extLst>
          </p:cNvPr>
          <p:cNvSpPr txBox="1"/>
          <p:nvPr>
            <p:custDataLst>
              <p:tags r:id="rId68"/>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31" name="Body1 19">
            <a:extLst>
              <a:ext uri="{FF2B5EF4-FFF2-40B4-BE49-F238E27FC236}">
                <a16:creationId xmlns:a16="http://schemas.microsoft.com/office/drawing/2014/main" id="{CA31CD21-D243-44D5-9399-4F18B5D6D723}"/>
              </a:ext>
            </a:extLst>
          </p:cNvPr>
          <p:cNvSpPr txBox="1"/>
          <p:nvPr>
            <p:custDataLst>
              <p:tags r:id="rId69"/>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44" name="Body1 19">
            <a:extLst>
              <a:ext uri="{FF2B5EF4-FFF2-40B4-BE49-F238E27FC236}">
                <a16:creationId xmlns:a16="http://schemas.microsoft.com/office/drawing/2014/main" id="{4A838B58-2E82-4B77-8EAF-39FC5B9E8FAA}"/>
              </a:ext>
            </a:extLst>
          </p:cNvPr>
          <p:cNvSpPr txBox="1"/>
          <p:nvPr>
            <p:custDataLst>
              <p:tags r:id="rId70"/>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56" name="Body1 19">
            <a:extLst>
              <a:ext uri="{FF2B5EF4-FFF2-40B4-BE49-F238E27FC236}">
                <a16:creationId xmlns:a16="http://schemas.microsoft.com/office/drawing/2014/main" id="{6BC04A59-0AF3-45C5-8C23-93C5BB7D7505}"/>
              </a:ext>
            </a:extLst>
          </p:cNvPr>
          <p:cNvSpPr txBox="1"/>
          <p:nvPr>
            <p:custDataLst>
              <p:tags r:id="rId71"/>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68" name="Body1 19">
            <a:extLst>
              <a:ext uri="{FF2B5EF4-FFF2-40B4-BE49-F238E27FC236}">
                <a16:creationId xmlns:a16="http://schemas.microsoft.com/office/drawing/2014/main" id="{65F43F0F-62D2-414B-B08E-82C6F6FE0E46}"/>
              </a:ext>
            </a:extLst>
          </p:cNvPr>
          <p:cNvSpPr txBox="1"/>
          <p:nvPr>
            <p:custDataLst>
              <p:tags r:id="rId72"/>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83" name="Body1 19">
            <a:extLst>
              <a:ext uri="{FF2B5EF4-FFF2-40B4-BE49-F238E27FC236}">
                <a16:creationId xmlns:a16="http://schemas.microsoft.com/office/drawing/2014/main" id="{7DBFCFEC-9834-4600-A46C-1CE22392DD6E}"/>
              </a:ext>
            </a:extLst>
          </p:cNvPr>
          <p:cNvSpPr txBox="1"/>
          <p:nvPr>
            <p:custDataLst>
              <p:tags r:id="rId73"/>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95" name="Body1 19">
            <a:extLst>
              <a:ext uri="{FF2B5EF4-FFF2-40B4-BE49-F238E27FC236}">
                <a16:creationId xmlns:a16="http://schemas.microsoft.com/office/drawing/2014/main" id="{821D2D41-3736-4F08-B736-250D91DAFF3B}"/>
              </a:ext>
            </a:extLst>
          </p:cNvPr>
          <p:cNvSpPr txBox="1"/>
          <p:nvPr>
            <p:custDataLst>
              <p:tags r:id="rId74"/>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cxnSp>
        <p:nvCxnSpPr>
          <p:cNvPr id="126" name="Straight Arrow Connector 125">
            <a:extLst>
              <a:ext uri="{FF2B5EF4-FFF2-40B4-BE49-F238E27FC236}">
                <a16:creationId xmlns:a16="http://schemas.microsoft.com/office/drawing/2014/main" id="{9F2D89A3-DE2A-4FFB-85B9-03131C03E64D}"/>
              </a:ext>
            </a:extLst>
          </p:cNvPr>
          <p:cNvCxnSpPr>
            <a:cxnSpLocks/>
            <a:stCxn id="7" idx="3"/>
          </p:cNvCxnSpPr>
          <p:nvPr/>
        </p:nvCxnSpPr>
        <p:spPr>
          <a:xfrm flipH="1">
            <a:off x="3934515" y="2066206"/>
            <a:ext cx="1951486" cy="933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31DBC3AA-37C7-4273-AC56-2D069F051714}"/>
              </a:ext>
            </a:extLst>
          </p:cNvPr>
          <p:cNvCxnSpPr>
            <a:cxnSpLocks/>
          </p:cNvCxnSpPr>
          <p:nvPr/>
        </p:nvCxnSpPr>
        <p:spPr>
          <a:xfrm flipH="1">
            <a:off x="4276621" y="2031270"/>
            <a:ext cx="1819377" cy="1120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39289474-3277-4E58-B47A-1C983196F9A1}"/>
              </a:ext>
            </a:extLst>
          </p:cNvPr>
          <p:cNvCxnSpPr>
            <a:cxnSpLocks/>
            <a:stCxn id="7" idx="4"/>
          </p:cNvCxnSpPr>
          <p:nvPr/>
        </p:nvCxnSpPr>
        <p:spPr>
          <a:xfrm flipH="1">
            <a:off x="4952115" y="2153190"/>
            <a:ext cx="1143885" cy="1120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98A9A93-68B5-4D6E-A9C0-5DCEB4BA5E4A}"/>
              </a:ext>
            </a:extLst>
          </p:cNvPr>
          <p:cNvCxnSpPr>
            <a:cxnSpLocks/>
            <a:stCxn id="7" idx="4"/>
          </p:cNvCxnSpPr>
          <p:nvPr/>
        </p:nvCxnSpPr>
        <p:spPr>
          <a:xfrm>
            <a:off x="6096000" y="2153190"/>
            <a:ext cx="0" cy="1120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D066FAE4-BE63-41A3-8DF6-CCF1E1F10EAD}"/>
              </a:ext>
            </a:extLst>
          </p:cNvPr>
          <p:cNvCxnSpPr>
            <a:cxnSpLocks/>
            <a:stCxn id="7" idx="5"/>
          </p:cNvCxnSpPr>
          <p:nvPr/>
        </p:nvCxnSpPr>
        <p:spPr>
          <a:xfrm>
            <a:off x="6305998" y="2066206"/>
            <a:ext cx="1531065" cy="998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44" name="Group 143">
            <a:extLst>
              <a:ext uri="{FF2B5EF4-FFF2-40B4-BE49-F238E27FC236}">
                <a16:creationId xmlns:a16="http://schemas.microsoft.com/office/drawing/2014/main" id="{990F8887-2414-496B-8B9A-D7412276F3E1}"/>
              </a:ext>
            </a:extLst>
          </p:cNvPr>
          <p:cNvGrpSpPr/>
          <p:nvPr/>
        </p:nvGrpSpPr>
        <p:grpSpPr>
          <a:xfrm>
            <a:off x="2608489" y="3034441"/>
            <a:ext cx="1552463" cy="258533"/>
            <a:chOff x="2580681" y="2136708"/>
            <a:chExt cx="1552463" cy="258533"/>
          </a:xfrm>
        </p:grpSpPr>
        <p:sp>
          <p:nvSpPr>
            <p:cNvPr id="145" name="Body1 19">
              <a:extLst>
                <a:ext uri="{FF2B5EF4-FFF2-40B4-BE49-F238E27FC236}">
                  <a16:creationId xmlns:a16="http://schemas.microsoft.com/office/drawing/2014/main" id="{D1744D6E-A8AF-477D-9919-AE14B87DFE88}"/>
                </a:ext>
              </a:extLst>
            </p:cNvPr>
            <p:cNvSpPr txBox="1"/>
            <p:nvPr>
              <p:custDataLst>
                <p:tags r:id="rId79"/>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46" name="Rectangle 145">
              <a:extLst>
                <a:ext uri="{FF2B5EF4-FFF2-40B4-BE49-F238E27FC236}">
                  <a16:creationId xmlns:a16="http://schemas.microsoft.com/office/drawing/2014/main" id="{C5CDF4BA-1ECB-421C-A27F-604D08F701B2}"/>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47" name="Group 146">
            <a:extLst>
              <a:ext uri="{FF2B5EF4-FFF2-40B4-BE49-F238E27FC236}">
                <a16:creationId xmlns:a16="http://schemas.microsoft.com/office/drawing/2014/main" id="{97088599-E062-4945-8762-1487E721DA72}"/>
              </a:ext>
            </a:extLst>
          </p:cNvPr>
          <p:cNvGrpSpPr/>
          <p:nvPr/>
        </p:nvGrpSpPr>
        <p:grpSpPr>
          <a:xfrm>
            <a:off x="3039322" y="3327909"/>
            <a:ext cx="1552463" cy="258533"/>
            <a:chOff x="2580681" y="2136708"/>
            <a:chExt cx="1552463" cy="258533"/>
          </a:xfrm>
        </p:grpSpPr>
        <p:sp>
          <p:nvSpPr>
            <p:cNvPr id="148" name="Body1 19">
              <a:extLst>
                <a:ext uri="{FF2B5EF4-FFF2-40B4-BE49-F238E27FC236}">
                  <a16:creationId xmlns:a16="http://schemas.microsoft.com/office/drawing/2014/main" id="{C2E8B8EF-366C-4CC4-AC1D-D164C908E775}"/>
                </a:ext>
              </a:extLst>
            </p:cNvPr>
            <p:cNvSpPr txBox="1"/>
            <p:nvPr>
              <p:custDataLst>
                <p:tags r:id="rId78"/>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49" name="Rectangle 148">
              <a:extLst>
                <a:ext uri="{FF2B5EF4-FFF2-40B4-BE49-F238E27FC236}">
                  <a16:creationId xmlns:a16="http://schemas.microsoft.com/office/drawing/2014/main" id="{4A150ABB-4A54-4ED4-A98F-011DB47EFE2A}"/>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50" name="Group 149">
            <a:extLst>
              <a:ext uri="{FF2B5EF4-FFF2-40B4-BE49-F238E27FC236}">
                <a16:creationId xmlns:a16="http://schemas.microsoft.com/office/drawing/2014/main" id="{93826419-94E2-4E57-ACE3-E0D0EF8B02C2}"/>
              </a:ext>
            </a:extLst>
          </p:cNvPr>
          <p:cNvGrpSpPr/>
          <p:nvPr/>
        </p:nvGrpSpPr>
        <p:grpSpPr>
          <a:xfrm>
            <a:off x="4410077" y="3342357"/>
            <a:ext cx="1552463" cy="258533"/>
            <a:chOff x="2580681" y="2136708"/>
            <a:chExt cx="1552463" cy="258533"/>
          </a:xfrm>
        </p:grpSpPr>
        <p:sp>
          <p:nvSpPr>
            <p:cNvPr id="151" name="Body1 19">
              <a:extLst>
                <a:ext uri="{FF2B5EF4-FFF2-40B4-BE49-F238E27FC236}">
                  <a16:creationId xmlns:a16="http://schemas.microsoft.com/office/drawing/2014/main" id="{70E8F72C-BDE8-4E12-8D98-314F7BA614CF}"/>
                </a:ext>
              </a:extLst>
            </p:cNvPr>
            <p:cNvSpPr txBox="1"/>
            <p:nvPr>
              <p:custDataLst>
                <p:tags r:id="rId77"/>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52" name="Rectangle 151">
              <a:extLst>
                <a:ext uri="{FF2B5EF4-FFF2-40B4-BE49-F238E27FC236}">
                  <a16:creationId xmlns:a16="http://schemas.microsoft.com/office/drawing/2014/main" id="{D6EC2CFC-25A2-4170-8B6F-2D1CE975205C}"/>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53" name="Group 152">
            <a:extLst>
              <a:ext uri="{FF2B5EF4-FFF2-40B4-BE49-F238E27FC236}">
                <a16:creationId xmlns:a16="http://schemas.microsoft.com/office/drawing/2014/main" id="{1FB3302C-7A96-41FA-A521-2D7F409F13B4}"/>
              </a:ext>
            </a:extLst>
          </p:cNvPr>
          <p:cNvGrpSpPr/>
          <p:nvPr/>
        </p:nvGrpSpPr>
        <p:grpSpPr>
          <a:xfrm>
            <a:off x="5890008" y="3296841"/>
            <a:ext cx="1552463" cy="258533"/>
            <a:chOff x="2580681" y="2136708"/>
            <a:chExt cx="1552463" cy="258533"/>
          </a:xfrm>
        </p:grpSpPr>
        <p:sp>
          <p:nvSpPr>
            <p:cNvPr id="154" name="Body1 19">
              <a:extLst>
                <a:ext uri="{FF2B5EF4-FFF2-40B4-BE49-F238E27FC236}">
                  <a16:creationId xmlns:a16="http://schemas.microsoft.com/office/drawing/2014/main" id="{8613A96C-51EF-41F2-8436-45A799C8B0DB}"/>
                </a:ext>
              </a:extLst>
            </p:cNvPr>
            <p:cNvSpPr txBox="1"/>
            <p:nvPr>
              <p:custDataLst>
                <p:tags r:id="rId76"/>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55" name="Rectangle 154">
              <a:extLst>
                <a:ext uri="{FF2B5EF4-FFF2-40B4-BE49-F238E27FC236}">
                  <a16:creationId xmlns:a16="http://schemas.microsoft.com/office/drawing/2014/main" id="{4014E369-C31D-4B9A-ACB1-92A097D36C5F}"/>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56" name="Group 155">
            <a:extLst>
              <a:ext uri="{FF2B5EF4-FFF2-40B4-BE49-F238E27FC236}">
                <a16:creationId xmlns:a16="http://schemas.microsoft.com/office/drawing/2014/main" id="{0F29F158-BC69-4BA4-91E0-E6E011EF3B71}"/>
              </a:ext>
            </a:extLst>
          </p:cNvPr>
          <p:cNvGrpSpPr/>
          <p:nvPr/>
        </p:nvGrpSpPr>
        <p:grpSpPr>
          <a:xfrm>
            <a:off x="7548421" y="3083824"/>
            <a:ext cx="1552463" cy="258533"/>
            <a:chOff x="2580681" y="2136708"/>
            <a:chExt cx="1552463" cy="258533"/>
          </a:xfrm>
        </p:grpSpPr>
        <p:sp>
          <p:nvSpPr>
            <p:cNvPr id="157" name="Body1 19">
              <a:extLst>
                <a:ext uri="{FF2B5EF4-FFF2-40B4-BE49-F238E27FC236}">
                  <a16:creationId xmlns:a16="http://schemas.microsoft.com/office/drawing/2014/main" id="{98118F16-5A5A-467F-8FB1-18BABBF6C67D}"/>
                </a:ext>
              </a:extLst>
            </p:cNvPr>
            <p:cNvSpPr txBox="1"/>
            <p:nvPr>
              <p:custDataLst>
                <p:tags r:id="rId75"/>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58" name="Rectangle 157">
              <a:extLst>
                <a:ext uri="{FF2B5EF4-FFF2-40B4-BE49-F238E27FC236}">
                  <a16:creationId xmlns:a16="http://schemas.microsoft.com/office/drawing/2014/main" id="{90F9EAE7-6895-41D6-AC2E-3860ECC1FDDB}"/>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60" name="TextBox 159">
            <a:extLst>
              <a:ext uri="{FF2B5EF4-FFF2-40B4-BE49-F238E27FC236}">
                <a16:creationId xmlns:a16="http://schemas.microsoft.com/office/drawing/2014/main" id="{E5A0256E-3604-4B3E-A1A7-709CE800AF30}"/>
              </a:ext>
            </a:extLst>
          </p:cNvPr>
          <p:cNvSpPr txBox="1"/>
          <p:nvPr/>
        </p:nvSpPr>
        <p:spPr>
          <a:xfrm>
            <a:off x="8225338" y="1566293"/>
            <a:ext cx="3508035" cy="646331"/>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Senders and receivers synchronized to the same clock</a:t>
            </a:r>
          </a:p>
        </p:txBody>
      </p:sp>
      <p:sp>
        <p:nvSpPr>
          <p:cNvPr id="161" name="TextBox 160">
            <a:extLst>
              <a:ext uri="{FF2B5EF4-FFF2-40B4-BE49-F238E27FC236}">
                <a16:creationId xmlns:a16="http://schemas.microsoft.com/office/drawing/2014/main" id="{69F570CE-CAEF-44EF-8650-BAD57D2C972D}"/>
              </a:ext>
            </a:extLst>
          </p:cNvPr>
          <p:cNvSpPr txBox="1"/>
          <p:nvPr/>
        </p:nvSpPr>
        <p:spPr>
          <a:xfrm>
            <a:off x="1716673" y="1702466"/>
            <a:ext cx="2605992" cy="646331"/>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Sender attaches deadline to message</a:t>
            </a:r>
          </a:p>
        </p:txBody>
      </p:sp>
      <p:sp>
        <p:nvSpPr>
          <p:cNvPr id="162" name="TextBox 161">
            <a:extLst>
              <a:ext uri="{FF2B5EF4-FFF2-40B4-BE49-F238E27FC236}">
                <a16:creationId xmlns:a16="http://schemas.microsoft.com/office/drawing/2014/main" id="{F138A0BE-6339-4581-85B6-F44507B7197D}"/>
              </a:ext>
            </a:extLst>
          </p:cNvPr>
          <p:cNvSpPr txBox="1"/>
          <p:nvPr/>
        </p:nvSpPr>
        <p:spPr>
          <a:xfrm>
            <a:off x="5347853" y="5839876"/>
            <a:ext cx="4242459" cy="646331"/>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Receiver processes message when deadline is reached on receiver clock</a:t>
            </a:r>
          </a:p>
        </p:txBody>
      </p:sp>
      <p:sp>
        <p:nvSpPr>
          <p:cNvPr id="163" name="TextBox 162">
            <a:extLst>
              <a:ext uri="{FF2B5EF4-FFF2-40B4-BE49-F238E27FC236}">
                <a16:creationId xmlns:a16="http://schemas.microsoft.com/office/drawing/2014/main" id="{9DB03882-3D54-4E07-BDCE-1ED5C514426A}"/>
              </a:ext>
            </a:extLst>
          </p:cNvPr>
          <p:cNvSpPr txBox="1"/>
          <p:nvPr/>
        </p:nvSpPr>
        <p:spPr>
          <a:xfrm>
            <a:off x="9168860" y="2650526"/>
            <a:ext cx="2564514" cy="923330"/>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Sender multicasts message to all receivers</a:t>
            </a:r>
          </a:p>
        </p:txBody>
      </p:sp>
      <p:sp>
        <p:nvSpPr>
          <p:cNvPr id="164" name="TextBox 163">
            <a:extLst>
              <a:ext uri="{FF2B5EF4-FFF2-40B4-BE49-F238E27FC236}">
                <a16:creationId xmlns:a16="http://schemas.microsoft.com/office/drawing/2014/main" id="{C9FE7DAE-6D53-48A7-8882-13FB69662FE3}"/>
              </a:ext>
            </a:extLst>
          </p:cNvPr>
          <p:cNvSpPr txBox="1"/>
          <p:nvPr/>
        </p:nvSpPr>
        <p:spPr>
          <a:xfrm>
            <a:off x="7245227" y="3905199"/>
            <a:ext cx="4711246" cy="369332"/>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Messages arrive at unpredictable times</a:t>
            </a:r>
          </a:p>
        </p:txBody>
      </p:sp>
      <p:graphicFrame>
        <p:nvGraphicFramePr>
          <p:cNvPr id="2" name="Table 1">
            <a:extLst>
              <a:ext uri="{FF2B5EF4-FFF2-40B4-BE49-F238E27FC236}">
                <a16:creationId xmlns:a16="http://schemas.microsoft.com/office/drawing/2014/main" id="{184D5B01-11C9-71C4-1148-9389A1D29CB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5" name="TextBox 4">
            <a:extLst>
              <a:ext uri="{FF2B5EF4-FFF2-40B4-BE49-F238E27FC236}">
                <a16:creationId xmlns:a16="http://schemas.microsoft.com/office/drawing/2014/main" id="{E4DCD534-ECB9-9312-7FDE-12FF9B46E657}"/>
              </a:ext>
            </a:extLst>
          </p:cNvPr>
          <p:cNvSpPr txBox="1"/>
          <p:nvPr/>
        </p:nvSpPr>
        <p:spPr>
          <a:xfrm>
            <a:off x="569979" y="476910"/>
            <a:ext cx="3326552"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Hold-and-release</a:t>
            </a:r>
          </a:p>
        </p:txBody>
      </p:sp>
    </p:spTree>
    <p:extLst>
      <p:ext uri="{BB962C8B-B14F-4D97-AF65-F5344CB8AC3E}">
        <p14:creationId xmlns:p14="http://schemas.microsoft.com/office/powerpoint/2010/main" val="2019036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50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grpId="0" nodeType="withEffect">
                                  <p:stCondLst>
                                    <p:cond delay="500"/>
                                  </p:stCondLst>
                                  <p:childTnLst>
                                    <p:set>
                                      <p:cBhvr>
                                        <p:cTn id="48" dur="1" fill="hold">
                                          <p:stCondLst>
                                            <p:cond delay="0"/>
                                          </p:stCondLst>
                                        </p:cTn>
                                        <p:tgtEl>
                                          <p:spTgt spid="90"/>
                                        </p:tgtEl>
                                        <p:attrNameLst>
                                          <p:attrName>style.visibility</p:attrName>
                                        </p:attrNameLst>
                                      </p:cBhvr>
                                      <p:to>
                                        <p:strVal val="visible"/>
                                      </p:to>
                                    </p:set>
                                  </p:childTnLst>
                                </p:cTn>
                              </p:par>
                              <p:par>
                                <p:cTn id="49" presetID="1" presetClass="entr" presetSubtype="0" fill="hold" grpId="0" nodeType="withEffect">
                                  <p:stCondLst>
                                    <p:cond delay="50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grpId="0" nodeType="withEffect">
                                  <p:stCondLst>
                                    <p:cond delay="50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50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grpId="0" nodeType="withEffect">
                                  <p:stCondLst>
                                    <p:cond delay="50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750"/>
                                  </p:stCondLst>
                                  <p:childTnLst>
                                    <p:set>
                                      <p:cBhvr>
                                        <p:cTn id="58" dur="1" fill="hold">
                                          <p:stCondLst>
                                            <p:cond delay="0"/>
                                          </p:stCondLst>
                                        </p:cTn>
                                        <p:tgtEl>
                                          <p:spTgt spid="101"/>
                                        </p:tgtEl>
                                        <p:attrNameLst>
                                          <p:attrName>style.visibility</p:attrName>
                                        </p:attrNameLst>
                                      </p:cBhvr>
                                      <p:to>
                                        <p:strVal val="visible"/>
                                      </p:to>
                                    </p:set>
                                  </p:childTnLst>
                                </p:cTn>
                              </p:par>
                              <p:par>
                                <p:cTn id="59" presetID="1" presetClass="entr" presetSubtype="0" fill="hold" grpId="0" nodeType="withEffect">
                                  <p:stCondLst>
                                    <p:cond delay="500"/>
                                  </p:stCondLst>
                                  <p:childTnLst>
                                    <p:set>
                                      <p:cBhvr>
                                        <p:cTn id="60" dur="1" fill="hold">
                                          <p:stCondLst>
                                            <p:cond delay="0"/>
                                          </p:stCondLst>
                                        </p:cTn>
                                        <p:tgtEl>
                                          <p:spTgt spid="89"/>
                                        </p:tgtEl>
                                        <p:attrNameLst>
                                          <p:attrName>style.visibility</p:attrName>
                                        </p:attrNameLst>
                                      </p:cBhvr>
                                      <p:to>
                                        <p:strVal val="visible"/>
                                      </p:to>
                                    </p:set>
                                  </p:childTnLst>
                                </p:cTn>
                              </p:par>
                              <p:par>
                                <p:cTn id="61" presetID="1" presetClass="entr" presetSubtype="0" fill="hold" grpId="0" nodeType="withEffect">
                                  <p:stCondLst>
                                    <p:cond delay="50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50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grpId="0" nodeType="withEffect">
                                  <p:stCondLst>
                                    <p:cond delay="50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500"/>
                                  </p:stCondLst>
                                  <p:childTnLst>
                                    <p:set>
                                      <p:cBhvr>
                                        <p:cTn id="68" dur="1" fill="hold">
                                          <p:stCondLst>
                                            <p:cond delay="0"/>
                                          </p:stCondLst>
                                        </p:cTn>
                                        <p:tgtEl>
                                          <p:spTgt spid="37"/>
                                        </p:tgtEl>
                                        <p:attrNameLst>
                                          <p:attrName>style.visibility</p:attrName>
                                        </p:attrNameLst>
                                      </p:cBhvr>
                                      <p:to>
                                        <p:strVal val="visible"/>
                                      </p:to>
                                    </p:set>
                                  </p:childTnLst>
                                </p:cTn>
                              </p:par>
                            </p:childTnLst>
                          </p:cTn>
                        </p:par>
                        <p:par>
                          <p:cTn id="69" fill="hold">
                            <p:stCondLst>
                              <p:cond delay="750"/>
                            </p:stCondLst>
                            <p:childTnLst>
                              <p:par>
                                <p:cTn id="70" presetID="1" presetClass="entr" presetSubtype="0" fill="hold" nodeType="afterEffect">
                                  <p:stCondLst>
                                    <p:cond delay="0"/>
                                  </p:stCondLst>
                                  <p:childTnLst>
                                    <p:set>
                                      <p:cBhvr>
                                        <p:cTn id="71" dur="1" fill="hold">
                                          <p:stCondLst>
                                            <p:cond delay="0"/>
                                          </p:stCondLst>
                                        </p:cTn>
                                        <p:tgtEl>
                                          <p:spTgt spid="14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6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136"/>
                                        </p:tgtEl>
                                        <p:attrNameLst>
                                          <p:attrName>style.visibility</p:attrName>
                                        </p:attrNameLst>
                                      </p:cBhvr>
                                      <p:to>
                                        <p:strVal val="visible"/>
                                      </p:to>
                                    </p:set>
                                    <p:animEffect transition="in" filter="wipe(up)">
                                      <p:cBhvr>
                                        <p:cTn id="78" dur="10"/>
                                        <p:tgtEl>
                                          <p:spTgt spid="136"/>
                                        </p:tgtEl>
                                      </p:cBhvr>
                                    </p:animEffect>
                                  </p:childTnLst>
                                </p:cTn>
                              </p:par>
                              <p:par>
                                <p:cTn id="79" presetID="22" presetClass="entr" presetSubtype="1" fill="hold" nodeType="withEffect">
                                  <p:stCondLst>
                                    <p:cond delay="0"/>
                                  </p:stCondLst>
                                  <p:childTnLst>
                                    <p:set>
                                      <p:cBhvr>
                                        <p:cTn id="80" dur="1" fill="hold">
                                          <p:stCondLst>
                                            <p:cond delay="0"/>
                                          </p:stCondLst>
                                        </p:cTn>
                                        <p:tgtEl>
                                          <p:spTgt spid="133"/>
                                        </p:tgtEl>
                                        <p:attrNameLst>
                                          <p:attrName>style.visibility</p:attrName>
                                        </p:attrNameLst>
                                      </p:cBhvr>
                                      <p:to>
                                        <p:strVal val="visible"/>
                                      </p:to>
                                    </p:set>
                                    <p:animEffect transition="in" filter="wipe(up)">
                                      <p:cBhvr>
                                        <p:cTn id="81" dur="10"/>
                                        <p:tgtEl>
                                          <p:spTgt spid="133"/>
                                        </p:tgtEl>
                                      </p:cBhvr>
                                    </p:animEffect>
                                  </p:childTnLst>
                                </p:cTn>
                              </p:par>
                              <p:par>
                                <p:cTn id="82" presetID="22" presetClass="entr" presetSubtype="1" fill="hold" nodeType="withEffect">
                                  <p:stCondLst>
                                    <p:cond delay="0"/>
                                  </p:stCondLst>
                                  <p:childTnLst>
                                    <p:set>
                                      <p:cBhvr>
                                        <p:cTn id="83" dur="1" fill="hold">
                                          <p:stCondLst>
                                            <p:cond delay="0"/>
                                          </p:stCondLst>
                                        </p:cTn>
                                        <p:tgtEl>
                                          <p:spTgt spid="130"/>
                                        </p:tgtEl>
                                        <p:attrNameLst>
                                          <p:attrName>style.visibility</p:attrName>
                                        </p:attrNameLst>
                                      </p:cBhvr>
                                      <p:to>
                                        <p:strVal val="visible"/>
                                      </p:to>
                                    </p:set>
                                    <p:animEffect transition="in" filter="wipe(up)">
                                      <p:cBhvr>
                                        <p:cTn id="84" dur="10"/>
                                        <p:tgtEl>
                                          <p:spTgt spid="130"/>
                                        </p:tgtEl>
                                      </p:cBhvr>
                                    </p:animEffect>
                                  </p:childTnLst>
                                </p:cTn>
                              </p:par>
                              <p:par>
                                <p:cTn id="85" presetID="22" presetClass="entr" presetSubtype="1" fill="hold" nodeType="withEffect">
                                  <p:stCondLst>
                                    <p:cond delay="0"/>
                                  </p:stCondLst>
                                  <p:childTnLst>
                                    <p:set>
                                      <p:cBhvr>
                                        <p:cTn id="86" dur="1" fill="hold">
                                          <p:stCondLst>
                                            <p:cond delay="0"/>
                                          </p:stCondLst>
                                        </p:cTn>
                                        <p:tgtEl>
                                          <p:spTgt spid="127"/>
                                        </p:tgtEl>
                                        <p:attrNameLst>
                                          <p:attrName>style.visibility</p:attrName>
                                        </p:attrNameLst>
                                      </p:cBhvr>
                                      <p:to>
                                        <p:strVal val="visible"/>
                                      </p:to>
                                    </p:set>
                                    <p:animEffect transition="in" filter="wipe(up)">
                                      <p:cBhvr>
                                        <p:cTn id="87" dur="10"/>
                                        <p:tgtEl>
                                          <p:spTgt spid="127"/>
                                        </p:tgtEl>
                                      </p:cBhvr>
                                    </p:animEffect>
                                  </p:childTnLst>
                                </p:cTn>
                              </p:par>
                              <p:par>
                                <p:cTn id="88" presetID="22" presetClass="entr" presetSubtype="1" fill="hold" nodeType="withEffect">
                                  <p:stCondLst>
                                    <p:cond delay="0"/>
                                  </p:stCondLst>
                                  <p:childTnLst>
                                    <p:set>
                                      <p:cBhvr>
                                        <p:cTn id="89" dur="1" fill="hold">
                                          <p:stCondLst>
                                            <p:cond delay="0"/>
                                          </p:stCondLst>
                                        </p:cTn>
                                        <p:tgtEl>
                                          <p:spTgt spid="126"/>
                                        </p:tgtEl>
                                        <p:attrNameLst>
                                          <p:attrName>style.visibility</p:attrName>
                                        </p:attrNameLst>
                                      </p:cBhvr>
                                      <p:to>
                                        <p:strVal val="visible"/>
                                      </p:to>
                                    </p:set>
                                    <p:animEffect transition="in" filter="wipe(up)">
                                      <p:cBhvr>
                                        <p:cTn id="90" dur="10"/>
                                        <p:tgtEl>
                                          <p:spTgt spid="126"/>
                                        </p:tgtEl>
                                      </p:cBhvr>
                                    </p:animEffect>
                                  </p:childTnLst>
                                </p:cTn>
                              </p:par>
                              <p:par>
                                <p:cTn id="91" presetID="1" presetClass="entr" presetSubtype="0" fill="hold" nodeType="withEffect">
                                  <p:stCondLst>
                                    <p:cond delay="0"/>
                                  </p:stCondLst>
                                  <p:childTnLst>
                                    <p:set>
                                      <p:cBhvr>
                                        <p:cTn id="92" dur="1" fill="hold">
                                          <p:stCondLst>
                                            <p:cond delay="0"/>
                                          </p:stCondLst>
                                        </p:cTn>
                                        <p:tgtEl>
                                          <p:spTgt spid="14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5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50"/>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6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9"/>
                                        </p:tgtEl>
                                        <p:attrNameLst>
                                          <p:attrName>style.visibility</p:attrName>
                                        </p:attrNameLst>
                                      </p:cBhvr>
                                      <p:to>
                                        <p:strVal val="visible"/>
                                      </p:to>
                                    </p:set>
                                  </p:childTnLst>
                                </p:cTn>
                              </p:par>
                              <p:par>
                                <p:cTn id="129" presetID="42" presetClass="path" presetSubtype="0" accel="50000" decel="50000" fill="hold" nodeType="withEffect">
                                  <p:stCondLst>
                                    <p:cond delay="0"/>
                                  </p:stCondLst>
                                  <p:childTnLst>
                                    <p:animMotion origin="layout" path="M -4.16667E-6 -1.11111E-6 L -0.16015 0.19329 " pathEditMode="relative" rAng="0" ptsTypes="AA">
                                      <p:cBhvr>
                                        <p:cTn id="130" dur="500" fill="hold"/>
                                        <p:tgtEl>
                                          <p:spTgt spid="144"/>
                                        </p:tgtEl>
                                        <p:attrNameLst>
                                          <p:attrName>ppt_x</p:attrName>
                                          <p:attrName>ppt_y</p:attrName>
                                        </p:attrNameLst>
                                      </p:cBhvr>
                                      <p:rCtr x="-8008" y="9653"/>
                                    </p:animMotion>
                                  </p:childTnLst>
                                </p:cTn>
                              </p:par>
                              <p:par>
                                <p:cTn id="131" presetID="42" presetClass="path" presetSubtype="0" accel="50000" decel="50000" fill="hold" nodeType="withEffect">
                                  <p:stCondLst>
                                    <p:cond delay="0"/>
                                  </p:stCondLst>
                                  <p:childTnLst>
                                    <p:animMotion origin="layout" path="M -4.79167E-6 2.96296E-6 L -0.00013 0.14791 " pathEditMode="relative" rAng="0" ptsTypes="AA">
                                      <p:cBhvr>
                                        <p:cTn id="132" dur="500" fill="hold"/>
                                        <p:tgtEl>
                                          <p:spTgt spid="153"/>
                                        </p:tgtEl>
                                        <p:attrNameLst>
                                          <p:attrName>ppt_x</p:attrName>
                                          <p:attrName>ppt_y</p:attrName>
                                        </p:attrNameLst>
                                      </p:cBhvr>
                                      <p:rCtr x="-13" y="7384"/>
                                    </p:animMotion>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4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6"/>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98"/>
                                        </p:tgtEl>
                                        <p:attrNameLst>
                                          <p:attrName>style.visibility</p:attrName>
                                        </p:attrNameLst>
                                      </p:cBhvr>
                                      <p:to>
                                        <p:strVal val="visible"/>
                                      </p:to>
                                    </p:set>
                                  </p:childTnLst>
                                </p:cTn>
                              </p:par>
                              <p:par>
                                <p:cTn id="147" presetID="42" presetClass="path" presetSubtype="0" accel="50000" decel="50000" fill="hold" nodeType="withEffect">
                                  <p:stCondLst>
                                    <p:cond delay="0"/>
                                  </p:stCondLst>
                                  <p:childTnLst>
                                    <p:animMotion origin="layout" path="M -6.25E-7 1.48148E-6 L -0.03841 0.14467 " pathEditMode="relative" rAng="0" ptsTypes="AA">
                                      <p:cBhvr>
                                        <p:cTn id="148" dur="500" fill="hold"/>
                                        <p:tgtEl>
                                          <p:spTgt spid="150"/>
                                        </p:tgtEl>
                                        <p:attrNameLst>
                                          <p:attrName>ppt_x</p:attrName>
                                          <p:attrName>ppt_y</p:attrName>
                                        </p:attrNameLst>
                                      </p:cBhvr>
                                      <p:rCtr x="-1927" y="7222"/>
                                    </p:animMotion>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4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5"/>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97"/>
                                        </p:tgtEl>
                                        <p:attrNameLst>
                                          <p:attrName>style.visibility</p:attrName>
                                        </p:attrNameLst>
                                      </p:cBhvr>
                                      <p:to>
                                        <p:strVal val="visible"/>
                                      </p:to>
                                    </p:set>
                                  </p:childTnLst>
                                </p:cTn>
                              </p:par>
                              <p:par>
                                <p:cTn id="163" presetID="42" presetClass="path" presetSubtype="0" accel="50000" decel="50000" fill="hold" nodeType="withEffect">
                                  <p:stCondLst>
                                    <p:cond delay="0"/>
                                  </p:stCondLst>
                                  <p:childTnLst>
                                    <p:animMotion origin="layout" path="M -2.5E-6 1.48148E-6 L 0.15625 0.18102 " pathEditMode="relative" rAng="0" ptsTypes="AA">
                                      <p:cBhvr>
                                        <p:cTn id="164" dur="500" fill="hold"/>
                                        <p:tgtEl>
                                          <p:spTgt spid="156"/>
                                        </p:tgtEl>
                                        <p:attrNameLst>
                                          <p:attrName>ppt_x</p:attrName>
                                          <p:attrName>ppt_y</p:attrName>
                                        </p:attrNameLst>
                                      </p:cBhvr>
                                      <p:rCtr x="7813" y="9051"/>
                                    </p:animMotion>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4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5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6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84"/>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96"/>
                                        </p:tgtEl>
                                        <p:attrNameLst>
                                          <p:attrName>style.visibility</p:attrName>
                                        </p:attrNameLst>
                                      </p:cBhvr>
                                      <p:to>
                                        <p:strVal val="visible"/>
                                      </p:to>
                                    </p:set>
                                  </p:childTnLst>
                                </p:cTn>
                              </p:par>
                              <p:par>
                                <p:cTn id="179" presetID="42" presetClass="path" presetSubtype="0" accel="50000" decel="50000" fill="hold" nodeType="withEffect">
                                  <p:stCondLst>
                                    <p:cond delay="0"/>
                                  </p:stCondLst>
                                  <p:childTnLst>
                                    <p:animMotion origin="layout" path="M -6.25E-7 4.81481E-6 L -0.05625 0.14328 " pathEditMode="relative" rAng="0" ptsTypes="AA">
                                      <p:cBhvr>
                                        <p:cTn id="180" dur="500" fill="hold"/>
                                        <p:tgtEl>
                                          <p:spTgt spid="147"/>
                                        </p:tgtEl>
                                        <p:attrNameLst>
                                          <p:attrName>ppt_x</p:attrName>
                                          <p:attrName>ppt_y</p:attrName>
                                        </p:attrNameLst>
                                      </p:cBhvr>
                                      <p:rCtr x="-2812" y="7153"/>
                                    </p:animMotion>
                                  </p:childTnLst>
                                </p:cTn>
                              </p:par>
                            </p:childTnLst>
                          </p:cTn>
                        </p:par>
                      </p:childTnLst>
                    </p:cTn>
                  </p:par>
                  <p:par>
                    <p:cTn id="181" fill="hold">
                      <p:stCondLst>
                        <p:cond delay="indefinite"/>
                      </p:stCondLst>
                      <p:childTnLst>
                        <p:par>
                          <p:cTn id="182" fill="hold">
                            <p:stCondLst>
                              <p:cond delay="0"/>
                            </p:stCondLst>
                            <p:childTnLst>
                              <p:par>
                                <p:cTn id="183" presetID="9" presetClass="entr" presetSubtype="0" fill="hold" grpId="0" nodeType="clickEffect">
                                  <p:stCondLst>
                                    <p:cond delay="0"/>
                                  </p:stCondLst>
                                  <p:childTnLst>
                                    <p:set>
                                      <p:cBhvr>
                                        <p:cTn id="184" dur="1" fill="hold">
                                          <p:stCondLst>
                                            <p:cond delay="0"/>
                                          </p:stCondLst>
                                        </p:cTn>
                                        <p:tgtEl>
                                          <p:spTgt spid="164"/>
                                        </p:tgtEl>
                                        <p:attrNameLst>
                                          <p:attrName>style.visibility</p:attrName>
                                        </p:attrNameLst>
                                      </p:cBhvr>
                                      <p:to>
                                        <p:strVal val="visible"/>
                                      </p:to>
                                    </p:set>
                                    <p:animEffect transition="in" filter="dissolve">
                                      <p:cBhvr>
                                        <p:cTn id="185" dur="500"/>
                                        <p:tgtEl>
                                          <p:spTgt spid="164"/>
                                        </p:tgtEl>
                                      </p:cBhvr>
                                    </p:animEffec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31"/>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44"/>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5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68"/>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83"/>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95"/>
                                        </p:tgtEl>
                                        <p:attrNameLst>
                                          <p:attrName>style.visibility</p:attrName>
                                        </p:attrNameLst>
                                      </p:cBhvr>
                                      <p:to>
                                        <p:strVal val="visible"/>
                                      </p:to>
                                    </p:set>
                                  </p:childTnLst>
                                </p:cTn>
                              </p:par>
                              <p:par>
                                <p:cTn id="200" presetID="42" presetClass="path" presetSubtype="0" accel="50000" decel="50000" fill="hold" nodeType="withEffect">
                                  <p:stCondLst>
                                    <p:cond delay="0"/>
                                  </p:stCondLst>
                                  <p:childTnLst>
                                    <p:animMotion origin="layout" path="M 0.15625 0.18102 L 0.16198 0.3743 " pathEditMode="relative" rAng="0" ptsTypes="AA">
                                      <p:cBhvr>
                                        <p:cTn id="201" dur="500" fill="hold"/>
                                        <p:tgtEl>
                                          <p:spTgt spid="156"/>
                                        </p:tgtEl>
                                        <p:attrNameLst>
                                          <p:attrName>ppt_x</p:attrName>
                                          <p:attrName>ppt_y</p:attrName>
                                        </p:attrNameLst>
                                      </p:cBhvr>
                                      <p:rCtr x="286" y="9653"/>
                                    </p:animMotion>
                                  </p:childTnLst>
                                </p:cTn>
                              </p:par>
                              <p:par>
                                <p:cTn id="202" presetID="42" presetClass="path" presetSubtype="0" accel="50000" decel="50000" fill="hold" nodeType="withEffect">
                                  <p:stCondLst>
                                    <p:cond delay="0"/>
                                  </p:stCondLst>
                                  <p:childTnLst>
                                    <p:animMotion origin="layout" path="M -0.00013 0.14791 L 0.00912 0.33125 " pathEditMode="relative" rAng="0" ptsTypes="AA">
                                      <p:cBhvr>
                                        <p:cTn id="203" dur="500" fill="hold"/>
                                        <p:tgtEl>
                                          <p:spTgt spid="153"/>
                                        </p:tgtEl>
                                        <p:attrNameLst>
                                          <p:attrName>ppt_x</p:attrName>
                                          <p:attrName>ppt_y</p:attrName>
                                        </p:attrNameLst>
                                      </p:cBhvr>
                                      <p:rCtr x="456" y="9167"/>
                                    </p:animMotion>
                                  </p:childTnLst>
                                </p:cTn>
                              </p:par>
                              <p:par>
                                <p:cTn id="204" presetID="42" presetClass="path" presetSubtype="0" accel="50000" decel="50000" fill="hold" nodeType="withEffect">
                                  <p:stCondLst>
                                    <p:cond delay="0"/>
                                  </p:stCondLst>
                                  <p:childTnLst>
                                    <p:animMotion origin="layout" path="M -0.03841 0.14467 L -0.03476 0.32639 " pathEditMode="relative" rAng="0" ptsTypes="AA">
                                      <p:cBhvr>
                                        <p:cTn id="205" dur="500" fill="hold"/>
                                        <p:tgtEl>
                                          <p:spTgt spid="150"/>
                                        </p:tgtEl>
                                        <p:attrNameLst>
                                          <p:attrName>ppt_x</p:attrName>
                                          <p:attrName>ppt_y</p:attrName>
                                        </p:attrNameLst>
                                      </p:cBhvr>
                                      <p:rCtr x="182" y="9074"/>
                                    </p:animMotion>
                                  </p:childTnLst>
                                </p:cTn>
                              </p:par>
                              <p:par>
                                <p:cTn id="206" presetID="42" presetClass="path" presetSubtype="0" accel="50000" decel="50000" fill="hold" nodeType="withEffect">
                                  <p:stCondLst>
                                    <p:cond delay="0"/>
                                  </p:stCondLst>
                                  <p:childTnLst>
                                    <p:animMotion origin="layout" path="M -0.05625 0.14328 L -0.05299 0.32476 " pathEditMode="relative" rAng="0" ptsTypes="AA">
                                      <p:cBhvr>
                                        <p:cTn id="207" dur="500" fill="hold"/>
                                        <p:tgtEl>
                                          <p:spTgt spid="147"/>
                                        </p:tgtEl>
                                        <p:attrNameLst>
                                          <p:attrName>ppt_x</p:attrName>
                                          <p:attrName>ppt_y</p:attrName>
                                        </p:attrNameLst>
                                      </p:cBhvr>
                                      <p:rCtr x="156" y="9074"/>
                                    </p:animMotion>
                                  </p:childTnLst>
                                </p:cTn>
                              </p:par>
                              <p:par>
                                <p:cTn id="208" presetID="42" presetClass="path" presetSubtype="0" accel="50000" decel="50000" fill="hold" nodeType="withEffect">
                                  <p:stCondLst>
                                    <p:cond delay="0"/>
                                  </p:stCondLst>
                                  <p:childTnLst>
                                    <p:animMotion origin="layout" path="M -0.16015 0.19329 L -0.1638 0.36898 " pathEditMode="relative" rAng="0" ptsTypes="AA">
                                      <p:cBhvr>
                                        <p:cTn id="209" dur="500" fill="hold"/>
                                        <p:tgtEl>
                                          <p:spTgt spid="144"/>
                                        </p:tgtEl>
                                        <p:attrNameLst>
                                          <p:attrName>ppt_x</p:attrName>
                                          <p:attrName>ppt_y</p:attrName>
                                        </p:attrNameLst>
                                      </p:cBhvr>
                                      <p:rCtr x="-182" y="8773"/>
                                    </p:animMotion>
                                  </p:childTnLst>
                                </p:cTn>
                              </p:par>
                              <p:par>
                                <p:cTn id="210" presetID="9" presetClass="entr" presetSubtype="0" fill="hold" grpId="0" nodeType="withEffect">
                                  <p:stCondLst>
                                    <p:cond delay="0"/>
                                  </p:stCondLst>
                                  <p:childTnLst>
                                    <p:set>
                                      <p:cBhvr>
                                        <p:cTn id="211" dur="1" fill="hold">
                                          <p:stCondLst>
                                            <p:cond delay="0"/>
                                          </p:stCondLst>
                                        </p:cTn>
                                        <p:tgtEl>
                                          <p:spTgt spid="162"/>
                                        </p:tgtEl>
                                        <p:attrNameLst>
                                          <p:attrName>style.visibility</p:attrName>
                                        </p:attrNameLst>
                                      </p:cBhvr>
                                      <p:to>
                                        <p:strVal val="visible"/>
                                      </p:to>
                                    </p:set>
                                    <p:animEffect transition="in" filter="dissolve">
                                      <p:cBhvr>
                                        <p:cTn id="212"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53" grpId="0" animBg="1"/>
      <p:bldP spid="65" grpId="0" animBg="1"/>
      <p:bldP spid="77" grpId="0" animBg="1"/>
      <p:bldP spid="92" grpId="0" animBg="1"/>
      <p:bldP spid="104" grpId="0" animBg="1"/>
      <p:bldP spid="39" grpId="0" animBg="1"/>
      <p:bldP spid="52" grpId="0" animBg="1"/>
      <p:bldP spid="64" grpId="0" animBg="1"/>
      <p:bldP spid="76" grpId="0" animBg="1"/>
      <p:bldP spid="91" grpId="0" animBg="1"/>
      <p:bldP spid="103" grpId="0" animBg="1"/>
      <p:bldP spid="38" grpId="0" animBg="1"/>
      <p:bldP spid="51" grpId="0" animBg="1"/>
      <p:bldP spid="63" grpId="0" animBg="1"/>
      <p:bldP spid="75" grpId="0" animBg="1"/>
      <p:bldP spid="90" grpId="0" animBg="1"/>
      <p:bldP spid="102" grpId="0" animBg="1"/>
      <p:bldP spid="37" grpId="0" animBg="1"/>
      <p:bldP spid="50" grpId="0" animBg="1"/>
      <p:bldP spid="62" grpId="0" animBg="1"/>
      <p:bldP spid="74" grpId="0" animBg="1"/>
      <p:bldP spid="89" grpId="0" animBg="1"/>
      <p:bldP spid="101" grpId="0" animBg="1"/>
      <p:bldP spid="36" grpId="0" animBg="1"/>
      <p:bldP spid="49" grpId="0" animBg="1"/>
      <p:bldP spid="61" grpId="0" animBg="1"/>
      <p:bldP spid="73" grpId="0" animBg="1"/>
      <p:bldP spid="88" grpId="0" animBg="1"/>
      <p:bldP spid="100" grpId="0" animBg="1"/>
      <p:bldP spid="35" grpId="0" animBg="1"/>
      <p:bldP spid="48" grpId="0" animBg="1"/>
      <p:bldP spid="60" grpId="0" animBg="1"/>
      <p:bldP spid="72" grpId="0" animBg="1"/>
      <p:bldP spid="87" grpId="0" animBg="1"/>
      <p:bldP spid="99" grpId="0" animBg="1"/>
      <p:bldP spid="34" grpId="0" animBg="1"/>
      <p:bldP spid="47" grpId="0" animBg="1"/>
      <p:bldP spid="59" grpId="0" animBg="1"/>
      <p:bldP spid="71" grpId="0" animBg="1"/>
      <p:bldP spid="86" grpId="0" animBg="1"/>
      <p:bldP spid="98" grpId="0" animBg="1"/>
      <p:bldP spid="33" grpId="0" animBg="1"/>
      <p:bldP spid="46" grpId="0" animBg="1"/>
      <p:bldP spid="58" grpId="0" animBg="1"/>
      <p:bldP spid="70" grpId="0" animBg="1"/>
      <p:bldP spid="85" grpId="0" animBg="1"/>
      <p:bldP spid="97" grpId="0" animBg="1"/>
      <p:bldP spid="32" grpId="0" animBg="1"/>
      <p:bldP spid="45" grpId="0" animBg="1"/>
      <p:bldP spid="57" grpId="0" animBg="1"/>
      <p:bldP spid="69" grpId="0" animBg="1"/>
      <p:bldP spid="84" grpId="0" animBg="1"/>
      <p:bldP spid="96" grpId="0" animBg="1"/>
      <p:bldP spid="31" grpId="0" animBg="1"/>
      <p:bldP spid="44" grpId="0" animBg="1"/>
      <p:bldP spid="56" grpId="0" animBg="1"/>
      <p:bldP spid="68" grpId="0" animBg="1"/>
      <p:bldP spid="83" grpId="0" animBg="1"/>
      <p:bldP spid="95" grpId="0" animBg="1"/>
      <p:bldP spid="160" grpId="0"/>
      <p:bldP spid="161" grpId="0"/>
      <p:bldP spid="162" grpId="0"/>
      <p:bldP spid="163" grpId="0"/>
      <p:bldP spid="16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BBDB6FF-3131-6AAA-C873-C31F4D39D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B75C1D-72D1-FF9A-C60B-900C10AA5894}"/>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7" name="TextBox 6">
            <a:extLst>
              <a:ext uri="{FF2B5EF4-FFF2-40B4-BE49-F238E27FC236}">
                <a16:creationId xmlns:a16="http://schemas.microsoft.com/office/drawing/2014/main" id="{B25C4DA3-E114-E47C-8E75-CD406A23F146}"/>
              </a:ext>
            </a:extLst>
          </p:cNvPr>
          <p:cNvSpPr txBox="1"/>
          <p:nvPr/>
        </p:nvSpPr>
        <p:spPr>
          <a:xfrm>
            <a:off x="531970" y="1434210"/>
            <a:ext cx="7049589"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Fairness achieved by a simple “hold-and-release” primitive.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We scale it much further by proposing an efficient market data multicast mechanism.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 tree of proxy nodes is utilized that helps scale multicast.</a:t>
            </a:r>
          </a:p>
        </p:txBody>
      </p:sp>
      <p:sp>
        <p:nvSpPr>
          <p:cNvPr id="43" name="Google Shape;134;p21">
            <a:extLst>
              <a:ext uri="{FF2B5EF4-FFF2-40B4-BE49-F238E27FC236}">
                <a16:creationId xmlns:a16="http://schemas.microsoft.com/office/drawing/2014/main" id="{DCB12100-8747-1B96-64E7-861437116F2D}"/>
              </a:ext>
            </a:extLst>
          </p:cNvPr>
          <p:cNvSpPr/>
          <p:nvPr/>
        </p:nvSpPr>
        <p:spPr>
          <a:xfrm>
            <a:off x="9081909" y="1590941"/>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58CAB01F-1FCB-DA89-5462-198A3650CCFC}"/>
              </a:ext>
            </a:extLst>
          </p:cNvPr>
          <p:cNvSpPr/>
          <p:nvPr/>
        </p:nvSpPr>
        <p:spPr>
          <a:xfrm>
            <a:off x="8510909" y="23097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E9BA45CE-3836-6696-27BE-212EBF909CA0}"/>
              </a:ext>
            </a:extLst>
          </p:cNvPr>
          <p:cNvSpPr/>
          <p:nvPr/>
        </p:nvSpPr>
        <p:spPr>
          <a:xfrm>
            <a:off x="7867034"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B6D3EE74-675F-CFC8-7829-302B7F23115D}"/>
              </a:ext>
            </a:extLst>
          </p:cNvPr>
          <p:cNvSpPr/>
          <p:nvPr/>
        </p:nvSpPr>
        <p:spPr>
          <a:xfrm>
            <a:off x="8835247"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6631456B-913D-AF12-0FEA-E4151A6612EF}"/>
              </a:ext>
            </a:extLst>
          </p:cNvPr>
          <p:cNvSpPr/>
          <p:nvPr/>
        </p:nvSpPr>
        <p:spPr>
          <a:xfrm>
            <a:off x="7592509"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25E145B2-A97A-1E78-376B-2BD1E6A6C962}"/>
              </a:ext>
            </a:extLst>
          </p:cNvPr>
          <p:cNvSpPr/>
          <p:nvPr/>
        </p:nvSpPr>
        <p:spPr>
          <a:xfrm>
            <a:off x="8046284"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42ABB694-5BA8-9E21-7F20-B50E75C8DC6C}"/>
              </a:ext>
            </a:extLst>
          </p:cNvPr>
          <p:cNvSpPr/>
          <p:nvPr/>
        </p:nvSpPr>
        <p:spPr>
          <a:xfrm>
            <a:off x="8538722"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57EE35BD-C87D-B477-73FB-CDC71BDF0040}"/>
              </a:ext>
            </a:extLst>
          </p:cNvPr>
          <p:cNvSpPr/>
          <p:nvPr/>
        </p:nvSpPr>
        <p:spPr>
          <a:xfrm>
            <a:off x="9100559"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ED7A9BEB-A655-8ACF-F98D-32A53125133B}"/>
              </a:ext>
            </a:extLst>
          </p:cNvPr>
          <p:cNvCxnSpPr>
            <a:cxnSpLocks/>
            <a:endCxn id="44" idx="6"/>
          </p:cNvCxnSpPr>
          <p:nvPr/>
        </p:nvCxnSpPr>
        <p:spPr>
          <a:xfrm flipH="1">
            <a:off x="8858309" y="1977041"/>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69BC9D6A-8E52-C3F0-A470-6F9E57577297}"/>
              </a:ext>
            </a:extLst>
          </p:cNvPr>
          <p:cNvCxnSpPr>
            <a:cxnSpLocks/>
            <a:stCxn id="44" idx="4"/>
            <a:endCxn id="45" idx="6"/>
          </p:cNvCxnSpPr>
          <p:nvPr/>
        </p:nvCxnSpPr>
        <p:spPr>
          <a:xfrm flipH="1">
            <a:off x="8214509" y="2693141"/>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580E61F3-8AAF-E70D-5758-48E4189565A0}"/>
              </a:ext>
            </a:extLst>
          </p:cNvPr>
          <p:cNvCxnSpPr>
            <a:cxnSpLocks/>
            <a:stCxn id="44" idx="4"/>
            <a:endCxn id="46" idx="2"/>
          </p:cNvCxnSpPr>
          <p:nvPr/>
        </p:nvCxnSpPr>
        <p:spPr>
          <a:xfrm>
            <a:off x="8684609" y="2693141"/>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AC12AFDA-9BDA-EA46-DB18-920CD12CC042}"/>
              </a:ext>
            </a:extLst>
          </p:cNvPr>
          <p:cNvCxnSpPr>
            <a:cxnSpLocks/>
            <a:stCxn id="45" idx="4"/>
            <a:endCxn id="47" idx="7"/>
          </p:cNvCxnSpPr>
          <p:nvPr/>
        </p:nvCxnSpPr>
        <p:spPr>
          <a:xfrm flipH="1">
            <a:off x="7888934" y="3265116"/>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CA8746E6-4DAF-0F29-CB01-041509C637F4}"/>
              </a:ext>
            </a:extLst>
          </p:cNvPr>
          <p:cNvCxnSpPr>
            <a:cxnSpLocks/>
            <a:stCxn id="45" idx="4"/>
            <a:endCxn id="48" idx="1"/>
          </p:cNvCxnSpPr>
          <p:nvPr/>
        </p:nvCxnSpPr>
        <p:spPr>
          <a:xfrm>
            <a:off x="8040734" y="3265116"/>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0BBBC456-8D24-C16B-905B-F205FA6CAAF1}"/>
              </a:ext>
            </a:extLst>
          </p:cNvPr>
          <p:cNvCxnSpPr>
            <a:cxnSpLocks/>
            <a:stCxn id="46" idx="4"/>
            <a:endCxn id="49" idx="7"/>
          </p:cNvCxnSpPr>
          <p:nvPr/>
        </p:nvCxnSpPr>
        <p:spPr>
          <a:xfrm flipH="1">
            <a:off x="8835247" y="3265116"/>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F5F0F405-AD45-1E22-28F1-CEBFE43B4AB6}"/>
              </a:ext>
            </a:extLst>
          </p:cNvPr>
          <p:cNvCxnSpPr>
            <a:cxnSpLocks/>
            <a:stCxn id="46" idx="4"/>
            <a:endCxn id="50" idx="1"/>
          </p:cNvCxnSpPr>
          <p:nvPr/>
        </p:nvCxnSpPr>
        <p:spPr>
          <a:xfrm>
            <a:off x="9008947" y="3265116"/>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EF6A4ADA-7CC4-74BA-A3B8-97CA1D9A98C5}"/>
              </a:ext>
            </a:extLst>
          </p:cNvPr>
          <p:cNvSpPr/>
          <p:nvPr/>
        </p:nvSpPr>
        <p:spPr>
          <a:xfrm>
            <a:off x="10543209" y="22959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66592568-CCDD-AAA0-FC1D-705006113084}"/>
              </a:ext>
            </a:extLst>
          </p:cNvPr>
          <p:cNvSpPr/>
          <p:nvPr/>
        </p:nvSpPr>
        <p:spPr>
          <a:xfrm>
            <a:off x="10097947" y="28021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2630C611-81B1-2D47-91D6-113B36A41465}"/>
              </a:ext>
            </a:extLst>
          </p:cNvPr>
          <p:cNvSpPr/>
          <p:nvPr/>
        </p:nvSpPr>
        <p:spPr>
          <a:xfrm>
            <a:off x="11063959" y="27660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17F59E18-E833-486B-0A62-22320C89C97B}"/>
              </a:ext>
            </a:extLst>
          </p:cNvPr>
          <p:cNvSpPr/>
          <p:nvPr/>
        </p:nvSpPr>
        <p:spPr>
          <a:xfrm>
            <a:off x="9813597"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8D63C066-733D-4080-F282-6EA0D061F72C}"/>
              </a:ext>
            </a:extLst>
          </p:cNvPr>
          <p:cNvSpPr/>
          <p:nvPr/>
        </p:nvSpPr>
        <p:spPr>
          <a:xfrm>
            <a:off x="10307222"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9995C78E-4A13-216B-07A2-099AF52189C5}"/>
              </a:ext>
            </a:extLst>
          </p:cNvPr>
          <p:cNvSpPr/>
          <p:nvPr/>
        </p:nvSpPr>
        <p:spPr>
          <a:xfrm>
            <a:off x="10834509"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D419A113-6FDF-8056-689B-B99BCD369E17}"/>
              </a:ext>
            </a:extLst>
          </p:cNvPr>
          <p:cNvSpPr/>
          <p:nvPr/>
        </p:nvSpPr>
        <p:spPr>
          <a:xfrm>
            <a:off x="11366197"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049EC873-3CCC-3B72-6622-A3FEBB8DC40C}"/>
              </a:ext>
            </a:extLst>
          </p:cNvPr>
          <p:cNvCxnSpPr>
            <a:cxnSpLocks/>
            <a:stCxn id="58" idx="4"/>
            <a:endCxn id="59" idx="6"/>
          </p:cNvCxnSpPr>
          <p:nvPr/>
        </p:nvCxnSpPr>
        <p:spPr>
          <a:xfrm flipH="1">
            <a:off x="10445409" y="2679304"/>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C520F7C7-48C9-689A-8F29-B1DF4A1C0F44}"/>
              </a:ext>
            </a:extLst>
          </p:cNvPr>
          <p:cNvCxnSpPr>
            <a:cxnSpLocks/>
            <a:stCxn id="58" idx="4"/>
            <a:endCxn id="60" idx="2"/>
          </p:cNvCxnSpPr>
          <p:nvPr/>
        </p:nvCxnSpPr>
        <p:spPr>
          <a:xfrm>
            <a:off x="10716909" y="2679304"/>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9EDD3513-0D18-9464-BE3B-0A029FACBD93}"/>
              </a:ext>
            </a:extLst>
          </p:cNvPr>
          <p:cNvCxnSpPr>
            <a:cxnSpLocks/>
            <a:stCxn id="59" idx="4"/>
            <a:endCxn id="61" idx="7"/>
          </p:cNvCxnSpPr>
          <p:nvPr/>
        </p:nvCxnSpPr>
        <p:spPr>
          <a:xfrm flipH="1">
            <a:off x="10110247" y="3185591"/>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35960AB3-3677-4B61-1AB1-2CF1C84585A9}"/>
              </a:ext>
            </a:extLst>
          </p:cNvPr>
          <p:cNvCxnSpPr>
            <a:cxnSpLocks/>
            <a:stCxn id="59" idx="4"/>
            <a:endCxn id="62" idx="1"/>
          </p:cNvCxnSpPr>
          <p:nvPr/>
        </p:nvCxnSpPr>
        <p:spPr>
          <a:xfrm>
            <a:off x="10271647" y="3185591"/>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870C963C-CFAB-8D76-8E26-FFF83606C4FD}"/>
              </a:ext>
            </a:extLst>
          </p:cNvPr>
          <p:cNvCxnSpPr>
            <a:cxnSpLocks/>
            <a:stCxn id="60" idx="4"/>
            <a:endCxn id="63" idx="7"/>
          </p:cNvCxnSpPr>
          <p:nvPr/>
        </p:nvCxnSpPr>
        <p:spPr>
          <a:xfrm flipH="1">
            <a:off x="11131159" y="3149416"/>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36B4175C-7DAE-1498-48D2-161432F258BE}"/>
              </a:ext>
            </a:extLst>
          </p:cNvPr>
          <p:cNvCxnSpPr>
            <a:cxnSpLocks/>
            <a:stCxn id="60" idx="4"/>
            <a:endCxn id="64" idx="1"/>
          </p:cNvCxnSpPr>
          <p:nvPr/>
        </p:nvCxnSpPr>
        <p:spPr>
          <a:xfrm>
            <a:off x="11237659" y="3149416"/>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86A58E9F-CE9E-B6CE-FCED-9764CD76081F}"/>
              </a:ext>
            </a:extLst>
          </p:cNvPr>
          <p:cNvCxnSpPr>
            <a:cxnSpLocks/>
            <a:stCxn id="43" idx="4"/>
            <a:endCxn id="58" idx="2"/>
          </p:cNvCxnSpPr>
          <p:nvPr/>
        </p:nvCxnSpPr>
        <p:spPr>
          <a:xfrm>
            <a:off x="9986259" y="1974341"/>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B35EDEE3-4592-DBFF-B687-D06020CDD59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77" name="TextBox 76">
            <a:extLst>
              <a:ext uri="{FF2B5EF4-FFF2-40B4-BE49-F238E27FC236}">
                <a16:creationId xmlns:a16="http://schemas.microsoft.com/office/drawing/2014/main" id="{C203F508-D9F5-4C27-D56A-8BB61684DB1B}"/>
              </a:ext>
            </a:extLst>
          </p:cNvPr>
          <p:cNvSpPr txBox="1"/>
          <p:nvPr/>
        </p:nvSpPr>
        <p:spPr>
          <a:xfrm>
            <a:off x="2311240" y="1684793"/>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Latency</a:t>
            </a:r>
          </a:p>
        </p:txBody>
      </p:sp>
      <p:sp>
        <p:nvSpPr>
          <p:cNvPr id="78" name="TextBox 77">
            <a:extLst>
              <a:ext uri="{FF2B5EF4-FFF2-40B4-BE49-F238E27FC236}">
                <a16:creationId xmlns:a16="http://schemas.microsoft.com/office/drawing/2014/main" id="{AC5691C2-52F0-07EA-4EA3-26228967183E}"/>
              </a:ext>
            </a:extLst>
          </p:cNvPr>
          <p:cNvSpPr txBox="1"/>
          <p:nvPr/>
        </p:nvSpPr>
        <p:spPr>
          <a:xfrm>
            <a:off x="4157514" y="1692144"/>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pic>
        <p:nvPicPr>
          <p:cNvPr id="79" name="Picture 78" descr="A black background with a black square&#10;&#10;AI-generated content may be incorrect.">
            <a:extLst>
              <a:ext uri="{FF2B5EF4-FFF2-40B4-BE49-F238E27FC236}">
                <a16:creationId xmlns:a16="http://schemas.microsoft.com/office/drawing/2014/main" id="{A3C87259-375F-1EBA-6A7E-BA4705C3020F}"/>
              </a:ext>
            </a:extLst>
          </p:cNvPr>
          <p:cNvPicPr>
            <a:picLocks noChangeAspect="1"/>
          </p:cNvPicPr>
          <p:nvPr/>
        </p:nvPicPr>
        <p:blipFill>
          <a:blip r:embed="rId3"/>
          <a:stretch>
            <a:fillRect/>
          </a:stretch>
        </p:blipFill>
        <p:spPr>
          <a:xfrm>
            <a:off x="2877072" y="2107828"/>
            <a:ext cx="2335164" cy="591256"/>
          </a:xfrm>
          <a:prstGeom prst="rect">
            <a:avLst/>
          </a:prstGeom>
        </p:spPr>
      </p:pic>
      <p:pic>
        <p:nvPicPr>
          <p:cNvPr id="4" name="Picture 3">
            <a:extLst>
              <a:ext uri="{FF2B5EF4-FFF2-40B4-BE49-F238E27FC236}">
                <a16:creationId xmlns:a16="http://schemas.microsoft.com/office/drawing/2014/main" id="{3A8E3E31-4E39-AE21-2FF6-B2C879E5C828}"/>
              </a:ext>
            </a:extLst>
          </p:cNvPr>
          <p:cNvPicPr>
            <a:picLocks noChangeAspect="1"/>
          </p:cNvPicPr>
          <p:nvPr/>
        </p:nvPicPr>
        <p:blipFill>
          <a:blip r:embed="rId4"/>
          <a:stretch>
            <a:fillRect/>
          </a:stretch>
        </p:blipFill>
        <p:spPr>
          <a:xfrm>
            <a:off x="2480301" y="438180"/>
            <a:ext cx="4880171" cy="3662775"/>
          </a:xfrm>
          <a:prstGeom prst="rect">
            <a:avLst/>
          </a:prstGeom>
          <a:ln>
            <a:noFill/>
          </a:ln>
          <a:effectLst>
            <a:outerShdw blurRad="292100" dist="139700" dir="2700000" algn="tl" rotWithShape="0">
              <a:srgbClr val="333333">
                <a:alpha val="65000"/>
              </a:srgbClr>
            </a:outerShdw>
          </a:effectLst>
        </p:spPr>
      </p:pic>
      <p:sp>
        <p:nvSpPr>
          <p:cNvPr id="2" name="Rectangle 1">
            <a:extLst>
              <a:ext uri="{FF2B5EF4-FFF2-40B4-BE49-F238E27FC236}">
                <a16:creationId xmlns:a16="http://schemas.microsoft.com/office/drawing/2014/main" id="{D7DDB5F9-FE5D-36B8-DD52-B7663627A828}"/>
              </a:ext>
            </a:extLst>
          </p:cNvPr>
          <p:cNvSpPr/>
          <p:nvPr/>
        </p:nvSpPr>
        <p:spPr>
          <a:xfrm>
            <a:off x="963169" y="4537539"/>
            <a:ext cx="10218740" cy="1772502"/>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800" dirty="0"/>
              <a:t>But still many venues for latency fluctuations, which hinder latency fairness and increase latency</a:t>
            </a:r>
          </a:p>
        </p:txBody>
      </p:sp>
    </p:spTree>
    <p:extLst>
      <p:ext uri="{BB962C8B-B14F-4D97-AF65-F5344CB8AC3E}">
        <p14:creationId xmlns:p14="http://schemas.microsoft.com/office/powerpoint/2010/main" val="11762920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dissolve">
                                      <p:cBhvr>
                                        <p:cTn id="11" dur="500"/>
                                        <p:tgtEl>
                                          <p:spTgt spid="77"/>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78"/>
                                        </p:tgtEl>
                                        <p:attrNameLst>
                                          <p:attrName>style.visibility</p:attrName>
                                        </p:attrNameLst>
                                      </p:cBhvr>
                                      <p:to>
                                        <p:strVal val="visible"/>
                                      </p:to>
                                    </p:set>
                                    <p:animEffect transition="in" filter="dissolve">
                                      <p:cBhvr>
                                        <p:cTn id="14" dur="500"/>
                                        <p:tgtEl>
                                          <p:spTgt spid="78"/>
                                        </p:tgtEl>
                                      </p:cBhvr>
                                    </p:animEffect>
                                  </p:childTnLst>
                                </p:cTn>
                              </p:par>
                              <p:par>
                                <p:cTn id="15" presetID="9"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52"/>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3"/>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65"/>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6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7"/>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4"/>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55"/>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6"/>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57"/>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61"/>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62"/>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63"/>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64"/>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67"/>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68"/>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69"/>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7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77" grpId="0"/>
      <p:bldP spid="78" grpId="0"/>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6C4F8A3-41FB-1F61-551B-FC69285555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830FA9-CB55-10B3-1B65-E3889DB1EBDE}"/>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7" name="TextBox 6">
            <a:extLst>
              <a:ext uri="{FF2B5EF4-FFF2-40B4-BE49-F238E27FC236}">
                <a16:creationId xmlns:a16="http://schemas.microsoft.com/office/drawing/2014/main" id="{44A1127D-B1A0-0D33-42FA-6418E6282348}"/>
              </a:ext>
            </a:extLst>
          </p:cNvPr>
          <p:cNvSpPr txBox="1"/>
          <p:nvPr/>
        </p:nvSpPr>
        <p:spPr>
          <a:xfrm>
            <a:off x="531970" y="1434210"/>
            <a:ext cx="7049589"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Fairness achieved by a simple “hold-and-release” primitive.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We scale it much further by proposing an efficient market data multicast mechanism.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 tree of proxy nodes is utilized that helps scale multicast.</a:t>
            </a:r>
          </a:p>
        </p:txBody>
      </p:sp>
      <p:sp>
        <p:nvSpPr>
          <p:cNvPr id="14" name="Google Shape;180;p23">
            <a:extLst>
              <a:ext uri="{FF2B5EF4-FFF2-40B4-BE49-F238E27FC236}">
                <a16:creationId xmlns:a16="http://schemas.microsoft.com/office/drawing/2014/main" id="{F8180448-3D48-DE1C-5855-E25FB2B2C88F}"/>
              </a:ext>
            </a:extLst>
          </p:cNvPr>
          <p:cNvSpPr/>
          <p:nvPr/>
        </p:nvSpPr>
        <p:spPr>
          <a:xfrm>
            <a:off x="2367684" y="4261410"/>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A02DEF81-8FBE-5827-7141-DB26118959DE}"/>
              </a:ext>
            </a:extLst>
          </p:cNvPr>
          <p:cNvSpPr/>
          <p:nvPr/>
        </p:nvSpPr>
        <p:spPr>
          <a:xfrm>
            <a:off x="5261859" y="4254223"/>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5E5B3EFE-8B1C-FAD8-17AA-18F5FB893C6B}"/>
              </a:ext>
            </a:extLst>
          </p:cNvPr>
          <p:cNvSpPr/>
          <p:nvPr/>
        </p:nvSpPr>
        <p:spPr>
          <a:xfrm>
            <a:off x="8047509" y="4261410"/>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215A0652-0D95-0D57-8864-5A7EDFD898B2}"/>
              </a:ext>
            </a:extLst>
          </p:cNvPr>
          <p:cNvSpPr/>
          <p:nvPr/>
        </p:nvSpPr>
        <p:spPr>
          <a:xfrm>
            <a:off x="2591909" y="5889085"/>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white"/>
                </a:solidFill>
                <a:effectLst/>
                <a:uLnTx/>
                <a:uFillTx/>
                <a:latin typeface="Aptos" panose="02110004020202020204"/>
                <a:ea typeface="+mn-ea"/>
                <a:cs typeface="+mn-cs"/>
              </a:rPr>
              <a:t>Round Robin Packet Spraying</a:t>
            </a: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2093D1FA-E3D9-1D17-6F6D-433E977C0837}"/>
              </a:ext>
            </a:extLst>
          </p:cNvPr>
          <p:cNvSpPr/>
          <p:nvPr/>
        </p:nvSpPr>
        <p:spPr>
          <a:xfrm>
            <a:off x="5401059" y="5881910"/>
            <a:ext cx="22173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2C0DE31B-F138-97B4-0C4E-873FC39F4671}"/>
              </a:ext>
            </a:extLst>
          </p:cNvPr>
          <p:cNvSpPr/>
          <p:nvPr/>
        </p:nvSpPr>
        <p:spPr>
          <a:xfrm>
            <a:off x="8325909" y="5881910"/>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49959D70-1803-27D4-6503-50CC60FBDDC9}"/>
              </a:ext>
            </a:extLst>
          </p:cNvPr>
          <p:cNvSpPr/>
          <p:nvPr/>
        </p:nvSpPr>
        <p:spPr>
          <a:xfrm>
            <a:off x="3257459" y="5068048"/>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BAA8A8B0-0CA3-2EC2-3291-2A636BEE099D}"/>
              </a:ext>
            </a:extLst>
          </p:cNvPr>
          <p:cNvSpPr/>
          <p:nvPr/>
        </p:nvSpPr>
        <p:spPr>
          <a:xfrm>
            <a:off x="6336159" y="5060848"/>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6C8D273A-5C31-7A08-2A78-08853788DA6F}"/>
              </a:ext>
            </a:extLst>
          </p:cNvPr>
          <p:cNvSpPr/>
          <p:nvPr/>
        </p:nvSpPr>
        <p:spPr>
          <a:xfrm>
            <a:off x="9121809" y="504296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A78E8436-3F17-589A-4B7A-61964ABCBF39}"/>
              </a:ext>
            </a:extLst>
          </p:cNvPr>
          <p:cNvSpPr/>
          <p:nvPr/>
        </p:nvSpPr>
        <p:spPr>
          <a:xfrm>
            <a:off x="9081909" y="1590941"/>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6A4C4E6B-BBF7-693B-1B60-E368E13D9FE0}"/>
              </a:ext>
            </a:extLst>
          </p:cNvPr>
          <p:cNvSpPr/>
          <p:nvPr/>
        </p:nvSpPr>
        <p:spPr>
          <a:xfrm>
            <a:off x="8510909" y="23097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39D08530-9E2D-B3DF-4FDE-A89461344CBA}"/>
              </a:ext>
            </a:extLst>
          </p:cNvPr>
          <p:cNvSpPr/>
          <p:nvPr/>
        </p:nvSpPr>
        <p:spPr>
          <a:xfrm>
            <a:off x="7867034"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030062A6-E574-CB2E-8944-918ED2DE1E91}"/>
              </a:ext>
            </a:extLst>
          </p:cNvPr>
          <p:cNvSpPr/>
          <p:nvPr/>
        </p:nvSpPr>
        <p:spPr>
          <a:xfrm>
            <a:off x="8835247"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79B34D0B-772C-B43A-0F28-722954553F50}"/>
              </a:ext>
            </a:extLst>
          </p:cNvPr>
          <p:cNvSpPr/>
          <p:nvPr/>
        </p:nvSpPr>
        <p:spPr>
          <a:xfrm>
            <a:off x="7592509"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6E02BC6B-E18D-46F9-9B7B-E8B150A953F6}"/>
              </a:ext>
            </a:extLst>
          </p:cNvPr>
          <p:cNvSpPr/>
          <p:nvPr/>
        </p:nvSpPr>
        <p:spPr>
          <a:xfrm>
            <a:off x="8046284"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0B681FBA-6B25-71EC-270E-3129943905A5}"/>
              </a:ext>
            </a:extLst>
          </p:cNvPr>
          <p:cNvSpPr/>
          <p:nvPr/>
        </p:nvSpPr>
        <p:spPr>
          <a:xfrm>
            <a:off x="8538722"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E6C8139E-E000-FA3D-35D4-0020B9A4F409}"/>
              </a:ext>
            </a:extLst>
          </p:cNvPr>
          <p:cNvSpPr/>
          <p:nvPr/>
        </p:nvSpPr>
        <p:spPr>
          <a:xfrm>
            <a:off x="9100559"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5213A4C2-DC11-D828-9B92-3824D609B55C}"/>
              </a:ext>
            </a:extLst>
          </p:cNvPr>
          <p:cNvCxnSpPr>
            <a:cxnSpLocks/>
            <a:endCxn id="44" idx="6"/>
          </p:cNvCxnSpPr>
          <p:nvPr/>
        </p:nvCxnSpPr>
        <p:spPr>
          <a:xfrm flipH="1">
            <a:off x="8858309" y="1977041"/>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1670FC65-B454-7D6D-D3DF-3F2F6E72543D}"/>
              </a:ext>
            </a:extLst>
          </p:cNvPr>
          <p:cNvCxnSpPr>
            <a:cxnSpLocks/>
            <a:stCxn id="44" idx="4"/>
            <a:endCxn id="45" idx="6"/>
          </p:cNvCxnSpPr>
          <p:nvPr/>
        </p:nvCxnSpPr>
        <p:spPr>
          <a:xfrm flipH="1">
            <a:off x="8214509" y="2693141"/>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141A0BAD-D4CC-5B7E-A9B8-70211EC5F923}"/>
              </a:ext>
            </a:extLst>
          </p:cNvPr>
          <p:cNvCxnSpPr>
            <a:cxnSpLocks/>
            <a:stCxn id="44" idx="4"/>
            <a:endCxn id="46" idx="2"/>
          </p:cNvCxnSpPr>
          <p:nvPr/>
        </p:nvCxnSpPr>
        <p:spPr>
          <a:xfrm>
            <a:off x="8684609" y="2693141"/>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EE370DDA-6E2B-7688-6EC6-1F1705AD667D}"/>
              </a:ext>
            </a:extLst>
          </p:cNvPr>
          <p:cNvCxnSpPr>
            <a:cxnSpLocks/>
            <a:stCxn id="45" idx="4"/>
            <a:endCxn id="47" idx="7"/>
          </p:cNvCxnSpPr>
          <p:nvPr/>
        </p:nvCxnSpPr>
        <p:spPr>
          <a:xfrm flipH="1">
            <a:off x="7888934" y="3265116"/>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59C14280-AE6E-8942-6186-C5636263585D}"/>
              </a:ext>
            </a:extLst>
          </p:cNvPr>
          <p:cNvCxnSpPr>
            <a:cxnSpLocks/>
            <a:stCxn id="45" idx="4"/>
            <a:endCxn id="48" idx="1"/>
          </p:cNvCxnSpPr>
          <p:nvPr/>
        </p:nvCxnSpPr>
        <p:spPr>
          <a:xfrm>
            <a:off x="8040734" y="3265116"/>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F8B08EE4-BFEB-C4BC-1C16-EA481605F6D8}"/>
              </a:ext>
            </a:extLst>
          </p:cNvPr>
          <p:cNvCxnSpPr>
            <a:cxnSpLocks/>
            <a:stCxn id="46" idx="4"/>
            <a:endCxn id="49" idx="7"/>
          </p:cNvCxnSpPr>
          <p:nvPr/>
        </p:nvCxnSpPr>
        <p:spPr>
          <a:xfrm flipH="1">
            <a:off x="8835247" y="3265116"/>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11588DF4-B787-8689-76FF-C0BFE94D1596}"/>
              </a:ext>
            </a:extLst>
          </p:cNvPr>
          <p:cNvCxnSpPr>
            <a:cxnSpLocks/>
            <a:stCxn id="46" idx="4"/>
            <a:endCxn id="50" idx="1"/>
          </p:cNvCxnSpPr>
          <p:nvPr/>
        </p:nvCxnSpPr>
        <p:spPr>
          <a:xfrm>
            <a:off x="9008947" y="3265116"/>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75D7DAFF-45D5-ABF1-6FC7-5BAD8799905C}"/>
              </a:ext>
            </a:extLst>
          </p:cNvPr>
          <p:cNvSpPr/>
          <p:nvPr/>
        </p:nvSpPr>
        <p:spPr>
          <a:xfrm>
            <a:off x="10543209" y="22959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A8D52FA1-DD64-4ADA-1C66-DF3CC34F9E93}"/>
              </a:ext>
            </a:extLst>
          </p:cNvPr>
          <p:cNvSpPr/>
          <p:nvPr/>
        </p:nvSpPr>
        <p:spPr>
          <a:xfrm>
            <a:off x="10097947" y="28021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2779FAEA-6E54-B780-289A-2CA80AFA314C}"/>
              </a:ext>
            </a:extLst>
          </p:cNvPr>
          <p:cNvSpPr/>
          <p:nvPr/>
        </p:nvSpPr>
        <p:spPr>
          <a:xfrm>
            <a:off x="11063959" y="27660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30B7A60E-B574-0D18-9ADB-04D10DA2482E}"/>
              </a:ext>
            </a:extLst>
          </p:cNvPr>
          <p:cNvSpPr/>
          <p:nvPr/>
        </p:nvSpPr>
        <p:spPr>
          <a:xfrm>
            <a:off x="9813597"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1C14B88B-F02F-15A0-5489-CC3B1636308A}"/>
              </a:ext>
            </a:extLst>
          </p:cNvPr>
          <p:cNvSpPr/>
          <p:nvPr/>
        </p:nvSpPr>
        <p:spPr>
          <a:xfrm>
            <a:off x="10307222"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4AEF485A-31A0-47AB-0C0D-55AB1E223CA5}"/>
              </a:ext>
            </a:extLst>
          </p:cNvPr>
          <p:cNvSpPr/>
          <p:nvPr/>
        </p:nvSpPr>
        <p:spPr>
          <a:xfrm>
            <a:off x="10834509"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BAEE9BA7-3004-93D7-49F0-F65DFD98700E}"/>
              </a:ext>
            </a:extLst>
          </p:cNvPr>
          <p:cNvSpPr/>
          <p:nvPr/>
        </p:nvSpPr>
        <p:spPr>
          <a:xfrm>
            <a:off x="11366197"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10AF4541-4EAF-BDA2-47B7-9F57951F570B}"/>
              </a:ext>
            </a:extLst>
          </p:cNvPr>
          <p:cNvCxnSpPr>
            <a:cxnSpLocks/>
            <a:stCxn id="58" idx="4"/>
            <a:endCxn id="59" idx="6"/>
          </p:cNvCxnSpPr>
          <p:nvPr/>
        </p:nvCxnSpPr>
        <p:spPr>
          <a:xfrm flipH="1">
            <a:off x="10445409" y="2679304"/>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D438D6D1-9554-9A13-5337-F148D8FE71EB}"/>
              </a:ext>
            </a:extLst>
          </p:cNvPr>
          <p:cNvCxnSpPr>
            <a:cxnSpLocks/>
            <a:stCxn id="58" idx="4"/>
            <a:endCxn id="60" idx="2"/>
          </p:cNvCxnSpPr>
          <p:nvPr/>
        </p:nvCxnSpPr>
        <p:spPr>
          <a:xfrm>
            <a:off x="10716909" y="2679304"/>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5675007F-AE38-367A-C5A9-821D25AAE2E1}"/>
              </a:ext>
            </a:extLst>
          </p:cNvPr>
          <p:cNvCxnSpPr>
            <a:cxnSpLocks/>
            <a:stCxn id="59" idx="4"/>
            <a:endCxn id="61" idx="7"/>
          </p:cNvCxnSpPr>
          <p:nvPr/>
        </p:nvCxnSpPr>
        <p:spPr>
          <a:xfrm flipH="1">
            <a:off x="10110247" y="3185591"/>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2BC07B8C-C558-DB35-E272-243410342990}"/>
              </a:ext>
            </a:extLst>
          </p:cNvPr>
          <p:cNvCxnSpPr>
            <a:cxnSpLocks/>
            <a:stCxn id="59" idx="4"/>
            <a:endCxn id="62" idx="1"/>
          </p:cNvCxnSpPr>
          <p:nvPr/>
        </p:nvCxnSpPr>
        <p:spPr>
          <a:xfrm>
            <a:off x="10271647" y="3185591"/>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056030CE-9580-7D85-AF40-8009829AA480}"/>
              </a:ext>
            </a:extLst>
          </p:cNvPr>
          <p:cNvCxnSpPr>
            <a:cxnSpLocks/>
            <a:stCxn id="60" idx="4"/>
            <a:endCxn id="63" idx="7"/>
          </p:cNvCxnSpPr>
          <p:nvPr/>
        </p:nvCxnSpPr>
        <p:spPr>
          <a:xfrm flipH="1">
            <a:off x="11131159" y="3149416"/>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C2329053-B316-733C-EDEC-C0465F3AE127}"/>
              </a:ext>
            </a:extLst>
          </p:cNvPr>
          <p:cNvCxnSpPr>
            <a:cxnSpLocks/>
            <a:stCxn id="60" idx="4"/>
            <a:endCxn id="64" idx="1"/>
          </p:cNvCxnSpPr>
          <p:nvPr/>
        </p:nvCxnSpPr>
        <p:spPr>
          <a:xfrm>
            <a:off x="11237659" y="3149416"/>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129A8B24-202C-DAEE-640F-A55C78E38AF4}"/>
              </a:ext>
            </a:extLst>
          </p:cNvPr>
          <p:cNvCxnSpPr>
            <a:cxnSpLocks/>
            <a:stCxn id="43" idx="4"/>
            <a:endCxn id="58" idx="2"/>
          </p:cNvCxnSpPr>
          <p:nvPr/>
        </p:nvCxnSpPr>
        <p:spPr>
          <a:xfrm>
            <a:off x="9986259" y="1974341"/>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4171857D-3F92-25EE-8C35-51540918C45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77" name="TextBox 76">
            <a:extLst>
              <a:ext uri="{FF2B5EF4-FFF2-40B4-BE49-F238E27FC236}">
                <a16:creationId xmlns:a16="http://schemas.microsoft.com/office/drawing/2014/main" id="{562B6C99-2EAD-251A-9A24-FF01ADB995D3}"/>
              </a:ext>
            </a:extLst>
          </p:cNvPr>
          <p:cNvSpPr txBox="1"/>
          <p:nvPr/>
        </p:nvSpPr>
        <p:spPr>
          <a:xfrm>
            <a:off x="2311240" y="1684793"/>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Latency</a:t>
            </a:r>
          </a:p>
        </p:txBody>
      </p:sp>
      <p:sp>
        <p:nvSpPr>
          <p:cNvPr id="78" name="TextBox 77">
            <a:extLst>
              <a:ext uri="{FF2B5EF4-FFF2-40B4-BE49-F238E27FC236}">
                <a16:creationId xmlns:a16="http://schemas.microsoft.com/office/drawing/2014/main" id="{3C4C1F50-7AD1-2C46-579E-BF89B89B3486}"/>
              </a:ext>
            </a:extLst>
          </p:cNvPr>
          <p:cNvSpPr txBox="1"/>
          <p:nvPr/>
        </p:nvSpPr>
        <p:spPr>
          <a:xfrm>
            <a:off x="4157514" y="1692144"/>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pic>
        <p:nvPicPr>
          <p:cNvPr id="79" name="Picture 78" descr="A black background with a black square&#10;&#10;AI-generated content may be incorrect.">
            <a:extLst>
              <a:ext uri="{FF2B5EF4-FFF2-40B4-BE49-F238E27FC236}">
                <a16:creationId xmlns:a16="http://schemas.microsoft.com/office/drawing/2014/main" id="{B870BB2D-DA46-AF24-754E-7FA6CDB22EB2}"/>
              </a:ext>
            </a:extLst>
          </p:cNvPr>
          <p:cNvPicPr>
            <a:picLocks noChangeAspect="1"/>
          </p:cNvPicPr>
          <p:nvPr/>
        </p:nvPicPr>
        <p:blipFill>
          <a:blip r:embed="rId3"/>
          <a:stretch>
            <a:fillRect/>
          </a:stretch>
        </p:blipFill>
        <p:spPr>
          <a:xfrm>
            <a:off x="2877072" y="2107828"/>
            <a:ext cx="2335164" cy="591256"/>
          </a:xfrm>
          <a:prstGeom prst="rect">
            <a:avLst/>
          </a:prstGeom>
        </p:spPr>
      </p:pic>
      <p:pic>
        <p:nvPicPr>
          <p:cNvPr id="4" name="Picture 3">
            <a:extLst>
              <a:ext uri="{FF2B5EF4-FFF2-40B4-BE49-F238E27FC236}">
                <a16:creationId xmlns:a16="http://schemas.microsoft.com/office/drawing/2014/main" id="{B783F41A-70BD-3FAA-0C13-C190D9FA40D5}"/>
              </a:ext>
            </a:extLst>
          </p:cNvPr>
          <p:cNvPicPr>
            <a:picLocks noChangeAspect="1"/>
          </p:cNvPicPr>
          <p:nvPr/>
        </p:nvPicPr>
        <p:blipFill>
          <a:blip r:embed="rId4"/>
          <a:stretch>
            <a:fillRect/>
          </a:stretch>
        </p:blipFill>
        <p:spPr>
          <a:xfrm>
            <a:off x="2480301" y="438180"/>
            <a:ext cx="4880171" cy="36627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486551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21600000">
                                      <p:cBhvr>
                                        <p:cTn id="18" dur="500" fill="hold"/>
                                        <p:tgtEl>
                                          <p:spTgt spid="52"/>
                                        </p:tgtEl>
                                        <p:attrNameLst>
                                          <p:attrName>r</p:attrName>
                                        </p:attrNameLst>
                                      </p:cBhvr>
                                    </p:animRot>
                                  </p:childTnLst>
                                </p:cTn>
                              </p:par>
                              <p:par>
                                <p:cTn id="19" presetID="8" presetClass="emph" presetSubtype="0" fill="hold" nodeType="withEffect">
                                  <p:stCondLst>
                                    <p:cond delay="0"/>
                                  </p:stCondLst>
                                  <p:childTnLst>
                                    <p:animRot by="21600000">
                                      <p:cBhvr>
                                        <p:cTn id="20" dur="500" fill="hold"/>
                                        <p:tgtEl>
                                          <p:spTgt spid="53"/>
                                        </p:tgtEl>
                                        <p:attrNameLst>
                                          <p:attrName>r</p:attrName>
                                        </p:attrNameLst>
                                      </p:cBhvr>
                                    </p:animRot>
                                  </p:childTnLst>
                                </p:cTn>
                              </p:par>
                              <p:par>
                                <p:cTn id="21" presetID="8" presetClass="emph" presetSubtype="0" fill="hold" nodeType="withEffect">
                                  <p:stCondLst>
                                    <p:cond delay="0"/>
                                  </p:stCondLst>
                                  <p:childTnLst>
                                    <p:animRot by="21600000">
                                      <p:cBhvr>
                                        <p:cTn id="22" dur="500" fill="hold"/>
                                        <p:tgtEl>
                                          <p:spTgt spid="65"/>
                                        </p:tgtEl>
                                        <p:attrNameLst>
                                          <p:attrName>r</p:attrName>
                                        </p:attrNameLst>
                                      </p:cBhvr>
                                    </p:animRot>
                                  </p:childTnLst>
                                </p:cTn>
                              </p:par>
                              <p:par>
                                <p:cTn id="23" presetID="8" presetClass="emph" presetSubtype="0" fill="hold" nodeType="withEffect">
                                  <p:stCondLst>
                                    <p:cond delay="0"/>
                                  </p:stCondLst>
                                  <p:childTnLst>
                                    <p:animRot by="21600000">
                                      <p:cBhvr>
                                        <p:cTn id="24" dur="500" fill="hold"/>
                                        <p:tgtEl>
                                          <p:spTgt spid="66"/>
                                        </p:tgtEl>
                                        <p:attrNameLst>
                                          <p:attrName>r</p:attrName>
                                        </p:attrNameLst>
                                      </p:cBhvr>
                                    </p:animRo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6" presetClass="emph" presetSubtype="0" fill="hold" grpId="0" nodeType="clickEffect">
                                  <p:stCondLst>
                                    <p:cond delay="0"/>
                                  </p:stCondLst>
                                  <p:childTnLst>
                                    <p:animEffect transition="out" filter="fade">
                                      <p:cBhvr>
                                        <p:cTn id="34" dur="500" tmFilter="0, 0; .2, .5; .8, .5; 1, 0"/>
                                        <p:tgtEl>
                                          <p:spTgt spid="44"/>
                                        </p:tgtEl>
                                      </p:cBhvr>
                                    </p:animEffect>
                                    <p:animScale>
                                      <p:cBhvr>
                                        <p:cTn id="35" dur="250" autoRev="1" fill="hold"/>
                                        <p:tgtEl>
                                          <p:spTgt spid="44"/>
                                        </p:tgtEl>
                                      </p:cBhvr>
                                      <p:by x="105000" y="105000"/>
                                    </p:animScale>
                                  </p:childTnLst>
                                </p:cTn>
                              </p:par>
                              <p:par>
                                <p:cTn id="36" presetID="26" presetClass="emph" presetSubtype="0" fill="hold" grpId="0" nodeType="withEffect">
                                  <p:stCondLst>
                                    <p:cond delay="0"/>
                                  </p:stCondLst>
                                  <p:childTnLst>
                                    <p:animEffect transition="out" filter="fade">
                                      <p:cBhvr>
                                        <p:cTn id="37" dur="500" tmFilter="0, 0; .2, .5; .8, .5; 1, 0"/>
                                        <p:tgtEl>
                                          <p:spTgt spid="45"/>
                                        </p:tgtEl>
                                      </p:cBhvr>
                                    </p:animEffect>
                                    <p:animScale>
                                      <p:cBhvr>
                                        <p:cTn id="38" dur="250" autoRev="1" fill="hold"/>
                                        <p:tgtEl>
                                          <p:spTgt spid="45"/>
                                        </p:tgtEl>
                                      </p:cBhvr>
                                      <p:by x="105000" y="105000"/>
                                    </p:animScale>
                                  </p:childTnLst>
                                </p:cTn>
                              </p:par>
                              <p:par>
                                <p:cTn id="39" presetID="26" presetClass="emph" presetSubtype="0" fill="hold" grpId="0" nodeType="withEffect">
                                  <p:stCondLst>
                                    <p:cond delay="0"/>
                                  </p:stCondLst>
                                  <p:childTnLst>
                                    <p:animEffect transition="out" filter="fade">
                                      <p:cBhvr>
                                        <p:cTn id="40" dur="500" tmFilter="0, 0; .2, .5; .8, .5; 1, 0"/>
                                        <p:tgtEl>
                                          <p:spTgt spid="46"/>
                                        </p:tgtEl>
                                      </p:cBhvr>
                                    </p:animEffect>
                                    <p:animScale>
                                      <p:cBhvr>
                                        <p:cTn id="41" dur="250" autoRev="1" fill="hold"/>
                                        <p:tgtEl>
                                          <p:spTgt spid="46"/>
                                        </p:tgtEl>
                                      </p:cBhvr>
                                      <p:by x="105000" y="105000"/>
                                    </p:animScale>
                                  </p:childTnLst>
                                </p:cTn>
                              </p:par>
                              <p:par>
                                <p:cTn id="42" presetID="26" presetClass="emph" presetSubtype="0" fill="hold" grpId="0" nodeType="withEffect">
                                  <p:stCondLst>
                                    <p:cond delay="0"/>
                                  </p:stCondLst>
                                  <p:childTnLst>
                                    <p:animEffect transition="out" filter="fade">
                                      <p:cBhvr>
                                        <p:cTn id="43" dur="500" tmFilter="0, 0; .2, .5; .8, .5; 1, 0"/>
                                        <p:tgtEl>
                                          <p:spTgt spid="59"/>
                                        </p:tgtEl>
                                      </p:cBhvr>
                                    </p:animEffect>
                                    <p:animScale>
                                      <p:cBhvr>
                                        <p:cTn id="44" dur="250" autoRev="1" fill="hold"/>
                                        <p:tgtEl>
                                          <p:spTgt spid="59"/>
                                        </p:tgtEl>
                                      </p:cBhvr>
                                      <p:by x="105000" y="105000"/>
                                    </p:animScale>
                                  </p:childTnLst>
                                </p:cTn>
                              </p:par>
                              <p:par>
                                <p:cTn id="45" presetID="26" presetClass="emph" presetSubtype="0" fill="hold" grpId="0" nodeType="withEffect">
                                  <p:stCondLst>
                                    <p:cond delay="0"/>
                                  </p:stCondLst>
                                  <p:childTnLst>
                                    <p:animEffect transition="out" filter="fade">
                                      <p:cBhvr>
                                        <p:cTn id="46" dur="500" tmFilter="0, 0; .2, .5; .8, .5; 1, 0"/>
                                        <p:tgtEl>
                                          <p:spTgt spid="58"/>
                                        </p:tgtEl>
                                      </p:cBhvr>
                                    </p:animEffect>
                                    <p:animScale>
                                      <p:cBhvr>
                                        <p:cTn id="47" dur="250" autoRev="1" fill="hold"/>
                                        <p:tgtEl>
                                          <p:spTgt spid="58"/>
                                        </p:tgtEl>
                                      </p:cBhvr>
                                      <p:by x="105000" y="105000"/>
                                    </p:animScale>
                                  </p:childTnLst>
                                </p:cTn>
                              </p:par>
                              <p:par>
                                <p:cTn id="48" presetID="26" presetClass="emph" presetSubtype="0" fill="hold" grpId="0" nodeType="withEffect">
                                  <p:stCondLst>
                                    <p:cond delay="0"/>
                                  </p:stCondLst>
                                  <p:childTnLst>
                                    <p:animEffect transition="out" filter="fade">
                                      <p:cBhvr>
                                        <p:cTn id="49" dur="500" tmFilter="0, 0; .2, .5; .8, .5; 1, 0"/>
                                        <p:tgtEl>
                                          <p:spTgt spid="60"/>
                                        </p:tgtEl>
                                      </p:cBhvr>
                                    </p:animEffect>
                                    <p:animScale>
                                      <p:cBhvr>
                                        <p:cTn id="50" dur="250" autoRev="1" fill="hold"/>
                                        <p:tgtEl>
                                          <p:spTgt spid="60"/>
                                        </p:tgtEl>
                                      </p:cBhvr>
                                      <p:by x="105000" y="105000"/>
                                    </p:animScale>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6" presetClass="emph" presetSubtype="0" fill="hold" grpId="0" nodeType="clickEffect">
                                  <p:stCondLst>
                                    <p:cond delay="0"/>
                                  </p:stCondLst>
                                  <p:childTnLst>
                                    <p:animEffect transition="out" filter="fade">
                                      <p:cBhvr>
                                        <p:cTn id="60" dur="500" tmFilter="0, 0; .2, .5; .8, .5; 1, 0"/>
                                        <p:tgtEl>
                                          <p:spTgt spid="47"/>
                                        </p:tgtEl>
                                      </p:cBhvr>
                                    </p:animEffect>
                                    <p:animScale>
                                      <p:cBhvr>
                                        <p:cTn id="61" dur="250" autoRev="1" fill="hold"/>
                                        <p:tgtEl>
                                          <p:spTgt spid="47"/>
                                        </p:tgtEl>
                                      </p:cBhvr>
                                      <p:by x="105000" y="105000"/>
                                    </p:animScale>
                                  </p:childTnLst>
                                </p:cTn>
                              </p:par>
                              <p:par>
                                <p:cTn id="62" presetID="26" presetClass="emph" presetSubtype="0" fill="hold" grpId="0" nodeType="withEffect">
                                  <p:stCondLst>
                                    <p:cond delay="0"/>
                                  </p:stCondLst>
                                  <p:childTnLst>
                                    <p:animEffect transition="out" filter="fade">
                                      <p:cBhvr>
                                        <p:cTn id="63" dur="500" tmFilter="0, 0; .2, .5; .8, .5; 1, 0"/>
                                        <p:tgtEl>
                                          <p:spTgt spid="48"/>
                                        </p:tgtEl>
                                      </p:cBhvr>
                                    </p:animEffect>
                                    <p:animScale>
                                      <p:cBhvr>
                                        <p:cTn id="64" dur="250" autoRev="1" fill="hold"/>
                                        <p:tgtEl>
                                          <p:spTgt spid="48"/>
                                        </p:tgtEl>
                                      </p:cBhvr>
                                      <p:by x="105000" y="105000"/>
                                    </p:animScale>
                                  </p:childTnLst>
                                </p:cTn>
                              </p:par>
                              <p:par>
                                <p:cTn id="65" presetID="26" presetClass="emph" presetSubtype="0" fill="hold" grpId="0" nodeType="withEffect">
                                  <p:stCondLst>
                                    <p:cond delay="0"/>
                                  </p:stCondLst>
                                  <p:childTnLst>
                                    <p:animEffect transition="out" filter="fade">
                                      <p:cBhvr>
                                        <p:cTn id="66" dur="500" tmFilter="0, 0; .2, .5; .8, .5; 1, 0"/>
                                        <p:tgtEl>
                                          <p:spTgt spid="49"/>
                                        </p:tgtEl>
                                      </p:cBhvr>
                                    </p:animEffect>
                                    <p:animScale>
                                      <p:cBhvr>
                                        <p:cTn id="67" dur="250" autoRev="1" fill="hold"/>
                                        <p:tgtEl>
                                          <p:spTgt spid="49"/>
                                        </p:tgtEl>
                                      </p:cBhvr>
                                      <p:by x="105000" y="105000"/>
                                    </p:animScale>
                                  </p:childTnLst>
                                </p:cTn>
                              </p:par>
                              <p:par>
                                <p:cTn id="68" presetID="26" presetClass="emph" presetSubtype="0" fill="hold" grpId="0" nodeType="withEffect">
                                  <p:stCondLst>
                                    <p:cond delay="0"/>
                                  </p:stCondLst>
                                  <p:childTnLst>
                                    <p:animEffect transition="out" filter="fade">
                                      <p:cBhvr>
                                        <p:cTn id="69" dur="500" tmFilter="0, 0; .2, .5; .8, .5; 1, 0"/>
                                        <p:tgtEl>
                                          <p:spTgt spid="50"/>
                                        </p:tgtEl>
                                      </p:cBhvr>
                                    </p:animEffect>
                                    <p:animScale>
                                      <p:cBhvr>
                                        <p:cTn id="70" dur="250" autoRev="1" fill="hold"/>
                                        <p:tgtEl>
                                          <p:spTgt spid="50"/>
                                        </p:tgtEl>
                                      </p:cBhvr>
                                      <p:by x="105000" y="105000"/>
                                    </p:animScale>
                                  </p:childTnLst>
                                </p:cTn>
                              </p:par>
                              <p:par>
                                <p:cTn id="71" presetID="26" presetClass="emph" presetSubtype="0" fill="hold" grpId="0" nodeType="withEffect">
                                  <p:stCondLst>
                                    <p:cond delay="0"/>
                                  </p:stCondLst>
                                  <p:childTnLst>
                                    <p:animEffect transition="out" filter="fade">
                                      <p:cBhvr>
                                        <p:cTn id="72" dur="500" tmFilter="0, 0; .2, .5; .8, .5; 1, 0"/>
                                        <p:tgtEl>
                                          <p:spTgt spid="61"/>
                                        </p:tgtEl>
                                      </p:cBhvr>
                                    </p:animEffect>
                                    <p:animScale>
                                      <p:cBhvr>
                                        <p:cTn id="73" dur="250" autoRev="1" fill="hold"/>
                                        <p:tgtEl>
                                          <p:spTgt spid="61"/>
                                        </p:tgtEl>
                                      </p:cBhvr>
                                      <p:by x="105000" y="105000"/>
                                    </p:animScale>
                                  </p:childTnLst>
                                </p:cTn>
                              </p:par>
                              <p:par>
                                <p:cTn id="74" presetID="26" presetClass="emph" presetSubtype="0" fill="hold" grpId="0" nodeType="withEffect">
                                  <p:stCondLst>
                                    <p:cond delay="0"/>
                                  </p:stCondLst>
                                  <p:childTnLst>
                                    <p:animEffect transition="out" filter="fade">
                                      <p:cBhvr>
                                        <p:cTn id="75" dur="500" tmFilter="0, 0; .2, .5; .8, .5; 1, 0"/>
                                        <p:tgtEl>
                                          <p:spTgt spid="62"/>
                                        </p:tgtEl>
                                      </p:cBhvr>
                                    </p:animEffect>
                                    <p:animScale>
                                      <p:cBhvr>
                                        <p:cTn id="76" dur="250" autoRev="1" fill="hold"/>
                                        <p:tgtEl>
                                          <p:spTgt spid="62"/>
                                        </p:tgtEl>
                                      </p:cBhvr>
                                      <p:by x="105000" y="105000"/>
                                    </p:animScale>
                                  </p:childTnLst>
                                </p:cTn>
                              </p:par>
                              <p:par>
                                <p:cTn id="77" presetID="26" presetClass="emph" presetSubtype="0" fill="hold" grpId="0" nodeType="withEffect">
                                  <p:stCondLst>
                                    <p:cond delay="0"/>
                                  </p:stCondLst>
                                  <p:childTnLst>
                                    <p:animEffect transition="out" filter="fade">
                                      <p:cBhvr>
                                        <p:cTn id="78" dur="500" tmFilter="0, 0; .2, .5; .8, .5; 1, 0"/>
                                        <p:tgtEl>
                                          <p:spTgt spid="63"/>
                                        </p:tgtEl>
                                      </p:cBhvr>
                                    </p:animEffect>
                                    <p:animScale>
                                      <p:cBhvr>
                                        <p:cTn id="79" dur="250" autoRev="1" fill="hold"/>
                                        <p:tgtEl>
                                          <p:spTgt spid="63"/>
                                        </p:tgtEl>
                                      </p:cBhvr>
                                      <p:by x="105000" y="105000"/>
                                    </p:animScale>
                                  </p:childTnLst>
                                </p:cTn>
                              </p:par>
                              <p:par>
                                <p:cTn id="80" presetID="26" presetClass="emph" presetSubtype="0" fill="hold" grpId="0" nodeType="withEffect">
                                  <p:stCondLst>
                                    <p:cond delay="0"/>
                                  </p:stCondLst>
                                  <p:childTnLst>
                                    <p:animEffect transition="out" filter="fade">
                                      <p:cBhvr>
                                        <p:cTn id="81" dur="500" tmFilter="0, 0; .2, .5; .8, .5; 1, 0"/>
                                        <p:tgtEl>
                                          <p:spTgt spid="64"/>
                                        </p:tgtEl>
                                      </p:cBhvr>
                                    </p:animEffect>
                                    <p:animScale>
                                      <p:cBhvr>
                                        <p:cTn id="82" dur="250" autoRev="1" fill="hold"/>
                                        <p:tgtEl>
                                          <p:spTgt spid="64"/>
                                        </p:tgtEl>
                                      </p:cBhvr>
                                      <p:by x="105000" y="105000"/>
                                    </p:animScale>
                                  </p:childTnLst>
                                </p:cTn>
                              </p:par>
                              <p:par>
                                <p:cTn id="83" presetID="1"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P spid="58" grpId="0" animBg="1"/>
      <p:bldP spid="59" grpId="0" animBg="1"/>
      <p:bldP spid="60" grpId="0" animBg="1"/>
      <p:bldP spid="61" grpId="0" animBg="1"/>
      <p:bldP spid="62" grpId="0" animBg="1"/>
      <p:bldP spid="63" grpId="0" animBg="1"/>
      <p:bldP spid="6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A125855-B733-2B08-176A-9DF5C17171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854971-1DA4-EEBF-A051-08B768C60B5F}"/>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14" name="Google Shape;180;p23">
            <a:extLst>
              <a:ext uri="{FF2B5EF4-FFF2-40B4-BE49-F238E27FC236}">
                <a16:creationId xmlns:a16="http://schemas.microsoft.com/office/drawing/2014/main" id="{05E67BC4-E9B2-3605-F291-6D5D33332174}"/>
              </a:ext>
            </a:extLst>
          </p:cNvPr>
          <p:cNvSpPr/>
          <p:nvPr/>
        </p:nvSpPr>
        <p:spPr>
          <a:xfrm>
            <a:off x="268596"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3212DA7A-4C72-E76E-2CC9-A478CAB3E240}"/>
              </a:ext>
            </a:extLst>
          </p:cNvPr>
          <p:cNvSpPr/>
          <p:nvPr/>
        </p:nvSpPr>
        <p:spPr>
          <a:xfrm>
            <a:off x="3162771" y="1145155"/>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2A431262-33C7-3651-A014-A1F36CAC2749}"/>
              </a:ext>
            </a:extLst>
          </p:cNvPr>
          <p:cNvSpPr/>
          <p:nvPr/>
        </p:nvSpPr>
        <p:spPr>
          <a:xfrm>
            <a:off x="5948421"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17BDA3DC-2308-3C31-D463-2A475F57BA9A}"/>
              </a:ext>
            </a:extLst>
          </p:cNvPr>
          <p:cNvSpPr/>
          <p:nvPr/>
        </p:nvSpPr>
        <p:spPr>
          <a:xfrm>
            <a:off x="492821" y="2780017"/>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white"/>
                </a:solidFill>
                <a:effectLst/>
                <a:uLnTx/>
                <a:uFillTx/>
                <a:latin typeface="Aptos" panose="02110004020202020204"/>
                <a:ea typeface="+mn-ea"/>
                <a:cs typeface="+mn-cs"/>
              </a:rPr>
              <a:t>Round Robin Packet Spraying</a:t>
            </a: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974434CC-1287-3BA1-141E-CC2B2A532D03}"/>
              </a:ext>
            </a:extLst>
          </p:cNvPr>
          <p:cNvSpPr/>
          <p:nvPr/>
        </p:nvSpPr>
        <p:spPr>
          <a:xfrm>
            <a:off x="3301971" y="2772842"/>
            <a:ext cx="22173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602C5289-55E0-5829-B693-7FB33E73ACF3}"/>
              </a:ext>
            </a:extLst>
          </p:cNvPr>
          <p:cNvSpPr/>
          <p:nvPr/>
        </p:nvSpPr>
        <p:spPr>
          <a:xfrm>
            <a:off x="6226821" y="2772842"/>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0B01591A-66FB-4809-3854-C94093FBF37C}"/>
              </a:ext>
            </a:extLst>
          </p:cNvPr>
          <p:cNvSpPr/>
          <p:nvPr/>
        </p:nvSpPr>
        <p:spPr>
          <a:xfrm>
            <a:off x="1158371" y="19589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9D1492FC-107B-37DF-3D3B-443D178D37D7}"/>
              </a:ext>
            </a:extLst>
          </p:cNvPr>
          <p:cNvSpPr/>
          <p:nvPr/>
        </p:nvSpPr>
        <p:spPr>
          <a:xfrm>
            <a:off x="4237071" y="19517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CFC978EE-B338-806E-6DA8-EE5C137FF44D}"/>
              </a:ext>
            </a:extLst>
          </p:cNvPr>
          <p:cNvSpPr/>
          <p:nvPr/>
        </p:nvSpPr>
        <p:spPr>
          <a:xfrm>
            <a:off x="7022721" y="1933892"/>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C9D18AC6-992A-436E-BAAE-2C2E6C573274}"/>
              </a:ext>
            </a:extLst>
          </p:cNvPr>
          <p:cNvSpPr/>
          <p:nvPr/>
        </p:nvSpPr>
        <p:spPr>
          <a:xfrm>
            <a:off x="9317883" y="595729"/>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878A44FD-59B3-7DE3-95CA-0F1A73AE43FA}"/>
              </a:ext>
            </a:extLst>
          </p:cNvPr>
          <p:cNvSpPr/>
          <p:nvPr/>
        </p:nvSpPr>
        <p:spPr>
          <a:xfrm>
            <a:off x="8746883" y="13145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8F909ECE-86EF-0867-D04A-164ADE26D8C5}"/>
              </a:ext>
            </a:extLst>
          </p:cNvPr>
          <p:cNvSpPr/>
          <p:nvPr/>
        </p:nvSpPr>
        <p:spPr>
          <a:xfrm>
            <a:off x="8103008"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EDD0E4EC-12FD-177B-59CA-20098DD5A092}"/>
              </a:ext>
            </a:extLst>
          </p:cNvPr>
          <p:cNvSpPr/>
          <p:nvPr/>
        </p:nvSpPr>
        <p:spPr>
          <a:xfrm>
            <a:off x="9071221"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B3CEA591-C865-3372-B0C1-C4AB4F0D6F76}"/>
              </a:ext>
            </a:extLst>
          </p:cNvPr>
          <p:cNvSpPr/>
          <p:nvPr/>
        </p:nvSpPr>
        <p:spPr>
          <a:xfrm>
            <a:off x="7828483"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971AC848-4D44-CC28-113C-D7CAF6BC801C}"/>
              </a:ext>
            </a:extLst>
          </p:cNvPr>
          <p:cNvSpPr/>
          <p:nvPr/>
        </p:nvSpPr>
        <p:spPr>
          <a:xfrm>
            <a:off x="8282258"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F799E622-D20F-4545-A135-247E2F80EEE7}"/>
              </a:ext>
            </a:extLst>
          </p:cNvPr>
          <p:cNvSpPr/>
          <p:nvPr/>
        </p:nvSpPr>
        <p:spPr>
          <a:xfrm>
            <a:off x="8774696"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246AF8D0-43AC-FE9F-EB15-44E707AD47FF}"/>
              </a:ext>
            </a:extLst>
          </p:cNvPr>
          <p:cNvSpPr/>
          <p:nvPr/>
        </p:nvSpPr>
        <p:spPr>
          <a:xfrm>
            <a:off x="9336533"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D50DF75B-526E-4DB1-D739-8218DDDDE943}"/>
              </a:ext>
            </a:extLst>
          </p:cNvPr>
          <p:cNvCxnSpPr>
            <a:cxnSpLocks/>
            <a:endCxn id="44" idx="6"/>
          </p:cNvCxnSpPr>
          <p:nvPr/>
        </p:nvCxnSpPr>
        <p:spPr>
          <a:xfrm flipH="1">
            <a:off x="9094283" y="981829"/>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DE66B632-4B59-196C-A369-7B7F046BFDE6}"/>
              </a:ext>
            </a:extLst>
          </p:cNvPr>
          <p:cNvCxnSpPr>
            <a:cxnSpLocks/>
            <a:stCxn id="44" idx="4"/>
            <a:endCxn id="45" idx="6"/>
          </p:cNvCxnSpPr>
          <p:nvPr/>
        </p:nvCxnSpPr>
        <p:spPr>
          <a:xfrm flipH="1">
            <a:off x="8450483" y="1697929"/>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FFD1D996-9C94-1B19-384D-C6268549AD39}"/>
              </a:ext>
            </a:extLst>
          </p:cNvPr>
          <p:cNvCxnSpPr>
            <a:cxnSpLocks/>
            <a:stCxn id="44" idx="4"/>
            <a:endCxn id="46" idx="2"/>
          </p:cNvCxnSpPr>
          <p:nvPr/>
        </p:nvCxnSpPr>
        <p:spPr>
          <a:xfrm>
            <a:off x="8920583" y="1697929"/>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933864C3-211E-3B50-A195-A4F2ECEF0AE6}"/>
              </a:ext>
            </a:extLst>
          </p:cNvPr>
          <p:cNvCxnSpPr>
            <a:cxnSpLocks/>
            <a:stCxn id="45" idx="4"/>
            <a:endCxn id="47" idx="7"/>
          </p:cNvCxnSpPr>
          <p:nvPr/>
        </p:nvCxnSpPr>
        <p:spPr>
          <a:xfrm flipH="1">
            <a:off x="8124908" y="2269904"/>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883F470A-00A9-F9FA-33AA-67A42292EFF0}"/>
              </a:ext>
            </a:extLst>
          </p:cNvPr>
          <p:cNvCxnSpPr>
            <a:cxnSpLocks/>
            <a:stCxn id="45" idx="4"/>
            <a:endCxn id="48" idx="1"/>
          </p:cNvCxnSpPr>
          <p:nvPr/>
        </p:nvCxnSpPr>
        <p:spPr>
          <a:xfrm>
            <a:off x="8276708" y="2269904"/>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1C839141-5219-5393-929C-E8F60145107B}"/>
              </a:ext>
            </a:extLst>
          </p:cNvPr>
          <p:cNvCxnSpPr>
            <a:cxnSpLocks/>
            <a:stCxn id="46" idx="4"/>
            <a:endCxn id="49" idx="7"/>
          </p:cNvCxnSpPr>
          <p:nvPr/>
        </p:nvCxnSpPr>
        <p:spPr>
          <a:xfrm flipH="1">
            <a:off x="9071221" y="2269904"/>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DBE8794A-E38C-E6A6-2F34-50B9E138EA82}"/>
              </a:ext>
            </a:extLst>
          </p:cNvPr>
          <p:cNvCxnSpPr>
            <a:cxnSpLocks/>
            <a:stCxn id="46" idx="4"/>
            <a:endCxn id="50" idx="1"/>
          </p:cNvCxnSpPr>
          <p:nvPr/>
        </p:nvCxnSpPr>
        <p:spPr>
          <a:xfrm>
            <a:off x="9244921" y="2269904"/>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BF7E9612-AE5B-C2BE-B6EE-994F268F218A}"/>
              </a:ext>
            </a:extLst>
          </p:cNvPr>
          <p:cNvSpPr/>
          <p:nvPr/>
        </p:nvSpPr>
        <p:spPr>
          <a:xfrm>
            <a:off x="10779183" y="1300692"/>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8D8F3E2B-7DC8-1BA8-BA8B-F8B43FF6CE60}"/>
              </a:ext>
            </a:extLst>
          </p:cNvPr>
          <p:cNvSpPr/>
          <p:nvPr/>
        </p:nvSpPr>
        <p:spPr>
          <a:xfrm>
            <a:off x="10333921" y="18069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411DDC1E-81D6-FBB3-B3B6-C0A1A95EAB01}"/>
              </a:ext>
            </a:extLst>
          </p:cNvPr>
          <p:cNvSpPr/>
          <p:nvPr/>
        </p:nvSpPr>
        <p:spPr>
          <a:xfrm>
            <a:off x="11299933" y="17708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61B1D633-0FD0-1977-A217-94AF75AAFE3E}"/>
              </a:ext>
            </a:extLst>
          </p:cNvPr>
          <p:cNvSpPr/>
          <p:nvPr/>
        </p:nvSpPr>
        <p:spPr>
          <a:xfrm>
            <a:off x="10049571"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F0BAE924-1531-7F3A-CDEC-F15B7374851E}"/>
              </a:ext>
            </a:extLst>
          </p:cNvPr>
          <p:cNvSpPr/>
          <p:nvPr/>
        </p:nvSpPr>
        <p:spPr>
          <a:xfrm>
            <a:off x="10543196"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3094A5BB-FFBF-E72B-ED95-9C5E4DD3AD92}"/>
              </a:ext>
            </a:extLst>
          </p:cNvPr>
          <p:cNvSpPr/>
          <p:nvPr/>
        </p:nvSpPr>
        <p:spPr>
          <a:xfrm>
            <a:off x="11070483"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0EA9679D-0EB3-8834-BCD0-4EB764166188}"/>
              </a:ext>
            </a:extLst>
          </p:cNvPr>
          <p:cNvSpPr/>
          <p:nvPr/>
        </p:nvSpPr>
        <p:spPr>
          <a:xfrm>
            <a:off x="11602171"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1EC25FC0-0B7A-E224-E7D0-A9457AD8C689}"/>
              </a:ext>
            </a:extLst>
          </p:cNvPr>
          <p:cNvCxnSpPr>
            <a:cxnSpLocks/>
            <a:stCxn id="58" idx="4"/>
            <a:endCxn id="59" idx="6"/>
          </p:cNvCxnSpPr>
          <p:nvPr/>
        </p:nvCxnSpPr>
        <p:spPr>
          <a:xfrm flipH="1">
            <a:off x="10681383" y="1684092"/>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980B5B5B-3FF9-825D-5B5D-04FE714DB278}"/>
              </a:ext>
            </a:extLst>
          </p:cNvPr>
          <p:cNvCxnSpPr>
            <a:cxnSpLocks/>
            <a:stCxn id="58" idx="4"/>
            <a:endCxn id="60" idx="2"/>
          </p:cNvCxnSpPr>
          <p:nvPr/>
        </p:nvCxnSpPr>
        <p:spPr>
          <a:xfrm>
            <a:off x="10952883" y="1684092"/>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52CAB459-3FEB-DB8B-6E0C-CFDC5B3C39B2}"/>
              </a:ext>
            </a:extLst>
          </p:cNvPr>
          <p:cNvCxnSpPr>
            <a:cxnSpLocks/>
            <a:stCxn id="59" idx="4"/>
            <a:endCxn id="61" idx="7"/>
          </p:cNvCxnSpPr>
          <p:nvPr/>
        </p:nvCxnSpPr>
        <p:spPr>
          <a:xfrm flipH="1">
            <a:off x="10346221" y="2190379"/>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9DBAD60A-3895-FFCC-EEBF-3205852E87CC}"/>
              </a:ext>
            </a:extLst>
          </p:cNvPr>
          <p:cNvCxnSpPr>
            <a:cxnSpLocks/>
            <a:stCxn id="59" idx="4"/>
            <a:endCxn id="62" idx="1"/>
          </p:cNvCxnSpPr>
          <p:nvPr/>
        </p:nvCxnSpPr>
        <p:spPr>
          <a:xfrm>
            <a:off x="10507621" y="2190379"/>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3A315756-4CD9-CC12-D59C-90C5E0B5D2EC}"/>
              </a:ext>
            </a:extLst>
          </p:cNvPr>
          <p:cNvCxnSpPr>
            <a:cxnSpLocks/>
            <a:stCxn id="60" idx="4"/>
            <a:endCxn id="63" idx="7"/>
          </p:cNvCxnSpPr>
          <p:nvPr/>
        </p:nvCxnSpPr>
        <p:spPr>
          <a:xfrm flipH="1">
            <a:off x="11367133" y="2154204"/>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D41BBE30-BB5B-850A-58E3-16C75711EF49}"/>
              </a:ext>
            </a:extLst>
          </p:cNvPr>
          <p:cNvCxnSpPr>
            <a:cxnSpLocks/>
            <a:stCxn id="60" idx="4"/>
            <a:endCxn id="64" idx="1"/>
          </p:cNvCxnSpPr>
          <p:nvPr/>
        </p:nvCxnSpPr>
        <p:spPr>
          <a:xfrm>
            <a:off x="11473633" y="2154204"/>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404F5841-0094-2FDD-9C0D-D67F03BE3738}"/>
              </a:ext>
            </a:extLst>
          </p:cNvPr>
          <p:cNvCxnSpPr>
            <a:cxnSpLocks/>
            <a:stCxn id="43" idx="4"/>
            <a:endCxn id="58" idx="2"/>
          </p:cNvCxnSpPr>
          <p:nvPr/>
        </p:nvCxnSpPr>
        <p:spPr>
          <a:xfrm>
            <a:off x="10222233" y="979129"/>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AE7D5AA9-91B3-3C82-8DA3-C962BF7BF500}"/>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95359389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B1D3885-CD0B-43F6-8F7C-BE71E7B22A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939A6D-FE76-2980-2105-68AB2F381EB3}"/>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14" name="Google Shape;180;p23">
            <a:extLst>
              <a:ext uri="{FF2B5EF4-FFF2-40B4-BE49-F238E27FC236}">
                <a16:creationId xmlns:a16="http://schemas.microsoft.com/office/drawing/2014/main" id="{3DDFDC85-1C4F-4F7C-CC78-726C433F49DA}"/>
              </a:ext>
            </a:extLst>
          </p:cNvPr>
          <p:cNvSpPr/>
          <p:nvPr/>
        </p:nvSpPr>
        <p:spPr>
          <a:xfrm>
            <a:off x="268596"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4271FC7A-8115-C216-95FA-3E213459A7B0}"/>
              </a:ext>
            </a:extLst>
          </p:cNvPr>
          <p:cNvSpPr/>
          <p:nvPr/>
        </p:nvSpPr>
        <p:spPr>
          <a:xfrm>
            <a:off x="3162771" y="1145155"/>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C3E28231-A724-9182-45B3-D62F374C148A}"/>
              </a:ext>
            </a:extLst>
          </p:cNvPr>
          <p:cNvSpPr/>
          <p:nvPr/>
        </p:nvSpPr>
        <p:spPr>
          <a:xfrm>
            <a:off x="5948421"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385C8897-899F-73B9-1320-3E4BA3406CEC}"/>
              </a:ext>
            </a:extLst>
          </p:cNvPr>
          <p:cNvSpPr/>
          <p:nvPr/>
        </p:nvSpPr>
        <p:spPr>
          <a:xfrm>
            <a:off x="362471" y="3892319"/>
            <a:ext cx="5585950" cy="750465"/>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800" b="0" i="0" u="none" strike="noStrike" kern="1200" cap="none" spc="0" normalizeH="0" baseline="0" noProof="0" dirty="0">
                <a:ln>
                  <a:noFill/>
                </a:ln>
                <a:solidFill>
                  <a:prstClr val="white"/>
                </a:solidFill>
                <a:effectLst/>
                <a:uLnTx/>
                <a:uFillTx/>
                <a:latin typeface="Aptos" panose="02110004020202020204"/>
                <a:ea typeface="+mn-ea"/>
                <a:cs typeface="+mn-cs"/>
              </a:rPr>
              <a:t>Round Robin Packet Spraying</a:t>
            </a:r>
            <a:endParaRPr kumimoji="0" sz="2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796AE246-27DF-19CA-D213-41634D0416AF}"/>
              </a:ext>
            </a:extLst>
          </p:cNvPr>
          <p:cNvSpPr/>
          <p:nvPr/>
        </p:nvSpPr>
        <p:spPr>
          <a:xfrm>
            <a:off x="3301971" y="2772842"/>
            <a:ext cx="22173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8CE89DDF-2D8F-686D-2BEF-1D79FF2E04F7}"/>
              </a:ext>
            </a:extLst>
          </p:cNvPr>
          <p:cNvSpPr/>
          <p:nvPr/>
        </p:nvSpPr>
        <p:spPr>
          <a:xfrm>
            <a:off x="6226821" y="2772842"/>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7FC7C541-7BD2-EA6D-DED6-1D17B23C836B}"/>
              </a:ext>
            </a:extLst>
          </p:cNvPr>
          <p:cNvSpPr/>
          <p:nvPr/>
        </p:nvSpPr>
        <p:spPr>
          <a:xfrm>
            <a:off x="1158371" y="19589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D940F081-7337-E458-584F-D858887C4266}"/>
              </a:ext>
            </a:extLst>
          </p:cNvPr>
          <p:cNvSpPr/>
          <p:nvPr/>
        </p:nvSpPr>
        <p:spPr>
          <a:xfrm>
            <a:off x="4237071" y="19517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12AF7C04-2D18-EEC1-59C8-6BDB79E9B6AC}"/>
              </a:ext>
            </a:extLst>
          </p:cNvPr>
          <p:cNvSpPr/>
          <p:nvPr/>
        </p:nvSpPr>
        <p:spPr>
          <a:xfrm>
            <a:off x="7022721" y="1933892"/>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DF9642AC-5987-19B8-46C8-B1A8CAA3E2E0}"/>
              </a:ext>
            </a:extLst>
          </p:cNvPr>
          <p:cNvSpPr/>
          <p:nvPr/>
        </p:nvSpPr>
        <p:spPr>
          <a:xfrm>
            <a:off x="9317883" y="595729"/>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9BFF484F-7214-68E9-AA75-DB38CA6D5B3A}"/>
              </a:ext>
            </a:extLst>
          </p:cNvPr>
          <p:cNvSpPr/>
          <p:nvPr/>
        </p:nvSpPr>
        <p:spPr>
          <a:xfrm>
            <a:off x="8746883" y="13145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AD4338E1-E2C5-36CD-D8DF-4020C6C1D54E}"/>
              </a:ext>
            </a:extLst>
          </p:cNvPr>
          <p:cNvSpPr/>
          <p:nvPr/>
        </p:nvSpPr>
        <p:spPr>
          <a:xfrm>
            <a:off x="8103008"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62BCB214-2742-04E5-DDF6-D59A2CD8D212}"/>
              </a:ext>
            </a:extLst>
          </p:cNvPr>
          <p:cNvSpPr/>
          <p:nvPr/>
        </p:nvSpPr>
        <p:spPr>
          <a:xfrm>
            <a:off x="9071221"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C0A55D26-123C-0E55-0D82-27A1DCC388D4}"/>
              </a:ext>
            </a:extLst>
          </p:cNvPr>
          <p:cNvSpPr/>
          <p:nvPr/>
        </p:nvSpPr>
        <p:spPr>
          <a:xfrm>
            <a:off x="7828483"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19511CDA-C7F9-0233-5688-A436BF7AD50A}"/>
              </a:ext>
            </a:extLst>
          </p:cNvPr>
          <p:cNvSpPr/>
          <p:nvPr/>
        </p:nvSpPr>
        <p:spPr>
          <a:xfrm>
            <a:off x="8282258"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D58F334A-D5DC-46A1-51B4-01B0621AE740}"/>
              </a:ext>
            </a:extLst>
          </p:cNvPr>
          <p:cNvSpPr/>
          <p:nvPr/>
        </p:nvSpPr>
        <p:spPr>
          <a:xfrm>
            <a:off x="8774696"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1FDD3246-C1B9-E70C-B23F-8A5BB36FCAE3}"/>
              </a:ext>
            </a:extLst>
          </p:cNvPr>
          <p:cNvSpPr/>
          <p:nvPr/>
        </p:nvSpPr>
        <p:spPr>
          <a:xfrm>
            <a:off x="9336533"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7AF15DFE-4D76-C789-2331-31BCA60982A0}"/>
              </a:ext>
            </a:extLst>
          </p:cNvPr>
          <p:cNvCxnSpPr>
            <a:cxnSpLocks/>
            <a:endCxn id="44" idx="6"/>
          </p:cNvCxnSpPr>
          <p:nvPr/>
        </p:nvCxnSpPr>
        <p:spPr>
          <a:xfrm flipH="1">
            <a:off x="9094283" y="981829"/>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270D5C42-8C4E-D6DF-BD11-1FB1F9FD099E}"/>
              </a:ext>
            </a:extLst>
          </p:cNvPr>
          <p:cNvCxnSpPr>
            <a:cxnSpLocks/>
            <a:stCxn id="44" idx="4"/>
            <a:endCxn id="45" idx="6"/>
          </p:cNvCxnSpPr>
          <p:nvPr/>
        </p:nvCxnSpPr>
        <p:spPr>
          <a:xfrm flipH="1">
            <a:off x="8450483" y="1697929"/>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4FECEAF8-EBF2-8278-5A6F-E4B29EABF253}"/>
              </a:ext>
            </a:extLst>
          </p:cNvPr>
          <p:cNvCxnSpPr>
            <a:cxnSpLocks/>
            <a:stCxn id="44" idx="4"/>
            <a:endCxn id="46" idx="2"/>
          </p:cNvCxnSpPr>
          <p:nvPr/>
        </p:nvCxnSpPr>
        <p:spPr>
          <a:xfrm>
            <a:off x="8920583" y="1697929"/>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AF5FC23D-19D7-9FBB-23DF-7A0BE3B7DB12}"/>
              </a:ext>
            </a:extLst>
          </p:cNvPr>
          <p:cNvCxnSpPr>
            <a:cxnSpLocks/>
            <a:stCxn id="45" idx="4"/>
            <a:endCxn id="47" idx="7"/>
          </p:cNvCxnSpPr>
          <p:nvPr/>
        </p:nvCxnSpPr>
        <p:spPr>
          <a:xfrm flipH="1">
            <a:off x="8124908" y="2269904"/>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A78F26CE-6F6D-2C1A-A672-A75A69A1E94F}"/>
              </a:ext>
            </a:extLst>
          </p:cNvPr>
          <p:cNvCxnSpPr>
            <a:cxnSpLocks/>
            <a:stCxn id="45" idx="4"/>
            <a:endCxn id="48" idx="1"/>
          </p:cNvCxnSpPr>
          <p:nvPr/>
        </p:nvCxnSpPr>
        <p:spPr>
          <a:xfrm>
            <a:off x="8276708" y="2269904"/>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717163FA-DC3F-92E7-FF7A-8BD2DB17CF92}"/>
              </a:ext>
            </a:extLst>
          </p:cNvPr>
          <p:cNvCxnSpPr>
            <a:cxnSpLocks/>
            <a:stCxn id="46" idx="4"/>
            <a:endCxn id="49" idx="7"/>
          </p:cNvCxnSpPr>
          <p:nvPr/>
        </p:nvCxnSpPr>
        <p:spPr>
          <a:xfrm flipH="1">
            <a:off x="9071221" y="2269904"/>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00D59E96-EDDD-0609-0FB4-66F19E88CE51}"/>
              </a:ext>
            </a:extLst>
          </p:cNvPr>
          <p:cNvCxnSpPr>
            <a:cxnSpLocks/>
            <a:stCxn id="46" idx="4"/>
            <a:endCxn id="50" idx="1"/>
          </p:cNvCxnSpPr>
          <p:nvPr/>
        </p:nvCxnSpPr>
        <p:spPr>
          <a:xfrm>
            <a:off x="9244921" y="2269904"/>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9B41A4FC-6CD0-8FE1-E081-3183FECE9E20}"/>
              </a:ext>
            </a:extLst>
          </p:cNvPr>
          <p:cNvSpPr/>
          <p:nvPr/>
        </p:nvSpPr>
        <p:spPr>
          <a:xfrm>
            <a:off x="10779183" y="1300692"/>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1F02F01E-C397-D157-C9DF-2E09CBCD414C}"/>
              </a:ext>
            </a:extLst>
          </p:cNvPr>
          <p:cNvSpPr/>
          <p:nvPr/>
        </p:nvSpPr>
        <p:spPr>
          <a:xfrm>
            <a:off x="10333921" y="18069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7DECCBED-9668-B2FE-2901-98904087C77F}"/>
              </a:ext>
            </a:extLst>
          </p:cNvPr>
          <p:cNvSpPr/>
          <p:nvPr/>
        </p:nvSpPr>
        <p:spPr>
          <a:xfrm>
            <a:off x="11299933" y="17708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880576F0-B38E-0795-9D2E-A57FFA58381F}"/>
              </a:ext>
            </a:extLst>
          </p:cNvPr>
          <p:cNvSpPr/>
          <p:nvPr/>
        </p:nvSpPr>
        <p:spPr>
          <a:xfrm>
            <a:off x="10049571"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95B1BA10-B380-00C9-1FE1-2EB87F6C9AB9}"/>
              </a:ext>
            </a:extLst>
          </p:cNvPr>
          <p:cNvSpPr/>
          <p:nvPr/>
        </p:nvSpPr>
        <p:spPr>
          <a:xfrm>
            <a:off x="10543196"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545ECD0F-9798-8B95-B887-9DE021AC07AD}"/>
              </a:ext>
            </a:extLst>
          </p:cNvPr>
          <p:cNvSpPr/>
          <p:nvPr/>
        </p:nvSpPr>
        <p:spPr>
          <a:xfrm>
            <a:off x="11070483"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9509EA26-37A4-B77B-BF56-2324F3F5D490}"/>
              </a:ext>
            </a:extLst>
          </p:cNvPr>
          <p:cNvSpPr/>
          <p:nvPr/>
        </p:nvSpPr>
        <p:spPr>
          <a:xfrm>
            <a:off x="11602171"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28C25FB2-8FD8-7CE0-55BF-9306CB01B383}"/>
              </a:ext>
            </a:extLst>
          </p:cNvPr>
          <p:cNvCxnSpPr>
            <a:cxnSpLocks/>
            <a:stCxn id="58" idx="4"/>
            <a:endCxn id="59" idx="6"/>
          </p:cNvCxnSpPr>
          <p:nvPr/>
        </p:nvCxnSpPr>
        <p:spPr>
          <a:xfrm flipH="1">
            <a:off x="10681383" y="1684092"/>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E4D48159-90E7-906A-CEC9-93F38B5C28FF}"/>
              </a:ext>
            </a:extLst>
          </p:cNvPr>
          <p:cNvCxnSpPr>
            <a:cxnSpLocks/>
            <a:stCxn id="58" idx="4"/>
            <a:endCxn id="60" idx="2"/>
          </p:cNvCxnSpPr>
          <p:nvPr/>
        </p:nvCxnSpPr>
        <p:spPr>
          <a:xfrm>
            <a:off x="10952883" y="1684092"/>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15F7CCDF-6E64-9A2C-AF6A-75A2A6DC7409}"/>
              </a:ext>
            </a:extLst>
          </p:cNvPr>
          <p:cNvCxnSpPr>
            <a:cxnSpLocks/>
            <a:stCxn id="59" idx="4"/>
            <a:endCxn id="61" idx="7"/>
          </p:cNvCxnSpPr>
          <p:nvPr/>
        </p:nvCxnSpPr>
        <p:spPr>
          <a:xfrm flipH="1">
            <a:off x="10346221" y="2190379"/>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9F88D721-B0AD-8C6E-B2F4-9D12067224B9}"/>
              </a:ext>
            </a:extLst>
          </p:cNvPr>
          <p:cNvCxnSpPr>
            <a:cxnSpLocks/>
            <a:stCxn id="59" idx="4"/>
            <a:endCxn id="62" idx="1"/>
          </p:cNvCxnSpPr>
          <p:nvPr/>
        </p:nvCxnSpPr>
        <p:spPr>
          <a:xfrm>
            <a:off x="10507621" y="2190379"/>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C5FE45AA-3270-F4D1-8922-DB39AA132456}"/>
              </a:ext>
            </a:extLst>
          </p:cNvPr>
          <p:cNvCxnSpPr>
            <a:cxnSpLocks/>
            <a:stCxn id="60" idx="4"/>
            <a:endCxn id="63" idx="7"/>
          </p:cNvCxnSpPr>
          <p:nvPr/>
        </p:nvCxnSpPr>
        <p:spPr>
          <a:xfrm flipH="1">
            <a:off x="11367133" y="2154204"/>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6213EBC8-628E-3EB2-6F8E-56736A38274E}"/>
              </a:ext>
            </a:extLst>
          </p:cNvPr>
          <p:cNvCxnSpPr>
            <a:cxnSpLocks/>
            <a:stCxn id="60" idx="4"/>
            <a:endCxn id="64" idx="1"/>
          </p:cNvCxnSpPr>
          <p:nvPr/>
        </p:nvCxnSpPr>
        <p:spPr>
          <a:xfrm>
            <a:off x="11473633" y="2154204"/>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9537AAD6-7530-14A0-1174-4D099984C3BD}"/>
              </a:ext>
            </a:extLst>
          </p:cNvPr>
          <p:cNvCxnSpPr>
            <a:cxnSpLocks/>
            <a:stCxn id="43" idx="4"/>
            <a:endCxn id="58" idx="2"/>
          </p:cNvCxnSpPr>
          <p:nvPr/>
        </p:nvCxnSpPr>
        <p:spPr>
          <a:xfrm>
            <a:off x="10222233" y="979129"/>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F848E462-C8ED-2BBB-7D6A-2EBD90BA8BC8}"/>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4" name="TextBox 3">
            <a:extLst>
              <a:ext uri="{FF2B5EF4-FFF2-40B4-BE49-F238E27FC236}">
                <a16:creationId xmlns:a16="http://schemas.microsoft.com/office/drawing/2014/main" id="{8F630360-4412-1127-17DA-52D03B76CFF8}"/>
              </a:ext>
            </a:extLst>
          </p:cNvPr>
          <p:cNvSpPr txBox="1"/>
          <p:nvPr/>
        </p:nvSpPr>
        <p:spPr>
          <a:xfrm>
            <a:off x="1192817" y="4628748"/>
            <a:ext cx="9877666"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highlight>
                  <a:srgbClr val="FF0000"/>
                </a:highlight>
              </a:rPr>
              <a:t>Latency spikes affect some links for some short interval of time</a:t>
            </a:r>
          </a:p>
          <a:p>
            <a:pPr marL="342900" indent="-342900">
              <a:buFont typeface="Arial" panose="020B0604020202020204" pitchFamily="34" charset="0"/>
              <a:buChar char="•"/>
            </a:pPr>
            <a:r>
              <a:rPr lang="en-US" sz="2400" dirty="0">
                <a:highlight>
                  <a:srgbClr val="00FF00"/>
                </a:highlight>
              </a:rPr>
              <a:t>RRPS dynamically adjusts parent-child relationships after each message</a:t>
            </a:r>
          </a:p>
          <a:p>
            <a:pPr marL="342900" indent="-342900">
              <a:buFont typeface="Arial" panose="020B0604020202020204" pitchFamily="34" charset="0"/>
              <a:buChar char="•"/>
            </a:pPr>
            <a:r>
              <a:rPr lang="en-US" sz="2400" dirty="0">
                <a:highlight>
                  <a:srgbClr val="00FF00"/>
                </a:highlight>
              </a:rPr>
              <a:t>No link is used for a consecutive sequence of messages</a:t>
            </a:r>
          </a:p>
          <a:p>
            <a:pPr marL="342900" indent="-342900">
              <a:buFont typeface="Arial" panose="020B0604020202020204" pitchFamily="34" charset="0"/>
              <a:buChar char="•"/>
            </a:pPr>
            <a:r>
              <a:rPr lang="en-US" sz="2400" dirty="0">
                <a:highlight>
                  <a:srgbClr val="00FF00"/>
                </a:highlight>
              </a:rPr>
              <a:t>Latency spike is only able to affect a small number of messages</a:t>
            </a:r>
          </a:p>
        </p:txBody>
      </p:sp>
    </p:spTree>
    <p:extLst>
      <p:ext uri="{BB962C8B-B14F-4D97-AF65-F5344CB8AC3E}">
        <p14:creationId xmlns:p14="http://schemas.microsoft.com/office/powerpoint/2010/main" val="12333178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C1AB244-ECF3-A741-27B8-663F248AF0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85DA82-B5CD-B65D-C037-5018A3E8FEDA}"/>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14" name="Google Shape;180;p23">
            <a:extLst>
              <a:ext uri="{FF2B5EF4-FFF2-40B4-BE49-F238E27FC236}">
                <a16:creationId xmlns:a16="http://schemas.microsoft.com/office/drawing/2014/main" id="{257A9D84-CD25-EF80-6B0B-A344B421013B}"/>
              </a:ext>
            </a:extLst>
          </p:cNvPr>
          <p:cNvSpPr/>
          <p:nvPr/>
        </p:nvSpPr>
        <p:spPr>
          <a:xfrm>
            <a:off x="268596"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2435AD77-DA4E-C376-A300-318A32061E03}"/>
              </a:ext>
            </a:extLst>
          </p:cNvPr>
          <p:cNvSpPr/>
          <p:nvPr/>
        </p:nvSpPr>
        <p:spPr>
          <a:xfrm>
            <a:off x="3162771" y="1145155"/>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638B74F3-2142-8B04-DB73-9302DF16F245}"/>
              </a:ext>
            </a:extLst>
          </p:cNvPr>
          <p:cNvSpPr/>
          <p:nvPr/>
        </p:nvSpPr>
        <p:spPr>
          <a:xfrm>
            <a:off x="5948421"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7410CEC8-2854-4051-DFC4-57F3F6CC5475}"/>
              </a:ext>
            </a:extLst>
          </p:cNvPr>
          <p:cNvSpPr/>
          <p:nvPr/>
        </p:nvSpPr>
        <p:spPr>
          <a:xfrm>
            <a:off x="492821" y="2780017"/>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white"/>
                </a:solidFill>
                <a:effectLst/>
                <a:uLnTx/>
                <a:uFillTx/>
                <a:latin typeface="Aptos" panose="02110004020202020204"/>
                <a:ea typeface="+mn-ea"/>
                <a:cs typeface="+mn-cs"/>
              </a:rPr>
              <a:t>Round Robin Packet Spraying</a:t>
            </a: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907FD64F-FDBF-BF7F-4DF1-A68D802632FD}"/>
              </a:ext>
            </a:extLst>
          </p:cNvPr>
          <p:cNvSpPr/>
          <p:nvPr/>
        </p:nvSpPr>
        <p:spPr>
          <a:xfrm>
            <a:off x="581553" y="3746548"/>
            <a:ext cx="7420630" cy="10594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32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439B3E02-6E29-8026-DFBA-17A490C5D0B3}"/>
              </a:ext>
            </a:extLst>
          </p:cNvPr>
          <p:cNvSpPr/>
          <p:nvPr/>
        </p:nvSpPr>
        <p:spPr>
          <a:xfrm>
            <a:off x="6226821" y="2772842"/>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D1429762-C8A3-49BC-1EB5-9DBC09C198F0}"/>
              </a:ext>
            </a:extLst>
          </p:cNvPr>
          <p:cNvSpPr/>
          <p:nvPr/>
        </p:nvSpPr>
        <p:spPr>
          <a:xfrm>
            <a:off x="1158371" y="19589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A3B5B128-A278-FA6E-2521-075ADE03FACE}"/>
              </a:ext>
            </a:extLst>
          </p:cNvPr>
          <p:cNvSpPr/>
          <p:nvPr/>
        </p:nvSpPr>
        <p:spPr>
          <a:xfrm>
            <a:off x="4237071" y="19517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277F207D-DEB7-C08E-C4E4-D5C21227FE41}"/>
              </a:ext>
            </a:extLst>
          </p:cNvPr>
          <p:cNvSpPr/>
          <p:nvPr/>
        </p:nvSpPr>
        <p:spPr>
          <a:xfrm>
            <a:off x="7022721" y="1933892"/>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1348279C-6ECC-19DA-11FE-F17F4EDD7599}"/>
              </a:ext>
            </a:extLst>
          </p:cNvPr>
          <p:cNvSpPr/>
          <p:nvPr/>
        </p:nvSpPr>
        <p:spPr>
          <a:xfrm>
            <a:off x="9317883" y="595729"/>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13A137EC-798B-AB3F-35FA-25757D6EA075}"/>
              </a:ext>
            </a:extLst>
          </p:cNvPr>
          <p:cNvSpPr/>
          <p:nvPr/>
        </p:nvSpPr>
        <p:spPr>
          <a:xfrm>
            <a:off x="8746883" y="13145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8624D8F8-A304-515E-9DC1-4D90743BE15F}"/>
              </a:ext>
            </a:extLst>
          </p:cNvPr>
          <p:cNvSpPr/>
          <p:nvPr/>
        </p:nvSpPr>
        <p:spPr>
          <a:xfrm>
            <a:off x="8103008"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A5B6EECD-C309-BBF1-1DBB-017B3843D9B5}"/>
              </a:ext>
            </a:extLst>
          </p:cNvPr>
          <p:cNvSpPr/>
          <p:nvPr/>
        </p:nvSpPr>
        <p:spPr>
          <a:xfrm>
            <a:off x="9071221"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360A3346-BF47-BC76-E3F6-BB8FF890F313}"/>
              </a:ext>
            </a:extLst>
          </p:cNvPr>
          <p:cNvSpPr/>
          <p:nvPr/>
        </p:nvSpPr>
        <p:spPr>
          <a:xfrm>
            <a:off x="7828483"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61F1C220-80BA-13E1-71B0-37A4AFA5FCC3}"/>
              </a:ext>
            </a:extLst>
          </p:cNvPr>
          <p:cNvSpPr/>
          <p:nvPr/>
        </p:nvSpPr>
        <p:spPr>
          <a:xfrm>
            <a:off x="8282258"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198CD4CA-96C0-06B9-9C1F-C7B20D4919BB}"/>
              </a:ext>
            </a:extLst>
          </p:cNvPr>
          <p:cNvSpPr/>
          <p:nvPr/>
        </p:nvSpPr>
        <p:spPr>
          <a:xfrm>
            <a:off x="8774696"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E926632C-0500-A7C8-F856-27E3042D237B}"/>
              </a:ext>
            </a:extLst>
          </p:cNvPr>
          <p:cNvSpPr/>
          <p:nvPr/>
        </p:nvSpPr>
        <p:spPr>
          <a:xfrm>
            <a:off x="9336533"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A3158CA5-EA4E-6269-C88D-6E6626337078}"/>
              </a:ext>
            </a:extLst>
          </p:cNvPr>
          <p:cNvCxnSpPr>
            <a:cxnSpLocks/>
            <a:endCxn id="44" idx="6"/>
          </p:cNvCxnSpPr>
          <p:nvPr/>
        </p:nvCxnSpPr>
        <p:spPr>
          <a:xfrm flipH="1">
            <a:off x="9094283" y="981829"/>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1802AD4D-ADE7-618C-C58A-301848AA3639}"/>
              </a:ext>
            </a:extLst>
          </p:cNvPr>
          <p:cNvCxnSpPr>
            <a:cxnSpLocks/>
            <a:stCxn id="44" idx="4"/>
            <a:endCxn id="45" idx="6"/>
          </p:cNvCxnSpPr>
          <p:nvPr/>
        </p:nvCxnSpPr>
        <p:spPr>
          <a:xfrm flipH="1">
            <a:off x="8450483" y="1697929"/>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6A00D6F4-B827-9CDB-22B7-13C81DA62DBA}"/>
              </a:ext>
            </a:extLst>
          </p:cNvPr>
          <p:cNvCxnSpPr>
            <a:cxnSpLocks/>
            <a:stCxn id="44" idx="4"/>
            <a:endCxn id="46" idx="2"/>
          </p:cNvCxnSpPr>
          <p:nvPr/>
        </p:nvCxnSpPr>
        <p:spPr>
          <a:xfrm>
            <a:off x="8920583" y="1697929"/>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C4B69DF9-F194-186D-574E-A9066B07134F}"/>
              </a:ext>
            </a:extLst>
          </p:cNvPr>
          <p:cNvCxnSpPr>
            <a:cxnSpLocks/>
            <a:stCxn id="45" idx="4"/>
            <a:endCxn id="47" idx="7"/>
          </p:cNvCxnSpPr>
          <p:nvPr/>
        </p:nvCxnSpPr>
        <p:spPr>
          <a:xfrm flipH="1">
            <a:off x="8124908" y="2269904"/>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C65F0875-256D-6598-F578-E413DB383A2D}"/>
              </a:ext>
            </a:extLst>
          </p:cNvPr>
          <p:cNvCxnSpPr>
            <a:cxnSpLocks/>
            <a:stCxn id="45" idx="4"/>
            <a:endCxn id="48" idx="1"/>
          </p:cNvCxnSpPr>
          <p:nvPr/>
        </p:nvCxnSpPr>
        <p:spPr>
          <a:xfrm>
            <a:off x="8276708" y="2269904"/>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EF05BA2D-3F53-F853-C268-F0E2D252288F}"/>
              </a:ext>
            </a:extLst>
          </p:cNvPr>
          <p:cNvCxnSpPr>
            <a:cxnSpLocks/>
            <a:stCxn id="46" idx="4"/>
            <a:endCxn id="49" idx="7"/>
          </p:cNvCxnSpPr>
          <p:nvPr/>
        </p:nvCxnSpPr>
        <p:spPr>
          <a:xfrm flipH="1">
            <a:off x="9071221" y="2269904"/>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7FF100E9-EF4C-D89F-7A12-10A7F1FC0504}"/>
              </a:ext>
            </a:extLst>
          </p:cNvPr>
          <p:cNvCxnSpPr>
            <a:cxnSpLocks/>
            <a:stCxn id="46" idx="4"/>
            <a:endCxn id="50" idx="1"/>
          </p:cNvCxnSpPr>
          <p:nvPr/>
        </p:nvCxnSpPr>
        <p:spPr>
          <a:xfrm>
            <a:off x="9244921" y="2269904"/>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9BE50391-3DE4-697C-FDDB-64496BB656C3}"/>
              </a:ext>
            </a:extLst>
          </p:cNvPr>
          <p:cNvSpPr/>
          <p:nvPr/>
        </p:nvSpPr>
        <p:spPr>
          <a:xfrm>
            <a:off x="10779183" y="1300692"/>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47B67AD6-BD98-D14B-590E-B86C784E8B92}"/>
              </a:ext>
            </a:extLst>
          </p:cNvPr>
          <p:cNvSpPr/>
          <p:nvPr/>
        </p:nvSpPr>
        <p:spPr>
          <a:xfrm>
            <a:off x="10333921" y="18069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D0180D1C-A425-54DF-1A1C-CE2428CC4935}"/>
              </a:ext>
            </a:extLst>
          </p:cNvPr>
          <p:cNvSpPr/>
          <p:nvPr/>
        </p:nvSpPr>
        <p:spPr>
          <a:xfrm>
            <a:off x="11299933" y="17708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50D4E6D6-E9ED-A3A7-B173-D616F5E3A619}"/>
              </a:ext>
            </a:extLst>
          </p:cNvPr>
          <p:cNvSpPr/>
          <p:nvPr/>
        </p:nvSpPr>
        <p:spPr>
          <a:xfrm>
            <a:off x="10049571"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7E8AEE32-7440-15E9-16E7-5DED46D8E9B2}"/>
              </a:ext>
            </a:extLst>
          </p:cNvPr>
          <p:cNvSpPr/>
          <p:nvPr/>
        </p:nvSpPr>
        <p:spPr>
          <a:xfrm>
            <a:off x="10543196"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3B70798C-8FF4-80B5-984C-7EE7CCF0218C}"/>
              </a:ext>
            </a:extLst>
          </p:cNvPr>
          <p:cNvSpPr/>
          <p:nvPr/>
        </p:nvSpPr>
        <p:spPr>
          <a:xfrm>
            <a:off x="11070483"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268E6C40-D118-EB37-E8BC-C34FAE14A9FF}"/>
              </a:ext>
            </a:extLst>
          </p:cNvPr>
          <p:cNvSpPr/>
          <p:nvPr/>
        </p:nvSpPr>
        <p:spPr>
          <a:xfrm>
            <a:off x="11602171"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8479134F-136A-97D3-BBC3-A8C2CD93CFEF}"/>
              </a:ext>
            </a:extLst>
          </p:cNvPr>
          <p:cNvCxnSpPr>
            <a:cxnSpLocks/>
            <a:stCxn id="58" idx="4"/>
            <a:endCxn id="59" idx="6"/>
          </p:cNvCxnSpPr>
          <p:nvPr/>
        </p:nvCxnSpPr>
        <p:spPr>
          <a:xfrm flipH="1">
            <a:off x="10681383" y="1684092"/>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13BCD89B-B432-C1C1-E98F-1B971E9361CD}"/>
              </a:ext>
            </a:extLst>
          </p:cNvPr>
          <p:cNvCxnSpPr>
            <a:cxnSpLocks/>
            <a:stCxn id="58" idx="4"/>
            <a:endCxn id="60" idx="2"/>
          </p:cNvCxnSpPr>
          <p:nvPr/>
        </p:nvCxnSpPr>
        <p:spPr>
          <a:xfrm>
            <a:off x="10952883" y="1684092"/>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C6F66C3B-CA63-D7DD-F9B0-FB3A5804116A}"/>
              </a:ext>
            </a:extLst>
          </p:cNvPr>
          <p:cNvCxnSpPr>
            <a:cxnSpLocks/>
            <a:stCxn id="59" idx="4"/>
            <a:endCxn id="61" idx="7"/>
          </p:cNvCxnSpPr>
          <p:nvPr/>
        </p:nvCxnSpPr>
        <p:spPr>
          <a:xfrm flipH="1">
            <a:off x="10346221" y="2190379"/>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E9244500-A4CE-6798-BABD-CB1EC11D9118}"/>
              </a:ext>
            </a:extLst>
          </p:cNvPr>
          <p:cNvCxnSpPr>
            <a:cxnSpLocks/>
            <a:stCxn id="59" idx="4"/>
            <a:endCxn id="62" idx="1"/>
          </p:cNvCxnSpPr>
          <p:nvPr/>
        </p:nvCxnSpPr>
        <p:spPr>
          <a:xfrm>
            <a:off x="10507621" y="2190379"/>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9CB29D03-6637-2AD3-47AF-C5E9A400AB48}"/>
              </a:ext>
            </a:extLst>
          </p:cNvPr>
          <p:cNvCxnSpPr>
            <a:cxnSpLocks/>
            <a:stCxn id="60" idx="4"/>
            <a:endCxn id="63" idx="7"/>
          </p:cNvCxnSpPr>
          <p:nvPr/>
        </p:nvCxnSpPr>
        <p:spPr>
          <a:xfrm flipH="1">
            <a:off x="11367133" y="2154204"/>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8339A7A0-4F1C-4245-FC9E-557DCDB14EC5}"/>
              </a:ext>
            </a:extLst>
          </p:cNvPr>
          <p:cNvCxnSpPr>
            <a:cxnSpLocks/>
            <a:stCxn id="60" idx="4"/>
            <a:endCxn id="64" idx="1"/>
          </p:cNvCxnSpPr>
          <p:nvPr/>
        </p:nvCxnSpPr>
        <p:spPr>
          <a:xfrm>
            <a:off x="11473633" y="2154204"/>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BB7AF242-B00F-F359-99D9-A2E08620B7FD}"/>
              </a:ext>
            </a:extLst>
          </p:cNvPr>
          <p:cNvCxnSpPr>
            <a:cxnSpLocks/>
            <a:stCxn id="43" idx="4"/>
            <a:endCxn id="58" idx="2"/>
          </p:cNvCxnSpPr>
          <p:nvPr/>
        </p:nvCxnSpPr>
        <p:spPr>
          <a:xfrm>
            <a:off x="10222233" y="979129"/>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C2F455DD-90E1-1D45-A8C4-1FF85067B1D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4" name="TextBox 3">
            <a:extLst>
              <a:ext uri="{FF2B5EF4-FFF2-40B4-BE49-F238E27FC236}">
                <a16:creationId xmlns:a16="http://schemas.microsoft.com/office/drawing/2014/main" id="{7BC26A72-B9AB-1861-796C-B3CE045D89BC}"/>
              </a:ext>
            </a:extLst>
          </p:cNvPr>
          <p:cNvSpPr txBox="1"/>
          <p:nvPr/>
        </p:nvSpPr>
        <p:spPr>
          <a:xfrm>
            <a:off x="929770" y="4797996"/>
            <a:ext cx="10846101"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highlight>
                  <a:srgbClr val="FF0000"/>
                </a:highlight>
              </a:rPr>
              <a:t>Proxies can show straggler behavior, delaying the forwarding of a message</a:t>
            </a:r>
          </a:p>
          <a:p>
            <a:pPr marL="342900" indent="-342900">
              <a:buFont typeface="Arial" panose="020B0604020202020204" pitchFamily="34" charset="0"/>
              <a:buChar char="•"/>
            </a:pPr>
            <a:r>
              <a:rPr lang="en-US" sz="2400" dirty="0">
                <a:highlight>
                  <a:srgbClr val="00FF00"/>
                </a:highlight>
              </a:rPr>
              <a:t>Each proxy node gets multiple parents, each parent sends a copy of message to the child node</a:t>
            </a:r>
          </a:p>
          <a:p>
            <a:pPr marL="342900" indent="-342900">
              <a:buFont typeface="Arial" panose="020B0604020202020204" pitchFamily="34" charset="0"/>
              <a:buChar char="•"/>
            </a:pPr>
            <a:r>
              <a:rPr lang="en-US" sz="2400" dirty="0">
                <a:highlight>
                  <a:srgbClr val="00FF00"/>
                </a:highlight>
              </a:rPr>
              <a:t>If one parent is a straggler, some other parent may be healthy</a:t>
            </a:r>
          </a:p>
        </p:txBody>
      </p:sp>
    </p:spTree>
    <p:extLst>
      <p:ext uri="{BB962C8B-B14F-4D97-AF65-F5344CB8AC3E}">
        <p14:creationId xmlns:p14="http://schemas.microsoft.com/office/powerpoint/2010/main" val="119519264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1097D3A-C684-EE17-C188-F42B3BEEF6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E4512A-0222-5958-4C1F-81503E9E8D63}"/>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14" name="Google Shape;180;p23">
            <a:extLst>
              <a:ext uri="{FF2B5EF4-FFF2-40B4-BE49-F238E27FC236}">
                <a16:creationId xmlns:a16="http://schemas.microsoft.com/office/drawing/2014/main" id="{CB89D26B-E10A-999E-6B4A-1B73385BA166}"/>
              </a:ext>
            </a:extLst>
          </p:cNvPr>
          <p:cNvSpPr/>
          <p:nvPr/>
        </p:nvSpPr>
        <p:spPr>
          <a:xfrm>
            <a:off x="268596"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68EAB3E9-CA7C-F973-1498-F49A75374B01}"/>
              </a:ext>
            </a:extLst>
          </p:cNvPr>
          <p:cNvSpPr/>
          <p:nvPr/>
        </p:nvSpPr>
        <p:spPr>
          <a:xfrm>
            <a:off x="3162771" y="1145155"/>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FA0DEADC-F87A-E951-B45F-630840EACBCA}"/>
              </a:ext>
            </a:extLst>
          </p:cNvPr>
          <p:cNvSpPr/>
          <p:nvPr/>
        </p:nvSpPr>
        <p:spPr>
          <a:xfrm>
            <a:off x="5948421"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5B843428-E891-64D1-100C-2CA38DF70E9F}"/>
              </a:ext>
            </a:extLst>
          </p:cNvPr>
          <p:cNvSpPr/>
          <p:nvPr/>
        </p:nvSpPr>
        <p:spPr>
          <a:xfrm>
            <a:off x="492821" y="2780017"/>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white"/>
                </a:solidFill>
                <a:effectLst/>
                <a:uLnTx/>
                <a:uFillTx/>
                <a:latin typeface="Aptos" panose="02110004020202020204"/>
                <a:ea typeface="+mn-ea"/>
                <a:cs typeface="+mn-cs"/>
              </a:rPr>
              <a:t>Round Robin Packet Spraying</a:t>
            </a: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0D9B4B0C-1661-D6A4-013B-CDDC0DB5E5B5}"/>
              </a:ext>
            </a:extLst>
          </p:cNvPr>
          <p:cNvSpPr/>
          <p:nvPr/>
        </p:nvSpPr>
        <p:spPr>
          <a:xfrm>
            <a:off x="3301971" y="2772842"/>
            <a:ext cx="22173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873F2D60-8CB9-13CE-859C-98B6D2BF88FA}"/>
              </a:ext>
            </a:extLst>
          </p:cNvPr>
          <p:cNvSpPr/>
          <p:nvPr/>
        </p:nvSpPr>
        <p:spPr>
          <a:xfrm>
            <a:off x="1542622" y="3838635"/>
            <a:ext cx="6734086" cy="907249"/>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44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4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12D8B368-85BC-5BCE-1B5D-0BD334569B81}"/>
              </a:ext>
            </a:extLst>
          </p:cNvPr>
          <p:cNvSpPr/>
          <p:nvPr/>
        </p:nvSpPr>
        <p:spPr>
          <a:xfrm>
            <a:off x="1158371" y="19589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CCF0D6D3-8EA8-6C7A-E498-3281D3EC95AF}"/>
              </a:ext>
            </a:extLst>
          </p:cNvPr>
          <p:cNvSpPr/>
          <p:nvPr/>
        </p:nvSpPr>
        <p:spPr>
          <a:xfrm>
            <a:off x="4237071" y="19517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A3C03CE8-A136-4F9E-7A26-F771DF96D8A5}"/>
              </a:ext>
            </a:extLst>
          </p:cNvPr>
          <p:cNvSpPr/>
          <p:nvPr/>
        </p:nvSpPr>
        <p:spPr>
          <a:xfrm>
            <a:off x="7022721" y="1933892"/>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02519C8F-CD97-F20A-E73C-95A1605DC8DF}"/>
              </a:ext>
            </a:extLst>
          </p:cNvPr>
          <p:cNvSpPr/>
          <p:nvPr/>
        </p:nvSpPr>
        <p:spPr>
          <a:xfrm>
            <a:off x="9317883" y="595729"/>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F85C145F-B246-3BA6-C4D2-AF9494EC8F99}"/>
              </a:ext>
            </a:extLst>
          </p:cNvPr>
          <p:cNvSpPr/>
          <p:nvPr/>
        </p:nvSpPr>
        <p:spPr>
          <a:xfrm>
            <a:off x="8746883" y="13145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96B7F8B9-0CD5-F712-42EC-F4CA6BA5D636}"/>
              </a:ext>
            </a:extLst>
          </p:cNvPr>
          <p:cNvSpPr/>
          <p:nvPr/>
        </p:nvSpPr>
        <p:spPr>
          <a:xfrm>
            <a:off x="8103008"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93909CC4-BF69-61B3-91DD-7A7AEB7D2BE9}"/>
              </a:ext>
            </a:extLst>
          </p:cNvPr>
          <p:cNvSpPr/>
          <p:nvPr/>
        </p:nvSpPr>
        <p:spPr>
          <a:xfrm>
            <a:off x="9071221"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7F2C910D-C573-52B1-6ECA-0EAA403FE8AC}"/>
              </a:ext>
            </a:extLst>
          </p:cNvPr>
          <p:cNvSpPr/>
          <p:nvPr/>
        </p:nvSpPr>
        <p:spPr>
          <a:xfrm>
            <a:off x="7828483"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0B4D5232-F7C4-2173-6771-6202036E0AB8}"/>
              </a:ext>
            </a:extLst>
          </p:cNvPr>
          <p:cNvSpPr/>
          <p:nvPr/>
        </p:nvSpPr>
        <p:spPr>
          <a:xfrm>
            <a:off x="8282258"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9FC35ABF-6115-DC61-D5F5-BF4FAE5A56BE}"/>
              </a:ext>
            </a:extLst>
          </p:cNvPr>
          <p:cNvSpPr/>
          <p:nvPr/>
        </p:nvSpPr>
        <p:spPr>
          <a:xfrm>
            <a:off x="8774696"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991BF227-8DDA-3ACF-4D4F-6CDC8A21568E}"/>
              </a:ext>
            </a:extLst>
          </p:cNvPr>
          <p:cNvSpPr/>
          <p:nvPr/>
        </p:nvSpPr>
        <p:spPr>
          <a:xfrm>
            <a:off x="9336533"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4C72EC87-873C-FED4-79A2-CE19DAAD1195}"/>
              </a:ext>
            </a:extLst>
          </p:cNvPr>
          <p:cNvCxnSpPr>
            <a:cxnSpLocks/>
            <a:endCxn id="44" idx="6"/>
          </p:cNvCxnSpPr>
          <p:nvPr/>
        </p:nvCxnSpPr>
        <p:spPr>
          <a:xfrm flipH="1">
            <a:off x="9094283" y="981829"/>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009AA7AD-696F-23F9-D487-D709B8062C65}"/>
              </a:ext>
            </a:extLst>
          </p:cNvPr>
          <p:cNvCxnSpPr>
            <a:cxnSpLocks/>
            <a:stCxn id="44" idx="4"/>
            <a:endCxn id="45" idx="6"/>
          </p:cNvCxnSpPr>
          <p:nvPr/>
        </p:nvCxnSpPr>
        <p:spPr>
          <a:xfrm flipH="1">
            <a:off x="8450483" y="1697929"/>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3AD98510-0965-66B8-C447-FE8E475300C9}"/>
              </a:ext>
            </a:extLst>
          </p:cNvPr>
          <p:cNvCxnSpPr>
            <a:cxnSpLocks/>
            <a:stCxn id="44" idx="4"/>
            <a:endCxn id="46" idx="2"/>
          </p:cNvCxnSpPr>
          <p:nvPr/>
        </p:nvCxnSpPr>
        <p:spPr>
          <a:xfrm>
            <a:off x="8920583" y="1697929"/>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207E17FB-552C-FBAA-6DAE-74E57D906B21}"/>
              </a:ext>
            </a:extLst>
          </p:cNvPr>
          <p:cNvCxnSpPr>
            <a:cxnSpLocks/>
            <a:stCxn id="45" idx="4"/>
            <a:endCxn id="47" idx="7"/>
          </p:cNvCxnSpPr>
          <p:nvPr/>
        </p:nvCxnSpPr>
        <p:spPr>
          <a:xfrm flipH="1">
            <a:off x="8124908" y="2269904"/>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606A3BC4-4BF5-6310-4879-FBD8C54AC4E2}"/>
              </a:ext>
            </a:extLst>
          </p:cNvPr>
          <p:cNvCxnSpPr>
            <a:cxnSpLocks/>
            <a:stCxn id="45" idx="4"/>
            <a:endCxn id="48" idx="1"/>
          </p:cNvCxnSpPr>
          <p:nvPr/>
        </p:nvCxnSpPr>
        <p:spPr>
          <a:xfrm>
            <a:off x="8276708" y="2269904"/>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EB60D5A6-9831-10A0-2710-C42A44BEA70E}"/>
              </a:ext>
            </a:extLst>
          </p:cNvPr>
          <p:cNvCxnSpPr>
            <a:cxnSpLocks/>
            <a:stCxn id="46" idx="4"/>
            <a:endCxn id="49" idx="7"/>
          </p:cNvCxnSpPr>
          <p:nvPr/>
        </p:nvCxnSpPr>
        <p:spPr>
          <a:xfrm flipH="1">
            <a:off x="9071221" y="2269904"/>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19DAF838-107A-374C-1496-349FFAB04B20}"/>
              </a:ext>
            </a:extLst>
          </p:cNvPr>
          <p:cNvCxnSpPr>
            <a:cxnSpLocks/>
            <a:stCxn id="46" idx="4"/>
            <a:endCxn id="50" idx="1"/>
          </p:cNvCxnSpPr>
          <p:nvPr/>
        </p:nvCxnSpPr>
        <p:spPr>
          <a:xfrm>
            <a:off x="9244921" y="2269904"/>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7B3D7544-E715-022C-3212-6DD88F1228BD}"/>
              </a:ext>
            </a:extLst>
          </p:cNvPr>
          <p:cNvSpPr/>
          <p:nvPr/>
        </p:nvSpPr>
        <p:spPr>
          <a:xfrm>
            <a:off x="10779183" y="1300692"/>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4C463A0B-AF8C-49D8-9830-55858FB8B52A}"/>
              </a:ext>
            </a:extLst>
          </p:cNvPr>
          <p:cNvSpPr/>
          <p:nvPr/>
        </p:nvSpPr>
        <p:spPr>
          <a:xfrm>
            <a:off x="10333921" y="18069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4363CAF1-DBA1-2F47-F97C-2E7CE3AD3BED}"/>
              </a:ext>
            </a:extLst>
          </p:cNvPr>
          <p:cNvSpPr/>
          <p:nvPr/>
        </p:nvSpPr>
        <p:spPr>
          <a:xfrm>
            <a:off x="11299933" y="17708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AF42186A-3994-E8F8-AE17-9B1C02C7EC43}"/>
              </a:ext>
            </a:extLst>
          </p:cNvPr>
          <p:cNvSpPr/>
          <p:nvPr/>
        </p:nvSpPr>
        <p:spPr>
          <a:xfrm>
            <a:off x="10049571"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AA708597-06AA-6620-0414-3F62BE764BCC}"/>
              </a:ext>
            </a:extLst>
          </p:cNvPr>
          <p:cNvSpPr/>
          <p:nvPr/>
        </p:nvSpPr>
        <p:spPr>
          <a:xfrm>
            <a:off x="10543196"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D26A6622-637F-EED7-0405-7D07B1C0917A}"/>
              </a:ext>
            </a:extLst>
          </p:cNvPr>
          <p:cNvSpPr/>
          <p:nvPr/>
        </p:nvSpPr>
        <p:spPr>
          <a:xfrm>
            <a:off x="11070483"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ED6004D2-A20B-1BA2-31D6-E4C41867FA3A}"/>
              </a:ext>
            </a:extLst>
          </p:cNvPr>
          <p:cNvSpPr/>
          <p:nvPr/>
        </p:nvSpPr>
        <p:spPr>
          <a:xfrm>
            <a:off x="11602171"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5BEE8D72-3437-BD93-A266-E99DDD15E617}"/>
              </a:ext>
            </a:extLst>
          </p:cNvPr>
          <p:cNvCxnSpPr>
            <a:cxnSpLocks/>
            <a:stCxn id="58" idx="4"/>
            <a:endCxn id="59" idx="6"/>
          </p:cNvCxnSpPr>
          <p:nvPr/>
        </p:nvCxnSpPr>
        <p:spPr>
          <a:xfrm flipH="1">
            <a:off x="10681383" y="1684092"/>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93CF5767-0677-725E-9197-7473414CF530}"/>
              </a:ext>
            </a:extLst>
          </p:cNvPr>
          <p:cNvCxnSpPr>
            <a:cxnSpLocks/>
            <a:stCxn id="58" idx="4"/>
            <a:endCxn id="60" idx="2"/>
          </p:cNvCxnSpPr>
          <p:nvPr/>
        </p:nvCxnSpPr>
        <p:spPr>
          <a:xfrm>
            <a:off x="10952883" y="1684092"/>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75BD8F55-FCB6-C46D-5D8F-025A79098444}"/>
              </a:ext>
            </a:extLst>
          </p:cNvPr>
          <p:cNvCxnSpPr>
            <a:cxnSpLocks/>
            <a:stCxn id="59" idx="4"/>
            <a:endCxn id="61" idx="7"/>
          </p:cNvCxnSpPr>
          <p:nvPr/>
        </p:nvCxnSpPr>
        <p:spPr>
          <a:xfrm flipH="1">
            <a:off x="10346221" y="2190379"/>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076F8ECA-A82D-CBE7-BFA6-1EF10D8E0D35}"/>
              </a:ext>
            </a:extLst>
          </p:cNvPr>
          <p:cNvCxnSpPr>
            <a:cxnSpLocks/>
            <a:stCxn id="59" idx="4"/>
            <a:endCxn id="62" idx="1"/>
          </p:cNvCxnSpPr>
          <p:nvPr/>
        </p:nvCxnSpPr>
        <p:spPr>
          <a:xfrm>
            <a:off x="10507621" y="2190379"/>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AFA64C2E-FDE8-67DA-98EB-EB47F66C3D6A}"/>
              </a:ext>
            </a:extLst>
          </p:cNvPr>
          <p:cNvCxnSpPr>
            <a:cxnSpLocks/>
            <a:stCxn id="60" idx="4"/>
            <a:endCxn id="63" idx="7"/>
          </p:cNvCxnSpPr>
          <p:nvPr/>
        </p:nvCxnSpPr>
        <p:spPr>
          <a:xfrm flipH="1">
            <a:off x="11367133" y="2154204"/>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02389F17-AF80-7979-38CF-12DED080F31C}"/>
              </a:ext>
            </a:extLst>
          </p:cNvPr>
          <p:cNvCxnSpPr>
            <a:cxnSpLocks/>
            <a:stCxn id="60" idx="4"/>
            <a:endCxn id="64" idx="1"/>
          </p:cNvCxnSpPr>
          <p:nvPr/>
        </p:nvCxnSpPr>
        <p:spPr>
          <a:xfrm>
            <a:off x="11473633" y="2154204"/>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F5C444E5-AAC2-BE75-FD2E-D1AE63B3EF13}"/>
              </a:ext>
            </a:extLst>
          </p:cNvPr>
          <p:cNvCxnSpPr>
            <a:cxnSpLocks/>
            <a:stCxn id="43" idx="4"/>
            <a:endCxn id="58" idx="2"/>
          </p:cNvCxnSpPr>
          <p:nvPr/>
        </p:nvCxnSpPr>
        <p:spPr>
          <a:xfrm>
            <a:off x="10222233" y="979129"/>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9E6E556B-E52B-F6D5-A2AB-3A0658FA20F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4" name="TextBox 3">
            <a:extLst>
              <a:ext uri="{FF2B5EF4-FFF2-40B4-BE49-F238E27FC236}">
                <a16:creationId xmlns:a16="http://schemas.microsoft.com/office/drawing/2014/main" id="{8B878FF9-E0DB-11AF-DE42-C33A2141B507}"/>
              </a:ext>
            </a:extLst>
          </p:cNvPr>
          <p:cNvSpPr txBox="1"/>
          <p:nvPr/>
        </p:nvSpPr>
        <p:spPr>
          <a:xfrm>
            <a:off x="268596" y="4814484"/>
            <a:ext cx="11551489"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highlight>
                  <a:srgbClr val="FF0000"/>
                </a:highlight>
              </a:rPr>
              <a:t>A trader/MPs VM can also show straggler behavior</a:t>
            </a:r>
          </a:p>
          <a:p>
            <a:pPr marL="342900" indent="-342900">
              <a:buFont typeface="Arial" panose="020B0604020202020204" pitchFamily="34" charset="0"/>
              <a:buChar char="•"/>
            </a:pPr>
            <a:r>
              <a:rPr lang="en-US" sz="2400" dirty="0">
                <a:highlight>
                  <a:srgbClr val="00FF00"/>
                </a:highlight>
              </a:rPr>
              <a:t>Each MP gets two VMs, both running the same trading algorithm, both receiving the same input and both generating the same output</a:t>
            </a:r>
          </a:p>
          <a:p>
            <a:pPr marL="342900" indent="-342900">
              <a:buFont typeface="Arial" panose="020B0604020202020204" pitchFamily="34" charset="0"/>
              <a:buChar char="•"/>
            </a:pPr>
            <a:r>
              <a:rPr lang="en-US" sz="2400" dirty="0">
                <a:highlight>
                  <a:srgbClr val="00FF00"/>
                </a:highlight>
              </a:rPr>
              <a:t>An MP is able to receive messages on time</a:t>
            </a:r>
          </a:p>
        </p:txBody>
      </p:sp>
    </p:spTree>
    <p:extLst>
      <p:ext uri="{BB962C8B-B14F-4D97-AF65-F5344CB8AC3E}">
        <p14:creationId xmlns:p14="http://schemas.microsoft.com/office/powerpoint/2010/main" val="35891806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A767310-2A54-39F3-3B45-D9186FD997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FC1F68-B2E1-6000-059A-011063DE32DB}"/>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14" name="Google Shape;180;p23">
            <a:extLst>
              <a:ext uri="{FF2B5EF4-FFF2-40B4-BE49-F238E27FC236}">
                <a16:creationId xmlns:a16="http://schemas.microsoft.com/office/drawing/2014/main" id="{09A2DBCB-BDD2-8A66-E383-BFDD81E8E05F}"/>
              </a:ext>
            </a:extLst>
          </p:cNvPr>
          <p:cNvSpPr/>
          <p:nvPr/>
        </p:nvSpPr>
        <p:spPr>
          <a:xfrm>
            <a:off x="268596"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09B65EB8-1B76-B2E3-8749-B5F54A060CDD}"/>
              </a:ext>
            </a:extLst>
          </p:cNvPr>
          <p:cNvSpPr/>
          <p:nvPr/>
        </p:nvSpPr>
        <p:spPr>
          <a:xfrm>
            <a:off x="3162771" y="1145155"/>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D46F0CFB-BD76-11A5-E617-36023A5F9D8A}"/>
              </a:ext>
            </a:extLst>
          </p:cNvPr>
          <p:cNvSpPr/>
          <p:nvPr/>
        </p:nvSpPr>
        <p:spPr>
          <a:xfrm>
            <a:off x="5948421" y="1152342"/>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529A06A9-65B0-8C15-4EDB-71999EB57926}"/>
              </a:ext>
            </a:extLst>
          </p:cNvPr>
          <p:cNvSpPr/>
          <p:nvPr/>
        </p:nvSpPr>
        <p:spPr>
          <a:xfrm>
            <a:off x="492821" y="2780017"/>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white"/>
                </a:solidFill>
                <a:effectLst/>
                <a:uLnTx/>
                <a:uFillTx/>
                <a:latin typeface="Aptos" panose="02110004020202020204"/>
                <a:ea typeface="+mn-ea"/>
                <a:cs typeface="+mn-cs"/>
              </a:rPr>
              <a:t>Round Robin Packet Spraying</a:t>
            </a: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C42F9366-A320-5235-A0EE-14483548A4D1}"/>
              </a:ext>
            </a:extLst>
          </p:cNvPr>
          <p:cNvSpPr/>
          <p:nvPr/>
        </p:nvSpPr>
        <p:spPr>
          <a:xfrm>
            <a:off x="3301971" y="2772842"/>
            <a:ext cx="22173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AD044B11-7836-135B-7276-B3E56632C3CD}"/>
              </a:ext>
            </a:extLst>
          </p:cNvPr>
          <p:cNvSpPr/>
          <p:nvPr/>
        </p:nvSpPr>
        <p:spPr>
          <a:xfrm>
            <a:off x="6226821" y="2772842"/>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D0F8856C-4A6D-D2E4-E5B7-923B8F945BDB}"/>
              </a:ext>
            </a:extLst>
          </p:cNvPr>
          <p:cNvSpPr/>
          <p:nvPr/>
        </p:nvSpPr>
        <p:spPr>
          <a:xfrm>
            <a:off x="1158371" y="19589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84182F3A-5776-D75C-0672-FF7A8619783F}"/>
              </a:ext>
            </a:extLst>
          </p:cNvPr>
          <p:cNvSpPr/>
          <p:nvPr/>
        </p:nvSpPr>
        <p:spPr>
          <a:xfrm>
            <a:off x="4237071" y="195178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7462F01D-09C4-690D-99A5-33C23147CF3E}"/>
              </a:ext>
            </a:extLst>
          </p:cNvPr>
          <p:cNvSpPr/>
          <p:nvPr/>
        </p:nvSpPr>
        <p:spPr>
          <a:xfrm>
            <a:off x="7022721" y="1933892"/>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119D5BB5-664E-0D0A-236D-CC5BF69F772B}"/>
              </a:ext>
            </a:extLst>
          </p:cNvPr>
          <p:cNvSpPr/>
          <p:nvPr/>
        </p:nvSpPr>
        <p:spPr>
          <a:xfrm>
            <a:off x="9317883" y="595729"/>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31265CDC-FD3A-7012-4770-C7A97F8123C2}"/>
              </a:ext>
            </a:extLst>
          </p:cNvPr>
          <p:cNvSpPr/>
          <p:nvPr/>
        </p:nvSpPr>
        <p:spPr>
          <a:xfrm>
            <a:off x="8746883" y="13145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DEE966EA-C66D-9294-F832-0AD44BF855E5}"/>
              </a:ext>
            </a:extLst>
          </p:cNvPr>
          <p:cNvSpPr/>
          <p:nvPr/>
        </p:nvSpPr>
        <p:spPr>
          <a:xfrm>
            <a:off x="8103008"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03517177-2CE1-66A8-494B-F239B437728F}"/>
              </a:ext>
            </a:extLst>
          </p:cNvPr>
          <p:cNvSpPr/>
          <p:nvPr/>
        </p:nvSpPr>
        <p:spPr>
          <a:xfrm>
            <a:off x="9071221" y="18865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882B346D-2C3D-60FF-ACA3-1D4346E79DF4}"/>
              </a:ext>
            </a:extLst>
          </p:cNvPr>
          <p:cNvSpPr/>
          <p:nvPr/>
        </p:nvSpPr>
        <p:spPr>
          <a:xfrm>
            <a:off x="7828483"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90A2A6FE-6042-23CD-FF86-E5F1DF38236D}"/>
              </a:ext>
            </a:extLst>
          </p:cNvPr>
          <p:cNvSpPr/>
          <p:nvPr/>
        </p:nvSpPr>
        <p:spPr>
          <a:xfrm>
            <a:off x="8282258" y="25892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F329EE9C-F016-2617-FC47-020323ABC031}"/>
              </a:ext>
            </a:extLst>
          </p:cNvPr>
          <p:cNvSpPr/>
          <p:nvPr/>
        </p:nvSpPr>
        <p:spPr>
          <a:xfrm>
            <a:off x="8774696"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B9AA0C4C-D535-3172-F8BC-B5FCAB5C46F0}"/>
              </a:ext>
            </a:extLst>
          </p:cNvPr>
          <p:cNvSpPr/>
          <p:nvPr/>
        </p:nvSpPr>
        <p:spPr>
          <a:xfrm>
            <a:off x="9336533" y="25514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FB68BEEA-F2F2-9265-C6C0-C9216C848FAA}"/>
              </a:ext>
            </a:extLst>
          </p:cNvPr>
          <p:cNvCxnSpPr>
            <a:cxnSpLocks/>
            <a:endCxn id="44" idx="6"/>
          </p:cNvCxnSpPr>
          <p:nvPr/>
        </p:nvCxnSpPr>
        <p:spPr>
          <a:xfrm flipH="1">
            <a:off x="9094283" y="981829"/>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7B40C7D5-02A3-9914-B734-6E02AEF63EAA}"/>
              </a:ext>
            </a:extLst>
          </p:cNvPr>
          <p:cNvCxnSpPr>
            <a:cxnSpLocks/>
            <a:stCxn id="44" idx="4"/>
            <a:endCxn id="45" idx="6"/>
          </p:cNvCxnSpPr>
          <p:nvPr/>
        </p:nvCxnSpPr>
        <p:spPr>
          <a:xfrm flipH="1">
            <a:off x="8450483" y="1697929"/>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2A371FD7-02DD-2030-F8DF-B00B18CE9954}"/>
              </a:ext>
            </a:extLst>
          </p:cNvPr>
          <p:cNvCxnSpPr>
            <a:cxnSpLocks/>
            <a:stCxn id="44" idx="4"/>
            <a:endCxn id="46" idx="2"/>
          </p:cNvCxnSpPr>
          <p:nvPr/>
        </p:nvCxnSpPr>
        <p:spPr>
          <a:xfrm>
            <a:off x="8920583" y="1697929"/>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5D11C0AD-4182-4BBE-B1A1-2173BCC5599A}"/>
              </a:ext>
            </a:extLst>
          </p:cNvPr>
          <p:cNvCxnSpPr>
            <a:cxnSpLocks/>
            <a:stCxn id="45" idx="4"/>
            <a:endCxn id="47" idx="7"/>
          </p:cNvCxnSpPr>
          <p:nvPr/>
        </p:nvCxnSpPr>
        <p:spPr>
          <a:xfrm flipH="1">
            <a:off x="8124908" y="2269904"/>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BB92300B-DAEA-AC87-3699-26AD5FD33BD9}"/>
              </a:ext>
            </a:extLst>
          </p:cNvPr>
          <p:cNvCxnSpPr>
            <a:cxnSpLocks/>
            <a:stCxn id="45" idx="4"/>
            <a:endCxn id="48" idx="1"/>
          </p:cNvCxnSpPr>
          <p:nvPr/>
        </p:nvCxnSpPr>
        <p:spPr>
          <a:xfrm>
            <a:off x="8276708" y="2269904"/>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0775E0AE-B1F2-8743-A0F7-9C0201723343}"/>
              </a:ext>
            </a:extLst>
          </p:cNvPr>
          <p:cNvCxnSpPr>
            <a:cxnSpLocks/>
            <a:stCxn id="46" idx="4"/>
            <a:endCxn id="49" idx="7"/>
          </p:cNvCxnSpPr>
          <p:nvPr/>
        </p:nvCxnSpPr>
        <p:spPr>
          <a:xfrm flipH="1">
            <a:off x="9071221" y="2269904"/>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014DD9AE-B70C-F14E-B7B2-C427CADD4E2B}"/>
              </a:ext>
            </a:extLst>
          </p:cNvPr>
          <p:cNvCxnSpPr>
            <a:cxnSpLocks/>
            <a:stCxn id="46" idx="4"/>
            <a:endCxn id="50" idx="1"/>
          </p:cNvCxnSpPr>
          <p:nvPr/>
        </p:nvCxnSpPr>
        <p:spPr>
          <a:xfrm>
            <a:off x="9244921" y="2269904"/>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69984846-CBA1-3B48-2311-23D6F0BF9FDD}"/>
              </a:ext>
            </a:extLst>
          </p:cNvPr>
          <p:cNvSpPr/>
          <p:nvPr/>
        </p:nvSpPr>
        <p:spPr>
          <a:xfrm>
            <a:off x="10779183" y="1300692"/>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43C5904A-5C36-6AC8-13DD-E95332B4B5C0}"/>
              </a:ext>
            </a:extLst>
          </p:cNvPr>
          <p:cNvSpPr/>
          <p:nvPr/>
        </p:nvSpPr>
        <p:spPr>
          <a:xfrm>
            <a:off x="10333921" y="180697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D2C65044-3A7D-C320-B869-776D969A36B0}"/>
              </a:ext>
            </a:extLst>
          </p:cNvPr>
          <p:cNvSpPr/>
          <p:nvPr/>
        </p:nvSpPr>
        <p:spPr>
          <a:xfrm>
            <a:off x="11299933" y="17708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65040CB4-665C-23A5-B1E2-58BA2C286B4F}"/>
              </a:ext>
            </a:extLst>
          </p:cNvPr>
          <p:cNvSpPr/>
          <p:nvPr/>
        </p:nvSpPr>
        <p:spPr>
          <a:xfrm>
            <a:off x="10049571"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9D9438D0-EAD0-ECD0-D599-A7A540C18092}"/>
              </a:ext>
            </a:extLst>
          </p:cNvPr>
          <p:cNvSpPr/>
          <p:nvPr/>
        </p:nvSpPr>
        <p:spPr>
          <a:xfrm>
            <a:off x="10543196" y="2523829"/>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AAE1F9B6-A9D2-7D3B-053F-B533CCAEB0A1}"/>
              </a:ext>
            </a:extLst>
          </p:cNvPr>
          <p:cNvSpPr/>
          <p:nvPr/>
        </p:nvSpPr>
        <p:spPr>
          <a:xfrm>
            <a:off x="11070483"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4535521F-ECB6-024B-0900-088CEEB21C90}"/>
              </a:ext>
            </a:extLst>
          </p:cNvPr>
          <p:cNvSpPr/>
          <p:nvPr/>
        </p:nvSpPr>
        <p:spPr>
          <a:xfrm>
            <a:off x="11602171" y="24861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F1243751-6A4E-235A-ED01-7030F2251B23}"/>
              </a:ext>
            </a:extLst>
          </p:cNvPr>
          <p:cNvCxnSpPr>
            <a:cxnSpLocks/>
            <a:stCxn id="58" idx="4"/>
            <a:endCxn id="59" idx="6"/>
          </p:cNvCxnSpPr>
          <p:nvPr/>
        </p:nvCxnSpPr>
        <p:spPr>
          <a:xfrm flipH="1">
            <a:off x="10681383" y="1684092"/>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86D4543B-DE68-B67C-4D67-749A4E66F9A8}"/>
              </a:ext>
            </a:extLst>
          </p:cNvPr>
          <p:cNvCxnSpPr>
            <a:cxnSpLocks/>
            <a:stCxn id="58" idx="4"/>
            <a:endCxn id="60" idx="2"/>
          </p:cNvCxnSpPr>
          <p:nvPr/>
        </p:nvCxnSpPr>
        <p:spPr>
          <a:xfrm>
            <a:off x="10952883" y="1684092"/>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99D475DC-3784-1373-11DE-C8E7CCD519BD}"/>
              </a:ext>
            </a:extLst>
          </p:cNvPr>
          <p:cNvCxnSpPr>
            <a:cxnSpLocks/>
            <a:stCxn id="59" idx="4"/>
            <a:endCxn id="61" idx="7"/>
          </p:cNvCxnSpPr>
          <p:nvPr/>
        </p:nvCxnSpPr>
        <p:spPr>
          <a:xfrm flipH="1">
            <a:off x="10346221" y="2190379"/>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8AF57703-D443-0128-F674-CD28F39E6D60}"/>
              </a:ext>
            </a:extLst>
          </p:cNvPr>
          <p:cNvCxnSpPr>
            <a:cxnSpLocks/>
            <a:stCxn id="59" idx="4"/>
            <a:endCxn id="62" idx="1"/>
          </p:cNvCxnSpPr>
          <p:nvPr/>
        </p:nvCxnSpPr>
        <p:spPr>
          <a:xfrm>
            <a:off x="10507621" y="2190379"/>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038082E0-19EF-2956-8362-8C837DE554BF}"/>
              </a:ext>
            </a:extLst>
          </p:cNvPr>
          <p:cNvCxnSpPr>
            <a:cxnSpLocks/>
            <a:stCxn id="60" idx="4"/>
            <a:endCxn id="63" idx="7"/>
          </p:cNvCxnSpPr>
          <p:nvPr/>
        </p:nvCxnSpPr>
        <p:spPr>
          <a:xfrm flipH="1">
            <a:off x="11367133" y="2154204"/>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C2D143D8-556B-B142-5249-2218242E991B}"/>
              </a:ext>
            </a:extLst>
          </p:cNvPr>
          <p:cNvCxnSpPr>
            <a:cxnSpLocks/>
            <a:stCxn id="60" idx="4"/>
            <a:endCxn id="64" idx="1"/>
          </p:cNvCxnSpPr>
          <p:nvPr/>
        </p:nvCxnSpPr>
        <p:spPr>
          <a:xfrm>
            <a:off x="11473633" y="2154204"/>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D9429A2E-E7E8-8CCC-26EC-8E83298B223E}"/>
              </a:ext>
            </a:extLst>
          </p:cNvPr>
          <p:cNvCxnSpPr>
            <a:cxnSpLocks/>
            <a:stCxn id="43" idx="4"/>
            <a:endCxn id="58" idx="2"/>
          </p:cNvCxnSpPr>
          <p:nvPr/>
        </p:nvCxnSpPr>
        <p:spPr>
          <a:xfrm>
            <a:off x="10222233" y="979129"/>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DA07394C-8844-F95E-2AEF-72F4AA4B8104}"/>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2" name="TextBox 1">
            <a:extLst>
              <a:ext uri="{FF2B5EF4-FFF2-40B4-BE49-F238E27FC236}">
                <a16:creationId xmlns:a16="http://schemas.microsoft.com/office/drawing/2014/main" id="{21BE1E5B-E0DB-7B4C-33CE-F6DEEAF6C093}"/>
              </a:ext>
            </a:extLst>
          </p:cNvPr>
          <p:cNvSpPr txBox="1"/>
          <p:nvPr/>
        </p:nvSpPr>
        <p:spPr>
          <a:xfrm>
            <a:off x="725915" y="4189904"/>
            <a:ext cx="10518268"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Multicast latency becomes stable</a:t>
            </a:r>
          </a:p>
          <a:p>
            <a:pPr marL="742950" lvl="1" indent="-285750">
              <a:buFont typeface="Arial" panose="020B0604020202020204" pitchFamily="34" charset="0"/>
              <a:buChar char="•"/>
            </a:pPr>
            <a:r>
              <a:rPr lang="en-US" sz="2800" dirty="0"/>
              <a:t>Calculated deadlines in “hold-and-release” become effective</a:t>
            </a:r>
          </a:p>
          <a:p>
            <a:pPr marL="285750" indent="-285750">
              <a:buFont typeface="Arial" panose="020B0604020202020204" pitchFamily="34" charset="0"/>
              <a:buChar char="•"/>
            </a:pPr>
            <a:r>
              <a:rPr lang="en-US" sz="2800" dirty="0"/>
              <a:t>Multicast latency becomes low</a:t>
            </a:r>
          </a:p>
          <a:p>
            <a:pPr marL="742950" lvl="1" indent="-285750">
              <a:buFont typeface="Arial" panose="020B0604020202020204" pitchFamily="34" charset="0"/>
              <a:buChar char="•"/>
            </a:pPr>
            <a:r>
              <a:rPr lang="en-US" sz="2800" dirty="0"/>
              <a:t>Fairness achieved without large deadlines</a:t>
            </a:r>
          </a:p>
        </p:txBody>
      </p:sp>
    </p:spTree>
    <p:extLst>
      <p:ext uri="{BB962C8B-B14F-4D97-AF65-F5344CB8AC3E}">
        <p14:creationId xmlns:p14="http://schemas.microsoft.com/office/powerpoint/2010/main" val="49087137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991C-A78B-14CF-BA22-53FB6A22D29F}"/>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790E77E8-617D-2D77-B621-C365D9CE9FBF}"/>
              </a:ext>
            </a:extLst>
          </p:cNvPr>
          <p:cNvSpPr>
            <a:spLocks noGrp="1"/>
          </p:cNvSpPr>
          <p:nvPr>
            <p:ph type="body" idx="1"/>
          </p:nvPr>
        </p:nvSpPr>
        <p:spPr/>
        <p:txBody>
          <a:bodyPr/>
          <a:lstStyle/>
          <a:p>
            <a:endParaRPr lang="en-US"/>
          </a:p>
        </p:txBody>
      </p:sp>
      <p:sp>
        <p:nvSpPr>
          <p:cNvPr id="4" name="Rectangle 3">
            <a:extLst>
              <a:ext uri="{FF2B5EF4-FFF2-40B4-BE49-F238E27FC236}">
                <a16:creationId xmlns:a16="http://schemas.microsoft.com/office/drawing/2014/main" id="{711BADD7-ED57-CF35-A93F-C38411AF0E3F}"/>
              </a:ext>
            </a:extLst>
          </p:cNvPr>
          <p:cNvSpPr/>
          <p:nvPr/>
        </p:nvSpPr>
        <p:spPr>
          <a:xfrm>
            <a:off x="-144379" y="-182880"/>
            <a:ext cx="12686097" cy="7315200"/>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47884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2E603A3-06AA-7A41-9A17-003D81554D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527A11-CA77-7506-C0DC-27A0A5766415}"/>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E3DBF461-35B4-5AB2-B202-97FAE0485A81}"/>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00F20D2E-A8BC-1FA2-F8AF-71E5BF96B4ED}"/>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61CC2786-B806-90FE-3AB7-C46F55565B76}"/>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8AB92DA7-5F4E-467E-6522-613C30CF81EB}"/>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B6876D37-D07E-2EBC-0AA7-228AAF7E0459}"/>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492A0E0E-C168-41CE-99FF-12DA9214460D}"/>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Cloud 10">
            <a:extLst>
              <a:ext uri="{FF2B5EF4-FFF2-40B4-BE49-F238E27FC236}">
                <a16:creationId xmlns:a16="http://schemas.microsoft.com/office/drawing/2014/main" id="{A868CE1F-05AE-7D1A-3CB8-7D98352E4FC2}"/>
              </a:ext>
            </a:extLst>
          </p:cNvPr>
          <p:cNvSpPr/>
          <p:nvPr/>
        </p:nvSpPr>
        <p:spPr>
          <a:xfrm>
            <a:off x="3365357" y="3004909"/>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Synchronous</a:t>
            </a:r>
            <a:r>
              <a:rPr kumimoji="0" lang="en-US" sz="1800" b="0" i="0" u="none" strike="noStrike" kern="1200" cap="none" spc="0" normalizeH="0" noProof="0" dirty="0">
                <a:ln>
                  <a:noFill/>
                </a:ln>
                <a:solidFill>
                  <a:prstClr val="black"/>
                </a:solidFill>
                <a:effectLst/>
                <a:uLnTx/>
                <a:uFillTx/>
                <a:latin typeface="Aptos" panose="02110004020202020204"/>
                <a:ea typeface="+mn-ea"/>
                <a:cs typeface="+mn-cs"/>
              </a:rPr>
              <a:t> network</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Google Shape;139;p21">
            <a:extLst>
              <a:ext uri="{FF2B5EF4-FFF2-40B4-BE49-F238E27FC236}">
                <a16:creationId xmlns:a16="http://schemas.microsoft.com/office/drawing/2014/main" id="{635C6225-C6CC-0DEB-16FA-9260AB10E5EB}"/>
              </a:ext>
            </a:extLst>
          </p:cNvPr>
          <p:cNvSpPr/>
          <p:nvPr/>
        </p:nvSpPr>
        <p:spPr>
          <a:xfrm>
            <a:off x="3412605" y="4938726"/>
            <a:ext cx="282320" cy="280745"/>
          </a:xfrm>
          <a:prstGeom prst="ellipse">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Google Shape;139;p21">
            <a:extLst>
              <a:ext uri="{FF2B5EF4-FFF2-40B4-BE49-F238E27FC236}">
                <a16:creationId xmlns:a16="http://schemas.microsoft.com/office/drawing/2014/main" id="{C4B75DB5-2E16-09EB-ED58-6CB61000BB0D}"/>
              </a:ext>
            </a:extLst>
          </p:cNvPr>
          <p:cNvSpPr/>
          <p:nvPr/>
        </p:nvSpPr>
        <p:spPr>
          <a:xfrm>
            <a:off x="4378922" y="4953798"/>
            <a:ext cx="282320" cy="280745"/>
          </a:xfrm>
          <a:prstGeom prst="ellipse">
            <a:avLst/>
          </a:prstGeom>
          <a:solidFill>
            <a:schemeClr val="accent5">
              <a:lumMod val="7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85571E53-1711-7FDC-203A-419E0AF6F03C}"/>
              </a:ext>
            </a:extLst>
          </p:cNvPr>
          <p:cNvSpPr/>
          <p:nvPr/>
        </p:nvSpPr>
        <p:spPr>
          <a:xfrm>
            <a:off x="5345239" y="495240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82C61B8E-116B-3DAD-D7AB-0DD367800E76}"/>
              </a:ext>
            </a:extLst>
          </p:cNvPr>
          <p:cNvSpPr/>
          <p:nvPr/>
        </p:nvSpPr>
        <p:spPr>
          <a:xfrm>
            <a:off x="6311556" y="4906315"/>
            <a:ext cx="282320" cy="280745"/>
          </a:xfrm>
          <a:prstGeom prst="ellipse">
            <a:avLst/>
          </a:prstGeom>
          <a:solidFill>
            <a:schemeClr val="accent5">
              <a:lumMod val="20000"/>
              <a:lumOff val="8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4A90E491-D377-C07B-7D42-0BAFD984F3BD}"/>
              </a:ext>
            </a:extLst>
          </p:cNvPr>
          <p:cNvSpPr txBox="1"/>
          <p:nvPr/>
        </p:nvSpPr>
        <p:spPr>
          <a:xfrm>
            <a:off x="7277873" y="4867734"/>
            <a:ext cx="3054847" cy="830997"/>
          </a:xfrm>
          <a:prstGeom prst="rect">
            <a:avLst/>
          </a:prstGeom>
          <a:noFill/>
        </p:spPr>
        <p:txBody>
          <a:bodyPr wrap="square" rtlCol="0">
            <a:spAutoFit/>
          </a:bodyPr>
          <a:lstStyle/>
          <a:p>
            <a:r>
              <a:rPr lang="en-US" sz="2400" dirty="0"/>
              <a:t>Orders are generated in some order</a:t>
            </a:r>
          </a:p>
        </p:txBody>
      </p:sp>
      <p:sp>
        <p:nvSpPr>
          <p:cNvPr id="15" name="TextBox 14">
            <a:extLst>
              <a:ext uri="{FF2B5EF4-FFF2-40B4-BE49-F238E27FC236}">
                <a16:creationId xmlns:a16="http://schemas.microsoft.com/office/drawing/2014/main" id="{1DF74FDE-57CA-C5A0-708F-ADFD6C02E7EB}"/>
              </a:ext>
            </a:extLst>
          </p:cNvPr>
          <p:cNvSpPr txBox="1"/>
          <p:nvPr/>
        </p:nvSpPr>
        <p:spPr>
          <a:xfrm>
            <a:off x="7277872" y="2235916"/>
            <a:ext cx="3054847" cy="830997"/>
          </a:xfrm>
          <a:prstGeom prst="rect">
            <a:avLst/>
          </a:prstGeom>
          <a:noFill/>
        </p:spPr>
        <p:txBody>
          <a:bodyPr wrap="square" rtlCol="0">
            <a:spAutoFit/>
          </a:bodyPr>
          <a:lstStyle/>
          <a:p>
            <a:r>
              <a:rPr lang="en-US" sz="2400" dirty="0"/>
              <a:t>Orders are received in the same order</a:t>
            </a:r>
          </a:p>
        </p:txBody>
      </p:sp>
    </p:spTree>
    <p:extLst>
      <p:ext uri="{BB962C8B-B14F-4D97-AF65-F5344CB8AC3E}">
        <p14:creationId xmlns:p14="http://schemas.microsoft.com/office/powerpoint/2010/main" val="27671251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2" grpId="0" animBg="1"/>
      <p:bldP spid="13" grpId="0" animBg="1"/>
      <p:bldP spid="14" grpId="0"/>
      <p:bldP spid="1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A4B6861-FEE9-3C12-C0F9-467AD0AFA5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96BF6D-4DCD-F366-B757-E2569A59A03E}"/>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29FDB0C5-2E2F-F7E3-AD15-218C632A2F3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E4880554-7FBD-0077-AF4D-E216888EA36A}"/>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2F08A14C-B05B-CBA0-0E64-567553163F9D}"/>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6456B6A4-D09B-F418-3AFF-EA7253354934}"/>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EBCCAB93-5613-9F76-300A-1365E49754D8}"/>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D18BFEC7-EB6F-473D-7C56-D96D079B4242}"/>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Cloud 10">
            <a:extLst>
              <a:ext uri="{FF2B5EF4-FFF2-40B4-BE49-F238E27FC236}">
                <a16:creationId xmlns:a16="http://schemas.microsoft.com/office/drawing/2014/main" id="{160AE9BD-EEA4-DD5B-B7C3-D71829101825}"/>
              </a:ext>
            </a:extLst>
          </p:cNvPr>
          <p:cNvSpPr/>
          <p:nvPr/>
        </p:nvSpPr>
        <p:spPr>
          <a:xfrm>
            <a:off x="3365357" y="3004909"/>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Synchronous</a:t>
            </a:r>
            <a:r>
              <a:rPr kumimoji="0" lang="en-US" sz="1800" b="0" i="0" u="none" strike="noStrike" kern="1200" cap="none" spc="0" normalizeH="0" noProof="0" dirty="0">
                <a:ln>
                  <a:noFill/>
                </a:ln>
                <a:solidFill>
                  <a:prstClr val="black"/>
                </a:solidFill>
                <a:effectLst/>
                <a:uLnTx/>
                <a:uFillTx/>
                <a:latin typeface="Aptos" panose="02110004020202020204"/>
                <a:ea typeface="+mn-ea"/>
                <a:cs typeface="+mn-cs"/>
              </a:rPr>
              <a:t> network</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Google Shape;139;p21">
            <a:extLst>
              <a:ext uri="{FF2B5EF4-FFF2-40B4-BE49-F238E27FC236}">
                <a16:creationId xmlns:a16="http://schemas.microsoft.com/office/drawing/2014/main" id="{E9F7848C-4261-9A9D-43D5-598BB86F6DB8}"/>
              </a:ext>
            </a:extLst>
          </p:cNvPr>
          <p:cNvSpPr/>
          <p:nvPr/>
        </p:nvSpPr>
        <p:spPr>
          <a:xfrm>
            <a:off x="5345239" y="2609094"/>
            <a:ext cx="282320" cy="280745"/>
          </a:xfrm>
          <a:prstGeom prst="ellipse">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Google Shape;139;p21">
            <a:extLst>
              <a:ext uri="{FF2B5EF4-FFF2-40B4-BE49-F238E27FC236}">
                <a16:creationId xmlns:a16="http://schemas.microsoft.com/office/drawing/2014/main" id="{7DEF6852-C11C-198F-E118-D0FE58D8757D}"/>
              </a:ext>
            </a:extLst>
          </p:cNvPr>
          <p:cNvSpPr/>
          <p:nvPr/>
        </p:nvSpPr>
        <p:spPr>
          <a:xfrm>
            <a:off x="4378922" y="4953798"/>
            <a:ext cx="282320" cy="280745"/>
          </a:xfrm>
          <a:prstGeom prst="ellipse">
            <a:avLst/>
          </a:prstGeom>
          <a:solidFill>
            <a:schemeClr val="accent5">
              <a:lumMod val="7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08A1A792-D8E5-8C30-ED09-CDADB24205E8}"/>
              </a:ext>
            </a:extLst>
          </p:cNvPr>
          <p:cNvSpPr/>
          <p:nvPr/>
        </p:nvSpPr>
        <p:spPr>
          <a:xfrm>
            <a:off x="5345239" y="495240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59A09C97-E76A-FFC2-3CBB-15AD521CC312}"/>
              </a:ext>
            </a:extLst>
          </p:cNvPr>
          <p:cNvSpPr/>
          <p:nvPr/>
        </p:nvSpPr>
        <p:spPr>
          <a:xfrm>
            <a:off x="6311556" y="4906315"/>
            <a:ext cx="282320" cy="280745"/>
          </a:xfrm>
          <a:prstGeom prst="ellipse">
            <a:avLst/>
          </a:prstGeom>
          <a:solidFill>
            <a:schemeClr val="accent5">
              <a:lumMod val="20000"/>
              <a:lumOff val="8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B596F28D-DE0B-6F9A-C4B7-BF3F788A2A50}"/>
              </a:ext>
            </a:extLst>
          </p:cNvPr>
          <p:cNvSpPr txBox="1"/>
          <p:nvPr/>
        </p:nvSpPr>
        <p:spPr>
          <a:xfrm>
            <a:off x="7277873" y="4867734"/>
            <a:ext cx="3054847" cy="830997"/>
          </a:xfrm>
          <a:prstGeom prst="rect">
            <a:avLst/>
          </a:prstGeom>
          <a:noFill/>
        </p:spPr>
        <p:txBody>
          <a:bodyPr wrap="square" rtlCol="0">
            <a:spAutoFit/>
          </a:bodyPr>
          <a:lstStyle/>
          <a:p>
            <a:r>
              <a:rPr lang="en-US" sz="2400" dirty="0"/>
              <a:t>Orders are generated in some order</a:t>
            </a:r>
          </a:p>
        </p:txBody>
      </p:sp>
      <p:sp>
        <p:nvSpPr>
          <p:cNvPr id="15" name="TextBox 14">
            <a:extLst>
              <a:ext uri="{FF2B5EF4-FFF2-40B4-BE49-F238E27FC236}">
                <a16:creationId xmlns:a16="http://schemas.microsoft.com/office/drawing/2014/main" id="{BC2ACA84-978D-5189-7E93-1AAEE41706C0}"/>
              </a:ext>
            </a:extLst>
          </p:cNvPr>
          <p:cNvSpPr txBox="1"/>
          <p:nvPr/>
        </p:nvSpPr>
        <p:spPr>
          <a:xfrm>
            <a:off x="7277872" y="2235916"/>
            <a:ext cx="3054847" cy="830997"/>
          </a:xfrm>
          <a:prstGeom prst="rect">
            <a:avLst/>
          </a:prstGeom>
          <a:noFill/>
        </p:spPr>
        <p:txBody>
          <a:bodyPr wrap="square" rtlCol="0">
            <a:spAutoFit/>
          </a:bodyPr>
          <a:lstStyle/>
          <a:p>
            <a:r>
              <a:rPr lang="en-US" sz="2400" dirty="0"/>
              <a:t>Orders are received in the same order</a:t>
            </a:r>
          </a:p>
        </p:txBody>
      </p:sp>
    </p:spTree>
    <p:extLst>
      <p:ext uri="{BB962C8B-B14F-4D97-AF65-F5344CB8AC3E}">
        <p14:creationId xmlns:p14="http://schemas.microsoft.com/office/powerpoint/2010/main" val="2118484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3F39A2D-AECE-D1FF-9225-21172983F0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C0039A-4D59-7B35-AEB3-1BE7B21A103E}"/>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55013E08-5946-A1C9-1AD9-AA0EFD8B43F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E36BFFAA-85A5-8640-255D-3FCB8EFD00BB}"/>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98CE92D-A617-0A3E-6905-4BC9B5DDDFE6}"/>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6D69C2B5-E380-6766-46CD-0AFA1F9A4E82}"/>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0967E58-E484-387A-8A71-20957DE9E590}"/>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B72A438E-8800-0F07-C461-72D6065BCAD8}"/>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Cloud 10">
            <a:extLst>
              <a:ext uri="{FF2B5EF4-FFF2-40B4-BE49-F238E27FC236}">
                <a16:creationId xmlns:a16="http://schemas.microsoft.com/office/drawing/2014/main" id="{2318448C-AFF9-3816-9579-ED9692133DA9}"/>
              </a:ext>
            </a:extLst>
          </p:cNvPr>
          <p:cNvSpPr/>
          <p:nvPr/>
        </p:nvSpPr>
        <p:spPr>
          <a:xfrm>
            <a:off x="3365357" y="3004909"/>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Synchronous</a:t>
            </a:r>
            <a:r>
              <a:rPr kumimoji="0" lang="en-US" sz="1800" b="0" i="0" u="none" strike="noStrike" kern="1200" cap="none" spc="0" normalizeH="0" noProof="0" dirty="0">
                <a:ln>
                  <a:noFill/>
                </a:ln>
                <a:solidFill>
                  <a:prstClr val="black"/>
                </a:solidFill>
                <a:effectLst/>
                <a:uLnTx/>
                <a:uFillTx/>
                <a:latin typeface="Aptos" panose="02110004020202020204"/>
                <a:ea typeface="+mn-ea"/>
                <a:cs typeface="+mn-cs"/>
              </a:rPr>
              <a:t> network</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Google Shape;139;p21">
            <a:extLst>
              <a:ext uri="{FF2B5EF4-FFF2-40B4-BE49-F238E27FC236}">
                <a16:creationId xmlns:a16="http://schemas.microsoft.com/office/drawing/2014/main" id="{D37ED4ED-D51B-E8B6-A7C0-A92673C2B89E}"/>
              </a:ext>
            </a:extLst>
          </p:cNvPr>
          <p:cNvSpPr/>
          <p:nvPr/>
        </p:nvSpPr>
        <p:spPr>
          <a:xfrm>
            <a:off x="5345239" y="2609094"/>
            <a:ext cx="282320" cy="280745"/>
          </a:xfrm>
          <a:prstGeom prst="ellipse">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Google Shape;139;p21">
            <a:extLst>
              <a:ext uri="{FF2B5EF4-FFF2-40B4-BE49-F238E27FC236}">
                <a16:creationId xmlns:a16="http://schemas.microsoft.com/office/drawing/2014/main" id="{6AFFB50D-9531-0E2A-AA5F-CA996ADBA61E}"/>
              </a:ext>
            </a:extLst>
          </p:cNvPr>
          <p:cNvSpPr/>
          <p:nvPr/>
        </p:nvSpPr>
        <p:spPr>
          <a:xfrm>
            <a:off x="4988523" y="2615517"/>
            <a:ext cx="282320" cy="280745"/>
          </a:xfrm>
          <a:prstGeom prst="ellipse">
            <a:avLst/>
          </a:prstGeom>
          <a:solidFill>
            <a:schemeClr val="accent5">
              <a:lumMod val="7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6DC9B728-C00D-F632-1A88-2E1634E0D6C2}"/>
              </a:ext>
            </a:extLst>
          </p:cNvPr>
          <p:cNvSpPr/>
          <p:nvPr/>
        </p:nvSpPr>
        <p:spPr>
          <a:xfrm>
            <a:off x="5345239" y="495240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707BBEE8-C445-2215-44CA-CAD0FE68B5CB}"/>
              </a:ext>
            </a:extLst>
          </p:cNvPr>
          <p:cNvSpPr/>
          <p:nvPr/>
        </p:nvSpPr>
        <p:spPr>
          <a:xfrm>
            <a:off x="6311556" y="4906315"/>
            <a:ext cx="282320" cy="280745"/>
          </a:xfrm>
          <a:prstGeom prst="ellipse">
            <a:avLst/>
          </a:prstGeom>
          <a:solidFill>
            <a:schemeClr val="accent5">
              <a:lumMod val="20000"/>
              <a:lumOff val="8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B00F2081-71EB-CC13-4A68-AA10819A3A83}"/>
              </a:ext>
            </a:extLst>
          </p:cNvPr>
          <p:cNvSpPr txBox="1"/>
          <p:nvPr/>
        </p:nvSpPr>
        <p:spPr>
          <a:xfrm>
            <a:off x="7277873" y="4867734"/>
            <a:ext cx="3054847" cy="830997"/>
          </a:xfrm>
          <a:prstGeom prst="rect">
            <a:avLst/>
          </a:prstGeom>
          <a:noFill/>
        </p:spPr>
        <p:txBody>
          <a:bodyPr wrap="square" rtlCol="0">
            <a:spAutoFit/>
          </a:bodyPr>
          <a:lstStyle/>
          <a:p>
            <a:r>
              <a:rPr lang="en-US" sz="2400" dirty="0"/>
              <a:t>Orders are generated in some order</a:t>
            </a:r>
          </a:p>
        </p:txBody>
      </p:sp>
      <p:sp>
        <p:nvSpPr>
          <p:cNvPr id="15" name="TextBox 14">
            <a:extLst>
              <a:ext uri="{FF2B5EF4-FFF2-40B4-BE49-F238E27FC236}">
                <a16:creationId xmlns:a16="http://schemas.microsoft.com/office/drawing/2014/main" id="{D48C84AD-5CFA-2669-DFC2-DB851DCC126B}"/>
              </a:ext>
            </a:extLst>
          </p:cNvPr>
          <p:cNvSpPr txBox="1"/>
          <p:nvPr/>
        </p:nvSpPr>
        <p:spPr>
          <a:xfrm>
            <a:off x="7277872" y="2235916"/>
            <a:ext cx="3054847" cy="830997"/>
          </a:xfrm>
          <a:prstGeom prst="rect">
            <a:avLst/>
          </a:prstGeom>
          <a:noFill/>
        </p:spPr>
        <p:txBody>
          <a:bodyPr wrap="square" rtlCol="0">
            <a:spAutoFit/>
          </a:bodyPr>
          <a:lstStyle/>
          <a:p>
            <a:r>
              <a:rPr lang="en-US" sz="2400" dirty="0"/>
              <a:t>Orders are received in the same order</a:t>
            </a:r>
          </a:p>
        </p:txBody>
      </p:sp>
    </p:spTree>
    <p:extLst>
      <p:ext uri="{BB962C8B-B14F-4D97-AF65-F5344CB8AC3E}">
        <p14:creationId xmlns:p14="http://schemas.microsoft.com/office/powerpoint/2010/main" val="1357475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D1171B5-74FD-1F6C-F8CB-F7AB326224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C3C831-473A-A416-81A7-D43BA9547895}"/>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F6E9BB99-BD6D-8B50-8696-804BD389B81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4A33FB97-7462-1B3E-F292-3128DF73754E}"/>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3E44BF3A-D50B-2F90-3BF8-C12DD1866CFE}"/>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7CE5802D-CA06-5C33-8003-D9A738B188AA}"/>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F3719975-8131-1A11-BF85-108C6BE04DF7}"/>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18C09C2B-D5A6-1739-0C62-D0BF52BFD71C}"/>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Cloud 10">
            <a:extLst>
              <a:ext uri="{FF2B5EF4-FFF2-40B4-BE49-F238E27FC236}">
                <a16:creationId xmlns:a16="http://schemas.microsoft.com/office/drawing/2014/main" id="{335C06DB-355F-C1AD-3778-3A7EBB620684}"/>
              </a:ext>
            </a:extLst>
          </p:cNvPr>
          <p:cNvSpPr/>
          <p:nvPr/>
        </p:nvSpPr>
        <p:spPr>
          <a:xfrm>
            <a:off x="3365357" y="3004909"/>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Synchronous</a:t>
            </a:r>
            <a:r>
              <a:rPr kumimoji="0" lang="en-US" sz="1800" b="0" i="0" u="none" strike="noStrike" kern="1200" cap="none" spc="0" normalizeH="0" noProof="0" dirty="0">
                <a:ln>
                  <a:noFill/>
                </a:ln>
                <a:solidFill>
                  <a:prstClr val="black"/>
                </a:solidFill>
                <a:effectLst/>
                <a:uLnTx/>
                <a:uFillTx/>
                <a:latin typeface="Aptos" panose="02110004020202020204"/>
                <a:ea typeface="+mn-ea"/>
                <a:cs typeface="+mn-cs"/>
              </a:rPr>
              <a:t> network</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Google Shape;139;p21">
            <a:extLst>
              <a:ext uri="{FF2B5EF4-FFF2-40B4-BE49-F238E27FC236}">
                <a16:creationId xmlns:a16="http://schemas.microsoft.com/office/drawing/2014/main" id="{A4AB9E3E-9F67-F049-6E0A-F7B6E45A2603}"/>
              </a:ext>
            </a:extLst>
          </p:cNvPr>
          <p:cNvSpPr/>
          <p:nvPr/>
        </p:nvSpPr>
        <p:spPr>
          <a:xfrm>
            <a:off x="5345239" y="2609094"/>
            <a:ext cx="282320" cy="280745"/>
          </a:xfrm>
          <a:prstGeom prst="ellipse">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Google Shape;139;p21">
            <a:extLst>
              <a:ext uri="{FF2B5EF4-FFF2-40B4-BE49-F238E27FC236}">
                <a16:creationId xmlns:a16="http://schemas.microsoft.com/office/drawing/2014/main" id="{A618391B-5E9C-1957-D429-5CE9348B7230}"/>
              </a:ext>
            </a:extLst>
          </p:cNvPr>
          <p:cNvSpPr/>
          <p:nvPr/>
        </p:nvSpPr>
        <p:spPr>
          <a:xfrm>
            <a:off x="4988523" y="2615517"/>
            <a:ext cx="282320" cy="280745"/>
          </a:xfrm>
          <a:prstGeom prst="ellipse">
            <a:avLst/>
          </a:prstGeom>
          <a:solidFill>
            <a:schemeClr val="accent5">
              <a:lumMod val="7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84E24D68-12BE-1A10-5424-584CD3FA92EA}"/>
              </a:ext>
            </a:extLst>
          </p:cNvPr>
          <p:cNvSpPr/>
          <p:nvPr/>
        </p:nvSpPr>
        <p:spPr>
          <a:xfrm>
            <a:off x="4669005" y="261551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F4AEAFE3-AC6C-92C0-79CD-2BC1C92F8C6B}"/>
              </a:ext>
            </a:extLst>
          </p:cNvPr>
          <p:cNvSpPr/>
          <p:nvPr/>
        </p:nvSpPr>
        <p:spPr>
          <a:xfrm>
            <a:off x="6311556" y="4906315"/>
            <a:ext cx="282320" cy="280745"/>
          </a:xfrm>
          <a:prstGeom prst="ellipse">
            <a:avLst/>
          </a:prstGeom>
          <a:solidFill>
            <a:schemeClr val="accent5">
              <a:lumMod val="20000"/>
              <a:lumOff val="8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5C01159E-FE9D-5DD1-3E57-18A7D54A6479}"/>
              </a:ext>
            </a:extLst>
          </p:cNvPr>
          <p:cNvSpPr txBox="1"/>
          <p:nvPr/>
        </p:nvSpPr>
        <p:spPr>
          <a:xfrm>
            <a:off x="7277873" y="4867734"/>
            <a:ext cx="3054847" cy="830997"/>
          </a:xfrm>
          <a:prstGeom prst="rect">
            <a:avLst/>
          </a:prstGeom>
          <a:noFill/>
        </p:spPr>
        <p:txBody>
          <a:bodyPr wrap="square" rtlCol="0">
            <a:spAutoFit/>
          </a:bodyPr>
          <a:lstStyle/>
          <a:p>
            <a:r>
              <a:rPr lang="en-US" sz="2400" dirty="0"/>
              <a:t>Orders are generated in some order</a:t>
            </a:r>
          </a:p>
        </p:txBody>
      </p:sp>
      <p:sp>
        <p:nvSpPr>
          <p:cNvPr id="15" name="TextBox 14">
            <a:extLst>
              <a:ext uri="{FF2B5EF4-FFF2-40B4-BE49-F238E27FC236}">
                <a16:creationId xmlns:a16="http://schemas.microsoft.com/office/drawing/2014/main" id="{8E00D0E8-6564-EED9-6319-09CC1C1A0C91}"/>
              </a:ext>
            </a:extLst>
          </p:cNvPr>
          <p:cNvSpPr txBox="1"/>
          <p:nvPr/>
        </p:nvSpPr>
        <p:spPr>
          <a:xfrm>
            <a:off x="7277872" y="2235916"/>
            <a:ext cx="3054847" cy="830997"/>
          </a:xfrm>
          <a:prstGeom prst="rect">
            <a:avLst/>
          </a:prstGeom>
          <a:noFill/>
        </p:spPr>
        <p:txBody>
          <a:bodyPr wrap="square" rtlCol="0">
            <a:spAutoFit/>
          </a:bodyPr>
          <a:lstStyle/>
          <a:p>
            <a:r>
              <a:rPr lang="en-US" sz="2400" dirty="0"/>
              <a:t>Orders are received in the same order</a:t>
            </a:r>
          </a:p>
        </p:txBody>
      </p:sp>
    </p:spTree>
    <p:extLst>
      <p:ext uri="{BB962C8B-B14F-4D97-AF65-F5344CB8AC3E}">
        <p14:creationId xmlns:p14="http://schemas.microsoft.com/office/powerpoint/2010/main" val="3206948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B7D99C0-CB1B-1785-1407-FB72F5EE3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5A7E51-FA8A-FB8E-B9E3-7DE55CAB43B4}"/>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4537D1C6-4D9E-A570-4E6D-120EB68525F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FE336F7C-7D75-AA6A-5671-BE7531370B53}"/>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B34C1480-D217-EF4B-F94D-751F3171508B}"/>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0D54F144-B90E-3B6D-95D1-5297B631CB1A}"/>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7A001D7-64DC-77CB-63CF-CBC80DEE9863}"/>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351DA49A-5AB7-51FD-4C4E-5AB12DBB1E10}"/>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Cloud 10">
            <a:extLst>
              <a:ext uri="{FF2B5EF4-FFF2-40B4-BE49-F238E27FC236}">
                <a16:creationId xmlns:a16="http://schemas.microsoft.com/office/drawing/2014/main" id="{A3083B3F-F864-6B06-A46F-15CCD9BE8DA2}"/>
              </a:ext>
            </a:extLst>
          </p:cNvPr>
          <p:cNvSpPr/>
          <p:nvPr/>
        </p:nvSpPr>
        <p:spPr>
          <a:xfrm>
            <a:off x="3365357" y="3004909"/>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Synchronous</a:t>
            </a:r>
            <a:r>
              <a:rPr kumimoji="0" lang="en-US" sz="1800" b="0" i="0" u="none" strike="noStrike" kern="1200" cap="none" spc="0" normalizeH="0" noProof="0" dirty="0">
                <a:ln>
                  <a:noFill/>
                </a:ln>
                <a:solidFill>
                  <a:prstClr val="black"/>
                </a:solidFill>
                <a:effectLst/>
                <a:uLnTx/>
                <a:uFillTx/>
                <a:latin typeface="Aptos" panose="02110004020202020204"/>
                <a:ea typeface="+mn-ea"/>
                <a:cs typeface="+mn-cs"/>
              </a:rPr>
              <a:t> network</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Google Shape;139;p21">
            <a:extLst>
              <a:ext uri="{FF2B5EF4-FFF2-40B4-BE49-F238E27FC236}">
                <a16:creationId xmlns:a16="http://schemas.microsoft.com/office/drawing/2014/main" id="{9AACBB9A-6D13-56FA-E847-A09607D59700}"/>
              </a:ext>
            </a:extLst>
          </p:cNvPr>
          <p:cNvSpPr/>
          <p:nvPr/>
        </p:nvSpPr>
        <p:spPr>
          <a:xfrm>
            <a:off x="5345239" y="2609094"/>
            <a:ext cx="282320" cy="280745"/>
          </a:xfrm>
          <a:prstGeom prst="ellipse">
            <a:avLst/>
          </a:prstGeom>
          <a:solidFill>
            <a:srgbClr val="00206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Google Shape;139;p21">
            <a:extLst>
              <a:ext uri="{FF2B5EF4-FFF2-40B4-BE49-F238E27FC236}">
                <a16:creationId xmlns:a16="http://schemas.microsoft.com/office/drawing/2014/main" id="{43CFAB1D-DAF4-DA69-D56D-A604F97A6DCC}"/>
              </a:ext>
            </a:extLst>
          </p:cNvPr>
          <p:cNvSpPr/>
          <p:nvPr/>
        </p:nvSpPr>
        <p:spPr>
          <a:xfrm>
            <a:off x="4988523" y="2615517"/>
            <a:ext cx="282320" cy="280745"/>
          </a:xfrm>
          <a:prstGeom prst="ellipse">
            <a:avLst/>
          </a:prstGeom>
          <a:solidFill>
            <a:schemeClr val="accent5">
              <a:lumMod val="75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4485A184-A5B0-CE01-09BA-C8875E11FBA4}"/>
              </a:ext>
            </a:extLst>
          </p:cNvPr>
          <p:cNvSpPr/>
          <p:nvPr/>
        </p:nvSpPr>
        <p:spPr>
          <a:xfrm>
            <a:off x="4669005" y="261551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DD21DE86-ADD4-1D2C-6E87-C8EF06EB4ABC}"/>
              </a:ext>
            </a:extLst>
          </p:cNvPr>
          <p:cNvSpPr/>
          <p:nvPr/>
        </p:nvSpPr>
        <p:spPr>
          <a:xfrm>
            <a:off x="4312289" y="2594021"/>
            <a:ext cx="282320" cy="280745"/>
          </a:xfrm>
          <a:prstGeom prst="ellipse">
            <a:avLst/>
          </a:prstGeom>
          <a:solidFill>
            <a:schemeClr val="accent5">
              <a:lumMod val="20000"/>
              <a:lumOff val="8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1367578B-2B64-8DEF-4574-055AAA12EBBA}"/>
              </a:ext>
            </a:extLst>
          </p:cNvPr>
          <p:cNvSpPr txBox="1"/>
          <p:nvPr/>
        </p:nvSpPr>
        <p:spPr>
          <a:xfrm>
            <a:off x="7277873" y="4867734"/>
            <a:ext cx="3054847" cy="830997"/>
          </a:xfrm>
          <a:prstGeom prst="rect">
            <a:avLst/>
          </a:prstGeom>
          <a:noFill/>
        </p:spPr>
        <p:txBody>
          <a:bodyPr wrap="square" rtlCol="0">
            <a:spAutoFit/>
          </a:bodyPr>
          <a:lstStyle/>
          <a:p>
            <a:r>
              <a:rPr lang="en-US" sz="2400" dirty="0"/>
              <a:t>Orders are generated in some order</a:t>
            </a:r>
          </a:p>
        </p:txBody>
      </p:sp>
      <p:sp>
        <p:nvSpPr>
          <p:cNvPr id="15" name="TextBox 14">
            <a:extLst>
              <a:ext uri="{FF2B5EF4-FFF2-40B4-BE49-F238E27FC236}">
                <a16:creationId xmlns:a16="http://schemas.microsoft.com/office/drawing/2014/main" id="{30091A6F-4A83-06E8-1F4D-141A11C1C36C}"/>
              </a:ext>
            </a:extLst>
          </p:cNvPr>
          <p:cNvSpPr txBox="1"/>
          <p:nvPr/>
        </p:nvSpPr>
        <p:spPr>
          <a:xfrm>
            <a:off x="7277872" y="2235916"/>
            <a:ext cx="3054847" cy="830997"/>
          </a:xfrm>
          <a:prstGeom prst="rect">
            <a:avLst/>
          </a:prstGeom>
          <a:noFill/>
        </p:spPr>
        <p:txBody>
          <a:bodyPr wrap="square" rtlCol="0">
            <a:spAutoFit/>
          </a:bodyPr>
          <a:lstStyle/>
          <a:p>
            <a:r>
              <a:rPr lang="en-US" sz="2400" dirty="0"/>
              <a:t>Orders are received in the same order</a:t>
            </a:r>
          </a:p>
        </p:txBody>
      </p:sp>
      <p:sp>
        <p:nvSpPr>
          <p:cNvPr id="16" name="TextBox 15">
            <a:extLst>
              <a:ext uri="{FF2B5EF4-FFF2-40B4-BE49-F238E27FC236}">
                <a16:creationId xmlns:a16="http://schemas.microsoft.com/office/drawing/2014/main" id="{D11922E2-1090-1522-15ED-A57A86F7DA86}"/>
              </a:ext>
            </a:extLst>
          </p:cNvPr>
          <p:cNvSpPr txBox="1"/>
          <p:nvPr/>
        </p:nvSpPr>
        <p:spPr>
          <a:xfrm>
            <a:off x="7908786" y="3647798"/>
            <a:ext cx="2423933" cy="461665"/>
          </a:xfrm>
          <a:prstGeom prst="rect">
            <a:avLst/>
          </a:prstGeom>
          <a:noFill/>
        </p:spPr>
        <p:txBody>
          <a:bodyPr wrap="none" rtlCol="0">
            <a:spAutoFit/>
          </a:bodyPr>
          <a:lstStyle/>
          <a:p>
            <a:r>
              <a:rPr lang="en-US" sz="2400" dirty="0"/>
              <a:t>Latency Fairness</a:t>
            </a:r>
          </a:p>
        </p:txBody>
      </p:sp>
      <p:pic>
        <p:nvPicPr>
          <p:cNvPr id="18" name="Graphic 17" descr="Checkbox Checked with solid fill">
            <a:extLst>
              <a:ext uri="{FF2B5EF4-FFF2-40B4-BE49-F238E27FC236}">
                <a16:creationId xmlns:a16="http://schemas.microsoft.com/office/drawing/2014/main" id="{EF90A329-D45D-2524-798B-13AEA9A599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12000" y="3421430"/>
            <a:ext cx="914400" cy="914400"/>
          </a:xfrm>
          <a:prstGeom prst="rect">
            <a:avLst/>
          </a:prstGeom>
        </p:spPr>
      </p:pic>
    </p:spTree>
    <p:extLst>
      <p:ext uri="{BB962C8B-B14F-4D97-AF65-F5344CB8AC3E}">
        <p14:creationId xmlns:p14="http://schemas.microsoft.com/office/powerpoint/2010/main" val="1281915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A0466BB-8427-635D-D0A0-3AEC734214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99BF24-7325-780B-3FFA-567A86DAFCEC}"/>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F3E4C6D3-1C87-69DF-D1B0-5F2FF8D13D5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35BB4678-B69A-A005-5DAA-CD1EF449B138}"/>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99106BC-68B9-5921-541D-5BCD669CA713}"/>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8C4646F4-0798-A111-653B-3CFB103CE855}"/>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311B771D-40FE-C42C-B70D-66A86D98BD02}"/>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71ED236C-29F2-42E2-D229-B0264539BFAE}"/>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Tree>
    <p:extLst>
      <p:ext uri="{BB962C8B-B14F-4D97-AF65-F5344CB8AC3E}">
        <p14:creationId xmlns:p14="http://schemas.microsoft.com/office/powerpoint/2010/main" val="10243466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DD6A39A-A047-D56A-FFB3-347F88EE74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896347-C30B-959C-A093-8A98164261F1}"/>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99172D55-6549-DBC4-79FD-B5FF15DAC10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F66395A3-369D-07BF-6780-ADE38C8B18E8}"/>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296291E3-F16D-1629-38D2-435DD163857E}"/>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82F83455-F2A7-CC00-0B50-1AD7BF1D6D4B}"/>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92D88365-6A6A-936A-5CFB-A6E8CF08F681}"/>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41485890-24A7-82A5-D9DC-77FC91E013B0}"/>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4A1A2017-41D6-A0D0-764D-FA938874B458}"/>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90ED04EB-7ECD-8F98-4FD8-A139976C1DFD}"/>
              </a:ext>
            </a:extLst>
          </p:cNvPr>
          <p:cNvSpPr/>
          <p:nvPr/>
        </p:nvSpPr>
        <p:spPr>
          <a:xfrm>
            <a:off x="3440238" y="4908580"/>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CDF8CD1A-8962-70FD-ABF8-62AB0F665CFF}"/>
              </a:ext>
            </a:extLst>
          </p:cNvPr>
          <p:cNvSpPr/>
          <p:nvPr/>
        </p:nvSpPr>
        <p:spPr>
          <a:xfrm>
            <a:off x="4378922" y="4908580"/>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E1C75746-6F24-1DA5-1AA5-2EBF87D54AF6}"/>
              </a:ext>
            </a:extLst>
          </p:cNvPr>
          <p:cNvSpPr/>
          <p:nvPr/>
        </p:nvSpPr>
        <p:spPr>
          <a:xfrm>
            <a:off x="5345239" y="4908580"/>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E118047E-7033-4189-2735-DE8E0F2AE889}"/>
              </a:ext>
            </a:extLst>
          </p:cNvPr>
          <p:cNvSpPr/>
          <p:nvPr/>
        </p:nvSpPr>
        <p:spPr>
          <a:xfrm>
            <a:off x="6282123" y="4899401"/>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Direct Access Storage 14">
            <a:extLst>
              <a:ext uri="{FF2B5EF4-FFF2-40B4-BE49-F238E27FC236}">
                <a16:creationId xmlns:a16="http://schemas.microsoft.com/office/drawing/2014/main" id="{3A0129C6-E6E9-602A-036C-CD4033E5DF7A}"/>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240006712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1" grpId="0" animBg="1"/>
      <p:bldP spid="12" grpId="0" animBg="1"/>
      <p:bldP spid="13" grpId="0" animBg="1"/>
      <p:bldP spid="1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72A58AC-71DA-8209-16B1-13BE25AB67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BE45E9-0DF2-AFF4-7884-7ABB02F4642C}"/>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5A8634CC-CFEF-DF91-ED03-6861370F813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DC0C4B15-05D8-A8C9-AE60-CDFB6C9FAB56}"/>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26193D1E-324A-D05E-4294-39FEB1EA2840}"/>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2A2E920E-F612-6DF3-CE12-E604B8F07F2C}"/>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E7F5D352-E61F-5C2B-9236-227137686849}"/>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FB090F87-5F0B-D56F-CDAD-981FABD556EA}"/>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C04CFFD2-B726-8665-B578-84980A5B41D6}"/>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547C4CD1-0098-7651-F5D3-FFA8079F5E6F}"/>
              </a:ext>
            </a:extLst>
          </p:cNvPr>
          <p:cNvSpPr/>
          <p:nvPr/>
        </p:nvSpPr>
        <p:spPr>
          <a:xfrm>
            <a:off x="4433720" y="340989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D76CC8D2-7B93-B40E-EED4-28956C50DE2E}"/>
              </a:ext>
            </a:extLst>
          </p:cNvPr>
          <p:cNvSpPr/>
          <p:nvPr/>
        </p:nvSpPr>
        <p:spPr>
          <a:xfrm>
            <a:off x="4378922" y="4908580"/>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4F349C93-717D-90C6-1604-BA2A186B8B12}"/>
              </a:ext>
            </a:extLst>
          </p:cNvPr>
          <p:cNvSpPr/>
          <p:nvPr/>
        </p:nvSpPr>
        <p:spPr>
          <a:xfrm>
            <a:off x="5345239" y="4908580"/>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644581EC-6309-DA9B-574A-4C337D889BA4}"/>
              </a:ext>
            </a:extLst>
          </p:cNvPr>
          <p:cNvSpPr/>
          <p:nvPr/>
        </p:nvSpPr>
        <p:spPr>
          <a:xfrm>
            <a:off x="6282123" y="4899401"/>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Direct Access Storage 14">
            <a:extLst>
              <a:ext uri="{FF2B5EF4-FFF2-40B4-BE49-F238E27FC236}">
                <a16:creationId xmlns:a16="http://schemas.microsoft.com/office/drawing/2014/main" id="{43325E1B-1FE8-26A1-38DC-ACAA0B7DAE1E}"/>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402200008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D87F592-7C8D-DF83-575D-EA063FEAB5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CBDFDE-3B16-4612-3922-080F7F16EC2D}"/>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8BB094E8-143C-8582-3603-82281431567C}"/>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F83725F4-FB0F-AA1F-066B-6C5AE2559989}"/>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D3E54E6B-412F-A306-1527-529611892C32}"/>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D97613A9-93CA-FE2F-A754-0C7DAE1F144D}"/>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BC286FAA-FB80-637E-A111-57FF0EAF54DA}"/>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66442C7F-DF63-66FC-F0A9-FDB6187D5AC2}"/>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A5DFFA30-8837-14C8-807F-EBC1BE55BD97}"/>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D61F55E6-CCA8-1938-E68C-DB6A192F9638}"/>
              </a:ext>
            </a:extLst>
          </p:cNvPr>
          <p:cNvSpPr/>
          <p:nvPr/>
        </p:nvSpPr>
        <p:spPr>
          <a:xfrm>
            <a:off x="4433720" y="340989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145DF826-6ED1-6450-82EA-973818072520}"/>
              </a:ext>
            </a:extLst>
          </p:cNvPr>
          <p:cNvSpPr/>
          <p:nvPr/>
        </p:nvSpPr>
        <p:spPr>
          <a:xfrm>
            <a:off x="4378922" y="4908580"/>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75D48220-0A80-3D27-A67A-EB1D5BE5FE4D}"/>
              </a:ext>
            </a:extLst>
          </p:cNvPr>
          <p:cNvSpPr/>
          <p:nvPr/>
        </p:nvSpPr>
        <p:spPr>
          <a:xfrm>
            <a:off x="4114202"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4E403801-424D-A55C-C39E-290172B3C303}"/>
              </a:ext>
            </a:extLst>
          </p:cNvPr>
          <p:cNvSpPr/>
          <p:nvPr/>
        </p:nvSpPr>
        <p:spPr>
          <a:xfrm>
            <a:off x="6282123" y="4899401"/>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Direct Access Storage 14">
            <a:extLst>
              <a:ext uri="{FF2B5EF4-FFF2-40B4-BE49-F238E27FC236}">
                <a16:creationId xmlns:a16="http://schemas.microsoft.com/office/drawing/2014/main" id="{DD61AE34-971D-773C-34B2-0F2DCA48BA77}"/>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122288573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4EB6376-3B31-0860-5D4D-91A3AB4ACA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09F6C5-9C7E-B858-603A-A9032EA52E1E}"/>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43B89F1A-7BCD-5665-0F9B-596696F9CD6D}"/>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4CD04627-2129-291E-6CC0-6CFE802172FF}"/>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7752556-0888-8D93-5930-FDED2D241A8E}"/>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A4DC585B-58A8-FD20-94E8-1CE3823DC0CC}"/>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8940236A-BD21-052D-E23F-2B3C960D6C24}"/>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8F9B18DB-0B39-0FA2-25D9-920013B8896B}"/>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C5BE9C94-ADA4-E7E9-B424-E98E5406CDA9}"/>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41D19A33-20C2-246E-9CA7-CB369A709174}"/>
              </a:ext>
            </a:extLst>
          </p:cNvPr>
          <p:cNvSpPr/>
          <p:nvPr/>
        </p:nvSpPr>
        <p:spPr>
          <a:xfrm>
            <a:off x="4433720" y="340989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8494E53D-28AD-F79A-FF48-C7C23D93CA1C}"/>
              </a:ext>
            </a:extLst>
          </p:cNvPr>
          <p:cNvSpPr/>
          <p:nvPr/>
        </p:nvSpPr>
        <p:spPr>
          <a:xfrm>
            <a:off x="3769321"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4BD1FC1D-4171-F57D-F211-D2097AA9B495}"/>
              </a:ext>
            </a:extLst>
          </p:cNvPr>
          <p:cNvSpPr/>
          <p:nvPr/>
        </p:nvSpPr>
        <p:spPr>
          <a:xfrm>
            <a:off x="4114202"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0EF99A0A-ACE8-684C-3AD5-17212C74F271}"/>
              </a:ext>
            </a:extLst>
          </p:cNvPr>
          <p:cNvSpPr/>
          <p:nvPr/>
        </p:nvSpPr>
        <p:spPr>
          <a:xfrm>
            <a:off x="6282123" y="4899401"/>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Direct Access Storage 14">
            <a:extLst>
              <a:ext uri="{FF2B5EF4-FFF2-40B4-BE49-F238E27FC236}">
                <a16:creationId xmlns:a16="http://schemas.microsoft.com/office/drawing/2014/main" id="{BA463A03-FF93-CBD0-FD9D-13E2BA804B79}"/>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3624411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B8009A7-49D3-E480-64CC-2773069D98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D698ED-4A3A-0A7E-D8F7-BF02E5A514CD}"/>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7B973978-80F8-4385-C567-CD7D8C2A767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ADAE1F54-B2AF-7088-B86A-5A30C6EB42AE}"/>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C23F3226-52C9-EDC3-083A-B1A38408E72D}"/>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FC3A7A7C-6544-AE8E-E5F5-B6C36FF79134}"/>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08628248-75D3-EE56-C841-4967200F377D}"/>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7B3E03A5-7C30-86A4-7127-85E1D9D731EF}"/>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43BF53F1-1A95-0728-4252-30476E083ED6}"/>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5B60CD74-04CC-6BEC-7939-E9DEF828743D}"/>
              </a:ext>
            </a:extLst>
          </p:cNvPr>
          <p:cNvSpPr/>
          <p:nvPr/>
        </p:nvSpPr>
        <p:spPr>
          <a:xfrm>
            <a:off x="4433720" y="340989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8315ED59-904E-0578-8D6E-9F61F094FA76}"/>
              </a:ext>
            </a:extLst>
          </p:cNvPr>
          <p:cNvSpPr/>
          <p:nvPr/>
        </p:nvSpPr>
        <p:spPr>
          <a:xfrm>
            <a:off x="3769321"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080425B2-C1BF-8C66-D84E-C3698C9C2D08}"/>
              </a:ext>
            </a:extLst>
          </p:cNvPr>
          <p:cNvSpPr/>
          <p:nvPr/>
        </p:nvSpPr>
        <p:spPr>
          <a:xfrm>
            <a:off x="4114202"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D9876C19-C00B-F20D-95F5-D20D4F386E6A}"/>
              </a:ext>
            </a:extLst>
          </p:cNvPr>
          <p:cNvSpPr/>
          <p:nvPr/>
        </p:nvSpPr>
        <p:spPr>
          <a:xfrm>
            <a:off x="3437122"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Direct Access Storage 14">
            <a:extLst>
              <a:ext uri="{FF2B5EF4-FFF2-40B4-BE49-F238E27FC236}">
                <a16:creationId xmlns:a16="http://schemas.microsoft.com/office/drawing/2014/main" id="{886EFF47-3355-00E1-DD28-6F3DB6187961}"/>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403943264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E3860A9-7D3F-2908-9F33-E79FCE1C8F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2D02FD-4756-2526-C917-C41BF143DEB6}"/>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A8F46CCD-2184-FCCE-EA68-69A4687483F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3E0ABAE6-F539-06D6-D0EC-9B0D9331C949}"/>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275C54B1-19FA-5DE8-17F6-9BC2CE5AD7CF}"/>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0B9D76B4-CC7A-7A38-9DBF-050447038550}"/>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C747E822-5381-9FCE-D31B-AC0A88F1919E}"/>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9D91241B-8880-EE49-54FE-4B2DD6C32694}"/>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23E8A153-32A7-A648-1A8C-EB3A96510BE5}"/>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DE8D9778-57A0-21FA-1CE3-E73EDB24728E}"/>
              </a:ext>
            </a:extLst>
          </p:cNvPr>
          <p:cNvSpPr/>
          <p:nvPr/>
        </p:nvSpPr>
        <p:spPr>
          <a:xfrm>
            <a:off x="4433720" y="340989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8421750F-8FFE-415C-A793-F937FC0E713C}"/>
              </a:ext>
            </a:extLst>
          </p:cNvPr>
          <p:cNvSpPr/>
          <p:nvPr/>
        </p:nvSpPr>
        <p:spPr>
          <a:xfrm>
            <a:off x="3769321"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DC9DBB7B-8E58-940A-FE76-F0BE88634082}"/>
              </a:ext>
            </a:extLst>
          </p:cNvPr>
          <p:cNvSpPr/>
          <p:nvPr/>
        </p:nvSpPr>
        <p:spPr>
          <a:xfrm>
            <a:off x="4114202"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BE89FC79-AB17-320A-D6ED-31B2BF5ED911}"/>
              </a:ext>
            </a:extLst>
          </p:cNvPr>
          <p:cNvSpPr/>
          <p:nvPr/>
        </p:nvSpPr>
        <p:spPr>
          <a:xfrm>
            <a:off x="3437122" y="340989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E951C3EB-0F17-E3C2-C2B3-AD321B01D67C}"/>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6" name="Direct Access Storage 15">
            <a:extLst>
              <a:ext uri="{FF2B5EF4-FFF2-40B4-BE49-F238E27FC236}">
                <a16:creationId xmlns:a16="http://schemas.microsoft.com/office/drawing/2014/main" id="{5BE41155-5C0C-312A-4D16-165558956FFF}"/>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168088940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B02366C-483D-4419-3522-95041C8DA6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2B9FA3-7CDB-B329-E7C9-3862F39CA45C}"/>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D3B257BC-D96E-6DDB-4DD1-080B26A8BBAC}"/>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27A40766-E9BD-F197-0A59-A45A2315B7DF}"/>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D187010-1F2F-8B99-1881-45CDA8459314}"/>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423CDF7A-9A4D-8E14-D3E7-031F1ADA54AB}"/>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2D1FA61C-9F94-E471-5BD4-91C69E0ADB5E}"/>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86AAD620-B6D8-1CA4-14B1-BD76986BC473}"/>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897D79D6-D3EB-4362-28EF-DD1A57F74ED8}"/>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B7F211DA-CB9F-9F9D-B8FD-754EC2547611}"/>
              </a:ext>
            </a:extLst>
          </p:cNvPr>
          <p:cNvSpPr/>
          <p:nvPr/>
        </p:nvSpPr>
        <p:spPr>
          <a:xfrm>
            <a:off x="5053120" y="335401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B650238F-216B-1B44-8782-DE466A198BE2}"/>
              </a:ext>
            </a:extLst>
          </p:cNvPr>
          <p:cNvSpPr/>
          <p:nvPr/>
        </p:nvSpPr>
        <p:spPr>
          <a:xfrm>
            <a:off x="4714479" y="3354016"/>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9B84C2EF-BDCF-F77B-40B0-F155A938FEEE}"/>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2155580A-90D7-0120-211E-9BA7EE3648E6}"/>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ED66C280-7562-2C67-D569-B87D5D3E43D2}"/>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6" name="Direct Access Storage 15">
            <a:extLst>
              <a:ext uri="{FF2B5EF4-FFF2-40B4-BE49-F238E27FC236}">
                <a16:creationId xmlns:a16="http://schemas.microsoft.com/office/drawing/2014/main" id="{1DAE0DE8-D456-60C0-8E68-EE17FA3B6462}"/>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304953588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2D31CD0-C604-993A-30DC-33422D2EDF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D531B3-C683-94B0-ECCF-EA37F7D9FE9A}"/>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C2750AEF-4E38-AE28-A8AD-FACA3FC3BE88}"/>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212AB386-294D-E88C-8A3E-73E31BF4278B}"/>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6FC19D5-0D2F-3043-3D89-B29B1C61E054}"/>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D87C09B2-5767-339C-BBD8-AF07BF9D608E}"/>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2198ACF-B622-2875-7EC7-B7173B2E3FD9}"/>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C9F3C71B-D006-1A0E-5FD4-FBBBFAB2FB7A}"/>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3B31962C-DA0B-2D83-44D3-8914BB887B1D}"/>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5" name="TextBox 14">
            <a:extLst>
              <a:ext uri="{FF2B5EF4-FFF2-40B4-BE49-F238E27FC236}">
                <a16:creationId xmlns:a16="http://schemas.microsoft.com/office/drawing/2014/main" id="{310B6ABF-AF00-8D4D-CE3C-16D73E8E6972}"/>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C3696DD3-0609-7DA6-A9D4-296C1CB8864B}"/>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9" name="Direct Access Storage 18">
            <a:extLst>
              <a:ext uri="{FF2B5EF4-FFF2-40B4-BE49-F238E27FC236}">
                <a16:creationId xmlns:a16="http://schemas.microsoft.com/office/drawing/2014/main" id="{26BE66D2-DDAC-57A5-02D5-6BCB06DED416}"/>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11" name="Google Shape;139;p21">
            <a:extLst>
              <a:ext uri="{FF2B5EF4-FFF2-40B4-BE49-F238E27FC236}">
                <a16:creationId xmlns:a16="http://schemas.microsoft.com/office/drawing/2014/main" id="{D115882D-5AC5-1CEE-7FE8-FB853DFC24BA}"/>
              </a:ext>
            </a:extLst>
          </p:cNvPr>
          <p:cNvSpPr/>
          <p:nvPr/>
        </p:nvSpPr>
        <p:spPr>
          <a:xfrm>
            <a:off x="5053120" y="3354017"/>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6C16DB99-6E91-7AE4-03E9-F8DA810EC93D}"/>
              </a:ext>
            </a:extLst>
          </p:cNvPr>
          <p:cNvSpPr/>
          <p:nvPr/>
        </p:nvSpPr>
        <p:spPr>
          <a:xfrm>
            <a:off x="4714479" y="3354016"/>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BED5F533-CF18-906B-8CEF-C55C045C0157}"/>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89875928-DBFE-BB37-A5C3-D0824AC8B9FB}"/>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074646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AC620E1-079B-EA73-F402-DCE52673F5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2866DC-9698-C944-88E2-5DB46EFB5FED}"/>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987E6F6F-59E9-4C17-3A1D-0F388275255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DCFAA233-8CB9-B7BB-9583-CCC3F624B75D}"/>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45F976B7-64EB-E8A4-6832-3AB4E63AC0D4}"/>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CD4773EB-FE30-91E4-2F6E-45EA511256B3}"/>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80D47057-A3D7-1CC2-751D-0ED98F2B9940}"/>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B1574C53-B53B-B0CA-D7B3-7B4AAD67E505}"/>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030E4A30-3398-6679-D056-ED00151A8F59}"/>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2" name="Google Shape;139;p21">
            <a:extLst>
              <a:ext uri="{FF2B5EF4-FFF2-40B4-BE49-F238E27FC236}">
                <a16:creationId xmlns:a16="http://schemas.microsoft.com/office/drawing/2014/main" id="{F67AD413-EC47-5C6F-7416-57E1F0E6408A}"/>
              </a:ext>
            </a:extLst>
          </p:cNvPr>
          <p:cNvSpPr/>
          <p:nvPr/>
        </p:nvSpPr>
        <p:spPr>
          <a:xfrm>
            <a:off x="4714479" y="3354016"/>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641DFCAF-CBCE-17DE-1F53-2BDF406CA588}"/>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5DDD8810-7F58-C28A-3A47-43AA21678B1F}"/>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2F93DB1D-775F-ECF5-41CA-803435D8FA5F}"/>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742589E6-E40C-0DAD-34FE-BAE483F391CC}"/>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Direct Access Storage 17">
            <a:extLst>
              <a:ext uri="{FF2B5EF4-FFF2-40B4-BE49-F238E27FC236}">
                <a16:creationId xmlns:a16="http://schemas.microsoft.com/office/drawing/2014/main" id="{7F6678EC-23EC-1F23-9FD2-35207B93090A}"/>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11" name="Google Shape;139;p21">
            <a:extLst>
              <a:ext uri="{FF2B5EF4-FFF2-40B4-BE49-F238E27FC236}">
                <a16:creationId xmlns:a16="http://schemas.microsoft.com/office/drawing/2014/main" id="{3BC3E83A-96C8-FFE5-4A1E-E19D8582DE84}"/>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715588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66255CD-015B-B386-ECB0-FEA334C397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DF5FE1-587E-F664-E3E7-D7791318187B}"/>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3B6F010E-F97B-CF77-E16D-F3F3CBC7DE70}"/>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7DBB4AEE-A9EA-0EFD-C7DC-3F4ADCF0547E}"/>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AB6798F5-182D-6629-EA2C-6FEE88B3C078}"/>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09312636-4121-3E63-F3A5-56894DFB9C88}"/>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E648B308-9C15-836E-730C-7309D7374B2B}"/>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62979618-8049-28B1-8984-BA7A6233382F}"/>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C8ADBFBA-2907-E476-E8AC-F847F02BC690}"/>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9" name="TextBox 8">
            <a:extLst>
              <a:ext uri="{FF2B5EF4-FFF2-40B4-BE49-F238E27FC236}">
                <a16:creationId xmlns:a16="http://schemas.microsoft.com/office/drawing/2014/main" id="{199567F6-D333-07B9-A452-1382F2EF9D27}"/>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3941CA07-C852-FC0A-CFAE-AAFC0587DBD5}"/>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6A6D630D-3192-66B1-B4FA-587A5369E1BC}"/>
              </a:ext>
            </a:extLst>
          </p:cNvPr>
          <p:cNvSpPr/>
          <p:nvPr/>
        </p:nvSpPr>
        <p:spPr>
          <a:xfrm>
            <a:off x="4714479" y="3354016"/>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C1203FCB-FDD1-D611-258A-6B07321CF568}"/>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9563A24A-CAB0-F917-1863-D9F235235F5D}"/>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DC8EFE0A-00B0-8847-6BDB-D7B209811EBA}"/>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3B89994B-9593-49C1-DFA9-AC317769BB16}"/>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TextBox 17">
            <a:extLst>
              <a:ext uri="{FF2B5EF4-FFF2-40B4-BE49-F238E27FC236}">
                <a16:creationId xmlns:a16="http://schemas.microsoft.com/office/drawing/2014/main" id="{1C46B326-69AF-59ED-2F41-E28FA7968832}"/>
              </a:ext>
            </a:extLst>
          </p:cNvPr>
          <p:cNvSpPr txBox="1"/>
          <p:nvPr/>
        </p:nvSpPr>
        <p:spPr>
          <a:xfrm>
            <a:off x="6497452" y="4742417"/>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Repeat (i.e., wait until one message from each MP and release)</a:t>
            </a:r>
          </a:p>
        </p:txBody>
      </p:sp>
    </p:spTree>
    <p:extLst>
      <p:ext uri="{BB962C8B-B14F-4D97-AF65-F5344CB8AC3E}">
        <p14:creationId xmlns:p14="http://schemas.microsoft.com/office/powerpoint/2010/main" val="306860497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BFD8566-BCE7-78CB-8D41-35BCE50742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889B21-B0A7-C6A4-B560-182E15F7040B}"/>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7A10A19E-AF5C-BC07-3AAE-7130CE7300A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9F34E8A0-B05C-68A3-A4B5-8CC8E9650A9E}"/>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46AE957C-8BEC-3714-73A6-EF4CA8D9C1BD}"/>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5CA701AE-7FE4-5A00-C63C-DA4FE7834F57}"/>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C393C0A0-5B89-EAFE-280A-37FBBCAF2495}"/>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2CDAFA31-7CB8-3711-D0F9-FA85F129976B}"/>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05A398E7-1CB7-41FD-721C-A315EE56CF6F}"/>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9" name="TextBox 8">
            <a:extLst>
              <a:ext uri="{FF2B5EF4-FFF2-40B4-BE49-F238E27FC236}">
                <a16:creationId xmlns:a16="http://schemas.microsoft.com/office/drawing/2014/main" id="{AB739BC1-5C41-DEE9-6EC1-98700D12C04B}"/>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06A3A74B-DFA9-8E94-C580-39A375F8F37F}"/>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5C17941E-B28F-F8DB-FCB5-F9A171B663CE}"/>
              </a:ext>
            </a:extLst>
          </p:cNvPr>
          <p:cNvSpPr/>
          <p:nvPr/>
        </p:nvSpPr>
        <p:spPr>
          <a:xfrm>
            <a:off x="4714479" y="3354016"/>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E63E1E5E-92DE-DC39-4B4D-AB84413AB025}"/>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EBC616BE-BCB6-8F5B-DCCC-95DDFE75B104}"/>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3C13541B-6EAA-AD00-5389-C8BEDB06D0C4}"/>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389C7861-5F99-22D6-1536-34F71E273D4E}"/>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TextBox 17">
            <a:extLst>
              <a:ext uri="{FF2B5EF4-FFF2-40B4-BE49-F238E27FC236}">
                <a16:creationId xmlns:a16="http://schemas.microsoft.com/office/drawing/2014/main" id="{22C4C6BC-FE03-043A-280B-6D274196E1B0}"/>
              </a:ext>
            </a:extLst>
          </p:cNvPr>
          <p:cNvSpPr txBox="1"/>
          <p:nvPr/>
        </p:nvSpPr>
        <p:spPr>
          <a:xfrm>
            <a:off x="6497452" y="4742417"/>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Repeat (i.e., wait until one message from each MP and release)</a:t>
            </a:r>
          </a:p>
        </p:txBody>
      </p:sp>
      <p:sp>
        <p:nvSpPr>
          <p:cNvPr id="15" name="Google Shape;139;p21">
            <a:extLst>
              <a:ext uri="{FF2B5EF4-FFF2-40B4-BE49-F238E27FC236}">
                <a16:creationId xmlns:a16="http://schemas.microsoft.com/office/drawing/2014/main" id="{CFDC105B-9820-1EE0-8434-FCBC92609F79}"/>
              </a:ext>
            </a:extLst>
          </p:cNvPr>
          <p:cNvSpPr/>
          <p:nvPr/>
        </p:nvSpPr>
        <p:spPr>
          <a:xfrm>
            <a:off x="3412605" y="494451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5</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768201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4BF51A9-35E7-46CD-CC44-3186FAABB6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81C142-1560-1348-3094-456A372AF0E2}"/>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6EECAA3E-5064-F0F5-515C-96A4802C165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5E372C93-BE63-5625-9560-2AC0F5BB2BE9}"/>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906243FA-F241-0826-158A-7BC8A60DB2AA}"/>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6FEE7150-646D-7DB8-B11D-AF3CA6C7CAC0}"/>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0B5969CB-D916-DAE5-D897-2AF669EDA721}"/>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6DFAF7D7-7724-5644-7EB8-A6D7BEBFFE72}"/>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C88EAB89-2670-1EF8-96DB-D6A664850A5A}"/>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9" name="TextBox 8">
            <a:extLst>
              <a:ext uri="{FF2B5EF4-FFF2-40B4-BE49-F238E27FC236}">
                <a16:creationId xmlns:a16="http://schemas.microsoft.com/office/drawing/2014/main" id="{F2001BE0-6323-DC21-C673-9A3233DC4338}"/>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3E535CDD-58FF-28DB-6CBD-5EBCD79E18A6}"/>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6161EC40-354F-0E94-AEEA-1ACC37F0C537}"/>
              </a:ext>
            </a:extLst>
          </p:cNvPr>
          <p:cNvSpPr/>
          <p:nvPr/>
        </p:nvSpPr>
        <p:spPr>
          <a:xfrm>
            <a:off x="4714479" y="3354016"/>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2230877E-7F94-A578-143E-EDAF4E5A123E}"/>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75883BD2-997D-B761-363E-368367184E2C}"/>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F553F00F-EFB9-3AE2-8FC1-C06637910D0F}"/>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3AE0264B-B8AF-14D4-B22B-6A9773301EC6}"/>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TextBox 17">
            <a:extLst>
              <a:ext uri="{FF2B5EF4-FFF2-40B4-BE49-F238E27FC236}">
                <a16:creationId xmlns:a16="http://schemas.microsoft.com/office/drawing/2014/main" id="{FF399FB2-1604-4304-E555-16AF713C6447}"/>
              </a:ext>
            </a:extLst>
          </p:cNvPr>
          <p:cNvSpPr txBox="1"/>
          <p:nvPr/>
        </p:nvSpPr>
        <p:spPr>
          <a:xfrm>
            <a:off x="6497452" y="4742417"/>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Repeat (i.e., wait until one message from each MP and release)</a:t>
            </a:r>
          </a:p>
        </p:txBody>
      </p:sp>
      <p:sp>
        <p:nvSpPr>
          <p:cNvPr id="15" name="Google Shape;139;p21">
            <a:extLst>
              <a:ext uri="{FF2B5EF4-FFF2-40B4-BE49-F238E27FC236}">
                <a16:creationId xmlns:a16="http://schemas.microsoft.com/office/drawing/2014/main" id="{CC437D42-AE37-6349-BB7F-F875E132DBE9}"/>
              </a:ext>
            </a:extLst>
          </p:cNvPr>
          <p:cNvSpPr/>
          <p:nvPr/>
        </p:nvSpPr>
        <p:spPr>
          <a:xfrm>
            <a:off x="3725067" y="335051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5</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219727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360AD03-A3E5-DE1B-8732-5923C7947C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A4E672-9E63-F540-1560-F0092D19E216}"/>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38A8E5C7-AD81-F4F2-AE39-0327127A5D6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E7CEFE84-136E-7050-5494-7C188A7F9672}"/>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DA26F104-AE2A-FAC8-A401-F5143CB963BA}"/>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051907DE-B157-82A5-57AE-3B53EC20B9A1}"/>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E967F0C5-03D5-75E3-D0A0-3DED2CD5B855}"/>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6FAB9EF9-7256-4260-62CA-FD7731FEB058}"/>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5415A7B0-ED8B-05A1-24D9-F8771E8DA97A}"/>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9" name="TextBox 8">
            <a:extLst>
              <a:ext uri="{FF2B5EF4-FFF2-40B4-BE49-F238E27FC236}">
                <a16:creationId xmlns:a16="http://schemas.microsoft.com/office/drawing/2014/main" id="{26CD21CD-EC7F-8791-97F0-D536E0F52865}"/>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AF7A43E4-4AB8-15E9-6EC0-078E1A2A7F90}"/>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94AAC8A6-EE0E-B5EF-1E38-828CC7FFC346}"/>
              </a:ext>
            </a:extLst>
          </p:cNvPr>
          <p:cNvSpPr/>
          <p:nvPr/>
        </p:nvSpPr>
        <p:spPr>
          <a:xfrm>
            <a:off x="5280724" y="2448324"/>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68D2F7AD-152E-C85F-21E0-FC410DC071D9}"/>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7FE261E1-A766-06FB-44DF-B5F7012E8D30}"/>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228B7D40-A0CA-B094-5F03-918218943384}"/>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4412D1DD-9729-BA80-FB95-0971EABBE077}"/>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TextBox 17">
            <a:extLst>
              <a:ext uri="{FF2B5EF4-FFF2-40B4-BE49-F238E27FC236}">
                <a16:creationId xmlns:a16="http://schemas.microsoft.com/office/drawing/2014/main" id="{2F8B09A3-38CD-DF35-86B1-609435841FD9}"/>
              </a:ext>
            </a:extLst>
          </p:cNvPr>
          <p:cNvSpPr txBox="1"/>
          <p:nvPr/>
        </p:nvSpPr>
        <p:spPr>
          <a:xfrm>
            <a:off x="6497452" y="4742417"/>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Repeat (i.e., wait until one message from each MP and release)</a:t>
            </a:r>
          </a:p>
        </p:txBody>
      </p:sp>
      <p:sp>
        <p:nvSpPr>
          <p:cNvPr id="15" name="Google Shape;139;p21">
            <a:extLst>
              <a:ext uri="{FF2B5EF4-FFF2-40B4-BE49-F238E27FC236}">
                <a16:creationId xmlns:a16="http://schemas.microsoft.com/office/drawing/2014/main" id="{F8302AB6-A3C5-DD37-91F2-85ADE3370CF1}"/>
              </a:ext>
            </a:extLst>
          </p:cNvPr>
          <p:cNvSpPr/>
          <p:nvPr/>
        </p:nvSpPr>
        <p:spPr>
          <a:xfrm>
            <a:off x="3725067" y="335051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5</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567868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A0BA53B-E134-A23E-A5D0-DB554BD6EB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9F037D-C8EE-3A7C-6699-1F4613C663F8}"/>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67AD9249-DCCB-EB45-81C4-818310E4DDD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AF0ECEDC-7C4C-E2D3-D103-2944F4D39032}"/>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30F39FB0-90CD-3887-90F1-C2FFCB8581F3}"/>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7145D4B6-BB09-06C9-7EAA-E939D8C10C28}"/>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C67164C9-7BA2-D9DD-7191-D174AC6F8322}"/>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D7E9BAC3-4916-85F5-F5B8-3E91FC9DB1E5}"/>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B54A3367-42CB-11AE-95AE-867B187ACD39}"/>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9" name="TextBox 8">
            <a:extLst>
              <a:ext uri="{FF2B5EF4-FFF2-40B4-BE49-F238E27FC236}">
                <a16:creationId xmlns:a16="http://schemas.microsoft.com/office/drawing/2014/main" id="{A9FE8FA5-0477-CDC2-EDC3-68A0957677E2}"/>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0B9D1ED5-A9ED-8406-39FF-F88AF5CEFA8B}"/>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7F202192-3020-166F-0D83-BEB616356127}"/>
              </a:ext>
            </a:extLst>
          </p:cNvPr>
          <p:cNvSpPr/>
          <p:nvPr/>
        </p:nvSpPr>
        <p:spPr>
          <a:xfrm>
            <a:off x="5280724" y="2448324"/>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697BCF16-23FF-5518-6437-425DBEBB0FFC}"/>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4CB60523-C593-E7F9-46D3-202138DCE1B2}"/>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583BE954-70F6-46D0-EED9-00080B1D32E9}"/>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6E72B26D-7A4C-382B-8EB8-659B53A3DB83}"/>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TextBox 17">
            <a:extLst>
              <a:ext uri="{FF2B5EF4-FFF2-40B4-BE49-F238E27FC236}">
                <a16:creationId xmlns:a16="http://schemas.microsoft.com/office/drawing/2014/main" id="{D248AD1B-6A27-779E-DE0D-7DDCDC1E75CD}"/>
              </a:ext>
            </a:extLst>
          </p:cNvPr>
          <p:cNvSpPr txBox="1"/>
          <p:nvPr/>
        </p:nvSpPr>
        <p:spPr>
          <a:xfrm>
            <a:off x="6497452" y="4742417"/>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Repeat (i.e., wait until one message from each MP and release)</a:t>
            </a:r>
          </a:p>
        </p:txBody>
      </p:sp>
      <p:sp>
        <p:nvSpPr>
          <p:cNvPr id="15" name="Google Shape;139;p21">
            <a:extLst>
              <a:ext uri="{FF2B5EF4-FFF2-40B4-BE49-F238E27FC236}">
                <a16:creationId xmlns:a16="http://schemas.microsoft.com/office/drawing/2014/main" id="{27920631-F835-B149-A7EC-458CBC9EF636}"/>
              </a:ext>
            </a:extLst>
          </p:cNvPr>
          <p:cNvSpPr/>
          <p:nvPr/>
        </p:nvSpPr>
        <p:spPr>
          <a:xfrm>
            <a:off x="3725067" y="335051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5</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Rounded Rectangle 19">
            <a:extLst>
              <a:ext uri="{FF2B5EF4-FFF2-40B4-BE49-F238E27FC236}">
                <a16:creationId xmlns:a16="http://schemas.microsoft.com/office/drawing/2014/main" id="{26118301-C923-EBAC-E8C1-DEC1D94C8EA3}"/>
              </a:ext>
            </a:extLst>
          </p:cNvPr>
          <p:cNvSpPr/>
          <p:nvPr/>
        </p:nvSpPr>
        <p:spPr>
          <a:xfrm>
            <a:off x="366190" y="2184400"/>
            <a:ext cx="2830859" cy="150624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Correct if clocks perfectly synchronized</a:t>
            </a:r>
          </a:p>
        </p:txBody>
      </p:sp>
    </p:spTree>
    <p:extLst>
      <p:ext uri="{BB962C8B-B14F-4D97-AF65-F5344CB8AC3E}">
        <p14:creationId xmlns:p14="http://schemas.microsoft.com/office/powerpoint/2010/main" val="255492790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260E996-DDC6-5220-15D2-8DA81AF33E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1E3C0C-213C-01AF-8C11-C08CEA1E51E8}"/>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1DF26BCE-ED48-AED6-0684-AB36306CB1E0}"/>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341EDECB-CCD2-B262-CDDB-B82BF988D7E8}"/>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CB8D4522-A12E-E439-659C-02123BC6F100}"/>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06988982-01B0-5E61-41C6-EB3D3E9E71BC}"/>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B654F339-F94F-6AD7-8633-C1A19F6513FE}"/>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416E36A6-C17D-8D21-713B-CC8FA7883D45}"/>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DF5A40EC-D3B1-41C2-7677-94F4FC48DD6D}"/>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9" name="TextBox 8">
            <a:extLst>
              <a:ext uri="{FF2B5EF4-FFF2-40B4-BE49-F238E27FC236}">
                <a16:creationId xmlns:a16="http://schemas.microsoft.com/office/drawing/2014/main" id="{0C3250AD-567C-547B-0BBC-2A5CA39A0936}"/>
              </a:ext>
            </a:extLst>
          </p:cNvPr>
          <p:cNvSpPr txBox="1"/>
          <p:nvPr/>
        </p:nvSpPr>
        <p:spPr>
          <a:xfrm>
            <a:off x="6452716" y="1874761"/>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All MPs synchronize their clocks</a:t>
            </a:r>
          </a:p>
          <a:p>
            <a:pPr marL="285750" indent="-285750">
              <a:buFont typeface="Arial" panose="020B0604020202020204" pitchFamily="34" charset="0"/>
              <a:buChar char="•"/>
            </a:pPr>
            <a:r>
              <a:rPr lang="en-US" sz="2800" dirty="0"/>
              <a:t>MPs timestamp their messages</a:t>
            </a:r>
          </a:p>
          <a:p>
            <a:pPr marL="285750" indent="-285750">
              <a:buFont typeface="Arial" panose="020B0604020202020204" pitchFamily="34" charset="0"/>
              <a:buChar char="•"/>
            </a:pPr>
            <a:r>
              <a:rPr lang="en-US" sz="2800" dirty="0"/>
              <a:t>Sequencer waits for at least one message from each MP</a:t>
            </a:r>
          </a:p>
        </p:txBody>
      </p:sp>
      <p:sp>
        <p:nvSpPr>
          <p:cNvPr id="11" name="Google Shape;139;p21">
            <a:extLst>
              <a:ext uri="{FF2B5EF4-FFF2-40B4-BE49-F238E27FC236}">
                <a16:creationId xmlns:a16="http://schemas.microsoft.com/office/drawing/2014/main" id="{480259DF-2074-B809-5DDF-9C7CE814178B}"/>
              </a:ext>
            </a:extLst>
          </p:cNvPr>
          <p:cNvSpPr/>
          <p:nvPr/>
        </p:nvSpPr>
        <p:spPr>
          <a:xfrm>
            <a:off x="5598125" y="246364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Google Shape;139;p21">
            <a:extLst>
              <a:ext uri="{FF2B5EF4-FFF2-40B4-BE49-F238E27FC236}">
                <a16:creationId xmlns:a16="http://schemas.microsoft.com/office/drawing/2014/main" id="{00DF7D7B-02E9-A0EC-A9AB-4B6B825ADC14}"/>
              </a:ext>
            </a:extLst>
          </p:cNvPr>
          <p:cNvSpPr/>
          <p:nvPr/>
        </p:nvSpPr>
        <p:spPr>
          <a:xfrm>
            <a:off x="5280724" y="2448324"/>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2</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Google Shape;139;p21">
            <a:extLst>
              <a:ext uri="{FF2B5EF4-FFF2-40B4-BE49-F238E27FC236}">
                <a16:creationId xmlns:a16="http://schemas.microsoft.com/office/drawing/2014/main" id="{C486990B-8E28-ACCE-3B57-F8F18DC6A903}"/>
              </a:ext>
            </a:extLst>
          </p:cNvPr>
          <p:cNvSpPr/>
          <p:nvPr/>
        </p:nvSpPr>
        <p:spPr>
          <a:xfrm>
            <a:off x="4378922" y="3373685"/>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3</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Google Shape;139;p21">
            <a:extLst>
              <a:ext uri="{FF2B5EF4-FFF2-40B4-BE49-F238E27FC236}">
                <a16:creationId xmlns:a16="http://schemas.microsoft.com/office/drawing/2014/main" id="{56FA2761-82FA-D1B8-E3E6-B308B93D561D}"/>
              </a:ext>
            </a:extLst>
          </p:cNvPr>
          <p:cNvSpPr/>
          <p:nvPr/>
        </p:nvSpPr>
        <p:spPr>
          <a:xfrm>
            <a:off x="4059404" y="3350519"/>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4</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B5EFAD94-ECD6-98C3-27E5-1EF5058E002A}"/>
              </a:ext>
            </a:extLst>
          </p:cNvPr>
          <p:cNvSpPr txBox="1"/>
          <p:nvPr/>
        </p:nvSpPr>
        <p:spPr>
          <a:xfrm>
            <a:off x="6497452" y="3594420"/>
            <a:ext cx="5426110"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It sorts the messages</a:t>
            </a:r>
          </a:p>
        </p:txBody>
      </p:sp>
      <p:sp>
        <p:nvSpPr>
          <p:cNvPr id="17" name="TextBox 16">
            <a:extLst>
              <a:ext uri="{FF2B5EF4-FFF2-40B4-BE49-F238E27FC236}">
                <a16:creationId xmlns:a16="http://schemas.microsoft.com/office/drawing/2014/main" id="{CE2D585B-8F69-1548-2CBB-C038C5886536}"/>
              </a:ext>
            </a:extLst>
          </p:cNvPr>
          <p:cNvSpPr txBox="1"/>
          <p:nvPr/>
        </p:nvSpPr>
        <p:spPr>
          <a:xfrm>
            <a:off x="6497452" y="3979948"/>
            <a:ext cx="542611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It releases the one with the smallest </a:t>
            </a:r>
            <a:r>
              <a:rPr lang="en-US" sz="2800" dirty="0" err="1"/>
              <a:t>ts</a:t>
            </a:r>
            <a:endParaRPr lang="en-US" sz="2800" dirty="0"/>
          </a:p>
        </p:txBody>
      </p:sp>
      <p:sp>
        <p:nvSpPr>
          <p:cNvPr id="18" name="TextBox 17">
            <a:extLst>
              <a:ext uri="{FF2B5EF4-FFF2-40B4-BE49-F238E27FC236}">
                <a16:creationId xmlns:a16="http://schemas.microsoft.com/office/drawing/2014/main" id="{6E565E6D-9B1F-9F23-C837-EC31302A4C99}"/>
              </a:ext>
            </a:extLst>
          </p:cNvPr>
          <p:cNvSpPr txBox="1"/>
          <p:nvPr/>
        </p:nvSpPr>
        <p:spPr>
          <a:xfrm>
            <a:off x="6497452" y="4742417"/>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Repeat (i.e., wait until one message from each MP and release)</a:t>
            </a:r>
          </a:p>
        </p:txBody>
      </p:sp>
      <p:sp>
        <p:nvSpPr>
          <p:cNvPr id="15" name="Google Shape;139;p21">
            <a:extLst>
              <a:ext uri="{FF2B5EF4-FFF2-40B4-BE49-F238E27FC236}">
                <a16:creationId xmlns:a16="http://schemas.microsoft.com/office/drawing/2014/main" id="{02D8DF55-9D48-EF27-3F37-91AB2943323F}"/>
              </a:ext>
            </a:extLst>
          </p:cNvPr>
          <p:cNvSpPr/>
          <p:nvPr/>
        </p:nvSpPr>
        <p:spPr>
          <a:xfrm>
            <a:off x="3725067" y="3350518"/>
            <a:ext cx="282320" cy="280745"/>
          </a:xfrm>
          <a:prstGeom prst="ellipse">
            <a:avLst/>
          </a:prstGeom>
          <a:solidFill>
            <a:schemeClr val="accent5">
              <a:lumMod val="40000"/>
              <a:lumOff val="60000"/>
            </a:schemeClr>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5</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Rounded Rectangle 19">
            <a:extLst>
              <a:ext uri="{FF2B5EF4-FFF2-40B4-BE49-F238E27FC236}">
                <a16:creationId xmlns:a16="http://schemas.microsoft.com/office/drawing/2014/main" id="{6C4F619D-59DF-0108-9BD2-FDA0C6A80EE8}"/>
              </a:ext>
            </a:extLst>
          </p:cNvPr>
          <p:cNvSpPr/>
          <p:nvPr/>
        </p:nvSpPr>
        <p:spPr>
          <a:xfrm>
            <a:off x="366190" y="2184400"/>
            <a:ext cx="2830859" cy="150624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Correct if clocks perfectly synchronized</a:t>
            </a:r>
          </a:p>
        </p:txBody>
      </p:sp>
      <p:sp>
        <p:nvSpPr>
          <p:cNvPr id="19" name="Rounded Rectangle 18">
            <a:extLst>
              <a:ext uri="{FF2B5EF4-FFF2-40B4-BE49-F238E27FC236}">
                <a16:creationId xmlns:a16="http://schemas.microsoft.com/office/drawing/2014/main" id="{FC9E0472-6EAF-4A76-12C8-B823F223C6C3}"/>
              </a:ext>
            </a:extLst>
          </p:cNvPr>
          <p:cNvSpPr/>
          <p:nvPr/>
        </p:nvSpPr>
        <p:spPr>
          <a:xfrm>
            <a:off x="268438" y="3802830"/>
            <a:ext cx="4295052" cy="183790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Correct if clock error negligible compared to the time granularity of interest</a:t>
            </a:r>
          </a:p>
        </p:txBody>
      </p:sp>
    </p:spTree>
    <p:extLst>
      <p:ext uri="{BB962C8B-B14F-4D97-AF65-F5344CB8AC3E}">
        <p14:creationId xmlns:p14="http://schemas.microsoft.com/office/powerpoint/2010/main" val="35319686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4A0DB41-A571-DAA1-B7CC-9911C87A2C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86A2DA-AE5B-6F8C-3A63-B606B84BADC0}"/>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0568D402-C109-A90E-B051-633E57927891}"/>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53068D1C-A3E4-43CC-9FB2-4AE026B1FA9E}"/>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83335980-86B2-3E20-18DD-78B827DFF784}"/>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A591E359-B87F-F123-6774-167ED0991ABC}"/>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30D65EF4-02F3-DD04-BCC6-F56B2042BA6D}"/>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EE4DF499-82D1-B9DC-E827-763EE079C86A}"/>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9" name="TextBox 8">
            <a:extLst>
              <a:ext uri="{FF2B5EF4-FFF2-40B4-BE49-F238E27FC236}">
                <a16:creationId xmlns:a16="http://schemas.microsoft.com/office/drawing/2014/main" id="{45E058FA-C687-F3E8-DBA3-DCB4101D6CCA}"/>
              </a:ext>
            </a:extLst>
          </p:cNvPr>
          <p:cNvSpPr txBox="1"/>
          <p:nvPr/>
        </p:nvSpPr>
        <p:spPr>
          <a:xfrm>
            <a:off x="6452716" y="1874761"/>
            <a:ext cx="5426110"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Performance is not good!</a:t>
            </a:r>
          </a:p>
          <a:p>
            <a:pPr marL="285750" indent="-285750">
              <a:buFont typeface="Arial" panose="020B0604020202020204" pitchFamily="34" charset="0"/>
              <a:buChar char="•"/>
            </a:pPr>
            <a:r>
              <a:rPr lang="en-US" sz="2800" dirty="0"/>
              <a:t>Due to bursty nature of the workload, </a:t>
            </a:r>
            <a:r>
              <a:rPr lang="en-US" sz="2800" dirty="0" err="1"/>
              <a:t>incast</a:t>
            </a:r>
            <a:r>
              <a:rPr lang="en-US" sz="2800" dirty="0"/>
              <a:t> congestion at the exchange/sequencer occurs</a:t>
            </a:r>
          </a:p>
          <a:p>
            <a:pPr marL="285750" indent="-285750">
              <a:buFont typeface="Arial" panose="020B0604020202020204" pitchFamily="34" charset="0"/>
              <a:buChar char="•"/>
            </a:pPr>
            <a:endParaRPr lang="en-US" sz="2800" dirty="0"/>
          </a:p>
        </p:txBody>
      </p:sp>
      <p:sp>
        <p:nvSpPr>
          <p:cNvPr id="11" name="Direct Access Storage 10">
            <a:extLst>
              <a:ext uri="{FF2B5EF4-FFF2-40B4-BE49-F238E27FC236}">
                <a16:creationId xmlns:a16="http://schemas.microsoft.com/office/drawing/2014/main" id="{35D54E57-8094-3890-1671-24068C45D8C5}"/>
              </a:ext>
            </a:extLst>
          </p:cNvPr>
          <p:cNvSpPr/>
          <p:nvPr/>
        </p:nvSpPr>
        <p:spPr>
          <a:xfrm>
            <a:off x="3553765" y="2666272"/>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Tree>
    <p:extLst>
      <p:ext uri="{BB962C8B-B14F-4D97-AF65-F5344CB8AC3E}">
        <p14:creationId xmlns:p14="http://schemas.microsoft.com/office/powerpoint/2010/main" val="216880457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3539519-D53C-FB2B-3390-005E3FE3BF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6914FE-421B-EFFA-4537-416212C2BCB0}"/>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B7ECED6D-566D-5705-E1D7-5676D5D426D4}"/>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7649D16A-1064-6A7B-FE13-DDE27A9BA72F}"/>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5A8345D1-DC72-8B41-92DF-2CBC2F14CD7D}"/>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9A4DA52A-72FF-7845-6EF8-DD187070EE53}"/>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306882F1-0504-0915-FF41-340AEFEBC396}"/>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93435850-9F73-E332-1296-967B86DDF312}"/>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DB7E92A9-A1BA-93E8-EF5B-BA76B795458F}"/>
              </a:ext>
            </a:extLst>
          </p:cNvPr>
          <p:cNvSpPr/>
          <p:nvPr/>
        </p:nvSpPr>
        <p:spPr>
          <a:xfrm>
            <a:off x="3704489" y="2759739"/>
            <a:ext cx="2692960" cy="633254"/>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Sequencer</a:t>
            </a:r>
          </a:p>
        </p:txBody>
      </p:sp>
      <p:sp>
        <p:nvSpPr>
          <p:cNvPr id="13" name="Google Shape;135;p21">
            <a:extLst>
              <a:ext uri="{FF2B5EF4-FFF2-40B4-BE49-F238E27FC236}">
                <a16:creationId xmlns:a16="http://schemas.microsoft.com/office/drawing/2014/main" id="{995904E0-EA03-908B-49B9-C1CCCB8170B8}"/>
              </a:ext>
            </a:extLst>
          </p:cNvPr>
          <p:cNvSpPr/>
          <p:nvPr/>
        </p:nvSpPr>
        <p:spPr>
          <a:xfrm>
            <a:off x="3844399" y="37484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9886A739-3BB7-F83B-39F1-FB83C4155FD5}"/>
              </a:ext>
            </a:extLst>
          </p:cNvPr>
          <p:cNvSpPr/>
          <p:nvPr/>
        </p:nvSpPr>
        <p:spPr>
          <a:xfrm>
            <a:off x="3200524"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FC78B48C-AF42-E65F-4DA0-A78056CD4519}"/>
              </a:ext>
            </a:extLst>
          </p:cNvPr>
          <p:cNvSpPr/>
          <p:nvPr/>
        </p:nvSpPr>
        <p:spPr>
          <a:xfrm>
            <a:off x="4168737"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8DDAB416-2245-E9AC-C44E-C4B1D5D66847}"/>
              </a:ext>
            </a:extLst>
          </p:cNvPr>
          <p:cNvSpPr/>
          <p:nvPr/>
        </p:nvSpPr>
        <p:spPr>
          <a:xfrm>
            <a:off x="2925999"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2E181875-9C5B-158A-E6AC-EEA19E5D4B86}"/>
              </a:ext>
            </a:extLst>
          </p:cNvPr>
          <p:cNvSpPr/>
          <p:nvPr/>
        </p:nvSpPr>
        <p:spPr>
          <a:xfrm>
            <a:off x="3379774"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B3A8B114-9527-0A39-2224-FCB914FC8A59}"/>
              </a:ext>
            </a:extLst>
          </p:cNvPr>
          <p:cNvSpPr/>
          <p:nvPr/>
        </p:nvSpPr>
        <p:spPr>
          <a:xfrm>
            <a:off x="3872212"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D2D5424B-B6FA-D269-17CE-35778109C7B9}"/>
              </a:ext>
            </a:extLst>
          </p:cNvPr>
          <p:cNvSpPr/>
          <p:nvPr/>
        </p:nvSpPr>
        <p:spPr>
          <a:xfrm>
            <a:off x="4434049"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818AF79C-C6C3-1D3D-3D10-C1EE58A92A16}"/>
              </a:ext>
            </a:extLst>
          </p:cNvPr>
          <p:cNvCxnSpPr>
            <a:cxnSpLocks/>
            <a:endCxn id="13" idx="6"/>
          </p:cNvCxnSpPr>
          <p:nvPr/>
        </p:nvCxnSpPr>
        <p:spPr>
          <a:xfrm flipH="1">
            <a:off x="4053903" y="3415736"/>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501C3CCC-EB5E-630E-593E-5063FD42C50F}"/>
              </a:ext>
            </a:extLst>
          </p:cNvPr>
          <p:cNvCxnSpPr>
            <a:cxnSpLocks/>
            <a:stCxn id="13" idx="4"/>
            <a:endCxn id="14" idx="6"/>
          </p:cNvCxnSpPr>
          <p:nvPr/>
        </p:nvCxnSpPr>
        <p:spPr>
          <a:xfrm flipH="1">
            <a:off x="3410028" y="3999879"/>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A17EB700-CDD7-8A9B-12F5-1216B41A4176}"/>
              </a:ext>
            </a:extLst>
          </p:cNvPr>
          <p:cNvCxnSpPr>
            <a:cxnSpLocks/>
            <a:stCxn id="13" idx="4"/>
            <a:endCxn id="15" idx="2"/>
          </p:cNvCxnSpPr>
          <p:nvPr/>
        </p:nvCxnSpPr>
        <p:spPr>
          <a:xfrm>
            <a:off x="3949151" y="3999879"/>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D7D74EF2-55FC-64E8-555E-0C3B408CA13C}"/>
              </a:ext>
            </a:extLst>
          </p:cNvPr>
          <p:cNvCxnSpPr>
            <a:cxnSpLocks/>
            <a:stCxn id="14" idx="4"/>
            <a:endCxn id="16" idx="7"/>
          </p:cNvCxnSpPr>
          <p:nvPr/>
        </p:nvCxnSpPr>
        <p:spPr>
          <a:xfrm flipH="1">
            <a:off x="3104822" y="4571854"/>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8DCE758D-8214-88DF-B0B2-034B67966A87}"/>
              </a:ext>
            </a:extLst>
          </p:cNvPr>
          <p:cNvCxnSpPr>
            <a:cxnSpLocks/>
            <a:stCxn id="14" idx="4"/>
            <a:endCxn id="17" idx="1"/>
          </p:cNvCxnSpPr>
          <p:nvPr/>
        </p:nvCxnSpPr>
        <p:spPr>
          <a:xfrm>
            <a:off x="3305276" y="4571854"/>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631225E5-01FE-CD69-2AF1-CAAADD2D2387}"/>
              </a:ext>
            </a:extLst>
          </p:cNvPr>
          <p:cNvCxnSpPr>
            <a:cxnSpLocks/>
            <a:stCxn id="15" idx="4"/>
            <a:endCxn id="18" idx="7"/>
          </p:cNvCxnSpPr>
          <p:nvPr/>
        </p:nvCxnSpPr>
        <p:spPr>
          <a:xfrm flipH="1">
            <a:off x="4051035" y="4571854"/>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9A667FE1-883D-EBB0-8F98-8017ADC035F6}"/>
              </a:ext>
            </a:extLst>
          </p:cNvPr>
          <p:cNvCxnSpPr>
            <a:cxnSpLocks/>
            <a:stCxn id="15" idx="4"/>
            <a:endCxn id="19" idx="1"/>
          </p:cNvCxnSpPr>
          <p:nvPr/>
        </p:nvCxnSpPr>
        <p:spPr>
          <a:xfrm>
            <a:off x="4273489" y="4571854"/>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B59CD47B-8929-410B-71F5-ABB1C7947304}"/>
              </a:ext>
            </a:extLst>
          </p:cNvPr>
          <p:cNvSpPr/>
          <p:nvPr/>
        </p:nvSpPr>
        <p:spPr>
          <a:xfrm>
            <a:off x="5876699" y="373459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FD0AFC11-A989-A1D7-015C-78AEEBC40122}"/>
              </a:ext>
            </a:extLst>
          </p:cNvPr>
          <p:cNvSpPr/>
          <p:nvPr/>
        </p:nvSpPr>
        <p:spPr>
          <a:xfrm>
            <a:off x="5431437" y="42408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31EF3923-3164-D975-DB9D-BE60D925CDE1}"/>
              </a:ext>
            </a:extLst>
          </p:cNvPr>
          <p:cNvSpPr/>
          <p:nvPr/>
        </p:nvSpPr>
        <p:spPr>
          <a:xfrm>
            <a:off x="6397449" y="42047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874DE975-847E-DE94-EE45-8A15EFCBA3F4}"/>
              </a:ext>
            </a:extLst>
          </p:cNvPr>
          <p:cNvSpPr/>
          <p:nvPr/>
        </p:nvSpPr>
        <p:spPr>
          <a:xfrm>
            <a:off x="5147087"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D4F99129-0FD2-51CD-8F27-FDED9E67C453}"/>
              </a:ext>
            </a:extLst>
          </p:cNvPr>
          <p:cNvSpPr/>
          <p:nvPr/>
        </p:nvSpPr>
        <p:spPr>
          <a:xfrm>
            <a:off x="5640712"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1403CEF3-1644-2BF8-3B6E-4DB6DC507B83}"/>
              </a:ext>
            </a:extLst>
          </p:cNvPr>
          <p:cNvSpPr/>
          <p:nvPr/>
        </p:nvSpPr>
        <p:spPr>
          <a:xfrm>
            <a:off x="6167999"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7E65E1B8-4145-9E21-8AC1-21A56A8C4F23}"/>
              </a:ext>
            </a:extLst>
          </p:cNvPr>
          <p:cNvSpPr/>
          <p:nvPr/>
        </p:nvSpPr>
        <p:spPr>
          <a:xfrm>
            <a:off x="6699687"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544914C4-4BC3-C78F-C25A-788474786C0B}"/>
              </a:ext>
            </a:extLst>
          </p:cNvPr>
          <p:cNvCxnSpPr>
            <a:cxnSpLocks/>
            <a:stCxn id="27" idx="4"/>
            <a:endCxn id="28" idx="6"/>
          </p:cNvCxnSpPr>
          <p:nvPr/>
        </p:nvCxnSpPr>
        <p:spPr>
          <a:xfrm flipH="1">
            <a:off x="5640941" y="3986042"/>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9929FD46-DEB3-AA6E-73C5-F1B854C91091}"/>
              </a:ext>
            </a:extLst>
          </p:cNvPr>
          <p:cNvCxnSpPr>
            <a:cxnSpLocks/>
            <a:stCxn id="27" idx="4"/>
            <a:endCxn id="29" idx="2"/>
          </p:cNvCxnSpPr>
          <p:nvPr/>
        </p:nvCxnSpPr>
        <p:spPr>
          <a:xfrm>
            <a:off x="5981451" y="3986042"/>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BC26F426-7A99-B54E-2C6F-29437F536072}"/>
              </a:ext>
            </a:extLst>
          </p:cNvPr>
          <p:cNvCxnSpPr>
            <a:cxnSpLocks/>
            <a:stCxn id="28" idx="4"/>
            <a:endCxn id="30" idx="7"/>
          </p:cNvCxnSpPr>
          <p:nvPr/>
        </p:nvCxnSpPr>
        <p:spPr>
          <a:xfrm flipH="1">
            <a:off x="5325910" y="4492329"/>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4ADB9F72-BF88-53B5-F74F-B046F615AF6C}"/>
              </a:ext>
            </a:extLst>
          </p:cNvPr>
          <p:cNvCxnSpPr>
            <a:cxnSpLocks/>
            <a:stCxn id="28" idx="4"/>
            <a:endCxn id="31" idx="1"/>
          </p:cNvCxnSpPr>
          <p:nvPr/>
        </p:nvCxnSpPr>
        <p:spPr>
          <a:xfrm>
            <a:off x="5536189" y="4492329"/>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22EB28D9-6494-579A-8158-EED0D81DE979}"/>
              </a:ext>
            </a:extLst>
          </p:cNvPr>
          <p:cNvCxnSpPr>
            <a:cxnSpLocks/>
            <a:stCxn id="29" idx="4"/>
            <a:endCxn id="32" idx="7"/>
          </p:cNvCxnSpPr>
          <p:nvPr/>
        </p:nvCxnSpPr>
        <p:spPr>
          <a:xfrm flipH="1">
            <a:off x="6346822" y="4456154"/>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97E45C05-96A8-9C0C-B187-9160F54E0C82}"/>
              </a:ext>
            </a:extLst>
          </p:cNvPr>
          <p:cNvCxnSpPr>
            <a:cxnSpLocks/>
            <a:stCxn id="29" idx="4"/>
            <a:endCxn id="33" idx="1"/>
          </p:cNvCxnSpPr>
          <p:nvPr/>
        </p:nvCxnSpPr>
        <p:spPr>
          <a:xfrm>
            <a:off x="6502201" y="4456154"/>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BDD88CE7-F7A0-4E57-5FF8-E34BC20F72A3}"/>
              </a:ext>
            </a:extLst>
          </p:cNvPr>
          <p:cNvCxnSpPr>
            <a:cxnSpLocks/>
            <a:endCxn id="27" idx="2"/>
          </p:cNvCxnSpPr>
          <p:nvPr/>
        </p:nvCxnSpPr>
        <p:spPr>
          <a:xfrm>
            <a:off x="5319749" y="3413036"/>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41" name="TextBox 40">
            <a:extLst>
              <a:ext uri="{FF2B5EF4-FFF2-40B4-BE49-F238E27FC236}">
                <a16:creationId xmlns:a16="http://schemas.microsoft.com/office/drawing/2014/main" id="{BA8F277D-86BE-31AD-908A-5F7240C5DB0D}"/>
              </a:ext>
            </a:extLst>
          </p:cNvPr>
          <p:cNvSpPr txBox="1"/>
          <p:nvPr/>
        </p:nvSpPr>
        <p:spPr>
          <a:xfrm>
            <a:off x="6765890" y="1872898"/>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Use multicast tree in reverse</a:t>
            </a:r>
          </a:p>
          <a:p>
            <a:pPr marL="285750" indent="-285750">
              <a:buFont typeface="Arial" panose="020B0604020202020204" pitchFamily="34" charset="0"/>
              <a:buChar char="•"/>
            </a:pPr>
            <a:r>
              <a:rPr lang="en-US" sz="2800" dirty="0"/>
              <a:t>Reduced fan-in factor reduces </a:t>
            </a:r>
            <a:r>
              <a:rPr lang="en-US" sz="2800" dirty="0" err="1"/>
              <a:t>incast</a:t>
            </a:r>
            <a:r>
              <a:rPr lang="en-US" sz="2800" dirty="0"/>
              <a:t> congestion</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285404588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5405717-5C59-446A-1E08-5BB78501EB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6B860F-5293-25F3-BD7B-9A46B27012CB}"/>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18C77876-FC7B-E34F-B682-6C79ABCDD4E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9D6F1D62-51F7-45F6-7D69-3D5C2321E9A1}"/>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D19A7D3F-461B-3A59-12DD-402D35F53C07}"/>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31045269-0B80-55F8-EBAD-AA0C4F81282B}"/>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B98E1B6-CAA8-7715-4902-CC00D45080DF}"/>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B9E970D0-5AFC-26B3-D1B7-42146E54CA18}"/>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918F1D9C-3116-528E-43F6-E4BF698B8D53}"/>
              </a:ext>
            </a:extLst>
          </p:cNvPr>
          <p:cNvSpPr/>
          <p:nvPr/>
        </p:nvSpPr>
        <p:spPr>
          <a:xfrm>
            <a:off x="4702887" y="2738325"/>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5973FA77-151E-5123-6348-20BB04BB42FA}"/>
              </a:ext>
            </a:extLst>
          </p:cNvPr>
          <p:cNvSpPr/>
          <p:nvPr/>
        </p:nvSpPr>
        <p:spPr>
          <a:xfrm>
            <a:off x="3844399" y="37484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DA9134F9-DDE7-19C0-9BB8-AFBACD25B541}"/>
              </a:ext>
            </a:extLst>
          </p:cNvPr>
          <p:cNvSpPr/>
          <p:nvPr/>
        </p:nvSpPr>
        <p:spPr>
          <a:xfrm>
            <a:off x="3200524"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A53CB905-BB76-9951-644D-FB86B7729608}"/>
              </a:ext>
            </a:extLst>
          </p:cNvPr>
          <p:cNvSpPr/>
          <p:nvPr/>
        </p:nvSpPr>
        <p:spPr>
          <a:xfrm>
            <a:off x="4168737"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DC6D9973-DF31-7649-5776-E0B610396CCB}"/>
              </a:ext>
            </a:extLst>
          </p:cNvPr>
          <p:cNvSpPr/>
          <p:nvPr/>
        </p:nvSpPr>
        <p:spPr>
          <a:xfrm>
            <a:off x="2925999"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4ACE6482-94B7-1DD0-9885-065C69BFC3D0}"/>
              </a:ext>
            </a:extLst>
          </p:cNvPr>
          <p:cNvSpPr/>
          <p:nvPr/>
        </p:nvSpPr>
        <p:spPr>
          <a:xfrm>
            <a:off x="3379774"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421705AF-C9BB-729A-4312-2C6008454EA2}"/>
              </a:ext>
            </a:extLst>
          </p:cNvPr>
          <p:cNvSpPr/>
          <p:nvPr/>
        </p:nvSpPr>
        <p:spPr>
          <a:xfrm>
            <a:off x="3872212"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F795BFC7-7A58-1B34-9303-59BFF0CF7A24}"/>
              </a:ext>
            </a:extLst>
          </p:cNvPr>
          <p:cNvSpPr/>
          <p:nvPr/>
        </p:nvSpPr>
        <p:spPr>
          <a:xfrm>
            <a:off x="4434049"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0758B11F-AC79-DB06-86A9-573862B2AF5E}"/>
              </a:ext>
            </a:extLst>
          </p:cNvPr>
          <p:cNvCxnSpPr>
            <a:cxnSpLocks/>
            <a:endCxn id="13" idx="6"/>
          </p:cNvCxnSpPr>
          <p:nvPr/>
        </p:nvCxnSpPr>
        <p:spPr>
          <a:xfrm flipH="1">
            <a:off x="4053903" y="3415736"/>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FDD8CD8F-7072-7646-DB55-01391225BBD6}"/>
              </a:ext>
            </a:extLst>
          </p:cNvPr>
          <p:cNvCxnSpPr>
            <a:cxnSpLocks/>
            <a:stCxn id="13" idx="4"/>
            <a:endCxn id="14" idx="6"/>
          </p:cNvCxnSpPr>
          <p:nvPr/>
        </p:nvCxnSpPr>
        <p:spPr>
          <a:xfrm flipH="1">
            <a:off x="3410028" y="3999879"/>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BB8D5BEE-5FFE-92AC-929C-E148E2E07507}"/>
              </a:ext>
            </a:extLst>
          </p:cNvPr>
          <p:cNvCxnSpPr>
            <a:cxnSpLocks/>
            <a:stCxn id="13" idx="4"/>
            <a:endCxn id="15" idx="2"/>
          </p:cNvCxnSpPr>
          <p:nvPr/>
        </p:nvCxnSpPr>
        <p:spPr>
          <a:xfrm>
            <a:off x="3949151" y="3999879"/>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4F03DAE5-E49E-FFA5-8DE1-F78DA9C9A7AE}"/>
              </a:ext>
            </a:extLst>
          </p:cNvPr>
          <p:cNvCxnSpPr>
            <a:cxnSpLocks/>
            <a:stCxn id="14" idx="4"/>
            <a:endCxn id="16" idx="7"/>
          </p:cNvCxnSpPr>
          <p:nvPr/>
        </p:nvCxnSpPr>
        <p:spPr>
          <a:xfrm flipH="1">
            <a:off x="3104822" y="4571854"/>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F7ECEB1A-BEB7-3B2B-96AF-0F89F44E2DA3}"/>
              </a:ext>
            </a:extLst>
          </p:cNvPr>
          <p:cNvCxnSpPr>
            <a:cxnSpLocks/>
            <a:stCxn id="14" idx="4"/>
            <a:endCxn id="17" idx="1"/>
          </p:cNvCxnSpPr>
          <p:nvPr/>
        </p:nvCxnSpPr>
        <p:spPr>
          <a:xfrm>
            <a:off x="3305276" y="4571854"/>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BB380995-B0D2-E230-2C60-6787566BD768}"/>
              </a:ext>
            </a:extLst>
          </p:cNvPr>
          <p:cNvCxnSpPr>
            <a:cxnSpLocks/>
            <a:stCxn id="15" idx="4"/>
            <a:endCxn id="18" idx="7"/>
          </p:cNvCxnSpPr>
          <p:nvPr/>
        </p:nvCxnSpPr>
        <p:spPr>
          <a:xfrm flipH="1">
            <a:off x="4051035" y="4571854"/>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83205507-B4DA-E27F-BC41-8D8C78FB7113}"/>
              </a:ext>
            </a:extLst>
          </p:cNvPr>
          <p:cNvCxnSpPr>
            <a:cxnSpLocks/>
            <a:stCxn id="15" idx="4"/>
            <a:endCxn id="19" idx="1"/>
          </p:cNvCxnSpPr>
          <p:nvPr/>
        </p:nvCxnSpPr>
        <p:spPr>
          <a:xfrm>
            <a:off x="4273489" y="4571854"/>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BD773550-9FF4-C549-FD37-15D1B2E9E86B}"/>
              </a:ext>
            </a:extLst>
          </p:cNvPr>
          <p:cNvSpPr/>
          <p:nvPr/>
        </p:nvSpPr>
        <p:spPr>
          <a:xfrm>
            <a:off x="5876699" y="373459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E6B58235-7848-6AD1-AE7A-49972C13090F}"/>
              </a:ext>
            </a:extLst>
          </p:cNvPr>
          <p:cNvSpPr/>
          <p:nvPr/>
        </p:nvSpPr>
        <p:spPr>
          <a:xfrm>
            <a:off x="5431437" y="42408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3E70A150-02D1-7CD2-8B39-50C89ADDBFF2}"/>
              </a:ext>
            </a:extLst>
          </p:cNvPr>
          <p:cNvSpPr/>
          <p:nvPr/>
        </p:nvSpPr>
        <p:spPr>
          <a:xfrm>
            <a:off x="6397449" y="42047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10D0AABD-22AA-9FF6-1FD0-DBF8FA51BA1A}"/>
              </a:ext>
            </a:extLst>
          </p:cNvPr>
          <p:cNvSpPr/>
          <p:nvPr/>
        </p:nvSpPr>
        <p:spPr>
          <a:xfrm>
            <a:off x="5147087"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27D975D1-8EFB-2391-30D2-68C4B102C8C7}"/>
              </a:ext>
            </a:extLst>
          </p:cNvPr>
          <p:cNvSpPr/>
          <p:nvPr/>
        </p:nvSpPr>
        <p:spPr>
          <a:xfrm>
            <a:off x="5640712"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08FF11AE-E4D6-93A6-8401-179CD00B8852}"/>
              </a:ext>
            </a:extLst>
          </p:cNvPr>
          <p:cNvSpPr/>
          <p:nvPr/>
        </p:nvSpPr>
        <p:spPr>
          <a:xfrm>
            <a:off x="6167999"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6C24E00D-3A08-AA2C-4E62-FADEA1184C0C}"/>
              </a:ext>
            </a:extLst>
          </p:cNvPr>
          <p:cNvSpPr/>
          <p:nvPr/>
        </p:nvSpPr>
        <p:spPr>
          <a:xfrm>
            <a:off x="6699687"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B0419E3E-E55D-B31D-5341-C094847D127D}"/>
              </a:ext>
            </a:extLst>
          </p:cNvPr>
          <p:cNvCxnSpPr>
            <a:cxnSpLocks/>
            <a:stCxn id="27" idx="4"/>
            <a:endCxn id="28" idx="6"/>
          </p:cNvCxnSpPr>
          <p:nvPr/>
        </p:nvCxnSpPr>
        <p:spPr>
          <a:xfrm flipH="1">
            <a:off x="5640941" y="3986042"/>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AD5F38BC-B1F2-BC95-2D24-9EDAE935618B}"/>
              </a:ext>
            </a:extLst>
          </p:cNvPr>
          <p:cNvCxnSpPr>
            <a:cxnSpLocks/>
            <a:stCxn id="27" idx="4"/>
            <a:endCxn id="29" idx="2"/>
          </p:cNvCxnSpPr>
          <p:nvPr/>
        </p:nvCxnSpPr>
        <p:spPr>
          <a:xfrm>
            <a:off x="5981451" y="3986042"/>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D148CCEE-42E9-EE8E-ED9F-0181F8E7B845}"/>
              </a:ext>
            </a:extLst>
          </p:cNvPr>
          <p:cNvCxnSpPr>
            <a:cxnSpLocks/>
            <a:stCxn id="28" idx="4"/>
            <a:endCxn id="30" idx="7"/>
          </p:cNvCxnSpPr>
          <p:nvPr/>
        </p:nvCxnSpPr>
        <p:spPr>
          <a:xfrm flipH="1">
            <a:off x="5325910" y="4492329"/>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BBE05125-2D2E-B1ED-07E2-14288A4A61D9}"/>
              </a:ext>
            </a:extLst>
          </p:cNvPr>
          <p:cNvCxnSpPr>
            <a:cxnSpLocks/>
            <a:stCxn id="28" idx="4"/>
            <a:endCxn id="31" idx="1"/>
          </p:cNvCxnSpPr>
          <p:nvPr/>
        </p:nvCxnSpPr>
        <p:spPr>
          <a:xfrm>
            <a:off x="5536189" y="4492329"/>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62574DBB-0B9A-8B97-C6AE-E14E8707DE01}"/>
              </a:ext>
            </a:extLst>
          </p:cNvPr>
          <p:cNvCxnSpPr>
            <a:cxnSpLocks/>
            <a:stCxn id="29" idx="4"/>
            <a:endCxn id="32" idx="7"/>
          </p:cNvCxnSpPr>
          <p:nvPr/>
        </p:nvCxnSpPr>
        <p:spPr>
          <a:xfrm flipH="1">
            <a:off x="6346822" y="4456154"/>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B1A9162B-3039-4394-46AA-4FEF8BADFFEF}"/>
              </a:ext>
            </a:extLst>
          </p:cNvPr>
          <p:cNvCxnSpPr>
            <a:cxnSpLocks/>
            <a:stCxn id="29" idx="4"/>
            <a:endCxn id="33" idx="1"/>
          </p:cNvCxnSpPr>
          <p:nvPr/>
        </p:nvCxnSpPr>
        <p:spPr>
          <a:xfrm>
            <a:off x="6502201" y="4456154"/>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B4650BC2-86CD-9C24-54B1-5414462F7E3D}"/>
              </a:ext>
            </a:extLst>
          </p:cNvPr>
          <p:cNvCxnSpPr>
            <a:cxnSpLocks/>
            <a:endCxn id="27" idx="2"/>
          </p:cNvCxnSpPr>
          <p:nvPr/>
        </p:nvCxnSpPr>
        <p:spPr>
          <a:xfrm>
            <a:off x="5319749" y="3413036"/>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41" name="TextBox 40">
            <a:extLst>
              <a:ext uri="{FF2B5EF4-FFF2-40B4-BE49-F238E27FC236}">
                <a16:creationId xmlns:a16="http://schemas.microsoft.com/office/drawing/2014/main" id="{E863C9DF-4FC7-D112-E5E9-B6C6FE13A297}"/>
              </a:ext>
            </a:extLst>
          </p:cNvPr>
          <p:cNvSpPr txBox="1"/>
          <p:nvPr/>
        </p:nvSpPr>
        <p:spPr>
          <a:xfrm>
            <a:off x="6765890" y="1872898"/>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Use multicast tree in reverse</a:t>
            </a:r>
          </a:p>
          <a:p>
            <a:pPr marL="285750" indent="-285750">
              <a:buFont typeface="Arial" panose="020B0604020202020204" pitchFamily="34" charset="0"/>
              <a:buChar char="•"/>
            </a:pPr>
            <a:r>
              <a:rPr lang="en-US" sz="2800" dirty="0"/>
              <a:t>Reduced fan-in factor reduces </a:t>
            </a:r>
            <a:r>
              <a:rPr lang="en-US" sz="2800" dirty="0" err="1"/>
              <a:t>incast</a:t>
            </a:r>
            <a:r>
              <a:rPr lang="en-US" sz="2800" dirty="0"/>
              <a:t> congestion</a:t>
            </a:r>
          </a:p>
          <a:p>
            <a:pPr marL="285750" indent="-285750">
              <a:buFont typeface="Arial" panose="020B0604020202020204" pitchFamily="34" charset="0"/>
              <a:buChar char="•"/>
            </a:pPr>
            <a:endParaRPr lang="en-US" sz="2800" dirty="0"/>
          </a:p>
        </p:txBody>
      </p:sp>
      <p:sp>
        <p:nvSpPr>
          <p:cNvPr id="9" name="Direct Access Storage 8">
            <a:extLst>
              <a:ext uri="{FF2B5EF4-FFF2-40B4-BE49-F238E27FC236}">
                <a16:creationId xmlns:a16="http://schemas.microsoft.com/office/drawing/2014/main" id="{B9BA2B86-EDCF-1F22-010F-D010FD441F2C}"/>
              </a:ext>
            </a:extLst>
          </p:cNvPr>
          <p:cNvSpPr/>
          <p:nvPr/>
        </p:nvSpPr>
        <p:spPr>
          <a:xfrm>
            <a:off x="5181835" y="274030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A199604A-6870-640A-2F15-A334C7E67C39}"/>
              </a:ext>
            </a:extLst>
          </p:cNvPr>
          <p:cNvSpPr/>
          <p:nvPr/>
        </p:nvSpPr>
        <p:spPr>
          <a:xfrm>
            <a:off x="4209728" y="3032204"/>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B67E7F5B-B153-21C7-EBAA-524956FFCB27}"/>
              </a:ext>
            </a:extLst>
          </p:cNvPr>
          <p:cNvSpPr/>
          <p:nvPr/>
        </p:nvSpPr>
        <p:spPr>
          <a:xfrm>
            <a:off x="4712483" y="3047175"/>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8384D637-3D11-670D-60B9-850B0A370ECB}"/>
              </a:ext>
            </a:extLst>
          </p:cNvPr>
          <p:cNvSpPr/>
          <p:nvPr/>
        </p:nvSpPr>
        <p:spPr>
          <a:xfrm>
            <a:off x="5208929" y="305652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8E8B5C2A-E6FD-9DD5-6885-2E37DB4FE6B6}"/>
              </a:ext>
            </a:extLst>
          </p:cNvPr>
          <p:cNvSpPr/>
          <p:nvPr/>
        </p:nvSpPr>
        <p:spPr>
          <a:xfrm>
            <a:off x="4930738" y="334941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9DC3ED66-E9B8-89AD-8453-9F12EBF1D0C9}"/>
              </a:ext>
            </a:extLst>
          </p:cNvPr>
          <p:cNvSpPr/>
          <p:nvPr/>
        </p:nvSpPr>
        <p:spPr>
          <a:xfrm>
            <a:off x="4209728" y="2745126"/>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987F5CDE-FEE9-2DEB-2051-B348D712B73B}"/>
              </a:ext>
            </a:extLst>
          </p:cNvPr>
          <p:cNvSpPr txBox="1"/>
          <p:nvPr/>
        </p:nvSpPr>
        <p:spPr>
          <a:xfrm>
            <a:off x="6782143" y="3101575"/>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Sequencer runs at each intermediate node (merge sort)</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41673414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3E6DC54-9BF0-14D7-3FE5-0ED9A6DCDC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2A39FE-0600-94F4-A773-B906EB8EC766}"/>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67055933-D6F2-C2DC-1D67-4943F53C496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995A8E3A-F68F-A212-5A0A-428790194EDB}"/>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0E60F022-63AB-7F13-77C8-BD51FA4E1DBF}"/>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E517D063-66BD-22CA-B3F8-45745B0040EB}"/>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581874DD-3FF0-F6AE-3879-665CC29586AC}"/>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F7D8E018-877E-5FC4-B809-586F1ED148EE}"/>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BC01CCF9-94D0-C5FC-1948-2C93A1763BCC}"/>
              </a:ext>
            </a:extLst>
          </p:cNvPr>
          <p:cNvSpPr/>
          <p:nvPr/>
        </p:nvSpPr>
        <p:spPr>
          <a:xfrm>
            <a:off x="3025005" y="457741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4EC96579-C188-C88A-24FF-E1FD54F69577}"/>
              </a:ext>
            </a:extLst>
          </p:cNvPr>
          <p:cNvSpPr/>
          <p:nvPr/>
        </p:nvSpPr>
        <p:spPr>
          <a:xfrm>
            <a:off x="3844399" y="37484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78A957D4-0A6F-33BE-A08E-F5E401A7986C}"/>
              </a:ext>
            </a:extLst>
          </p:cNvPr>
          <p:cNvSpPr/>
          <p:nvPr/>
        </p:nvSpPr>
        <p:spPr>
          <a:xfrm>
            <a:off x="3200524"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07B0DE07-FAB8-B229-A289-D348074C5B6F}"/>
              </a:ext>
            </a:extLst>
          </p:cNvPr>
          <p:cNvSpPr/>
          <p:nvPr/>
        </p:nvSpPr>
        <p:spPr>
          <a:xfrm>
            <a:off x="4168737"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CA10364E-B11B-B2D7-10CE-3C2E760559E1}"/>
              </a:ext>
            </a:extLst>
          </p:cNvPr>
          <p:cNvSpPr/>
          <p:nvPr/>
        </p:nvSpPr>
        <p:spPr>
          <a:xfrm>
            <a:off x="2925999"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4EB5DFE8-CA1D-48D2-4EE8-FA5B0316D0EA}"/>
              </a:ext>
            </a:extLst>
          </p:cNvPr>
          <p:cNvSpPr/>
          <p:nvPr/>
        </p:nvSpPr>
        <p:spPr>
          <a:xfrm>
            <a:off x="3379774"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F34E0483-F1D3-EA2C-764D-6DB7A7D38A9A}"/>
              </a:ext>
            </a:extLst>
          </p:cNvPr>
          <p:cNvSpPr/>
          <p:nvPr/>
        </p:nvSpPr>
        <p:spPr>
          <a:xfrm>
            <a:off x="3872212"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CFD75010-21F5-A629-27FF-CCDB18EE3C67}"/>
              </a:ext>
            </a:extLst>
          </p:cNvPr>
          <p:cNvSpPr/>
          <p:nvPr/>
        </p:nvSpPr>
        <p:spPr>
          <a:xfrm>
            <a:off x="4434049"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999AB2CB-B2C1-6E20-C116-C5058D35CF05}"/>
              </a:ext>
            </a:extLst>
          </p:cNvPr>
          <p:cNvCxnSpPr>
            <a:cxnSpLocks/>
            <a:endCxn id="13" idx="6"/>
          </p:cNvCxnSpPr>
          <p:nvPr/>
        </p:nvCxnSpPr>
        <p:spPr>
          <a:xfrm flipH="1">
            <a:off x="4053903" y="3415736"/>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51E5E1EE-7D3C-EFAF-AA2C-8F23EADD1712}"/>
              </a:ext>
            </a:extLst>
          </p:cNvPr>
          <p:cNvCxnSpPr>
            <a:cxnSpLocks/>
            <a:stCxn id="13" idx="4"/>
            <a:endCxn id="14" idx="6"/>
          </p:cNvCxnSpPr>
          <p:nvPr/>
        </p:nvCxnSpPr>
        <p:spPr>
          <a:xfrm flipH="1">
            <a:off x="3410028" y="3999879"/>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0E545789-4055-6A1B-6A79-F400C67EB98B}"/>
              </a:ext>
            </a:extLst>
          </p:cNvPr>
          <p:cNvCxnSpPr>
            <a:cxnSpLocks/>
            <a:stCxn id="13" idx="4"/>
            <a:endCxn id="15" idx="2"/>
          </p:cNvCxnSpPr>
          <p:nvPr/>
        </p:nvCxnSpPr>
        <p:spPr>
          <a:xfrm>
            <a:off x="3949151" y="3999879"/>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11CBAE5B-8058-0ACB-7B67-EF1DAC08CD96}"/>
              </a:ext>
            </a:extLst>
          </p:cNvPr>
          <p:cNvCxnSpPr>
            <a:cxnSpLocks/>
            <a:stCxn id="14" idx="4"/>
            <a:endCxn id="16" idx="7"/>
          </p:cNvCxnSpPr>
          <p:nvPr/>
        </p:nvCxnSpPr>
        <p:spPr>
          <a:xfrm flipH="1">
            <a:off x="3104822" y="4571854"/>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745F4FB7-A452-385A-FB97-991D9988D032}"/>
              </a:ext>
            </a:extLst>
          </p:cNvPr>
          <p:cNvCxnSpPr>
            <a:cxnSpLocks/>
            <a:stCxn id="14" idx="4"/>
            <a:endCxn id="17" idx="1"/>
          </p:cNvCxnSpPr>
          <p:nvPr/>
        </p:nvCxnSpPr>
        <p:spPr>
          <a:xfrm>
            <a:off x="3305276" y="4571854"/>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82DA5C86-5134-1FFA-820D-A69D37B04FC2}"/>
              </a:ext>
            </a:extLst>
          </p:cNvPr>
          <p:cNvCxnSpPr>
            <a:cxnSpLocks/>
            <a:stCxn id="15" idx="4"/>
            <a:endCxn id="18" idx="7"/>
          </p:cNvCxnSpPr>
          <p:nvPr/>
        </p:nvCxnSpPr>
        <p:spPr>
          <a:xfrm flipH="1">
            <a:off x="4051035" y="4571854"/>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D4EF2624-ECDC-93C4-066C-9D387CB7E20F}"/>
              </a:ext>
            </a:extLst>
          </p:cNvPr>
          <p:cNvCxnSpPr>
            <a:cxnSpLocks/>
            <a:stCxn id="15" idx="4"/>
            <a:endCxn id="19" idx="1"/>
          </p:cNvCxnSpPr>
          <p:nvPr/>
        </p:nvCxnSpPr>
        <p:spPr>
          <a:xfrm>
            <a:off x="4273489" y="4571854"/>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1B9FAEB8-C4D6-067E-45D9-F8E0B9EF9815}"/>
              </a:ext>
            </a:extLst>
          </p:cNvPr>
          <p:cNvSpPr/>
          <p:nvPr/>
        </p:nvSpPr>
        <p:spPr>
          <a:xfrm>
            <a:off x="5876699" y="373459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95437C48-6DB2-8777-E9B2-A685AC83D796}"/>
              </a:ext>
            </a:extLst>
          </p:cNvPr>
          <p:cNvSpPr/>
          <p:nvPr/>
        </p:nvSpPr>
        <p:spPr>
          <a:xfrm>
            <a:off x="5431437" y="42408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AEC97CE8-25B6-C648-EF78-69D595859B28}"/>
              </a:ext>
            </a:extLst>
          </p:cNvPr>
          <p:cNvSpPr/>
          <p:nvPr/>
        </p:nvSpPr>
        <p:spPr>
          <a:xfrm>
            <a:off x="6397449" y="42047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9C60F944-EFE9-BD7B-F3ED-FDB54748EBE6}"/>
              </a:ext>
            </a:extLst>
          </p:cNvPr>
          <p:cNvSpPr/>
          <p:nvPr/>
        </p:nvSpPr>
        <p:spPr>
          <a:xfrm>
            <a:off x="5147087"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19C0CFE5-84D6-9D66-5997-30A78D7D3B96}"/>
              </a:ext>
            </a:extLst>
          </p:cNvPr>
          <p:cNvSpPr/>
          <p:nvPr/>
        </p:nvSpPr>
        <p:spPr>
          <a:xfrm>
            <a:off x="5640712"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F96F6473-5BFC-A210-CB9D-67B9F039CA76}"/>
              </a:ext>
            </a:extLst>
          </p:cNvPr>
          <p:cNvSpPr/>
          <p:nvPr/>
        </p:nvSpPr>
        <p:spPr>
          <a:xfrm>
            <a:off x="6167999"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55378C76-99C8-62AB-4B98-F3DB75200EFA}"/>
              </a:ext>
            </a:extLst>
          </p:cNvPr>
          <p:cNvSpPr/>
          <p:nvPr/>
        </p:nvSpPr>
        <p:spPr>
          <a:xfrm>
            <a:off x="6699687"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C5D585BB-183B-00E6-6E49-75CBD38A5536}"/>
              </a:ext>
            </a:extLst>
          </p:cNvPr>
          <p:cNvCxnSpPr>
            <a:cxnSpLocks/>
            <a:stCxn id="27" idx="4"/>
            <a:endCxn id="28" idx="6"/>
          </p:cNvCxnSpPr>
          <p:nvPr/>
        </p:nvCxnSpPr>
        <p:spPr>
          <a:xfrm flipH="1">
            <a:off x="5640941" y="3986042"/>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710FB598-FBDD-A8BB-8788-5E5771DF3639}"/>
              </a:ext>
            </a:extLst>
          </p:cNvPr>
          <p:cNvCxnSpPr>
            <a:cxnSpLocks/>
            <a:stCxn id="27" idx="4"/>
            <a:endCxn id="29" idx="2"/>
          </p:cNvCxnSpPr>
          <p:nvPr/>
        </p:nvCxnSpPr>
        <p:spPr>
          <a:xfrm>
            <a:off x="5981451" y="3986042"/>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18A5FA94-9998-0FDD-C610-072FDFE13270}"/>
              </a:ext>
            </a:extLst>
          </p:cNvPr>
          <p:cNvCxnSpPr>
            <a:cxnSpLocks/>
            <a:stCxn id="28" idx="4"/>
            <a:endCxn id="30" idx="7"/>
          </p:cNvCxnSpPr>
          <p:nvPr/>
        </p:nvCxnSpPr>
        <p:spPr>
          <a:xfrm flipH="1">
            <a:off x="5325910" y="4492329"/>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9D561322-2F9E-89A9-D992-04E93F5FDBBE}"/>
              </a:ext>
            </a:extLst>
          </p:cNvPr>
          <p:cNvCxnSpPr>
            <a:cxnSpLocks/>
            <a:stCxn id="28" idx="4"/>
            <a:endCxn id="31" idx="1"/>
          </p:cNvCxnSpPr>
          <p:nvPr/>
        </p:nvCxnSpPr>
        <p:spPr>
          <a:xfrm>
            <a:off x="5536189" y="4492329"/>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E4083D69-71E1-95E6-D99A-016364A28382}"/>
              </a:ext>
            </a:extLst>
          </p:cNvPr>
          <p:cNvCxnSpPr>
            <a:cxnSpLocks/>
            <a:stCxn id="29" idx="4"/>
            <a:endCxn id="32" idx="7"/>
          </p:cNvCxnSpPr>
          <p:nvPr/>
        </p:nvCxnSpPr>
        <p:spPr>
          <a:xfrm flipH="1">
            <a:off x="6346822" y="4456154"/>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F0854C64-ED48-9C51-6B9C-11ECE2EED6BC}"/>
              </a:ext>
            </a:extLst>
          </p:cNvPr>
          <p:cNvCxnSpPr>
            <a:cxnSpLocks/>
            <a:stCxn id="29" idx="4"/>
            <a:endCxn id="33" idx="1"/>
          </p:cNvCxnSpPr>
          <p:nvPr/>
        </p:nvCxnSpPr>
        <p:spPr>
          <a:xfrm>
            <a:off x="6502201" y="4456154"/>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0B5977CB-F17E-46C2-E8E7-7A835582B933}"/>
              </a:ext>
            </a:extLst>
          </p:cNvPr>
          <p:cNvCxnSpPr>
            <a:cxnSpLocks/>
            <a:endCxn id="27" idx="2"/>
          </p:cNvCxnSpPr>
          <p:nvPr/>
        </p:nvCxnSpPr>
        <p:spPr>
          <a:xfrm>
            <a:off x="5319749" y="3413036"/>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41" name="TextBox 40">
            <a:extLst>
              <a:ext uri="{FF2B5EF4-FFF2-40B4-BE49-F238E27FC236}">
                <a16:creationId xmlns:a16="http://schemas.microsoft.com/office/drawing/2014/main" id="{4641364C-5489-75E7-31C2-25260BD63FA9}"/>
              </a:ext>
            </a:extLst>
          </p:cNvPr>
          <p:cNvSpPr txBox="1"/>
          <p:nvPr/>
        </p:nvSpPr>
        <p:spPr>
          <a:xfrm>
            <a:off x="6765890" y="1872898"/>
            <a:ext cx="5426110"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Use multicast tree in reverse</a:t>
            </a:r>
          </a:p>
          <a:p>
            <a:pPr marL="285750" indent="-285750">
              <a:buFont typeface="Arial" panose="020B0604020202020204" pitchFamily="34" charset="0"/>
              <a:buChar char="•"/>
            </a:pPr>
            <a:r>
              <a:rPr lang="en-US" sz="2800" dirty="0"/>
              <a:t>Reduced fan-in factor reduces </a:t>
            </a:r>
            <a:r>
              <a:rPr lang="en-US" sz="2800" dirty="0" err="1"/>
              <a:t>incast</a:t>
            </a:r>
            <a:r>
              <a:rPr lang="en-US" sz="2800" dirty="0"/>
              <a:t> congestion</a:t>
            </a:r>
          </a:p>
          <a:p>
            <a:pPr marL="285750" indent="-285750">
              <a:buFont typeface="Arial" panose="020B0604020202020204" pitchFamily="34" charset="0"/>
              <a:buChar char="•"/>
            </a:pPr>
            <a:endParaRPr lang="en-US" sz="2800" dirty="0"/>
          </a:p>
        </p:txBody>
      </p:sp>
      <p:sp>
        <p:nvSpPr>
          <p:cNvPr id="9" name="Direct Access Storage 8">
            <a:extLst>
              <a:ext uri="{FF2B5EF4-FFF2-40B4-BE49-F238E27FC236}">
                <a16:creationId xmlns:a16="http://schemas.microsoft.com/office/drawing/2014/main" id="{0F41AB25-6780-A0A0-33FA-29772E596AD8}"/>
              </a:ext>
            </a:extLst>
          </p:cNvPr>
          <p:cNvSpPr/>
          <p:nvPr/>
        </p:nvSpPr>
        <p:spPr>
          <a:xfrm>
            <a:off x="5310826" y="448657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1CA04759-995A-E588-B697-379C22EF1CA4}"/>
              </a:ext>
            </a:extLst>
          </p:cNvPr>
          <p:cNvSpPr/>
          <p:nvPr/>
        </p:nvSpPr>
        <p:spPr>
          <a:xfrm>
            <a:off x="3696971" y="398705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67851C21-164F-1E28-8E94-5B709C5F904D}"/>
              </a:ext>
            </a:extLst>
          </p:cNvPr>
          <p:cNvSpPr/>
          <p:nvPr/>
        </p:nvSpPr>
        <p:spPr>
          <a:xfrm>
            <a:off x="3998972" y="4605839"/>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5B323378-BAE1-ED71-C549-76F7091EE5BC}"/>
              </a:ext>
            </a:extLst>
          </p:cNvPr>
          <p:cNvSpPr/>
          <p:nvPr/>
        </p:nvSpPr>
        <p:spPr>
          <a:xfrm>
            <a:off x="6291170" y="4473194"/>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64F62B37-4757-7356-943A-0B7D2BEF6C49}"/>
              </a:ext>
            </a:extLst>
          </p:cNvPr>
          <p:cNvSpPr/>
          <p:nvPr/>
        </p:nvSpPr>
        <p:spPr>
          <a:xfrm>
            <a:off x="4930738" y="334941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3749554A-7A47-56C5-2770-4486BD260E31}"/>
              </a:ext>
            </a:extLst>
          </p:cNvPr>
          <p:cNvSpPr/>
          <p:nvPr/>
        </p:nvSpPr>
        <p:spPr>
          <a:xfrm>
            <a:off x="5748834" y="3992085"/>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278A08AE-BEF1-D0BB-A550-5DF07D6F23FD}"/>
              </a:ext>
            </a:extLst>
          </p:cNvPr>
          <p:cNvSpPr txBox="1"/>
          <p:nvPr/>
        </p:nvSpPr>
        <p:spPr>
          <a:xfrm>
            <a:off x="6782143" y="3101575"/>
            <a:ext cx="5426110"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Sequencer runs at each intermediate node (merge sort)</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169381572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B93F628-85FE-D75A-12D8-0A00E4829F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3EEB37-9E42-8E80-92EF-DF3A2B274262}"/>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A1A0958A-B1D2-C1A3-8A01-73916FB4DBE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D83CA9E1-2C6A-5F64-6A99-41CFCC6E610B}"/>
              </a:ext>
            </a:extLst>
          </p:cNvPr>
          <p:cNvSpPr/>
          <p:nvPr/>
        </p:nvSpPr>
        <p:spPr>
          <a:xfrm>
            <a:off x="3197049"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DCFD7384-5CC1-AA9C-D593-5AA7BA45312B}"/>
              </a:ext>
            </a:extLst>
          </p:cNvPr>
          <p:cNvSpPr/>
          <p:nvPr/>
        </p:nvSpPr>
        <p:spPr>
          <a:xfrm>
            <a:off x="4163366"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5E71C461-5AB7-E8A1-AB9E-1FCABBC7C12F}"/>
              </a:ext>
            </a:extLst>
          </p:cNvPr>
          <p:cNvSpPr/>
          <p:nvPr/>
        </p:nvSpPr>
        <p:spPr>
          <a:xfrm>
            <a:off x="5129683" y="5249617"/>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A171942B-2468-53EB-EABB-6168FE554970}"/>
              </a:ext>
            </a:extLst>
          </p:cNvPr>
          <p:cNvSpPr/>
          <p:nvPr/>
        </p:nvSpPr>
        <p:spPr>
          <a:xfrm>
            <a:off x="6096000" y="5219471"/>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3B898753-2608-3A1A-8170-BA8BD8DC7BD2}"/>
              </a:ext>
            </a:extLst>
          </p:cNvPr>
          <p:cNvSpPr/>
          <p:nvPr/>
        </p:nvSpPr>
        <p:spPr>
          <a:xfrm>
            <a:off x="3910481" y="1782936"/>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B75283C0-FE24-E71F-AA10-974F47320FFE}"/>
              </a:ext>
            </a:extLst>
          </p:cNvPr>
          <p:cNvSpPr/>
          <p:nvPr/>
        </p:nvSpPr>
        <p:spPr>
          <a:xfrm>
            <a:off x="3025005" y="457741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182825B9-A4FD-6212-0F5F-CF82DF5D31EC}"/>
              </a:ext>
            </a:extLst>
          </p:cNvPr>
          <p:cNvSpPr/>
          <p:nvPr/>
        </p:nvSpPr>
        <p:spPr>
          <a:xfrm>
            <a:off x="3844399" y="37484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5E7C85C3-3590-A754-EA51-0BAD04B8BA65}"/>
              </a:ext>
            </a:extLst>
          </p:cNvPr>
          <p:cNvSpPr/>
          <p:nvPr/>
        </p:nvSpPr>
        <p:spPr>
          <a:xfrm>
            <a:off x="3200524"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DC77BB63-0660-D27C-8E93-DA91694EABA2}"/>
              </a:ext>
            </a:extLst>
          </p:cNvPr>
          <p:cNvSpPr/>
          <p:nvPr/>
        </p:nvSpPr>
        <p:spPr>
          <a:xfrm>
            <a:off x="4168737" y="43204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BBF1E6B3-406E-66AC-ADCA-FDA752484B3C}"/>
              </a:ext>
            </a:extLst>
          </p:cNvPr>
          <p:cNvSpPr/>
          <p:nvPr/>
        </p:nvSpPr>
        <p:spPr>
          <a:xfrm>
            <a:off x="2925999"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8A0F04FE-1C94-7464-8E19-9E237B820159}"/>
              </a:ext>
            </a:extLst>
          </p:cNvPr>
          <p:cNvSpPr/>
          <p:nvPr/>
        </p:nvSpPr>
        <p:spPr>
          <a:xfrm>
            <a:off x="3379774" y="50231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7FC8A6B7-2329-5A04-BE56-DDAFAFCD1837}"/>
              </a:ext>
            </a:extLst>
          </p:cNvPr>
          <p:cNvSpPr/>
          <p:nvPr/>
        </p:nvSpPr>
        <p:spPr>
          <a:xfrm>
            <a:off x="3872212"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221B78D9-3C25-55FD-4E0C-4031658FF458}"/>
              </a:ext>
            </a:extLst>
          </p:cNvPr>
          <p:cNvSpPr/>
          <p:nvPr/>
        </p:nvSpPr>
        <p:spPr>
          <a:xfrm>
            <a:off x="4434049" y="49853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9DFA58AC-3D7F-8DF5-5A4A-BF7C24403A7B}"/>
              </a:ext>
            </a:extLst>
          </p:cNvPr>
          <p:cNvCxnSpPr>
            <a:cxnSpLocks/>
            <a:endCxn id="13" idx="6"/>
          </p:cNvCxnSpPr>
          <p:nvPr/>
        </p:nvCxnSpPr>
        <p:spPr>
          <a:xfrm flipH="1">
            <a:off x="4053903" y="3415736"/>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DB977F00-476F-A4EE-9DD9-303FCD33F802}"/>
              </a:ext>
            </a:extLst>
          </p:cNvPr>
          <p:cNvCxnSpPr>
            <a:cxnSpLocks/>
            <a:stCxn id="13" idx="4"/>
            <a:endCxn id="14" idx="6"/>
          </p:cNvCxnSpPr>
          <p:nvPr/>
        </p:nvCxnSpPr>
        <p:spPr>
          <a:xfrm flipH="1">
            <a:off x="3410028" y="3999879"/>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E6CE6BA8-1A7F-86F7-0918-36369CE1B07B}"/>
              </a:ext>
            </a:extLst>
          </p:cNvPr>
          <p:cNvCxnSpPr>
            <a:cxnSpLocks/>
            <a:stCxn id="13" idx="4"/>
            <a:endCxn id="15" idx="2"/>
          </p:cNvCxnSpPr>
          <p:nvPr/>
        </p:nvCxnSpPr>
        <p:spPr>
          <a:xfrm>
            <a:off x="3949151" y="3999879"/>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6D4A1A66-BA1A-5372-1E6B-05226FF45527}"/>
              </a:ext>
            </a:extLst>
          </p:cNvPr>
          <p:cNvCxnSpPr>
            <a:cxnSpLocks/>
            <a:stCxn id="14" idx="4"/>
            <a:endCxn id="16" idx="7"/>
          </p:cNvCxnSpPr>
          <p:nvPr/>
        </p:nvCxnSpPr>
        <p:spPr>
          <a:xfrm flipH="1">
            <a:off x="3104822" y="4571854"/>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223E7771-D8B6-DA2D-7417-AA2FA8D1D6F6}"/>
              </a:ext>
            </a:extLst>
          </p:cNvPr>
          <p:cNvCxnSpPr>
            <a:cxnSpLocks/>
            <a:stCxn id="14" idx="4"/>
            <a:endCxn id="17" idx="1"/>
          </p:cNvCxnSpPr>
          <p:nvPr/>
        </p:nvCxnSpPr>
        <p:spPr>
          <a:xfrm>
            <a:off x="3305276" y="4571854"/>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450DDC0E-142B-D35C-7CB6-8B348FC53847}"/>
              </a:ext>
            </a:extLst>
          </p:cNvPr>
          <p:cNvCxnSpPr>
            <a:cxnSpLocks/>
            <a:stCxn id="15" idx="4"/>
            <a:endCxn id="18" idx="7"/>
          </p:cNvCxnSpPr>
          <p:nvPr/>
        </p:nvCxnSpPr>
        <p:spPr>
          <a:xfrm flipH="1">
            <a:off x="4051035" y="4571854"/>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CD2B94F2-5DBF-D237-8415-34AFBDDA2D23}"/>
              </a:ext>
            </a:extLst>
          </p:cNvPr>
          <p:cNvCxnSpPr>
            <a:cxnSpLocks/>
            <a:stCxn id="15" idx="4"/>
            <a:endCxn id="19" idx="1"/>
          </p:cNvCxnSpPr>
          <p:nvPr/>
        </p:nvCxnSpPr>
        <p:spPr>
          <a:xfrm>
            <a:off x="4273489" y="4571854"/>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209991AD-B59F-7F96-C017-16CFB4EF1A0A}"/>
              </a:ext>
            </a:extLst>
          </p:cNvPr>
          <p:cNvSpPr/>
          <p:nvPr/>
        </p:nvSpPr>
        <p:spPr>
          <a:xfrm>
            <a:off x="5876699" y="373459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95EA7639-B32B-E490-A3B8-A49AA7F5E4D0}"/>
              </a:ext>
            </a:extLst>
          </p:cNvPr>
          <p:cNvSpPr/>
          <p:nvPr/>
        </p:nvSpPr>
        <p:spPr>
          <a:xfrm>
            <a:off x="5431437" y="424088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F69FAABB-EAC2-DDAC-10BF-E9EA6B172FB9}"/>
              </a:ext>
            </a:extLst>
          </p:cNvPr>
          <p:cNvSpPr/>
          <p:nvPr/>
        </p:nvSpPr>
        <p:spPr>
          <a:xfrm>
            <a:off x="6397449" y="42047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C404F908-52D7-542A-6C0B-EC90005DACC2}"/>
              </a:ext>
            </a:extLst>
          </p:cNvPr>
          <p:cNvSpPr/>
          <p:nvPr/>
        </p:nvSpPr>
        <p:spPr>
          <a:xfrm>
            <a:off x="5147087"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47CCFDA4-D2C3-91A5-8A46-0006086BD095}"/>
              </a:ext>
            </a:extLst>
          </p:cNvPr>
          <p:cNvSpPr/>
          <p:nvPr/>
        </p:nvSpPr>
        <p:spPr>
          <a:xfrm>
            <a:off x="5640712" y="4957736"/>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0AD51AF0-05A7-FBAF-CF55-F77054D5FFEF}"/>
              </a:ext>
            </a:extLst>
          </p:cNvPr>
          <p:cNvSpPr/>
          <p:nvPr/>
        </p:nvSpPr>
        <p:spPr>
          <a:xfrm>
            <a:off x="6167999"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8C9D5F43-FD35-7C66-A378-50AA4D51246A}"/>
              </a:ext>
            </a:extLst>
          </p:cNvPr>
          <p:cNvSpPr/>
          <p:nvPr/>
        </p:nvSpPr>
        <p:spPr>
          <a:xfrm>
            <a:off x="6699687" y="4920011"/>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498D75C8-7006-9D20-B516-9FD0E8BE9901}"/>
              </a:ext>
            </a:extLst>
          </p:cNvPr>
          <p:cNvCxnSpPr>
            <a:cxnSpLocks/>
            <a:stCxn id="27" idx="4"/>
            <a:endCxn id="28" idx="6"/>
          </p:cNvCxnSpPr>
          <p:nvPr/>
        </p:nvCxnSpPr>
        <p:spPr>
          <a:xfrm flipH="1">
            <a:off x="5640941" y="3986042"/>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AFE4F0A3-738A-66A3-279D-E18C4F0B27F4}"/>
              </a:ext>
            </a:extLst>
          </p:cNvPr>
          <p:cNvCxnSpPr>
            <a:cxnSpLocks/>
            <a:stCxn id="27" idx="4"/>
            <a:endCxn id="29" idx="2"/>
          </p:cNvCxnSpPr>
          <p:nvPr/>
        </p:nvCxnSpPr>
        <p:spPr>
          <a:xfrm>
            <a:off x="5981451" y="3986042"/>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6016B02E-4599-DC74-CFEF-9C0B7306219F}"/>
              </a:ext>
            </a:extLst>
          </p:cNvPr>
          <p:cNvCxnSpPr>
            <a:cxnSpLocks/>
            <a:stCxn id="28" idx="4"/>
            <a:endCxn id="30" idx="7"/>
          </p:cNvCxnSpPr>
          <p:nvPr/>
        </p:nvCxnSpPr>
        <p:spPr>
          <a:xfrm flipH="1">
            <a:off x="5325910" y="4492329"/>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F2B42EDC-2103-1058-59E3-C4E361450BBD}"/>
              </a:ext>
            </a:extLst>
          </p:cNvPr>
          <p:cNvCxnSpPr>
            <a:cxnSpLocks/>
            <a:stCxn id="28" idx="4"/>
            <a:endCxn id="31" idx="1"/>
          </p:cNvCxnSpPr>
          <p:nvPr/>
        </p:nvCxnSpPr>
        <p:spPr>
          <a:xfrm>
            <a:off x="5536189" y="4492329"/>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39D2CCC7-C93F-4F26-A259-524577EFEFED}"/>
              </a:ext>
            </a:extLst>
          </p:cNvPr>
          <p:cNvCxnSpPr>
            <a:cxnSpLocks/>
            <a:stCxn id="29" idx="4"/>
            <a:endCxn id="32" idx="7"/>
          </p:cNvCxnSpPr>
          <p:nvPr/>
        </p:nvCxnSpPr>
        <p:spPr>
          <a:xfrm flipH="1">
            <a:off x="6346822" y="4456154"/>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D98E60DA-8FA3-B3DC-0E7D-1C19964E1CDF}"/>
              </a:ext>
            </a:extLst>
          </p:cNvPr>
          <p:cNvCxnSpPr>
            <a:cxnSpLocks/>
            <a:stCxn id="29" idx="4"/>
            <a:endCxn id="33" idx="1"/>
          </p:cNvCxnSpPr>
          <p:nvPr/>
        </p:nvCxnSpPr>
        <p:spPr>
          <a:xfrm>
            <a:off x="6502201" y="4456154"/>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073BC774-A092-1161-1BE0-75CD6C59DA33}"/>
              </a:ext>
            </a:extLst>
          </p:cNvPr>
          <p:cNvCxnSpPr>
            <a:cxnSpLocks/>
            <a:endCxn id="27" idx="2"/>
          </p:cNvCxnSpPr>
          <p:nvPr/>
        </p:nvCxnSpPr>
        <p:spPr>
          <a:xfrm>
            <a:off x="5319749" y="3413036"/>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9" name="Direct Access Storage 8">
            <a:extLst>
              <a:ext uri="{FF2B5EF4-FFF2-40B4-BE49-F238E27FC236}">
                <a16:creationId xmlns:a16="http://schemas.microsoft.com/office/drawing/2014/main" id="{998746FB-8933-70AC-6226-AF9FAF77FEA9}"/>
              </a:ext>
            </a:extLst>
          </p:cNvPr>
          <p:cNvSpPr/>
          <p:nvPr/>
        </p:nvSpPr>
        <p:spPr>
          <a:xfrm>
            <a:off x="5310826" y="448657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AB00E49F-225C-6F12-0591-318A60C066A0}"/>
              </a:ext>
            </a:extLst>
          </p:cNvPr>
          <p:cNvSpPr/>
          <p:nvPr/>
        </p:nvSpPr>
        <p:spPr>
          <a:xfrm>
            <a:off x="3696971" y="398705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09A4C543-8705-D037-2573-9F3E11D8A0F1}"/>
              </a:ext>
            </a:extLst>
          </p:cNvPr>
          <p:cNvSpPr/>
          <p:nvPr/>
        </p:nvSpPr>
        <p:spPr>
          <a:xfrm>
            <a:off x="3998972" y="4605839"/>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0C614B85-B967-6F00-0DAD-660BAE2139F9}"/>
              </a:ext>
            </a:extLst>
          </p:cNvPr>
          <p:cNvSpPr/>
          <p:nvPr/>
        </p:nvSpPr>
        <p:spPr>
          <a:xfrm>
            <a:off x="6291170" y="4473194"/>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0EAD5B72-6361-246A-448E-88DCEEBF0C68}"/>
              </a:ext>
            </a:extLst>
          </p:cNvPr>
          <p:cNvSpPr/>
          <p:nvPr/>
        </p:nvSpPr>
        <p:spPr>
          <a:xfrm>
            <a:off x="4930738" y="334941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F66E56F8-5C09-3627-3C85-81C5ED8D414D}"/>
              </a:ext>
            </a:extLst>
          </p:cNvPr>
          <p:cNvSpPr/>
          <p:nvPr/>
        </p:nvSpPr>
        <p:spPr>
          <a:xfrm>
            <a:off x="5748834" y="3992085"/>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7A018A3C-6F7A-401B-9DC6-1AB4297739FD}"/>
              </a:ext>
            </a:extLst>
          </p:cNvPr>
          <p:cNvSpPr txBox="1"/>
          <p:nvPr/>
        </p:nvSpPr>
        <p:spPr>
          <a:xfrm>
            <a:off x="7264958" y="1356967"/>
            <a:ext cx="4391130"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Achieves same effect as the synchronous network</a:t>
            </a:r>
          </a:p>
          <a:p>
            <a:pPr marL="285750" indent="-285750">
              <a:buFont typeface="Arial" panose="020B0604020202020204" pitchFamily="34" charset="0"/>
              <a:buChar char="•"/>
            </a:pPr>
            <a:r>
              <a:rPr lang="en-US" sz="2800" dirty="0"/>
              <a:t>Queues form at the intermediate nodes during bursty activity</a:t>
            </a:r>
          </a:p>
          <a:p>
            <a:pPr marL="742950" lvl="1" indent="-285750">
              <a:buFont typeface="Arial" panose="020B0604020202020204" pitchFamily="34" charset="0"/>
              <a:buChar char="•"/>
            </a:pPr>
            <a:r>
              <a:rPr lang="en-US" sz="2800" dirty="0"/>
              <a:t>Opportunity to service the queues smartly</a:t>
            </a:r>
          </a:p>
        </p:txBody>
      </p:sp>
    </p:spTree>
    <p:extLst>
      <p:ext uri="{BB962C8B-B14F-4D97-AF65-F5344CB8AC3E}">
        <p14:creationId xmlns:p14="http://schemas.microsoft.com/office/powerpoint/2010/main" val="37343415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265A8F5-437B-3DA7-F0AF-9A59E6BCD2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1321A3-DB96-6A18-D256-BE41A1ECFDF6}"/>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7740CE66-C90A-704E-14F2-A755CF12F2F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446A39FF-5DBB-903A-BD98-93E88A6EC159}"/>
              </a:ext>
            </a:extLst>
          </p:cNvPr>
          <p:cNvSpPr/>
          <p:nvPr/>
        </p:nvSpPr>
        <p:spPr>
          <a:xfrm>
            <a:off x="604574"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4D32D00B-A097-465D-E8D1-C089E74D9082}"/>
              </a:ext>
            </a:extLst>
          </p:cNvPr>
          <p:cNvSpPr/>
          <p:nvPr/>
        </p:nvSpPr>
        <p:spPr>
          <a:xfrm>
            <a:off x="1570891"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84DF973A-D4F8-798F-4387-1371CB31E7A6}"/>
              </a:ext>
            </a:extLst>
          </p:cNvPr>
          <p:cNvSpPr/>
          <p:nvPr/>
        </p:nvSpPr>
        <p:spPr>
          <a:xfrm>
            <a:off x="2537208"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E86A6B74-A993-EDBD-AD78-6040F2714773}"/>
              </a:ext>
            </a:extLst>
          </p:cNvPr>
          <p:cNvSpPr/>
          <p:nvPr/>
        </p:nvSpPr>
        <p:spPr>
          <a:xfrm>
            <a:off x="3503525" y="4897924"/>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5ACFBB8F-C4FD-32E5-FEE4-F61E3E9422B6}"/>
              </a:ext>
            </a:extLst>
          </p:cNvPr>
          <p:cNvSpPr/>
          <p:nvPr/>
        </p:nvSpPr>
        <p:spPr>
          <a:xfrm>
            <a:off x="1448571" y="215407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8690A5E4-7ED0-D071-3C1F-B1EE526337F4}"/>
              </a:ext>
            </a:extLst>
          </p:cNvPr>
          <p:cNvSpPr/>
          <p:nvPr/>
        </p:nvSpPr>
        <p:spPr>
          <a:xfrm>
            <a:off x="432530" y="425586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CD46A8A8-F9F9-C63D-275C-8AB3129C4512}"/>
              </a:ext>
            </a:extLst>
          </p:cNvPr>
          <p:cNvSpPr/>
          <p:nvPr/>
        </p:nvSpPr>
        <p:spPr>
          <a:xfrm>
            <a:off x="1251924" y="34268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AE6C8985-EB97-98E3-EFE4-2B67BEB6356C}"/>
              </a:ext>
            </a:extLst>
          </p:cNvPr>
          <p:cNvSpPr/>
          <p:nvPr/>
        </p:nvSpPr>
        <p:spPr>
          <a:xfrm>
            <a:off x="608049"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8D59301D-68C4-B1AA-F9FA-7DD767E9CE6B}"/>
              </a:ext>
            </a:extLst>
          </p:cNvPr>
          <p:cNvSpPr/>
          <p:nvPr/>
        </p:nvSpPr>
        <p:spPr>
          <a:xfrm>
            <a:off x="1576262"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D18C3C03-2CBE-D2BE-0B78-9E45E1508001}"/>
              </a:ext>
            </a:extLst>
          </p:cNvPr>
          <p:cNvSpPr/>
          <p:nvPr/>
        </p:nvSpPr>
        <p:spPr>
          <a:xfrm>
            <a:off x="333524"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76112FB0-BAC0-AA4C-FDEA-46B7903F97AA}"/>
              </a:ext>
            </a:extLst>
          </p:cNvPr>
          <p:cNvSpPr/>
          <p:nvPr/>
        </p:nvSpPr>
        <p:spPr>
          <a:xfrm>
            <a:off x="787299"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E98A94CB-B297-5A32-DC9E-31784D8E1A24}"/>
              </a:ext>
            </a:extLst>
          </p:cNvPr>
          <p:cNvSpPr/>
          <p:nvPr/>
        </p:nvSpPr>
        <p:spPr>
          <a:xfrm>
            <a:off x="1279737"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1CCEBC2A-D63A-BBC6-1765-13B913EF5EE3}"/>
              </a:ext>
            </a:extLst>
          </p:cNvPr>
          <p:cNvSpPr/>
          <p:nvPr/>
        </p:nvSpPr>
        <p:spPr>
          <a:xfrm>
            <a:off x="1841574"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09B861EF-98E2-68E4-ABED-B7E25739E3E8}"/>
              </a:ext>
            </a:extLst>
          </p:cNvPr>
          <p:cNvCxnSpPr>
            <a:cxnSpLocks/>
            <a:endCxn id="13" idx="6"/>
          </p:cNvCxnSpPr>
          <p:nvPr/>
        </p:nvCxnSpPr>
        <p:spPr>
          <a:xfrm flipH="1">
            <a:off x="1461428" y="3094189"/>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B4491334-F87A-9904-9153-7C2F06493599}"/>
              </a:ext>
            </a:extLst>
          </p:cNvPr>
          <p:cNvCxnSpPr>
            <a:cxnSpLocks/>
            <a:stCxn id="13" idx="4"/>
            <a:endCxn id="14" idx="6"/>
          </p:cNvCxnSpPr>
          <p:nvPr/>
        </p:nvCxnSpPr>
        <p:spPr>
          <a:xfrm flipH="1">
            <a:off x="817553" y="3678332"/>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AEDAFFAD-AB8C-1A22-0B26-35661B036438}"/>
              </a:ext>
            </a:extLst>
          </p:cNvPr>
          <p:cNvCxnSpPr>
            <a:cxnSpLocks/>
            <a:stCxn id="13" idx="4"/>
            <a:endCxn id="15" idx="2"/>
          </p:cNvCxnSpPr>
          <p:nvPr/>
        </p:nvCxnSpPr>
        <p:spPr>
          <a:xfrm>
            <a:off x="1356676" y="3678332"/>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AB3A30DD-C912-3735-B0E2-3052E6171FCB}"/>
              </a:ext>
            </a:extLst>
          </p:cNvPr>
          <p:cNvCxnSpPr>
            <a:cxnSpLocks/>
            <a:stCxn id="14" idx="4"/>
            <a:endCxn id="16" idx="7"/>
          </p:cNvCxnSpPr>
          <p:nvPr/>
        </p:nvCxnSpPr>
        <p:spPr>
          <a:xfrm flipH="1">
            <a:off x="512347" y="4250307"/>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18146F5D-8740-F25E-7AF3-C35231E8D68B}"/>
              </a:ext>
            </a:extLst>
          </p:cNvPr>
          <p:cNvCxnSpPr>
            <a:cxnSpLocks/>
            <a:stCxn id="14" idx="4"/>
            <a:endCxn id="17" idx="1"/>
          </p:cNvCxnSpPr>
          <p:nvPr/>
        </p:nvCxnSpPr>
        <p:spPr>
          <a:xfrm>
            <a:off x="712801" y="4250307"/>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CE771D63-3A59-4F81-D333-86CAC6B7E5F6}"/>
              </a:ext>
            </a:extLst>
          </p:cNvPr>
          <p:cNvCxnSpPr>
            <a:cxnSpLocks/>
            <a:stCxn id="15" idx="4"/>
            <a:endCxn id="18" idx="7"/>
          </p:cNvCxnSpPr>
          <p:nvPr/>
        </p:nvCxnSpPr>
        <p:spPr>
          <a:xfrm flipH="1">
            <a:off x="1458560" y="4250307"/>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4E316A53-4EEF-9DD2-399A-BA86DDC2F9E6}"/>
              </a:ext>
            </a:extLst>
          </p:cNvPr>
          <p:cNvCxnSpPr>
            <a:cxnSpLocks/>
            <a:stCxn id="15" idx="4"/>
            <a:endCxn id="19" idx="1"/>
          </p:cNvCxnSpPr>
          <p:nvPr/>
        </p:nvCxnSpPr>
        <p:spPr>
          <a:xfrm>
            <a:off x="1681014" y="4250307"/>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BD3441E7-B220-A6EB-0EE9-35EF9E933947}"/>
              </a:ext>
            </a:extLst>
          </p:cNvPr>
          <p:cNvSpPr/>
          <p:nvPr/>
        </p:nvSpPr>
        <p:spPr>
          <a:xfrm>
            <a:off x="3284224" y="3413052"/>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7D20FEDF-2CFE-AD5D-93B3-D26EE8A492BF}"/>
              </a:ext>
            </a:extLst>
          </p:cNvPr>
          <p:cNvSpPr/>
          <p:nvPr/>
        </p:nvSpPr>
        <p:spPr>
          <a:xfrm>
            <a:off x="2838962" y="39193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0581A2C9-824A-19E6-D380-070A1D139EF8}"/>
              </a:ext>
            </a:extLst>
          </p:cNvPr>
          <p:cNvSpPr/>
          <p:nvPr/>
        </p:nvSpPr>
        <p:spPr>
          <a:xfrm>
            <a:off x="3804974" y="38831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F045D7ED-215A-D018-E2FD-1CEC9761276C}"/>
              </a:ext>
            </a:extLst>
          </p:cNvPr>
          <p:cNvSpPr/>
          <p:nvPr/>
        </p:nvSpPr>
        <p:spPr>
          <a:xfrm>
            <a:off x="2554612"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4BB60582-554C-4BD5-C948-92AAB7AEC817}"/>
              </a:ext>
            </a:extLst>
          </p:cNvPr>
          <p:cNvSpPr/>
          <p:nvPr/>
        </p:nvSpPr>
        <p:spPr>
          <a:xfrm>
            <a:off x="3048237"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CB0620C5-6E32-A6B1-69E0-C6FFADECE9B6}"/>
              </a:ext>
            </a:extLst>
          </p:cNvPr>
          <p:cNvSpPr/>
          <p:nvPr/>
        </p:nvSpPr>
        <p:spPr>
          <a:xfrm>
            <a:off x="3575524"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6323EDAE-9819-0786-7211-A0ED64246861}"/>
              </a:ext>
            </a:extLst>
          </p:cNvPr>
          <p:cNvSpPr/>
          <p:nvPr/>
        </p:nvSpPr>
        <p:spPr>
          <a:xfrm>
            <a:off x="4107212"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F715A6B2-8808-33A5-6827-C798099F369D}"/>
              </a:ext>
            </a:extLst>
          </p:cNvPr>
          <p:cNvCxnSpPr>
            <a:cxnSpLocks/>
            <a:stCxn id="27" idx="4"/>
            <a:endCxn id="28" idx="6"/>
          </p:cNvCxnSpPr>
          <p:nvPr/>
        </p:nvCxnSpPr>
        <p:spPr>
          <a:xfrm flipH="1">
            <a:off x="3048466" y="3664495"/>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483DA90C-F40A-9CD7-0671-443886BDF186}"/>
              </a:ext>
            </a:extLst>
          </p:cNvPr>
          <p:cNvCxnSpPr>
            <a:cxnSpLocks/>
            <a:stCxn id="27" idx="4"/>
            <a:endCxn id="29" idx="2"/>
          </p:cNvCxnSpPr>
          <p:nvPr/>
        </p:nvCxnSpPr>
        <p:spPr>
          <a:xfrm>
            <a:off x="3388976" y="3664495"/>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574B3098-A1ED-9A80-702B-A390724277EE}"/>
              </a:ext>
            </a:extLst>
          </p:cNvPr>
          <p:cNvCxnSpPr>
            <a:cxnSpLocks/>
            <a:stCxn id="28" idx="4"/>
            <a:endCxn id="30" idx="7"/>
          </p:cNvCxnSpPr>
          <p:nvPr/>
        </p:nvCxnSpPr>
        <p:spPr>
          <a:xfrm flipH="1">
            <a:off x="2733435" y="4170782"/>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7D0C5659-DC62-D93D-C783-EFD2BB322D5F}"/>
              </a:ext>
            </a:extLst>
          </p:cNvPr>
          <p:cNvCxnSpPr>
            <a:cxnSpLocks/>
            <a:stCxn id="28" idx="4"/>
            <a:endCxn id="31" idx="1"/>
          </p:cNvCxnSpPr>
          <p:nvPr/>
        </p:nvCxnSpPr>
        <p:spPr>
          <a:xfrm>
            <a:off x="2943714" y="4170782"/>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27331BB6-BAE9-2F79-E9B8-415A705E49FB}"/>
              </a:ext>
            </a:extLst>
          </p:cNvPr>
          <p:cNvCxnSpPr>
            <a:cxnSpLocks/>
            <a:stCxn id="29" idx="4"/>
            <a:endCxn id="32" idx="7"/>
          </p:cNvCxnSpPr>
          <p:nvPr/>
        </p:nvCxnSpPr>
        <p:spPr>
          <a:xfrm flipH="1">
            <a:off x="3754347" y="4134607"/>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4BF66BE3-2FD5-5601-D250-C0BD6FC966B1}"/>
              </a:ext>
            </a:extLst>
          </p:cNvPr>
          <p:cNvCxnSpPr>
            <a:cxnSpLocks/>
            <a:stCxn id="29" idx="4"/>
            <a:endCxn id="33" idx="1"/>
          </p:cNvCxnSpPr>
          <p:nvPr/>
        </p:nvCxnSpPr>
        <p:spPr>
          <a:xfrm>
            <a:off x="3909726" y="4134607"/>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8A5629E9-0474-54CF-32DE-470F2CFA14A6}"/>
              </a:ext>
            </a:extLst>
          </p:cNvPr>
          <p:cNvCxnSpPr>
            <a:cxnSpLocks/>
            <a:endCxn id="27" idx="2"/>
          </p:cNvCxnSpPr>
          <p:nvPr/>
        </p:nvCxnSpPr>
        <p:spPr>
          <a:xfrm>
            <a:off x="2727274" y="3091489"/>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9" name="Direct Access Storage 8">
            <a:extLst>
              <a:ext uri="{FF2B5EF4-FFF2-40B4-BE49-F238E27FC236}">
                <a16:creationId xmlns:a16="http://schemas.microsoft.com/office/drawing/2014/main" id="{932EC026-32AC-4545-6EA1-EC92952495B2}"/>
              </a:ext>
            </a:extLst>
          </p:cNvPr>
          <p:cNvSpPr/>
          <p:nvPr/>
        </p:nvSpPr>
        <p:spPr>
          <a:xfrm>
            <a:off x="2718351" y="416502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B4EB033F-BCED-D48E-F51E-2D1A77FCA351}"/>
              </a:ext>
            </a:extLst>
          </p:cNvPr>
          <p:cNvSpPr/>
          <p:nvPr/>
        </p:nvSpPr>
        <p:spPr>
          <a:xfrm>
            <a:off x="1104496" y="3665511"/>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47EEC851-9E45-E267-CC53-7BC4BBF2AAE7}"/>
              </a:ext>
            </a:extLst>
          </p:cNvPr>
          <p:cNvSpPr/>
          <p:nvPr/>
        </p:nvSpPr>
        <p:spPr>
          <a:xfrm>
            <a:off x="1406497" y="4284292"/>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C66301DC-FB3E-0922-11CC-A0D569BDF00E}"/>
              </a:ext>
            </a:extLst>
          </p:cNvPr>
          <p:cNvSpPr/>
          <p:nvPr/>
        </p:nvSpPr>
        <p:spPr>
          <a:xfrm>
            <a:off x="3698695" y="415164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6AA36979-0C16-2DD5-38BF-B20B0C8A9557}"/>
              </a:ext>
            </a:extLst>
          </p:cNvPr>
          <p:cNvSpPr/>
          <p:nvPr/>
        </p:nvSpPr>
        <p:spPr>
          <a:xfrm>
            <a:off x="2338263" y="302787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B3F8F385-75DF-8C12-5573-1E02702AD529}"/>
              </a:ext>
            </a:extLst>
          </p:cNvPr>
          <p:cNvSpPr/>
          <p:nvPr/>
        </p:nvSpPr>
        <p:spPr>
          <a:xfrm>
            <a:off x="3156359" y="367053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ounded Rectangle 40">
            <a:extLst>
              <a:ext uri="{FF2B5EF4-FFF2-40B4-BE49-F238E27FC236}">
                <a16:creationId xmlns:a16="http://schemas.microsoft.com/office/drawing/2014/main" id="{DD5C2C01-73C2-5C56-6D7C-451EFFC32330}"/>
              </a:ext>
            </a:extLst>
          </p:cNvPr>
          <p:cNvSpPr/>
          <p:nvPr/>
        </p:nvSpPr>
        <p:spPr>
          <a:xfrm>
            <a:off x="4841393" y="1211794"/>
            <a:ext cx="6242819" cy="1087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rPr>
              <a:t>LOQ: A Domain-Specific Scheduling Policy</a:t>
            </a:r>
          </a:p>
        </p:txBody>
      </p:sp>
    </p:spTree>
    <p:extLst>
      <p:ext uri="{BB962C8B-B14F-4D97-AF65-F5344CB8AC3E}">
        <p14:creationId xmlns:p14="http://schemas.microsoft.com/office/powerpoint/2010/main" val="132148159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6FCFFF1-1923-F60E-2707-2633691247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99BE44-584A-751C-9104-2AA8E90CE16D}"/>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D0897206-9727-D303-5E74-1555F73DBDFC}"/>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7307C8F3-CDEF-7815-8243-04ABE8051B7D}"/>
              </a:ext>
            </a:extLst>
          </p:cNvPr>
          <p:cNvSpPr/>
          <p:nvPr/>
        </p:nvSpPr>
        <p:spPr>
          <a:xfrm>
            <a:off x="604574"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1CD18CAC-CA21-C21B-5929-C9146CEDF982}"/>
              </a:ext>
            </a:extLst>
          </p:cNvPr>
          <p:cNvSpPr/>
          <p:nvPr/>
        </p:nvSpPr>
        <p:spPr>
          <a:xfrm>
            <a:off x="1570891"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E559C84B-CC45-36A8-5F72-A1C581104A28}"/>
              </a:ext>
            </a:extLst>
          </p:cNvPr>
          <p:cNvSpPr/>
          <p:nvPr/>
        </p:nvSpPr>
        <p:spPr>
          <a:xfrm>
            <a:off x="2537208"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BFC4C562-2ABD-3433-780E-CF43873C6019}"/>
              </a:ext>
            </a:extLst>
          </p:cNvPr>
          <p:cNvSpPr/>
          <p:nvPr/>
        </p:nvSpPr>
        <p:spPr>
          <a:xfrm>
            <a:off x="3503525" y="4897924"/>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7985863A-F7B8-F978-DBA0-5380CD92B61E}"/>
              </a:ext>
            </a:extLst>
          </p:cNvPr>
          <p:cNvSpPr/>
          <p:nvPr/>
        </p:nvSpPr>
        <p:spPr>
          <a:xfrm>
            <a:off x="1448571" y="215407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86FC4A23-BB6E-6B03-8275-D546ECDFD8F8}"/>
              </a:ext>
            </a:extLst>
          </p:cNvPr>
          <p:cNvSpPr/>
          <p:nvPr/>
        </p:nvSpPr>
        <p:spPr>
          <a:xfrm>
            <a:off x="432530" y="425586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D7B7363A-7B5E-7751-C405-255B7A0ACC31}"/>
              </a:ext>
            </a:extLst>
          </p:cNvPr>
          <p:cNvSpPr/>
          <p:nvPr/>
        </p:nvSpPr>
        <p:spPr>
          <a:xfrm>
            <a:off x="1251924" y="34268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C2C80B60-7FA9-7941-0AFA-EDF9CFBF7451}"/>
              </a:ext>
            </a:extLst>
          </p:cNvPr>
          <p:cNvSpPr/>
          <p:nvPr/>
        </p:nvSpPr>
        <p:spPr>
          <a:xfrm>
            <a:off x="608049"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2A49F291-722E-F8C7-8942-6F06349FA886}"/>
              </a:ext>
            </a:extLst>
          </p:cNvPr>
          <p:cNvSpPr/>
          <p:nvPr/>
        </p:nvSpPr>
        <p:spPr>
          <a:xfrm>
            <a:off x="1576262"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2B7BEABE-DDA3-7E8A-668D-23E5760BBF1C}"/>
              </a:ext>
            </a:extLst>
          </p:cNvPr>
          <p:cNvSpPr/>
          <p:nvPr/>
        </p:nvSpPr>
        <p:spPr>
          <a:xfrm>
            <a:off x="333524"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45DA56D1-0325-8274-EE82-D8A314D38BB7}"/>
              </a:ext>
            </a:extLst>
          </p:cNvPr>
          <p:cNvSpPr/>
          <p:nvPr/>
        </p:nvSpPr>
        <p:spPr>
          <a:xfrm>
            <a:off x="787299"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551FB8C3-A4E0-4490-B5DB-8A5E18E52593}"/>
              </a:ext>
            </a:extLst>
          </p:cNvPr>
          <p:cNvSpPr/>
          <p:nvPr/>
        </p:nvSpPr>
        <p:spPr>
          <a:xfrm>
            <a:off x="1279737"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3C962A4F-189D-950A-0614-F3B68FF1DFE2}"/>
              </a:ext>
            </a:extLst>
          </p:cNvPr>
          <p:cNvSpPr/>
          <p:nvPr/>
        </p:nvSpPr>
        <p:spPr>
          <a:xfrm>
            <a:off x="1841574"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0C6FC15D-BF04-F4F9-2C03-9484B5A655ED}"/>
              </a:ext>
            </a:extLst>
          </p:cNvPr>
          <p:cNvCxnSpPr>
            <a:cxnSpLocks/>
            <a:endCxn id="13" idx="6"/>
          </p:cNvCxnSpPr>
          <p:nvPr/>
        </p:nvCxnSpPr>
        <p:spPr>
          <a:xfrm flipH="1">
            <a:off x="1461428" y="3094189"/>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C5B556FA-F5EE-A2CE-4638-47AA65EB83F5}"/>
              </a:ext>
            </a:extLst>
          </p:cNvPr>
          <p:cNvCxnSpPr>
            <a:cxnSpLocks/>
            <a:stCxn id="13" idx="4"/>
            <a:endCxn id="14" idx="6"/>
          </p:cNvCxnSpPr>
          <p:nvPr/>
        </p:nvCxnSpPr>
        <p:spPr>
          <a:xfrm flipH="1">
            <a:off x="817553" y="3678332"/>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630EFFA8-CEDE-31B4-BDFE-F8520F3D8504}"/>
              </a:ext>
            </a:extLst>
          </p:cNvPr>
          <p:cNvCxnSpPr>
            <a:cxnSpLocks/>
            <a:stCxn id="13" idx="4"/>
            <a:endCxn id="15" idx="2"/>
          </p:cNvCxnSpPr>
          <p:nvPr/>
        </p:nvCxnSpPr>
        <p:spPr>
          <a:xfrm>
            <a:off x="1356676" y="3678332"/>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0EBB3218-E60A-7FFE-9F85-BB47B0FA5778}"/>
              </a:ext>
            </a:extLst>
          </p:cNvPr>
          <p:cNvCxnSpPr>
            <a:cxnSpLocks/>
            <a:stCxn id="14" idx="4"/>
            <a:endCxn id="16" idx="7"/>
          </p:cNvCxnSpPr>
          <p:nvPr/>
        </p:nvCxnSpPr>
        <p:spPr>
          <a:xfrm flipH="1">
            <a:off x="512347" y="4250307"/>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49BCD907-004D-2EE2-5559-E8326BAC2B56}"/>
              </a:ext>
            </a:extLst>
          </p:cNvPr>
          <p:cNvCxnSpPr>
            <a:cxnSpLocks/>
            <a:stCxn id="14" idx="4"/>
            <a:endCxn id="17" idx="1"/>
          </p:cNvCxnSpPr>
          <p:nvPr/>
        </p:nvCxnSpPr>
        <p:spPr>
          <a:xfrm>
            <a:off x="712801" y="4250307"/>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030880F5-27D7-21E3-69C9-8B3851BA60C1}"/>
              </a:ext>
            </a:extLst>
          </p:cNvPr>
          <p:cNvCxnSpPr>
            <a:cxnSpLocks/>
            <a:stCxn id="15" idx="4"/>
            <a:endCxn id="18" idx="7"/>
          </p:cNvCxnSpPr>
          <p:nvPr/>
        </p:nvCxnSpPr>
        <p:spPr>
          <a:xfrm flipH="1">
            <a:off x="1458560" y="4250307"/>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D42999CF-E5B2-950D-E4BA-75F6BCFF2FE5}"/>
              </a:ext>
            </a:extLst>
          </p:cNvPr>
          <p:cNvCxnSpPr>
            <a:cxnSpLocks/>
            <a:stCxn id="15" idx="4"/>
            <a:endCxn id="19" idx="1"/>
          </p:cNvCxnSpPr>
          <p:nvPr/>
        </p:nvCxnSpPr>
        <p:spPr>
          <a:xfrm>
            <a:off x="1681014" y="4250307"/>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577C6394-916F-9297-2B23-FDA356FDA402}"/>
              </a:ext>
            </a:extLst>
          </p:cNvPr>
          <p:cNvSpPr/>
          <p:nvPr/>
        </p:nvSpPr>
        <p:spPr>
          <a:xfrm>
            <a:off x="3284224" y="3413052"/>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FAE0B477-A015-29D7-9AEB-48A4DFBB88B2}"/>
              </a:ext>
            </a:extLst>
          </p:cNvPr>
          <p:cNvSpPr/>
          <p:nvPr/>
        </p:nvSpPr>
        <p:spPr>
          <a:xfrm>
            <a:off x="2838962" y="39193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D1B99AE3-F1AC-4926-D06C-79E2DEC4DC47}"/>
              </a:ext>
            </a:extLst>
          </p:cNvPr>
          <p:cNvSpPr/>
          <p:nvPr/>
        </p:nvSpPr>
        <p:spPr>
          <a:xfrm>
            <a:off x="3804974" y="38831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81EC0E91-CB17-1CDA-34AC-06A142566FA3}"/>
              </a:ext>
            </a:extLst>
          </p:cNvPr>
          <p:cNvSpPr/>
          <p:nvPr/>
        </p:nvSpPr>
        <p:spPr>
          <a:xfrm>
            <a:off x="2554612"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17CFEA26-2B35-682B-E7D4-36ACB545D016}"/>
              </a:ext>
            </a:extLst>
          </p:cNvPr>
          <p:cNvSpPr/>
          <p:nvPr/>
        </p:nvSpPr>
        <p:spPr>
          <a:xfrm>
            <a:off x="3048237"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672930E7-1196-AACE-A370-40079A1025A1}"/>
              </a:ext>
            </a:extLst>
          </p:cNvPr>
          <p:cNvSpPr/>
          <p:nvPr/>
        </p:nvSpPr>
        <p:spPr>
          <a:xfrm>
            <a:off x="3575524"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A111476F-2393-69E3-9FB5-66B606B5345C}"/>
              </a:ext>
            </a:extLst>
          </p:cNvPr>
          <p:cNvSpPr/>
          <p:nvPr/>
        </p:nvSpPr>
        <p:spPr>
          <a:xfrm>
            <a:off x="4107212"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32A5EB60-3905-51F1-0DD6-0053607A4346}"/>
              </a:ext>
            </a:extLst>
          </p:cNvPr>
          <p:cNvCxnSpPr>
            <a:cxnSpLocks/>
            <a:stCxn id="27" idx="4"/>
            <a:endCxn id="28" idx="6"/>
          </p:cNvCxnSpPr>
          <p:nvPr/>
        </p:nvCxnSpPr>
        <p:spPr>
          <a:xfrm flipH="1">
            <a:off x="3048466" y="3664495"/>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757471F1-7BDA-04B1-BE83-ECA55B873A31}"/>
              </a:ext>
            </a:extLst>
          </p:cNvPr>
          <p:cNvCxnSpPr>
            <a:cxnSpLocks/>
            <a:stCxn id="27" idx="4"/>
            <a:endCxn id="29" idx="2"/>
          </p:cNvCxnSpPr>
          <p:nvPr/>
        </p:nvCxnSpPr>
        <p:spPr>
          <a:xfrm>
            <a:off x="3388976" y="3664495"/>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69E3CCF3-4EA3-B646-3115-24E410DF6027}"/>
              </a:ext>
            </a:extLst>
          </p:cNvPr>
          <p:cNvCxnSpPr>
            <a:cxnSpLocks/>
            <a:stCxn id="28" idx="4"/>
            <a:endCxn id="30" idx="7"/>
          </p:cNvCxnSpPr>
          <p:nvPr/>
        </p:nvCxnSpPr>
        <p:spPr>
          <a:xfrm flipH="1">
            <a:off x="2733435" y="4170782"/>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AEFEE3BE-56AF-85BA-9D42-3CEA393E7A1F}"/>
              </a:ext>
            </a:extLst>
          </p:cNvPr>
          <p:cNvCxnSpPr>
            <a:cxnSpLocks/>
            <a:stCxn id="28" idx="4"/>
            <a:endCxn id="31" idx="1"/>
          </p:cNvCxnSpPr>
          <p:nvPr/>
        </p:nvCxnSpPr>
        <p:spPr>
          <a:xfrm>
            <a:off x="2943714" y="4170782"/>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7FC6BBED-85F2-89DD-D600-EBECB9D5ECB3}"/>
              </a:ext>
            </a:extLst>
          </p:cNvPr>
          <p:cNvCxnSpPr>
            <a:cxnSpLocks/>
            <a:stCxn id="29" idx="4"/>
            <a:endCxn id="32" idx="7"/>
          </p:cNvCxnSpPr>
          <p:nvPr/>
        </p:nvCxnSpPr>
        <p:spPr>
          <a:xfrm flipH="1">
            <a:off x="3754347" y="4134607"/>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04F48B31-8CC0-D72C-75C4-633122D41AB8}"/>
              </a:ext>
            </a:extLst>
          </p:cNvPr>
          <p:cNvCxnSpPr>
            <a:cxnSpLocks/>
            <a:stCxn id="29" idx="4"/>
            <a:endCxn id="33" idx="1"/>
          </p:cNvCxnSpPr>
          <p:nvPr/>
        </p:nvCxnSpPr>
        <p:spPr>
          <a:xfrm>
            <a:off x="3909726" y="4134607"/>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A493006A-8193-1DA6-C7D8-E3B67DE30D27}"/>
              </a:ext>
            </a:extLst>
          </p:cNvPr>
          <p:cNvCxnSpPr>
            <a:cxnSpLocks/>
            <a:endCxn id="27" idx="2"/>
          </p:cNvCxnSpPr>
          <p:nvPr/>
        </p:nvCxnSpPr>
        <p:spPr>
          <a:xfrm>
            <a:off x="2727274" y="3091489"/>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9" name="Direct Access Storage 8">
            <a:extLst>
              <a:ext uri="{FF2B5EF4-FFF2-40B4-BE49-F238E27FC236}">
                <a16:creationId xmlns:a16="http://schemas.microsoft.com/office/drawing/2014/main" id="{7532EDD2-AA4E-38FF-941F-22F1FA8C885E}"/>
              </a:ext>
            </a:extLst>
          </p:cNvPr>
          <p:cNvSpPr/>
          <p:nvPr/>
        </p:nvSpPr>
        <p:spPr>
          <a:xfrm>
            <a:off x="2718351" y="416502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87B55BB0-0771-86B6-ED56-1EE13809AA1B}"/>
              </a:ext>
            </a:extLst>
          </p:cNvPr>
          <p:cNvSpPr/>
          <p:nvPr/>
        </p:nvSpPr>
        <p:spPr>
          <a:xfrm>
            <a:off x="1104496" y="3665511"/>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6F289DF0-2E18-093B-9B88-B029B821E2F1}"/>
              </a:ext>
            </a:extLst>
          </p:cNvPr>
          <p:cNvSpPr/>
          <p:nvPr/>
        </p:nvSpPr>
        <p:spPr>
          <a:xfrm>
            <a:off x="1406497" y="4284292"/>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45CF5BCC-C563-6EA3-B4EA-4EEBFAF83AF9}"/>
              </a:ext>
            </a:extLst>
          </p:cNvPr>
          <p:cNvSpPr/>
          <p:nvPr/>
        </p:nvSpPr>
        <p:spPr>
          <a:xfrm>
            <a:off x="3698695" y="415164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0A67C9F7-D761-9800-0333-A5E8193582EB}"/>
              </a:ext>
            </a:extLst>
          </p:cNvPr>
          <p:cNvSpPr/>
          <p:nvPr/>
        </p:nvSpPr>
        <p:spPr>
          <a:xfrm>
            <a:off x="2338263" y="302787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3D6956E4-047E-E7D3-59A9-C57688D27076}"/>
              </a:ext>
            </a:extLst>
          </p:cNvPr>
          <p:cNvSpPr/>
          <p:nvPr/>
        </p:nvSpPr>
        <p:spPr>
          <a:xfrm>
            <a:off x="3156359" y="367053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ounded Rectangle 40">
            <a:extLst>
              <a:ext uri="{FF2B5EF4-FFF2-40B4-BE49-F238E27FC236}">
                <a16:creationId xmlns:a16="http://schemas.microsoft.com/office/drawing/2014/main" id="{7EC59B29-3A63-4273-140C-A84476B1FFF5}"/>
              </a:ext>
            </a:extLst>
          </p:cNvPr>
          <p:cNvSpPr/>
          <p:nvPr/>
        </p:nvSpPr>
        <p:spPr>
          <a:xfrm>
            <a:off x="4841393" y="1211794"/>
            <a:ext cx="6242819" cy="1087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rPr>
              <a:t>LOQ: A Domain-Specific Scheduling Policy</a:t>
            </a:r>
          </a:p>
        </p:txBody>
      </p:sp>
      <p:sp>
        <p:nvSpPr>
          <p:cNvPr id="45" name="Rounded Rectangle 44">
            <a:extLst>
              <a:ext uri="{FF2B5EF4-FFF2-40B4-BE49-F238E27FC236}">
                <a16:creationId xmlns:a16="http://schemas.microsoft.com/office/drawing/2014/main" id="{E2A403F4-F974-6F27-A911-F90D375473A8}"/>
              </a:ext>
            </a:extLst>
          </p:cNvPr>
          <p:cNvSpPr/>
          <p:nvPr/>
        </p:nvSpPr>
        <p:spPr>
          <a:xfrm>
            <a:off x="4979953" y="2060485"/>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6" name="Rounded Rectangle 45">
            <a:extLst>
              <a:ext uri="{FF2B5EF4-FFF2-40B4-BE49-F238E27FC236}">
                <a16:creationId xmlns:a16="http://schemas.microsoft.com/office/drawing/2014/main" id="{3F6EC890-7A27-FEA7-7411-D3C28A37DD53}"/>
              </a:ext>
            </a:extLst>
          </p:cNvPr>
          <p:cNvSpPr/>
          <p:nvPr/>
        </p:nvSpPr>
        <p:spPr>
          <a:xfrm>
            <a:off x="5175561" y="2060485"/>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7" name="Rounded Rectangle 46">
            <a:extLst>
              <a:ext uri="{FF2B5EF4-FFF2-40B4-BE49-F238E27FC236}">
                <a16:creationId xmlns:a16="http://schemas.microsoft.com/office/drawing/2014/main" id="{D5BDB936-0410-2A36-7B29-AC1FE42EFE73}"/>
              </a:ext>
            </a:extLst>
          </p:cNvPr>
          <p:cNvSpPr/>
          <p:nvPr/>
        </p:nvSpPr>
        <p:spPr>
          <a:xfrm>
            <a:off x="5385065" y="2078287"/>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8" name="Rounded Rectangle 47">
            <a:extLst>
              <a:ext uri="{FF2B5EF4-FFF2-40B4-BE49-F238E27FC236}">
                <a16:creationId xmlns:a16="http://schemas.microsoft.com/office/drawing/2014/main" id="{9D083B07-91F2-937C-19B3-27AFF227F3D6}"/>
              </a:ext>
            </a:extLst>
          </p:cNvPr>
          <p:cNvSpPr/>
          <p:nvPr/>
        </p:nvSpPr>
        <p:spPr>
          <a:xfrm>
            <a:off x="4979953" y="1839523"/>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9" name="Rounded Rectangle 48">
            <a:extLst>
              <a:ext uri="{FF2B5EF4-FFF2-40B4-BE49-F238E27FC236}">
                <a16:creationId xmlns:a16="http://schemas.microsoft.com/office/drawing/2014/main" id="{257B17BB-8EEB-DE6C-D6BE-E892E6A5D8A5}"/>
              </a:ext>
            </a:extLst>
          </p:cNvPr>
          <p:cNvSpPr/>
          <p:nvPr/>
        </p:nvSpPr>
        <p:spPr>
          <a:xfrm>
            <a:off x="5175561" y="1830098"/>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0" name="Rounded Rectangle 49">
            <a:extLst>
              <a:ext uri="{FF2B5EF4-FFF2-40B4-BE49-F238E27FC236}">
                <a16:creationId xmlns:a16="http://schemas.microsoft.com/office/drawing/2014/main" id="{829BB3AA-46F4-13AE-AA80-CCBBE979EFBB}"/>
              </a:ext>
            </a:extLst>
          </p:cNvPr>
          <p:cNvSpPr/>
          <p:nvPr/>
        </p:nvSpPr>
        <p:spPr>
          <a:xfrm>
            <a:off x="5385065" y="1830622"/>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81507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2944A2A-56AE-4BAE-39A2-086ADC25E04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DAFEF3-DBC9-3278-CDAC-D77CA4F5075B}"/>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CA9E0FAA-F0DD-64ED-617D-8DF3E58F1A0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489372AA-1552-C76F-EEFB-B1F2A31E34C5}"/>
              </a:ext>
            </a:extLst>
          </p:cNvPr>
          <p:cNvSpPr/>
          <p:nvPr/>
        </p:nvSpPr>
        <p:spPr>
          <a:xfrm>
            <a:off x="604574"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E20BF38E-2EC4-1E95-43FE-CA51250EC119}"/>
              </a:ext>
            </a:extLst>
          </p:cNvPr>
          <p:cNvSpPr/>
          <p:nvPr/>
        </p:nvSpPr>
        <p:spPr>
          <a:xfrm>
            <a:off x="1570891"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2C8C7089-0EE6-8350-F70B-94349974FF7C}"/>
              </a:ext>
            </a:extLst>
          </p:cNvPr>
          <p:cNvSpPr/>
          <p:nvPr/>
        </p:nvSpPr>
        <p:spPr>
          <a:xfrm>
            <a:off x="2537208"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1DC20785-0842-C80A-7B14-A2849074B03D}"/>
              </a:ext>
            </a:extLst>
          </p:cNvPr>
          <p:cNvSpPr/>
          <p:nvPr/>
        </p:nvSpPr>
        <p:spPr>
          <a:xfrm>
            <a:off x="3503525" y="4897924"/>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2E3BD738-4E85-F251-4789-0823EC2135BB}"/>
              </a:ext>
            </a:extLst>
          </p:cNvPr>
          <p:cNvSpPr/>
          <p:nvPr/>
        </p:nvSpPr>
        <p:spPr>
          <a:xfrm>
            <a:off x="1448571" y="215407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95BA8D7D-1E2C-FC70-CF20-2E69ADC98C17}"/>
              </a:ext>
            </a:extLst>
          </p:cNvPr>
          <p:cNvSpPr/>
          <p:nvPr/>
        </p:nvSpPr>
        <p:spPr>
          <a:xfrm>
            <a:off x="432530" y="425586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D1DCE6F8-32EE-FFB5-840D-98EADD9D4C71}"/>
              </a:ext>
            </a:extLst>
          </p:cNvPr>
          <p:cNvSpPr/>
          <p:nvPr/>
        </p:nvSpPr>
        <p:spPr>
          <a:xfrm>
            <a:off x="1251924" y="34268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FFB8DF1E-5B31-2D5E-FAF2-650D31B6DE5F}"/>
              </a:ext>
            </a:extLst>
          </p:cNvPr>
          <p:cNvSpPr/>
          <p:nvPr/>
        </p:nvSpPr>
        <p:spPr>
          <a:xfrm>
            <a:off x="608049"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14E37E93-C6FB-B50E-CCF9-AC83AB57BEB0}"/>
              </a:ext>
            </a:extLst>
          </p:cNvPr>
          <p:cNvSpPr/>
          <p:nvPr/>
        </p:nvSpPr>
        <p:spPr>
          <a:xfrm>
            <a:off x="1576262"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FC52C3D1-86CE-E581-A72B-A5AEB7A7FE6E}"/>
              </a:ext>
            </a:extLst>
          </p:cNvPr>
          <p:cNvSpPr/>
          <p:nvPr/>
        </p:nvSpPr>
        <p:spPr>
          <a:xfrm>
            <a:off x="333524"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C7429870-4765-9502-5E0D-3E04E62B3A7E}"/>
              </a:ext>
            </a:extLst>
          </p:cNvPr>
          <p:cNvSpPr/>
          <p:nvPr/>
        </p:nvSpPr>
        <p:spPr>
          <a:xfrm>
            <a:off x="787299"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2F52A766-F828-C5D7-479A-C2D76E836801}"/>
              </a:ext>
            </a:extLst>
          </p:cNvPr>
          <p:cNvSpPr/>
          <p:nvPr/>
        </p:nvSpPr>
        <p:spPr>
          <a:xfrm>
            <a:off x="1279737"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0DAAFF3B-D4DA-E44F-27FF-26B021C9B91D}"/>
              </a:ext>
            </a:extLst>
          </p:cNvPr>
          <p:cNvSpPr/>
          <p:nvPr/>
        </p:nvSpPr>
        <p:spPr>
          <a:xfrm>
            <a:off x="1841574"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030288DA-8142-4111-C28B-F076A72985E7}"/>
              </a:ext>
            </a:extLst>
          </p:cNvPr>
          <p:cNvCxnSpPr>
            <a:cxnSpLocks/>
            <a:endCxn id="13" idx="6"/>
          </p:cNvCxnSpPr>
          <p:nvPr/>
        </p:nvCxnSpPr>
        <p:spPr>
          <a:xfrm flipH="1">
            <a:off x="1461428" y="3094189"/>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80132B10-C5C4-E800-27A7-76C4976E222B}"/>
              </a:ext>
            </a:extLst>
          </p:cNvPr>
          <p:cNvCxnSpPr>
            <a:cxnSpLocks/>
            <a:stCxn id="13" idx="4"/>
            <a:endCxn id="14" idx="6"/>
          </p:cNvCxnSpPr>
          <p:nvPr/>
        </p:nvCxnSpPr>
        <p:spPr>
          <a:xfrm flipH="1">
            <a:off x="817553" y="3678332"/>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7A072D9B-76AE-70F9-CCEE-361894D8511A}"/>
              </a:ext>
            </a:extLst>
          </p:cNvPr>
          <p:cNvCxnSpPr>
            <a:cxnSpLocks/>
            <a:stCxn id="13" idx="4"/>
            <a:endCxn id="15" idx="2"/>
          </p:cNvCxnSpPr>
          <p:nvPr/>
        </p:nvCxnSpPr>
        <p:spPr>
          <a:xfrm>
            <a:off x="1356676" y="3678332"/>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B0BC1730-AAC3-8630-9BBC-D5DCF62EFD9B}"/>
              </a:ext>
            </a:extLst>
          </p:cNvPr>
          <p:cNvCxnSpPr>
            <a:cxnSpLocks/>
            <a:stCxn id="14" idx="4"/>
            <a:endCxn id="16" idx="7"/>
          </p:cNvCxnSpPr>
          <p:nvPr/>
        </p:nvCxnSpPr>
        <p:spPr>
          <a:xfrm flipH="1">
            <a:off x="512347" y="4250307"/>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94756202-AE2A-3B73-1AFD-EEB6F3CDD4DD}"/>
              </a:ext>
            </a:extLst>
          </p:cNvPr>
          <p:cNvCxnSpPr>
            <a:cxnSpLocks/>
            <a:stCxn id="14" idx="4"/>
            <a:endCxn id="17" idx="1"/>
          </p:cNvCxnSpPr>
          <p:nvPr/>
        </p:nvCxnSpPr>
        <p:spPr>
          <a:xfrm>
            <a:off x="712801" y="4250307"/>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703BA435-5F4A-56E4-3E38-543180D05985}"/>
              </a:ext>
            </a:extLst>
          </p:cNvPr>
          <p:cNvCxnSpPr>
            <a:cxnSpLocks/>
            <a:stCxn id="15" idx="4"/>
            <a:endCxn id="18" idx="7"/>
          </p:cNvCxnSpPr>
          <p:nvPr/>
        </p:nvCxnSpPr>
        <p:spPr>
          <a:xfrm flipH="1">
            <a:off x="1458560" y="4250307"/>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8DB387FF-A75E-BE29-7211-3BF12CFAA7CC}"/>
              </a:ext>
            </a:extLst>
          </p:cNvPr>
          <p:cNvCxnSpPr>
            <a:cxnSpLocks/>
            <a:stCxn id="15" idx="4"/>
            <a:endCxn id="19" idx="1"/>
          </p:cNvCxnSpPr>
          <p:nvPr/>
        </p:nvCxnSpPr>
        <p:spPr>
          <a:xfrm>
            <a:off x="1681014" y="4250307"/>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6353A504-2826-2E85-C0BD-DD1A70E53100}"/>
              </a:ext>
            </a:extLst>
          </p:cNvPr>
          <p:cNvSpPr/>
          <p:nvPr/>
        </p:nvSpPr>
        <p:spPr>
          <a:xfrm>
            <a:off x="3284224" y="3413052"/>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70B786A3-79B6-65FE-6E15-47590117CA58}"/>
              </a:ext>
            </a:extLst>
          </p:cNvPr>
          <p:cNvSpPr/>
          <p:nvPr/>
        </p:nvSpPr>
        <p:spPr>
          <a:xfrm>
            <a:off x="2838962" y="39193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661E5BB8-AC02-D6CF-52D8-38678CA7F783}"/>
              </a:ext>
            </a:extLst>
          </p:cNvPr>
          <p:cNvSpPr/>
          <p:nvPr/>
        </p:nvSpPr>
        <p:spPr>
          <a:xfrm>
            <a:off x="3804974" y="38831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92BA1932-3F8C-714A-490B-D7AF8ED9F40C}"/>
              </a:ext>
            </a:extLst>
          </p:cNvPr>
          <p:cNvSpPr/>
          <p:nvPr/>
        </p:nvSpPr>
        <p:spPr>
          <a:xfrm>
            <a:off x="2554612"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2FA9EEBD-A7A9-4A7F-1663-42ADC8273590}"/>
              </a:ext>
            </a:extLst>
          </p:cNvPr>
          <p:cNvSpPr/>
          <p:nvPr/>
        </p:nvSpPr>
        <p:spPr>
          <a:xfrm>
            <a:off x="3048237"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6FE89A3E-F9F4-FAA6-A4CA-33FE8D20E402}"/>
              </a:ext>
            </a:extLst>
          </p:cNvPr>
          <p:cNvSpPr/>
          <p:nvPr/>
        </p:nvSpPr>
        <p:spPr>
          <a:xfrm>
            <a:off x="3575524"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4FCA8B40-154B-3F6D-3F92-93AA5E46F3F9}"/>
              </a:ext>
            </a:extLst>
          </p:cNvPr>
          <p:cNvSpPr/>
          <p:nvPr/>
        </p:nvSpPr>
        <p:spPr>
          <a:xfrm>
            <a:off x="4107212"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F8F9A6B8-73BD-B4FB-B873-83250191558C}"/>
              </a:ext>
            </a:extLst>
          </p:cNvPr>
          <p:cNvCxnSpPr>
            <a:cxnSpLocks/>
            <a:stCxn id="27" idx="4"/>
            <a:endCxn id="28" idx="6"/>
          </p:cNvCxnSpPr>
          <p:nvPr/>
        </p:nvCxnSpPr>
        <p:spPr>
          <a:xfrm flipH="1">
            <a:off x="3048466" y="3664495"/>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240D28EA-4669-0FAA-F023-C27ADD50038A}"/>
              </a:ext>
            </a:extLst>
          </p:cNvPr>
          <p:cNvCxnSpPr>
            <a:cxnSpLocks/>
            <a:stCxn id="27" idx="4"/>
            <a:endCxn id="29" idx="2"/>
          </p:cNvCxnSpPr>
          <p:nvPr/>
        </p:nvCxnSpPr>
        <p:spPr>
          <a:xfrm>
            <a:off x="3388976" y="3664495"/>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63B21DB9-D771-5840-6D94-5855EDD73801}"/>
              </a:ext>
            </a:extLst>
          </p:cNvPr>
          <p:cNvCxnSpPr>
            <a:cxnSpLocks/>
            <a:stCxn id="28" idx="4"/>
            <a:endCxn id="30" idx="7"/>
          </p:cNvCxnSpPr>
          <p:nvPr/>
        </p:nvCxnSpPr>
        <p:spPr>
          <a:xfrm flipH="1">
            <a:off x="2733435" y="4170782"/>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AC2484F6-F7FA-F4FC-D0FC-E5294F9A12DA}"/>
              </a:ext>
            </a:extLst>
          </p:cNvPr>
          <p:cNvCxnSpPr>
            <a:cxnSpLocks/>
            <a:stCxn id="28" idx="4"/>
            <a:endCxn id="31" idx="1"/>
          </p:cNvCxnSpPr>
          <p:nvPr/>
        </p:nvCxnSpPr>
        <p:spPr>
          <a:xfrm>
            <a:off x="2943714" y="4170782"/>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DDEF3FCA-47B9-886E-AE44-B8F6E599F198}"/>
              </a:ext>
            </a:extLst>
          </p:cNvPr>
          <p:cNvCxnSpPr>
            <a:cxnSpLocks/>
            <a:stCxn id="29" idx="4"/>
            <a:endCxn id="32" idx="7"/>
          </p:cNvCxnSpPr>
          <p:nvPr/>
        </p:nvCxnSpPr>
        <p:spPr>
          <a:xfrm flipH="1">
            <a:off x="3754347" y="4134607"/>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5C0248A4-912F-F2FB-9050-CE81B327CEF0}"/>
              </a:ext>
            </a:extLst>
          </p:cNvPr>
          <p:cNvCxnSpPr>
            <a:cxnSpLocks/>
            <a:stCxn id="29" idx="4"/>
            <a:endCxn id="33" idx="1"/>
          </p:cNvCxnSpPr>
          <p:nvPr/>
        </p:nvCxnSpPr>
        <p:spPr>
          <a:xfrm>
            <a:off x="3909726" y="4134607"/>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24EA1377-FEE8-E271-E7C2-5009DA65E303}"/>
              </a:ext>
            </a:extLst>
          </p:cNvPr>
          <p:cNvCxnSpPr>
            <a:cxnSpLocks/>
            <a:endCxn id="27" idx="2"/>
          </p:cNvCxnSpPr>
          <p:nvPr/>
        </p:nvCxnSpPr>
        <p:spPr>
          <a:xfrm>
            <a:off x="2727274" y="3091489"/>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9" name="Direct Access Storage 8">
            <a:extLst>
              <a:ext uri="{FF2B5EF4-FFF2-40B4-BE49-F238E27FC236}">
                <a16:creationId xmlns:a16="http://schemas.microsoft.com/office/drawing/2014/main" id="{137E5D08-B132-90F9-E07D-9198494CB17B}"/>
              </a:ext>
            </a:extLst>
          </p:cNvPr>
          <p:cNvSpPr/>
          <p:nvPr/>
        </p:nvSpPr>
        <p:spPr>
          <a:xfrm>
            <a:off x="2718351" y="416502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8480F962-B3FA-01DE-9D4D-4F47E6CF80D3}"/>
              </a:ext>
            </a:extLst>
          </p:cNvPr>
          <p:cNvSpPr/>
          <p:nvPr/>
        </p:nvSpPr>
        <p:spPr>
          <a:xfrm>
            <a:off x="1104496" y="3665511"/>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A18F25B6-36EF-EA54-579B-3328A6BCCF5A}"/>
              </a:ext>
            </a:extLst>
          </p:cNvPr>
          <p:cNvSpPr/>
          <p:nvPr/>
        </p:nvSpPr>
        <p:spPr>
          <a:xfrm>
            <a:off x="1406497" y="4284292"/>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3FE46590-0EF6-059E-051D-FAB43E6D9BD4}"/>
              </a:ext>
            </a:extLst>
          </p:cNvPr>
          <p:cNvSpPr/>
          <p:nvPr/>
        </p:nvSpPr>
        <p:spPr>
          <a:xfrm>
            <a:off x="3698695" y="415164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A159DADF-6F71-AE7B-C8C4-5426E30CECBD}"/>
              </a:ext>
            </a:extLst>
          </p:cNvPr>
          <p:cNvSpPr/>
          <p:nvPr/>
        </p:nvSpPr>
        <p:spPr>
          <a:xfrm>
            <a:off x="2338263" y="302787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409852D9-E62B-0AA5-D07C-13FCD3C34AAA}"/>
              </a:ext>
            </a:extLst>
          </p:cNvPr>
          <p:cNvSpPr/>
          <p:nvPr/>
        </p:nvSpPr>
        <p:spPr>
          <a:xfrm>
            <a:off x="3156359" y="367053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ounded Rectangle 40">
            <a:extLst>
              <a:ext uri="{FF2B5EF4-FFF2-40B4-BE49-F238E27FC236}">
                <a16:creationId xmlns:a16="http://schemas.microsoft.com/office/drawing/2014/main" id="{33468E7B-9DFC-E2AE-D58D-506B3275793C}"/>
              </a:ext>
            </a:extLst>
          </p:cNvPr>
          <p:cNvSpPr/>
          <p:nvPr/>
        </p:nvSpPr>
        <p:spPr>
          <a:xfrm>
            <a:off x="4841393" y="1211794"/>
            <a:ext cx="6242819" cy="1087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rPr>
              <a:t>LOQ: A Domain-Specific Scheduling Policy</a:t>
            </a:r>
          </a:p>
        </p:txBody>
      </p:sp>
      <p:sp>
        <p:nvSpPr>
          <p:cNvPr id="45" name="Rounded Rectangle 44">
            <a:extLst>
              <a:ext uri="{FF2B5EF4-FFF2-40B4-BE49-F238E27FC236}">
                <a16:creationId xmlns:a16="http://schemas.microsoft.com/office/drawing/2014/main" id="{8E307AEC-8CB5-1EEB-74EE-94AE382E9D74}"/>
              </a:ext>
            </a:extLst>
          </p:cNvPr>
          <p:cNvSpPr/>
          <p:nvPr/>
        </p:nvSpPr>
        <p:spPr>
          <a:xfrm>
            <a:off x="1448571" y="3417733"/>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6" name="Rounded Rectangle 45">
            <a:extLst>
              <a:ext uri="{FF2B5EF4-FFF2-40B4-BE49-F238E27FC236}">
                <a16:creationId xmlns:a16="http://schemas.microsoft.com/office/drawing/2014/main" id="{4FDE2BFF-F9D2-5197-4083-CC31D43E7C87}"/>
              </a:ext>
            </a:extLst>
          </p:cNvPr>
          <p:cNvSpPr/>
          <p:nvPr/>
        </p:nvSpPr>
        <p:spPr>
          <a:xfrm>
            <a:off x="3023491" y="3946941"/>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7" name="Rounded Rectangle 46">
            <a:extLst>
              <a:ext uri="{FF2B5EF4-FFF2-40B4-BE49-F238E27FC236}">
                <a16:creationId xmlns:a16="http://schemas.microsoft.com/office/drawing/2014/main" id="{4BD9228C-516B-72D0-EF80-A9876ADCE4D3}"/>
              </a:ext>
            </a:extLst>
          </p:cNvPr>
          <p:cNvSpPr/>
          <p:nvPr/>
        </p:nvSpPr>
        <p:spPr>
          <a:xfrm>
            <a:off x="3637873" y="3915445"/>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8" name="Rounded Rectangle 47">
            <a:extLst>
              <a:ext uri="{FF2B5EF4-FFF2-40B4-BE49-F238E27FC236}">
                <a16:creationId xmlns:a16="http://schemas.microsoft.com/office/drawing/2014/main" id="{D3B39BAF-09A2-4790-6579-FB27D5496912}"/>
              </a:ext>
            </a:extLst>
          </p:cNvPr>
          <p:cNvSpPr/>
          <p:nvPr/>
        </p:nvSpPr>
        <p:spPr>
          <a:xfrm>
            <a:off x="3113969" y="3417733"/>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9" name="Rounded Rectangle 48">
            <a:extLst>
              <a:ext uri="{FF2B5EF4-FFF2-40B4-BE49-F238E27FC236}">
                <a16:creationId xmlns:a16="http://schemas.microsoft.com/office/drawing/2014/main" id="{26A88238-4327-784C-0440-B37C743E7EE9}"/>
              </a:ext>
            </a:extLst>
          </p:cNvPr>
          <p:cNvSpPr/>
          <p:nvPr/>
        </p:nvSpPr>
        <p:spPr>
          <a:xfrm>
            <a:off x="816048" y="3998466"/>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0" name="Rounded Rectangle 49">
            <a:extLst>
              <a:ext uri="{FF2B5EF4-FFF2-40B4-BE49-F238E27FC236}">
                <a16:creationId xmlns:a16="http://schemas.microsoft.com/office/drawing/2014/main" id="{BDF28FCF-D15D-21F4-B059-F5630D618AA8}"/>
              </a:ext>
            </a:extLst>
          </p:cNvPr>
          <p:cNvSpPr/>
          <p:nvPr/>
        </p:nvSpPr>
        <p:spPr>
          <a:xfrm>
            <a:off x="1415913" y="4019012"/>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1" name="TextBox 50">
            <a:extLst>
              <a:ext uri="{FF2B5EF4-FFF2-40B4-BE49-F238E27FC236}">
                <a16:creationId xmlns:a16="http://schemas.microsoft.com/office/drawing/2014/main" id="{6ED9524B-E657-1D1C-FE79-1682CEDE3E51}"/>
              </a:ext>
            </a:extLst>
          </p:cNvPr>
          <p:cNvSpPr txBox="1"/>
          <p:nvPr/>
        </p:nvSpPr>
        <p:spPr>
          <a:xfrm>
            <a:off x="5184949" y="2592475"/>
            <a:ext cx="6189498" cy="3416320"/>
          </a:xfrm>
          <a:prstGeom prst="rect">
            <a:avLst/>
          </a:prstGeom>
          <a:noFill/>
        </p:spPr>
        <p:txBody>
          <a:bodyPr wrap="square" rtlCol="0">
            <a:spAutoFit/>
          </a:bodyPr>
          <a:lstStyle/>
          <a:p>
            <a:pPr marL="342900" indent="-342900">
              <a:buFont typeface="+mj-lt"/>
              <a:buAutoNum type="arabicPeriod"/>
            </a:pPr>
            <a:r>
              <a:rPr lang="en-US" sz="2400" dirty="0"/>
              <a:t>Identifies orders that will wait in the Limit Order Book at the exchange upon reaching the exchange</a:t>
            </a:r>
          </a:p>
          <a:p>
            <a:pPr marL="342900" indent="-342900">
              <a:buFont typeface="+mj-lt"/>
              <a:buAutoNum type="arabicPeriod"/>
            </a:pPr>
            <a:r>
              <a:rPr lang="en-US" sz="2400" dirty="0"/>
              <a:t>De-prioritizes such “non-critical” orders while scheduling</a:t>
            </a:r>
          </a:p>
          <a:p>
            <a:pPr marL="342900" indent="-342900">
              <a:buFont typeface="+mj-lt"/>
              <a:buAutoNum type="arabicPeriod"/>
            </a:pPr>
            <a:r>
              <a:rPr lang="en-US" sz="2400" dirty="0"/>
              <a:t>Critical orders get priority</a:t>
            </a:r>
          </a:p>
          <a:p>
            <a:pPr marL="342900" indent="-342900">
              <a:buFont typeface="+mj-lt"/>
              <a:buAutoNum type="arabicPeriod"/>
            </a:pPr>
            <a:r>
              <a:rPr lang="en-US" sz="2400" dirty="0"/>
              <a:t>Frees up resources of the exchange server i.e., the exchange receives orders that need to be executed right away</a:t>
            </a:r>
          </a:p>
        </p:txBody>
      </p:sp>
    </p:spTree>
    <p:extLst>
      <p:ext uri="{BB962C8B-B14F-4D97-AF65-F5344CB8AC3E}">
        <p14:creationId xmlns:p14="http://schemas.microsoft.com/office/powerpoint/2010/main" val="347415843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4A5F148-D0A6-15D5-A489-963623259B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EBE781-3C26-1574-A63F-8A6A64E68108}"/>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Inbound Fairness</a:t>
            </a:r>
          </a:p>
        </p:txBody>
      </p:sp>
      <p:graphicFrame>
        <p:nvGraphicFramePr>
          <p:cNvPr id="2" name="Table 1">
            <a:extLst>
              <a:ext uri="{FF2B5EF4-FFF2-40B4-BE49-F238E27FC236}">
                <a16:creationId xmlns:a16="http://schemas.microsoft.com/office/drawing/2014/main" id="{0F34834B-3A4B-FE91-9F85-AA8E80309E2B}"/>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Oval 3">
            <a:extLst>
              <a:ext uri="{FF2B5EF4-FFF2-40B4-BE49-F238E27FC236}">
                <a16:creationId xmlns:a16="http://schemas.microsoft.com/office/drawing/2014/main" id="{EE2E8505-EBBF-D473-72FB-DE190C7F33F1}"/>
              </a:ext>
            </a:extLst>
          </p:cNvPr>
          <p:cNvSpPr/>
          <p:nvPr/>
        </p:nvSpPr>
        <p:spPr>
          <a:xfrm>
            <a:off x="604574"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FB244DDC-39F7-06B7-3141-A798EA1A6991}"/>
              </a:ext>
            </a:extLst>
          </p:cNvPr>
          <p:cNvSpPr/>
          <p:nvPr/>
        </p:nvSpPr>
        <p:spPr>
          <a:xfrm>
            <a:off x="1570891"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586B5490-F759-7673-70F3-001EA43D7AC8}"/>
              </a:ext>
            </a:extLst>
          </p:cNvPr>
          <p:cNvSpPr/>
          <p:nvPr/>
        </p:nvSpPr>
        <p:spPr>
          <a:xfrm>
            <a:off x="2537208" y="492807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4B5161A9-4220-A611-E481-47904A7708DD}"/>
              </a:ext>
            </a:extLst>
          </p:cNvPr>
          <p:cNvSpPr/>
          <p:nvPr/>
        </p:nvSpPr>
        <p:spPr>
          <a:xfrm>
            <a:off x="3503525" y="4897924"/>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Triangle 9">
            <a:extLst>
              <a:ext uri="{FF2B5EF4-FFF2-40B4-BE49-F238E27FC236}">
                <a16:creationId xmlns:a16="http://schemas.microsoft.com/office/drawing/2014/main" id="{6E48316F-6BED-A89D-0E8C-07E31B741BF2}"/>
              </a:ext>
            </a:extLst>
          </p:cNvPr>
          <p:cNvSpPr/>
          <p:nvPr/>
        </p:nvSpPr>
        <p:spPr>
          <a:xfrm>
            <a:off x="1448571" y="215407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Direct Access Storage 4">
            <a:extLst>
              <a:ext uri="{FF2B5EF4-FFF2-40B4-BE49-F238E27FC236}">
                <a16:creationId xmlns:a16="http://schemas.microsoft.com/office/drawing/2014/main" id="{129E09E7-97D4-06AE-F981-DEF4B679365F}"/>
              </a:ext>
            </a:extLst>
          </p:cNvPr>
          <p:cNvSpPr/>
          <p:nvPr/>
        </p:nvSpPr>
        <p:spPr>
          <a:xfrm>
            <a:off x="432530" y="425586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Google Shape;135;p21">
            <a:extLst>
              <a:ext uri="{FF2B5EF4-FFF2-40B4-BE49-F238E27FC236}">
                <a16:creationId xmlns:a16="http://schemas.microsoft.com/office/drawing/2014/main" id="{3BC1FDD4-7D58-2D17-71CB-BEE39F4143A3}"/>
              </a:ext>
            </a:extLst>
          </p:cNvPr>
          <p:cNvSpPr/>
          <p:nvPr/>
        </p:nvSpPr>
        <p:spPr>
          <a:xfrm>
            <a:off x="1251924" y="34268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oogle Shape;136;p21">
            <a:extLst>
              <a:ext uri="{FF2B5EF4-FFF2-40B4-BE49-F238E27FC236}">
                <a16:creationId xmlns:a16="http://schemas.microsoft.com/office/drawing/2014/main" id="{97A803C6-DBFE-8E7E-1A7C-4F6BE47158D2}"/>
              </a:ext>
            </a:extLst>
          </p:cNvPr>
          <p:cNvSpPr/>
          <p:nvPr/>
        </p:nvSpPr>
        <p:spPr>
          <a:xfrm>
            <a:off x="608049"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37;p21">
            <a:extLst>
              <a:ext uri="{FF2B5EF4-FFF2-40B4-BE49-F238E27FC236}">
                <a16:creationId xmlns:a16="http://schemas.microsoft.com/office/drawing/2014/main" id="{F7D37213-1D04-CE61-EDA2-885515F80099}"/>
              </a:ext>
            </a:extLst>
          </p:cNvPr>
          <p:cNvSpPr/>
          <p:nvPr/>
        </p:nvSpPr>
        <p:spPr>
          <a:xfrm>
            <a:off x="1576262" y="39988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Google Shape;138;p21">
            <a:extLst>
              <a:ext uri="{FF2B5EF4-FFF2-40B4-BE49-F238E27FC236}">
                <a16:creationId xmlns:a16="http://schemas.microsoft.com/office/drawing/2014/main" id="{97E783B1-7C98-0E27-0368-F4869F72715C}"/>
              </a:ext>
            </a:extLst>
          </p:cNvPr>
          <p:cNvSpPr/>
          <p:nvPr/>
        </p:nvSpPr>
        <p:spPr>
          <a:xfrm>
            <a:off x="333524"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Google Shape;139;p21">
            <a:extLst>
              <a:ext uri="{FF2B5EF4-FFF2-40B4-BE49-F238E27FC236}">
                <a16:creationId xmlns:a16="http://schemas.microsoft.com/office/drawing/2014/main" id="{F7ACCC8B-6D04-8367-CEAA-499413EC4C0A}"/>
              </a:ext>
            </a:extLst>
          </p:cNvPr>
          <p:cNvSpPr/>
          <p:nvPr/>
        </p:nvSpPr>
        <p:spPr>
          <a:xfrm>
            <a:off x="787299" y="47015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Google Shape;140;p21">
            <a:extLst>
              <a:ext uri="{FF2B5EF4-FFF2-40B4-BE49-F238E27FC236}">
                <a16:creationId xmlns:a16="http://schemas.microsoft.com/office/drawing/2014/main" id="{1B9D8DB8-0E10-0588-9F23-375B5132295D}"/>
              </a:ext>
            </a:extLst>
          </p:cNvPr>
          <p:cNvSpPr/>
          <p:nvPr/>
        </p:nvSpPr>
        <p:spPr>
          <a:xfrm>
            <a:off x="1279737"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Google Shape;141;p21">
            <a:extLst>
              <a:ext uri="{FF2B5EF4-FFF2-40B4-BE49-F238E27FC236}">
                <a16:creationId xmlns:a16="http://schemas.microsoft.com/office/drawing/2014/main" id="{32C52689-5743-8044-3D3D-D08B288CDC51}"/>
              </a:ext>
            </a:extLst>
          </p:cNvPr>
          <p:cNvSpPr/>
          <p:nvPr/>
        </p:nvSpPr>
        <p:spPr>
          <a:xfrm>
            <a:off x="1841574" y="46638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Google Shape;142;p21">
            <a:extLst>
              <a:ext uri="{FF2B5EF4-FFF2-40B4-BE49-F238E27FC236}">
                <a16:creationId xmlns:a16="http://schemas.microsoft.com/office/drawing/2014/main" id="{90E3167E-A431-33D5-363E-78E5D7C1A9BC}"/>
              </a:ext>
            </a:extLst>
          </p:cNvPr>
          <p:cNvCxnSpPr>
            <a:cxnSpLocks/>
            <a:endCxn id="13" idx="6"/>
          </p:cNvCxnSpPr>
          <p:nvPr/>
        </p:nvCxnSpPr>
        <p:spPr>
          <a:xfrm flipH="1">
            <a:off x="1461428" y="3094189"/>
            <a:ext cx="969796" cy="458422"/>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43;p21">
            <a:extLst>
              <a:ext uri="{FF2B5EF4-FFF2-40B4-BE49-F238E27FC236}">
                <a16:creationId xmlns:a16="http://schemas.microsoft.com/office/drawing/2014/main" id="{D73E9FF0-E01A-70FF-AA2A-1EFFAB256517}"/>
              </a:ext>
            </a:extLst>
          </p:cNvPr>
          <p:cNvCxnSpPr>
            <a:cxnSpLocks/>
            <a:stCxn id="13" idx="4"/>
            <a:endCxn id="14" idx="6"/>
          </p:cNvCxnSpPr>
          <p:nvPr/>
        </p:nvCxnSpPr>
        <p:spPr>
          <a:xfrm flipH="1">
            <a:off x="817553" y="3678332"/>
            <a:ext cx="539123" cy="446254"/>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44;p21">
            <a:extLst>
              <a:ext uri="{FF2B5EF4-FFF2-40B4-BE49-F238E27FC236}">
                <a16:creationId xmlns:a16="http://schemas.microsoft.com/office/drawing/2014/main" id="{B2F50501-A574-9C7C-3DFE-3B933DE86F82}"/>
              </a:ext>
            </a:extLst>
          </p:cNvPr>
          <p:cNvCxnSpPr>
            <a:cxnSpLocks/>
            <a:stCxn id="13" idx="4"/>
            <a:endCxn id="15" idx="2"/>
          </p:cNvCxnSpPr>
          <p:nvPr/>
        </p:nvCxnSpPr>
        <p:spPr>
          <a:xfrm>
            <a:off x="1356676" y="3678332"/>
            <a:ext cx="219586" cy="446254"/>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145;p21">
            <a:extLst>
              <a:ext uri="{FF2B5EF4-FFF2-40B4-BE49-F238E27FC236}">
                <a16:creationId xmlns:a16="http://schemas.microsoft.com/office/drawing/2014/main" id="{3BF35501-FFBE-710E-1854-86403DC4AEE0}"/>
              </a:ext>
            </a:extLst>
          </p:cNvPr>
          <p:cNvCxnSpPr>
            <a:cxnSpLocks/>
            <a:stCxn id="14" idx="4"/>
            <a:endCxn id="16" idx="7"/>
          </p:cNvCxnSpPr>
          <p:nvPr/>
        </p:nvCxnSpPr>
        <p:spPr>
          <a:xfrm flipH="1">
            <a:off x="512347" y="4250307"/>
            <a:ext cx="200454" cy="48808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146;p21">
            <a:extLst>
              <a:ext uri="{FF2B5EF4-FFF2-40B4-BE49-F238E27FC236}">
                <a16:creationId xmlns:a16="http://schemas.microsoft.com/office/drawing/2014/main" id="{8516BC01-9786-16EC-D1B5-CD109F5A864E}"/>
              </a:ext>
            </a:extLst>
          </p:cNvPr>
          <p:cNvCxnSpPr>
            <a:cxnSpLocks/>
            <a:stCxn id="14" idx="4"/>
            <a:endCxn id="17" idx="1"/>
          </p:cNvCxnSpPr>
          <p:nvPr/>
        </p:nvCxnSpPr>
        <p:spPr>
          <a:xfrm>
            <a:off x="712801" y="4250307"/>
            <a:ext cx="105179" cy="48808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147;p21">
            <a:extLst>
              <a:ext uri="{FF2B5EF4-FFF2-40B4-BE49-F238E27FC236}">
                <a16:creationId xmlns:a16="http://schemas.microsoft.com/office/drawing/2014/main" id="{4DFEBD95-C1DD-DB1E-A5C3-A24058A2A568}"/>
              </a:ext>
            </a:extLst>
          </p:cNvPr>
          <p:cNvCxnSpPr>
            <a:cxnSpLocks/>
            <a:stCxn id="15" idx="4"/>
            <a:endCxn id="18" idx="7"/>
          </p:cNvCxnSpPr>
          <p:nvPr/>
        </p:nvCxnSpPr>
        <p:spPr>
          <a:xfrm flipH="1">
            <a:off x="1458560" y="4250307"/>
            <a:ext cx="222454" cy="450355"/>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148;p21">
            <a:extLst>
              <a:ext uri="{FF2B5EF4-FFF2-40B4-BE49-F238E27FC236}">
                <a16:creationId xmlns:a16="http://schemas.microsoft.com/office/drawing/2014/main" id="{850BCC6C-361A-8AB3-D2BE-36F6C7FA33D9}"/>
              </a:ext>
            </a:extLst>
          </p:cNvPr>
          <p:cNvCxnSpPr>
            <a:cxnSpLocks/>
            <a:stCxn id="15" idx="4"/>
            <a:endCxn id="19" idx="1"/>
          </p:cNvCxnSpPr>
          <p:nvPr/>
        </p:nvCxnSpPr>
        <p:spPr>
          <a:xfrm>
            <a:off x="1681014" y="4250307"/>
            <a:ext cx="191241" cy="450355"/>
          </a:xfrm>
          <a:prstGeom prst="straightConnector1">
            <a:avLst/>
          </a:prstGeom>
          <a:noFill/>
          <a:ln w="9525" cap="flat" cmpd="sng">
            <a:solidFill>
              <a:schemeClr val="dk2"/>
            </a:solidFill>
            <a:prstDash val="solid"/>
            <a:round/>
            <a:headEnd type="none" w="med" len="med"/>
            <a:tailEnd type="triangle" w="med" len="med"/>
          </a:ln>
        </p:spPr>
      </p:cxnSp>
      <p:sp>
        <p:nvSpPr>
          <p:cNvPr id="27" name="Google Shape;149;p21">
            <a:extLst>
              <a:ext uri="{FF2B5EF4-FFF2-40B4-BE49-F238E27FC236}">
                <a16:creationId xmlns:a16="http://schemas.microsoft.com/office/drawing/2014/main" id="{4B291E09-D4CB-E7A9-448B-C258A118CA89}"/>
              </a:ext>
            </a:extLst>
          </p:cNvPr>
          <p:cNvSpPr/>
          <p:nvPr/>
        </p:nvSpPr>
        <p:spPr>
          <a:xfrm>
            <a:off x="3284224" y="3413052"/>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oogle Shape;150;p21">
            <a:extLst>
              <a:ext uri="{FF2B5EF4-FFF2-40B4-BE49-F238E27FC236}">
                <a16:creationId xmlns:a16="http://schemas.microsoft.com/office/drawing/2014/main" id="{4469C9D1-D4E8-98F8-0B0D-DA4B8B9E57A5}"/>
              </a:ext>
            </a:extLst>
          </p:cNvPr>
          <p:cNvSpPr/>
          <p:nvPr/>
        </p:nvSpPr>
        <p:spPr>
          <a:xfrm>
            <a:off x="2838962" y="391933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oogle Shape;151;p21">
            <a:extLst>
              <a:ext uri="{FF2B5EF4-FFF2-40B4-BE49-F238E27FC236}">
                <a16:creationId xmlns:a16="http://schemas.microsoft.com/office/drawing/2014/main" id="{35A4F556-D00F-214E-F436-D692561659AC}"/>
              </a:ext>
            </a:extLst>
          </p:cNvPr>
          <p:cNvSpPr/>
          <p:nvPr/>
        </p:nvSpPr>
        <p:spPr>
          <a:xfrm>
            <a:off x="3804974" y="38831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Google Shape;152;p21">
            <a:extLst>
              <a:ext uri="{FF2B5EF4-FFF2-40B4-BE49-F238E27FC236}">
                <a16:creationId xmlns:a16="http://schemas.microsoft.com/office/drawing/2014/main" id="{3A925799-69D4-AF13-5085-3952D347A4C5}"/>
              </a:ext>
            </a:extLst>
          </p:cNvPr>
          <p:cNvSpPr/>
          <p:nvPr/>
        </p:nvSpPr>
        <p:spPr>
          <a:xfrm>
            <a:off x="2554612"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1" name="Google Shape;153;p21">
            <a:extLst>
              <a:ext uri="{FF2B5EF4-FFF2-40B4-BE49-F238E27FC236}">
                <a16:creationId xmlns:a16="http://schemas.microsoft.com/office/drawing/2014/main" id="{873E5D93-A755-41AD-8F70-4DC8747C23EF}"/>
              </a:ext>
            </a:extLst>
          </p:cNvPr>
          <p:cNvSpPr/>
          <p:nvPr/>
        </p:nvSpPr>
        <p:spPr>
          <a:xfrm>
            <a:off x="3048237" y="4636189"/>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Google Shape;154;p21">
            <a:extLst>
              <a:ext uri="{FF2B5EF4-FFF2-40B4-BE49-F238E27FC236}">
                <a16:creationId xmlns:a16="http://schemas.microsoft.com/office/drawing/2014/main" id="{3C123FD2-B9FD-A5A9-68B6-38347365A6E2}"/>
              </a:ext>
            </a:extLst>
          </p:cNvPr>
          <p:cNvSpPr/>
          <p:nvPr/>
        </p:nvSpPr>
        <p:spPr>
          <a:xfrm>
            <a:off x="3575524"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Google Shape;155;p21">
            <a:extLst>
              <a:ext uri="{FF2B5EF4-FFF2-40B4-BE49-F238E27FC236}">
                <a16:creationId xmlns:a16="http://schemas.microsoft.com/office/drawing/2014/main" id="{B5D976D2-44D6-26E3-CC2B-F3F477AF891A}"/>
              </a:ext>
            </a:extLst>
          </p:cNvPr>
          <p:cNvSpPr/>
          <p:nvPr/>
        </p:nvSpPr>
        <p:spPr>
          <a:xfrm>
            <a:off x="4107212" y="4598464"/>
            <a:ext cx="209504" cy="251443"/>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4" name="Google Shape;156;p21">
            <a:extLst>
              <a:ext uri="{FF2B5EF4-FFF2-40B4-BE49-F238E27FC236}">
                <a16:creationId xmlns:a16="http://schemas.microsoft.com/office/drawing/2014/main" id="{BE2952B3-78AC-E6E1-4B03-04B59D25F115}"/>
              </a:ext>
            </a:extLst>
          </p:cNvPr>
          <p:cNvCxnSpPr>
            <a:cxnSpLocks/>
            <a:stCxn id="27" idx="4"/>
            <a:endCxn id="28" idx="6"/>
          </p:cNvCxnSpPr>
          <p:nvPr/>
        </p:nvCxnSpPr>
        <p:spPr>
          <a:xfrm flipH="1">
            <a:off x="3048466" y="3664495"/>
            <a:ext cx="340510" cy="380566"/>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57;p21">
            <a:extLst>
              <a:ext uri="{FF2B5EF4-FFF2-40B4-BE49-F238E27FC236}">
                <a16:creationId xmlns:a16="http://schemas.microsoft.com/office/drawing/2014/main" id="{432B1F0D-8B7A-6AC1-1556-B54EF7F67F5A}"/>
              </a:ext>
            </a:extLst>
          </p:cNvPr>
          <p:cNvCxnSpPr>
            <a:cxnSpLocks/>
            <a:stCxn id="27" idx="4"/>
            <a:endCxn id="29" idx="2"/>
          </p:cNvCxnSpPr>
          <p:nvPr/>
        </p:nvCxnSpPr>
        <p:spPr>
          <a:xfrm>
            <a:off x="3388976" y="3664495"/>
            <a:ext cx="415998" cy="344391"/>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58;p21">
            <a:extLst>
              <a:ext uri="{FF2B5EF4-FFF2-40B4-BE49-F238E27FC236}">
                <a16:creationId xmlns:a16="http://schemas.microsoft.com/office/drawing/2014/main" id="{2FAABA71-6558-D0ED-5439-2F097137595C}"/>
              </a:ext>
            </a:extLst>
          </p:cNvPr>
          <p:cNvCxnSpPr>
            <a:cxnSpLocks/>
            <a:stCxn id="28" idx="4"/>
            <a:endCxn id="30" idx="7"/>
          </p:cNvCxnSpPr>
          <p:nvPr/>
        </p:nvCxnSpPr>
        <p:spPr>
          <a:xfrm flipH="1">
            <a:off x="2733435" y="4170782"/>
            <a:ext cx="210279" cy="502230"/>
          </a:xfrm>
          <a:prstGeom prst="straightConnector1">
            <a:avLst/>
          </a:prstGeom>
          <a:noFill/>
          <a:ln w="9525" cap="flat" cmpd="sng">
            <a:solidFill>
              <a:schemeClr val="dk2"/>
            </a:solidFill>
            <a:prstDash val="solid"/>
            <a:round/>
            <a:headEnd type="none" w="med" len="med"/>
            <a:tailEnd type="triangle" w="med" len="med"/>
          </a:ln>
        </p:spPr>
      </p:cxnSp>
      <p:cxnSp>
        <p:nvCxnSpPr>
          <p:cNvPr id="37" name="Google Shape;159;p21">
            <a:extLst>
              <a:ext uri="{FF2B5EF4-FFF2-40B4-BE49-F238E27FC236}">
                <a16:creationId xmlns:a16="http://schemas.microsoft.com/office/drawing/2014/main" id="{F224E453-3331-2CAF-FC4B-FE59B65FF253}"/>
              </a:ext>
            </a:extLst>
          </p:cNvPr>
          <p:cNvCxnSpPr>
            <a:cxnSpLocks/>
            <a:stCxn id="28" idx="4"/>
            <a:endCxn id="31" idx="1"/>
          </p:cNvCxnSpPr>
          <p:nvPr/>
        </p:nvCxnSpPr>
        <p:spPr>
          <a:xfrm>
            <a:off x="2943714" y="4170782"/>
            <a:ext cx="135204" cy="502230"/>
          </a:xfrm>
          <a:prstGeom prst="straightConnector1">
            <a:avLst/>
          </a:prstGeom>
          <a:noFill/>
          <a:ln w="9525" cap="flat" cmpd="sng">
            <a:solidFill>
              <a:schemeClr val="dk2"/>
            </a:solidFill>
            <a:prstDash val="solid"/>
            <a:round/>
            <a:headEnd type="none" w="med" len="med"/>
            <a:tailEnd type="triangle" w="med" len="med"/>
          </a:ln>
        </p:spPr>
      </p:cxnSp>
      <p:cxnSp>
        <p:nvCxnSpPr>
          <p:cNvPr id="38" name="Google Shape;160;p21">
            <a:extLst>
              <a:ext uri="{FF2B5EF4-FFF2-40B4-BE49-F238E27FC236}">
                <a16:creationId xmlns:a16="http://schemas.microsoft.com/office/drawing/2014/main" id="{62C1554F-6A66-C565-68B3-67305FCADF9D}"/>
              </a:ext>
            </a:extLst>
          </p:cNvPr>
          <p:cNvCxnSpPr>
            <a:cxnSpLocks/>
            <a:stCxn id="29" idx="4"/>
            <a:endCxn id="32" idx="7"/>
          </p:cNvCxnSpPr>
          <p:nvPr/>
        </p:nvCxnSpPr>
        <p:spPr>
          <a:xfrm flipH="1">
            <a:off x="3754347" y="4134607"/>
            <a:ext cx="155379" cy="50068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61;p21">
            <a:extLst>
              <a:ext uri="{FF2B5EF4-FFF2-40B4-BE49-F238E27FC236}">
                <a16:creationId xmlns:a16="http://schemas.microsoft.com/office/drawing/2014/main" id="{8CB34D38-79B2-9F68-87D0-5CA42062A664}"/>
              </a:ext>
            </a:extLst>
          </p:cNvPr>
          <p:cNvCxnSpPr>
            <a:cxnSpLocks/>
            <a:stCxn id="29" idx="4"/>
            <a:endCxn id="33" idx="1"/>
          </p:cNvCxnSpPr>
          <p:nvPr/>
        </p:nvCxnSpPr>
        <p:spPr>
          <a:xfrm>
            <a:off x="3909726" y="4134607"/>
            <a:ext cx="228167" cy="50068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62;p21">
            <a:extLst>
              <a:ext uri="{FF2B5EF4-FFF2-40B4-BE49-F238E27FC236}">
                <a16:creationId xmlns:a16="http://schemas.microsoft.com/office/drawing/2014/main" id="{4F6E17C1-024D-87D3-58AB-024AC6A9D9F9}"/>
              </a:ext>
            </a:extLst>
          </p:cNvPr>
          <p:cNvCxnSpPr>
            <a:cxnSpLocks/>
            <a:endCxn id="27" idx="2"/>
          </p:cNvCxnSpPr>
          <p:nvPr/>
        </p:nvCxnSpPr>
        <p:spPr>
          <a:xfrm>
            <a:off x="2727274" y="3091489"/>
            <a:ext cx="556950" cy="447285"/>
          </a:xfrm>
          <a:prstGeom prst="straightConnector1">
            <a:avLst/>
          </a:prstGeom>
          <a:noFill/>
          <a:ln w="9525" cap="flat" cmpd="sng">
            <a:solidFill>
              <a:schemeClr val="dk2"/>
            </a:solidFill>
            <a:prstDash val="solid"/>
            <a:round/>
            <a:headEnd type="none" w="med" len="med"/>
            <a:tailEnd type="triangle" w="med" len="med"/>
          </a:ln>
        </p:spPr>
      </p:cxnSp>
      <p:sp>
        <p:nvSpPr>
          <p:cNvPr id="9" name="Direct Access Storage 8">
            <a:extLst>
              <a:ext uri="{FF2B5EF4-FFF2-40B4-BE49-F238E27FC236}">
                <a16:creationId xmlns:a16="http://schemas.microsoft.com/office/drawing/2014/main" id="{DA53E3F2-3202-8B5E-E7D8-77D18DD48BC3}"/>
              </a:ext>
            </a:extLst>
          </p:cNvPr>
          <p:cNvSpPr/>
          <p:nvPr/>
        </p:nvSpPr>
        <p:spPr>
          <a:xfrm>
            <a:off x="2718351" y="4165023"/>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rect Access Storage 10">
            <a:extLst>
              <a:ext uri="{FF2B5EF4-FFF2-40B4-BE49-F238E27FC236}">
                <a16:creationId xmlns:a16="http://schemas.microsoft.com/office/drawing/2014/main" id="{0B2F83AF-C0A9-DC67-7888-DAF590B4DE0E}"/>
              </a:ext>
            </a:extLst>
          </p:cNvPr>
          <p:cNvSpPr/>
          <p:nvPr/>
        </p:nvSpPr>
        <p:spPr>
          <a:xfrm>
            <a:off x="1104496" y="3665511"/>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rect Access Storage 11">
            <a:extLst>
              <a:ext uri="{FF2B5EF4-FFF2-40B4-BE49-F238E27FC236}">
                <a16:creationId xmlns:a16="http://schemas.microsoft.com/office/drawing/2014/main" id="{B00AE2D3-9206-2360-93CA-7717F3E79A22}"/>
              </a:ext>
            </a:extLst>
          </p:cNvPr>
          <p:cNvSpPr/>
          <p:nvPr/>
        </p:nvSpPr>
        <p:spPr>
          <a:xfrm>
            <a:off x="1406497" y="4284292"/>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Direct Access Storage 41">
            <a:extLst>
              <a:ext uri="{FF2B5EF4-FFF2-40B4-BE49-F238E27FC236}">
                <a16:creationId xmlns:a16="http://schemas.microsoft.com/office/drawing/2014/main" id="{04B2B4B6-478E-46E8-53C8-3009CCFFBAC7}"/>
              </a:ext>
            </a:extLst>
          </p:cNvPr>
          <p:cNvSpPr/>
          <p:nvPr/>
        </p:nvSpPr>
        <p:spPr>
          <a:xfrm>
            <a:off x="3698695" y="4151647"/>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irect Access Storage 42">
            <a:extLst>
              <a:ext uri="{FF2B5EF4-FFF2-40B4-BE49-F238E27FC236}">
                <a16:creationId xmlns:a16="http://schemas.microsoft.com/office/drawing/2014/main" id="{EECD05FC-671C-28FD-D070-3AA3D94D29BB}"/>
              </a:ext>
            </a:extLst>
          </p:cNvPr>
          <p:cNvSpPr/>
          <p:nvPr/>
        </p:nvSpPr>
        <p:spPr>
          <a:xfrm>
            <a:off x="2338263" y="3027870"/>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irect Access Storage 43">
            <a:extLst>
              <a:ext uri="{FF2B5EF4-FFF2-40B4-BE49-F238E27FC236}">
                <a16:creationId xmlns:a16="http://schemas.microsoft.com/office/drawing/2014/main" id="{4E611B69-DCC3-FB35-53B7-1DBA9E6BEE2B}"/>
              </a:ext>
            </a:extLst>
          </p:cNvPr>
          <p:cNvSpPr/>
          <p:nvPr/>
        </p:nvSpPr>
        <p:spPr>
          <a:xfrm>
            <a:off x="3156359" y="3670538"/>
            <a:ext cx="458877" cy="251443"/>
          </a:xfrm>
          <a:prstGeom prst="flowChartMagneticDrum">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ounded Rectangle 40">
            <a:extLst>
              <a:ext uri="{FF2B5EF4-FFF2-40B4-BE49-F238E27FC236}">
                <a16:creationId xmlns:a16="http://schemas.microsoft.com/office/drawing/2014/main" id="{C64ADC30-27D4-2CE4-F7B7-E6974D03401B}"/>
              </a:ext>
            </a:extLst>
          </p:cNvPr>
          <p:cNvSpPr/>
          <p:nvPr/>
        </p:nvSpPr>
        <p:spPr>
          <a:xfrm>
            <a:off x="4841393" y="1211794"/>
            <a:ext cx="6242819" cy="1087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rPr>
              <a:t>LOQ: A Domain-Specific Scheduling Policy</a:t>
            </a:r>
          </a:p>
        </p:txBody>
      </p:sp>
      <p:sp>
        <p:nvSpPr>
          <p:cNvPr id="45" name="Rounded Rectangle 44">
            <a:extLst>
              <a:ext uri="{FF2B5EF4-FFF2-40B4-BE49-F238E27FC236}">
                <a16:creationId xmlns:a16="http://schemas.microsoft.com/office/drawing/2014/main" id="{05A6A13C-E3D2-46BE-1310-B766DAEC6814}"/>
              </a:ext>
            </a:extLst>
          </p:cNvPr>
          <p:cNvSpPr/>
          <p:nvPr/>
        </p:nvSpPr>
        <p:spPr>
          <a:xfrm>
            <a:off x="1448571" y="3417733"/>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6" name="Rounded Rectangle 45">
            <a:extLst>
              <a:ext uri="{FF2B5EF4-FFF2-40B4-BE49-F238E27FC236}">
                <a16:creationId xmlns:a16="http://schemas.microsoft.com/office/drawing/2014/main" id="{042C7257-5C40-6907-6551-370102E602AF}"/>
              </a:ext>
            </a:extLst>
          </p:cNvPr>
          <p:cNvSpPr/>
          <p:nvPr/>
        </p:nvSpPr>
        <p:spPr>
          <a:xfrm>
            <a:off x="3023491" y="3946941"/>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7" name="Rounded Rectangle 46">
            <a:extLst>
              <a:ext uri="{FF2B5EF4-FFF2-40B4-BE49-F238E27FC236}">
                <a16:creationId xmlns:a16="http://schemas.microsoft.com/office/drawing/2014/main" id="{D26D627E-8F16-2D66-94DD-34C83416F45C}"/>
              </a:ext>
            </a:extLst>
          </p:cNvPr>
          <p:cNvSpPr/>
          <p:nvPr/>
        </p:nvSpPr>
        <p:spPr>
          <a:xfrm>
            <a:off x="3637873" y="3915445"/>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8" name="Rounded Rectangle 47">
            <a:extLst>
              <a:ext uri="{FF2B5EF4-FFF2-40B4-BE49-F238E27FC236}">
                <a16:creationId xmlns:a16="http://schemas.microsoft.com/office/drawing/2014/main" id="{D635C932-E436-47E8-DD09-0234C2A1B2C0}"/>
              </a:ext>
            </a:extLst>
          </p:cNvPr>
          <p:cNvSpPr/>
          <p:nvPr/>
        </p:nvSpPr>
        <p:spPr>
          <a:xfrm>
            <a:off x="3113969" y="3417733"/>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9" name="Rounded Rectangle 48">
            <a:extLst>
              <a:ext uri="{FF2B5EF4-FFF2-40B4-BE49-F238E27FC236}">
                <a16:creationId xmlns:a16="http://schemas.microsoft.com/office/drawing/2014/main" id="{C645F66B-B80A-C3E7-E354-F868388F8A9A}"/>
              </a:ext>
            </a:extLst>
          </p:cNvPr>
          <p:cNvSpPr/>
          <p:nvPr/>
        </p:nvSpPr>
        <p:spPr>
          <a:xfrm>
            <a:off x="816048" y="3998466"/>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0" name="Rounded Rectangle 49">
            <a:extLst>
              <a:ext uri="{FF2B5EF4-FFF2-40B4-BE49-F238E27FC236}">
                <a16:creationId xmlns:a16="http://schemas.microsoft.com/office/drawing/2014/main" id="{CFD5395F-4D6C-49AD-70AE-A5F228EEFC98}"/>
              </a:ext>
            </a:extLst>
          </p:cNvPr>
          <p:cNvSpPr/>
          <p:nvPr/>
        </p:nvSpPr>
        <p:spPr>
          <a:xfrm>
            <a:off x="1415913" y="4019012"/>
            <a:ext cx="209504" cy="2209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1" name="TextBox 50">
            <a:extLst>
              <a:ext uri="{FF2B5EF4-FFF2-40B4-BE49-F238E27FC236}">
                <a16:creationId xmlns:a16="http://schemas.microsoft.com/office/drawing/2014/main" id="{BAA49797-A3EC-638C-C352-4B962805FD06}"/>
              </a:ext>
            </a:extLst>
          </p:cNvPr>
          <p:cNvSpPr txBox="1"/>
          <p:nvPr/>
        </p:nvSpPr>
        <p:spPr>
          <a:xfrm>
            <a:off x="5184949" y="2592475"/>
            <a:ext cx="6189498" cy="3046988"/>
          </a:xfrm>
          <a:prstGeom prst="rect">
            <a:avLst/>
          </a:prstGeom>
          <a:noFill/>
        </p:spPr>
        <p:txBody>
          <a:bodyPr wrap="square" rtlCol="0">
            <a:spAutoFit/>
          </a:bodyPr>
          <a:lstStyle/>
          <a:p>
            <a:pPr marL="342900" indent="-342900">
              <a:buFont typeface="+mj-lt"/>
              <a:buAutoNum type="arabicPeriod"/>
            </a:pPr>
            <a:r>
              <a:rPr lang="en-US" sz="2400" dirty="0"/>
              <a:t>Tries maintains the effect of synchronous network (i.e., preserves fairness)</a:t>
            </a:r>
          </a:p>
          <a:p>
            <a:pPr marL="342900" indent="-342900">
              <a:buFont typeface="+mj-lt"/>
              <a:buAutoNum type="arabicPeriod"/>
            </a:pPr>
            <a:r>
              <a:rPr lang="en-US" sz="2400" dirty="0"/>
              <a:t>LOQ identifies how the exchange processes orders </a:t>
            </a:r>
            <a:r>
              <a:rPr lang="en-US" sz="2400" dirty="0">
                <a:sym typeface="Wingdings" pitchFamily="2" charset="2"/>
              </a:rPr>
              <a:t> how the exchange reorders the sequence of received orders before executing them</a:t>
            </a:r>
          </a:p>
          <a:p>
            <a:pPr marL="342900" indent="-342900">
              <a:buFont typeface="+mj-lt"/>
              <a:buAutoNum type="arabicPeriod"/>
            </a:pPr>
            <a:r>
              <a:rPr lang="en-US" sz="2400" dirty="0"/>
              <a:t>Offloads some of that reordering to the intermediate nodes</a:t>
            </a:r>
          </a:p>
        </p:txBody>
      </p:sp>
    </p:spTree>
    <p:extLst>
      <p:ext uri="{BB962C8B-B14F-4D97-AF65-F5344CB8AC3E}">
        <p14:creationId xmlns:p14="http://schemas.microsoft.com/office/powerpoint/2010/main" val="26535794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58B02A4-8D97-6B45-7120-0A5E8BBFBDA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6F91E35-E154-26BC-6F2E-1BC01979903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00371011-A501-BDEA-FD60-DAE8654B13FD}"/>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2" name="Oval 51">
            <a:extLst>
              <a:ext uri="{FF2B5EF4-FFF2-40B4-BE49-F238E27FC236}">
                <a16:creationId xmlns:a16="http://schemas.microsoft.com/office/drawing/2014/main" id="{B19E1590-2A2A-96D8-C998-9820D91D9379}"/>
              </a:ext>
            </a:extLst>
          </p:cNvPr>
          <p:cNvSpPr/>
          <p:nvPr/>
        </p:nvSpPr>
        <p:spPr>
          <a:xfrm>
            <a:off x="4036207" y="3243318"/>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a:t>
            </a:r>
          </a:p>
        </p:txBody>
      </p:sp>
      <p:sp>
        <p:nvSpPr>
          <p:cNvPr id="53" name="Oval 52">
            <a:extLst>
              <a:ext uri="{FF2B5EF4-FFF2-40B4-BE49-F238E27FC236}">
                <a16:creationId xmlns:a16="http://schemas.microsoft.com/office/drawing/2014/main" id="{A468BF91-F262-041D-5E06-EC6CD6E33051}"/>
              </a:ext>
            </a:extLst>
          </p:cNvPr>
          <p:cNvSpPr/>
          <p:nvPr/>
        </p:nvSpPr>
        <p:spPr>
          <a:xfrm>
            <a:off x="1443065" y="3243319"/>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a:t>
            </a:r>
          </a:p>
        </p:txBody>
      </p:sp>
      <p:sp>
        <p:nvSpPr>
          <p:cNvPr id="54" name="Oval 53">
            <a:extLst>
              <a:ext uri="{FF2B5EF4-FFF2-40B4-BE49-F238E27FC236}">
                <a16:creationId xmlns:a16="http://schemas.microsoft.com/office/drawing/2014/main" id="{1187F72A-5810-8850-F7A1-18282A03BA12}"/>
              </a:ext>
            </a:extLst>
          </p:cNvPr>
          <p:cNvSpPr/>
          <p:nvPr/>
        </p:nvSpPr>
        <p:spPr>
          <a:xfrm>
            <a:off x="2739635" y="3243318"/>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$4</a:t>
            </a:r>
          </a:p>
        </p:txBody>
      </p:sp>
      <p:sp>
        <p:nvSpPr>
          <p:cNvPr id="55" name="Oval 54">
            <a:extLst>
              <a:ext uri="{FF2B5EF4-FFF2-40B4-BE49-F238E27FC236}">
                <a16:creationId xmlns:a16="http://schemas.microsoft.com/office/drawing/2014/main" id="{1892A2D9-F031-D938-B194-E7B0B330CB8D}"/>
              </a:ext>
            </a:extLst>
          </p:cNvPr>
          <p:cNvSpPr/>
          <p:nvPr/>
        </p:nvSpPr>
        <p:spPr>
          <a:xfrm>
            <a:off x="5293570" y="3243317"/>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$2</a:t>
            </a:r>
          </a:p>
        </p:txBody>
      </p:sp>
      <p:sp>
        <p:nvSpPr>
          <p:cNvPr id="56" name="Down Arrow 55">
            <a:extLst>
              <a:ext uri="{FF2B5EF4-FFF2-40B4-BE49-F238E27FC236}">
                <a16:creationId xmlns:a16="http://schemas.microsoft.com/office/drawing/2014/main" id="{6B1424D7-20E0-2CE1-E91A-AA51448FCBB6}"/>
              </a:ext>
            </a:extLst>
          </p:cNvPr>
          <p:cNvSpPr/>
          <p:nvPr/>
        </p:nvSpPr>
        <p:spPr>
          <a:xfrm>
            <a:off x="6121886" y="3416938"/>
            <a:ext cx="265157" cy="489268"/>
          </a:xfrm>
          <a:prstGeom prst="down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57" name="Down Arrow 56">
            <a:extLst>
              <a:ext uri="{FF2B5EF4-FFF2-40B4-BE49-F238E27FC236}">
                <a16:creationId xmlns:a16="http://schemas.microsoft.com/office/drawing/2014/main" id="{562481FE-101A-C450-39A3-499E6601310A}"/>
              </a:ext>
            </a:extLst>
          </p:cNvPr>
          <p:cNvSpPr/>
          <p:nvPr/>
        </p:nvSpPr>
        <p:spPr>
          <a:xfrm>
            <a:off x="2203553" y="3416938"/>
            <a:ext cx="239615" cy="385313"/>
          </a:xfrm>
          <a:prstGeom prst="down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58" name="Down Arrow 57">
            <a:extLst>
              <a:ext uri="{FF2B5EF4-FFF2-40B4-BE49-F238E27FC236}">
                <a16:creationId xmlns:a16="http://schemas.microsoft.com/office/drawing/2014/main" id="{C04DC55F-40E0-EFBF-8FF8-20B2CF7B084E}"/>
              </a:ext>
            </a:extLst>
          </p:cNvPr>
          <p:cNvSpPr/>
          <p:nvPr/>
        </p:nvSpPr>
        <p:spPr>
          <a:xfrm>
            <a:off x="2201813" y="3855837"/>
            <a:ext cx="239615" cy="385313"/>
          </a:xfrm>
          <a:prstGeom prst="down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59" name="Down Arrow 58">
            <a:extLst>
              <a:ext uri="{FF2B5EF4-FFF2-40B4-BE49-F238E27FC236}">
                <a16:creationId xmlns:a16="http://schemas.microsoft.com/office/drawing/2014/main" id="{59A3492A-7644-AAF6-E914-49F810B61312}"/>
              </a:ext>
            </a:extLst>
          </p:cNvPr>
          <p:cNvSpPr/>
          <p:nvPr/>
        </p:nvSpPr>
        <p:spPr>
          <a:xfrm rot="10800000">
            <a:off x="3580722" y="3520893"/>
            <a:ext cx="239615" cy="385313"/>
          </a:xfrm>
          <a:prstGeom prst="downArrow">
            <a:avLst/>
          </a:prstGeom>
          <a:solidFill>
            <a:srgbClr val="92D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60" name="Down Arrow 59">
            <a:extLst>
              <a:ext uri="{FF2B5EF4-FFF2-40B4-BE49-F238E27FC236}">
                <a16:creationId xmlns:a16="http://schemas.microsoft.com/office/drawing/2014/main" id="{D872814D-A44F-47C4-5EEC-28B3F498E8D7}"/>
              </a:ext>
            </a:extLst>
          </p:cNvPr>
          <p:cNvSpPr/>
          <p:nvPr/>
        </p:nvSpPr>
        <p:spPr>
          <a:xfrm rot="10800000">
            <a:off x="4823777" y="3713549"/>
            <a:ext cx="239615" cy="385313"/>
          </a:xfrm>
          <a:prstGeom prst="downArrow">
            <a:avLst/>
          </a:prstGeom>
          <a:solidFill>
            <a:srgbClr val="92D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61" name="Down Arrow 60">
            <a:extLst>
              <a:ext uri="{FF2B5EF4-FFF2-40B4-BE49-F238E27FC236}">
                <a16:creationId xmlns:a16="http://schemas.microsoft.com/office/drawing/2014/main" id="{EF8A0F85-100E-3F1C-05CD-0203A24C06BF}"/>
              </a:ext>
            </a:extLst>
          </p:cNvPr>
          <p:cNvSpPr/>
          <p:nvPr/>
        </p:nvSpPr>
        <p:spPr>
          <a:xfrm rot="10800000">
            <a:off x="4823775" y="3243317"/>
            <a:ext cx="239615" cy="385313"/>
          </a:xfrm>
          <a:prstGeom prst="downArrow">
            <a:avLst/>
          </a:prstGeom>
          <a:solidFill>
            <a:srgbClr val="92D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400"/>
          </a:p>
        </p:txBody>
      </p:sp>
      <p:pic>
        <p:nvPicPr>
          <p:cNvPr id="62" name="Picture 61">
            <a:extLst>
              <a:ext uri="{FF2B5EF4-FFF2-40B4-BE49-F238E27FC236}">
                <a16:creationId xmlns:a16="http://schemas.microsoft.com/office/drawing/2014/main" id="{B3D0E223-8C6C-83A1-7DEE-6CEA1C8414AF}"/>
              </a:ext>
            </a:extLst>
          </p:cNvPr>
          <p:cNvPicPr>
            <a:picLocks noChangeAspect="1"/>
          </p:cNvPicPr>
          <p:nvPr/>
        </p:nvPicPr>
        <p:blipFill>
          <a:blip r:embed="rId3"/>
          <a:stretch>
            <a:fillRect/>
          </a:stretch>
        </p:blipFill>
        <p:spPr>
          <a:xfrm>
            <a:off x="7342948" y="2190409"/>
            <a:ext cx="4218835" cy="3130959"/>
          </a:xfrm>
          <a:prstGeom prst="rect">
            <a:avLst/>
          </a:prstGeom>
        </p:spPr>
      </p:pic>
      <p:sp>
        <p:nvSpPr>
          <p:cNvPr id="63" name="Google Shape;408;p35">
            <a:extLst>
              <a:ext uri="{FF2B5EF4-FFF2-40B4-BE49-F238E27FC236}">
                <a16:creationId xmlns:a16="http://schemas.microsoft.com/office/drawing/2014/main" id="{7F67FEE8-D159-EE20-3CC6-82546B84129B}"/>
              </a:ext>
            </a:extLst>
          </p:cNvPr>
          <p:cNvSpPr/>
          <p:nvPr/>
        </p:nvSpPr>
        <p:spPr>
          <a:xfrm>
            <a:off x="1993850" y="5492637"/>
            <a:ext cx="7938400" cy="985200"/>
          </a:xfrm>
          <a:prstGeom prst="roundRect">
            <a:avLst>
              <a:gd name="adj" fmla="val 16667"/>
            </a:avLst>
          </a:prstGeom>
          <a:solidFill>
            <a:srgbClr val="FF0000"/>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algn="ctr">
              <a:defRPr/>
            </a:pPr>
            <a:r>
              <a:rPr lang="en-US" sz="2400" dirty="0">
                <a:solidFill>
                  <a:prstClr val="white"/>
                </a:solidFill>
              </a:rPr>
              <a:t>Naively doing such prioritization will not preserve fairness. </a:t>
            </a:r>
          </a:p>
        </p:txBody>
      </p:sp>
    </p:spTree>
    <p:extLst>
      <p:ext uri="{BB962C8B-B14F-4D97-AF65-F5344CB8AC3E}">
        <p14:creationId xmlns:p14="http://schemas.microsoft.com/office/powerpoint/2010/main" val="428803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500" fill="hold"/>
                                        <p:tgtEl>
                                          <p:spTgt spid="52"/>
                                        </p:tgtEl>
                                        <p:attrNameLst>
                                          <p:attrName>ppt_x</p:attrName>
                                        </p:attrNameLst>
                                      </p:cBhvr>
                                      <p:tavLst>
                                        <p:tav tm="0">
                                          <p:val>
                                            <p:strVal val="#ppt_x"/>
                                          </p:val>
                                        </p:tav>
                                        <p:tav tm="100000">
                                          <p:val>
                                            <p:strVal val="#ppt_x"/>
                                          </p:val>
                                        </p:tav>
                                      </p:tavLst>
                                    </p:anim>
                                    <p:anim calcmode="lin" valueType="num">
                                      <p:cBhvr additive="base">
                                        <p:cTn id="16" dur="500" fill="hold"/>
                                        <p:tgtEl>
                                          <p:spTgt spid="5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3"/>
                                        </p:tgtEl>
                                        <p:attrNameLst>
                                          <p:attrName>style.visibility</p:attrName>
                                        </p:attrNameLst>
                                      </p:cBhvr>
                                      <p:to>
                                        <p:strVal val="visible"/>
                                      </p:to>
                                    </p:set>
                                    <p:anim calcmode="lin" valueType="num">
                                      <p:cBhvr additive="base">
                                        <p:cTn id="23" dur="500" fill="hold"/>
                                        <p:tgtEl>
                                          <p:spTgt spid="53"/>
                                        </p:tgtEl>
                                        <p:attrNameLst>
                                          <p:attrName>ppt_x</p:attrName>
                                        </p:attrNameLst>
                                      </p:cBhvr>
                                      <p:tavLst>
                                        <p:tav tm="0">
                                          <p:val>
                                            <p:strVal val="#ppt_x"/>
                                          </p:val>
                                        </p:tav>
                                        <p:tav tm="100000">
                                          <p:val>
                                            <p:strVal val="#ppt_x"/>
                                          </p:val>
                                        </p:tav>
                                      </p:tavLst>
                                    </p:anim>
                                    <p:anim calcmode="lin" valueType="num">
                                      <p:cBhvr additive="base">
                                        <p:cTn id="2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3"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45BFF3C-473C-9076-A18D-957AB1A864FA}"/>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0BD8CB-2BC6-C9ED-2E66-BCBD8FFA4B3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D29D3625-A110-0F9F-E97D-4F4D81E96C56}"/>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4" name="Rounded Rectangle 3">
            <a:extLst>
              <a:ext uri="{FF2B5EF4-FFF2-40B4-BE49-F238E27FC236}">
                <a16:creationId xmlns:a16="http://schemas.microsoft.com/office/drawing/2014/main" id="{AF3FB8B4-5EA9-2F4A-303B-45C0BBDE3DB6}"/>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
        <p:nvSpPr>
          <p:cNvPr id="5" name="Oval 4">
            <a:extLst>
              <a:ext uri="{FF2B5EF4-FFF2-40B4-BE49-F238E27FC236}">
                <a16:creationId xmlns:a16="http://schemas.microsoft.com/office/drawing/2014/main" id="{FD00A2FD-0438-B443-F354-A589D979582E}"/>
              </a:ext>
            </a:extLst>
          </p:cNvPr>
          <p:cNvSpPr/>
          <p:nvPr/>
        </p:nvSpPr>
        <p:spPr>
          <a:xfrm>
            <a:off x="4501660" y="2855142"/>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6" name="TextBox 5">
            <a:extLst>
              <a:ext uri="{FF2B5EF4-FFF2-40B4-BE49-F238E27FC236}">
                <a16:creationId xmlns:a16="http://schemas.microsoft.com/office/drawing/2014/main" id="{6C1827CD-5C20-B7C9-0FE4-19AB34F1B2F3}"/>
              </a:ext>
            </a:extLst>
          </p:cNvPr>
          <p:cNvSpPr txBox="1"/>
          <p:nvPr/>
        </p:nvSpPr>
        <p:spPr>
          <a:xfrm>
            <a:off x="2602523" y="4511496"/>
            <a:ext cx="6049107"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It will not do anything; it just reduces to being a sequencer we discussed earlier</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C390E1-3534-72A0-1835-D4C246EB5D86}"/>
                  </a:ext>
                </a:extLst>
              </p:cNvPr>
              <p:cNvSpPr txBox="1"/>
              <p:nvPr/>
            </p:nvSpPr>
            <p:spPr>
              <a:xfrm>
                <a:off x="2971991" y="3185435"/>
                <a:ext cx="4015522"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7" name="TextBox 6">
                <a:extLst>
                  <a:ext uri="{FF2B5EF4-FFF2-40B4-BE49-F238E27FC236}">
                    <a16:creationId xmlns:a16="http://schemas.microsoft.com/office/drawing/2014/main" id="{FAC390E1-3534-72A0-1835-D4C246EB5D86}"/>
                  </a:ext>
                </a:extLst>
              </p:cNvPr>
              <p:cNvSpPr txBox="1">
                <a:spLocks noRot="1" noChangeAspect="1" noMove="1" noResize="1" noEditPoints="1" noAdjustHandles="1" noChangeArrowheads="1" noChangeShapeType="1" noTextEdit="1"/>
              </p:cNvSpPr>
              <p:nvPr/>
            </p:nvSpPr>
            <p:spPr>
              <a:xfrm>
                <a:off x="2971991" y="3185435"/>
                <a:ext cx="4015522" cy="615553"/>
              </a:xfrm>
              <a:prstGeom prst="rect">
                <a:avLst/>
              </a:prstGeom>
              <a:blipFill>
                <a:blip r:embed="rId3"/>
                <a:stretch>
                  <a:fillRect l="-2208" t="-10204" r="-2208" b="-34694"/>
                </a:stretch>
              </a:blipFill>
            </p:spPr>
            <p:txBody>
              <a:bodyPr/>
              <a:lstStyle/>
              <a:p>
                <a:r>
                  <a:rPr lang="en-US">
                    <a:noFill/>
                  </a:rPr>
                  <a:t> </a:t>
                </a:r>
              </a:p>
            </p:txBody>
          </p:sp>
        </mc:Fallback>
      </mc:AlternateContent>
    </p:spTree>
    <p:extLst>
      <p:ext uri="{BB962C8B-B14F-4D97-AF65-F5344CB8AC3E}">
        <p14:creationId xmlns:p14="http://schemas.microsoft.com/office/powerpoint/2010/main" val="116200411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9318F66-40A1-EBCD-5EB3-A426F1B55BA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0E6722-32A5-A5D5-24F1-61EAF1FBD0BD}"/>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10B9D91A-53CB-B570-7DFC-E6965DCA163F}"/>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 name="Oval 4">
            <a:extLst>
              <a:ext uri="{FF2B5EF4-FFF2-40B4-BE49-F238E27FC236}">
                <a16:creationId xmlns:a16="http://schemas.microsoft.com/office/drawing/2014/main" id="{21CE25A6-FF2D-1EA4-9265-A4314425E5B0}"/>
              </a:ext>
            </a:extLst>
          </p:cNvPr>
          <p:cNvSpPr/>
          <p:nvPr/>
        </p:nvSpPr>
        <p:spPr>
          <a:xfrm>
            <a:off x="6096000" y="2895336"/>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7" name="Oval 6">
            <a:extLst>
              <a:ext uri="{FF2B5EF4-FFF2-40B4-BE49-F238E27FC236}">
                <a16:creationId xmlns:a16="http://schemas.microsoft.com/office/drawing/2014/main" id="{5A187B39-4A54-01FC-437D-8596BFA3138F}"/>
              </a:ext>
            </a:extLst>
          </p:cNvPr>
          <p:cNvSpPr/>
          <p:nvPr/>
        </p:nvSpPr>
        <p:spPr>
          <a:xfrm>
            <a:off x="4620567" y="2895336"/>
            <a:ext cx="1276141" cy="1276141"/>
          </a:xfrm>
          <a:prstGeom prst="ellipse">
            <a:avLst/>
          </a:prstGeom>
          <a:solidFill>
            <a:srgbClr val="FF24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Critical?</a:t>
            </a:r>
          </a:p>
        </p:txBody>
      </p:sp>
      <p:sp>
        <p:nvSpPr>
          <p:cNvPr id="8" name="TextBox 7">
            <a:extLst>
              <a:ext uri="{FF2B5EF4-FFF2-40B4-BE49-F238E27FC236}">
                <a16:creationId xmlns:a16="http://schemas.microsoft.com/office/drawing/2014/main" id="{EDC13810-AE74-06A8-8C4E-0E1A71BCCF2D}"/>
              </a:ext>
            </a:extLst>
          </p:cNvPr>
          <p:cNvSpPr txBox="1"/>
          <p:nvPr/>
        </p:nvSpPr>
        <p:spPr>
          <a:xfrm>
            <a:off x="1795305" y="4636716"/>
            <a:ext cx="8166825"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1 or 0 based on whether an order is critical or not</a:t>
            </a:r>
          </a:p>
          <a:p>
            <a:pPr marL="285750" indent="-285750">
              <a:buFont typeface="Arial" panose="020B0604020202020204" pitchFamily="34" charset="0"/>
              <a:buChar char="•"/>
            </a:pPr>
            <a:r>
              <a:rPr lang="en-US" sz="2400" dirty="0"/>
              <a:t>Critical or not?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E34FE3-C61D-9E77-2C0B-E14BF17259D2}"/>
                  </a:ext>
                </a:extLst>
              </p:cNvPr>
              <p:cNvSpPr txBox="1"/>
              <p:nvPr/>
            </p:nvSpPr>
            <p:spPr>
              <a:xfrm>
                <a:off x="2971991" y="3185435"/>
                <a:ext cx="5106884"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9" name="TextBox 8">
                <a:extLst>
                  <a:ext uri="{FF2B5EF4-FFF2-40B4-BE49-F238E27FC236}">
                    <a16:creationId xmlns:a16="http://schemas.microsoft.com/office/drawing/2014/main" id="{D6E34FE3-C61D-9E77-2C0B-E14BF17259D2}"/>
                  </a:ext>
                </a:extLst>
              </p:cNvPr>
              <p:cNvSpPr txBox="1">
                <a:spLocks noRot="1" noChangeAspect="1" noMove="1" noResize="1" noEditPoints="1" noAdjustHandles="1" noChangeArrowheads="1" noChangeShapeType="1" noTextEdit="1"/>
              </p:cNvSpPr>
              <p:nvPr/>
            </p:nvSpPr>
            <p:spPr>
              <a:xfrm>
                <a:off x="2971991" y="3185435"/>
                <a:ext cx="5106884" cy="615553"/>
              </a:xfrm>
              <a:prstGeom prst="rect">
                <a:avLst/>
              </a:prstGeom>
              <a:blipFill>
                <a:blip r:embed="rId3"/>
                <a:stretch>
                  <a:fillRect l="-3234" t="-10204" r="-3234" b="-34694"/>
                </a:stretch>
              </a:blipFill>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6996BCFC-53EA-AED1-F095-BA524B70DF39}"/>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407759683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C4204E4-BD08-657C-B52F-83C8132CB37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B904925-1AF4-C26A-89F2-720E4A53C922}"/>
              </a:ext>
            </a:extLst>
          </p:cNvPr>
          <p:cNvGraphicFramePr>
            <a:graphicFrameLocks noGrp="1"/>
          </p:cNvGraphicFramePr>
          <p:nvPr>
            <p:extLst>
              <p:ext uri="{D42A27DB-BD31-4B8C-83A1-F6EECF244321}">
                <p14:modId xmlns:p14="http://schemas.microsoft.com/office/powerpoint/2010/main" val="2675472495"/>
              </p:ext>
            </p:extLst>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1529AA59-8F9D-96B4-4068-AA4429EE3DCD}"/>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 name="Oval 4">
            <a:extLst>
              <a:ext uri="{FF2B5EF4-FFF2-40B4-BE49-F238E27FC236}">
                <a16:creationId xmlns:a16="http://schemas.microsoft.com/office/drawing/2014/main" id="{BCE37FF3-6507-28EF-8A27-7D1E331E0FF3}"/>
              </a:ext>
            </a:extLst>
          </p:cNvPr>
          <p:cNvSpPr/>
          <p:nvPr/>
        </p:nvSpPr>
        <p:spPr>
          <a:xfrm>
            <a:off x="2275801" y="2959321"/>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7" name="Oval 6">
            <a:extLst>
              <a:ext uri="{FF2B5EF4-FFF2-40B4-BE49-F238E27FC236}">
                <a16:creationId xmlns:a16="http://schemas.microsoft.com/office/drawing/2014/main" id="{59E76ADD-7E6C-28D0-11F3-0A6477FFB750}"/>
              </a:ext>
            </a:extLst>
          </p:cNvPr>
          <p:cNvSpPr/>
          <p:nvPr/>
        </p:nvSpPr>
        <p:spPr>
          <a:xfrm>
            <a:off x="800368" y="2959321"/>
            <a:ext cx="1276141" cy="1276141"/>
          </a:xfrm>
          <a:prstGeom prst="ellipse">
            <a:avLst/>
          </a:prstGeom>
          <a:solidFill>
            <a:srgbClr val="FF24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Critical?</a:t>
            </a:r>
          </a:p>
        </p:txBody>
      </p:sp>
      <p:sp>
        <p:nvSpPr>
          <p:cNvPr id="8" name="TextBox 7">
            <a:extLst>
              <a:ext uri="{FF2B5EF4-FFF2-40B4-BE49-F238E27FC236}">
                <a16:creationId xmlns:a16="http://schemas.microsoft.com/office/drawing/2014/main" id="{A6D364DF-05C0-705E-AE96-DE67EB00B594}"/>
              </a:ext>
            </a:extLst>
          </p:cNvPr>
          <p:cNvSpPr txBox="1"/>
          <p:nvPr/>
        </p:nvSpPr>
        <p:spPr>
          <a:xfrm>
            <a:off x="118905" y="4714088"/>
            <a:ext cx="3670775"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1 or 0 based on whether an order is critical or not</a:t>
            </a:r>
          </a:p>
          <a:p>
            <a:pPr marL="285750" indent="-285750">
              <a:buFont typeface="Arial" panose="020B0604020202020204" pitchFamily="34" charset="0"/>
              <a:buChar char="•"/>
            </a:pPr>
            <a:r>
              <a:rPr lang="en-US" sz="2400" dirty="0"/>
              <a:t>Critical or not?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876EDDA-F09A-097C-E1CD-3670887FC549}"/>
                  </a:ext>
                </a:extLst>
              </p:cNvPr>
              <p:cNvSpPr txBox="1"/>
              <p:nvPr/>
            </p:nvSpPr>
            <p:spPr>
              <a:xfrm>
                <a:off x="-277641" y="3291493"/>
                <a:ext cx="5106884"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9" name="TextBox 8">
                <a:extLst>
                  <a:ext uri="{FF2B5EF4-FFF2-40B4-BE49-F238E27FC236}">
                    <a16:creationId xmlns:a16="http://schemas.microsoft.com/office/drawing/2014/main" id="{F876EDDA-F09A-097C-E1CD-3670887FC549}"/>
                  </a:ext>
                </a:extLst>
              </p:cNvPr>
              <p:cNvSpPr txBox="1">
                <a:spLocks noRot="1" noChangeAspect="1" noMove="1" noResize="1" noEditPoints="1" noAdjustHandles="1" noChangeArrowheads="1" noChangeShapeType="1" noTextEdit="1"/>
              </p:cNvSpPr>
              <p:nvPr/>
            </p:nvSpPr>
            <p:spPr>
              <a:xfrm>
                <a:off x="-277641" y="3291493"/>
                <a:ext cx="5106884" cy="615553"/>
              </a:xfrm>
              <a:prstGeom prst="rect">
                <a:avLst/>
              </a:prstGeom>
              <a:blipFill>
                <a:blip r:embed="rId3"/>
                <a:stretch>
                  <a:fillRect t="-10204" b="-36735"/>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E43295E4-77D1-3813-4D97-AE551489B41B}"/>
              </a:ext>
            </a:extLst>
          </p:cNvPr>
          <p:cNvSpPr/>
          <p:nvPr/>
        </p:nvSpPr>
        <p:spPr>
          <a:xfrm>
            <a:off x="4619691" y="1430580"/>
            <a:ext cx="7453404" cy="4888940"/>
          </a:xfrm>
          <a:prstGeom prst="rect">
            <a:avLst/>
          </a:prstGeom>
          <a:effectLst>
            <a:outerShdw blurRad="50800" dist="38100" dir="8100000" algn="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FA5D8047-C617-A4AE-AF5C-85E7BC007483}"/>
              </a:ext>
            </a:extLst>
          </p:cNvPr>
          <p:cNvPicPr>
            <a:picLocks noChangeAspect="1"/>
          </p:cNvPicPr>
          <p:nvPr/>
        </p:nvPicPr>
        <p:blipFill>
          <a:blip r:embed="rId4"/>
          <a:stretch>
            <a:fillRect/>
          </a:stretch>
        </p:blipFill>
        <p:spPr>
          <a:xfrm>
            <a:off x="4760133" y="1952842"/>
            <a:ext cx="5838757" cy="4333165"/>
          </a:xfrm>
          <a:prstGeom prst="rect">
            <a:avLst/>
          </a:prstGeom>
        </p:spPr>
      </p:pic>
      <p:sp>
        <p:nvSpPr>
          <p:cNvPr id="6" name="TextBox 5">
            <a:extLst>
              <a:ext uri="{FF2B5EF4-FFF2-40B4-BE49-F238E27FC236}">
                <a16:creationId xmlns:a16="http://schemas.microsoft.com/office/drawing/2014/main" id="{E7795C07-9093-0BE1-FE18-DE4F383E5A60}"/>
              </a:ext>
            </a:extLst>
          </p:cNvPr>
          <p:cNvSpPr txBox="1"/>
          <p:nvPr/>
        </p:nvSpPr>
        <p:spPr>
          <a:xfrm>
            <a:off x="4694140" y="1445011"/>
            <a:ext cx="3468427" cy="584775"/>
          </a:xfrm>
          <a:prstGeom prst="rect">
            <a:avLst/>
          </a:prstGeom>
          <a:noFill/>
        </p:spPr>
        <p:txBody>
          <a:bodyPr wrap="square" rtlCol="0">
            <a:spAutoFit/>
          </a:bodyPr>
          <a:lstStyle/>
          <a:p>
            <a:r>
              <a:rPr lang="en-US" sz="3200" dirty="0"/>
              <a:t>Action Window (w)</a:t>
            </a:r>
          </a:p>
        </p:txBody>
      </p:sp>
      <p:sp>
        <p:nvSpPr>
          <p:cNvPr id="12" name="TextBox 11">
            <a:extLst>
              <a:ext uri="{FF2B5EF4-FFF2-40B4-BE49-F238E27FC236}">
                <a16:creationId xmlns:a16="http://schemas.microsoft.com/office/drawing/2014/main" id="{3048FC0A-B7A3-3257-1E94-9B6F7A58306B}"/>
              </a:ext>
            </a:extLst>
          </p:cNvPr>
          <p:cNvSpPr txBox="1"/>
          <p:nvPr/>
        </p:nvSpPr>
        <p:spPr>
          <a:xfrm>
            <a:off x="8162567" y="1445011"/>
            <a:ext cx="3984977" cy="1015663"/>
          </a:xfrm>
          <a:prstGeom prst="rect">
            <a:avLst/>
          </a:prstGeom>
          <a:noFill/>
        </p:spPr>
        <p:txBody>
          <a:bodyPr wrap="square">
            <a:spAutoFit/>
          </a:bodyPr>
          <a:lstStyle/>
          <a:p>
            <a:r>
              <a:rPr lang="en-US" sz="2000" dirty="0"/>
              <a:t>maximum number of price levels above the mid-price that a generated bid can belong to</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345EC131-6428-B3F7-278F-4447B0020525}"/>
                  </a:ext>
                </a:extLst>
              </p:cNvPr>
              <p:cNvSpPr/>
              <p:nvPr/>
            </p:nvSpPr>
            <p:spPr>
              <a:xfrm>
                <a:off x="9780394" y="3527471"/>
                <a:ext cx="1917876" cy="695158"/>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i="1" dirty="0"/>
                  <a:t>p </a:t>
                </a:r>
                <a14:m>
                  <m:oMath xmlns:m="http://schemas.openxmlformats.org/officeDocument/2006/math">
                    <m:r>
                      <a:rPr lang="en-US" sz="3200" b="1" i="1">
                        <a:latin typeface="Cambria Math" panose="02040503050406030204" pitchFamily="18" charset="0"/>
                        <a:ea typeface="Cambria Math" panose="02040503050406030204" pitchFamily="18" charset="0"/>
                      </a:rPr>
                      <m:t>±</m:t>
                    </m:r>
                  </m:oMath>
                </a14:m>
                <a:r>
                  <a:rPr lang="en-US" sz="3200" b="1" i="1" dirty="0"/>
                  <a:t> w</a:t>
                </a:r>
                <a:endParaRPr lang="en-US" sz="3200" dirty="0"/>
              </a:p>
            </p:txBody>
          </p:sp>
        </mc:Choice>
        <mc:Fallback xmlns="">
          <p:sp>
            <p:nvSpPr>
              <p:cNvPr id="13" name="Rounded Rectangle 12">
                <a:extLst>
                  <a:ext uri="{FF2B5EF4-FFF2-40B4-BE49-F238E27FC236}">
                    <a16:creationId xmlns:a16="http://schemas.microsoft.com/office/drawing/2014/main" id="{345EC131-6428-B3F7-278F-4447B0020525}"/>
                  </a:ext>
                </a:extLst>
              </p:cNvPr>
              <p:cNvSpPr>
                <a:spLocks noRot="1" noChangeAspect="1" noMove="1" noResize="1" noEditPoints="1" noAdjustHandles="1" noChangeArrowheads="1" noChangeShapeType="1" noTextEdit="1"/>
              </p:cNvSpPr>
              <p:nvPr/>
            </p:nvSpPr>
            <p:spPr>
              <a:xfrm>
                <a:off x="9780394" y="3527471"/>
                <a:ext cx="1917876" cy="695158"/>
              </a:xfrm>
              <a:prstGeom prst="roundRect">
                <a:avLst/>
              </a:prstGeom>
              <a:blipFill>
                <a:blip r:embed="rId5"/>
                <a:stretch>
                  <a:fillRect t="-1786" b="-2142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859C8AD0-6DBB-E8C7-43E3-CE7535970657}"/>
                  </a:ext>
                </a:extLst>
              </p:cNvPr>
              <p:cNvSpPr/>
              <p:nvPr/>
            </p:nvSpPr>
            <p:spPr>
              <a:xfrm>
                <a:off x="9780394" y="3031123"/>
                <a:ext cx="1917876" cy="496348"/>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t>Critical if price </a:t>
                </a:r>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b="1" i="1" dirty="0"/>
                  <a:t>  </a:t>
                </a:r>
                <a:endParaRPr lang="en-US" dirty="0"/>
              </a:p>
            </p:txBody>
          </p:sp>
        </mc:Choice>
        <mc:Fallback xmlns="">
          <p:sp>
            <p:nvSpPr>
              <p:cNvPr id="14" name="Rounded Rectangle 13">
                <a:extLst>
                  <a:ext uri="{FF2B5EF4-FFF2-40B4-BE49-F238E27FC236}">
                    <a16:creationId xmlns:a16="http://schemas.microsoft.com/office/drawing/2014/main" id="{859C8AD0-6DBB-E8C7-43E3-CE7535970657}"/>
                  </a:ext>
                </a:extLst>
              </p:cNvPr>
              <p:cNvSpPr>
                <a:spLocks noRot="1" noChangeAspect="1" noMove="1" noResize="1" noEditPoints="1" noAdjustHandles="1" noChangeArrowheads="1" noChangeShapeType="1" noTextEdit="1"/>
              </p:cNvSpPr>
              <p:nvPr/>
            </p:nvSpPr>
            <p:spPr>
              <a:xfrm>
                <a:off x="9780394" y="3031123"/>
                <a:ext cx="1917876" cy="496348"/>
              </a:xfrm>
              <a:prstGeom prst="roundRect">
                <a:avLst/>
              </a:prstGeom>
              <a:blipFill>
                <a:blip r:embed="rId6"/>
                <a:stretch>
                  <a:fillRect t="-20000" b="-5000"/>
                </a:stretch>
              </a:blipFill>
              <a:ln>
                <a:noFill/>
              </a:ln>
            </p:spPr>
            <p:txBody>
              <a:bodyPr/>
              <a:lstStyle/>
              <a:p>
                <a:r>
                  <a:rPr lang="en-US">
                    <a:noFill/>
                  </a:rPr>
                  <a:t> </a:t>
                </a:r>
              </a:p>
            </p:txBody>
          </p:sp>
        </mc:Fallback>
      </mc:AlternateContent>
      <p:sp>
        <p:nvSpPr>
          <p:cNvPr id="15" name="TextBox 14">
            <a:extLst>
              <a:ext uri="{FF2B5EF4-FFF2-40B4-BE49-F238E27FC236}">
                <a16:creationId xmlns:a16="http://schemas.microsoft.com/office/drawing/2014/main" id="{3E37DB7B-DF64-EE47-3D6F-0AEADADCF4D1}"/>
              </a:ext>
            </a:extLst>
          </p:cNvPr>
          <p:cNvSpPr txBox="1"/>
          <p:nvPr/>
        </p:nvSpPr>
        <p:spPr>
          <a:xfrm>
            <a:off x="9505137" y="4568656"/>
            <a:ext cx="2633951" cy="1323439"/>
          </a:xfrm>
          <a:prstGeom prst="rect">
            <a:avLst/>
          </a:prstGeom>
          <a:noFill/>
        </p:spPr>
        <p:txBody>
          <a:bodyPr wrap="square">
            <a:spAutoFit/>
          </a:bodyPr>
          <a:lstStyle/>
          <a:p>
            <a:r>
              <a:rPr lang="en-US" sz="2000" dirty="0"/>
              <a:t>For a fixed mid-price, all action is assumed to happen inside the action window</a:t>
            </a:r>
          </a:p>
        </p:txBody>
      </p:sp>
      <p:sp>
        <p:nvSpPr>
          <p:cNvPr id="11" name="Rounded Rectangle 10">
            <a:extLst>
              <a:ext uri="{FF2B5EF4-FFF2-40B4-BE49-F238E27FC236}">
                <a16:creationId xmlns:a16="http://schemas.microsoft.com/office/drawing/2014/main" id="{EE6705D6-6497-05C3-35C8-70E3D5962454}"/>
              </a:ext>
            </a:extLst>
          </p:cNvPr>
          <p:cNvSpPr/>
          <p:nvPr/>
        </p:nvSpPr>
        <p:spPr>
          <a:xfrm>
            <a:off x="4831823" y="2282034"/>
            <a:ext cx="1294239" cy="71748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i="1" dirty="0">
                <a:highlight>
                  <a:srgbClr val="0000FF"/>
                </a:highlight>
              </a:rPr>
              <a:t>w = 1</a:t>
            </a:r>
            <a:endParaRPr lang="en-US" sz="3200" dirty="0">
              <a:highlight>
                <a:srgbClr val="0000FF"/>
              </a:highlight>
            </a:endParaRPr>
          </a:p>
        </p:txBody>
      </p:sp>
      <p:sp>
        <p:nvSpPr>
          <p:cNvPr id="16" name="Right Brace 15">
            <a:extLst>
              <a:ext uri="{FF2B5EF4-FFF2-40B4-BE49-F238E27FC236}">
                <a16:creationId xmlns:a16="http://schemas.microsoft.com/office/drawing/2014/main" id="{70B4E72B-7230-21A8-64BF-55FA4618AFB1}"/>
              </a:ext>
            </a:extLst>
          </p:cNvPr>
          <p:cNvSpPr/>
          <p:nvPr/>
        </p:nvSpPr>
        <p:spPr>
          <a:xfrm rot="5400000">
            <a:off x="6836770" y="4648732"/>
            <a:ext cx="464652" cy="2378760"/>
          </a:xfrm>
          <a:prstGeom prst="rightBrace">
            <a:avLst/>
          </a:prstGeom>
          <a:ln w="50800">
            <a:solidFill>
              <a:srgbClr val="92D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7603C6A1-B1BF-D415-1745-2D670FCB27AC}"/>
              </a:ext>
            </a:extLst>
          </p:cNvPr>
          <p:cNvSpPr txBox="1"/>
          <p:nvPr/>
        </p:nvSpPr>
        <p:spPr>
          <a:xfrm>
            <a:off x="6022520" y="5869886"/>
            <a:ext cx="620683" cy="369332"/>
          </a:xfrm>
          <a:prstGeom prst="rect">
            <a:avLst/>
          </a:prstGeom>
          <a:noFill/>
        </p:spPr>
        <p:txBody>
          <a:bodyPr wrap="none" rtlCol="0">
            <a:spAutoFit/>
          </a:bodyPr>
          <a:lstStyle/>
          <a:p>
            <a:r>
              <a:rPr lang="en-US" dirty="0"/>
              <a:t>Bids</a:t>
            </a:r>
          </a:p>
        </p:txBody>
      </p:sp>
      <p:sp>
        <p:nvSpPr>
          <p:cNvPr id="18" name="Right Brace 17">
            <a:extLst>
              <a:ext uri="{FF2B5EF4-FFF2-40B4-BE49-F238E27FC236}">
                <a16:creationId xmlns:a16="http://schemas.microsoft.com/office/drawing/2014/main" id="{DD9B71AE-E971-E074-3EAF-E3914A01CF0C}"/>
              </a:ext>
            </a:extLst>
          </p:cNvPr>
          <p:cNvSpPr/>
          <p:nvPr/>
        </p:nvSpPr>
        <p:spPr>
          <a:xfrm rot="5400000">
            <a:off x="8092143" y="4711692"/>
            <a:ext cx="464652" cy="2378760"/>
          </a:xfrm>
          <a:prstGeom prst="rightBrace">
            <a:avLst/>
          </a:prstGeom>
          <a:ln w="508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984709C0-7163-2ABE-DBB2-D8E0228ABA3C}"/>
              </a:ext>
            </a:extLst>
          </p:cNvPr>
          <p:cNvSpPr txBox="1"/>
          <p:nvPr/>
        </p:nvSpPr>
        <p:spPr>
          <a:xfrm>
            <a:off x="8781592" y="5853568"/>
            <a:ext cx="657552" cy="369332"/>
          </a:xfrm>
          <a:prstGeom prst="rect">
            <a:avLst/>
          </a:prstGeom>
          <a:noFill/>
          <a:ln>
            <a:noFill/>
          </a:ln>
        </p:spPr>
        <p:txBody>
          <a:bodyPr wrap="none" rtlCol="0">
            <a:spAutoFit/>
          </a:bodyPr>
          <a:lstStyle/>
          <a:p>
            <a:r>
              <a:rPr lang="en-US" dirty="0"/>
              <a:t>Asks</a:t>
            </a:r>
          </a:p>
        </p:txBody>
      </p:sp>
      <p:sp>
        <p:nvSpPr>
          <p:cNvPr id="20" name="TextBox 19">
            <a:extLst>
              <a:ext uri="{FF2B5EF4-FFF2-40B4-BE49-F238E27FC236}">
                <a16:creationId xmlns:a16="http://schemas.microsoft.com/office/drawing/2014/main" id="{552F9D95-8EAC-91DB-5B9A-7B141A7B94CC}"/>
              </a:ext>
            </a:extLst>
          </p:cNvPr>
          <p:cNvSpPr txBox="1"/>
          <p:nvPr/>
        </p:nvSpPr>
        <p:spPr>
          <a:xfrm>
            <a:off x="7467755" y="4568656"/>
            <a:ext cx="423512" cy="646331"/>
          </a:xfrm>
          <a:prstGeom prst="rect">
            <a:avLst/>
          </a:prstGeom>
          <a:noFill/>
        </p:spPr>
        <p:txBody>
          <a:bodyPr wrap="square" rtlCol="0">
            <a:spAutoFit/>
          </a:bodyPr>
          <a:lstStyle/>
          <a:p>
            <a:r>
              <a:rPr lang="en-US" sz="3600" b="1" i="1" dirty="0"/>
              <a:t>p</a:t>
            </a:r>
            <a:endParaRPr lang="en-US" dirty="0"/>
          </a:p>
        </p:txBody>
      </p:sp>
      <p:sp>
        <p:nvSpPr>
          <p:cNvPr id="21" name="Rounded Rectangle 20">
            <a:extLst>
              <a:ext uri="{FF2B5EF4-FFF2-40B4-BE49-F238E27FC236}">
                <a16:creationId xmlns:a16="http://schemas.microsoft.com/office/drawing/2014/main" id="{475A78DB-5A42-D139-4ACE-CC366A1E19E1}"/>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1065265269"/>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p:bldP spid="11" grpId="0" animBg="1"/>
      <p:bldP spid="16" grpId="0" animBg="1"/>
      <p:bldP spid="17" grpId="0"/>
      <p:bldP spid="18" grpId="0" animBg="1"/>
      <p:bldP spid="19" grpId="0"/>
      <p:bldP spid="2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248E1B0-2AE4-3922-331A-934C52381AF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0451792-9F9B-0C30-2936-21B044E8682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7DAF1C9B-C3BD-9A3B-4303-96BA3BF24A67}"/>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 name="Oval 4">
            <a:extLst>
              <a:ext uri="{FF2B5EF4-FFF2-40B4-BE49-F238E27FC236}">
                <a16:creationId xmlns:a16="http://schemas.microsoft.com/office/drawing/2014/main" id="{7FF81811-637B-B4A5-3957-789223D5225E}"/>
              </a:ext>
            </a:extLst>
          </p:cNvPr>
          <p:cNvSpPr/>
          <p:nvPr/>
        </p:nvSpPr>
        <p:spPr>
          <a:xfrm>
            <a:off x="6096000" y="2895336"/>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7" name="Oval 6">
            <a:extLst>
              <a:ext uri="{FF2B5EF4-FFF2-40B4-BE49-F238E27FC236}">
                <a16:creationId xmlns:a16="http://schemas.microsoft.com/office/drawing/2014/main" id="{F07A4C28-3853-2620-FEEB-9CF8AD8D68CD}"/>
              </a:ext>
            </a:extLst>
          </p:cNvPr>
          <p:cNvSpPr/>
          <p:nvPr/>
        </p:nvSpPr>
        <p:spPr>
          <a:xfrm>
            <a:off x="4620567" y="2895336"/>
            <a:ext cx="1276141" cy="1276141"/>
          </a:xfrm>
          <a:prstGeom prst="ellipse">
            <a:avLst/>
          </a:prstGeom>
          <a:solidFill>
            <a:srgbClr val="FF24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Critical?</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CF7DBD0-C25E-508A-ABCA-F679BA3C904C}"/>
                  </a:ext>
                </a:extLst>
              </p:cNvPr>
              <p:cNvSpPr txBox="1"/>
              <p:nvPr/>
            </p:nvSpPr>
            <p:spPr>
              <a:xfrm>
                <a:off x="2971991" y="3185435"/>
                <a:ext cx="5106884"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6" name="TextBox 5">
                <a:extLst>
                  <a:ext uri="{FF2B5EF4-FFF2-40B4-BE49-F238E27FC236}">
                    <a16:creationId xmlns:a16="http://schemas.microsoft.com/office/drawing/2014/main" id="{38E38727-AA55-C410-0F0E-9D0B783A3ECE}"/>
                  </a:ext>
                </a:extLst>
              </p:cNvPr>
              <p:cNvSpPr txBox="1">
                <a:spLocks noRot="1" noChangeAspect="1" noMove="1" noResize="1" noEditPoints="1" noAdjustHandles="1" noChangeArrowheads="1" noChangeShapeType="1" noTextEdit="1"/>
              </p:cNvSpPr>
              <p:nvPr/>
            </p:nvSpPr>
            <p:spPr>
              <a:xfrm>
                <a:off x="2971991" y="3185435"/>
                <a:ext cx="5106884" cy="615553"/>
              </a:xfrm>
              <a:prstGeom prst="rect">
                <a:avLst/>
              </a:prstGeom>
              <a:blipFill>
                <a:blip r:embed="rId3"/>
                <a:stretch>
                  <a:fillRect l="-3234" t="-10204" r="-3234" b="-3469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B0B3E39-9662-73AF-3F3F-952324C76F27}"/>
              </a:ext>
            </a:extLst>
          </p:cNvPr>
          <p:cNvSpPr txBox="1"/>
          <p:nvPr/>
        </p:nvSpPr>
        <p:spPr>
          <a:xfrm>
            <a:off x="220390" y="4128885"/>
            <a:ext cx="1178873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Within each category (critical/non-critical), the behavior is the same as it would have been in a synchronous network</a:t>
            </a:r>
          </a:p>
          <a:p>
            <a:pPr marL="457200" indent="-457200">
              <a:buFont typeface="Arial" panose="020B0604020202020204" pitchFamily="34" charset="0"/>
              <a:buChar char="•"/>
            </a:pPr>
            <a:r>
              <a:rPr lang="en-US" sz="2800" dirty="0"/>
              <a:t>All critical orders arrive at the exchange before any non-critical</a:t>
            </a:r>
          </a:p>
          <a:p>
            <a:pPr marL="914400" lvl="1" indent="-457200">
              <a:buFont typeface="Arial" panose="020B0604020202020204" pitchFamily="34" charset="0"/>
              <a:buChar char="•"/>
            </a:pPr>
            <a:r>
              <a:rPr lang="en-US" sz="2800" dirty="0"/>
              <a:t>That’s also fine because no no-critical order would be executed before any critical order</a:t>
            </a:r>
          </a:p>
        </p:txBody>
      </p:sp>
      <p:sp>
        <p:nvSpPr>
          <p:cNvPr id="3" name="Rounded Rectangle 2">
            <a:extLst>
              <a:ext uri="{FF2B5EF4-FFF2-40B4-BE49-F238E27FC236}">
                <a16:creationId xmlns:a16="http://schemas.microsoft.com/office/drawing/2014/main" id="{EE3F07AC-482D-112C-095A-23942DF1379D}"/>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350830254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E8C1A4C-5F77-970B-5877-FAB3BEFD482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5F23D42-35E7-C942-E5C6-212BFD5B5F3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4CE0ACAE-0238-7861-6F7B-978BBFC68FD4}"/>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 name="Oval 4">
            <a:extLst>
              <a:ext uri="{FF2B5EF4-FFF2-40B4-BE49-F238E27FC236}">
                <a16:creationId xmlns:a16="http://schemas.microsoft.com/office/drawing/2014/main" id="{82EBD02E-7FFA-CE2B-0203-A0E7D06B13AF}"/>
              </a:ext>
            </a:extLst>
          </p:cNvPr>
          <p:cNvSpPr/>
          <p:nvPr/>
        </p:nvSpPr>
        <p:spPr>
          <a:xfrm>
            <a:off x="6096000" y="2895336"/>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7" name="Oval 6">
            <a:extLst>
              <a:ext uri="{FF2B5EF4-FFF2-40B4-BE49-F238E27FC236}">
                <a16:creationId xmlns:a16="http://schemas.microsoft.com/office/drawing/2014/main" id="{2E28AB0C-91ED-9A7C-9737-7E22FA5F69F9}"/>
              </a:ext>
            </a:extLst>
          </p:cNvPr>
          <p:cNvSpPr/>
          <p:nvPr/>
        </p:nvSpPr>
        <p:spPr>
          <a:xfrm>
            <a:off x="4620567" y="2895336"/>
            <a:ext cx="1276141" cy="1276141"/>
          </a:xfrm>
          <a:prstGeom prst="ellipse">
            <a:avLst/>
          </a:prstGeom>
          <a:solidFill>
            <a:srgbClr val="FF24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Critical?</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8E38727-AA55-C410-0F0E-9D0B783A3ECE}"/>
                  </a:ext>
                </a:extLst>
              </p:cNvPr>
              <p:cNvSpPr txBox="1"/>
              <p:nvPr/>
            </p:nvSpPr>
            <p:spPr>
              <a:xfrm>
                <a:off x="2971991" y="3185435"/>
                <a:ext cx="5106884"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6" name="TextBox 5">
                <a:extLst>
                  <a:ext uri="{FF2B5EF4-FFF2-40B4-BE49-F238E27FC236}">
                    <a16:creationId xmlns:a16="http://schemas.microsoft.com/office/drawing/2014/main" id="{38E38727-AA55-C410-0F0E-9D0B783A3ECE}"/>
                  </a:ext>
                </a:extLst>
              </p:cNvPr>
              <p:cNvSpPr txBox="1">
                <a:spLocks noRot="1" noChangeAspect="1" noMove="1" noResize="1" noEditPoints="1" noAdjustHandles="1" noChangeArrowheads="1" noChangeShapeType="1" noTextEdit="1"/>
              </p:cNvSpPr>
              <p:nvPr/>
            </p:nvSpPr>
            <p:spPr>
              <a:xfrm>
                <a:off x="2971991" y="3185435"/>
                <a:ext cx="5106884" cy="615553"/>
              </a:xfrm>
              <a:prstGeom prst="rect">
                <a:avLst/>
              </a:prstGeom>
              <a:blipFill>
                <a:blip r:embed="rId3"/>
                <a:stretch>
                  <a:fillRect l="-3234" t="-10204" r="-3234" b="-3469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2D1A08C-7E93-B101-23E0-56DBE79D4910}"/>
              </a:ext>
            </a:extLst>
          </p:cNvPr>
          <p:cNvSpPr txBox="1"/>
          <p:nvPr/>
        </p:nvSpPr>
        <p:spPr>
          <a:xfrm>
            <a:off x="375920" y="4577760"/>
            <a:ext cx="12327210" cy="1569660"/>
          </a:xfrm>
          <a:prstGeom prst="rect">
            <a:avLst/>
          </a:prstGeom>
          <a:noFill/>
        </p:spPr>
        <p:txBody>
          <a:bodyPr wrap="square" rtlCol="0">
            <a:spAutoFit/>
          </a:bodyPr>
          <a:lstStyle/>
          <a:p>
            <a:pPr marL="457200" indent="-457200">
              <a:buFont typeface="Arial" panose="020B0604020202020204" pitchFamily="34" charset="0"/>
              <a:buChar char="•"/>
            </a:pPr>
            <a:r>
              <a:rPr lang="en-US" sz="2400" dirty="0"/>
              <a:t>There is a problem</a:t>
            </a:r>
          </a:p>
          <a:p>
            <a:pPr marL="457200" indent="-457200">
              <a:buFont typeface="Arial" panose="020B0604020202020204" pitchFamily="34" charset="0"/>
              <a:buChar char="•"/>
            </a:pPr>
            <a:r>
              <a:rPr lang="en-US" sz="2400" dirty="0"/>
              <a:t>Criticality definition dependent on the mid-price but mid-price can move</a:t>
            </a:r>
          </a:p>
          <a:p>
            <a:pPr marL="457200" indent="-457200">
              <a:buFont typeface="Arial" panose="020B0604020202020204" pitchFamily="34" charset="0"/>
              <a:buChar char="•"/>
            </a:pPr>
            <a:r>
              <a:rPr lang="en-US" sz="2400" dirty="0"/>
              <a:t>Two orders can co-reside </a:t>
            </a:r>
            <a:r>
              <a:rPr lang="en-US" sz="2400" dirty="0" err="1"/>
              <a:t>s.t.</a:t>
            </a:r>
            <a:r>
              <a:rPr lang="en-US" sz="2400" dirty="0"/>
              <a:t> one was generated after the mid-price changed</a:t>
            </a:r>
          </a:p>
          <a:p>
            <a:pPr marL="457200" indent="-457200">
              <a:buFont typeface="Arial" panose="020B0604020202020204" pitchFamily="34" charset="0"/>
              <a:buChar char="•"/>
            </a:pPr>
            <a:r>
              <a:rPr lang="en-US" sz="2400" dirty="0"/>
              <a:t>Can we have some ordering decision between such two orders? Difficult!</a:t>
            </a:r>
          </a:p>
        </p:txBody>
      </p:sp>
      <p:sp>
        <p:nvSpPr>
          <p:cNvPr id="3" name="Rounded Rectangle 2">
            <a:extLst>
              <a:ext uri="{FF2B5EF4-FFF2-40B4-BE49-F238E27FC236}">
                <a16:creationId xmlns:a16="http://schemas.microsoft.com/office/drawing/2014/main" id="{2CE0093C-5B25-8C18-A7D6-70F465D7B4AD}"/>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3200781171"/>
      </p:ext>
    </p:extLst>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AE0B575-1651-3AFD-F21C-09F2B4EB945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8926CEE-56D0-8F72-9BC4-BB73E5A8974C}"/>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7F9C237F-2325-AA67-45D1-C68F34ED780C}"/>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 name="Oval 4">
            <a:extLst>
              <a:ext uri="{FF2B5EF4-FFF2-40B4-BE49-F238E27FC236}">
                <a16:creationId xmlns:a16="http://schemas.microsoft.com/office/drawing/2014/main" id="{A083A8E6-5590-7566-8AA5-42AF36E9CF90}"/>
              </a:ext>
            </a:extLst>
          </p:cNvPr>
          <p:cNvSpPr/>
          <p:nvPr/>
        </p:nvSpPr>
        <p:spPr>
          <a:xfrm>
            <a:off x="6351394" y="2790929"/>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7" name="Oval 6">
            <a:extLst>
              <a:ext uri="{FF2B5EF4-FFF2-40B4-BE49-F238E27FC236}">
                <a16:creationId xmlns:a16="http://schemas.microsoft.com/office/drawing/2014/main" id="{D8E6C332-A83C-A413-629B-FC65D9CD2AE5}"/>
              </a:ext>
            </a:extLst>
          </p:cNvPr>
          <p:cNvSpPr/>
          <p:nvPr/>
        </p:nvSpPr>
        <p:spPr>
          <a:xfrm>
            <a:off x="4962590" y="2863545"/>
            <a:ext cx="1276141" cy="1276141"/>
          </a:xfrm>
          <a:prstGeom prst="ellipse">
            <a:avLst/>
          </a:prstGeom>
          <a:solidFill>
            <a:srgbClr val="FF24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Critical?</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6ABCD78-F6BA-3A9E-A84D-53C5C51A5AC4}"/>
                  </a:ext>
                </a:extLst>
              </p:cNvPr>
              <p:cNvSpPr txBox="1"/>
              <p:nvPr/>
            </p:nvSpPr>
            <p:spPr>
              <a:xfrm>
                <a:off x="2971991" y="3185435"/>
                <a:ext cx="5106884"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6" name="TextBox 5">
                <a:extLst>
                  <a:ext uri="{FF2B5EF4-FFF2-40B4-BE49-F238E27FC236}">
                    <a16:creationId xmlns:a16="http://schemas.microsoft.com/office/drawing/2014/main" id="{66ABCD78-F6BA-3A9E-A84D-53C5C51A5AC4}"/>
                  </a:ext>
                </a:extLst>
              </p:cNvPr>
              <p:cNvSpPr txBox="1">
                <a:spLocks noRot="1" noChangeAspect="1" noMove="1" noResize="1" noEditPoints="1" noAdjustHandles="1" noChangeArrowheads="1" noChangeShapeType="1" noTextEdit="1"/>
              </p:cNvSpPr>
              <p:nvPr/>
            </p:nvSpPr>
            <p:spPr>
              <a:xfrm>
                <a:off x="2971991" y="3185435"/>
                <a:ext cx="5106884" cy="615553"/>
              </a:xfrm>
              <a:prstGeom prst="rect">
                <a:avLst/>
              </a:prstGeom>
              <a:blipFill>
                <a:blip r:embed="rId3"/>
                <a:stretch>
                  <a:fillRect l="-3234" t="-10204" r="-3234" b="-34694"/>
                </a:stretch>
              </a:blipFill>
            </p:spPr>
            <p:txBody>
              <a:bodyPr/>
              <a:lstStyle/>
              <a:p>
                <a:r>
                  <a:rPr lang="en-US">
                    <a:noFill/>
                  </a:rPr>
                  <a:t> </a:t>
                </a:r>
              </a:p>
            </p:txBody>
          </p:sp>
        </mc:Fallback>
      </mc:AlternateContent>
      <p:sp>
        <p:nvSpPr>
          <p:cNvPr id="3" name="Oval 2">
            <a:extLst>
              <a:ext uri="{FF2B5EF4-FFF2-40B4-BE49-F238E27FC236}">
                <a16:creationId xmlns:a16="http://schemas.microsoft.com/office/drawing/2014/main" id="{E70A8221-10AD-946F-2034-6E8D4375491C}"/>
              </a:ext>
            </a:extLst>
          </p:cNvPr>
          <p:cNvSpPr/>
          <p:nvPr/>
        </p:nvSpPr>
        <p:spPr>
          <a:xfrm>
            <a:off x="3385894" y="2903910"/>
            <a:ext cx="1464033" cy="127614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Mid-price ID</a:t>
            </a:r>
          </a:p>
        </p:txBody>
      </p:sp>
      <p:sp>
        <p:nvSpPr>
          <p:cNvPr id="8" name="TextBox 7">
            <a:extLst>
              <a:ext uri="{FF2B5EF4-FFF2-40B4-BE49-F238E27FC236}">
                <a16:creationId xmlns:a16="http://schemas.microsoft.com/office/drawing/2014/main" id="{F54DE534-7B32-3423-7E6E-D2AC0DC0CE24}"/>
              </a:ext>
            </a:extLst>
          </p:cNvPr>
          <p:cNvSpPr txBox="1"/>
          <p:nvPr/>
        </p:nvSpPr>
        <p:spPr>
          <a:xfrm>
            <a:off x="269392" y="4203128"/>
            <a:ext cx="10822075"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First element of the ranking tuple: mid-price ID</a:t>
            </a:r>
          </a:p>
          <a:p>
            <a:pPr marL="285750" indent="-285750">
              <a:buFont typeface="Arial" panose="020B0604020202020204" pitchFamily="34" charset="0"/>
              <a:buChar char="•"/>
            </a:pPr>
            <a:r>
              <a:rPr lang="en-US" sz="2800" dirty="0"/>
              <a:t>Every time mid-price moves (and MPs receive the info from the exchange), mid-price ID is incremented</a:t>
            </a:r>
          </a:p>
          <a:p>
            <a:pPr marL="285750" indent="-285750">
              <a:buFont typeface="Arial" panose="020B0604020202020204" pitchFamily="34" charset="0"/>
              <a:buChar char="•"/>
            </a:pPr>
            <a:r>
              <a:rPr lang="en-US" sz="2800" dirty="0"/>
              <a:t>All the orders with old mid-price presented to the exchange before any order with a new mid-price</a:t>
            </a:r>
          </a:p>
        </p:txBody>
      </p:sp>
      <p:sp>
        <p:nvSpPr>
          <p:cNvPr id="9" name="Rounded Rectangle 8">
            <a:extLst>
              <a:ext uri="{FF2B5EF4-FFF2-40B4-BE49-F238E27FC236}">
                <a16:creationId xmlns:a16="http://schemas.microsoft.com/office/drawing/2014/main" id="{F474F005-ED43-8D21-26E0-415DDAD694C9}"/>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213773542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D73A42D-80C0-293D-CDDF-50CE7C88061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85A105-CDE2-C3A5-4D07-8AEA051F7AED}"/>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144435C9-9D35-AEBC-DFCD-5272CFB33467}"/>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5" name="Oval 4">
            <a:extLst>
              <a:ext uri="{FF2B5EF4-FFF2-40B4-BE49-F238E27FC236}">
                <a16:creationId xmlns:a16="http://schemas.microsoft.com/office/drawing/2014/main" id="{C93E3044-3277-AC9A-0C34-E285F2E3E86F}"/>
              </a:ext>
            </a:extLst>
          </p:cNvPr>
          <p:cNvSpPr/>
          <p:nvPr/>
        </p:nvSpPr>
        <p:spPr>
          <a:xfrm>
            <a:off x="6351394" y="2790929"/>
            <a:ext cx="1276141" cy="1276141"/>
          </a:xfrm>
          <a:prstGeom prst="ellipse">
            <a:avLst/>
          </a:prstGeom>
          <a:solidFill>
            <a:srgbClr val="FF2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t>ts</a:t>
            </a:r>
            <a:endParaRPr lang="en-US" sz="4000" dirty="0"/>
          </a:p>
        </p:txBody>
      </p:sp>
      <p:sp>
        <p:nvSpPr>
          <p:cNvPr id="7" name="Oval 6">
            <a:extLst>
              <a:ext uri="{FF2B5EF4-FFF2-40B4-BE49-F238E27FC236}">
                <a16:creationId xmlns:a16="http://schemas.microsoft.com/office/drawing/2014/main" id="{F5539DB6-B5C3-C730-990A-A3D49F37E119}"/>
              </a:ext>
            </a:extLst>
          </p:cNvPr>
          <p:cNvSpPr/>
          <p:nvPr/>
        </p:nvSpPr>
        <p:spPr>
          <a:xfrm>
            <a:off x="4962590" y="2863545"/>
            <a:ext cx="1276141" cy="1276141"/>
          </a:xfrm>
          <a:prstGeom prst="ellipse">
            <a:avLst/>
          </a:prstGeom>
          <a:solidFill>
            <a:srgbClr val="FF24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Critical?</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8BC652A-D288-1D98-AE8A-F12CA973ACB0}"/>
                  </a:ext>
                </a:extLst>
              </p:cNvPr>
              <p:cNvSpPr txBox="1"/>
              <p:nvPr/>
            </p:nvSpPr>
            <p:spPr>
              <a:xfrm>
                <a:off x="2971991" y="3185435"/>
                <a:ext cx="5106884"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&lt;                                       &gt;</m:t>
                      </m:r>
                    </m:oMath>
                  </m:oMathPara>
                </a14:m>
                <a:endParaRPr lang="en-US" sz="4000" dirty="0"/>
              </a:p>
            </p:txBody>
          </p:sp>
        </mc:Choice>
        <mc:Fallback xmlns="">
          <p:sp>
            <p:nvSpPr>
              <p:cNvPr id="6" name="TextBox 5">
                <a:extLst>
                  <a:ext uri="{FF2B5EF4-FFF2-40B4-BE49-F238E27FC236}">
                    <a16:creationId xmlns:a16="http://schemas.microsoft.com/office/drawing/2014/main" id="{D8BC652A-D288-1D98-AE8A-F12CA973ACB0}"/>
                  </a:ext>
                </a:extLst>
              </p:cNvPr>
              <p:cNvSpPr txBox="1">
                <a:spLocks noRot="1" noChangeAspect="1" noMove="1" noResize="1" noEditPoints="1" noAdjustHandles="1" noChangeArrowheads="1" noChangeShapeType="1" noTextEdit="1"/>
              </p:cNvSpPr>
              <p:nvPr/>
            </p:nvSpPr>
            <p:spPr>
              <a:xfrm>
                <a:off x="2971991" y="3185435"/>
                <a:ext cx="5106884" cy="615553"/>
              </a:xfrm>
              <a:prstGeom prst="rect">
                <a:avLst/>
              </a:prstGeom>
              <a:blipFill>
                <a:blip r:embed="rId3"/>
                <a:stretch>
                  <a:fillRect l="-3234" t="-10204" r="-3234" b="-34694"/>
                </a:stretch>
              </a:blipFill>
            </p:spPr>
            <p:txBody>
              <a:bodyPr/>
              <a:lstStyle/>
              <a:p>
                <a:r>
                  <a:rPr lang="en-US">
                    <a:noFill/>
                  </a:rPr>
                  <a:t> </a:t>
                </a:r>
              </a:p>
            </p:txBody>
          </p:sp>
        </mc:Fallback>
      </mc:AlternateContent>
      <p:sp>
        <p:nvSpPr>
          <p:cNvPr id="3" name="Oval 2">
            <a:extLst>
              <a:ext uri="{FF2B5EF4-FFF2-40B4-BE49-F238E27FC236}">
                <a16:creationId xmlns:a16="http://schemas.microsoft.com/office/drawing/2014/main" id="{E6060C77-7179-3BC1-61F5-D9B3E9CD4062}"/>
              </a:ext>
            </a:extLst>
          </p:cNvPr>
          <p:cNvSpPr/>
          <p:nvPr/>
        </p:nvSpPr>
        <p:spPr>
          <a:xfrm>
            <a:off x="3385894" y="2903910"/>
            <a:ext cx="1464033" cy="127614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Mid-price ID</a:t>
            </a:r>
          </a:p>
        </p:txBody>
      </p:sp>
      <p:sp>
        <p:nvSpPr>
          <p:cNvPr id="8" name="Rounded Rectangle 7">
            <a:extLst>
              <a:ext uri="{FF2B5EF4-FFF2-40B4-BE49-F238E27FC236}">
                <a16:creationId xmlns:a16="http://schemas.microsoft.com/office/drawing/2014/main" id="{47245149-74B2-DDF4-1906-C03A47EA76B8}"/>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18898214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78349F0-CEFC-4BF5-E2AA-073FE874671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976286B-A5B5-69A8-B011-5E252BE0F27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1" name="Rounded Rectangle 40">
            <a:extLst>
              <a:ext uri="{FF2B5EF4-FFF2-40B4-BE49-F238E27FC236}">
                <a16:creationId xmlns:a16="http://schemas.microsoft.com/office/drawing/2014/main" id="{FF4A78D9-EAF6-0A4C-BDAE-5EAADFC40360}"/>
              </a:ext>
            </a:extLst>
          </p:cNvPr>
          <p:cNvSpPr/>
          <p:nvPr/>
        </p:nvSpPr>
        <p:spPr>
          <a:xfrm>
            <a:off x="269392" y="249416"/>
            <a:ext cx="9206203" cy="108745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Aptos" panose="02110004020202020204"/>
                <a:ea typeface="+mn-ea"/>
                <a:cs typeface="+mn-cs"/>
              </a:rPr>
              <a:t>LOQ: A Domain-Specific Scheduling Policy</a:t>
            </a:r>
          </a:p>
        </p:txBody>
      </p:sp>
      <p:sp>
        <p:nvSpPr>
          <p:cNvPr id="9" name="Google Shape;407;p35">
            <a:extLst>
              <a:ext uri="{FF2B5EF4-FFF2-40B4-BE49-F238E27FC236}">
                <a16:creationId xmlns:a16="http://schemas.microsoft.com/office/drawing/2014/main" id="{EC0CD311-8256-C445-E26C-F3D71C05F916}"/>
              </a:ext>
            </a:extLst>
          </p:cNvPr>
          <p:cNvSpPr txBox="1">
            <a:spLocks/>
          </p:cNvSpPr>
          <p:nvPr/>
        </p:nvSpPr>
        <p:spPr>
          <a:xfrm>
            <a:off x="415600" y="2504146"/>
            <a:ext cx="11360800" cy="115933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400" dirty="0"/>
              <a:t>&lt;                      ,              ,      &gt;</a:t>
            </a:r>
          </a:p>
          <a:p>
            <a:pPr>
              <a:buFont typeface="Arial" panose="020B0604020202020204" pitchFamily="34" charset="0"/>
              <a:buChar char="-"/>
            </a:pPr>
            <a:r>
              <a:rPr lang="en-US" sz="2400" dirty="0"/>
              <a:t>LOQ lexicographically sorts the received orders based on the above tuple</a:t>
            </a:r>
          </a:p>
        </p:txBody>
      </p:sp>
      <p:sp>
        <p:nvSpPr>
          <p:cNvPr id="10" name="Oval 9">
            <a:extLst>
              <a:ext uri="{FF2B5EF4-FFF2-40B4-BE49-F238E27FC236}">
                <a16:creationId xmlns:a16="http://schemas.microsoft.com/office/drawing/2014/main" id="{DD01CA64-E04E-DB78-0364-BE2FF7B83ED1}"/>
              </a:ext>
            </a:extLst>
          </p:cNvPr>
          <p:cNvSpPr/>
          <p:nvPr/>
        </p:nvSpPr>
        <p:spPr>
          <a:xfrm>
            <a:off x="2886866" y="2265624"/>
            <a:ext cx="1276141" cy="1276141"/>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ts</a:t>
            </a:r>
            <a:endParaRPr lang="en-US" sz="4000" dirty="0">
              <a:solidFill>
                <a:schemeClr val="tx1"/>
              </a:solidFill>
            </a:endParaRPr>
          </a:p>
        </p:txBody>
      </p:sp>
      <p:sp>
        <p:nvSpPr>
          <p:cNvPr id="11" name="Oval 10">
            <a:extLst>
              <a:ext uri="{FF2B5EF4-FFF2-40B4-BE49-F238E27FC236}">
                <a16:creationId xmlns:a16="http://schemas.microsoft.com/office/drawing/2014/main" id="{29ECBB07-41A1-838E-D39A-4D1C11353772}"/>
              </a:ext>
            </a:extLst>
          </p:cNvPr>
          <p:cNvSpPr/>
          <p:nvPr/>
        </p:nvSpPr>
        <p:spPr>
          <a:xfrm>
            <a:off x="2102046" y="2265625"/>
            <a:ext cx="1505313" cy="1276141"/>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Critical</a:t>
            </a:r>
          </a:p>
        </p:txBody>
      </p:sp>
      <p:sp>
        <p:nvSpPr>
          <p:cNvPr id="12" name="Oval 11">
            <a:extLst>
              <a:ext uri="{FF2B5EF4-FFF2-40B4-BE49-F238E27FC236}">
                <a16:creationId xmlns:a16="http://schemas.microsoft.com/office/drawing/2014/main" id="{0602F33C-76A1-D77E-ECFF-66732FE1D1F8}"/>
              </a:ext>
            </a:extLst>
          </p:cNvPr>
          <p:cNvSpPr/>
          <p:nvPr/>
        </p:nvSpPr>
        <p:spPr>
          <a:xfrm>
            <a:off x="-140048" y="2265625"/>
            <a:ext cx="3523545" cy="1276141"/>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Mid-price ID</a:t>
            </a:r>
          </a:p>
        </p:txBody>
      </p:sp>
      <p:sp>
        <p:nvSpPr>
          <p:cNvPr id="13" name="Google Shape;407;p35">
            <a:extLst>
              <a:ext uri="{FF2B5EF4-FFF2-40B4-BE49-F238E27FC236}">
                <a16:creationId xmlns:a16="http://schemas.microsoft.com/office/drawing/2014/main" id="{2E871AC9-881D-DEFA-AB74-8987B7BEFB78}"/>
              </a:ext>
            </a:extLst>
          </p:cNvPr>
          <p:cNvSpPr txBox="1">
            <a:spLocks/>
          </p:cNvSpPr>
          <p:nvPr/>
        </p:nvSpPr>
        <p:spPr>
          <a:xfrm>
            <a:off x="415600" y="3549710"/>
            <a:ext cx="11360800" cy="115933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400" dirty="0"/>
              <a:t>LOQ enhances the order matching rate of the exchange while lowering the latency for matched orders</a:t>
            </a:r>
          </a:p>
        </p:txBody>
      </p:sp>
      <p:sp>
        <p:nvSpPr>
          <p:cNvPr id="3" name="Rounded Rectangle 2">
            <a:extLst>
              <a:ext uri="{FF2B5EF4-FFF2-40B4-BE49-F238E27FC236}">
                <a16:creationId xmlns:a16="http://schemas.microsoft.com/office/drawing/2014/main" id="{442ED2A8-464E-8F73-DCC5-AE4BFFF6CA98}"/>
              </a:ext>
            </a:extLst>
          </p:cNvPr>
          <p:cNvSpPr/>
          <p:nvPr/>
        </p:nvSpPr>
        <p:spPr>
          <a:xfrm>
            <a:off x="269392" y="1390287"/>
            <a:ext cx="3848519" cy="75362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LOQ Priority Queue</a:t>
            </a:r>
          </a:p>
        </p:txBody>
      </p:sp>
    </p:spTree>
    <p:extLst>
      <p:ext uri="{BB962C8B-B14F-4D97-AF65-F5344CB8AC3E}">
        <p14:creationId xmlns:p14="http://schemas.microsoft.com/office/powerpoint/2010/main" val="20957528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Shape 413">
          <a:extLst>
            <a:ext uri="{FF2B5EF4-FFF2-40B4-BE49-F238E27FC236}">
              <a16:creationId xmlns:a16="http://schemas.microsoft.com/office/drawing/2014/main" id="{80B1D0AF-ACD7-AD68-7194-8FDC3F1F000C}"/>
            </a:ext>
          </a:extLst>
        </p:cNvPr>
        <p:cNvGrpSpPr/>
        <p:nvPr/>
      </p:nvGrpSpPr>
      <p:grpSpPr>
        <a:xfrm>
          <a:off x="0" y="0"/>
          <a:ext cx="0" cy="0"/>
          <a:chOff x="0" y="0"/>
          <a:chExt cx="0" cy="0"/>
        </a:xfrm>
      </p:grpSpPr>
      <p:sp>
        <p:nvSpPr>
          <p:cNvPr id="419" name="Freeform: Shape 41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1" name="Freeform: Shape 42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4" name="Google Shape;414;p36">
            <a:extLst>
              <a:ext uri="{FF2B5EF4-FFF2-40B4-BE49-F238E27FC236}">
                <a16:creationId xmlns:a16="http://schemas.microsoft.com/office/drawing/2014/main" id="{C8EA5209-D748-B465-BECE-ABB202854B30}"/>
              </a:ext>
            </a:extLst>
          </p:cNvPr>
          <p:cNvSpPr txBox="1">
            <a:spLocks noGrp="1"/>
          </p:cNvSpPr>
          <p:nvPr>
            <p:ph type="title"/>
          </p:nvPr>
        </p:nvSpPr>
        <p:spPr>
          <a:xfrm>
            <a:off x="2555631" y="1441938"/>
            <a:ext cx="7080738" cy="3974124"/>
          </a:xfrm>
        </p:spPr>
        <p:txBody>
          <a:bodyPr spcFirstLastPara="1" vert="horz" lIns="91440" tIns="45720" rIns="91440" bIns="45720" rtlCol="0" anchor="ctr" anchorCtr="0">
            <a:normAutofit/>
          </a:bodyPr>
          <a:lstStyle/>
          <a:p>
            <a:pPr algn="ctr">
              <a:spcBef>
                <a:spcPct val="0"/>
              </a:spcBef>
            </a:pPr>
            <a:r>
              <a:rPr lang="en-US" sz="5400">
                <a:solidFill>
                  <a:schemeClr val="bg1">
                    <a:lumMod val="95000"/>
                    <a:lumOff val="5000"/>
                  </a:schemeClr>
                </a:solidFill>
              </a:rPr>
              <a:t>Evaluation</a:t>
            </a:r>
          </a:p>
        </p:txBody>
      </p:sp>
    </p:spTree>
    <p:extLst>
      <p:ext uri="{BB962C8B-B14F-4D97-AF65-F5344CB8AC3E}">
        <p14:creationId xmlns:p14="http://schemas.microsoft.com/office/powerpoint/2010/main" val="3956135537"/>
      </p:ext>
    </p:extLst>
  </p:cSld>
  <p:clrMapOvr>
    <a:overrideClrMapping bg1="dk1" tx1="lt1" bg2="dk2" tx2="lt2" accent1="accent1" accent2="accent2" accent3="accent3" accent4="accent4" accent5="accent5" accent6="accent6" hlink="hlink" folHlink="folHlink"/>
  </p:clrMapOvr>
  <p:transition spd="med">
    <p:push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14;p36">
            <a:extLst>
              <a:ext uri="{FF2B5EF4-FFF2-40B4-BE49-F238E27FC236}">
                <a16:creationId xmlns:a16="http://schemas.microsoft.com/office/drawing/2014/main" id="{2D33170C-EDAF-FA08-3FBA-5B30C9C20603}"/>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Multicast Service</a:t>
            </a:r>
          </a:p>
        </p:txBody>
      </p:sp>
      <p:pic>
        <p:nvPicPr>
          <p:cNvPr id="3" name="Picture 2">
            <a:extLst>
              <a:ext uri="{FF2B5EF4-FFF2-40B4-BE49-F238E27FC236}">
                <a16:creationId xmlns:a16="http://schemas.microsoft.com/office/drawing/2014/main" id="{1AB3DCAF-D365-8FA8-7C76-8E053B3594CF}"/>
              </a:ext>
            </a:extLst>
          </p:cNvPr>
          <p:cNvPicPr>
            <a:picLocks noChangeAspect="1"/>
          </p:cNvPicPr>
          <p:nvPr/>
        </p:nvPicPr>
        <p:blipFill>
          <a:blip r:embed="rId2"/>
          <a:stretch>
            <a:fillRect/>
          </a:stretch>
        </p:blipFill>
        <p:spPr>
          <a:xfrm>
            <a:off x="2240182" y="1231900"/>
            <a:ext cx="7283645" cy="5466684"/>
          </a:xfrm>
          <a:prstGeom prst="rect">
            <a:avLst/>
          </a:prstGeom>
        </p:spPr>
      </p:pic>
      <p:sp>
        <p:nvSpPr>
          <p:cNvPr id="2" name="Rectangle 1">
            <a:extLst>
              <a:ext uri="{FF2B5EF4-FFF2-40B4-BE49-F238E27FC236}">
                <a16:creationId xmlns:a16="http://schemas.microsoft.com/office/drawing/2014/main" id="{29092D2E-B316-79D5-D153-7CCACB2D0459}"/>
              </a:ext>
            </a:extLst>
          </p:cNvPr>
          <p:cNvSpPr/>
          <p:nvPr/>
        </p:nvSpPr>
        <p:spPr>
          <a:xfrm>
            <a:off x="3449053" y="1540042"/>
            <a:ext cx="5743073" cy="42351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5238213"/>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324C-357F-E382-CEFB-BB0C55C00D80}"/>
            </a:ext>
          </a:extLst>
        </p:cNvPr>
        <p:cNvGrpSpPr/>
        <p:nvPr/>
      </p:nvGrpSpPr>
      <p:grpSpPr>
        <a:xfrm>
          <a:off x="0" y="0"/>
          <a:ext cx="0" cy="0"/>
          <a:chOff x="0" y="0"/>
          <a:chExt cx="0" cy="0"/>
        </a:xfrm>
      </p:grpSpPr>
      <p:sp>
        <p:nvSpPr>
          <p:cNvPr id="5" name="Google Shape;414;p36">
            <a:extLst>
              <a:ext uri="{FF2B5EF4-FFF2-40B4-BE49-F238E27FC236}">
                <a16:creationId xmlns:a16="http://schemas.microsoft.com/office/drawing/2014/main" id="{13D2E114-A299-8630-03EF-90FE24AB1470}"/>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Multicast Service</a:t>
            </a:r>
          </a:p>
        </p:txBody>
      </p:sp>
      <p:pic>
        <p:nvPicPr>
          <p:cNvPr id="3" name="Picture 2">
            <a:extLst>
              <a:ext uri="{FF2B5EF4-FFF2-40B4-BE49-F238E27FC236}">
                <a16:creationId xmlns:a16="http://schemas.microsoft.com/office/drawing/2014/main" id="{25D73149-5170-2AF7-1F9E-862E6DBEB390}"/>
              </a:ext>
            </a:extLst>
          </p:cNvPr>
          <p:cNvPicPr>
            <a:picLocks noChangeAspect="1"/>
          </p:cNvPicPr>
          <p:nvPr/>
        </p:nvPicPr>
        <p:blipFill>
          <a:blip r:embed="rId2"/>
          <a:stretch>
            <a:fillRect/>
          </a:stretch>
        </p:blipFill>
        <p:spPr>
          <a:xfrm>
            <a:off x="2240182" y="1231900"/>
            <a:ext cx="7283645" cy="5466684"/>
          </a:xfrm>
          <a:prstGeom prst="rect">
            <a:avLst/>
          </a:prstGeom>
        </p:spPr>
      </p:pic>
    </p:spTree>
    <p:extLst>
      <p:ext uri="{BB962C8B-B14F-4D97-AF65-F5344CB8AC3E}">
        <p14:creationId xmlns:p14="http://schemas.microsoft.com/office/powerpoint/2010/main" val="2390327868"/>
      </p:ext>
    </p:extLst>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F150E-44D9-771A-0607-177C549803C1}"/>
            </a:ext>
          </a:extLst>
        </p:cNvPr>
        <p:cNvGrpSpPr/>
        <p:nvPr/>
      </p:nvGrpSpPr>
      <p:grpSpPr>
        <a:xfrm>
          <a:off x="0" y="0"/>
          <a:ext cx="0" cy="0"/>
          <a:chOff x="0" y="0"/>
          <a:chExt cx="0" cy="0"/>
        </a:xfrm>
      </p:grpSpPr>
      <p:sp>
        <p:nvSpPr>
          <p:cNvPr id="5" name="Google Shape;414;p36">
            <a:extLst>
              <a:ext uri="{FF2B5EF4-FFF2-40B4-BE49-F238E27FC236}">
                <a16:creationId xmlns:a16="http://schemas.microsoft.com/office/drawing/2014/main" id="{3C8C05E2-EA59-C9C3-C966-61103B6BDE78}"/>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Delivery Fairness</a:t>
            </a:r>
          </a:p>
        </p:txBody>
      </p:sp>
      <p:pic>
        <p:nvPicPr>
          <p:cNvPr id="3" name="Picture 2">
            <a:extLst>
              <a:ext uri="{FF2B5EF4-FFF2-40B4-BE49-F238E27FC236}">
                <a16:creationId xmlns:a16="http://schemas.microsoft.com/office/drawing/2014/main" id="{2743E37C-FEA6-5EDA-56FB-A1F3BC306599}"/>
              </a:ext>
            </a:extLst>
          </p:cNvPr>
          <p:cNvPicPr>
            <a:picLocks noChangeAspect="1"/>
          </p:cNvPicPr>
          <p:nvPr/>
        </p:nvPicPr>
        <p:blipFill>
          <a:blip r:embed="rId2"/>
          <a:stretch>
            <a:fillRect/>
          </a:stretch>
        </p:blipFill>
        <p:spPr>
          <a:xfrm>
            <a:off x="2296651" y="1356967"/>
            <a:ext cx="6664468" cy="5001965"/>
          </a:xfrm>
          <a:prstGeom prst="rect">
            <a:avLst/>
          </a:prstGeom>
        </p:spPr>
      </p:pic>
      <p:sp>
        <p:nvSpPr>
          <p:cNvPr id="2" name="Rectangle 1">
            <a:extLst>
              <a:ext uri="{FF2B5EF4-FFF2-40B4-BE49-F238E27FC236}">
                <a16:creationId xmlns:a16="http://schemas.microsoft.com/office/drawing/2014/main" id="{2D41E74B-4005-561A-2403-5AAFEF4EAF7F}"/>
              </a:ext>
            </a:extLst>
          </p:cNvPr>
          <p:cNvSpPr/>
          <p:nvPr/>
        </p:nvSpPr>
        <p:spPr>
          <a:xfrm>
            <a:off x="3368843" y="1700463"/>
            <a:ext cx="5325978" cy="3784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2250957"/>
      </p:ext>
    </p:extLst>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392E-647B-4AC8-4E60-41923313CE71}"/>
            </a:ext>
          </a:extLst>
        </p:cNvPr>
        <p:cNvGrpSpPr/>
        <p:nvPr/>
      </p:nvGrpSpPr>
      <p:grpSpPr>
        <a:xfrm>
          <a:off x="0" y="0"/>
          <a:ext cx="0" cy="0"/>
          <a:chOff x="0" y="0"/>
          <a:chExt cx="0" cy="0"/>
        </a:xfrm>
      </p:grpSpPr>
      <p:sp>
        <p:nvSpPr>
          <p:cNvPr id="5" name="Google Shape;414;p36">
            <a:extLst>
              <a:ext uri="{FF2B5EF4-FFF2-40B4-BE49-F238E27FC236}">
                <a16:creationId xmlns:a16="http://schemas.microsoft.com/office/drawing/2014/main" id="{AA979948-C33F-FE6D-B3A0-25478F9718DE}"/>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Delivery Fairness</a:t>
            </a:r>
          </a:p>
        </p:txBody>
      </p:sp>
      <p:pic>
        <p:nvPicPr>
          <p:cNvPr id="3" name="Picture 2">
            <a:extLst>
              <a:ext uri="{FF2B5EF4-FFF2-40B4-BE49-F238E27FC236}">
                <a16:creationId xmlns:a16="http://schemas.microsoft.com/office/drawing/2014/main" id="{640D47BE-E63A-DFB5-EA44-07C704ED450A}"/>
              </a:ext>
            </a:extLst>
          </p:cNvPr>
          <p:cNvPicPr>
            <a:picLocks noChangeAspect="1"/>
          </p:cNvPicPr>
          <p:nvPr/>
        </p:nvPicPr>
        <p:blipFill>
          <a:blip r:embed="rId2"/>
          <a:stretch>
            <a:fillRect/>
          </a:stretch>
        </p:blipFill>
        <p:spPr>
          <a:xfrm>
            <a:off x="2296651" y="1356967"/>
            <a:ext cx="6664468" cy="5001965"/>
          </a:xfrm>
          <a:prstGeom prst="rect">
            <a:avLst/>
          </a:prstGeom>
        </p:spPr>
      </p:pic>
    </p:spTree>
    <p:extLst>
      <p:ext uri="{BB962C8B-B14F-4D97-AF65-F5344CB8AC3E}">
        <p14:creationId xmlns:p14="http://schemas.microsoft.com/office/powerpoint/2010/main" val="2212520201"/>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5746D8E-662A-D44D-20A9-57CBD8DCFAF6}"/>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1BEF5BF6-9DE0-00C1-CA39-030DA7DB200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Gracefully Handles Bursts</a:t>
            </a:r>
            <a:endParaRPr dirty="0"/>
          </a:p>
        </p:txBody>
      </p:sp>
      <p:grpSp>
        <p:nvGrpSpPr>
          <p:cNvPr id="6" name="Group 5">
            <a:extLst>
              <a:ext uri="{FF2B5EF4-FFF2-40B4-BE49-F238E27FC236}">
                <a16:creationId xmlns:a16="http://schemas.microsoft.com/office/drawing/2014/main" id="{DFB01584-5488-16AC-0255-0E54D7E5998A}"/>
              </a:ext>
            </a:extLst>
          </p:cNvPr>
          <p:cNvGrpSpPr/>
          <p:nvPr/>
        </p:nvGrpSpPr>
        <p:grpSpPr>
          <a:xfrm>
            <a:off x="978285" y="1603513"/>
            <a:ext cx="9066047" cy="4661120"/>
            <a:chOff x="3158777" y="1759776"/>
            <a:chExt cx="8233973" cy="4116987"/>
          </a:xfrm>
        </p:grpSpPr>
        <p:pic>
          <p:nvPicPr>
            <p:cNvPr id="7" name="Picture 6">
              <a:extLst>
                <a:ext uri="{FF2B5EF4-FFF2-40B4-BE49-F238E27FC236}">
                  <a16:creationId xmlns:a16="http://schemas.microsoft.com/office/drawing/2014/main" id="{69E10A84-0F34-7E0D-C0C0-555ADBE2A1C4}"/>
                </a:ext>
              </a:extLst>
            </p:cNvPr>
            <p:cNvPicPr>
              <a:picLocks noChangeAspect="1"/>
            </p:cNvPicPr>
            <p:nvPr/>
          </p:nvPicPr>
          <p:blipFill>
            <a:blip r:embed="rId3"/>
            <a:stretch>
              <a:fillRect/>
            </a:stretch>
          </p:blipFill>
          <p:spPr>
            <a:xfrm>
              <a:off x="3158777" y="1759776"/>
              <a:ext cx="8233973" cy="4116987"/>
            </a:xfrm>
            <a:prstGeom prst="rect">
              <a:avLst/>
            </a:prstGeom>
            <a:noFill/>
            <a:ln>
              <a:noFill/>
            </a:ln>
          </p:spPr>
        </p:pic>
        <p:sp>
          <p:nvSpPr>
            <p:cNvPr id="8" name="TextBox 7">
              <a:extLst>
                <a:ext uri="{FF2B5EF4-FFF2-40B4-BE49-F238E27FC236}">
                  <a16:creationId xmlns:a16="http://schemas.microsoft.com/office/drawing/2014/main" id="{450B8BE5-53FC-4AA9-7ACA-8BFB560CB606}"/>
                </a:ext>
              </a:extLst>
            </p:cNvPr>
            <p:cNvSpPr txBox="1"/>
            <p:nvPr/>
          </p:nvSpPr>
          <p:spPr>
            <a:xfrm>
              <a:off x="8078566" y="2660068"/>
              <a:ext cx="2791137" cy="646331"/>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Load generation stops here</a:t>
              </a:r>
            </a:p>
          </p:txBody>
        </p:sp>
      </p:grpSp>
    </p:spTree>
    <p:extLst>
      <p:ext uri="{BB962C8B-B14F-4D97-AF65-F5344CB8AC3E}">
        <p14:creationId xmlns:p14="http://schemas.microsoft.com/office/powerpoint/2010/main" val="2572206837"/>
      </p:ext>
    </p:extLst>
  </p:cSld>
  <p:clrMapOvr>
    <a:masterClrMapping/>
  </p:clrMapOvr>
  <p:transition spd="med">
    <p:push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C63CDC99-24C8-C576-9029-DC6D11A88BE4}"/>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64D86A8B-3EB4-3261-C6AA-C3D1339D50E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Remarks</a:t>
            </a:r>
            <a:endParaRPr dirty="0"/>
          </a:p>
        </p:txBody>
      </p:sp>
      <p:sp>
        <p:nvSpPr>
          <p:cNvPr id="407" name="Google Shape;407;p35">
            <a:extLst>
              <a:ext uri="{FF2B5EF4-FFF2-40B4-BE49-F238E27FC236}">
                <a16:creationId xmlns:a16="http://schemas.microsoft.com/office/drawing/2014/main" id="{3F4CFC00-7700-B6A2-3AC2-16C917B5371A}"/>
              </a:ext>
            </a:extLst>
          </p:cNvPr>
          <p:cNvSpPr txBox="1">
            <a:spLocks noGrp="1"/>
          </p:cNvSpPr>
          <p:nvPr>
            <p:ph type="body" idx="1"/>
          </p:nvPr>
        </p:nvSpPr>
        <p:spPr>
          <a:xfrm>
            <a:off x="289476" y="1150491"/>
            <a:ext cx="5574190" cy="5501032"/>
          </a:xfrm>
          <a:prstGeom prst="rect">
            <a:avLst/>
          </a:prstGeom>
        </p:spPr>
        <p:txBody>
          <a:bodyPr spcFirstLastPara="1" wrap="square" lIns="121900" tIns="121900" rIns="121900" bIns="121900" anchor="t" anchorCtr="0">
            <a:noAutofit/>
          </a:bodyPr>
          <a:lstStyle/>
          <a:p>
            <a:pPr>
              <a:buChar char="-"/>
            </a:pPr>
            <a:r>
              <a:rPr lang="en-US" sz="3200" dirty="0"/>
              <a:t>Latency fairness in cloud financial exchanges can be realized using </a:t>
            </a:r>
            <a:br>
              <a:rPr lang="en-US" sz="3200" dirty="0"/>
            </a:br>
            <a:r>
              <a:rPr lang="en-US" sz="3200" dirty="0"/>
              <a:t>synchronized clocks</a:t>
            </a:r>
            <a:br>
              <a:rPr lang="en-US" sz="3200" dirty="0"/>
            </a:br>
            <a:endParaRPr lang="en-US" sz="3200" dirty="0"/>
          </a:p>
          <a:p>
            <a:pPr>
              <a:buChar char="-"/>
            </a:pPr>
            <a:r>
              <a:rPr lang="en-US" sz="3200" dirty="0"/>
              <a:t>Mechanisms for improving performance while </a:t>
            </a:r>
            <a:br>
              <a:rPr lang="en-US" sz="3200" dirty="0"/>
            </a:br>
            <a:r>
              <a:rPr lang="en-US" sz="3200" dirty="0"/>
              <a:t>retaining performance are also possible</a:t>
            </a:r>
            <a:br>
              <a:rPr lang="en-US" sz="3200" dirty="0"/>
            </a:br>
            <a:endParaRPr lang="en-US" sz="3200" dirty="0"/>
          </a:p>
          <a:p>
            <a:pPr>
              <a:buChar char="-"/>
            </a:pPr>
            <a:r>
              <a:rPr lang="en-US" sz="3200" dirty="0"/>
              <a:t>Such exchanges present a new operating point</a:t>
            </a:r>
          </a:p>
        </p:txBody>
      </p:sp>
      <p:pic>
        <p:nvPicPr>
          <p:cNvPr id="2" name="Picture 1">
            <a:extLst>
              <a:ext uri="{FF2B5EF4-FFF2-40B4-BE49-F238E27FC236}">
                <a16:creationId xmlns:a16="http://schemas.microsoft.com/office/drawing/2014/main" id="{4CCD7C0E-BE44-7BCF-001C-7FF80CFE607F}"/>
              </a:ext>
            </a:extLst>
          </p:cNvPr>
          <p:cNvPicPr>
            <a:picLocks noChangeAspect="1"/>
          </p:cNvPicPr>
          <p:nvPr/>
        </p:nvPicPr>
        <p:blipFill>
          <a:blip r:embed="rId3"/>
          <a:stretch>
            <a:fillRect/>
          </a:stretch>
        </p:blipFill>
        <p:spPr>
          <a:xfrm>
            <a:off x="5737542" y="1356967"/>
            <a:ext cx="6397318" cy="3598491"/>
          </a:xfrm>
          <a:prstGeom prst="rect">
            <a:avLst/>
          </a:prstGeom>
        </p:spPr>
      </p:pic>
    </p:spTree>
    <p:extLst>
      <p:ext uri="{BB962C8B-B14F-4D97-AF65-F5344CB8AC3E}">
        <p14:creationId xmlns:p14="http://schemas.microsoft.com/office/powerpoint/2010/main" val="730626841"/>
      </p:ext>
    </p:extLst>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AB378-7859-6A20-47CD-677676875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1EAEB-5CE1-6152-5D7A-D07BED5028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71B675-7E39-1575-54A5-CF327E90AB92}"/>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A64DDF82-2C65-10B6-9280-ADE673DA4B43}"/>
              </a:ext>
            </a:extLst>
          </p:cNvPr>
          <p:cNvSpPr/>
          <p:nvPr/>
        </p:nvSpPr>
        <p:spPr>
          <a:xfrm>
            <a:off x="-210532" y="-296945"/>
            <a:ext cx="12613064" cy="7282206"/>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5279650"/>
      </p:ext>
    </p:extLst>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3C3834-5FF7-E139-E0B7-538FE1121884}"/>
              </a:ext>
            </a:extLst>
          </p:cNvPr>
          <p:cNvSpPr>
            <a:spLocks noGrp="1"/>
          </p:cNvSpPr>
          <p:nvPr>
            <p:ph type="ctrTitle"/>
          </p:nvPr>
        </p:nvSpPr>
        <p:spPr>
          <a:xfrm>
            <a:off x="1524000" y="1305782"/>
            <a:ext cx="9144000" cy="2387600"/>
          </a:xfrm>
        </p:spPr>
        <p:txBody>
          <a:bodyPr>
            <a:normAutofit/>
          </a:bodyPr>
          <a:lstStyle/>
          <a:p>
            <a:r>
              <a:rPr lang="en-US" sz="72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Probabilistic Fair Order of Events</a:t>
            </a:r>
            <a:endParaRPr lang="en-US" sz="7200" dirty="0"/>
          </a:p>
        </p:txBody>
      </p:sp>
      <p:sp>
        <p:nvSpPr>
          <p:cNvPr id="15" name="TextBox 14">
            <a:extLst>
              <a:ext uri="{FF2B5EF4-FFF2-40B4-BE49-F238E27FC236}">
                <a16:creationId xmlns:a16="http://schemas.microsoft.com/office/drawing/2014/main" id="{E8BC87CD-6594-D550-6B16-8E2B98C16BD8}"/>
              </a:ext>
            </a:extLst>
          </p:cNvPr>
          <p:cNvSpPr txBox="1"/>
          <p:nvPr/>
        </p:nvSpPr>
        <p:spPr>
          <a:xfrm>
            <a:off x="2122844" y="4073748"/>
            <a:ext cx="7983415" cy="830997"/>
          </a:xfrm>
          <a:prstGeom prst="rect">
            <a:avLst/>
          </a:prstGeom>
          <a:noFill/>
        </p:spPr>
        <p:txBody>
          <a:bodyPr wrap="square" rtlCol="0">
            <a:spAutoFit/>
          </a:bodyPr>
          <a:lstStyle/>
          <a:p>
            <a:pPr algn="ctr"/>
            <a:r>
              <a:rPr lang="en-US" sz="2400" dirty="0"/>
              <a:t>Muhammad Haseeb, Jinkun Geng, Aurojit Panda, Radhika Mittal, Nirav Atre, Srinivas Narayana, Anirudh Sivaraman</a:t>
            </a:r>
          </a:p>
        </p:txBody>
      </p:sp>
      <p:sp>
        <p:nvSpPr>
          <p:cNvPr id="16" name="TextBox 15">
            <a:extLst>
              <a:ext uri="{FF2B5EF4-FFF2-40B4-BE49-F238E27FC236}">
                <a16:creationId xmlns:a16="http://schemas.microsoft.com/office/drawing/2014/main" id="{F501DE95-D977-3B4A-B70F-2BCD6C9E7D70}"/>
              </a:ext>
            </a:extLst>
          </p:cNvPr>
          <p:cNvSpPr txBox="1"/>
          <p:nvPr/>
        </p:nvSpPr>
        <p:spPr>
          <a:xfrm>
            <a:off x="2269947" y="5030374"/>
            <a:ext cx="7983415" cy="461665"/>
          </a:xfrm>
          <a:prstGeom prst="rect">
            <a:avLst/>
          </a:prstGeom>
          <a:noFill/>
        </p:spPr>
        <p:txBody>
          <a:bodyPr wrap="square" rtlCol="0">
            <a:spAutoFit/>
          </a:bodyPr>
          <a:lstStyle/>
          <a:p>
            <a:pPr algn="ctr"/>
            <a:r>
              <a:rPr lang="en-US" sz="2400" dirty="0"/>
              <a:t>NYU,  UIUC,  Rutgers University, Jane Street</a:t>
            </a:r>
          </a:p>
        </p:txBody>
      </p:sp>
      <p:pic>
        <p:nvPicPr>
          <p:cNvPr id="4" name="Graphic 3" descr="Torch with solid fill">
            <a:extLst>
              <a:ext uri="{FF2B5EF4-FFF2-40B4-BE49-F238E27FC236}">
                <a16:creationId xmlns:a16="http://schemas.microsoft.com/office/drawing/2014/main" id="{1AB0B4E7-1BBF-208E-1F55-74AD143589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34973" y="4017401"/>
            <a:ext cx="261486" cy="261486"/>
          </a:xfrm>
          <a:prstGeom prst="rect">
            <a:avLst/>
          </a:prstGeom>
        </p:spPr>
      </p:pic>
      <p:pic>
        <p:nvPicPr>
          <p:cNvPr id="6" name="Graphic 5" descr="Torch with solid fill">
            <a:extLst>
              <a:ext uri="{FF2B5EF4-FFF2-40B4-BE49-F238E27FC236}">
                <a16:creationId xmlns:a16="http://schemas.microsoft.com/office/drawing/2014/main" id="{E91402EA-0BB2-D4C6-F31B-2F065BFDDF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7581" y="3984514"/>
            <a:ext cx="261486" cy="261486"/>
          </a:xfrm>
          <a:prstGeom prst="rect">
            <a:avLst/>
          </a:prstGeom>
        </p:spPr>
      </p:pic>
      <p:pic>
        <p:nvPicPr>
          <p:cNvPr id="8" name="Graphic 7" descr="Torch with solid fill">
            <a:extLst>
              <a:ext uri="{FF2B5EF4-FFF2-40B4-BE49-F238E27FC236}">
                <a16:creationId xmlns:a16="http://schemas.microsoft.com/office/drawing/2014/main" id="{ECA733C9-57DB-5A21-EBF3-8CF9C56708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0693" y="3951065"/>
            <a:ext cx="261486" cy="261486"/>
          </a:xfrm>
          <a:prstGeom prst="rect">
            <a:avLst/>
          </a:prstGeom>
        </p:spPr>
      </p:pic>
      <p:pic>
        <p:nvPicPr>
          <p:cNvPr id="10" name="Graphic 9" descr="Torch with solid fill">
            <a:extLst>
              <a:ext uri="{FF2B5EF4-FFF2-40B4-BE49-F238E27FC236}">
                <a16:creationId xmlns:a16="http://schemas.microsoft.com/office/drawing/2014/main" id="{3661746E-2D01-EBC5-09CC-85795A72AC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60567" y="4419362"/>
            <a:ext cx="261486" cy="261486"/>
          </a:xfrm>
          <a:prstGeom prst="rect">
            <a:avLst/>
          </a:prstGeom>
        </p:spPr>
      </p:pic>
      <p:pic>
        <p:nvPicPr>
          <p:cNvPr id="14" name="Graphic 13" descr="Torch with solid fill">
            <a:extLst>
              <a:ext uri="{FF2B5EF4-FFF2-40B4-BE49-F238E27FC236}">
                <a16:creationId xmlns:a16="http://schemas.microsoft.com/office/drawing/2014/main" id="{26D4CEFF-F807-73B5-223D-0F7358CB76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24527" y="4924518"/>
            <a:ext cx="261486" cy="261486"/>
          </a:xfrm>
          <a:prstGeom prst="rect">
            <a:avLst/>
          </a:prstGeom>
        </p:spPr>
      </p:pic>
      <p:pic>
        <p:nvPicPr>
          <p:cNvPr id="21" name="Graphic 20" descr="Pegasus with solid fill">
            <a:extLst>
              <a:ext uri="{FF2B5EF4-FFF2-40B4-BE49-F238E27FC236}">
                <a16:creationId xmlns:a16="http://schemas.microsoft.com/office/drawing/2014/main" id="{554FB99E-8A76-46FF-EAAA-E80F302007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3623" y="4429360"/>
            <a:ext cx="195712" cy="195712"/>
          </a:xfrm>
          <a:prstGeom prst="rect">
            <a:avLst/>
          </a:prstGeom>
        </p:spPr>
      </p:pic>
      <p:pic>
        <p:nvPicPr>
          <p:cNvPr id="22" name="Graphic 21" descr="Pegasus with solid fill">
            <a:extLst>
              <a:ext uri="{FF2B5EF4-FFF2-40B4-BE49-F238E27FC236}">
                <a16:creationId xmlns:a16="http://schemas.microsoft.com/office/drawing/2014/main" id="{658AF386-03A8-D68F-C078-CD41AF8A39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41731" y="4990292"/>
            <a:ext cx="195712" cy="195712"/>
          </a:xfrm>
          <a:prstGeom prst="rect">
            <a:avLst/>
          </a:prstGeom>
        </p:spPr>
      </p:pic>
      <p:pic>
        <p:nvPicPr>
          <p:cNvPr id="24" name="Graphic 23" descr="Crown with solid fill">
            <a:extLst>
              <a:ext uri="{FF2B5EF4-FFF2-40B4-BE49-F238E27FC236}">
                <a16:creationId xmlns:a16="http://schemas.microsoft.com/office/drawing/2014/main" id="{39BF8717-4529-4229-940F-5E88B2BD77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53344" y="4398722"/>
            <a:ext cx="195712" cy="195712"/>
          </a:xfrm>
          <a:prstGeom prst="rect">
            <a:avLst/>
          </a:prstGeom>
        </p:spPr>
      </p:pic>
      <p:pic>
        <p:nvPicPr>
          <p:cNvPr id="25" name="Graphic 24" descr="Crown with solid fill">
            <a:extLst>
              <a:ext uri="{FF2B5EF4-FFF2-40B4-BE49-F238E27FC236}">
                <a16:creationId xmlns:a16="http://schemas.microsoft.com/office/drawing/2014/main" id="{89F0D3AD-5F67-0855-CC94-714EAF2508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34973" y="4990292"/>
            <a:ext cx="195712" cy="195712"/>
          </a:xfrm>
          <a:prstGeom prst="rect">
            <a:avLst/>
          </a:prstGeom>
        </p:spPr>
      </p:pic>
      <p:sp>
        <p:nvSpPr>
          <p:cNvPr id="26" name="TextBox 25">
            <a:extLst>
              <a:ext uri="{FF2B5EF4-FFF2-40B4-BE49-F238E27FC236}">
                <a16:creationId xmlns:a16="http://schemas.microsoft.com/office/drawing/2014/main" id="{1E446CBC-202E-7078-CACD-27C4AEA503F7}"/>
              </a:ext>
            </a:extLst>
          </p:cNvPr>
          <p:cNvSpPr txBox="1"/>
          <p:nvPr/>
        </p:nvSpPr>
        <p:spPr>
          <a:xfrm>
            <a:off x="3251200" y="5434149"/>
            <a:ext cx="5483726" cy="369332"/>
          </a:xfrm>
          <a:prstGeom prst="rect">
            <a:avLst/>
          </a:prstGeom>
          <a:solidFill>
            <a:schemeClr val="bg1"/>
          </a:solidFill>
        </p:spPr>
        <p:txBody>
          <a:bodyPr wrap="square" rtlCol="0">
            <a:spAutoFit/>
          </a:bodyPr>
          <a:lstStyle/>
          <a:p>
            <a:endParaRPr lang="en-US" dirty="0"/>
          </a:p>
        </p:txBody>
      </p:sp>
      <p:pic>
        <p:nvPicPr>
          <p:cNvPr id="17" name="Graphic 16" descr="Palm tree with solid fill">
            <a:extLst>
              <a:ext uri="{FF2B5EF4-FFF2-40B4-BE49-F238E27FC236}">
                <a16:creationId xmlns:a16="http://schemas.microsoft.com/office/drawing/2014/main" id="{661BDCBC-C542-804C-246E-422C51735C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14739" y="4914351"/>
            <a:ext cx="271653" cy="271653"/>
          </a:xfrm>
          <a:prstGeom prst="rect">
            <a:avLst/>
          </a:prstGeom>
        </p:spPr>
      </p:pic>
      <p:pic>
        <p:nvPicPr>
          <p:cNvPr id="18" name="Graphic 17" descr="Palm tree with solid fill">
            <a:extLst>
              <a:ext uri="{FF2B5EF4-FFF2-40B4-BE49-F238E27FC236}">
                <a16:creationId xmlns:a16="http://schemas.microsoft.com/office/drawing/2014/main" id="{67292B36-615A-5218-5F0C-97C94FB969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16335" y="4353419"/>
            <a:ext cx="271653" cy="271653"/>
          </a:xfrm>
          <a:prstGeom prst="rect">
            <a:avLst/>
          </a:prstGeom>
        </p:spPr>
      </p:pic>
    </p:spTree>
    <p:extLst>
      <p:ext uri="{BB962C8B-B14F-4D97-AF65-F5344CB8AC3E}">
        <p14:creationId xmlns:p14="http://schemas.microsoft.com/office/powerpoint/2010/main" val="3893071349"/>
      </p:ext>
    </p:extLst>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79F9-2E62-8239-0CA0-1BC333D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DD0D-C2A0-514E-9283-CEC4A187B8C5}"/>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F7E10220-F9FD-2DA6-3F41-1CA1426561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5526" y="2050689"/>
            <a:ext cx="2760519" cy="2760519"/>
          </a:xfrm>
          <a:prstGeom prst="rect">
            <a:avLst/>
          </a:prstGeom>
        </p:spPr>
      </p:pic>
    </p:spTree>
    <p:extLst>
      <p:ext uri="{BB962C8B-B14F-4D97-AF65-F5344CB8AC3E}">
        <p14:creationId xmlns:p14="http://schemas.microsoft.com/office/powerpoint/2010/main" val="4055813914"/>
      </p:ext>
    </p:extLst>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8DBA-EDBD-E3E0-4F1C-519C9B7D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E546F-BF65-FA74-EA2D-F158A58F99F6}"/>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B557F74D-ED46-E285-F642-2CB94C47CF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6714079B-4348-3DE5-27D6-EBB0F747EC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48F3121-D9B7-3858-F89A-0AFFB7F097D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0C78D743-0D63-5BC5-3661-FD4F74E79A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51" y="2073198"/>
            <a:ext cx="1325562" cy="1325562"/>
          </a:xfrm>
          <a:prstGeom prst="rect">
            <a:avLst/>
          </a:prstGeom>
        </p:spPr>
      </p:pic>
      <p:pic>
        <p:nvPicPr>
          <p:cNvPr id="8" name="Graphic 7" descr="Head with gears with solid fill">
            <a:extLst>
              <a:ext uri="{FF2B5EF4-FFF2-40B4-BE49-F238E27FC236}">
                <a16:creationId xmlns:a16="http://schemas.microsoft.com/office/drawing/2014/main" id="{59C193E1-7AB9-AAB1-C73C-44489D093F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5114177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1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1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1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1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9BBE-72FA-B172-BA93-AC2155D1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CD2A-7F51-F988-4A7C-A4510581EBD2}"/>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05675F9B-60F2-9B0C-70AD-A7FBDB4441D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F49B5A4D-B2D5-61B2-A78F-29FF6F4A06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A10C5BBA-F8B7-2266-A081-D924D374ED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B60B992C-341D-AB67-CC16-9323B9570F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5C5D49E1-FC73-14BA-D077-1B03A2B75F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5897" y="1233488"/>
            <a:ext cx="914400" cy="914400"/>
          </a:xfrm>
          <a:prstGeom prst="rect">
            <a:avLst/>
          </a:prstGeom>
        </p:spPr>
      </p:pic>
      <p:pic>
        <p:nvPicPr>
          <p:cNvPr id="18" name="Graphic 17" descr="Coins with solid fill">
            <a:extLst>
              <a:ext uri="{FF2B5EF4-FFF2-40B4-BE49-F238E27FC236}">
                <a16:creationId xmlns:a16="http://schemas.microsoft.com/office/drawing/2014/main" id="{0C543CD7-E12B-3C4F-14DE-E93BFC384B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6200" y="3726874"/>
            <a:ext cx="914400" cy="914400"/>
          </a:xfrm>
          <a:prstGeom prst="rect">
            <a:avLst/>
          </a:prstGeom>
        </p:spPr>
      </p:pic>
      <p:pic>
        <p:nvPicPr>
          <p:cNvPr id="19" name="Graphic 18" descr="Coins with solid fill">
            <a:extLst>
              <a:ext uri="{FF2B5EF4-FFF2-40B4-BE49-F238E27FC236}">
                <a16:creationId xmlns:a16="http://schemas.microsoft.com/office/drawing/2014/main" id="{7EE0C082-B571-BFC6-F723-E1236BBABF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24085" y="2480181"/>
            <a:ext cx="914400" cy="914400"/>
          </a:xfrm>
          <a:prstGeom prst="rect">
            <a:avLst/>
          </a:prstGeom>
        </p:spPr>
      </p:pic>
      <p:pic>
        <p:nvPicPr>
          <p:cNvPr id="20" name="Graphic 19" descr="Coins with solid fill">
            <a:extLst>
              <a:ext uri="{FF2B5EF4-FFF2-40B4-BE49-F238E27FC236}">
                <a16:creationId xmlns:a16="http://schemas.microsoft.com/office/drawing/2014/main" id="{3C2E0B11-9EBA-CCBA-A6FB-49FF46BDE4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6200" y="5041612"/>
            <a:ext cx="914400" cy="914400"/>
          </a:xfrm>
          <a:prstGeom prst="rect">
            <a:avLst/>
          </a:prstGeom>
        </p:spPr>
      </p:pic>
      <p:pic>
        <p:nvPicPr>
          <p:cNvPr id="21" name="Graphic 20" descr="Head with gears with solid fill">
            <a:extLst>
              <a:ext uri="{FF2B5EF4-FFF2-40B4-BE49-F238E27FC236}">
                <a16:creationId xmlns:a16="http://schemas.microsoft.com/office/drawing/2014/main" id="{13CDDF7D-7FB2-B412-31F8-CCF5418BE59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4028250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BAA2-49D5-696E-5E79-4FD8B4D68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D32B3-77E5-8368-AACD-C994B0C4B03B}"/>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804706E6-7140-7FB4-263D-A07F4ECE59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A92473BC-8FE4-3F08-FD96-85C16166B1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07B8E88-FD12-0994-8CB2-1D582CB750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E14C2B8F-FE57-0C1A-D5A4-334E208F7B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51" y="2073198"/>
            <a:ext cx="1325562" cy="1325562"/>
          </a:xfrm>
          <a:prstGeom prst="rect">
            <a:avLst/>
          </a:prstGeom>
        </p:spPr>
      </p:pic>
      <p:pic>
        <p:nvPicPr>
          <p:cNvPr id="9" name="Graphic 8" descr="Head with gears with solid fill">
            <a:extLst>
              <a:ext uri="{FF2B5EF4-FFF2-40B4-BE49-F238E27FC236}">
                <a16:creationId xmlns:a16="http://schemas.microsoft.com/office/drawing/2014/main" id="{61C790B3-126D-41E0-B7AC-5D62B7C771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71915" y="5016716"/>
            <a:ext cx="1133962" cy="1133962"/>
          </a:xfrm>
          <a:prstGeom prst="rect">
            <a:avLst/>
          </a:prstGeom>
        </p:spPr>
      </p:pic>
      <p:sp>
        <p:nvSpPr>
          <p:cNvPr id="11" name="Rounded Rectangle 10">
            <a:extLst>
              <a:ext uri="{FF2B5EF4-FFF2-40B4-BE49-F238E27FC236}">
                <a16:creationId xmlns:a16="http://schemas.microsoft.com/office/drawing/2014/main" id="{74BE8875-5FE5-9DC5-21A3-35CBC30A7632}"/>
              </a:ext>
            </a:extLst>
          </p:cNvPr>
          <p:cNvSpPr/>
          <p:nvPr/>
        </p:nvSpPr>
        <p:spPr>
          <a:xfrm>
            <a:off x="4093210" y="150434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1 share, 4 buyers</a:t>
            </a:r>
          </a:p>
        </p:txBody>
      </p:sp>
      <p:sp>
        <p:nvSpPr>
          <p:cNvPr id="12" name="Rounded Rectangle 11">
            <a:extLst>
              <a:ext uri="{FF2B5EF4-FFF2-40B4-BE49-F238E27FC236}">
                <a16:creationId xmlns:a16="http://schemas.microsoft.com/office/drawing/2014/main" id="{AF2FE911-F778-682B-6D73-ACFA24E5FAC2}"/>
              </a:ext>
            </a:extLst>
          </p:cNvPr>
          <p:cNvSpPr/>
          <p:nvPr/>
        </p:nvSpPr>
        <p:spPr>
          <a:xfrm>
            <a:off x="4093210" y="298656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Who gets to buy?</a:t>
            </a:r>
          </a:p>
        </p:txBody>
      </p:sp>
      <p:sp>
        <p:nvSpPr>
          <p:cNvPr id="14" name="Rounded Rectangle 13">
            <a:extLst>
              <a:ext uri="{FF2B5EF4-FFF2-40B4-BE49-F238E27FC236}">
                <a16:creationId xmlns:a16="http://schemas.microsoft.com/office/drawing/2014/main" id="{2D8EAB7D-7673-0A52-9E1E-9024D662074D}"/>
              </a:ext>
            </a:extLst>
          </p:cNvPr>
          <p:cNvSpPr/>
          <p:nvPr/>
        </p:nvSpPr>
        <p:spPr>
          <a:xfrm>
            <a:off x="4126714" y="4468784"/>
            <a:ext cx="3463637" cy="1024803"/>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whoever asked first!</a:t>
            </a:r>
          </a:p>
        </p:txBody>
      </p:sp>
      <p:pic>
        <p:nvPicPr>
          <p:cNvPr id="15" name="Graphic 14" descr="Coins with solid fill">
            <a:extLst>
              <a:ext uri="{FF2B5EF4-FFF2-40B4-BE49-F238E27FC236}">
                <a16:creationId xmlns:a16="http://schemas.microsoft.com/office/drawing/2014/main" id="{35F47457-E2B9-11C8-A1B0-7DF411E74E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4683" y="4303538"/>
            <a:ext cx="914400" cy="914400"/>
          </a:xfrm>
          <a:prstGeom prst="rect">
            <a:avLst/>
          </a:prstGeom>
        </p:spPr>
      </p:pic>
      <p:pic>
        <p:nvPicPr>
          <p:cNvPr id="16" name="Graphic 15" descr="Coins with solid fill">
            <a:extLst>
              <a:ext uri="{FF2B5EF4-FFF2-40B4-BE49-F238E27FC236}">
                <a16:creationId xmlns:a16="http://schemas.microsoft.com/office/drawing/2014/main" id="{E0F40736-9FA1-3385-DEDA-BA110298E1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5206" y="4616660"/>
            <a:ext cx="914400" cy="914400"/>
          </a:xfrm>
          <a:prstGeom prst="rect">
            <a:avLst/>
          </a:prstGeom>
        </p:spPr>
      </p:pic>
      <p:pic>
        <p:nvPicPr>
          <p:cNvPr id="17" name="Graphic 16" descr="Coins with solid fill">
            <a:extLst>
              <a:ext uri="{FF2B5EF4-FFF2-40B4-BE49-F238E27FC236}">
                <a16:creationId xmlns:a16="http://schemas.microsoft.com/office/drawing/2014/main" id="{4010B577-E1AD-791E-A520-B290CCA2637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78182" y="4579187"/>
            <a:ext cx="914400" cy="914400"/>
          </a:xfrm>
          <a:prstGeom prst="rect">
            <a:avLst/>
          </a:prstGeom>
        </p:spPr>
      </p:pic>
      <p:pic>
        <p:nvPicPr>
          <p:cNvPr id="21" name="Graphic 20" descr="Coins with solid fill">
            <a:extLst>
              <a:ext uri="{FF2B5EF4-FFF2-40B4-BE49-F238E27FC236}">
                <a16:creationId xmlns:a16="http://schemas.microsoft.com/office/drawing/2014/main" id="{18163241-34A9-9B64-4E9C-CB3A08176F4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09606" y="5030854"/>
            <a:ext cx="914400" cy="914400"/>
          </a:xfrm>
          <a:prstGeom prst="rect">
            <a:avLst/>
          </a:prstGeom>
        </p:spPr>
      </p:pic>
    </p:spTree>
    <p:extLst>
      <p:ext uri="{BB962C8B-B14F-4D97-AF65-F5344CB8AC3E}">
        <p14:creationId xmlns:p14="http://schemas.microsoft.com/office/powerpoint/2010/main" val="117967327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2BF5-3015-D126-2799-1281798A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F751-6B8B-47A8-38C2-14DA7EDA8B9C}"/>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763ADF05-A92F-8F33-CDBF-32658D487B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1204A95F-8644-A11D-66BA-A7F77A63C9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E6806E34-1994-1032-9DF6-4D6F18656C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6306CEE3-B920-4472-B56E-A4FA29F006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9BDBF1A2-F83E-4662-7812-48D08B377F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4683" y="4303538"/>
            <a:ext cx="914400" cy="914400"/>
          </a:xfrm>
          <a:prstGeom prst="rect">
            <a:avLst/>
          </a:prstGeom>
        </p:spPr>
      </p:pic>
      <p:pic>
        <p:nvPicPr>
          <p:cNvPr id="18" name="Graphic 17" descr="Coins with solid fill">
            <a:extLst>
              <a:ext uri="{FF2B5EF4-FFF2-40B4-BE49-F238E27FC236}">
                <a16:creationId xmlns:a16="http://schemas.microsoft.com/office/drawing/2014/main" id="{00BA45E6-65FC-EE9D-562C-7656E86B693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5206" y="4616660"/>
            <a:ext cx="914400" cy="914400"/>
          </a:xfrm>
          <a:prstGeom prst="rect">
            <a:avLst/>
          </a:prstGeom>
        </p:spPr>
      </p:pic>
      <p:pic>
        <p:nvPicPr>
          <p:cNvPr id="19" name="Graphic 18" descr="Coins with solid fill">
            <a:extLst>
              <a:ext uri="{FF2B5EF4-FFF2-40B4-BE49-F238E27FC236}">
                <a16:creationId xmlns:a16="http://schemas.microsoft.com/office/drawing/2014/main" id="{61637A50-1F56-9708-958E-32EE0A3480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78182" y="4579187"/>
            <a:ext cx="914400" cy="914400"/>
          </a:xfrm>
          <a:prstGeom prst="rect">
            <a:avLst/>
          </a:prstGeom>
        </p:spPr>
      </p:pic>
      <p:pic>
        <p:nvPicPr>
          <p:cNvPr id="20" name="Graphic 19" descr="Coins with solid fill">
            <a:extLst>
              <a:ext uri="{FF2B5EF4-FFF2-40B4-BE49-F238E27FC236}">
                <a16:creationId xmlns:a16="http://schemas.microsoft.com/office/drawing/2014/main" id="{5D21E5F1-9028-51CE-CAA1-1CCC9B754E9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09606" y="5030854"/>
            <a:ext cx="914400" cy="914400"/>
          </a:xfrm>
          <a:prstGeom prst="rect">
            <a:avLst/>
          </a:prstGeom>
        </p:spPr>
      </p:pic>
      <p:pic>
        <p:nvPicPr>
          <p:cNvPr id="9" name="Graphic 8" descr="Head with gears with solid fill">
            <a:extLst>
              <a:ext uri="{FF2B5EF4-FFF2-40B4-BE49-F238E27FC236}">
                <a16:creationId xmlns:a16="http://schemas.microsoft.com/office/drawing/2014/main" id="{78C82B5A-FD9B-0AD2-CA57-ED29DE40B2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71915" y="5016716"/>
            <a:ext cx="1133962" cy="1133962"/>
          </a:xfrm>
          <a:prstGeom prst="rect">
            <a:avLst/>
          </a:prstGeom>
        </p:spPr>
      </p:pic>
      <p:sp>
        <p:nvSpPr>
          <p:cNvPr id="14" name="Rounded Rectangle 13">
            <a:extLst>
              <a:ext uri="{FF2B5EF4-FFF2-40B4-BE49-F238E27FC236}">
                <a16:creationId xmlns:a16="http://schemas.microsoft.com/office/drawing/2014/main" id="{A4FF3DAD-CAB3-CE75-7E3C-A5924B0BA599}"/>
              </a:ext>
            </a:extLst>
          </p:cNvPr>
          <p:cNvSpPr/>
          <p:nvPr/>
        </p:nvSpPr>
        <p:spPr>
          <a:xfrm>
            <a:off x="3526472" y="1497331"/>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whoever asked first!</a:t>
            </a:r>
          </a:p>
        </p:txBody>
      </p:sp>
      <p:sp>
        <p:nvSpPr>
          <p:cNvPr id="16" name="Rounded Rectangle 15">
            <a:extLst>
              <a:ext uri="{FF2B5EF4-FFF2-40B4-BE49-F238E27FC236}">
                <a16:creationId xmlns:a16="http://schemas.microsoft.com/office/drawing/2014/main" id="{3887983B-C5B4-84EC-7B7F-4EA9A0AC10E3}"/>
              </a:ext>
            </a:extLst>
          </p:cNvPr>
          <p:cNvSpPr/>
          <p:nvPr/>
        </p:nvSpPr>
        <p:spPr>
          <a:xfrm>
            <a:off x="3526473" y="4509210"/>
            <a:ext cx="4719902" cy="138549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tx1"/>
                </a:solidFill>
              </a:rPr>
              <a:t>Fair Ordering</a:t>
            </a:r>
          </a:p>
        </p:txBody>
      </p:sp>
      <p:sp>
        <p:nvSpPr>
          <p:cNvPr id="8" name="Rounded Rectangle 7">
            <a:extLst>
              <a:ext uri="{FF2B5EF4-FFF2-40B4-BE49-F238E27FC236}">
                <a16:creationId xmlns:a16="http://schemas.microsoft.com/office/drawing/2014/main" id="{DA0FE26F-584E-DD18-BBB1-C766503C22F2}"/>
              </a:ext>
            </a:extLst>
          </p:cNvPr>
          <p:cNvSpPr/>
          <p:nvPr/>
        </p:nvSpPr>
        <p:spPr>
          <a:xfrm>
            <a:off x="3552498" y="2977976"/>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How do we know that?</a:t>
            </a:r>
          </a:p>
        </p:txBody>
      </p:sp>
    </p:spTree>
    <p:extLst>
      <p:ext uri="{BB962C8B-B14F-4D97-AF65-F5344CB8AC3E}">
        <p14:creationId xmlns:p14="http://schemas.microsoft.com/office/powerpoint/2010/main" val="37656171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D4A5-D651-D3C3-8649-9CFAF466793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F2C8FC84-EAAD-1221-F163-436F2202A9B9}"/>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065C38A0-9F02-76CC-4131-A053426E3F8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generation order!</a:t>
            </a:r>
          </a:p>
        </p:txBody>
      </p:sp>
    </p:spTree>
    <p:extLst>
      <p:ext uri="{BB962C8B-B14F-4D97-AF65-F5344CB8AC3E}">
        <p14:creationId xmlns:p14="http://schemas.microsoft.com/office/powerpoint/2010/main" val="64969723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8EE5-9896-D219-FEFD-BAB86FD7ABF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8BBBCEB2-26A3-658D-F231-989E202F3652}"/>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7306A10E-A842-A905-2E58-FFDC77A561A4}"/>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373626993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6C3F-E0D9-CCF6-6EDC-344EF354F073}"/>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16C38AD-286E-6BEC-587F-0F0AFC41FBD4}"/>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D1C8C80E-324D-EB67-6265-070A904E6CE6}"/>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1A839E66-BEA0-81BA-8867-ABFBBB3E57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9C149CE8-66E3-F44F-0903-02D7D13A77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43E9C66-54D7-DEF4-080C-83D218B7C9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4167224"/>
            <a:ext cx="914400" cy="914400"/>
          </a:xfrm>
          <a:prstGeom prst="rect">
            <a:avLst/>
          </a:prstGeom>
        </p:spPr>
      </p:pic>
      <p:sp>
        <p:nvSpPr>
          <p:cNvPr id="7" name="TextBox 6">
            <a:extLst>
              <a:ext uri="{FF2B5EF4-FFF2-40B4-BE49-F238E27FC236}">
                <a16:creationId xmlns:a16="http://schemas.microsoft.com/office/drawing/2014/main" id="{CFE37185-24A6-CA4E-3DEB-53A208302930}"/>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tightly synchronized clocks</a:t>
            </a:r>
          </a:p>
        </p:txBody>
      </p:sp>
      <p:sp>
        <p:nvSpPr>
          <p:cNvPr id="8" name="Rounded Rectangle 7">
            <a:extLst>
              <a:ext uri="{FF2B5EF4-FFF2-40B4-BE49-F238E27FC236}">
                <a16:creationId xmlns:a16="http://schemas.microsoft.com/office/drawing/2014/main" id="{E4EA5CE6-A8B0-2532-7CE6-430D07B011BA}"/>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Tree>
    <p:extLst>
      <p:ext uri="{BB962C8B-B14F-4D97-AF65-F5344CB8AC3E}">
        <p14:creationId xmlns:p14="http://schemas.microsoft.com/office/powerpoint/2010/main" val="212660086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029D-4069-17CF-D434-22F57DDB882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9FC8D823-2CE1-F25E-5A92-A5E8FB33398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72E305E6-83BB-4E31-085D-B5D448F9501A}"/>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
        <p:nvSpPr>
          <p:cNvPr id="7" name="TextBox 6">
            <a:extLst>
              <a:ext uri="{FF2B5EF4-FFF2-40B4-BE49-F238E27FC236}">
                <a16:creationId xmlns:a16="http://schemas.microsoft.com/office/drawing/2014/main" id="{DA75F368-F386-F025-27B0-A50D20FD816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tightly synchronized clocks</a:t>
            </a:r>
          </a:p>
        </p:txBody>
      </p:sp>
      <p:sp>
        <p:nvSpPr>
          <p:cNvPr id="8" name="Rounded Rectangle 7">
            <a:extLst>
              <a:ext uri="{FF2B5EF4-FFF2-40B4-BE49-F238E27FC236}">
                <a16:creationId xmlns:a16="http://schemas.microsoft.com/office/drawing/2014/main" id="{93C14C7E-1A35-1930-5B6D-9852AE4FC129}"/>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pic>
        <p:nvPicPr>
          <p:cNvPr id="2" name="Graphic 1" descr="Clock with solid fill">
            <a:extLst>
              <a:ext uri="{FF2B5EF4-FFF2-40B4-BE49-F238E27FC236}">
                <a16:creationId xmlns:a16="http://schemas.microsoft.com/office/drawing/2014/main" id="{73FA1D15-FEC0-2391-50BC-CC497BE102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5081624"/>
            <a:ext cx="914400" cy="914400"/>
          </a:xfrm>
          <a:prstGeom prst="rect">
            <a:avLst/>
          </a:prstGeom>
        </p:spPr>
      </p:pic>
      <p:pic>
        <p:nvPicPr>
          <p:cNvPr id="4" name="Graphic 3" descr="Clock with solid fill">
            <a:extLst>
              <a:ext uri="{FF2B5EF4-FFF2-40B4-BE49-F238E27FC236}">
                <a16:creationId xmlns:a16="http://schemas.microsoft.com/office/drawing/2014/main" id="{5636BF5F-2E05-E6BA-3CBD-83428D15BD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3289986"/>
            <a:ext cx="914400" cy="914400"/>
          </a:xfrm>
          <a:prstGeom prst="rect">
            <a:avLst/>
          </a:prstGeom>
        </p:spPr>
      </p:pic>
      <p:pic>
        <p:nvPicPr>
          <p:cNvPr id="9" name="Graphic 8" descr="Clock with solid fill">
            <a:extLst>
              <a:ext uri="{FF2B5EF4-FFF2-40B4-BE49-F238E27FC236}">
                <a16:creationId xmlns:a16="http://schemas.microsoft.com/office/drawing/2014/main" id="{197BA0B4-9CDB-B6A4-5FA0-8F51217947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4167224"/>
            <a:ext cx="914400" cy="914400"/>
          </a:xfrm>
          <a:prstGeom prst="rect">
            <a:avLst/>
          </a:prstGeom>
        </p:spPr>
      </p:pic>
      <p:sp>
        <p:nvSpPr>
          <p:cNvPr id="10" name="Rectangle 9">
            <a:extLst>
              <a:ext uri="{FF2B5EF4-FFF2-40B4-BE49-F238E27FC236}">
                <a16:creationId xmlns:a16="http://schemas.microsoft.com/office/drawing/2014/main" id="{CDCBCDB3-9A65-0532-C569-373A93E55C49}"/>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7A395D-F46A-E025-D24B-DBC116EE914C}"/>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349F8-F4F7-FE47-282B-85C26BBA74B6}"/>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85804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3E67-747F-E98E-5C3E-30AC65B4439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EB39B488-FFCF-4D9E-BC64-C6EBB042959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1124650B-C049-5490-96F4-2BCA96ECCBF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58BF78D1-9AD1-EC75-CE7B-36EF55E7D0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2C559097-9514-B530-6FBD-4B0F122E66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04E2911-042B-67BC-59B9-97355922B2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4167224"/>
            <a:ext cx="914400" cy="914400"/>
          </a:xfrm>
          <a:prstGeom prst="rect">
            <a:avLst/>
          </a:prstGeom>
        </p:spPr>
      </p:pic>
      <p:sp>
        <p:nvSpPr>
          <p:cNvPr id="11" name="TextBox 10">
            <a:extLst>
              <a:ext uri="{FF2B5EF4-FFF2-40B4-BE49-F238E27FC236}">
                <a16:creationId xmlns:a16="http://schemas.microsoft.com/office/drawing/2014/main" id="{A044EDB2-0A12-3185-E19B-24E392210F3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tightly synchronized clocks</a:t>
            </a:r>
          </a:p>
        </p:txBody>
      </p:sp>
      <p:sp>
        <p:nvSpPr>
          <p:cNvPr id="13" name="Rectangle 12">
            <a:extLst>
              <a:ext uri="{FF2B5EF4-FFF2-40B4-BE49-F238E27FC236}">
                <a16:creationId xmlns:a16="http://schemas.microsoft.com/office/drawing/2014/main" id="{5D782981-690E-08EC-E25F-A4B5811B06F7}"/>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BD47ED-C22B-E0E4-0B7C-87C479F8A34F}"/>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EDFBD2-2775-7590-063A-A4D6D9D6E50C}"/>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8B73FAA-2D88-E3CA-1842-303D5AB49B38}"/>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
        <p:nvSpPr>
          <p:cNvPr id="18" name="Rectangle 17">
            <a:extLst>
              <a:ext uri="{FF2B5EF4-FFF2-40B4-BE49-F238E27FC236}">
                <a16:creationId xmlns:a16="http://schemas.microsoft.com/office/drawing/2014/main" id="{32F4316E-4D60-0685-B924-82F9911EE2EF}"/>
              </a:ext>
            </a:extLst>
          </p:cNvPr>
          <p:cNvSpPr/>
          <p:nvPr/>
        </p:nvSpPr>
        <p:spPr>
          <a:xfrm>
            <a:off x="3342410" y="3701467"/>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98F500-835C-1B85-3137-B6D2BD78756B}"/>
              </a:ext>
            </a:extLst>
          </p:cNvPr>
          <p:cNvSpPr/>
          <p:nvPr/>
        </p:nvSpPr>
        <p:spPr>
          <a:xfrm>
            <a:off x="2763982" y="4340220"/>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30B984-6FBA-128B-E878-BFADF71E990C}"/>
              </a:ext>
            </a:extLst>
          </p:cNvPr>
          <p:cNvSpPr/>
          <p:nvPr/>
        </p:nvSpPr>
        <p:spPr>
          <a:xfrm>
            <a:off x="2763982" y="4951264"/>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659006-7345-9F6B-4637-54DAE22393F6}"/>
              </a:ext>
            </a:extLst>
          </p:cNvPr>
          <p:cNvSpPr/>
          <p:nvPr/>
        </p:nvSpPr>
        <p:spPr>
          <a:xfrm>
            <a:off x="2746664" y="5531605"/>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5954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3577-DB23-406A-683F-0394CB80C7BB}"/>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6D456BD0-E400-D4EE-AD70-BD7EF39072B3}"/>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3" name="Rounded Rectangle 2">
            <a:extLst>
              <a:ext uri="{FF2B5EF4-FFF2-40B4-BE49-F238E27FC236}">
                <a16:creationId xmlns:a16="http://schemas.microsoft.com/office/drawing/2014/main" id="{4A9D1208-A94A-4281-A206-AFA15969897A}"/>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Our Proposal</a:t>
            </a:r>
          </a:p>
        </p:txBody>
      </p:sp>
      <p:sp>
        <p:nvSpPr>
          <p:cNvPr id="5" name="Rounded Rectangle 4">
            <a:extLst>
              <a:ext uri="{FF2B5EF4-FFF2-40B4-BE49-F238E27FC236}">
                <a16:creationId xmlns:a16="http://schemas.microsoft.com/office/drawing/2014/main" id="{95C0259C-4A66-F421-79AE-FC935693F219}"/>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pic>
        <p:nvPicPr>
          <p:cNvPr id="12" name="Graphic 11" descr="Clock with solid fill">
            <a:extLst>
              <a:ext uri="{FF2B5EF4-FFF2-40B4-BE49-F238E27FC236}">
                <a16:creationId xmlns:a16="http://schemas.microsoft.com/office/drawing/2014/main" id="{392C6871-0B8F-6DD4-36BF-39F962D67D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13" name="Graphic 12" descr="Clock with solid fill">
            <a:extLst>
              <a:ext uri="{FF2B5EF4-FFF2-40B4-BE49-F238E27FC236}">
                <a16:creationId xmlns:a16="http://schemas.microsoft.com/office/drawing/2014/main" id="{AA102FCB-6B46-FFE3-C81F-BA97F26E5C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14" name="Graphic 13" descr="Clock with solid fill">
            <a:extLst>
              <a:ext uri="{FF2B5EF4-FFF2-40B4-BE49-F238E27FC236}">
                <a16:creationId xmlns:a16="http://schemas.microsoft.com/office/drawing/2014/main" id="{7F1CB5A1-1769-5822-029B-BBCBA2935F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204354758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C12B-E042-5E1A-FFAA-6D9BE649E2D0}"/>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25CC6B78-2FD9-39DE-AF3A-6EA10A33678F}"/>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Fair Ordering</a:t>
            </a:r>
          </a:p>
        </p:txBody>
      </p:sp>
      <p:sp>
        <p:nvSpPr>
          <p:cNvPr id="3" name="Rounded Rectangle 2">
            <a:extLst>
              <a:ext uri="{FF2B5EF4-FFF2-40B4-BE49-F238E27FC236}">
                <a16:creationId xmlns:a16="http://schemas.microsoft.com/office/drawing/2014/main" id="{1FC08AEF-07D4-C0E7-3348-73EF3B7CAF21}"/>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5" name="Rounded Rectangle 4">
            <a:extLst>
              <a:ext uri="{FF2B5EF4-FFF2-40B4-BE49-F238E27FC236}">
                <a16:creationId xmlns:a16="http://schemas.microsoft.com/office/drawing/2014/main" id="{2EDDB4B0-88B8-60A8-1F28-5FC75CBCEA33}"/>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6" name="TextBox 5">
            <a:extLst>
              <a:ext uri="{FF2B5EF4-FFF2-40B4-BE49-F238E27FC236}">
                <a16:creationId xmlns:a16="http://schemas.microsoft.com/office/drawing/2014/main" id="{C45171AB-8276-0193-D81A-C9E5B9378A6C}"/>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C44FD225-5FBD-7B73-DC96-0048C0063BB0}"/>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AF933B63-F3AA-7CB8-880F-9EB7D30F62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308EAF3D-DDF1-290A-9827-F28C6386D9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6E01F937-1BCF-A7F7-6A87-A3148379F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4912273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A5D3-DCB5-097E-BBC1-63789ACB8B9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60BA4BB-7650-CFA4-AC86-15D0AE96D413}"/>
              </a:ext>
            </a:extLst>
          </p:cNvPr>
          <p:cNvSpPr/>
          <p:nvPr/>
        </p:nvSpPr>
        <p:spPr>
          <a:xfrm>
            <a:off x="7287490" y="554183"/>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16" name="Rounded Rectangle 15">
            <a:extLst>
              <a:ext uri="{FF2B5EF4-FFF2-40B4-BE49-F238E27FC236}">
                <a16:creationId xmlns:a16="http://schemas.microsoft.com/office/drawing/2014/main" id="{AF89A489-9BC9-C35E-4934-CA0D5C634DF2}"/>
              </a:ext>
            </a:extLst>
          </p:cNvPr>
          <p:cNvSpPr/>
          <p:nvPr/>
        </p:nvSpPr>
        <p:spPr>
          <a:xfrm>
            <a:off x="2568261" y="561804"/>
            <a:ext cx="4702242"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Aptos" panose="02110004020202020204"/>
              </a:rPr>
              <a:t>      </a:t>
            </a: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Probabilistic Fair Ordering</a:t>
            </a:r>
          </a:p>
        </p:txBody>
      </p:sp>
      <p:sp>
        <p:nvSpPr>
          <p:cNvPr id="5" name="Rounded Rectangle 4">
            <a:extLst>
              <a:ext uri="{FF2B5EF4-FFF2-40B4-BE49-F238E27FC236}">
                <a16:creationId xmlns:a16="http://schemas.microsoft.com/office/drawing/2014/main" id="{9E8D2AF0-6BE7-A45D-6A1F-C1EE5F4AED42}"/>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7" name="Rounded Rectangle 6">
            <a:extLst>
              <a:ext uri="{FF2B5EF4-FFF2-40B4-BE49-F238E27FC236}">
                <a16:creationId xmlns:a16="http://schemas.microsoft.com/office/drawing/2014/main" id="{3FAF4C24-FF1A-64D3-EACB-A25A4467322D}"/>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56A1BCF8-5391-CBA1-F6CB-BE4FFD13B1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5AAA02EF-970F-F74F-1E31-A5A128296F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A17E4295-B461-3390-5104-0A06DD9AB6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12003" y="1899927"/>
            <a:ext cx="914400" cy="914400"/>
          </a:xfrm>
          <a:prstGeom prst="rect">
            <a:avLst/>
          </a:prstGeom>
        </p:spPr>
      </p:pic>
      <p:sp>
        <p:nvSpPr>
          <p:cNvPr id="11" name="Rounded Rectangle 10">
            <a:extLst>
              <a:ext uri="{FF2B5EF4-FFF2-40B4-BE49-F238E27FC236}">
                <a16:creationId xmlns:a16="http://schemas.microsoft.com/office/drawing/2014/main" id="{F55705BE-6C8E-1A69-CC8E-E2AA41245518}"/>
              </a:ext>
            </a:extLst>
          </p:cNvPr>
          <p:cNvSpPr/>
          <p:nvPr/>
        </p:nvSpPr>
        <p:spPr>
          <a:xfrm>
            <a:off x="623453" y="5545338"/>
            <a:ext cx="11018780" cy="990600"/>
          </a:xfrm>
          <a:prstGeom prst="roundRect">
            <a:avLst/>
          </a:prstGeom>
          <a:solidFill>
            <a:schemeClr val="accent2">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Enabled by treating time as a Random Variable!</a:t>
            </a:r>
          </a:p>
        </p:txBody>
      </p:sp>
      <p:sp>
        <p:nvSpPr>
          <p:cNvPr id="12" name="Rounded Rectangle 11">
            <a:extLst>
              <a:ext uri="{FF2B5EF4-FFF2-40B4-BE49-F238E27FC236}">
                <a16:creationId xmlns:a16="http://schemas.microsoft.com/office/drawing/2014/main" id="{91FD4E88-32BD-0D72-B59F-15B6EDAA0427}"/>
              </a:ext>
            </a:extLst>
          </p:cNvPr>
          <p:cNvSpPr/>
          <p:nvPr/>
        </p:nvSpPr>
        <p:spPr>
          <a:xfrm>
            <a:off x="314510" y="561804"/>
            <a:ext cx="2951017"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Tommy</a:t>
            </a:r>
          </a:p>
        </p:txBody>
      </p:sp>
      <p:sp>
        <p:nvSpPr>
          <p:cNvPr id="13" name="Rounded Rectangle 12">
            <a:extLst>
              <a:ext uri="{FF2B5EF4-FFF2-40B4-BE49-F238E27FC236}">
                <a16:creationId xmlns:a16="http://schemas.microsoft.com/office/drawing/2014/main" id="{AA1249CE-0063-4777-1DC7-0B6D9CC4E60D}"/>
              </a:ext>
            </a:extLst>
          </p:cNvPr>
          <p:cNvSpPr/>
          <p:nvPr/>
        </p:nvSpPr>
        <p:spPr>
          <a:xfrm>
            <a:off x="2940296" y="561804"/>
            <a:ext cx="342218"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a:t>
            </a:r>
          </a:p>
        </p:txBody>
      </p:sp>
      <p:sp>
        <p:nvSpPr>
          <p:cNvPr id="14" name="TextBox 13">
            <a:extLst>
              <a:ext uri="{FF2B5EF4-FFF2-40B4-BE49-F238E27FC236}">
                <a16:creationId xmlns:a16="http://schemas.microsoft.com/office/drawing/2014/main" id="{3F781D6E-BB95-307E-3C9C-C88162A40238}"/>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15" name="Rounded Rectangle 14">
            <a:extLst>
              <a:ext uri="{FF2B5EF4-FFF2-40B4-BE49-F238E27FC236}">
                <a16:creationId xmlns:a16="http://schemas.microsoft.com/office/drawing/2014/main" id="{35386162-E6B0-07F5-A351-84F6853CF289}"/>
              </a:ext>
            </a:extLst>
          </p:cNvPr>
          <p:cNvSpPr/>
          <p:nvPr/>
        </p:nvSpPr>
        <p:spPr>
          <a:xfrm>
            <a:off x="323003" y="561804"/>
            <a:ext cx="2951017"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5400" dirty="0">
              <a:solidFill>
                <a:schemeClr val="tx1"/>
              </a:solidFill>
            </a:endParaRPr>
          </a:p>
        </p:txBody>
      </p:sp>
      <p:sp>
        <p:nvSpPr>
          <p:cNvPr id="17" name="Rounded Rectangle 16">
            <a:extLst>
              <a:ext uri="{FF2B5EF4-FFF2-40B4-BE49-F238E27FC236}">
                <a16:creationId xmlns:a16="http://schemas.microsoft.com/office/drawing/2014/main" id="{8D87D4C2-06D1-85D9-8395-E8AE07719CAC}"/>
              </a:ext>
            </a:extLst>
          </p:cNvPr>
          <p:cNvSpPr/>
          <p:nvPr/>
        </p:nvSpPr>
        <p:spPr>
          <a:xfrm>
            <a:off x="7287490" y="586376"/>
            <a:ext cx="4281056"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65452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5BBF-1B8F-8943-1513-DC0422A6C530}"/>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E3E3CAA6-354B-81FE-3FC2-4E02E3FD38FB}"/>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3E18314-365A-EE1E-0D12-808D6119DCEC}"/>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5F1D8B1F-DDC6-AD5B-EC35-DEC701DE2A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FC41FBAB-0C9C-449E-36AC-E7B73221A2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69194A3B-0F9A-CEC6-0BD9-B1756F32AD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C392B9DA-30E3-C441-CB29-01477705CA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2D9796AB-F84B-1DE2-A5D9-7261232419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67D79C0F-623D-3066-4636-E50D04262891}"/>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47499C2-0E31-1DCE-A060-5FA0B0321518}"/>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40D6B3E0-3809-F388-0142-3A7443156B5D}"/>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D21D8E98-C1FF-C273-7567-2DDF59C82E78}"/>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95CB0D97-C2BE-E5C8-3407-38A68AE24E8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9BD07AAF-CA90-194A-EEA1-C386D6CE24A9}"/>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C218843C-9F13-AA7F-BD3F-3D979A067C33}"/>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A51B049-F4AF-98BA-B005-42D26054AFC3}"/>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78FDB8A-127F-E222-174D-576A0B0E3F8F}"/>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F018C3C0-A4F1-7109-28D5-14EED0557E5C}"/>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63D3AF6B-32DE-9136-71A7-D1F7802872E9}"/>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A6909A8B-D78B-B3EC-A634-9A165004A09C}"/>
              </a:ext>
            </a:extLst>
          </p:cNvPr>
          <p:cNvPicPr>
            <a:picLocks noChangeAspect="1"/>
          </p:cNvPicPr>
          <p:nvPr/>
        </p:nvPicPr>
        <p:blipFill>
          <a:blip r:embed="rId7"/>
          <a:stretch>
            <a:fillRect/>
          </a:stretch>
        </p:blipFill>
        <p:spPr>
          <a:xfrm>
            <a:off x="5553221" y="4861753"/>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81E1A0AD-BFF8-2794-7B5D-DBF894282356}"/>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D563CE6F-D20E-794E-665A-5F38950C478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CBA7C77C-37FB-CCEB-619A-5253DF9965D6}"/>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E9B78F4A-A1DD-F599-9B37-412F81140499}"/>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E4B192A6-C626-4A51-2905-B3983D15C2E7}"/>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C59308A0-45BF-A4C8-5C67-F42D294B6360}"/>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0B2E1C5B-F42F-538E-A7A6-5CBA663EFCEC}"/>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spTree>
    <p:extLst>
      <p:ext uri="{BB962C8B-B14F-4D97-AF65-F5344CB8AC3E}">
        <p14:creationId xmlns:p14="http://schemas.microsoft.com/office/powerpoint/2010/main" val="12035356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circle(in)">
                                      <p:cBhvr>
                                        <p:cTn id="21" dur="500"/>
                                        <p:tgtEl>
                                          <p:spTgt spid="80"/>
                                        </p:tgtEl>
                                      </p:cBhvr>
                                    </p:animEffect>
                                  </p:childTnLst>
                                </p:cTn>
                              </p:par>
                              <p:par>
                                <p:cTn id="22" presetID="6"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ircle(in)">
                                      <p:cBhvr>
                                        <p:cTn id="24" dur="500"/>
                                        <p:tgtEl>
                                          <p:spTgt spid="43"/>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circle(i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par>
                                <p:cTn id="34" presetID="6" presetClass="entr" presetSubtype="16"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circle(in)">
                                      <p:cBhvr>
                                        <p:cTn id="36" dur="1000"/>
                                        <p:tgtEl>
                                          <p:spTgt spid="55"/>
                                        </p:tgtEl>
                                      </p:cBhvr>
                                    </p:animEffec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6"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circle(in)">
                                      <p:cBhvr>
                                        <p:cTn id="43" dur="1000"/>
                                        <p:tgtEl>
                                          <p:spTgt spid="5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animEffect transition="in" filter="blinds(horizontal)">
                                      <p:cBhvr>
                                        <p:cTn id="50" dur="500"/>
                                        <p:tgtEl>
                                          <p:spTgt spid="1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heckerboard(across)">
                                      <p:cBhvr>
                                        <p:cTn id="55" dur="500"/>
                                        <p:tgtEl>
                                          <p:spTgt spid="79"/>
                                        </p:tgtEl>
                                      </p:cBhvr>
                                    </p:animEffect>
                                  </p:childTnLst>
                                </p:cTn>
                              </p:par>
                              <p:par>
                                <p:cTn id="56" presetID="5" presetClass="entr" presetSubtype="1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checkerboard(across)">
                                      <p:cBhvr>
                                        <p:cTn id="5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animBg="1"/>
      <p:bldP spid="56" grpId="0" animBg="1"/>
      <p:bldP spid="79" grpId="0" animBg="1"/>
      <p:bldP spid="80" grpId="0" animBg="1"/>
      <p:bldP spid="118"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9159-65B2-87EB-8094-B5D93DF82A75}"/>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BA1CAC90-D90C-EBFD-2A1C-868DF740A29F}"/>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9D3F87-C13B-9EC1-5E00-1413EDE303C1}"/>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3BF33D9F-89AC-616C-6BFF-6EC62257F3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488FF363-3D0D-ABB9-BFF6-DF2AE36E67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D3FB802F-C2F4-E858-6DB6-382C270CFE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69A32D20-122D-3A73-116E-D60E262F1E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60CCA746-643E-4FE7-7554-63D83E36C0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070F6092-8EB0-3F27-3E55-A872D54CAA56}"/>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DDA8148-DAAA-075B-CCA4-1CD6A173CD72}"/>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C30FCB57-B496-2421-D425-147D03FDD667}"/>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4843FF7F-B345-F617-C27B-E259EEA3A6B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E2AB4EDE-243B-CC50-9DFE-6C11ECDC64EC}"/>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B9B30AC3-2319-4D0B-1B19-E0C62324442D}"/>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B850363A-8B49-A5E3-17E9-D457C1ACC41E}"/>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B3CF548-CA56-8085-1E89-7D2456AEBB7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34C983D4-363B-70FD-D645-D52C55113139}"/>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5ADE9C0-4EA1-376F-2A40-5BCF0056867B}"/>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BD788C9F-51A6-840E-2C37-586C8F8B0C72}"/>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6A985DFF-35D8-4035-EF8B-F13C84EE8EC7}"/>
              </a:ext>
            </a:extLst>
          </p:cNvPr>
          <p:cNvPicPr>
            <a:picLocks noChangeAspect="1"/>
          </p:cNvPicPr>
          <p:nvPr/>
        </p:nvPicPr>
        <p:blipFill>
          <a:blip r:embed="rId6"/>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260E1B7E-2E20-399D-6FFB-004F1485A3B2}"/>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5C827AE5-004F-5A8E-DB29-182DA4BCB7C1}"/>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591D57FB-038A-1D3B-B9D5-377174E03D5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B07E745-1C62-E22C-CE5E-29E91AB3D09C}"/>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0B718CA8-64E4-134D-4C21-A1C90B02F79D}"/>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A6A05307-5C1A-A478-D5F7-F77230FD8AFA}"/>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8A227BD1-B341-04C2-EE9A-203CD3E62285}"/>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3" name="Group 2">
            <a:extLst>
              <a:ext uri="{FF2B5EF4-FFF2-40B4-BE49-F238E27FC236}">
                <a16:creationId xmlns:a16="http://schemas.microsoft.com/office/drawing/2014/main" id="{5757C529-73B3-EAAC-A936-73ACB7642670}"/>
              </a:ext>
            </a:extLst>
          </p:cNvPr>
          <p:cNvGrpSpPr/>
          <p:nvPr/>
        </p:nvGrpSpPr>
        <p:grpSpPr>
          <a:xfrm>
            <a:off x="3419735" y="3466610"/>
            <a:ext cx="418924" cy="419672"/>
            <a:chOff x="6302631" y="3337852"/>
            <a:chExt cx="418924" cy="419672"/>
          </a:xfrm>
        </p:grpSpPr>
        <p:sp>
          <p:nvSpPr>
            <p:cNvPr id="4" name="Freeform 3">
              <a:extLst>
                <a:ext uri="{FF2B5EF4-FFF2-40B4-BE49-F238E27FC236}">
                  <a16:creationId xmlns:a16="http://schemas.microsoft.com/office/drawing/2014/main" id="{2AD82E81-1D13-4FB0-F238-6082ADC2BB7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FE5E4C-10FB-5BE0-46E6-4260B51AE6F8}"/>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9" name="Group 8">
            <a:extLst>
              <a:ext uri="{FF2B5EF4-FFF2-40B4-BE49-F238E27FC236}">
                <a16:creationId xmlns:a16="http://schemas.microsoft.com/office/drawing/2014/main" id="{194627AC-D228-056A-3136-BA843AB4F55D}"/>
              </a:ext>
            </a:extLst>
          </p:cNvPr>
          <p:cNvGrpSpPr/>
          <p:nvPr/>
        </p:nvGrpSpPr>
        <p:grpSpPr>
          <a:xfrm>
            <a:off x="3867347" y="3466610"/>
            <a:ext cx="418924" cy="419672"/>
            <a:chOff x="6302631" y="3337852"/>
            <a:chExt cx="418924" cy="419672"/>
          </a:xfrm>
        </p:grpSpPr>
        <p:sp>
          <p:nvSpPr>
            <p:cNvPr id="13" name="Freeform 12">
              <a:extLst>
                <a:ext uri="{FF2B5EF4-FFF2-40B4-BE49-F238E27FC236}">
                  <a16:creationId xmlns:a16="http://schemas.microsoft.com/office/drawing/2014/main" id="{6B415BC6-D220-8407-03D5-50300A6E5DE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480ABB6-48AF-B255-035D-410F4A0A15E2}"/>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17" name="Group 16">
            <a:extLst>
              <a:ext uri="{FF2B5EF4-FFF2-40B4-BE49-F238E27FC236}">
                <a16:creationId xmlns:a16="http://schemas.microsoft.com/office/drawing/2014/main" id="{2BD635A9-EE2B-BEB0-E90F-EF6CB74F3528}"/>
              </a:ext>
            </a:extLst>
          </p:cNvPr>
          <p:cNvGrpSpPr/>
          <p:nvPr/>
        </p:nvGrpSpPr>
        <p:grpSpPr>
          <a:xfrm>
            <a:off x="4737558" y="3474399"/>
            <a:ext cx="418924" cy="419672"/>
            <a:chOff x="6302631" y="3337852"/>
            <a:chExt cx="418924" cy="419672"/>
          </a:xfrm>
        </p:grpSpPr>
        <p:sp>
          <p:nvSpPr>
            <p:cNvPr id="18" name="Freeform 17">
              <a:extLst>
                <a:ext uri="{FF2B5EF4-FFF2-40B4-BE49-F238E27FC236}">
                  <a16:creationId xmlns:a16="http://schemas.microsoft.com/office/drawing/2014/main" id="{E7998973-1B0A-412D-842D-3A7DDC12782F}"/>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09EEB9D-9C91-2FE0-0DE4-10B37F570985}"/>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20" name="Group 19">
            <a:extLst>
              <a:ext uri="{FF2B5EF4-FFF2-40B4-BE49-F238E27FC236}">
                <a16:creationId xmlns:a16="http://schemas.microsoft.com/office/drawing/2014/main" id="{896FAB8C-8529-E526-6F3D-F7278BAEAF73}"/>
              </a:ext>
            </a:extLst>
          </p:cNvPr>
          <p:cNvGrpSpPr/>
          <p:nvPr/>
        </p:nvGrpSpPr>
        <p:grpSpPr>
          <a:xfrm>
            <a:off x="5191428" y="3466610"/>
            <a:ext cx="418924" cy="419672"/>
            <a:chOff x="6302631" y="3337852"/>
            <a:chExt cx="418924" cy="419672"/>
          </a:xfrm>
        </p:grpSpPr>
        <p:sp>
          <p:nvSpPr>
            <p:cNvPr id="21" name="Freeform 20">
              <a:extLst>
                <a:ext uri="{FF2B5EF4-FFF2-40B4-BE49-F238E27FC236}">
                  <a16:creationId xmlns:a16="http://schemas.microsoft.com/office/drawing/2014/main" id="{B629B0CF-4C67-C4E8-CA62-D1D6A91375B7}"/>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A003BF1F-8B99-9BF5-7423-3DE18D7C496A}"/>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4</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5013554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0.00065 -1.11111E-6 C 0.00182 0.0037 -0.00052 0.00023 0.00169 0.0331 C 0.00377 0.06597 -0.01472 0.16667 0.01237 0.19676 C 0.04166 0.23125 0.11875 0.22361 0.15338 0.22824 " pathEditMode="relative" rAng="0" ptsTypes="AAAA">
                                      <p:cBhvr>
                                        <p:cTn id="6" dur="1000" fill="hold"/>
                                        <p:tgtEl>
                                          <p:spTgt spid="3"/>
                                        </p:tgtEl>
                                        <p:attrNameLst>
                                          <p:attrName>ppt_x</p:attrName>
                                          <p:attrName>ppt_y</p:attrName>
                                        </p:attrNameLst>
                                      </p:cBhvr>
                                      <p:rCtr x="7604" y="11412"/>
                                    </p:animMotion>
                                  </p:childTnLst>
                                </p:cTn>
                              </p:par>
                              <p:par>
                                <p:cTn id="7" presetID="50" presetClass="path" presetSubtype="0" accel="50000" decel="50000" fill="hold" nodeType="withEffect">
                                  <p:stCondLst>
                                    <p:cond delay="0"/>
                                  </p:stCondLst>
                                  <p:childTnLst>
                                    <p:animMotion origin="layout" path="M -0.00065 -1.11111E-6 C 0.00183 0.00417 -0.00052 0.0007 0.0017 0.03333 C 0.00378 0.06644 -0.01472 0.1669 0.01237 0.19699 C 0.04167 0.23171 0.16446 0.22361 0.19909 0.22847 " pathEditMode="relative" rAng="0" ptsTypes="AAAA">
                                      <p:cBhvr>
                                        <p:cTn id="8" dur="500" fill="hold"/>
                                        <p:tgtEl>
                                          <p:spTgt spid="9"/>
                                        </p:tgtEl>
                                        <p:attrNameLst>
                                          <p:attrName>ppt_x</p:attrName>
                                          <p:attrName>ppt_y</p:attrName>
                                        </p:attrNameLst>
                                      </p:cBhvr>
                                      <p:rCtr x="9896" y="11412"/>
                                    </p:animMotion>
                                  </p:childTnLst>
                                </p:cTn>
                              </p:par>
                              <p:par>
                                <p:cTn id="9" presetID="50" presetClass="path" presetSubtype="0" accel="50000" decel="50000" fill="hold" nodeType="withEffect">
                                  <p:stCondLst>
                                    <p:cond delay="0"/>
                                  </p:stCondLst>
                                  <p:childTnLst>
                                    <p:animMotion origin="layout" path="M 2.5E-6 1.48148E-6 C 0.00234 0.00324 2.5E-6 0.00069 0.00234 0.03241 C 0.00703 0.06898 0.00091 0.16967 0.00065 0.21782 " pathEditMode="relative" rAng="0" ptsTypes="AAA">
                                      <p:cBhvr>
                                        <p:cTn id="10" dur="1000" fill="hold"/>
                                        <p:tgtEl>
                                          <p:spTgt spid="17"/>
                                        </p:tgtEl>
                                        <p:attrNameLst>
                                          <p:attrName>ppt_x</p:attrName>
                                          <p:attrName>ppt_y</p:attrName>
                                        </p:attrNameLst>
                                      </p:cBhvr>
                                      <p:rCtr x="208" y="10880"/>
                                    </p:animMotion>
                                  </p:childTnLst>
                                </p:cTn>
                              </p:par>
                              <p:par>
                                <p:cTn id="11" presetID="50" presetClass="path" presetSubtype="0" accel="50000" decel="50000" fill="hold" nodeType="withEffect">
                                  <p:stCondLst>
                                    <p:cond delay="0"/>
                                  </p:stCondLst>
                                  <p:childTnLst>
                                    <p:animMotion origin="layout" path="M 0.00013 -0.00046 C 0.0026 0.00324 0.00026 0.00023 0.00247 0.03264 C 0.00456 0.06551 -0.01393 0.16597 0.01315 0.19607 C 0.04284 0.23079 0.01536 0.2213 0.05 0.22616 " pathEditMode="relative" rAng="0" ptsTypes="AAAA">
                                      <p:cBhvr>
                                        <p:cTn id="12" dur="500" fill="hold"/>
                                        <p:tgtEl>
                                          <p:spTgt spid="20"/>
                                        </p:tgtEl>
                                        <p:attrNameLst>
                                          <p:attrName>ppt_x</p:attrName>
                                          <p:attrName>ppt_y</p:attrName>
                                        </p:attrNameLst>
                                      </p:cBhvr>
                                      <p:rCtr x="2396" y="1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39C-D2A9-3467-28D1-262E097DC409}"/>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D971A022-5DD7-BA1B-7315-0A1F6BE88874}"/>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Server outline">
            <a:extLst>
              <a:ext uri="{FF2B5EF4-FFF2-40B4-BE49-F238E27FC236}">
                <a16:creationId xmlns:a16="http://schemas.microsoft.com/office/drawing/2014/main" id="{B708E40E-4CD1-88C8-7456-9590730193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CA95B654-D166-484C-A7F7-51CF38FB56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3965E680-6A2C-A585-CF08-65D920B30C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57B3B4EE-4653-6733-D05A-98BFF18FFE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43D3A8B8-7BE6-E871-2FCA-678A411D2C5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D4F42AA9-91B5-7E2D-B6D9-89A017CF9697}"/>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41AA39D-08BE-1E60-93BF-FC489E9885F5}"/>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8FECA533-F30A-1830-945C-300416336DE2}"/>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232B17D9-83AA-8E5B-B248-5C90EDF1CD5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C939B760-9BF7-FE38-AF03-A6FC22FC757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A66A5B91-78F1-2AD0-B7CD-CA909A73E393}"/>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F71BB9B0-656B-BAD5-1391-67E97F04021B}"/>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9BBF7E3-0BF9-FFA5-33A0-B0D22602B7F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370D8FA-4415-B033-4AF4-77CFAB343865}"/>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4377A22-92DA-205D-FC83-F8C3E9E484E7}"/>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C6C839D-C062-3A33-6AF4-F4C6C5913280}"/>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82C315B2-854E-9555-64A1-E3ECC5795294}"/>
              </a:ext>
            </a:extLst>
          </p:cNvPr>
          <p:cNvPicPr>
            <a:picLocks noChangeAspect="1"/>
          </p:cNvPicPr>
          <p:nvPr/>
        </p:nvPicPr>
        <p:blipFill>
          <a:blip r:embed="rId7"/>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573403E5-C756-4DEB-524E-A964FC0C8C88}"/>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45F16B69-2400-4E7A-F179-B243910EBF7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754DFFD8-FEBD-94A7-2C49-588E9012671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64DB4875-B39E-E8D0-6EA0-29294F94FA3F}"/>
              </a:ext>
            </a:extLst>
          </p:cNvPr>
          <p:cNvSpPr txBox="1"/>
          <p:nvPr/>
        </p:nvSpPr>
        <p:spPr>
          <a:xfrm>
            <a:off x="4607187" y="3801560"/>
            <a:ext cx="923971"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rPr>
              <a:t>Events</a:t>
            </a:r>
          </a:p>
        </p:txBody>
      </p:sp>
      <p:cxnSp>
        <p:nvCxnSpPr>
          <p:cNvPr id="93" name="Straight Arrow Connector 92">
            <a:extLst>
              <a:ext uri="{FF2B5EF4-FFF2-40B4-BE49-F238E27FC236}">
                <a16:creationId xmlns:a16="http://schemas.microsoft.com/office/drawing/2014/main" id="{7DCE8E3F-A075-EE7C-4694-DF4B72D7D618}"/>
              </a:ext>
            </a:extLst>
          </p:cNvPr>
          <p:cNvCxnSpPr>
            <a:cxnSpLocks/>
            <a:stCxn id="79" idx="0"/>
          </p:cNvCxnSpPr>
          <p:nvPr/>
        </p:nvCxnSpPr>
        <p:spPr>
          <a:xfrm flipV="1">
            <a:off x="6748664" y="3946923"/>
            <a:ext cx="0" cy="820541"/>
          </a:xfrm>
          <a:prstGeom prst="straightConnector1">
            <a:avLst/>
          </a:prstGeom>
          <a:ln w="412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78CDA35-EFE4-01D0-2428-BA24732BC42F}"/>
              </a:ext>
            </a:extLst>
          </p:cNvPr>
          <p:cNvSpPr txBox="1"/>
          <p:nvPr/>
        </p:nvSpPr>
        <p:spPr>
          <a:xfrm>
            <a:off x="6768203" y="424835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Output</a:t>
            </a:r>
          </a:p>
        </p:txBody>
      </p:sp>
      <p:sp>
        <p:nvSpPr>
          <p:cNvPr id="117" name="TextBox 116">
            <a:extLst>
              <a:ext uri="{FF2B5EF4-FFF2-40B4-BE49-F238E27FC236}">
                <a16:creationId xmlns:a16="http://schemas.microsoft.com/office/drawing/2014/main" id="{9FE495E8-4CED-6386-6280-CF57927AD4E8}"/>
              </a:ext>
            </a:extLst>
          </p:cNvPr>
          <p:cNvSpPr txBox="1"/>
          <p:nvPr/>
        </p:nvSpPr>
        <p:spPr>
          <a:xfrm>
            <a:off x="6249000" y="2838159"/>
            <a:ext cx="23519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Fair Order of Events</a:t>
            </a:r>
          </a:p>
        </p:txBody>
      </p:sp>
      <p:sp>
        <p:nvSpPr>
          <p:cNvPr id="118" name="TextBox 117">
            <a:extLst>
              <a:ext uri="{FF2B5EF4-FFF2-40B4-BE49-F238E27FC236}">
                <a16:creationId xmlns:a16="http://schemas.microsoft.com/office/drawing/2014/main" id="{5F918AE7-9F6A-4235-ADFE-6B33A398EA66}"/>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16E0D18D-75EB-FB44-3973-0DFA735197F3}"/>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2EFEC891-759E-0E7A-9303-933DA9B74944}"/>
              </a:ext>
            </a:extLst>
          </p:cNvPr>
          <p:cNvGrpSpPr/>
          <p:nvPr/>
        </p:nvGrpSpPr>
        <p:grpSpPr>
          <a:xfrm>
            <a:off x="6333987" y="3336637"/>
            <a:ext cx="418924" cy="419672"/>
            <a:chOff x="6302631" y="3337852"/>
            <a:chExt cx="418924" cy="419672"/>
          </a:xfrm>
        </p:grpSpPr>
        <p:sp>
          <p:nvSpPr>
            <p:cNvPr id="133" name="Freeform 132">
              <a:extLst>
                <a:ext uri="{FF2B5EF4-FFF2-40B4-BE49-F238E27FC236}">
                  <a16:creationId xmlns:a16="http://schemas.microsoft.com/office/drawing/2014/main" id="{EDEF8969-CE49-C3E5-ACBD-E94F785D2A2E}"/>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1" name="TextBox 140">
              <a:extLst>
                <a:ext uri="{FF2B5EF4-FFF2-40B4-BE49-F238E27FC236}">
                  <a16:creationId xmlns:a16="http://schemas.microsoft.com/office/drawing/2014/main" id="{6F5B3391-96A2-675B-CCE3-53FD79B06741}"/>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6" name="Group 5">
            <a:extLst>
              <a:ext uri="{FF2B5EF4-FFF2-40B4-BE49-F238E27FC236}">
                <a16:creationId xmlns:a16="http://schemas.microsoft.com/office/drawing/2014/main" id="{4D7F806C-D899-40FB-4E0C-0E13CB245480}"/>
              </a:ext>
            </a:extLst>
          </p:cNvPr>
          <p:cNvGrpSpPr/>
          <p:nvPr/>
        </p:nvGrpSpPr>
        <p:grpSpPr>
          <a:xfrm>
            <a:off x="7799122" y="3332868"/>
            <a:ext cx="418924" cy="419672"/>
            <a:chOff x="8187793" y="3332118"/>
            <a:chExt cx="418924" cy="419672"/>
          </a:xfrm>
        </p:grpSpPr>
        <p:sp>
          <p:nvSpPr>
            <p:cNvPr id="134" name="Freeform 133">
              <a:extLst>
                <a:ext uri="{FF2B5EF4-FFF2-40B4-BE49-F238E27FC236}">
                  <a16:creationId xmlns:a16="http://schemas.microsoft.com/office/drawing/2014/main" id="{8B76529D-0540-DC69-A1F2-B086DC7353AD}"/>
                </a:ext>
              </a:extLst>
            </p:cNvPr>
            <p:cNvSpPr/>
            <p:nvPr/>
          </p:nvSpPr>
          <p:spPr>
            <a:xfrm>
              <a:off x="8187793" y="3332118"/>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2" name="TextBox 141">
              <a:extLst>
                <a:ext uri="{FF2B5EF4-FFF2-40B4-BE49-F238E27FC236}">
                  <a16:creationId xmlns:a16="http://schemas.microsoft.com/office/drawing/2014/main" id="{FA15738A-E9CE-2949-5EE5-0F7F0214EBBD}"/>
                </a:ext>
              </a:extLst>
            </p:cNvPr>
            <p:cNvSpPr txBox="1"/>
            <p:nvPr/>
          </p:nvSpPr>
          <p:spPr>
            <a:xfrm>
              <a:off x="8227631"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4" name="Group 3">
            <a:extLst>
              <a:ext uri="{FF2B5EF4-FFF2-40B4-BE49-F238E27FC236}">
                <a16:creationId xmlns:a16="http://schemas.microsoft.com/office/drawing/2014/main" id="{C1130719-77CA-A476-4741-461200C1825B}"/>
              </a:ext>
            </a:extLst>
          </p:cNvPr>
          <p:cNvGrpSpPr/>
          <p:nvPr/>
        </p:nvGrpSpPr>
        <p:grpSpPr>
          <a:xfrm>
            <a:off x="8427509" y="3332868"/>
            <a:ext cx="473175" cy="419672"/>
            <a:chOff x="8816180" y="3332118"/>
            <a:chExt cx="473175" cy="419672"/>
          </a:xfrm>
        </p:grpSpPr>
        <p:sp>
          <p:nvSpPr>
            <p:cNvPr id="136" name="Freeform 135">
              <a:extLst>
                <a:ext uri="{FF2B5EF4-FFF2-40B4-BE49-F238E27FC236}">
                  <a16:creationId xmlns:a16="http://schemas.microsoft.com/office/drawing/2014/main" id="{0D9A0423-7C17-734B-A8EC-BA976D5C93FA}"/>
                </a:ext>
              </a:extLst>
            </p:cNvPr>
            <p:cNvSpPr/>
            <p:nvPr/>
          </p:nvSpPr>
          <p:spPr>
            <a:xfrm>
              <a:off x="8816180" y="3332118"/>
              <a:ext cx="473175" cy="419672"/>
            </a:xfrm>
            <a:custGeom>
              <a:avLst/>
              <a:gdLst>
                <a:gd name="connsiteX0" fmla="*/ 0 w 473175"/>
                <a:gd name="connsiteY0" fmla="*/ 0 h 419672"/>
                <a:gd name="connsiteX1" fmla="*/ 473176 w 473175"/>
                <a:gd name="connsiteY1" fmla="*/ 0 h 419672"/>
                <a:gd name="connsiteX2" fmla="*/ 473176 w 473175"/>
                <a:gd name="connsiteY2" fmla="*/ 419673 h 419672"/>
                <a:gd name="connsiteX3" fmla="*/ 0 w 473175"/>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73175" h="419672">
                  <a:moveTo>
                    <a:pt x="0" y="0"/>
                  </a:moveTo>
                  <a:lnTo>
                    <a:pt x="473176" y="0"/>
                  </a:lnTo>
                  <a:lnTo>
                    <a:pt x="473176"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TextBox 142">
              <a:extLst>
                <a:ext uri="{FF2B5EF4-FFF2-40B4-BE49-F238E27FC236}">
                  <a16:creationId xmlns:a16="http://schemas.microsoft.com/office/drawing/2014/main" id="{31ABC5C5-EC13-41EC-38E3-BFCF47CDAFC5}"/>
                </a:ext>
              </a:extLst>
            </p:cNvPr>
            <p:cNvSpPr txBox="1"/>
            <p:nvPr/>
          </p:nvSpPr>
          <p:spPr>
            <a:xfrm>
              <a:off x="8891405"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sp>
        <p:nvSpPr>
          <p:cNvPr id="2" name="Title 1">
            <a:extLst>
              <a:ext uri="{FF2B5EF4-FFF2-40B4-BE49-F238E27FC236}">
                <a16:creationId xmlns:a16="http://schemas.microsoft.com/office/drawing/2014/main" id="{E9CBEA3E-6E77-2B22-7179-1E0AE4CEA55E}"/>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sp>
        <p:nvSpPr>
          <p:cNvPr id="3" name="TextBox 2">
            <a:extLst>
              <a:ext uri="{FF2B5EF4-FFF2-40B4-BE49-F238E27FC236}">
                <a16:creationId xmlns:a16="http://schemas.microsoft.com/office/drawing/2014/main" id="{D1F4B566-F7FC-5CC9-DC3A-A99627FC9311}"/>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17" name="Group 16">
            <a:extLst>
              <a:ext uri="{FF2B5EF4-FFF2-40B4-BE49-F238E27FC236}">
                <a16:creationId xmlns:a16="http://schemas.microsoft.com/office/drawing/2014/main" id="{B73C4447-1009-5408-4C71-C4DB804457FC}"/>
              </a:ext>
            </a:extLst>
          </p:cNvPr>
          <p:cNvGrpSpPr/>
          <p:nvPr/>
        </p:nvGrpSpPr>
        <p:grpSpPr>
          <a:xfrm>
            <a:off x="7025771" y="3336637"/>
            <a:ext cx="418924" cy="419672"/>
            <a:chOff x="6302631" y="3337852"/>
            <a:chExt cx="418924" cy="419672"/>
          </a:xfrm>
        </p:grpSpPr>
        <p:sp>
          <p:nvSpPr>
            <p:cNvPr id="19" name="Freeform 18">
              <a:extLst>
                <a:ext uri="{FF2B5EF4-FFF2-40B4-BE49-F238E27FC236}">
                  <a16:creationId xmlns:a16="http://schemas.microsoft.com/office/drawing/2014/main" id="{6681DEAD-EDF4-4B11-0CA4-ECB98FA59E6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E30424F-BFA2-C321-3ADE-B4AFBB8B292F}"/>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2</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3619839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99C5-0E94-659D-EB50-AB35292D4133}"/>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1374AA2-FF9F-BF20-56AC-42B75D248B6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1E390A59-0100-E68C-C0CE-C528633D3AED}"/>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07E1014-18F7-B967-3B32-8686102EF2F0}"/>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78ED11E5-3F71-99CC-AFCA-CE4BFB058D87}"/>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grpSp>
        <p:nvGrpSpPr>
          <p:cNvPr id="25" name="Group 24">
            <a:extLst>
              <a:ext uri="{FF2B5EF4-FFF2-40B4-BE49-F238E27FC236}">
                <a16:creationId xmlns:a16="http://schemas.microsoft.com/office/drawing/2014/main" id="{2FBC8831-1190-26D4-CBD4-B6A3AD596DD2}"/>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BE769-274C-E3F1-B48E-5C1CDAF6B5CA}"/>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12" name="TextBox 11">
                  <a:extLst>
                    <a:ext uri="{FF2B5EF4-FFF2-40B4-BE49-F238E27FC236}">
                      <a16:creationId xmlns:a16="http://schemas.microsoft.com/office/drawing/2014/main" id="{148BE769-274C-E3F1-B48E-5C1CDAF6B5CA}"/>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4"/>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CAC770-7604-824A-6863-51B8014FE24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13" name="TextBox 12">
                  <a:extLst>
                    <a:ext uri="{FF2B5EF4-FFF2-40B4-BE49-F238E27FC236}">
                      <a16:creationId xmlns:a16="http://schemas.microsoft.com/office/drawing/2014/main" id="{5ECAC770-7604-824A-6863-51B8014FE24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5"/>
                  <a:stretch>
                    <a:fillRect l="-21875" r="-18750" b="-20455"/>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96BD2101-4474-8D35-5CCD-EB8F27EDDEAE}"/>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019798D-F679-AB4E-F652-FCB49B342FC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26" name="Group 25">
            <a:extLst>
              <a:ext uri="{FF2B5EF4-FFF2-40B4-BE49-F238E27FC236}">
                <a16:creationId xmlns:a16="http://schemas.microsoft.com/office/drawing/2014/main" id="{E76D9691-55B8-597D-BA04-F6FA3FA78DCE}"/>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80E24-3240-2147-7C3B-D4A9B2540442}"/>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9" name="TextBox 8">
                  <a:extLst>
                    <a:ext uri="{FF2B5EF4-FFF2-40B4-BE49-F238E27FC236}">
                      <a16:creationId xmlns:a16="http://schemas.microsoft.com/office/drawing/2014/main" id="{DA980E24-3240-2147-7C3B-D4A9B2540442}"/>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6"/>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AE7CE4-10C9-A66E-5F22-3775326BE9A4}"/>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11" name="TextBox 10">
                  <a:extLst>
                    <a:ext uri="{FF2B5EF4-FFF2-40B4-BE49-F238E27FC236}">
                      <a16:creationId xmlns:a16="http://schemas.microsoft.com/office/drawing/2014/main" id="{0DAE7CE4-10C9-A66E-5F22-3775326BE9A4}"/>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7"/>
                  <a:stretch>
                    <a:fillRect l="-18421" r="-5263" b="-22727"/>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CBF1CEB8-EABB-85F0-182B-088F1B3560E4}"/>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B443313-046B-E343-4579-4C9C5E300F83}"/>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483B5C-27D0-6D07-AA1C-5C4F0AA52117}"/>
                  </a:ext>
                </a:extLst>
              </p:cNvPr>
              <p:cNvSpPr txBox="1"/>
              <p:nvPr/>
            </p:nvSpPr>
            <p:spPr>
              <a:xfrm>
                <a:off x="2594032" y="3894115"/>
                <a:ext cx="2599943"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 ?</m:t>
                      </m:r>
                    </m:oMath>
                  </m:oMathPara>
                </a14:m>
                <a:endParaRPr lang="en-US" dirty="0"/>
              </a:p>
            </p:txBody>
          </p:sp>
        </mc:Choice>
        <mc:Fallback xmlns="">
          <p:sp>
            <p:nvSpPr>
              <p:cNvPr id="27" name="TextBox 26">
                <a:extLst>
                  <a:ext uri="{FF2B5EF4-FFF2-40B4-BE49-F238E27FC236}">
                    <a16:creationId xmlns:a16="http://schemas.microsoft.com/office/drawing/2014/main" id="{D7483B5C-27D0-6D07-AA1C-5C4F0AA52117}"/>
                  </a:ext>
                </a:extLst>
              </p:cNvPr>
              <p:cNvSpPr txBox="1">
                <a:spLocks noRot="1" noChangeAspect="1" noMove="1" noResize="1" noEditPoints="1" noAdjustHandles="1" noChangeArrowheads="1" noChangeShapeType="1" noTextEdit="1"/>
              </p:cNvSpPr>
              <p:nvPr/>
            </p:nvSpPr>
            <p:spPr>
              <a:xfrm>
                <a:off x="2594032" y="3894115"/>
                <a:ext cx="2599943" cy="567271"/>
              </a:xfrm>
              <a:prstGeom prst="rect">
                <a:avLst/>
              </a:prstGeom>
              <a:blipFill>
                <a:blip r:embed="rId8"/>
                <a:stretch>
                  <a:fillRect l="-3415" r="-3902" b="-23913"/>
                </a:stretch>
              </a:blipFill>
            </p:spPr>
            <p:txBody>
              <a:bodyPr/>
              <a:lstStyle/>
              <a:p>
                <a:r>
                  <a:rPr lang="en-US">
                    <a:noFill/>
                  </a:rPr>
                  <a:t> </a:t>
                </a:r>
              </a:p>
            </p:txBody>
          </p:sp>
        </mc:Fallback>
      </mc:AlternateContent>
    </p:spTree>
    <p:extLst>
      <p:ext uri="{BB962C8B-B14F-4D97-AF65-F5344CB8AC3E}">
        <p14:creationId xmlns:p14="http://schemas.microsoft.com/office/powerpoint/2010/main" val="14066073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7"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39A-038B-0BC3-7879-CEC1E529B53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B446A78-27CE-1F60-0C65-790E23CCC22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BE015D9F-644A-F444-8535-F0E9FA096D0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6B6CB9BE-191B-2357-FEB6-BD237B90E9A1}"/>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D0199746-AE4C-5587-0E14-BE3328799A7B}"/>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B1183F-B913-106A-D30E-9F3C62F44F66}"/>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15B1183F-B913-106A-D30E-9F3C62F44F66}"/>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4"/>
                <a:stretch>
                  <a:fillRect l="-1014" b="-2173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6A05FCE0-2691-8921-BC80-428B8D957229}"/>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05B208-DE7C-6E0C-2E2F-0E3BD3508322}"/>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9405B208-DE7C-6E0C-2E2F-0E3BD3508322}"/>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5"/>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FF65306-E829-EE80-E8E6-5899A42C8FBA}"/>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6FF65306-E829-EE80-E8E6-5899A42C8FBA}"/>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6"/>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1210E87-11E8-A355-8F9E-040D892D08A3}"/>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073B39E0-744C-8C62-B94B-6AC88AD00348}"/>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AF9BF25B-D040-1B97-9320-9596E372CA96}"/>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A4187C2-2279-F67C-E78C-42B2438B1B90}"/>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EA4187C2-2279-F67C-E78C-42B2438B1B90}"/>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7"/>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49E5D24-D2C3-FF2E-C3CF-F423CC15B368}"/>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E49E5D24-D2C3-FF2E-C3CF-F423CC15B368}"/>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8"/>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ACC34DB-DD62-E10C-B6F2-822C96F1DD2B}"/>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C306CA7E-6048-3774-DD98-EE3985F5B70D}"/>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TextBox 1">
            <a:extLst>
              <a:ext uri="{FF2B5EF4-FFF2-40B4-BE49-F238E27FC236}">
                <a16:creationId xmlns:a16="http://schemas.microsoft.com/office/drawing/2014/main" id="{0EC98BD6-F606-D432-9368-25627D269689}"/>
              </a:ext>
            </a:extLst>
          </p:cNvPr>
          <p:cNvSpPr txBox="1"/>
          <p:nvPr/>
        </p:nvSpPr>
        <p:spPr>
          <a:xfrm>
            <a:off x="6676479" y="5444012"/>
            <a:ext cx="1992277" cy="369332"/>
          </a:xfrm>
          <a:prstGeom prst="rect">
            <a:avLst/>
          </a:prstGeom>
          <a:noFill/>
        </p:spPr>
        <p:txBody>
          <a:bodyPr wrap="none" rtlCol="0">
            <a:spAutoFit/>
          </a:bodyPr>
          <a:lstStyle/>
          <a:p>
            <a:r>
              <a:rPr lang="en-US" dirty="0">
                <a:solidFill>
                  <a:srgbClr val="FF0000"/>
                </a:solidFill>
              </a:rPr>
              <a:t>Clock Sync. Errors</a:t>
            </a:r>
          </a:p>
        </p:txBody>
      </p:sp>
      <p:sp>
        <p:nvSpPr>
          <p:cNvPr id="3" name="Right Arrow 2">
            <a:extLst>
              <a:ext uri="{FF2B5EF4-FFF2-40B4-BE49-F238E27FC236}">
                <a16:creationId xmlns:a16="http://schemas.microsoft.com/office/drawing/2014/main" id="{03BF6577-9B9D-55E1-2C4A-40D4DB6CD9EA}"/>
              </a:ext>
            </a:extLst>
          </p:cNvPr>
          <p:cNvSpPr/>
          <p:nvPr/>
        </p:nvSpPr>
        <p:spPr>
          <a:xfrm rot="14353615">
            <a:off x="6333027" y="4728814"/>
            <a:ext cx="982925" cy="387570"/>
          </a:xfrm>
          <a:custGeom>
            <a:avLst/>
            <a:gdLst>
              <a:gd name="csX0" fmla="*/ 0 w 982925"/>
              <a:gd name="csY0" fmla="*/ 96893 h 387570"/>
              <a:gd name="csX1" fmla="*/ 402461 w 982925"/>
              <a:gd name="csY1" fmla="*/ 96893 h 387570"/>
              <a:gd name="csX2" fmla="*/ 789140 w 982925"/>
              <a:gd name="csY2" fmla="*/ 96893 h 387570"/>
              <a:gd name="csX3" fmla="*/ 789140 w 982925"/>
              <a:gd name="csY3" fmla="*/ 0 h 387570"/>
              <a:gd name="csX4" fmla="*/ 982925 w 982925"/>
              <a:gd name="csY4" fmla="*/ 193785 h 387570"/>
              <a:gd name="csX5" fmla="*/ 789140 w 982925"/>
              <a:gd name="csY5" fmla="*/ 387570 h 387570"/>
              <a:gd name="csX6" fmla="*/ 789140 w 982925"/>
              <a:gd name="csY6" fmla="*/ 290678 h 387570"/>
              <a:gd name="csX7" fmla="*/ 394570 w 982925"/>
              <a:gd name="csY7" fmla="*/ 290678 h 387570"/>
              <a:gd name="csX8" fmla="*/ 0 w 982925"/>
              <a:gd name="csY8" fmla="*/ 290678 h 387570"/>
              <a:gd name="csX9" fmla="*/ 0 w 9829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2925" h="387570" fill="none" extrusionOk="0">
                <a:moveTo>
                  <a:pt x="0" y="96893"/>
                </a:moveTo>
                <a:cubicBezTo>
                  <a:pt x="151983" y="81191"/>
                  <a:pt x="268718" y="136407"/>
                  <a:pt x="402461" y="96893"/>
                </a:cubicBezTo>
                <a:cubicBezTo>
                  <a:pt x="536204" y="57379"/>
                  <a:pt x="704436" y="99657"/>
                  <a:pt x="789140" y="96893"/>
                </a:cubicBezTo>
                <a:cubicBezTo>
                  <a:pt x="787923" y="67594"/>
                  <a:pt x="791852" y="24936"/>
                  <a:pt x="789140" y="0"/>
                </a:cubicBezTo>
                <a:cubicBezTo>
                  <a:pt x="840788" y="37569"/>
                  <a:pt x="922187" y="163467"/>
                  <a:pt x="982925" y="193785"/>
                </a:cubicBezTo>
                <a:cubicBezTo>
                  <a:pt x="954915" y="257485"/>
                  <a:pt x="858105" y="281232"/>
                  <a:pt x="789140" y="387570"/>
                </a:cubicBezTo>
                <a:cubicBezTo>
                  <a:pt x="779560" y="350582"/>
                  <a:pt x="795077" y="338961"/>
                  <a:pt x="789140" y="290678"/>
                </a:cubicBezTo>
                <a:cubicBezTo>
                  <a:pt x="691634" y="295001"/>
                  <a:pt x="505506" y="244184"/>
                  <a:pt x="394570" y="290678"/>
                </a:cubicBezTo>
                <a:cubicBezTo>
                  <a:pt x="283634" y="337172"/>
                  <a:pt x="87860" y="286059"/>
                  <a:pt x="0" y="290678"/>
                </a:cubicBezTo>
                <a:cubicBezTo>
                  <a:pt x="-7216" y="210745"/>
                  <a:pt x="6629" y="192501"/>
                  <a:pt x="0" y="96893"/>
                </a:cubicBezTo>
                <a:close/>
              </a:path>
              <a:path w="982925" h="387570" stroke="0" extrusionOk="0">
                <a:moveTo>
                  <a:pt x="0" y="96893"/>
                </a:moveTo>
                <a:cubicBezTo>
                  <a:pt x="79428" y="58109"/>
                  <a:pt x="273787" y="138140"/>
                  <a:pt x="386679" y="96893"/>
                </a:cubicBezTo>
                <a:cubicBezTo>
                  <a:pt x="499571" y="55646"/>
                  <a:pt x="652610" y="135947"/>
                  <a:pt x="789140" y="96893"/>
                </a:cubicBezTo>
                <a:cubicBezTo>
                  <a:pt x="781621" y="72251"/>
                  <a:pt x="796933" y="36327"/>
                  <a:pt x="789140" y="0"/>
                </a:cubicBezTo>
                <a:cubicBezTo>
                  <a:pt x="848440" y="47354"/>
                  <a:pt x="893470" y="137270"/>
                  <a:pt x="982925" y="193785"/>
                </a:cubicBezTo>
                <a:cubicBezTo>
                  <a:pt x="920522" y="285299"/>
                  <a:pt x="821486" y="324737"/>
                  <a:pt x="789140" y="387570"/>
                </a:cubicBezTo>
                <a:cubicBezTo>
                  <a:pt x="779454" y="355534"/>
                  <a:pt x="793244" y="320497"/>
                  <a:pt x="789140" y="290678"/>
                </a:cubicBezTo>
                <a:cubicBezTo>
                  <a:pt x="674786" y="298381"/>
                  <a:pt x="490228" y="249966"/>
                  <a:pt x="410353" y="290678"/>
                </a:cubicBezTo>
                <a:cubicBezTo>
                  <a:pt x="330478" y="331390"/>
                  <a:pt x="155476" y="244737"/>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F39F37D-26D4-80E0-F1E9-A1318A6AB0FA}"/>
              </a:ext>
            </a:extLst>
          </p:cNvPr>
          <p:cNvSpPr/>
          <p:nvPr/>
        </p:nvSpPr>
        <p:spPr>
          <a:xfrm rot="17802728">
            <a:off x="7530099" y="4662450"/>
            <a:ext cx="1049525" cy="387570"/>
          </a:xfrm>
          <a:custGeom>
            <a:avLst/>
            <a:gdLst>
              <a:gd name="csX0" fmla="*/ 0 w 1049525"/>
              <a:gd name="csY0" fmla="*/ 96893 h 387570"/>
              <a:gd name="csX1" fmla="*/ 436427 w 1049525"/>
              <a:gd name="csY1" fmla="*/ 96893 h 387570"/>
              <a:gd name="csX2" fmla="*/ 855740 w 1049525"/>
              <a:gd name="csY2" fmla="*/ 96893 h 387570"/>
              <a:gd name="csX3" fmla="*/ 855740 w 1049525"/>
              <a:gd name="csY3" fmla="*/ 0 h 387570"/>
              <a:gd name="csX4" fmla="*/ 1049525 w 1049525"/>
              <a:gd name="csY4" fmla="*/ 193785 h 387570"/>
              <a:gd name="csX5" fmla="*/ 855740 w 1049525"/>
              <a:gd name="csY5" fmla="*/ 387570 h 387570"/>
              <a:gd name="csX6" fmla="*/ 855740 w 1049525"/>
              <a:gd name="csY6" fmla="*/ 290678 h 387570"/>
              <a:gd name="csX7" fmla="*/ 427870 w 1049525"/>
              <a:gd name="csY7" fmla="*/ 290678 h 387570"/>
              <a:gd name="csX8" fmla="*/ 0 w 1049525"/>
              <a:gd name="csY8" fmla="*/ 290678 h 387570"/>
              <a:gd name="csX9" fmla="*/ 0 w 10495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525" h="387570" fill="none" extrusionOk="0">
                <a:moveTo>
                  <a:pt x="0" y="96893"/>
                </a:moveTo>
                <a:cubicBezTo>
                  <a:pt x="151814" y="85260"/>
                  <a:pt x="239773" y="98700"/>
                  <a:pt x="436427" y="96893"/>
                </a:cubicBezTo>
                <a:cubicBezTo>
                  <a:pt x="633081" y="95086"/>
                  <a:pt x="767305" y="111570"/>
                  <a:pt x="855740" y="96893"/>
                </a:cubicBezTo>
                <a:cubicBezTo>
                  <a:pt x="854523" y="67594"/>
                  <a:pt x="858452" y="24936"/>
                  <a:pt x="855740" y="0"/>
                </a:cubicBezTo>
                <a:cubicBezTo>
                  <a:pt x="907388" y="37569"/>
                  <a:pt x="988787" y="163467"/>
                  <a:pt x="1049525" y="193785"/>
                </a:cubicBezTo>
                <a:cubicBezTo>
                  <a:pt x="1021515" y="257485"/>
                  <a:pt x="924705" y="281232"/>
                  <a:pt x="855740" y="387570"/>
                </a:cubicBezTo>
                <a:cubicBezTo>
                  <a:pt x="846160" y="350582"/>
                  <a:pt x="861677" y="338961"/>
                  <a:pt x="855740" y="290678"/>
                </a:cubicBezTo>
                <a:cubicBezTo>
                  <a:pt x="735564" y="318441"/>
                  <a:pt x="566024" y="254901"/>
                  <a:pt x="427870" y="290678"/>
                </a:cubicBezTo>
                <a:cubicBezTo>
                  <a:pt x="289716" y="326455"/>
                  <a:pt x="188238" y="279072"/>
                  <a:pt x="0" y="290678"/>
                </a:cubicBezTo>
                <a:cubicBezTo>
                  <a:pt x="-7216" y="210745"/>
                  <a:pt x="6629" y="192501"/>
                  <a:pt x="0" y="96893"/>
                </a:cubicBezTo>
                <a:close/>
              </a:path>
              <a:path w="1049525" h="387570" stroke="0" extrusionOk="0">
                <a:moveTo>
                  <a:pt x="0" y="96893"/>
                </a:moveTo>
                <a:cubicBezTo>
                  <a:pt x="198689" y="82674"/>
                  <a:pt x="330075" y="139720"/>
                  <a:pt x="419313" y="96893"/>
                </a:cubicBezTo>
                <a:cubicBezTo>
                  <a:pt x="508551" y="54066"/>
                  <a:pt x="677362" y="134206"/>
                  <a:pt x="855740" y="96893"/>
                </a:cubicBezTo>
                <a:cubicBezTo>
                  <a:pt x="848221" y="72251"/>
                  <a:pt x="863533" y="36327"/>
                  <a:pt x="855740" y="0"/>
                </a:cubicBezTo>
                <a:cubicBezTo>
                  <a:pt x="915040" y="47354"/>
                  <a:pt x="960070" y="137270"/>
                  <a:pt x="1049525" y="193785"/>
                </a:cubicBezTo>
                <a:cubicBezTo>
                  <a:pt x="987122" y="285299"/>
                  <a:pt x="888086" y="324737"/>
                  <a:pt x="855740" y="387570"/>
                </a:cubicBezTo>
                <a:cubicBezTo>
                  <a:pt x="846054" y="355534"/>
                  <a:pt x="859844" y="320497"/>
                  <a:pt x="855740" y="290678"/>
                </a:cubicBezTo>
                <a:cubicBezTo>
                  <a:pt x="702313" y="295841"/>
                  <a:pt x="617239" y="245851"/>
                  <a:pt x="444985" y="290678"/>
                </a:cubicBezTo>
                <a:cubicBezTo>
                  <a:pt x="272731" y="335505"/>
                  <a:pt x="220852" y="287491"/>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83853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9" grpId="0" animBg="1"/>
      <p:bldP spid="9" grpId="1"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6F66-F18D-E38B-1A99-C9C5607A4F4F}"/>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67195C3-A1D8-0159-FF93-8913A6EC74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56FDDFCC-87FA-0003-E2B9-47689E868700}"/>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AC21581-B7EE-43F2-86B2-FDE2D7BB7E7D}"/>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6DCB73EB-1FD9-612D-F294-745001FBA2B9}"/>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6E953-1832-5FD3-3BA2-3B8C33481975}"/>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8C46E953-1832-5FD3-3BA2-3B8C33481975}"/>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124197-0FA5-5AE6-2BA2-19A84FBF65EE}"/>
                  </a:ext>
                </a:extLst>
              </p:cNvPr>
              <p:cNvSpPr txBox="1"/>
              <p:nvPr/>
            </p:nvSpPr>
            <p:spPr>
              <a:xfrm>
                <a:off x="2539146"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E6124197-0FA5-5AE6-2BA2-19A84FBF65EE}"/>
                  </a:ext>
                </a:extLst>
              </p:cNvPr>
              <p:cNvSpPr txBox="1">
                <a:spLocks noRot="1" noChangeAspect="1" noMove="1" noResize="1" noEditPoints="1" noAdjustHandles="1" noChangeArrowheads="1" noChangeShapeType="1" noTextEdit="1"/>
              </p:cNvSpPr>
              <p:nvPr/>
            </p:nvSpPr>
            <p:spPr>
              <a:xfrm>
                <a:off x="2539146"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828AB0-9652-F695-05DD-71EEA76DB4B3}"/>
                  </a:ext>
                </a:extLst>
              </p:cNvPr>
              <p:cNvSpPr txBox="1"/>
              <p:nvPr/>
            </p:nvSpPr>
            <p:spPr>
              <a:xfrm>
                <a:off x="4158542"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E8828AB0-9652-F695-05DD-71EEA76DB4B3}"/>
                  </a:ext>
                </a:extLst>
              </p:cNvPr>
              <p:cNvSpPr txBox="1">
                <a:spLocks noRot="1" noChangeAspect="1" noMove="1" noResize="1" noEditPoints="1" noAdjustHandles="1" noChangeArrowheads="1" noChangeShapeType="1" noTextEdit="1"/>
              </p:cNvSpPr>
              <p:nvPr/>
            </p:nvSpPr>
            <p:spPr>
              <a:xfrm>
                <a:off x="4158542"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3405D7-2E16-9F16-9608-A1E1A4F17BA7}"/>
                  </a:ext>
                </a:extLst>
              </p:cNvPr>
              <p:cNvSpPr txBox="1"/>
              <p:nvPr/>
            </p:nvSpPr>
            <p:spPr>
              <a:xfrm>
                <a:off x="6266808"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53405D7-2E16-9F16-9608-A1E1A4F17BA7}"/>
                  </a:ext>
                </a:extLst>
              </p:cNvPr>
              <p:cNvSpPr txBox="1">
                <a:spLocks noRot="1" noChangeAspect="1" noMove="1" noResize="1" noEditPoints="1" noAdjustHandles="1" noChangeArrowheads="1" noChangeShapeType="1" noTextEdit="1"/>
              </p:cNvSpPr>
              <p:nvPr/>
            </p:nvSpPr>
            <p:spPr>
              <a:xfrm>
                <a:off x="6266808" y="5058930"/>
                <a:ext cx="894604" cy="430887"/>
              </a:xfrm>
              <a:prstGeom prst="rect">
                <a:avLst/>
              </a:prstGeom>
              <a:blipFill>
                <a:blip r:embed="rId6"/>
                <a:stretch>
                  <a:fillRect l="-2817" t="-8571" r="-281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611F11-BBFE-8149-4B22-028B6622C879}"/>
                  </a:ext>
                </a:extLst>
              </p:cNvPr>
              <p:cNvSpPr txBox="1"/>
              <p:nvPr/>
            </p:nvSpPr>
            <p:spPr>
              <a:xfrm>
                <a:off x="3668597"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A3611F11-BBFE-8149-4B22-028B6622C879}"/>
                  </a:ext>
                </a:extLst>
              </p:cNvPr>
              <p:cNvSpPr txBox="1">
                <a:spLocks noRot="1" noChangeAspect="1" noMove="1" noResize="1" noEditPoints="1" noAdjustHandles="1" noChangeArrowheads="1" noChangeShapeType="1" noTextEdit="1"/>
              </p:cNvSpPr>
              <p:nvPr/>
            </p:nvSpPr>
            <p:spPr>
              <a:xfrm>
                <a:off x="3668597"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C48E805-2D48-1E1C-40B4-2B9867673F8C}"/>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F3C5C7-7E76-8909-73E4-08D3EC148C9C}"/>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ABF3C5C7-7E76-8909-73E4-08D3EC148C9C}"/>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8"/>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A1EE13-C018-221E-8142-F244747C8A4F}"/>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71A1EE13-C018-221E-8142-F244747C8A4F}"/>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9"/>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7E7B921-909F-7366-31BC-C67860892358}"/>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CB120D8E-7250-DCB2-D577-704DA1578907}"/>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CF2E3C76-481A-48ED-CF9F-897EB9AB1ADC}"/>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39DB03-80AE-0D0D-F324-19F5B4CF1D6E}"/>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4539DB03-80AE-0D0D-F324-19F5B4CF1D6E}"/>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0"/>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6630BB4-1F1C-9EE9-B481-A02C236590CE}"/>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B6630BB4-1F1C-9EE9-B481-A02C236590CE}"/>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1"/>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56C90B5-C303-48C3-32AD-11CEE32F9AF6}"/>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654A8E54-70A0-3815-FBAA-3035FC5C2C47}"/>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Oval 1">
            <a:extLst>
              <a:ext uri="{FF2B5EF4-FFF2-40B4-BE49-F238E27FC236}">
                <a16:creationId xmlns:a16="http://schemas.microsoft.com/office/drawing/2014/main" id="{DA62D176-C321-087C-9061-FB2567C8139E}"/>
              </a:ext>
            </a:extLst>
          </p:cNvPr>
          <p:cNvSpPr/>
          <p:nvPr/>
        </p:nvSpPr>
        <p:spPr>
          <a:xfrm>
            <a:off x="6559037" y="4993188"/>
            <a:ext cx="707592" cy="674170"/>
          </a:xfrm>
          <a:prstGeom prst="ellipse">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402133-FAA7-16D4-3758-35B1ADBC8E8F}"/>
              </a:ext>
            </a:extLst>
          </p:cNvPr>
          <p:cNvSpPr txBox="1"/>
          <p:nvPr/>
        </p:nvSpPr>
        <p:spPr>
          <a:xfrm>
            <a:off x="7303814" y="5191203"/>
            <a:ext cx="1191608" cy="369332"/>
          </a:xfrm>
          <a:prstGeom prst="rect">
            <a:avLst/>
          </a:prstGeom>
          <a:noFill/>
        </p:spPr>
        <p:txBody>
          <a:bodyPr wrap="none" rtlCol="0">
            <a:spAutoFit/>
          </a:bodyPr>
          <a:lstStyle/>
          <a:p>
            <a:r>
              <a:rPr lang="en-US" dirty="0">
                <a:solidFill>
                  <a:schemeClr val="accent6"/>
                </a:solidFill>
              </a:rPr>
              <a:t>estimated</a:t>
            </a:r>
          </a:p>
        </p:txBody>
      </p:sp>
    </p:spTree>
    <p:extLst>
      <p:ext uri="{BB962C8B-B14F-4D97-AF65-F5344CB8AC3E}">
        <p14:creationId xmlns:p14="http://schemas.microsoft.com/office/powerpoint/2010/main" val="40569499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animBg="1"/>
      <p:bldP spid="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9653-8FBD-C43A-1C77-2A9685B0B2D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F869D1C-3BD3-F431-D65D-1FF5664C1038}"/>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EFDB1166-588E-909A-0AF4-AA68E8B5AEA3}"/>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DA13871F-47B4-6475-3BFE-FB1B88F91E24}"/>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C8CD046-7BF3-AC43-0B28-51E2234E573C}"/>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671BDA0-FEFB-8C0A-763D-010FDA86275A}"/>
                  </a:ext>
                </a:extLst>
              </p:cNvPr>
              <p:cNvSpPr txBox="1"/>
              <p:nvPr/>
            </p:nvSpPr>
            <p:spPr>
              <a:xfrm>
                <a:off x="308886"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3671BDA0-FEFB-8C0A-763D-010FDA86275A}"/>
                  </a:ext>
                </a:extLst>
              </p:cNvPr>
              <p:cNvSpPr txBox="1">
                <a:spLocks noRot="1" noChangeAspect="1" noMove="1" noResize="1" noEditPoints="1" noAdjustHandles="1" noChangeArrowheads="1" noChangeShapeType="1" noTextEdit="1"/>
              </p:cNvSpPr>
              <p:nvPr/>
            </p:nvSpPr>
            <p:spPr>
              <a:xfrm>
                <a:off x="308886"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6D328-E966-3C8B-DC4E-4A8AF584E5A4}"/>
                  </a:ext>
                </a:extLst>
              </p:cNvPr>
              <p:cNvSpPr txBox="1"/>
              <p:nvPr/>
            </p:nvSpPr>
            <p:spPr>
              <a:xfrm>
                <a:off x="254000"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8516D328-E966-3C8B-DC4E-4A8AF584E5A4}"/>
                  </a:ext>
                </a:extLst>
              </p:cNvPr>
              <p:cNvSpPr txBox="1">
                <a:spLocks noRot="1" noChangeAspect="1" noMove="1" noResize="1" noEditPoints="1" noAdjustHandles="1" noChangeArrowheads="1" noChangeShapeType="1" noTextEdit="1"/>
              </p:cNvSpPr>
              <p:nvPr/>
            </p:nvSpPr>
            <p:spPr>
              <a:xfrm>
                <a:off x="254000"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F9A13B-D415-F12A-C1A8-D543E03DDB28}"/>
                  </a:ext>
                </a:extLst>
              </p:cNvPr>
              <p:cNvSpPr txBox="1"/>
              <p:nvPr/>
            </p:nvSpPr>
            <p:spPr>
              <a:xfrm>
                <a:off x="1873396"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9EF9A13B-D415-F12A-C1A8-D543E03DDB28}"/>
                  </a:ext>
                </a:extLst>
              </p:cNvPr>
              <p:cNvSpPr txBox="1">
                <a:spLocks noRot="1" noChangeAspect="1" noMove="1" noResize="1" noEditPoints="1" noAdjustHandles="1" noChangeArrowheads="1" noChangeShapeType="1" noTextEdit="1"/>
              </p:cNvSpPr>
              <p:nvPr/>
            </p:nvSpPr>
            <p:spPr>
              <a:xfrm>
                <a:off x="1873396"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44CB7C-98AD-A4B4-E478-E69C1AC28C26}"/>
                  </a:ext>
                </a:extLst>
              </p:cNvPr>
              <p:cNvSpPr txBox="1"/>
              <p:nvPr/>
            </p:nvSpPr>
            <p:spPr>
              <a:xfrm>
                <a:off x="3981662"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C44CB7C-98AD-A4B4-E478-E69C1AC28C26}"/>
                  </a:ext>
                </a:extLst>
              </p:cNvPr>
              <p:cNvSpPr txBox="1">
                <a:spLocks noRot="1" noChangeAspect="1" noMove="1" noResize="1" noEditPoints="1" noAdjustHandles="1" noChangeArrowheads="1" noChangeShapeType="1" noTextEdit="1"/>
              </p:cNvSpPr>
              <p:nvPr/>
            </p:nvSpPr>
            <p:spPr>
              <a:xfrm>
                <a:off x="3981662" y="5058930"/>
                <a:ext cx="894604" cy="430887"/>
              </a:xfrm>
              <a:prstGeom prst="rect">
                <a:avLst/>
              </a:prstGeom>
              <a:blipFill>
                <a:blip r:embed="rId6"/>
                <a:stretch>
                  <a:fillRect l="-2817" t="-8571" r="-4225"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8480FE-C218-20C4-084B-313296981C91}"/>
                  </a:ext>
                </a:extLst>
              </p:cNvPr>
              <p:cNvSpPr txBox="1"/>
              <p:nvPr/>
            </p:nvSpPr>
            <p:spPr>
              <a:xfrm>
                <a:off x="1383451"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EE8480FE-C218-20C4-084B-313296981C91}"/>
                  </a:ext>
                </a:extLst>
              </p:cNvPr>
              <p:cNvSpPr txBox="1">
                <a:spLocks noRot="1" noChangeAspect="1" noMove="1" noResize="1" noEditPoints="1" noAdjustHandles="1" noChangeArrowheads="1" noChangeShapeType="1" noTextEdit="1"/>
              </p:cNvSpPr>
              <p:nvPr/>
            </p:nvSpPr>
            <p:spPr>
              <a:xfrm>
                <a:off x="1383451"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EBFFD7-74BA-3D33-046F-81093C662482}"/>
                  </a:ext>
                </a:extLst>
              </p:cNvPr>
              <p:cNvSpPr txBox="1"/>
              <p:nvPr/>
            </p:nvSpPr>
            <p:spPr>
              <a:xfrm>
                <a:off x="7114870" y="4280852"/>
                <a:ext cx="419405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r>
                        <a:rPr lang="en-US" sz="2800" i="1" dirty="0" smtClean="0">
                          <a:solidFill>
                            <a:srgbClr val="FF0000"/>
                          </a:solidFill>
                          <a:latin typeface="Cambria Math" panose="02040503050406030204" pitchFamily="18" charset="0"/>
                        </a:rPr>
                        <m:t>,</m:t>
                      </m:r>
                      <m:r>
                        <a:rPr lang="en-US" sz="2800" b="0" i="1"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m:rPr>
                          <m:nor/>
                        </m:rPr>
                        <a:rPr lang="en-US" sz="2800" b="0" i="0" smtClean="0">
                          <a:solidFill>
                            <a:srgbClr val="FF0000"/>
                          </a:solidFill>
                          <a:latin typeface="Cambria Math" panose="02040503050406030204" pitchFamily="18" charset="0"/>
                          <a:ea typeface="Cambria Math" panose="02040503050406030204" pitchFamily="18" charset="0"/>
                        </a:rPr>
                        <m:t> </m:t>
                      </m:r>
                      <m:r>
                        <m:rPr>
                          <m:nor/>
                        </m:rPr>
                        <a:rPr lang="en-US" sz="2800" dirty="0"/>
                        <m:t>normally</m:t>
                      </m:r>
                      <m:r>
                        <m:rPr>
                          <m:nor/>
                        </m:rPr>
                        <a:rPr lang="en-US" sz="2800" dirty="0"/>
                        <m:t> </m:t>
                      </m:r>
                      <m:r>
                        <m:rPr>
                          <m:nor/>
                        </m:rPr>
                        <a:rPr lang="en-US" sz="2800" dirty="0"/>
                        <m:t>distributed</m:t>
                      </m:r>
                    </m:oMath>
                  </m:oMathPara>
                </a14:m>
                <a:endParaRPr/>
              </a:p>
            </p:txBody>
          </p:sp>
        </mc:Choice>
        <mc:Fallback xmlns="">
          <p:sp>
            <p:nvSpPr>
              <p:cNvPr id="10" name="TextBox 9">
                <a:extLst>
                  <a:ext uri="{FF2B5EF4-FFF2-40B4-BE49-F238E27FC236}">
                    <a16:creationId xmlns:a16="http://schemas.microsoft.com/office/drawing/2014/main" id="{14EBFFD7-74BA-3D33-046F-81093C662482}"/>
                  </a:ext>
                </a:extLst>
              </p:cNvPr>
              <p:cNvSpPr txBox="1">
                <a:spLocks noRot="1" noChangeAspect="1" noMove="1" noResize="1" noEditPoints="1" noAdjustHandles="1" noChangeArrowheads="1" noChangeShapeType="1" noTextEdit="1"/>
              </p:cNvSpPr>
              <p:nvPr/>
            </p:nvSpPr>
            <p:spPr>
              <a:xfrm>
                <a:off x="7114870" y="4280852"/>
                <a:ext cx="4194050" cy="557910"/>
              </a:xfrm>
              <a:prstGeom prst="rect">
                <a:avLst/>
              </a:prstGeom>
              <a:blipFill>
                <a:blip r:embed="rId8"/>
                <a:stretch>
                  <a:fillRect t="-6522" r="-3625" b="-217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43E0871-AE85-36C5-EDF1-380031657BD7}"/>
              </a:ext>
            </a:extLst>
          </p:cNvPr>
          <p:cNvGrpSpPr/>
          <p:nvPr/>
        </p:nvGrpSpPr>
        <p:grpSpPr>
          <a:xfrm>
            <a:off x="6278880" y="5057200"/>
            <a:ext cx="5684799" cy="1464053"/>
            <a:chOff x="6278880" y="5057200"/>
            <a:chExt cx="5684799" cy="1464053"/>
          </a:xfrm>
        </p:grpSpPr>
        <p:sp>
          <p:nvSpPr>
            <p:cNvPr id="23" name="Rectangle 22">
              <a:extLst>
                <a:ext uri="{FF2B5EF4-FFF2-40B4-BE49-F238E27FC236}">
                  <a16:creationId xmlns:a16="http://schemas.microsoft.com/office/drawing/2014/main" id="{FF9FA160-4419-F51B-065E-B0BFCA62F6E6}"/>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D81647-5C3F-8D94-716B-3F6B029D356E}"/>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17" name="TextBox 16">
                  <a:extLst>
                    <a:ext uri="{FF2B5EF4-FFF2-40B4-BE49-F238E27FC236}">
                      <a16:creationId xmlns:a16="http://schemas.microsoft.com/office/drawing/2014/main" id="{7AD81647-5C3F-8D94-716B-3F6B029D356E}"/>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9"/>
                  <a:stretch>
                    <a:fillRect l="-686" r="-343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BB4728D-7D4E-9362-C795-215F44FAE9E8}"/>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B1AD8F-124B-CCFD-67CD-1BE6F5DEC906}"/>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9" name="TextBox 28">
                  <a:extLst>
                    <a:ext uri="{FF2B5EF4-FFF2-40B4-BE49-F238E27FC236}">
                      <a16:creationId xmlns:a16="http://schemas.microsoft.com/office/drawing/2014/main" id="{94B1AD8F-124B-CCFD-67CD-1BE6F5DEC906}"/>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10"/>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363231-B022-5FD9-8FB8-DD2470C3203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30" name="TextBox 29">
                  <a:extLst>
                    <a:ext uri="{FF2B5EF4-FFF2-40B4-BE49-F238E27FC236}">
                      <a16:creationId xmlns:a16="http://schemas.microsoft.com/office/drawing/2014/main" id="{A6363231-B022-5FD9-8FB8-DD2470C3203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11"/>
                  <a:stretch>
                    <a:fillRect l="-21875" r="-18750" b="-20455"/>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00D07F6F-D4DA-3562-41F3-094CA99B1020}"/>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C4A75C46-C3D5-E429-C377-37D403BF327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3" name="Group 32">
            <a:extLst>
              <a:ext uri="{FF2B5EF4-FFF2-40B4-BE49-F238E27FC236}">
                <a16:creationId xmlns:a16="http://schemas.microsoft.com/office/drawing/2014/main" id="{80B7347F-B0A7-7D22-4CD2-6090EA4EF264}"/>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EB037AA-F445-A295-7BC6-BE59E83DD24B}"/>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4" name="TextBox 33">
                  <a:extLst>
                    <a:ext uri="{FF2B5EF4-FFF2-40B4-BE49-F238E27FC236}">
                      <a16:creationId xmlns:a16="http://schemas.microsoft.com/office/drawing/2014/main" id="{0EB037AA-F445-A295-7BC6-BE59E83DD24B}"/>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2"/>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82927F-23CF-18C0-CC7D-1EC09EBE66CA}"/>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5" name="TextBox 34">
                  <a:extLst>
                    <a:ext uri="{FF2B5EF4-FFF2-40B4-BE49-F238E27FC236}">
                      <a16:creationId xmlns:a16="http://schemas.microsoft.com/office/drawing/2014/main" id="{1A82927F-23CF-18C0-CC7D-1EC09EBE66CA}"/>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3"/>
                  <a:stretch>
                    <a:fillRect l="-18421" r="-5263" b="-22727"/>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B280D934-BDB8-576D-1FA9-04C1CC88A145}"/>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E2DBE604-7EBA-DD75-6B98-29C5BA8C53DC}"/>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Tree>
    <p:extLst>
      <p:ext uri="{BB962C8B-B14F-4D97-AF65-F5344CB8AC3E}">
        <p14:creationId xmlns:p14="http://schemas.microsoft.com/office/powerpoint/2010/main" val="226848629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0536-51FC-8757-8016-A665A2C4016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4ADCF90-5E75-F266-5254-6D3125F46BD9}"/>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BF7CFEF-376C-ABC2-6C05-C7B297748785}"/>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725FEC66-3E0A-7E64-893B-5F0760C4D61E}"/>
              </a:ext>
            </a:extLst>
          </p:cNvPr>
          <p:cNvSpPr/>
          <p:nvPr/>
        </p:nvSpPr>
        <p:spPr>
          <a:xfrm>
            <a:off x="1596371" y="162427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C2F801F7-2503-A7AD-7E80-686A572DB40B}"/>
              </a:ext>
            </a:extLst>
          </p:cNvPr>
          <p:cNvSpPr/>
          <p:nvPr/>
        </p:nvSpPr>
        <p:spPr>
          <a:xfrm>
            <a:off x="1596370" y="28120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CE795454-60AF-CF1D-39BF-DB33211D7E12}"/>
              </a:ext>
            </a:extLst>
          </p:cNvPr>
          <p:cNvSpPr/>
          <p:nvPr/>
        </p:nvSpPr>
        <p:spPr>
          <a:xfrm>
            <a:off x="1596369" y="3999823"/>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955386A-E9BB-B335-859D-ED9757E75200}"/>
                  </a:ext>
                </a:extLst>
              </p:cNvPr>
              <p:cNvSpPr txBox="1"/>
              <p:nvPr/>
            </p:nvSpPr>
            <p:spPr>
              <a:xfrm>
                <a:off x="3876395" y="1947720"/>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p:sp>
            <p:nvSpPr>
              <p:cNvPr id="6" name="TextBox 5">
                <a:extLst>
                  <a:ext uri="{FF2B5EF4-FFF2-40B4-BE49-F238E27FC236}">
                    <a16:creationId xmlns:a16="http://schemas.microsoft.com/office/drawing/2014/main" id="{A955386A-E9BB-B335-859D-ED9757E75200}"/>
                  </a:ext>
                </a:extLst>
              </p:cNvPr>
              <p:cNvSpPr txBox="1">
                <a:spLocks noRot="1" noChangeAspect="1" noMove="1" noResize="1" noEditPoints="1" noAdjustHandles="1" noChangeArrowheads="1" noChangeShapeType="1" noTextEdit="1"/>
              </p:cNvSpPr>
              <p:nvPr/>
            </p:nvSpPr>
            <p:spPr>
              <a:xfrm>
                <a:off x="3876395" y="1947720"/>
                <a:ext cx="4284763" cy="1031436"/>
              </a:xfrm>
              <a:prstGeom prst="rect">
                <a:avLst/>
              </a:prstGeom>
              <a:blipFill>
                <a:blip r:embed="rId3"/>
                <a:stretch>
                  <a:fillRect l="-1479" t="-173171" r="-1479" b="-240244"/>
                </a:stretch>
              </a:blipFill>
            </p:spPr>
            <p:txBody>
              <a:bodyPr/>
              <a:lstStyle/>
              <a:p>
                <a:r>
                  <a:rPr lang="en-US">
                    <a:noFill/>
                  </a:rPr>
                  <a:t> </a:t>
                </a:r>
              </a:p>
            </p:txBody>
          </p:sp>
        </mc:Fallback>
      </mc:AlternateContent>
    </p:spTree>
    <p:extLst>
      <p:ext uri="{BB962C8B-B14F-4D97-AF65-F5344CB8AC3E}">
        <p14:creationId xmlns:p14="http://schemas.microsoft.com/office/powerpoint/2010/main" val="17056198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16DA-46F4-FC44-495F-83024AC434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EA8E38F6-5C18-191C-9107-81A15BF25B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3B26F944-3B9F-2EF8-DF79-84950969D780}"/>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20D9A57D-992D-07B3-4D8D-FBCB9EC90D32}"/>
              </a:ext>
            </a:extLst>
          </p:cNvPr>
          <p:cNvSpPr/>
          <p:nvPr/>
        </p:nvSpPr>
        <p:spPr>
          <a:xfrm>
            <a:off x="3224910" y="2876240"/>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ECA02CA-8077-33DB-C7C5-AD40AB941F75}"/>
              </a:ext>
            </a:extLst>
          </p:cNvPr>
          <p:cNvSpPr/>
          <p:nvPr/>
        </p:nvSpPr>
        <p:spPr>
          <a:xfrm>
            <a:off x="5470102" y="189299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1FDDC5A6-4292-49AE-D5FF-CA19D963D3C3}"/>
              </a:ext>
            </a:extLst>
          </p:cNvPr>
          <p:cNvSpPr/>
          <p:nvPr/>
        </p:nvSpPr>
        <p:spPr>
          <a:xfrm>
            <a:off x="7053315" y="3583247"/>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7E8EA1AE-8F97-CF1C-3BDE-A8865E42191C}"/>
              </a:ext>
            </a:extLst>
          </p:cNvPr>
          <p:cNvSpPr/>
          <p:nvPr/>
        </p:nvSpPr>
        <p:spPr>
          <a:xfrm rot="20185536">
            <a:off x="4436467" y="25367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CC60C383-228D-8C55-A107-AA46C6071BA8}"/>
              </a:ext>
            </a:extLst>
          </p:cNvPr>
          <p:cNvSpPr/>
          <p:nvPr/>
        </p:nvSpPr>
        <p:spPr>
          <a:xfrm rot="3221364">
            <a:off x="6547870" y="30445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DD26C82A-FD3E-962A-4287-88780F685FB6}"/>
              </a:ext>
            </a:extLst>
          </p:cNvPr>
          <p:cNvSpPr/>
          <p:nvPr/>
        </p:nvSpPr>
        <p:spPr>
          <a:xfrm rot="11578444">
            <a:off x="5132698" y="3611787"/>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3655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23"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1F45-69ED-C944-8A5D-8A68257F8D55}"/>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B146F8C-C0E8-66E0-BFED-F96DEAAE91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D46F1E9E-4ACB-70D9-E63B-DBCDD6A87D28}"/>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7267EEB-1C77-8EC5-A816-B34B766B770B}"/>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4D608EB2-26A8-475D-7DC7-EBFC5E8A7326}"/>
              </a:ext>
            </a:extLst>
          </p:cNvPr>
          <p:cNvSpPr/>
          <p:nvPr/>
        </p:nvSpPr>
        <p:spPr>
          <a:xfrm>
            <a:off x="2661752" y="17387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913F0326-66EA-F3CF-0ABB-7211D3B57650}"/>
              </a:ext>
            </a:extLst>
          </p:cNvPr>
          <p:cNvSpPr/>
          <p:nvPr/>
        </p:nvSpPr>
        <p:spPr>
          <a:xfrm>
            <a:off x="4244965" y="3429000"/>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C0BB4192-0CD1-A665-6222-2B6560048FD4}"/>
              </a:ext>
            </a:extLst>
          </p:cNvPr>
          <p:cNvSpPr/>
          <p:nvPr/>
        </p:nvSpPr>
        <p:spPr>
          <a:xfrm rot="20185536">
            <a:off x="1628117" y="23825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1C9DEDDF-D6F9-F026-489E-6E92B7E64956}"/>
              </a:ext>
            </a:extLst>
          </p:cNvPr>
          <p:cNvSpPr/>
          <p:nvPr/>
        </p:nvSpPr>
        <p:spPr>
          <a:xfrm rot="3221364">
            <a:off x="3739520" y="28903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19D0BCC-DD8C-1D7F-4D97-E58CB75FC4BE}"/>
              </a:ext>
            </a:extLst>
          </p:cNvPr>
          <p:cNvSpPr/>
          <p:nvPr/>
        </p:nvSpPr>
        <p:spPr>
          <a:xfrm rot="11578444">
            <a:off x="2324348" y="3457540"/>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85D930-BC02-9AA7-1F43-C4B915D63BE4}"/>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4A946EFA-9C8D-3C02-2B16-5394BD0C43C1}"/>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12" name="Rounded Rectangle 11">
                <a:extLst>
                  <a:ext uri="{FF2B5EF4-FFF2-40B4-BE49-F238E27FC236}">
                    <a16:creationId xmlns:a16="http://schemas.microsoft.com/office/drawing/2014/main" id="{4A946EFA-9C8D-3C02-2B16-5394BD0C43C1}"/>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935303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25F-3ED8-E9C7-44CD-0F53831688A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E3AA86A-FFE1-D3C5-EDB3-44914B7479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7DEAC065-7753-5AE2-E956-E480DDC73B47}"/>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2C07C2B-C786-A5D2-3952-F9A54DDAB2AE}"/>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B7DE34CF-45E5-A393-9D41-5D7107AB6C0F}"/>
              </a:ext>
            </a:extLst>
          </p:cNvPr>
          <p:cNvSpPr/>
          <p:nvPr/>
        </p:nvSpPr>
        <p:spPr>
          <a:xfrm>
            <a:off x="2433589" y="273627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EABA7DCB-E2EF-D157-0BA4-D4376942228B}"/>
              </a:ext>
            </a:extLst>
          </p:cNvPr>
          <p:cNvSpPr/>
          <p:nvPr/>
        </p:nvSpPr>
        <p:spPr>
          <a:xfrm>
            <a:off x="4531024" y="2782661"/>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AB714990-E6F0-6FE7-0CB1-077A58D2A519}"/>
              </a:ext>
            </a:extLst>
          </p:cNvPr>
          <p:cNvSpPr/>
          <p:nvPr/>
        </p:nvSpPr>
        <p:spPr>
          <a:xfrm rot="21467272">
            <a:off x="1606759" y="3014143"/>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129488B-2EAD-A1F4-C4CD-108CA31A6BD3}"/>
              </a:ext>
            </a:extLst>
          </p:cNvPr>
          <p:cNvSpPr/>
          <p:nvPr/>
        </p:nvSpPr>
        <p:spPr>
          <a:xfrm rot="8007">
            <a:off x="3685349" y="304910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85B700D-3EFA-E9E9-8A68-E6AB96E0BE8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4DD3B718-2269-A929-1814-8F0B44DDFA94}"/>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65527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04EB-34D9-C951-FCD7-C80EA3F9DDAC}"/>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11F3E789-9597-24C5-93F6-A82B46EFBC2F}"/>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846A2ED-F61C-8927-2217-C6D6DE68173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5" name="Rounded Rectangle 4">
            <a:extLst>
              <a:ext uri="{FF2B5EF4-FFF2-40B4-BE49-F238E27FC236}">
                <a16:creationId xmlns:a16="http://schemas.microsoft.com/office/drawing/2014/main" id="{7FA0E4A3-3CF5-24AF-D615-0876E05D7003}"/>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05BFD68E-25F1-7FC1-1136-63F2B840534F}"/>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
        <p:nvSpPr>
          <p:cNvPr id="4" name="Oval 3">
            <a:extLst>
              <a:ext uri="{FF2B5EF4-FFF2-40B4-BE49-F238E27FC236}">
                <a16:creationId xmlns:a16="http://schemas.microsoft.com/office/drawing/2014/main" id="{3A751E77-097D-85C4-3B13-477D7FBCF5F6}"/>
              </a:ext>
            </a:extLst>
          </p:cNvPr>
          <p:cNvSpPr/>
          <p:nvPr/>
        </p:nvSpPr>
        <p:spPr>
          <a:xfrm>
            <a:off x="416560" y="290219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7" name="Oval 6">
            <a:extLst>
              <a:ext uri="{FF2B5EF4-FFF2-40B4-BE49-F238E27FC236}">
                <a16:creationId xmlns:a16="http://schemas.microsoft.com/office/drawing/2014/main" id="{5C251123-1696-4E96-27CC-C452C28D22B2}"/>
              </a:ext>
            </a:extLst>
          </p:cNvPr>
          <p:cNvSpPr/>
          <p:nvPr/>
        </p:nvSpPr>
        <p:spPr>
          <a:xfrm>
            <a:off x="2661752" y="19189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8" name="Oval 7">
            <a:extLst>
              <a:ext uri="{FF2B5EF4-FFF2-40B4-BE49-F238E27FC236}">
                <a16:creationId xmlns:a16="http://schemas.microsoft.com/office/drawing/2014/main" id="{C159F21F-415D-4A65-F9D8-E8FBED937E23}"/>
              </a:ext>
            </a:extLst>
          </p:cNvPr>
          <p:cNvSpPr/>
          <p:nvPr/>
        </p:nvSpPr>
        <p:spPr>
          <a:xfrm>
            <a:off x="4244965" y="3609202"/>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9" name="Right Arrow 8">
            <a:extLst>
              <a:ext uri="{FF2B5EF4-FFF2-40B4-BE49-F238E27FC236}">
                <a16:creationId xmlns:a16="http://schemas.microsoft.com/office/drawing/2014/main" id="{44366E91-1DC6-D81B-65D9-DB1E72EAC9B1}"/>
              </a:ext>
            </a:extLst>
          </p:cNvPr>
          <p:cNvSpPr/>
          <p:nvPr/>
        </p:nvSpPr>
        <p:spPr>
          <a:xfrm rot="20185536">
            <a:off x="1628117" y="2562726"/>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00963573-5A18-5C81-727D-3E3D4D1463CC}"/>
              </a:ext>
            </a:extLst>
          </p:cNvPr>
          <p:cNvSpPr/>
          <p:nvPr/>
        </p:nvSpPr>
        <p:spPr>
          <a:xfrm rot="3221364">
            <a:off x="3739520" y="3070526"/>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714F23EB-9C27-CCEF-B410-1C8B8827A8DD}"/>
              </a:ext>
            </a:extLst>
          </p:cNvPr>
          <p:cNvSpPr/>
          <p:nvPr/>
        </p:nvSpPr>
        <p:spPr>
          <a:xfrm rot="11578444">
            <a:off x="2324348" y="3637742"/>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ultiply 12">
            <a:extLst>
              <a:ext uri="{FF2B5EF4-FFF2-40B4-BE49-F238E27FC236}">
                <a16:creationId xmlns:a16="http://schemas.microsoft.com/office/drawing/2014/main" id="{2BC9C8BC-25B1-F205-A175-FDA9BC74E57F}"/>
              </a:ext>
            </a:extLst>
          </p:cNvPr>
          <p:cNvSpPr/>
          <p:nvPr/>
        </p:nvSpPr>
        <p:spPr>
          <a:xfrm>
            <a:off x="6593840" y="1727200"/>
            <a:ext cx="4450080" cy="340360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0B349C9-D31C-0B2E-2F44-2BB2F9747AEB}"/>
              </a:ext>
            </a:extLst>
          </p:cNvPr>
          <p:cNvSpPr txBox="1"/>
          <p:nvPr/>
        </p:nvSpPr>
        <p:spPr>
          <a:xfrm>
            <a:off x="426722" y="4606730"/>
            <a:ext cx="5171440" cy="1323439"/>
          </a:xfrm>
          <a:prstGeom prst="rect">
            <a:avLst/>
          </a:prstGeom>
          <a:noFill/>
        </p:spPr>
        <p:txBody>
          <a:bodyPr wrap="square" rtlCol="0">
            <a:spAutoFit/>
          </a:bodyPr>
          <a:lstStyle/>
          <a:p>
            <a:r>
              <a:rPr lang="en-US" sz="4000" dirty="0"/>
              <a:t>In practice, cycles are present.</a:t>
            </a:r>
          </a:p>
        </p:txBody>
      </p:sp>
      <p:sp>
        <p:nvSpPr>
          <p:cNvPr id="15" name="TextBox 14">
            <a:extLst>
              <a:ext uri="{FF2B5EF4-FFF2-40B4-BE49-F238E27FC236}">
                <a16:creationId xmlns:a16="http://schemas.microsoft.com/office/drawing/2014/main" id="{F6C8A1C5-D248-F4EE-4B44-D101AE7D0E94}"/>
              </a:ext>
            </a:extLst>
          </p:cNvPr>
          <p:cNvSpPr txBox="1"/>
          <p:nvPr/>
        </p:nvSpPr>
        <p:spPr>
          <a:xfrm>
            <a:off x="426721" y="5930169"/>
            <a:ext cx="5171440" cy="707886"/>
          </a:xfrm>
          <a:prstGeom prst="rect">
            <a:avLst/>
          </a:prstGeom>
          <a:noFill/>
        </p:spPr>
        <p:txBody>
          <a:bodyPr wrap="square" rtlCol="0">
            <a:spAutoFit/>
          </a:bodyPr>
          <a:lstStyle/>
          <a:p>
            <a:r>
              <a:rPr lang="en-US" sz="4000" dirty="0"/>
              <a:t>What do we do then?</a:t>
            </a:r>
          </a:p>
        </p:txBody>
      </p:sp>
    </p:spTree>
    <p:extLst>
      <p:ext uri="{BB962C8B-B14F-4D97-AF65-F5344CB8AC3E}">
        <p14:creationId xmlns:p14="http://schemas.microsoft.com/office/powerpoint/2010/main" val="20392077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ADF-3F6B-4BBF-11D5-02472ABBFC0A}"/>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B7700E5B-D164-841F-A593-68FCB78A23E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2952EAE9-DFD9-DA9B-98E6-3995ED01DECD}"/>
              </a:ext>
            </a:extLst>
          </p:cNvPr>
          <p:cNvSpPr txBox="1"/>
          <p:nvPr/>
        </p:nvSpPr>
        <p:spPr>
          <a:xfrm>
            <a:off x="786510" y="1899920"/>
            <a:ext cx="9759570"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t>Ranking problem in social choice theory</a:t>
            </a:r>
          </a:p>
          <a:p>
            <a:pPr marL="457200" indent="-457200">
              <a:buFont typeface="Arial" panose="020B0604020202020204" pitchFamily="34" charset="0"/>
              <a:buChar char="•"/>
            </a:pPr>
            <a:r>
              <a:rPr lang="en-US" sz="3200" dirty="0"/>
              <a:t>Given votes from an electorate, find an election winner</a:t>
            </a:r>
          </a:p>
          <a:p>
            <a:pPr marL="457200" indent="-457200">
              <a:buFont typeface="Arial" panose="020B0604020202020204" pitchFamily="34" charset="0"/>
              <a:buChar char="•"/>
            </a:pPr>
            <a:r>
              <a:rPr lang="en-US" sz="3200" dirty="0"/>
              <a:t>Votes show pairwise preferences i.e., A candidate preferred over B candidate</a:t>
            </a:r>
          </a:p>
          <a:p>
            <a:pPr marL="457200" indent="-457200">
              <a:buFont typeface="Arial" panose="020B0604020202020204" pitchFamily="34" charset="0"/>
              <a:buChar char="•"/>
            </a:pPr>
            <a:r>
              <a:rPr lang="en-US" sz="3200" dirty="0"/>
              <a:t>Find the winner candidate that wins majority of votes/pairwise preferences</a:t>
            </a:r>
          </a:p>
        </p:txBody>
      </p:sp>
      <p:sp>
        <p:nvSpPr>
          <p:cNvPr id="3" name="Oval 2">
            <a:extLst>
              <a:ext uri="{FF2B5EF4-FFF2-40B4-BE49-F238E27FC236}">
                <a16:creationId xmlns:a16="http://schemas.microsoft.com/office/drawing/2014/main" id="{EBF0BAEF-D117-E2CC-876F-630BF2F66290}"/>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4" name="Down Arrow 3">
            <a:extLst>
              <a:ext uri="{FF2B5EF4-FFF2-40B4-BE49-F238E27FC236}">
                <a16:creationId xmlns:a16="http://schemas.microsoft.com/office/drawing/2014/main" id="{59B9F52C-E5A2-A81C-A0A5-3DD75457E5D0}"/>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285157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DE4E-A945-FDA5-8A6D-28F9473E4C36}"/>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E962311-7E1B-11EE-3AFB-DBB650EF161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3" name="Rectangle 2">
            <a:extLst>
              <a:ext uri="{FF2B5EF4-FFF2-40B4-BE49-F238E27FC236}">
                <a16:creationId xmlns:a16="http://schemas.microsoft.com/office/drawing/2014/main" id="{483EFD9F-26C7-0C9F-543F-EBD1FAF9D597}"/>
              </a:ext>
            </a:extLst>
          </p:cNvPr>
          <p:cNvSpPr/>
          <p:nvPr/>
        </p:nvSpPr>
        <p:spPr>
          <a:xfrm>
            <a:off x="4007658" y="2504440"/>
            <a:ext cx="3616960" cy="18491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Voter 1:</a:t>
            </a:r>
            <a:r>
              <a:rPr lang="en-US" sz="3200" dirty="0"/>
              <a:t> A &gt; B &gt; C </a:t>
            </a:r>
          </a:p>
          <a:p>
            <a:pPr algn="ctr"/>
            <a:r>
              <a:rPr lang="en-US" sz="3200" b="1" dirty="0"/>
              <a:t>Voter 2:</a:t>
            </a:r>
            <a:r>
              <a:rPr lang="en-US" sz="3200" dirty="0"/>
              <a:t> B &gt; C &gt; A </a:t>
            </a:r>
          </a:p>
          <a:p>
            <a:pPr algn="ctr"/>
            <a:r>
              <a:rPr lang="en-US" sz="3200" b="1" dirty="0"/>
              <a:t>Voter 3:</a:t>
            </a:r>
            <a:r>
              <a:rPr lang="en-US" sz="3200" dirty="0"/>
              <a:t> C &gt; A &gt; B </a:t>
            </a:r>
          </a:p>
        </p:txBody>
      </p:sp>
      <p:sp>
        <p:nvSpPr>
          <p:cNvPr id="4" name="Oval 3">
            <a:extLst>
              <a:ext uri="{FF2B5EF4-FFF2-40B4-BE49-F238E27FC236}">
                <a16:creationId xmlns:a16="http://schemas.microsoft.com/office/drawing/2014/main" id="{50F9C645-1778-F657-1202-B5C1363B9FE5}"/>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5" name="Down Arrow 4">
            <a:extLst>
              <a:ext uri="{FF2B5EF4-FFF2-40B4-BE49-F238E27FC236}">
                <a16:creationId xmlns:a16="http://schemas.microsoft.com/office/drawing/2014/main" id="{B8417718-15F2-B0F5-37CE-F07144165EDF}"/>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375437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4CC2D-2DA6-6DBA-9BFA-90F93529B1DC}"/>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3D5A1F7-313C-346F-42E7-E58A0939547C}"/>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3" name="Rectangle 2">
            <a:extLst>
              <a:ext uri="{FF2B5EF4-FFF2-40B4-BE49-F238E27FC236}">
                <a16:creationId xmlns:a16="http://schemas.microsoft.com/office/drawing/2014/main" id="{4F052475-C6BF-BF04-6FFD-6E70E2EE0E51}"/>
              </a:ext>
            </a:extLst>
          </p:cNvPr>
          <p:cNvSpPr/>
          <p:nvPr/>
        </p:nvSpPr>
        <p:spPr>
          <a:xfrm>
            <a:off x="1548510" y="2524186"/>
            <a:ext cx="3616960" cy="18491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Voter 1:</a:t>
            </a:r>
            <a:r>
              <a:rPr lang="en-US" sz="3200" dirty="0"/>
              <a:t> A &gt; B &gt; C </a:t>
            </a:r>
          </a:p>
          <a:p>
            <a:pPr algn="ctr"/>
            <a:r>
              <a:rPr lang="en-US" sz="3200" b="1" dirty="0"/>
              <a:t>Voter 2:</a:t>
            </a:r>
            <a:r>
              <a:rPr lang="en-US" sz="3200" dirty="0"/>
              <a:t> B &gt; C &gt; A </a:t>
            </a:r>
          </a:p>
          <a:p>
            <a:pPr algn="ctr"/>
            <a:r>
              <a:rPr lang="en-US" sz="3200" b="1" dirty="0"/>
              <a:t>Voter 3:</a:t>
            </a:r>
            <a:r>
              <a:rPr lang="en-US" sz="3200" dirty="0"/>
              <a:t> C &gt; A &gt; B </a:t>
            </a:r>
          </a:p>
        </p:txBody>
      </p:sp>
      <p:sp>
        <p:nvSpPr>
          <p:cNvPr id="6" name="TextBox 5">
            <a:extLst>
              <a:ext uri="{FF2B5EF4-FFF2-40B4-BE49-F238E27FC236}">
                <a16:creationId xmlns:a16="http://schemas.microsoft.com/office/drawing/2014/main" id="{93EA7D12-C9C0-9669-206D-3714A032B606}"/>
              </a:ext>
            </a:extLst>
          </p:cNvPr>
          <p:cNvSpPr txBox="1"/>
          <p:nvPr/>
        </p:nvSpPr>
        <p:spPr>
          <a:xfrm>
            <a:off x="5679440" y="1570079"/>
            <a:ext cx="2346960" cy="954107"/>
          </a:xfrm>
          <a:prstGeom prst="rect">
            <a:avLst/>
          </a:prstGeom>
          <a:noFill/>
        </p:spPr>
        <p:txBody>
          <a:bodyPr wrap="square" rtlCol="0">
            <a:spAutoFit/>
          </a:bodyPr>
          <a:lstStyle/>
          <a:p>
            <a:r>
              <a:rPr lang="en-US" sz="2800" dirty="0"/>
              <a:t>Aggregated votes per pair</a:t>
            </a:r>
          </a:p>
        </p:txBody>
      </p:sp>
      <p:sp>
        <p:nvSpPr>
          <p:cNvPr id="7" name="TextBox 6">
            <a:extLst>
              <a:ext uri="{FF2B5EF4-FFF2-40B4-BE49-F238E27FC236}">
                <a16:creationId xmlns:a16="http://schemas.microsoft.com/office/drawing/2014/main" id="{606E8898-5FA8-7750-1C10-E0507F7A3ABC}"/>
              </a:ext>
            </a:extLst>
          </p:cNvPr>
          <p:cNvSpPr txBox="1"/>
          <p:nvPr/>
        </p:nvSpPr>
        <p:spPr>
          <a:xfrm>
            <a:off x="5679440" y="2773680"/>
            <a:ext cx="1385316" cy="461665"/>
          </a:xfrm>
          <a:prstGeom prst="rect">
            <a:avLst/>
          </a:prstGeom>
          <a:noFill/>
        </p:spPr>
        <p:txBody>
          <a:bodyPr wrap="none" rtlCol="0">
            <a:spAutoFit/>
          </a:bodyPr>
          <a:lstStyle/>
          <a:p>
            <a:r>
              <a:rPr lang="en-US" sz="2400" dirty="0"/>
              <a:t>A </a:t>
            </a:r>
            <a:r>
              <a:rPr lang="en-US" sz="2400" dirty="0">
                <a:sym typeface="Wingdings" pitchFamily="2" charset="2"/>
              </a:rPr>
              <a:t> </a:t>
            </a:r>
            <a:r>
              <a:rPr lang="en-US" sz="2400" dirty="0"/>
              <a:t>B (2)</a:t>
            </a:r>
          </a:p>
        </p:txBody>
      </p:sp>
      <p:sp>
        <p:nvSpPr>
          <p:cNvPr id="10" name="TextBox 9">
            <a:extLst>
              <a:ext uri="{FF2B5EF4-FFF2-40B4-BE49-F238E27FC236}">
                <a16:creationId xmlns:a16="http://schemas.microsoft.com/office/drawing/2014/main" id="{B90AD1E2-D02D-273A-E0DD-51092A6DB27D}"/>
              </a:ext>
            </a:extLst>
          </p:cNvPr>
          <p:cNvSpPr txBox="1"/>
          <p:nvPr/>
        </p:nvSpPr>
        <p:spPr>
          <a:xfrm>
            <a:off x="7416800" y="2773679"/>
            <a:ext cx="1385316" cy="461665"/>
          </a:xfrm>
          <a:prstGeom prst="rect">
            <a:avLst/>
          </a:prstGeom>
          <a:noFill/>
        </p:spPr>
        <p:txBody>
          <a:bodyPr wrap="none" rtlCol="0">
            <a:spAutoFit/>
          </a:bodyPr>
          <a:lstStyle/>
          <a:p>
            <a:r>
              <a:rPr lang="en-US" sz="2400" dirty="0"/>
              <a:t>B </a:t>
            </a:r>
            <a:r>
              <a:rPr lang="en-US" sz="2400" dirty="0">
                <a:sym typeface="Wingdings" pitchFamily="2" charset="2"/>
              </a:rPr>
              <a:t> A</a:t>
            </a:r>
            <a:r>
              <a:rPr lang="en-US" sz="2400" dirty="0"/>
              <a:t> (1)</a:t>
            </a:r>
          </a:p>
        </p:txBody>
      </p:sp>
      <p:sp>
        <p:nvSpPr>
          <p:cNvPr id="11" name="TextBox 10">
            <a:extLst>
              <a:ext uri="{FF2B5EF4-FFF2-40B4-BE49-F238E27FC236}">
                <a16:creationId xmlns:a16="http://schemas.microsoft.com/office/drawing/2014/main" id="{B9E075C7-9D5A-4030-0F84-CF56F8B6190B}"/>
              </a:ext>
            </a:extLst>
          </p:cNvPr>
          <p:cNvSpPr txBox="1"/>
          <p:nvPr/>
        </p:nvSpPr>
        <p:spPr>
          <a:xfrm>
            <a:off x="5679440" y="3160992"/>
            <a:ext cx="1417376" cy="461665"/>
          </a:xfrm>
          <a:prstGeom prst="rect">
            <a:avLst/>
          </a:prstGeom>
          <a:noFill/>
        </p:spPr>
        <p:txBody>
          <a:bodyPr wrap="none" rtlCol="0">
            <a:spAutoFit/>
          </a:bodyPr>
          <a:lstStyle/>
          <a:p>
            <a:r>
              <a:rPr lang="en-US" sz="2400" dirty="0"/>
              <a:t>B </a:t>
            </a:r>
            <a:r>
              <a:rPr lang="en-US" sz="2400" dirty="0">
                <a:sym typeface="Wingdings" pitchFamily="2" charset="2"/>
              </a:rPr>
              <a:t> C</a:t>
            </a:r>
            <a:r>
              <a:rPr lang="en-US" sz="2400" dirty="0"/>
              <a:t> (2)</a:t>
            </a:r>
          </a:p>
        </p:txBody>
      </p:sp>
      <p:sp>
        <p:nvSpPr>
          <p:cNvPr id="12" name="TextBox 11">
            <a:extLst>
              <a:ext uri="{FF2B5EF4-FFF2-40B4-BE49-F238E27FC236}">
                <a16:creationId xmlns:a16="http://schemas.microsoft.com/office/drawing/2014/main" id="{5BE21E30-5198-CD9C-C181-B42F117A4A49}"/>
              </a:ext>
            </a:extLst>
          </p:cNvPr>
          <p:cNvSpPr txBox="1"/>
          <p:nvPr/>
        </p:nvSpPr>
        <p:spPr>
          <a:xfrm>
            <a:off x="7416800" y="3160991"/>
            <a:ext cx="1417376" cy="461665"/>
          </a:xfrm>
          <a:prstGeom prst="rect">
            <a:avLst/>
          </a:prstGeom>
          <a:noFill/>
        </p:spPr>
        <p:txBody>
          <a:bodyPr wrap="none" rtlCol="0">
            <a:spAutoFit/>
          </a:bodyPr>
          <a:lstStyle/>
          <a:p>
            <a:r>
              <a:rPr lang="en-US" sz="2400" dirty="0"/>
              <a:t>C </a:t>
            </a:r>
            <a:r>
              <a:rPr lang="en-US" sz="2400" dirty="0">
                <a:sym typeface="Wingdings" pitchFamily="2" charset="2"/>
              </a:rPr>
              <a:t> B</a:t>
            </a:r>
            <a:r>
              <a:rPr lang="en-US" sz="2400" dirty="0"/>
              <a:t> (1)</a:t>
            </a:r>
          </a:p>
        </p:txBody>
      </p:sp>
      <p:sp>
        <p:nvSpPr>
          <p:cNvPr id="13" name="TextBox 12">
            <a:extLst>
              <a:ext uri="{FF2B5EF4-FFF2-40B4-BE49-F238E27FC236}">
                <a16:creationId xmlns:a16="http://schemas.microsoft.com/office/drawing/2014/main" id="{B71D9F53-AAE6-6FDC-3DD8-7B5CAE299E7C}"/>
              </a:ext>
            </a:extLst>
          </p:cNvPr>
          <p:cNvSpPr txBox="1"/>
          <p:nvPr/>
        </p:nvSpPr>
        <p:spPr>
          <a:xfrm>
            <a:off x="5679440" y="3548304"/>
            <a:ext cx="1412566" cy="461665"/>
          </a:xfrm>
          <a:prstGeom prst="rect">
            <a:avLst/>
          </a:prstGeom>
          <a:noFill/>
        </p:spPr>
        <p:txBody>
          <a:bodyPr wrap="none" rtlCol="0">
            <a:spAutoFit/>
          </a:bodyPr>
          <a:lstStyle/>
          <a:p>
            <a:r>
              <a:rPr lang="en-US" sz="2400" dirty="0"/>
              <a:t>C </a:t>
            </a:r>
            <a:r>
              <a:rPr lang="en-US" sz="2400" dirty="0">
                <a:sym typeface="Wingdings" pitchFamily="2" charset="2"/>
              </a:rPr>
              <a:t> A</a:t>
            </a:r>
            <a:r>
              <a:rPr lang="en-US" sz="2400" dirty="0"/>
              <a:t> (2)</a:t>
            </a:r>
          </a:p>
        </p:txBody>
      </p:sp>
      <p:sp>
        <p:nvSpPr>
          <p:cNvPr id="14" name="TextBox 13">
            <a:extLst>
              <a:ext uri="{FF2B5EF4-FFF2-40B4-BE49-F238E27FC236}">
                <a16:creationId xmlns:a16="http://schemas.microsoft.com/office/drawing/2014/main" id="{E4FFFC4D-C148-15BC-8306-180A41148925}"/>
              </a:ext>
            </a:extLst>
          </p:cNvPr>
          <p:cNvSpPr txBox="1"/>
          <p:nvPr/>
        </p:nvSpPr>
        <p:spPr>
          <a:xfrm>
            <a:off x="7416800" y="3548303"/>
            <a:ext cx="1412566" cy="461665"/>
          </a:xfrm>
          <a:prstGeom prst="rect">
            <a:avLst/>
          </a:prstGeom>
          <a:noFill/>
        </p:spPr>
        <p:txBody>
          <a:bodyPr wrap="none" rtlCol="0">
            <a:spAutoFit/>
          </a:bodyPr>
          <a:lstStyle/>
          <a:p>
            <a:r>
              <a:rPr lang="en-US" sz="2400" dirty="0"/>
              <a:t>A </a:t>
            </a:r>
            <a:r>
              <a:rPr lang="en-US" sz="2400" dirty="0">
                <a:sym typeface="Wingdings" pitchFamily="2" charset="2"/>
              </a:rPr>
              <a:t> C</a:t>
            </a:r>
            <a:r>
              <a:rPr lang="en-US" sz="2400" dirty="0"/>
              <a:t> (1)</a:t>
            </a:r>
          </a:p>
        </p:txBody>
      </p:sp>
      <p:sp>
        <p:nvSpPr>
          <p:cNvPr id="15" name="Oval 14">
            <a:extLst>
              <a:ext uri="{FF2B5EF4-FFF2-40B4-BE49-F238E27FC236}">
                <a16:creationId xmlns:a16="http://schemas.microsoft.com/office/drawing/2014/main" id="{F3F3FD5A-84DA-0AE9-A93A-1E7C2CCDC80E}"/>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16" name="Down Arrow 15">
            <a:extLst>
              <a:ext uri="{FF2B5EF4-FFF2-40B4-BE49-F238E27FC236}">
                <a16:creationId xmlns:a16="http://schemas.microsoft.com/office/drawing/2014/main" id="{5B41FEEA-FF87-1DFD-9914-2C344F663A08}"/>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84619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E156B-35F4-E7FB-8A71-30DE555B7DDD}"/>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240F730-8B89-A4C5-1CCF-C46B89E042CE}"/>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3" name="Rectangle 2">
            <a:extLst>
              <a:ext uri="{FF2B5EF4-FFF2-40B4-BE49-F238E27FC236}">
                <a16:creationId xmlns:a16="http://schemas.microsoft.com/office/drawing/2014/main" id="{64A2FCEE-C7FE-120A-D2F8-922F05A1F670}"/>
              </a:ext>
            </a:extLst>
          </p:cNvPr>
          <p:cNvSpPr/>
          <p:nvPr/>
        </p:nvSpPr>
        <p:spPr>
          <a:xfrm>
            <a:off x="1548510" y="2524186"/>
            <a:ext cx="3616960" cy="18491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Voter 1:</a:t>
            </a:r>
            <a:r>
              <a:rPr lang="en-US" sz="3200" dirty="0"/>
              <a:t> A &gt; B &gt; C </a:t>
            </a:r>
          </a:p>
          <a:p>
            <a:pPr algn="ctr"/>
            <a:r>
              <a:rPr lang="en-US" sz="3200" b="1" dirty="0"/>
              <a:t>Voter 2:</a:t>
            </a:r>
            <a:r>
              <a:rPr lang="en-US" sz="3200" dirty="0"/>
              <a:t> B &gt; C &gt; A </a:t>
            </a:r>
          </a:p>
          <a:p>
            <a:pPr algn="ctr"/>
            <a:r>
              <a:rPr lang="en-US" sz="3200" b="1" dirty="0"/>
              <a:t>Voter 3:</a:t>
            </a:r>
            <a:r>
              <a:rPr lang="en-US" sz="3200" dirty="0"/>
              <a:t> C &gt; A &gt; B </a:t>
            </a:r>
          </a:p>
        </p:txBody>
      </p:sp>
      <p:sp>
        <p:nvSpPr>
          <p:cNvPr id="6" name="TextBox 5">
            <a:extLst>
              <a:ext uri="{FF2B5EF4-FFF2-40B4-BE49-F238E27FC236}">
                <a16:creationId xmlns:a16="http://schemas.microsoft.com/office/drawing/2014/main" id="{D0EAC023-AA95-5C73-E312-E9EDE91D931E}"/>
              </a:ext>
            </a:extLst>
          </p:cNvPr>
          <p:cNvSpPr txBox="1"/>
          <p:nvPr/>
        </p:nvSpPr>
        <p:spPr>
          <a:xfrm>
            <a:off x="5262008" y="1309793"/>
            <a:ext cx="2799516" cy="1384995"/>
          </a:xfrm>
          <a:prstGeom prst="rect">
            <a:avLst/>
          </a:prstGeom>
          <a:noFill/>
        </p:spPr>
        <p:txBody>
          <a:bodyPr wrap="square" rtlCol="0">
            <a:spAutoFit/>
          </a:bodyPr>
          <a:lstStyle/>
          <a:p>
            <a:r>
              <a:rPr lang="en-US" sz="2800" dirty="0"/>
              <a:t>Majority based on aggregated votes per pair</a:t>
            </a:r>
          </a:p>
        </p:txBody>
      </p:sp>
      <p:sp>
        <p:nvSpPr>
          <p:cNvPr id="7" name="TextBox 6">
            <a:extLst>
              <a:ext uri="{FF2B5EF4-FFF2-40B4-BE49-F238E27FC236}">
                <a16:creationId xmlns:a16="http://schemas.microsoft.com/office/drawing/2014/main" id="{99A9DE38-1311-EE61-0AF5-3ADDAF6B0F39}"/>
              </a:ext>
            </a:extLst>
          </p:cNvPr>
          <p:cNvSpPr txBox="1"/>
          <p:nvPr/>
        </p:nvSpPr>
        <p:spPr>
          <a:xfrm>
            <a:off x="5679440" y="2773680"/>
            <a:ext cx="1385316" cy="461665"/>
          </a:xfrm>
          <a:prstGeom prst="rect">
            <a:avLst/>
          </a:prstGeom>
          <a:noFill/>
        </p:spPr>
        <p:txBody>
          <a:bodyPr wrap="none" rtlCol="0">
            <a:spAutoFit/>
          </a:bodyPr>
          <a:lstStyle/>
          <a:p>
            <a:r>
              <a:rPr lang="en-US" sz="2400" dirty="0"/>
              <a:t>A </a:t>
            </a:r>
            <a:r>
              <a:rPr lang="en-US" sz="2400" dirty="0">
                <a:sym typeface="Wingdings" pitchFamily="2" charset="2"/>
              </a:rPr>
              <a:t> </a:t>
            </a:r>
            <a:r>
              <a:rPr lang="en-US" sz="2400" dirty="0"/>
              <a:t>B (2)</a:t>
            </a:r>
          </a:p>
        </p:txBody>
      </p:sp>
      <p:sp>
        <p:nvSpPr>
          <p:cNvPr id="11" name="TextBox 10">
            <a:extLst>
              <a:ext uri="{FF2B5EF4-FFF2-40B4-BE49-F238E27FC236}">
                <a16:creationId xmlns:a16="http://schemas.microsoft.com/office/drawing/2014/main" id="{7A2ECAB2-75BA-4D9E-3E06-47B8760934AA}"/>
              </a:ext>
            </a:extLst>
          </p:cNvPr>
          <p:cNvSpPr txBox="1"/>
          <p:nvPr/>
        </p:nvSpPr>
        <p:spPr>
          <a:xfrm>
            <a:off x="5679440" y="3160992"/>
            <a:ext cx="1417376" cy="461665"/>
          </a:xfrm>
          <a:prstGeom prst="rect">
            <a:avLst/>
          </a:prstGeom>
          <a:noFill/>
        </p:spPr>
        <p:txBody>
          <a:bodyPr wrap="none" rtlCol="0">
            <a:spAutoFit/>
          </a:bodyPr>
          <a:lstStyle/>
          <a:p>
            <a:r>
              <a:rPr lang="en-US" sz="2400" dirty="0"/>
              <a:t>B </a:t>
            </a:r>
            <a:r>
              <a:rPr lang="en-US" sz="2400" dirty="0">
                <a:sym typeface="Wingdings" pitchFamily="2" charset="2"/>
              </a:rPr>
              <a:t> C</a:t>
            </a:r>
            <a:r>
              <a:rPr lang="en-US" sz="2400" dirty="0"/>
              <a:t> (2)</a:t>
            </a:r>
          </a:p>
        </p:txBody>
      </p:sp>
      <p:sp>
        <p:nvSpPr>
          <p:cNvPr id="13" name="TextBox 12">
            <a:extLst>
              <a:ext uri="{FF2B5EF4-FFF2-40B4-BE49-F238E27FC236}">
                <a16:creationId xmlns:a16="http://schemas.microsoft.com/office/drawing/2014/main" id="{A452927E-B0E5-221D-6C30-B93942A21AA2}"/>
              </a:ext>
            </a:extLst>
          </p:cNvPr>
          <p:cNvSpPr txBox="1"/>
          <p:nvPr/>
        </p:nvSpPr>
        <p:spPr>
          <a:xfrm>
            <a:off x="5679440" y="3548304"/>
            <a:ext cx="1412566" cy="461665"/>
          </a:xfrm>
          <a:prstGeom prst="rect">
            <a:avLst/>
          </a:prstGeom>
          <a:noFill/>
        </p:spPr>
        <p:txBody>
          <a:bodyPr wrap="none" rtlCol="0">
            <a:spAutoFit/>
          </a:bodyPr>
          <a:lstStyle/>
          <a:p>
            <a:r>
              <a:rPr lang="en-US" sz="2400" dirty="0"/>
              <a:t>C </a:t>
            </a:r>
            <a:r>
              <a:rPr lang="en-US" sz="2400" dirty="0">
                <a:sym typeface="Wingdings" pitchFamily="2" charset="2"/>
              </a:rPr>
              <a:t> A</a:t>
            </a:r>
            <a:r>
              <a:rPr lang="en-US" sz="2400" dirty="0"/>
              <a:t> (2)</a:t>
            </a:r>
          </a:p>
        </p:txBody>
      </p:sp>
      <p:sp>
        <p:nvSpPr>
          <p:cNvPr id="2" name="Oval 1">
            <a:extLst>
              <a:ext uri="{FF2B5EF4-FFF2-40B4-BE49-F238E27FC236}">
                <a16:creationId xmlns:a16="http://schemas.microsoft.com/office/drawing/2014/main" id="{75F73D23-58BF-5CA2-FBAE-8C4F3711377F}"/>
              </a:ext>
            </a:extLst>
          </p:cNvPr>
          <p:cNvSpPr/>
          <p:nvPr/>
        </p:nvSpPr>
        <p:spPr>
          <a:xfrm>
            <a:off x="5750560" y="4580914"/>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A</a:t>
            </a:r>
            <a:endParaRPr lang="en-US" dirty="0">
              <a:solidFill>
                <a:sysClr val="windowText" lastClr="000000"/>
              </a:solidFill>
            </a:endParaRPr>
          </a:p>
        </p:txBody>
      </p:sp>
      <p:sp>
        <p:nvSpPr>
          <p:cNvPr id="4" name="Oval 3">
            <a:extLst>
              <a:ext uri="{FF2B5EF4-FFF2-40B4-BE49-F238E27FC236}">
                <a16:creationId xmlns:a16="http://schemas.microsoft.com/office/drawing/2014/main" id="{BFBE57CD-0B18-7F96-E27F-0284B06E679C}"/>
              </a:ext>
            </a:extLst>
          </p:cNvPr>
          <p:cNvSpPr/>
          <p:nvPr/>
        </p:nvSpPr>
        <p:spPr>
          <a:xfrm>
            <a:off x="7995752" y="3597666"/>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B</a:t>
            </a:r>
            <a:endParaRPr lang="en-US" dirty="0">
              <a:solidFill>
                <a:sysClr val="windowText" lastClr="000000"/>
              </a:solidFill>
            </a:endParaRPr>
          </a:p>
        </p:txBody>
      </p:sp>
      <p:sp>
        <p:nvSpPr>
          <p:cNvPr id="8" name="Right Arrow 7">
            <a:extLst>
              <a:ext uri="{FF2B5EF4-FFF2-40B4-BE49-F238E27FC236}">
                <a16:creationId xmlns:a16="http://schemas.microsoft.com/office/drawing/2014/main" id="{E059E62E-BDE6-E4E6-7E78-621DFEEEE034}"/>
              </a:ext>
            </a:extLst>
          </p:cNvPr>
          <p:cNvSpPr/>
          <p:nvPr/>
        </p:nvSpPr>
        <p:spPr>
          <a:xfrm rot="20185536">
            <a:off x="6962117" y="4241445"/>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86818319-4DEF-A37E-5AC6-FC4978A16D1C}"/>
              </a:ext>
            </a:extLst>
          </p:cNvPr>
          <p:cNvSpPr/>
          <p:nvPr/>
        </p:nvSpPr>
        <p:spPr>
          <a:xfrm rot="3221364">
            <a:off x="9073520" y="4749245"/>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1981A4E-5F85-09E7-8B74-39AB74D6CBA9}"/>
              </a:ext>
            </a:extLst>
          </p:cNvPr>
          <p:cNvSpPr/>
          <p:nvPr/>
        </p:nvSpPr>
        <p:spPr>
          <a:xfrm>
            <a:off x="9536604" y="53679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C</a:t>
            </a:r>
            <a:endParaRPr lang="en-US" dirty="0">
              <a:solidFill>
                <a:sysClr val="windowText" lastClr="000000"/>
              </a:solidFill>
            </a:endParaRPr>
          </a:p>
        </p:txBody>
      </p:sp>
      <p:sp>
        <p:nvSpPr>
          <p:cNvPr id="17" name="Right Arrow 16">
            <a:extLst>
              <a:ext uri="{FF2B5EF4-FFF2-40B4-BE49-F238E27FC236}">
                <a16:creationId xmlns:a16="http://schemas.microsoft.com/office/drawing/2014/main" id="{64039D33-58C1-9210-F435-3802649A1972}"/>
              </a:ext>
            </a:extLst>
          </p:cNvPr>
          <p:cNvSpPr/>
          <p:nvPr/>
        </p:nvSpPr>
        <p:spPr>
          <a:xfrm rot="12197055">
            <a:off x="7633697" y="563438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B757F21-9F74-9925-8D1F-E1904EC19EF1}"/>
              </a:ext>
            </a:extLst>
          </p:cNvPr>
          <p:cNvSpPr txBox="1"/>
          <p:nvPr/>
        </p:nvSpPr>
        <p:spPr>
          <a:xfrm>
            <a:off x="9131102" y="1561573"/>
            <a:ext cx="1957312" cy="954107"/>
          </a:xfrm>
          <a:prstGeom prst="rect">
            <a:avLst/>
          </a:prstGeom>
          <a:solidFill>
            <a:srgbClr val="FF0000"/>
          </a:solidFill>
        </p:spPr>
        <p:txBody>
          <a:bodyPr wrap="square" rtlCol="0">
            <a:spAutoFit/>
          </a:bodyPr>
          <a:lstStyle/>
          <a:p>
            <a:r>
              <a:rPr lang="en-US" sz="2800" dirty="0">
                <a:solidFill>
                  <a:schemeClr val="bg1"/>
                </a:solidFill>
              </a:rPr>
              <a:t>Intransitive relation</a:t>
            </a:r>
          </a:p>
        </p:txBody>
      </p:sp>
      <p:sp>
        <p:nvSpPr>
          <p:cNvPr id="19" name="Up Arrow 18">
            <a:extLst>
              <a:ext uri="{FF2B5EF4-FFF2-40B4-BE49-F238E27FC236}">
                <a16:creationId xmlns:a16="http://schemas.microsoft.com/office/drawing/2014/main" id="{93125CF0-1149-3D7A-1C48-E02AAD0B9E27}"/>
              </a:ext>
            </a:extLst>
          </p:cNvPr>
          <p:cNvSpPr/>
          <p:nvPr/>
        </p:nvSpPr>
        <p:spPr>
          <a:xfrm rot="16200000">
            <a:off x="8297264" y="1669837"/>
            <a:ext cx="274152" cy="664906"/>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9C1DB57-2EAD-D429-B1A3-7C50DBB4CCFB}"/>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21" name="Down Arrow 20">
            <a:extLst>
              <a:ext uri="{FF2B5EF4-FFF2-40B4-BE49-F238E27FC236}">
                <a16:creationId xmlns:a16="http://schemas.microsoft.com/office/drawing/2014/main" id="{8C9BE66D-9239-1D9C-1790-D84677FE3734}"/>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225171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P spid="9" grpId="0" animBg="1"/>
      <p:bldP spid="16" grpId="0" animBg="1"/>
      <p:bldP spid="17" grpId="0" animBg="1"/>
      <p:bldP spid="18" grpId="0" animBg="1"/>
      <p:bldP spid="19"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B774C-5690-2354-E173-83A5D7E07B8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3889EBE-F36A-347B-7FCA-9F166D4DAA6C}"/>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3DDE5BF7-F553-9CF8-8BCE-79BA2FC7526E}"/>
              </a:ext>
            </a:extLst>
          </p:cNvPr>
          <p:cNvSpPr txBox="1"/>
          <p:nvPr/>
        </p:nvSpPr>
        <p:spPr>
          <a:xfrm>
            <a:off x="786510" y="1899920"/>
            <a:ext cx="10531730"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If no cycles forms, the winner exists</a:t>
            </a:r>
          </a:p>
          <a:p>
            <a:pPr marL="457200" indent="-457200">
              <a:buFont typeface="Arial" panose="020B0604020202020204" pitchFamily="34" charset="0"/>
              <a:buChar char="•"/>
            </a:pPr>
            <a:r>
              <a:rPr lang="en-US" sz="3200" dirty="0"/>
              <a:t>If cycle(s) form, no clear winner</a:t>
            </a:r>
          </a:p>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24" name="Oval 23">
            <a:extLst>
              <a:ext uri="{FF2B5EF4-FFF2-40B4-BE49-F238E27FC236}">
                <a16:creationId xmlns:a16="http://schemas.microsoft.com/office/drawing/2014/main" id="{2AD3AEC3-0588-E89D-87D0-F27CEED48C1E}"/>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25" name="Down Arrow 24">
            <a:extLst>
              <a:ext uri="{FF2B5EF4-FFF2-40B4-BE49-F238E27FC236}">
                <a16:creationId xmlns:a16="http://schemas.microsoft.com/office/drawing/2014/main" id="{05171265-8AAA-36C1-3E89-43B3954F3638}"/>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46BBEB0-5D5B-52FD-DEA5-BBEA91C1887F}"/>
              </a:ext>
            </a:extLst>
          </p:cNvPr>
          <p:cNvSpPr/>
          <p:nvPr/>
        </p:nvSpPr>
        <p:spPr>
          <a:xfrm>
            <a:off x="1251284" y="2935705"/>
            <a:ext cx="1732548" cy="4932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Winners</a:t>
            </a:r>
          </a:p>
        </p:txBody>
      </p:sp>
    </p:spTree>
    <p:extLst>
      <p:ext uri="{BB962C8B-B14F-4D97-AF65-F5344CB8AC3E}">
        <p14:creationId xmlns:p14="http://schemas.microsoft.com/office/powerpoint/2010/main" val="192142399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4EC36-01FC-6485-2AA8-C8658385236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2395DD2F-ABB9-4503-7EB4-9AF90D2618B4}"/>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0555FD7B-1674-A3DB-7CD6-01582488CD3A}"/>
              </a:ext>
            </a:extLst>
          </p:cNvPr>
          <p:cNvSpPr txBox="1"/>
          <p:nvPr/>
        </p:nvSpPr>
        <p:spPr>
          <a:xfrm>
            <a:off x="786510" y="1899920"/>
            <a:ext cx="10531730"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If no cycles forms, the winner exists</a:t>
            </a:r>
          </a:p>
          <a:p>
            <a:pPr marL="457200" indent="-457200">
              <a:buFont typeface="Arial" panose="020B0604020202020204" pitchFamily="34" charset="0"/>
              <a:buChar char="•"/>
            </a:pPr>
            <a:r>
              <a:rPr lang="en-US" sz="3200" dirty="0"/>
              <a:t>If cycle(s) form, no clear winner</a:t>
            </a:r>
          </a:p>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24" name="Oval 23">
            <a:extLst>
              <a:ext uri="{FF2B5EF4-FFF2-40B4-BE49-F238E27FC236}">
                <a16:creationId xmlns:a16="http://schemas.microsoft.com/office/drawing/2014/main" id="{BEC28C30-36A7-082F-A474-5746FFD518A4}"/>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25" name="Down Arrow 24">
            <a:extLst>
              <a:ext uri="{FF2B5EF4-FFF2-40B4-BE49-F238E27FC236}">
                <a16:creationId xmlns:a16="http://schemas.microsoft.com/office/drawing/2014/main" id="{58EE668D-1808-5176-CE4C-FC1DAD6E3D7B}"/>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25D8D70-C327-405C-D954-5001F9D828EC}"/>
              </a:ext>
            </a:extLst>
          </p:cNvPr>
          <p:cNvSpPr/>
          <p:nvPr/>
        </p:nvSpPr>
        <p:spPr>
          <a:xfrm>
            <a:off x="1211037" y="3370045"/>
            <a:ext cx="1694047" cy="117909"/>
          </a:xfrm>
          <a:custGeom>
            <a:avLst/>
            <a:gdLst>
              <a:gd name="csX0" fmla="*/ 0 w 1694047"/>
              <a:gd name="csY0" fmla="*/ 0 h 117909"/>
              <a:gd name="csX1" fmla="*/ 598563 w 1694047"/>
              <a:gd name="csY1" fmla="*/ 0 h 117909"/>
              <a:gd name="csX2" fmla="*/ 1180186 w 1694047"/>
              <a:gd name="csY2" fmla="*/ 0 h 117909"/>
              <a:gd name="csX3" fmla="*/ 1694047 w 1694047"/>
              <a:gd name="csY3" fmla="*/ 0 h 117909"/>
              <a:gd name="csX4" fmla="*/ 1694047 w 1694047"/>
              <a:gd name="csY4" fmla="*/ 117909 h 117909"/>
              <a:gd name="csX5" fmla="*/ 1163246 w 1694047"/>
              <a:gd name="csY5" fmla="*/ 117909 h 117909"/>
              <a:gd name="csX6" fmla="*/ 598563 w 1694047"/>
              <a:gd name="csY6" fmla="*/ 117909 h 117909"/>
              <a:gd name="csX7" fmla="*/ 0 w 1694047"/>
              <a:gd name="csY7" fmla="*/ 117909 h 117909"/>
              <a:gd name="csX8" fmla="*/ 0 w 1694047"/>
              <a:gd name="csY8" fmla="*/ 0 h 117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4047" h="117909" fill="none" extrusionOk="0">
                <a:moveTo>
                  <a:pt x="0" y="0"/>
                </a:moveTo>
                <a:cubicBezTo>
                  <a:pt x="278806" y="-2531"/>
                  <a:pt x="464307" y="68144"/>
                  <a:pt x="598563" y="0"/>
                </a:cubicBezTo>
                <a:cubicBezTo>
                  <a:pt x="732819" y="-68144"/>
                  <a:pt x="1060663" y="36313"/>
                  <a:pt x="1180186" y="0"/>
                </a:cubicBezTo>
                <a:cubicBezTo>
                  <a:pt x="1299709" y="-36313"/>
                  <a:pt x="1588118" y="44253"/>
                  <a:pt x="1694047" y="0"/>
                </a:cubicBezTo>
                <a:cubicBezTo>
                  <a:pt x="1701930" y="24249"/>
                  <a:pt x="1682628" y="94266"/>
                  <a:pt x="1694047" y="117909"/>
                </a:cubicBezTo>
                <a:cubicBezTo>
                  <a:pt x="1538736" y="178579"/>
                  <a:pt x="1395881" y="66265"/>
                  <a:pt x="1163246" y="117909"/>
                </a:cubicBezTo>
                <a:cubicBezTo>
                  <a:pt x="930611" y="169553"/>
                  <a:pt x="712018" y="53794"/>
                  <a:pt x="598563" y="117909"/>
                </a:cubicBezTo>
                <a:cubicBezTo>
                  <a:pt x="485108" y="182024"/>
                  <a:pt x="133942" y="91579"/>
                  <a:pt x="0" y="117909"/>
                </a:cubicBezTo>
                <a:cubicBezTo>
                  <a:pt x="-2175" y="83152"/>
                  <a:pt x="6275" y="58157"/>
                  <a:pt x="0" y="0"/>
                </a:cubicBezTo>
                <a:close/>
              </a:path>
              <a:path w="1694047" h="117909" stroke="0" extrusionOk="0">
                <a:moveTo>
                  <a:pt x="0" y="0"/>
                </a:moveTo>
                <a:cubicBezTo>
                  <a:pt x="149099" y="-34213"/>
                  <a:pt x="361070" y="49167"/>
                  <a:pt x="547742" y="0"/>
                </a:cubicBezTo>
                <a:cubicBezTo>
                  <a:pt x="734414" y="-49167"/>
                  <a:pt x="858670" y="57767"/>
                  <a:pt x="1061603" y="0"/>
                </a:cubicBezTo>
                <a:cubicBezTo>
                  <a:pt x="1264536" y="-57767"/>
                  <a:pt x="1507434" y="26327"/>
                  <a:pt x="1694047" y="0"/>
                </a:cubicBezTo>
                <a:cubicBezTo>
                  <a:pt x="1700938" y="29595"/>
                  <a:pt x="1682016" y="59515"/>
                  <a:pt x="1694047" y="117909"/>
                </a:cubicBezTo>
                <a:cubicBezTo>
                  <a:pt x="1503012" y="138442"/>
                  <a:pt x="1365515" y="112085"/>
                  <a:pt x="1163246" y="117909"/>
                </a:cubicBezTo>
                <a:cubicBezTo>
                  <a:pt x="960977" y="123733"/>
                  <a:pt x="814142" y="64915"/>
                  <a:pt x="564682" y="117909"/>
                </a:cubicBezTo>
                <a:cubicBezTo>
                  <a:pt x="315222" y="170903"/>
                  <a:pt x="273342" y="99638"/>
                  <a:pt x="0" y="117909"/>
                </a:cubicBezTo>
                <a:cubicBezTo>
                  <a:pt x="-13544" y="63608"/>
                  <a:pt x="5843" y="41784"/>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682555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54A4-F33A-1F4F-67B8-EAE78BC80328}"/>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68E6989D-76DC-F83D-96D4-D771393CD23E}"/>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6E6327C3-C4B8-50AD-6E44-4F978CC81B79}"/>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13" name="Oval 12">
            <a:extLst>
              <a:ext uri="{FF2B5EF4-FFF2-40B4-BE49-F238E27FC236}">
                <a16:creationId xmlns:a16="http://schemas.microsoft.com/office/drawing/2014/main" id="{25007A3D-C51F-5E41-CDFD-484D9738F863}"/>
              </a:ext>
            </a:extLst>
          </p:cNvPr>
          <p:cNvSpPr/>
          <p:nvPr/>
        </p:nvSpPr>
        <p:spPr>
          <a:xfrm>
            <a:off x="2360296" y="297030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A</a:t>
            </a:r>
            <a:endParaRPr lang="en-US" dirty="0">
              <a:solidFill>
                <a:sysClr val="windowText" lastClr="000000"/>
              </a:solidFill>
            </a:endParaRPr>
          </a:p>
        </p:txBody>
      </p:sp>
      <p:sp>
        <p:nvSpPr>
          <p:cNvPr id="14" name="Oval 13">
            <a:extLst>
              <a:ext uri="{FF2B5EF4-FFF2-40B4-BE49-F238E27FC236}">
                <a16:creationId xmlns:a16="http://schemas.microsoft.com/office/drawing/2014/main" id="{2731EF35-9ACE-58C6-6FDB-EC71282C36A4}"/>
              </a:ext>
            </a:extLst>
          </p:cNvPr>
          <p:cNvSpPr/>
          <p:nvPr/>
        </p:nvSpPr>
        <p:spPr>
          <a:xfrm>
            <a:off x="3482786" y="4030724"/>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B</a:t>
            </a:r>
            <a:endParaRPr lang="en-US" dirty="0">
              <a:solidFill>
                <a:sysClr val="windowText" lastClr="000000"/>
              </a:solidFill>
            </a:endParaRPr>
          </a:p>
        </p:txBody>
      </p:sp>
      <p:sp>
        <p:nvSpPr>
          <p:cNvPr id="15" name="Right Arrow 14">
            <a:extLst>
              <a:ext uri="{FF2B5EF4-FFF2-40B4-BE49-F238E27FC236}">
                <a16:creationId xmlns:a16="http://schemas.microsoft.com/office/drawing/2014/main" id="{3091481E-9F18-B168-0DD7-FEDE66686DDC}"/>
              </a:ext>
            </a:extLst>
          </p:cNvPr>
          <p:cNvSpPr/>
          <p:nvPr/>
        </p:nvSpPr>
        <p:spPr>
          <a:xfrm rot="19622934">
            <a:off x="4057125" y="3484756"/>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7BD188EA-535B-F762-D608-57A1FC8F969D}"/>
              </a:ext>
            </a:extLst>
          </p:cNvPr>
          <p:cNvSpPr/>
          <p:nvPr/>
        </p:nvSpPr>
        <p:spPr>
          <a:xfrm rot="4623171">
            <a:off x="5300966" y="3496768"/>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721620B-142D-276F-A44A-CE8691F8B6B0}"/>
              </a:ext>
            </a:extLst>
          </p:cNvPr>
          <p:cNvSpPr/>
          <p:nvPr/>
        </p:nvSpPr>
        <p:spPr>
          <a:xfrm>
            <a:off x="4642747" y="2735817"/>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C</a:t>
            </a:r>
            <a:endParaRPr lang="en-US" dirty="0">
              <a:solidFill>
                <a:sysClr val="windowText" lastClr="000000"/>
              </a:solidFill>
            </a:endParaRPr>
          </a:p>
        </p:txBody>
      </p:sp>
      <p:sp>
        <p:nvSpPr>
          <p:cNvPr id="18" name="Right Arrow 17">
            <a:extLst>
              <a:ext uri="{FF2B5EF4-FFF2-40B4-BE49-F238E27FC236}">
                <a16:creationId xmlns:a16="http://schemas.microsoft.com/office/drawing/2014/main" id="{B51EF488-4C64-1BEE-BDDA-6EBAEE1FE43F}"/>
              </a:ext>
            </a:extLst>
          </p:cNvPr>
          <p:cNvSpPr/>
          <p:nvPr/>
        </p:nvSpPr>
        <p:spPr>
          <a:xfrm rot="11192711">
            <a:off x="4784888" y="44170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554DCE3-E9F0-BF00-E067-E267284DBCBE}"/>
              </a:ext>
            </a:extLst>
          </p:cNvPr>
          <p:cNvSpPr/>
          <p:nvPr/>
        </p:nvSpPr>
        <p:spPr>
          <a:xfrm>
            <a:off x="5611582" y="416657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D</a:t>
            </a:r>
            <a:endParaRPr lang="en-US" dirty="0">
              <a:solidFill>
                <a:sysClr val="windowText" lastClr="000000"/>
              </a:solidFill>
            </a:endParaRPr>
          </a:p>
        </p:txBody>
      </p:sp>
      <p:sp>
        <p:nvSpPr>
          <p:cNvPr id="20" name="Right Arrow 19">
            <a:extLst>
              <a:ext uri="{FF2B5EF4-FFF2-40B4-BE49-F238E27FC236}">
                <a16:creationId xmlns:a16="http://schemas.microsoft.com/office/drawing/2014/main" id="{EDAA926F-CC80-18F7-7082-2595BC4B36B7}"/>
              </a:ext>
            </a:extLst>
          </p:cNvPr>
          <p:cNvSpPr/>
          <p:nvPr/>
        </p:nvSpPr>
        <p:spPr>
          <a:xfrm rot="3453542">
            <a:off x="2852629" y="39436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E19B5A1-4986-5BC3-5E2F-1C963B063DE7}"/>
              </a:ext>
            </a:extLst>
          </p:cNvPr>
          <p:cNvSpPr/>
          <p:nvPr/>
        </p:nvSpPr>
        <p:spPr>
          <a:xfrm>
            <a:off x="6463044" y="2828739"/>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E</a:t>
            </a:r>
            <a:endParaRPr lang="en-US" dirty="0">
              <a:solidFill>
                <a:sysClr val="windowText" lastClr="000000"/>
              </a:solidFill>
            </a:endParaRPr>
          </a:p>
        </p:txBody>
      </p:sp>
      <p:sp>
        <p:nvSpPr>
          <p:cNvPr id="22" name="Right Arrow 21">
            <a:extLst>
              <a:ext uri="{FF2B5EF4-FFF2-40B4-BE49-F238E27FC236}">
                <a16:creationId xmlns:a16="http://schemas.microsoft.com/office/drawing/2014/main" id="{6A9EE674-CE92-8593-1AD0-74BE2CB2EF0D}"/>
              </a:ext>
            </a:extLst>
          </p:cNvPr>
          <p:cNvSpPr/>
          <p:nvPr/>
        </p:nvSpPr>
        <p:spPr>
          <a:xfrm rot="18602062">
            <a:off x="6282046" y="3778221"/>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E8624219-7642-B9D7-018A-764DB2B5E880}"/>
              </a:ext>
            </a:extLst>
          </p:cNvPr>
          <p:cNvSpPr/>
          <p:nvPr/>
        </p:nvSpPr>
        <p:spPr>
          <a:xfrm rot="652415">
            <a:off x="5749658" y="2941413"/>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AD6F073F-3A8E-5335-161F-6A5C27405806}"/>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4" name="Down Arrow 3">
            <a:extLst>
              <a:ext uri="{FF2B5EF4-FFF2-40B4-BE49-F238E27FC236}">
                <a16:creationId xmlns:a16="http://schemas.microsoft.com/office/drawing/2014/main" id="{B07B0309-C2B8-2D75-5287-893285E2AFF9}"/>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B9B90EE-7E87-93C8-27CB-10229AC8F351}"/>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t>Find a Smith set</a:t>
            </a:r>
          </a:p>
          <a:p>
            <a:pPr marL="285750" indent="-285750">
              <a:buFont typeface="Arial" panose="020B0604020202020204" pitchFamily="34" charset="0"/>
              <a:buChar char="•"/>
            </a:pPr>
            <a:r>
              <a:rPr lang="en-US" sz="2400" dirty="0"/>
              <a:t>Extract and emit</a:t>
            </a:r>
          </a:p>
          <a:p>
            <a:pPr marL="285750" indent="-285750">
              <a:buFont typeface="Arial" panose="020B0604020202020204" pitchFamily="34" charset="0"/>
              <a:buChar char="•"/>
            </a:pPr>
            <a:r>
              <a:rPr lang="en-US" sz="2400" dirty="0"/>
              <a:t>Repeat</a:t>
            </a:r>
          </a:p>
        </p:txBody>
      </p:sp>
    </p:spTree>
    <p:extLst>
      <p:ext uri="{BB962C8B-B14F-4D97-AF65-F5344CB8AC3E}">
        <p14:creationId xmlns:p14="http://schemas.microsoft.com/office/powerpoint/2010/main" val="199165118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5"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75CE7-98A2-0311-6AA8-A11B5E4B3732}"/>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CC8C8F5-D8A1-DBCC-B00B-95CD04F4416F}"/>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13" name="Oval 12">
            <a:extLst>
              <a:ext uri="{FF2B5EF4-FFF2-40B4-BE49-F238E27FC236}">
                <a16:creationId xmlns:a16="http://schemas.microsoft.com/office/drawing/2014/main" id="{27358102-0581-8BCA-D4C8-DF19150DA0C2}"/>
              </a:ext>
            </a:extLst>
          </p:cNvPr>
          <p:cNvSpPr/>
          <p:nvPr/>
        </p:nvSpPr>
        <p:spPr>
          <a:xfrm>
            <a:off x="2360296" y="297030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A</a:t>
            </a:r>
            <a:endParaRPr lang="en-US" dirty="0">
              <a:solidFill>
                <a:sysClr val="windowText" lastClr="000000"/>
              </a:solidFill>
            </a:endParaRPr>
          </a:p>
        </p:txBody>
      </p:sp>
      <p:sp>
        <p:nvSpPr>
          <p:cNvPr id="14" name="Oval 13">
            <a:extLst>
              <a:ext uri="{FF2B5EF4-FFF2-40B4-BE49-F238E27FC236}">
                <a16:creationId xmlns:a16="http://schemas.microsoft.com/office/drawing/2014/main" id="{AFDA93B9-9B03-9E2C-200F-CE7D9411DBB6}"/>
              </a:ext>
            </a:extLst>
          </p:cNvPr>
          <p:cNvSpPr/>
          <p:nvPr/>
        </p:nvSpPr>
        <p:spPr>
          <a:xfrm>
            <a:off x="3482786" y="4030724"/>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B</a:t>
            </a:r>
            <a:endParaRPr lang="en-US" dirty="0">
              <a:solidFill>
                <a:sysClr val="windowText" lastClr="000000"/>
              </a:solidFill>
            </a:endParaRPr>
          </a:p>
        </p:txBody>
      </p:sp>
      <p:sp>
        <p:nvSpPr>
          <p:cNvPr id="15" name="Right Arrow 14">
            <a:extLst>
              <a:ext uri="{FF2B5EF4-FFF2-40B4-BE49-F238E27FC236}">
                <a16:creationId xmlns:a16="http://schemas.microsoft.com/office/drawing/2014/main" id="{A0D2AC53-3F7C-6BE7-7166-EC9E34E1091B}"/>
              </a:ext>
            </a:extLst>
          </p:cNvPr>
          <p:cNvSpPr/>
          <p:nvPr/>
        </p:nvSpPr>
        <p:spPr>
          <a:xfrm rot="19622934">
            <a:off x="4057125" y="3484756"/>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3CD5B325-F773-8A2F-DA74-F10B3388E237}"/>
              </a:ext>
            </a:extLst>
          </p:cNvPr>
          <p:cNvSpPr/>
          <p:nvPr/>
        </p:nvSpPr>
        <p:spPr>
          <a:xfrm rot="4623171">
            <a:off x="5300966" y="3496768"/>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5D591F2-D38B-06C6-65FD-3D29B37E921F}"/>
              </a:ext>
            </a:extLst>
          </p:cNvPr>
          <p:cNvSpPr/>
          <p:nvPr/>
        </p:nvSpPr>
        <p:spPr>
          <a:xfrm>
            <a:off x="4642747" y="2735817"/>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C</a:t>
            </a:r>
            <a:endParaRPr lang="en-US" dirty="0">
              <a:solidFill>
                <a:sysClr val="windowText" lastClr="000000"/>
              </a:solidFill>
            </a:endParaRPr>
          </a:p>
        </p:txBody>
      </p:sp>
      <p:sp>
        <p:nvSpPr>
          <p:cNvPr id="18" name="Right Arrow 17">
            <a:extLst>
              <a:ext uri="{FF2B5EF4-FFF2-40B4-BE49-F238E27FC236}">
                <a16:creationId xmlns:a16="http://schemas.microsoft.com/office/drawing/2014/main" id="{5565D34E-A53B-57B8-C6CC-13093239FFC7}"/>
              </a:ext>
            </a:extLst>
          </p:cNvPr>
          <p:cNvSpPr/>
          <p:nvPr/>
        </p:nvSpPr>
        <p:spPr>
          <a:xfrm rot="11192711">
            <a:off x="4784888" y="44170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EEC9B05-E240-0134-E1D5-9C86027C16BF}"/>
              </a:ext>
            </a:extLst>
          </p:cNvPr>
          <p:cNvSpPr/>
          <p:nvPr/>
        </p:nvSpPr>
        <p:spPr>
          <a:xfrm>
            <a:off x="5611582" y="416657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D</a:t>
            </a:r>
            <a:endParaRPr lang="en-US" dirty="0">
              <a:solidFill>
                <a:sysClr val="windowText" lastClr="000000"/>
              </a:solidFill>
            </a:endParaRPr>
          </a:p>
        </p:txBody>
      </p:sp>
      <p:sp>
        <p:nvSpPr>
          <p:cNvPr id="20" name="Right Arrow 19">
            <a:extLst>
              <a:ext uri="{FF2B5EF4-FFF2-40B4-BE49-F238E27FC236}">
                <a16:creationId xmlns:a16="http://schemas.microsoft.com/office/drawing/2014/main" id="{85C92DE1-06FD-448E-12AC-A24480D280FE}"/>
              </a:ext>
            </a:extLst>
          </p:cNvPr>
          <p:cNvSpPr/>
          <p:nvPr/>
        </p:nvSpPr>
        <p:spPr>
          <a:xfrm rot="3453542">
            <a:off x="2852629" y="39436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55F7256-643F-66BD-FD60-B27C99081012}"/>
              </a:ext>
            </a:extLst>
          </p:cNvPr>
          <p:cNvSpPr/>
          <p:nvPr/>
        </p:nvSpPr>
        <p:spPr>
          <a:xfrm>
            <a:off x="6463044" y="2828739"/>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E</a:t>
            </a:r>
            <a:endParaRPr lang="en-US" dirty="0">
              <a:solidFill>
                <a:sysClr val="windowText" lastClr="000000"/>
              </a:solidFill>
            </a:endParaRPr>
          </a:p>
        </p:txBody>
      </p:sp>
      <p:sp>
        <p:nvSpPr>
          <p:cNvPr id="22" name="Right Arrow 21">
            <a:extLst>
              <a:ext uri="{FF2B5EF4-FFF2-40B4-BE49-F238E27FC236}">
                <a16:creationId xmlns:a16="http://schemas.microsoft.com/office/drawing/2014/main" id="{32343AFE-73FD-C19F-D612-B1BD09072FB7}"/>
              </a:ext>
            </a:extLst>
          </p:cNvPr>
          <p:cNvSpPr/>
          <p:nvPr/>
        </p:nvSpPr>
        <p:spPr>
          <a:xfrm rot="18602062">
            <a:off x="6282046" y="3778221"/>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29FCFFFE-1293-B02A-567E-14FA28EA9108}"/>
              </a:ext>
            </a:extLst>
          </p:cNvPr>
          <p:cNvSpPr/>
          <p:nvPr/>
        </p:nvSpPr>
        <p:spPr>
          <a:xfrm rot="652415">
            <a:off x="5749658" y="2941413"/>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D8057D8-622C-3768-F2D8-5700BA7EE075}"/>
              </a:ext>
            </a:extLst>
          </p:cNvPr>
          <p:cNvSpPr/>
          <p:nvPr/>
        </p:nvSpPr>
        <p:spPr>
          <a:xfrm>
            <a:off x="2101156" y="2696941"/>
            <a:ext cx="1449646" cy="1316623"/>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993619-9279-0F7F-A11D-789D38B834C5}"/>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5" name="Oval 4">
            <a:extLst>
              <a:ext uri="{FF2B5EF4-FFF2-40B4-BE49-F238E27FC236}">
                <a16:creationId xmlns:a16="http://schemas.microsoft.com/office/drawing/2014/main" id="{2422BF97-B3D1-E731-C381-BC43F9A2811D}"/>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6" name="Down Arrow 5">
            <a:extLst>
              <a:ext uri="{FF2B5EF4-FFF2-40B4-BE49-F238E27FC236}">
                <a16:creationId xmlns:a16="http://schemas.microsoft.com/office/drawing/2014/main" id="{0E6A3BF3-106B-3414-4B4F-22E358B4A023}"/>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F9A7702-1C5E-538E-9D32-7E435F44C3FE}"/>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highlight>
                  <a:srgbClr val="FF0000"/>
                </a:highlight>
              </a:rPr>
              <a:t>Find a Smith set</a:t>
            </a:r>
          </a:p>
          <a:p>
            <a:pPr marL="285750" indent="-285750">
              <a:buFont typeface="Arial" panose="020B0604020202020204" pitchFamily="34" charset="0"/>
              <a:buChar char="•"/>
            </a:pPr>
            <a:r>
              <a:rPr lang="en-US" sz="2400" dirty="0"/>
              <a:t>Extract and emit</a:t>
            </a:r>
          </a:p>
          <a:p>
            <a:pPr marL="285750" indent="-285750">
              <a:buFont typeface="Arial" panose="020B0604020202020204" pitchFamily="34" charset="0"/>
              <a:buChar char="•"/>
            </a:pPr>
            <a:r>
              <a:rPr lang="en-US" sz="2400" dirty="0"/>
              <a:t>Repeat</a:t>
            </a:r>
          </a:p>
        </p:txBody>
      </p:sp>
    </p:spTree>
    <p:extLst>
      <p:ext uri="{BB962C8B-B14F-4D97-AF65-F5344CB8AC3E}">
        <p14:creationId xmlns:p14="http://schemas.microsoft.com/office/powerpoint/2010/main" val="1332724626"/>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56876-B893-AD8D-60E2-ADA2A6D1DA0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718C860-5D78-ADF4-D292-E365602B05BC}"/>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14" name="Oval 13">
            <a:extLst>
              <a:ext uri="{FF2B5EF4-FFF2-40B4-BE49-F238E27FC236}">
                <a16:creationId xmlns:a16="http://schemas.microsoft.com/office/drawing/2014/main" id="{131368BF-11F4-133D-2000-31CD5E24173A}"/>
              </a:ext>
            </a:extLst>
          </p:cNvPr>
          <p:cNvSpPr/>
          <p:nvPr/>
        </p:nvSpPr>
        <p:spPr>
          <a:xfrm>
            <a:off x="3482786" y="4030724"/>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B</a:t>
            </a:r>
            <a:endParaRPr lang="en-US" dirty="0">
              <a:solidFill>
                <a:sysClr val="windowText" lastClr="000000"/>
              </a:solidFill>
            </a:endParaRPr>
          </a:p>
        </p:txBody>
      </p:sp>
      <p:sp>
        <p:nvSpPr>
          <p:cNvPr id="15" name="Right Arrow 14">
            <a:extLst>
              <a:ext uri="{FF2B5EF4-FFF2-40B4-BE49-F238E27FC236}">
                <a16:creationId xmlns:a16="http://schemas.microsoft.com/office/drawing/2014/main" id="{E599DAEA-D1F8-9E73-3E0C-D19EBD7BFB6B}"/>
              </a:ext>
            </a:extLst>
          </p:cNvPr>
          <p:cNvSpPr/>
          <p:nvPr/>
        </p:nvSpPr>
        <p:spPr>
          <a:xfrm rot="19622934">
            <a:off x="4057125" y="3484756"/>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8D6E30E1-0EFC-288D-CFDB-3D9B419890BE}"/>
              </a:ext>
            </a:extLst>
          </p:cNvPr>
          <p:cNvSpPr/>
          <p:nvPr/>
        </p:nvSpPr>
        <p:spPr>
          <a:xfrm rot="4623171">
            <a:off x="5300966" y="3496768"/>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8CCF9B2-AFF3-45BA-64FD-FB659B76B97D}"/>
              </a:ext>
            </a:extLst>
          </p:cNvPr>
          <p:cNvSpPr/>
          <p:nvPr/>
        </p:nvSpPr>
        <p:spPr>
          <a:xfrm>
            <a:off x="4642747" y="2735817"/>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C</a:t>
            </a:r>
            <a:endParaRPr lang="en-US" dirty="0">
              <a:solidFill>
                <a:sysClr val="windowText" lastClr="000000"/>
              </a:solidFill>
            </a:endParaRPr>
          </a:p>
        </p:txBody>
      </p:sp>
      <p:sp>
        <p:nvSpPr>
          <p:cNvPr id="18" name="Right Arrow 17">
            <a:extLst>
              <a:ext uri="{FF2B5EF4-FFF2-40B4-BE49-F238E27FC236}">
                <a16:creationId xmlns:a16="http://schemas.microsoft.com/office/drawing/2014/main" id="{99AE0AA6-B1D2-A851-42F5-B86A1017EE3B}"/>
              </a:ext>
            </a:extLst>
          </p:cNvPr>
          <p:cNvSpPr/>
          <p:nvPr/>
        </p:nvSpPr>
        <p:spPr>
          <a:xfrm rot="11192711">
            <a:off x="4784888" y="44170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4FB92F4-E75C-4A17-F05E-2967E0B64EB3}"/>
              </a:ext>
            </a:extLst>
          </p:cNvPr>
          <p:cNvSpPr/>
          <p:nvPr/>
        </p:nvSpPr>
        <p:spPr>
          <a:xfrm>
            <a:off x="5611582" y="416657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D</a:t>
            </a:r>
            <a:endParaRPr lang="en-US" dirty="0">
              <a:solidFill>
                <a:sysClr val="windowText" lastClr="000000"/>
              </a:solidFill>
            </a:endParaRPr>
          </a:p>
        </p:txBody>
      </p:sp>
      <p:sp>
        <p:nvSpPr>
          <p:cNvPr id="21" name="Oval 20">
            <a:extLst>
              <a:ext uri="{FF2B5EF4-FFF2-40B4-BE49-F238E27FC236}">
                <a16:creationId xmlns:a16="http://schemas.microsoft.com/office/drawing/2014/main" id="{E3F7A29D-EE3A-EF60-4F23-70360919F069}"/>
              </a:ext>
            </a:extLst>
          </p:cNvPr>
          <p:cNvSpPr/>
          <p:nvPr/>
        </p:nvSpPr>
        <p:spPr>
          <a:xfrm>
            <a:off x="6463044" y="2828739"/>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E</a:t>
            </a:r>
            <a:endParaRPr lang="en-US" dirty="0">
              <a:solidFill>
                <a:sysClr val="windowText" lastClr="000000"/>
              </a:solidFill>
            </a:endParaRPr>
          </a:p>
        </p:txBody>
      </p:sp>
      <p:sp>
        <p:nvSpPr>
          <p:cNvPr id="22" name="Right Arrow 21">
            <a:extLst>
              <a:ext uri="{FF2B5EF4-FFF2-40B4-BE49-F238E27FC236}">
                <a16:creationId xmlns:a16="http://schemas.microsoft.com/office/drawing/2014/main" id="{2ADFB075-439C-6480-D63F-25E69A27B4BD}"/>
              </a:ext>
            </a:extLst>
          </p:cNvPr>
          <p:cNvSpPr/>
          <p:nvPr/>
        </p:nvSpPr>
        <p:spPr>
          <a:xfrm rot="18602062">
            <a:off x="6282046" y="3778221"/>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777AC70-284F-7C5E-D695-BD4A7EB3A17D}"/>
              </a:ext>
            </a:extLst>
          </p:cNvPr>
          <p:cNvSpPr/>
          <p:nvPr/>
        </p:nvSpPr>
        <p:spPr>
          <a:xfrm rot="652415">
            <a:off x="5749658" y="2941413"/>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10313E-7B6D-D198-B789-6F89D99680E4}"/>
              </a:ext>
            </a:extLst>
          </p:cNvPr>
          <p:cNvSpPr txBox="1"/>
          <p:nvPr/>
        </p:nvSpPr>
        <p:spPr>
          <a:xfrm>
            <a:off x="1463040" y="5699760"/>
            <a:ext cx="365806" cy="461665"/>
          </a:xfrm>
          <a:prstGeom prst="rect">
            <a:avLst/>
          </a:prstGeom>
          <a:noFill/>
        </p:spPr>
        <p:txBody>
          <a:bodyPr wrap="none" rtlCol="0">
            <a:spAutoFit/>
          </a:bodyPr>
          <a:lstStyle/>
          <a:p>
            <a:r>
              <a:rPr lang="en-US" sz="2400" dirty="0"/>
              <a:t>A</a:t>
            </a:r>
          </a:p>
        </p:txBody>
      </p:sp>
      <p:sp>
        <p:nvSpPr>
          <p:cNvPr id="4" name="Oval 3">
            <a:extLst>
              <a:ext uri="{FF2B5EF4-FFF2-40B4-BE49-F238E27FC236}">
                <a16:creationId xmlns:a16="http://schemas.microsoft.com/office/drawing/2014/main" id="{92D57A98-2DE7-4CC6-2876-E8CB70790888}"/>
              </a:ext>
            </a:extLst>
          </p:cNvPr>
          <p:cNvSpPr/>
          <p:nvPr/>
        </p:nvSpPr>
        <p:spPr>
          <a:xfrm>
            <a:off x="1303863" y="5511222"/>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1ECA3F-0820-50C9-F75A-28077591D02E}"/>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6" name="Oval 5">
            <a:extLst>
              <a:ext uri="{FF2B5EF4-FFF2-40B4-BE49-F238E27FC236}">
                <a16:creationId xmlns:a16="http://schemas.microsoft.com/office/drawing/2014/main" id="{DEC2AA9B-357F-F14C-4CB7-0DEFD0566DE9}"/>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7" name="Down Arrow 6">
            <a:extLst>
              <a:ext uri="{FF2B5EF4-FFF2-40B4-BE49-F238E27FC236}">
                <a16:creationId xmlns:a16="http://schemas.microsoft.com/office/drawing/2014/main" id="{75226C25-726B-4F7F-C50A-5CE4F317DBC2}"/>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603F8A3-A8D0-F029-25F7-85F02788F9BE}"/>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t>Find a Smith set</a:t>
            </a:r>
          </a:p>
          <a:p>
            <a:pPr marL="285750" indent="-285750">
              <a:buFont typeface="Arial" panose="020B0604020202020204" pitchFamily="34" charset="0"/>
              <a:buChar char="•"/>
            </a:pPr>
            <a:r>
              <a:rPr lang="en-US" sz="2400" dirty="0">
                <a:highlight>
                  <a:srgbClr val="FF0000"/>
                </a:highlight>
              </a:rPr>
              <a:t>Extract and emit</a:t>
            </a:r>
          </a:p>
          <a:p>
            <a:pPr marL="285750" indent="-285750">
              <a:buFont typeface="Arial" panose="020B0604020202020204" pitchFamily="34" charset="0"/>
              <a:buChar char="•"/>
            </a:pPr>
            <a:r>
              <a:rPr lang="en-US" sz="2400" dirty="0"/>
              <a:t>Repeat</a:t>
            </a:r>
          </a:p>
        </p:txBody>
      </p:sp>
    </p:spTree>
    <p:extLst>
      <p:ext uri="{BB962C8B-B14F-4D97-AF65-F5344CB8AC3E}">
        <p14:creationId xmlns:p14="http://schemas.microsoft.com/office/powerpoint/2010/main" val="3920056186"/>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E44B4-645E-DC40-4D93-6C48DBE24118}"/>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8C881C3-1AA2-DDF4-2C5F-AC11BABD8323}"/>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14" name="Oval 13">
            <a:extLst>
              <a:ext uri="{FF2B5EF4-FFF2-40B4-BE49-F238E27FC236}">
                <a16:creationId xmlns:a16="http://schemas.microsoft.com/office/drawing/2014/main" id="{23E4789A-9BCE-809F-0A70-779451EE8251}"/>
              </a:ext>
            </a:extLst>
          </p:cNvPr>
          <p:cNvSpPr/>
          <p:nvPr/>
        </p:nvSpPr>
        <p:spPr>
          <a:xfrm>
            <a:off x="3482786" y="4030724"/>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B</a:t>
            </a:r>
            <a:endParaRPr lang="en-US" dirty="0">
              <a:solidFill>
                <a:sysClr val="windowText" lastClr="000000"/>
              </a:solidFill>
            </a:endParaRPr>
          </a:p>
        </p:txBody>
      </p:sp>
      <p:sp>
        <p:nvSpPr>
          <p:cNvPr id="15" name="Right Arrow 14">
            <a:extLst>
              <a:ext uri="{FF2B5EF4-FFF2-40B4-BE49-F238E27FC236}">
                <a16:creationId xmlns:a16="http://schemas.microsoft.com/office/drawing/2014/main" id="{4AB61277-FB39-F966-8E52-A2A448FA57D3}"/>
              </a:ext>
            </a:extLst>
          </p:cNvPr>
          <p:cNvSpPr/>
          <p:nvPr/>
        </p:nvSpPr>
        <p:spPr>
          <a:xfrm rot="19622934">
            <a:off x="4057125" y="3484756"/>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C2CC29A6-1067-409F-9A49-7E35E78F9675}"/>
              </a:ext>
            </a:extLst>
          </p:cNvPr>
          <p:cNvSpPr/>
          <p:nvPr/>
        </p:nvSpPr>
        <p:spPr>
          <a:xfrm rot="4623171">
            <a:off x="5300966" y="3496768"/>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7784A84-C715-D9EE-2DF9-0A71C7930BFC}"/>
              </a:ext>
            </a:extLst>
          </p:cNvPr>
          <p:cNvSpPr/>
          <p:nvPr/>
        </p:nvSpPr>
        <p:spPr>
          <a:xfrm>
            <a:off x="4642747" y="2735817"/>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C</a:t>
            </a:r>
            <a:endParaRPr lang="en-US" dirty="0">
              <a:solidFill>
                <a:sysClr val="windowText" lastClr="000000"/>
              </a:solidFill>
            </a:endParaRPr>
          </a:p>
        </p:txBody>
      </p:sp>
      <p:sp>
        <p:nvSpPr>
          <p:cNvPr id="18" name="Right Arrow 17">
            <a:extLst>
              <a:ext uri="{FF2B5EF4-FFF2-40B4-BE49-F238E27FC236}">
                <a16:creationId xmlns:a16="http://schemas.microsoft.com/office/drawing/2014/main" id="{E6F50E20-BED2-A8C4-0EE6-3ED06235236B}"/>
              </a:ext>
            </a:extLst>
          </p:cNvPr>
          <p:cNvSpPr/>
          <p:nvPr/>
        </p:nvSpPr>
        <p:spPr>
          <a:xfrm rot="11192711">
            <a:off x="4784888" y="44170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60EBC5-F002-5411-E7EB-EAD8C4699503}"/>
              </a:ext>
            </a:extLst>
          </p:cNvPr>
          <p:cNvSpPr/>
          <p:nvPr/>
        </p:nvSpPr>
        <p:spPr>
          <a:xfrm>
            <a:off x="5611582" y="416657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D</a:t>
            </a:r>
            <a:endParaRPr lang="en-US" dirty="0">
              <a:solidFill>
                <a:sysClr val="windowText" lastClr="000000"/>
              </a:solidFill>
            </a:endParaRPr>
          </a:p>
        </p:txBody>
      </p:sp>
      <p:sp>
        <p:nvSpPr>
          <p:cNvPr id="21" name="Oval 20">
            <a:extLst>
              <a:ext uri="{FF2B5EF4-FFF2-40B4-BE49-F238E27FC236}">
                <a16:creationId xmlns:a16="http://schemas.microsoft.com/office/drawing/2014/main" id="{7E3FAEF4-E214-AA18-E12F-C9BBFCB27362}"/>
              </a:ext>
            </a:extLst>
          </p:cNvPr>
          <p:cNvSpPr/>
          <p:nvPr/>
        </p:nvSpPr>
        <p:spPr>
          <a:xfrm>
            <a:off x="6463044" y="2828739"/>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E</a:t>
            </a:r>
            <a:endParaRPr lang="en-US" dirty="0">
              <a:solidFill>
                <a:sysClr val="windowText" lastClr="000000"/>
              </a:solidFill>
            </a:endParaRPr>
          </a:p>
        </p:txBody>
      </p:sp>
      <p:sp>
        <p:nvSpPr>
          <p:cNvPr id="22" name="Right Arrow 21">
            <a:extLst>
              <a:ext uri="{FF2B5EF4-FFF2-40B4-BE49-F238E27FC236}">
                <a16:creationId xmlns:a16="http://schemas.microsoft.com/office/drawing/2014/main" id="{B4BAFAE3-4BE5-436E-859C-AE6554E509AB}"/>
              </a:ext>
            </a:extLst>
          </p:cNvPr>
          <p:cNvSpPr/>
          <p:nvPr/>
        </p:nvSpPr>
        <p:spPr>
          <a:xfrm rot="18602062">
            <a:off x="6282046" y="3778221"/>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E9EAE323-EA2E-B963-C194-5F3814DDB71F}"/>
              </a:ext>
            </a:extLst>
          </p:cNvPr>
          <p:cNvSpPr/>
          <p:nvPr/>
        </p:nvSpPr>
        <p:spPr>
          <a:xfrm rot="652415">
            <a:off x="5749658" y="2941413"/>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75689C-1C39-FD08-85E2-74B31EB8D4D5}"/>
              </a:ext>
            </a:extLst>
          </p:cNvPr>
          <p:cNvSpPr txBox="1"/>
          <p:nvPr/>
        </p:nvSpPr>
        <p:spPr>
          <a:xfrm>
            <a:off x="1463040" y="5699760"/>
            <a:ext cx="365806" cy="461665"/>
          </a:xfrm>
          <a:prstGeom prst="rect">
            <a:avLst/>
          </a:prstGeom>
          <a:noFill/>
        </p:spPr>
        <p:txBody>
          <a:bodyPr wrap="none" rtlCol="0">
            <a:spAutoFit/>
          </a:bodyPr>
          <a:lstStyle/>
          <a:p>
            <a:r>
              <a:rPr lang="en-US" sz="2400" dirty="0"/>
              <a:t>A</a:t>
            </a:r>
          </a:p>
        </p:txBody>
      </p:sp>
      <p:sp>
        <p:nvSpPr>
          <p:cNvPr id="4" name="Oval 3">
            <a:extLst>
              <a:ext uri="{FF2B5EF4-FFF2-40B4-BE49-F238E27FC236}">
                <a16:creationId xmlns:a16="http://schemas.microsoft.com/office/drawing/2014/main" id="{0C9CA79B-2FF3-22F0-81A2-1E2A3AFDB9E5}"/>
              </a:ext>
            </a:extLst>
          </p:cNvPr>
          <p:cNvSpPr/>
          <p:nvPr/>
        </p:nvSpPr>
        <p:spPr>
          <a:xfrm>
            <a:off x="1303863" y="5511222"/>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1E2C747-B2CD-375D-8FA9-2A0DEBDC8243}"/>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7" name="Oval 6">
            <a:extLst>
              <a:ext uri="{FF2B5EF4-FFF2-40B4-BE49-F238E27FC236}">
                <a16:creationId xmlns:a16="http://schemas.microsoft.com/office/drawing/2014/main" id="{ABA46EAD-9D19-4A1A-F895-B3A9170A1B45}"/>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8" name="Down Arrow 7">
            <a:extLst>
              <a:ext uri="{FF2B5EF4-FFF2-40B4-BE49-F238E27FC236}">
                <a16:creationId xmlns:a16="http://schemas.microsoft.com/office/drawing/2014/main" id="{32BD20C7-CBF1-4431-85F6-3F3624C22902}"/>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5D55983-306C-A04B-ECB0-66AF7FE52A2E}"/>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t>Find a Smith set</a:t>
            </a:r>
          </a:p>
          <a:p>
            <a:pPr marL="285750" indent="-285750">
              <a:buFont typeface="Arial" panose="020B0604020202020204" pitchFamily="34" charset="0"/>
              <a:buChar char="•"/>
            </a:pPr>
            <a:r>
              <a:rPr lang="en-US" sz="2400" dirty="0"/>
              <a:t>Extract and emit</a:t>
            </a:r>
          </a:p>
          <a:p>
            <a:pPr marL="285750" indent="-285750">
              <a:buFont typeface="Arial" panose="020B0604020202020204" pitchFamily="34" charset="0"/>
              <a:buChar char="•"/>
            </a:pPr>
            <a:r>
              <a:rPr lang="en-US" sz="2400" dirty="0">
                <a:highlight>
                  <a:srgbClr val="FF0000"/>
                </a:highlight>
              </a:rPr>
              <a:t>Repeat</a:t>
            </a:r>
          </a:p>
        </p:txBody>
      </p:sp>
    </p:spTree>
    <p:extLst>
      <p:ext uri="{BB962C8B-B14F-4D97-AF65-F5344CB8AC3E}">
        <p14:creationId xmlns:p14="http://schemas.microsoft.com/office/powerpoint/2010/main" val="137825622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6B8C1-A1C7-E0D2-C4B0-9D8BFA178432}"/>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4D676FB-0819-D93A-9DD1-4D2025A3A40F}"/>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14" name="Oval 13">
            <a:extLst>
              <a:ext uri="{FF2B5EF4-FFF2-40B4-BE49-F238E27FC236}">
                <a16:creationId xmlns:a16="http://schemas.microsoft.com/office/drawing/2014/main" id="{312D7D45-536F-6CB9-5C32-D069206B0700}"/>
              </a:ext>
            </a:extLst>
          </p:cNvPr>
          <p:cNvSpPr/>
          <p:nvPr/>
        </p:nvSpPr>
        <p:spPr>
          <a:xfrm>
            <a:off x="3482786" y="4030724"/>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B</a:t>
            </a:r>
            <a:endParaRPr lang="en-US" dirty="0">
              <a:solidFill>
                <a:sysClr val="windowText" lastClr="000000"/>
              </a:solidFill>
            </a:endParaRPr>
          </a:p>
        </p:txBody>
      </p:sp>
      <p:sp>
        <p:nvSpPr>
          <p:cNvPr id="15" name="Right Arrow 14">
            <a:extLst>
              <a:ext uri="{FF2B5EF4-FFF2-40B4-BE49-F238E27FC236}">
                <a16:creationId xmlns:a16="http://schemas.microsoft.com/office/drawing/2014/main" id="{B1F072ED-A628-5926-B4A1-1542A16C4491}"/>
              </a:ext>
            </a:extLst>
          </p:cNvPr>
          <p:cNvSpPr/>
          <p:nvPr/>
        </p:nvSpPr>
        <p:spPr>
          <a:xfrm rot="19622934">
            <a:off x="4057125" y="3484756"/>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3F417404-E926-5A8F-7242-0E1C76BEC558}"/>
              </a:ext>
            </a:extLst>
          </p:cNvPr>
          <p:cNvSpPr/>
          <p:nvPr/>
        </p:nvSpPr>
        <p:spPr>
          <a:xfrm rot="4623171">
            <a:off x="5300966" y="3496768"/>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FBFB66B-A2CF-0F18-BF4C-D8D6077E4AC9}"/>
              </a:ext>
            </a:extLst>
          </p:cNvPr>
          <p:cNvSpPr/>
          <p:nvPr/>
        </p:nvSpPr>
        <p:spPr>
          <a:xfrm>
            <a:off x="4642747" y="2735817"/>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C</a:t>
            </a:r>
            <a:endParaRPr lang="en-US" dirty="0">
              <a:solidFill>
                <a:sysClr val="windowText" lastClr="000000"/>
              </a:solidFill>
            </a:endParaRPr>
          </a:p>
        </p:txBody>
      </p:sp>
      <p:sp>
        <p:nvSpPr>
          <p:cNvPr id="18" name="Right Arrow 17">
            <a:extLst>
              <a:ext uri="{FF2B5EF4-FFF2-40B4-BE49-F238E27FC236}">
                <a16:creationId xmlns:a16="http://schemas.microsoft.com/office/drawing/2014/main" id="{B1D7F556-98CD-CC18-C580-4062BC1A403C}"/>
              </a:ext>
            </a:extLst>
          </p:cNvPr>
          <p:cNvSpPr/>
          <p:nvPr/>
        </p:nvSpPr>
        <p:spPr>
          <a:xfrm rot="11192711">
            <a:off x="4784888" y="4417015"/>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ED2B373-4333-145F-EC18-A74CB91788F0}"/>
              </a:ext>
            </a:extLst>
          </p:cNvPr>
          <p:cNvSpPr/>
          <p:nvPr/>
        </p:nvSpPr>
        <p:spPr>
          <a:xfrm>
            <a:off x="5611582" y="4166571"/>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D</a:t>
            </a:r>
            <a:endParaRPr lang="en-US" dirty="0">
              <a:solidFill>
                <a:sysClr val="windowText" lastClr="000000"/>
              </a:solidFill>
            </a:endParaRPr>
          </a:p>
        </p:txBody>
      </p:sp>
      <p:sp>
        <p:nvSpPr>
          <p:cNvPr id="21" name="Oval 20">
            <a:extLst>
              <a:ext uri="{FF2B5EF4-FFF2-40B4-BE49-F238E27FC236}">
                <a16:creationId xmlns:a16="http://schemas.microsoft.com/office/drawing/2014/main" id="{0511C0F4-D82C-BBF3-669D-0E25735308F5}"/>
              </a:ext>
            </a:extLst>
          </p:cNvPr>
          <p:cNvSpPr/>
          <p:nvPr/>
        </p:nvSpPr>
        <p:spPr>
          <a:xfrm>
            <a:off x="6463044" y="2828739"/>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E</a:t>
            </a:r>
            <a:endParaRPr lang="en-US" dirty="0">
              <a:solidFill>
                <a:sysClr val="windowText" lastClr="000000"/>
              </a:solidFill>
            </a:endParaRPr>
          </a:p>
        </p:txBody>
      </p:sp>
      <p:sp>
        <p:nvSpPr>
          <p:cNvPr id="22" name="Right Arrow 21">
            <a:extLst>
              <a:ext uri="{FF2B5EF4-FFF2-40B4-BE49-F238E27FC236}">
                <a16:creationId xmlns:a16="http://schemas.microsoft.com/office/drawing/2014/main" id="{CFE42EA1-9407-BE00-2497-238223EF0BDC}"/>
              </a:ext>
            </a:extLst>
          </p:cNvPr>
          <p:cNvSpPr/>
          <p:nvPr/>
        </p:nvSpPr>
        <p:spPr>
          <a:xfrm rot="18602062">
            <a:off x="6282046" y="3778221"/>
            <a:ext cx="638636" cy="367524"/>
          </a:xfrm>
          <a:custGeom>
            <a:avLst/>
            <a:gdLst>
              <a:gd name="csX0" fmla="*/ 0 w 638636"/>
              <a:gd name="csY0" fmla="*/ 155867 h 367524"/>
              <a:gd name="csX1" fmla="*/ 478484 w 638636"/>
              <a:gd name="csY1" fmla="*/ 155867 h 367524"/>
              <a:gd name="csX2" fmla="*/ 478484 w 638636"/>
              <a:gd name="csY2" fmla="*/ 0 h 367524"/>
              <a:gd name="csX3" fmla="*/ 638636 w 638636"/>
              <a:gd name="csY3" fmla="*/ 183762 h 367524"/>
              <a:gd name="csX4" fmla="*/ 478484 w 638636"/>
              <a:gd name="csY4" fmla="*/ 367524 h 367524"/>
              <a:gd name="csX5" fmla="*/ 478484 w 638636"/>
              <a:gd name="csY5" fmla="*/ 211657 h 367524"/>
              <a:gd name="csX6" fmla="*/ 0 w 638636"/>
              <a:gd name="csY6" fmla="*/ 211657 h 367524"/>
              <a:gd name="csX7" fmla="*/ 0 w 638636"/>
              <a:gd name="csY7" fmla="*/ 155867 h 36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8636" h="367524" fill="none" extrusionOk="0">
                <a:moveTo>
                  <a:pt x="0" y="155867"/>
                </a:moveTo>
                <a:cubicBezTo>
                  <a:pt x="145832" y="106112"/>
                  <a:pt x="260294" y="178232"/>
                  <a:pt x="478484" y="155867"/>
                </a:cubicBezTo>
                <a:cubicBezTo>
                  <a:pt x="459899" y="96550"/>
                  <a:pt x="488970" y="65614"/>
                  <a:pt x="478484" y="0"/>
                </a:cubicBezTo>
                <a:cubicBezTo>
                  <a:pt x="549542" y="44435"/>
                  <a:pt x="572406" y="109391"/>
                  <a:pt x="638636" y="183762"/>
                </a:cubicBezTo>
                <a:cubicBezTo>
                  <a:pt x="588126" y="268596"/>
                  <a:pt x="529054" y="308205"/>
                  <a:pt x="478484" y="367524"/>
                </a:cubicBezTo>
                <a:cubicBezTo>
                  <a:pt x="468671" y="329434"/>
                  <a:pt x="495351" y="267766"/>
                  <a:pt x="478484" y="211657"/>
                </a:cubicBezTo>
                <a:cubicBezTo>
                  <a:pt x="322976" y="263405"/>
                  <a:pt x="237152" y="187710"/>
                  <a:pt x="0" y="211657"/>
                </a:cubicBezTo>
                <a:cubicBezTo>
                  <a:pt x="-2977" y="194494"/>
                  <a:pt x="6572" y="169956"/>
                  <a:pt x="0" y="155867"/>
                </a:cubicBezTo>
                <a:close/>
              </a:path>
              <a:path w="638636" h="367524" stroke="0" extrusionOk="0">
                <a:moveTo>
                  <a:pt x="0" y="155867"/>
                </a:moveTo>
                <a:cubicBezTo>
                  <a:pt x="140771" y="107567"/>
                  <a:pt x="245395" y="189230"/>
                  <a:pt x="478484" y="155867"/>
                </a:cubicBezTo>
                <a:cubicBezTo>
                  <a:pt x="478134" y="105207"/>
                  <a:pt x="492658" y="39615"/>
                  <a:pt x="478484" y="0"/>
                </a:cubicBezTo>
                <a:cubicBezTo>
                  <a:pt x="550613" y="78761"/>
                  <a:pt x="557154" y="110537"/>
                  <a:pt x="638636" y="183762"/>
                </a:cubicBezTo>
                <a:cubicBezTo>
                  <a:pt x="580538" y="280324"/>
                  <a:pt x="510115" y="297016"/>
                  <a:pt x="478484" y="367524"/>
                </a:cubicBezTo>
                <a:cubicBezTo>
                  <a:pt x="461775" y="316734"/>
                  <a:pt x="481239" y="272076"/>
                  <a:pt x="478484" y="211657"/>
                </a:cubicBezTo>
                <a:cubicBezTo>
                  <a:pt x="377817" y="229161"/>
                  <a:pt x="158486" y="170476"/>
                  <a:pt x="0" y="211657"/>
                </a:cubicBezTo>
                <a:cubicBezTo>
                  <a:pt x="-6629" y="192598"/>
                  <a:pt x="1687" y="178369"/>
                  <a:pt x="0" y="155867"/>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5D8ACA85-7C13-D9F2-8B3F-D83F34511734}"/>
              </a:ext>
            </a:extLst>
          </p:cNvPr>
          <p:cNvSpPr/>
          <p:nvPr/>
        </p:nvSpPr>
        <p:spPr>
          <a:xfrm rot="652415">
            <a:off x="5749658" y="2941413"/>
            <a:ext cx="621233" cy="377820"/>
          </a:xfrm>
          <a:custGeom>
            <a:avLst/>
            <a:gdLst>
              <a:gd name="csX0" fmla="*/ 0 w 621233"/>
              <a:gd name="csY0" fmla="*/ 160233 h 377820"/>
              <a:gd name="csX1" fmla="*/ 456594 w 621233"/>
              <a:gd name="csY1" fmla="*/ 160233 h 377820"/>
              <a:gd name="csX2" fmla="*/ 456594 w 621233"/>
              <a:gd name="csY2" fmla="*/ 0 h 377820"/>
              <a:gd name="csX3" fmla="*/ 621233 w 621233"/>
              <a:gd name="csY3" fmla="*/ 188910 h 377820"/>
              <a:gd name="csX4" fmla="*/ 456594 w 621233"/>
              <a:gd name="csY4" fmla="*/ 377820 h 377820"/>
              <a:gd name="csX5" fmla="*/ 456594 w 621233"/>
              <a:gd name="csY5" fmla="*/ 217587 h 377820"/>
              <a:gd name="csX6" fmla="*/ 0 w 621233"/>
              <a:gd name="csY6" fmla="*/ 217587 h 377820"/>
              <a:gd name="csX7" fmla="*/ 0 w 621233"/>
              <a:gd name="csY7" fmla="*/ 160233 h 3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1233" h="377820" fill="none" extrusionOk="0">
                <a:moveTo>
                  <a:pt x="0" y="160233"/>
                </a:moveTo>
                <a:cubicBezTo>
                  <a:pt x="98491" y="148498"/>
                  <a:pt x="277537" y="184201"/>
                  <a:pt x="456594" y="160233"/>
                </a:cubicBezTo>
                <a:cubicBezTo>
                  <a:pt x="442800" y="105538"/>
                  <a:pt x="466989" y="72813"/>
                  <a:pt x="456594" y="0"/>
                </a:cubicBezTo>
                <a:cubicBezTo>
                  <a:pt x="528359" y="82223"/>
                  <a:pt x="538715" y="111282"/>
                  <a:pt x="621233" y="188910"/>
                </a:cubicBezTo>
                <a:cubicBezTo>
                  <a:pt x="585123" y="251097"/>
                  <a:pt x="530315" y="283101"/>
                  <a:pt x="456594" y="377820"/>
                </a:cubicBezTo>
                <a:cubicBezTo>
                  <a:pt x="444100" y="325428"/>
                  <a:pt x="466279" y="274239"/>
                  <a:pt x="456594" y="217587"/>
                </a:cubicBezTo>
                <a:cubicBezTo>
                  <a:pt x="345064" y="270245"/>
                  <a:pt x="143560" y="189171"/>
                  <a:pt x="0" y="217587"/>
                </a:cubicBezTo>
                <a:cubicBezTo>
                  <a:pt x="-1324" y="196430"/>
                  <a:pt x="771" y="180350"/>
                  <a:pt x="0" y="160233"/>
                </a:cubicBezTo>
                <a:close/>
              </a:path>
              <a:path w="621233" h="377820" stroke="0" extrusionOk="0">
                <a:moveTo>
                  <a:pt x="0" y="160233"/>
                </a:moveTo>
                <a:cubicBezTo>
                  <a:pt x="96431" y="157982"/>
                  <a:pt x="302040" y="177769"/>
                  <a:pt x="456594" y="160233"/>
                </a:cubicBezTo>
                <a:cubicBezTo>
                  <a:pt x="446225" y="113591"/>
                  <a:pt x="472554" y="57165"/>
                  <a:pt x="456594" y="0"/>
                </a:cubicBezTo>
                <a:cubicBezTo>
                  <a:pt x="527376" y="50214"/>
                  <a:pt x="533313" y="118885"/>
                  <a:pt x="621233" y="188910"/>
                </a:cubicBezTo>
                <a:cubicBezTo>
                  <a:pt x="585540" y="246505"/>
                  <a:pt x="491888" y="326180"/>
                  <a:pt x="456594" y="377820"/>
                </a:cubicBezTo>
                <a:cubicBezTo>
                  <a:pt x="441676" y="327366"/>
                  <a:pt x="457807" y="287617"/>
                  <a:pt x="456594" y="217587"/>
                </a:cubicBezTo>
                <a:cubicBezTo>
                  <a:pt x="251214" y="265466"/>
                  <a:pt x="155076" y="209602"/>
                  <a:pt x="0" y="217587"/>
                </a:cubicBezTo>
                <a:cubicBezTo>
                  <a:pt x="-6300" y="199281"/>
                  <a:pt x="2077" y="184986"/>
                  <a:pt x="0" y="160233"/>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8F1050E-05D5-8701-3755-2724CF28E2DC}"/>
              </a:ext>
            </a:extLst>
          </p:cNvPr>
          <p:cNvSpPr txBox="1"/>
          <p:nvPr/>
        </p:nvSpPr>
        <p:spPr>
          <a:xfrm>
            <a:off x="1463040" y="5699760"/>
            <a:ext cx="365806" cy="461665"/>
          </a:xfrm>
          <a:prstGeom prst="rect">
            <a:avLst/>
          </a:prstGeom>
          <a:noFill/>
        </p:spPr>
        <p:txBody>
          <a:bodyPr wrap="none" rtlCol="0">
            <a:spAutoFit/>
          </a:bodyPr>
          <a:lstStyle/>
          <a:p>
            <a:r>
              <a:rPr lang="en-US" sz="2400" dirty="0"/>
              <a:t>A</a:t>
            </a:r>
          </a:p>
        </p:txBody>
      </p:sp>
      <p:sp>
        <p:nvSpPr>
          <p:cNvPr id="4" name="Oval 3">
            <a:extLst>
              <a:ext uri="{FF2B5EF4-FFF2-40B4-BE49-F238E27FC236}">
                <a16:creationId xmlns:a16="http://schemas.microsoft.com/office/drawing/2014/main" id="{3556302A-5067-CC9D-DD97-85F75867E12D}"/>
              </a:ext>
            </a:extLst>
          </p:cNvPr>
          <p:cNvSpPr/>
          <p:nvPr/>
        </p:nvSpPr>
        <p:spPr>
          <a:xfrm>
            <a:off x="1303863" y="5511222"/>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959396F-F035-11FF-5780-367F1DD5D40A}"/>
              </a:ext>
            </a:extLst>
          </p:cNvPr>
          <p:cNvSpPr/>
          <p:nvPr/>
        </p:nvSpPr>
        <p:spPr>
          <a:xfrm>
            <a:off x="3141064" y="2696148"/>
            <a:ext cx="3637281" cy="293309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C5E5BA-B96C-E9F5-FEB0-0FD431CD1172}"/>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7" name="Oval 6">
            <a:extLst>
              <a:ext uri="{FF2B5EF4-FFF2-40B4-BE49-F238E27FC236}">
                <a16:creationId xmlns:a16="http://schemas.microsoft.com/office/drawing/2014/main" id="{E24067E8-1318-0FF4-F592-EC78D300E591}"/>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8" name="Down Arrow 7">
            <a:extLst>
              <a:ext uri="{FF2B5EF4-FFF2-40B4-BE49-F238E27FC236}">
                <a16:creationId xmlns:a16="http://schemas.microsoft.com/office/drawing/2014/main" id="{E3803C16-8E92-5B9D-374E-657C91AFFF49}"/>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74234C-8754-12CD-88DD-4E01A2B2FFAD}"/>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highlight>
                  <a:srgbClr val="FF0000"/>
                </a:highlight>
              </a:rPr>
              <a:t>Find a Smith set</a:t>
            </a:r>
          </a:p>
          <a:p>
            <a:pPr marL="285750" indent="-285750">
              <a:buFont typeface="Arial" panose="020B0604020202020204" pitchFamily="34" charset="0"/>
              <a:buChar char="•"/>
            </a:pPr>
            <a:r>
              <a:rPr lang="en-US" sz="2400" dirty="0"/>
              <a:t>Extract and emit</a:t>
            </a:r>
          </a:p>
          <a:p>
            <a:pPr marL="285750" indent="-285750">
              <a:buFont typeface="Arial" panose="020B0604020202020204" pitchFamily="34" charset="0"/>
              <a:buChar char="•"/>
            </a:pPr>
            <a:r>
              <a:rPr lang="en-US" sz="2400" dirty="0"/>
              <a:t>Repeat</a:t>
            </a:r>
          </a:p>
        </p:txBody>
      </p:sp>
    </p:spTree>
    <p:extLst>
      <p:ext uri="{BB962C8B-B14F-4D97-AF65-F5344CB8AC3E}">
        <p14:creationId xmlns:p14="http://schemas.microsoft.com/office/powerpoint/2010/main" val="3232615409"/>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B77BC-14A6-E89E-251F-B50F8374C2CA}"/>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2EF7586-CBEF-8D92-D8B9-15AD2281E3A4}"/>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1" name="Oval 20">
            <a:extLst>
              <a:ext uri="{FF2B5EF4-FFF2-40B4-BE49-F238E27FC236}">
                <a16:creationId xmlns:a16="http://schemas.microsoft.com/office/drawing/2014/main" id="{B84CBAB8-4442-3659-70FB-2024452112A2}"/>
              </a:ext>
            </a:extLst>
          </p:cNvPr>
          <p:cNvSpPr/>
          <p:nvPr/>
        </p:nvSpPr>
        <p:spPr>
          <a:xfrm>
            <a:off x="6463044" y="2828739"/>
            <a:ext cx="968836" cy="78901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E</a:t>
            </a:r>
            <a:endParaRPr lang="en-US" dirty="0">
              <a:solidFill>
                <a:sysClr val="windowText" lastClr="000000"/>
              </a:solidFill>
            </a:endParaRPr>
          </a:p>
        </p:txBody>
      </p:sp>
      <p:sp>
        <p:nvSpPr>
          <p:cNvPr id="3" name="TextBox 2">
            <a:extLst>
              <a:ext uri="{FF2B5EF4-FFF2-40B4-BE49-F238E27FC236}">
                <a16:creationId xmlns:a16="http://schemas.microsoft.com/office/drawing/2014/main" id="{327980F3-D29F-67ED-1984-7C2FFD635F04}"/>
              </a:ext>
            </a:extLst>
          </p:cNvPr>
          <p:cNvSpPr txBox="1"/>
          <p:nvPr/>
        </p:nvSpPr>
        <p:spPr>
          <a:xfrm>
            <a:off x="1463040" y="5699760"/>
            <a:ext cx="365806" cy="461665"/>
          </a:xfrm>
          <a:prstGeom prst="rect">
            <a:avLst/>
          </a:prstGeom>
          <a:noFill/>
        </p:spPr>
        <p:txBody>
          <a:bodyPr wrap="none" rtlCol="0">
            <a:spAutoFit/>
          </a:bodyPr>
          <a:lstStyle/>
          <a:p>
            <a:r>
              <a:rPr lang="en-US" sz="2400" dirty="0"/>
              <a:t>A</a:t>
            </a:r>
          </a:p>
        </p:txBody>
      </p:sp>
      <p:sp>
        <p:nvSpPr>
          <p:cNvPr id="4" name="Oval 3">
            <a:extLst>
              <a:ext uri="{FF2B5EF4-FFF2-40B4-BE49-F238E27FC236}">
                <a16:creationId xmlns:a16="http://schemas.microsoft.com/office/drawing/2014/main" id="{1166DC9B-F25D-36CC-C72D-87BB01E328E1}"/>
              </a:ext>
            </a:extLst>
          </p:cNvPr>
          <p:cNvSpPr/>
          <p:nvPr/>
        </p:nvSpPr>
        <p:spPr>
          <a:xfrm>
            <a:off x="1303863" y="5511222"/>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E1B10FF-B20B-D9D1-222B-5A80A3C72048}"/>
              </a:ext>
            </a:extLst>
          </p:cNvPr>
          <p:cNvSpPr/>
          <p:nvPr/>
        </p:nvSpPr>
        <p:spPr>
          <a:xfrm>
            <a:off x="2340182" y="5515724"/>
            <a:ext cx="1601897"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6127C3A-FF52-235A-332E-1796E6E166B9}"/>
              </a:ext>
            </a:extLst>
          </p:cNvPr>
          <p:cNvSpPr txBox="1"/>
          <p:nvPr/>
        </p:nvSpPr>
        <p:spPr>
          <a:xfrm>
            <a:off x="2526090" y="5699760"/>
            <a:ext cx="1230080" cy="523220"/>
          </a:xfrm>
          <a:prstGeom prst="rect">
            <a:avLst/>
          </a:prstGeom>
          <a:noFill/>
        </p:spPr>
        <p:txBody>
          <a:bodyPr wrap="none" rtlCol="0">
            <a:spAutoFit/>
          </a:bodyPr>
          <a:lstStyle/>
          <a:p>
            <a:r>
              <a:rPr lang="en-US" sz="2800" dirty="0"/>
              <a:t>B, C, D</a:t>
            </a:r>
          </a:p>
        </p:txBody>
      </p:sp>
      <p:sp>
        <p:nvSpPr>
          <p:cNvPr id="7" name="TextBox 6">
            <a:extLst>
              <a:ext uri="{FF2B5EF4-FFF2-40B4-BE49-F238E27FC236}">
                <a16:creationId xmlns:a16="http://schemas.microsoft.com/office/drawing/2014/main" id="{F3E533C0-E6D0-D267-9360-9D02A12DC081}"/>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8" name="Oval 7">
            <a:extLst>
              <a:ext uri="{FF2B5EF4-FFF2-40B4-BE49-F238E27FC236}">
                <a16:creationId xmlns:a16="http://schemas.microsoft.com/office/drawing/2014/main" id="{EB0BE7FE-8396-49EF-BA65-EF0DC38513A1}"/>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9" name="Down Arrow 8">
            <a:extLst>
              <a:ext uri="{FF2B5EF4-FFF2-40B4-BE49-F238E27FC236}">
                <a16:creationId xmlns:a16="http://schemas.microsoft.com/office/drawing/2014/main" id="{9F9FDA61-FB65-2265-7933-E05DBAC29039}"/>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6332B1C-7ADA-B00A-13C0-6FDC1BFD3AC9}"/>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t>Find a Smith set</a:t>
            </a:r>
          </a:p>
          <a:p>
            <a:pPr marL="285750" indent="-285750">
              <a:buFont typeface="Arial" panose="020B0604020202020204" pitchFamily="34" charset="0"/>
              <a:buChar char="•"/>
            </a:pPr>
            <a:r>
              <a:rPr lang="en-US" sz="2400" dirty="0">
                <a:highlight>
                  <a:srgbClr val="FF0000"/>
                </a:highlight>
              </a:rPr>
              <a:t>Extract and emit</a:t>
            </a:r>
          </a:p>
          <a:p>
            <a:pPr marL="285750" indent="-285750">
              <a:buFont typeface="Arial" panose="020B0604020202020204" pitchFamily="34" charset="0"/>
              <a:buChar char="•"/>
            </a:pPr>
            <a:r>
              <a:rPr lang="en-US" sz="2400" dirty="0"/>
              <a:t>Repeat</a:t>
            </a:r>
          </a:p>
        </p:txBody>
      </p:sp>
    </p:spTree>
    <p:extLst>
      <p:ext uri="{BB962C8B-B14F-4D97-AF65-F5344CB8AC3E}">
        <p14:creationId xmlns:p14="http://schemas.microsoft.com/office/powerpoint/2010/main" val="1127288197"/>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ED9BB-BF0E-3A6C-9285-8D57E34FA079}"/>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D21C1C5-DEAB-2D4A-22EB-B7CB84F8B801}"/>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3" name="TextBox 2">
            <a:extLst>
              <a:ext uri="{FF2B5EF4-FFF2-40B4-BE49-F238E27FC236}">
                <a16:creationId xmlns:a16="http://schemas.microsoft.com/office/drawing/2014/main" id="{DD86B1A1-FA68-D7D7-A48A-6D69E14EB141}"/>
              </a:ext>
            </a:extLst>
          </p:cNvPr>
          <p:cNvSpPr txBox="1"/>
          <p:nvPr/>
        </p:nvSpPr>
        <p:spPr>
          <a:xfrm>
            <a:off x="1463040" y="5699760"/>
            <a:ext cx="365806" cy="461665"/>
          </a:xfrm>
          <a:prstGeom prst="rect">
            <a:avLst/>
          </a:prstGeom>
          <a:noFill/>
        </p:spPr>
        <p:txBody>
          <a:bodyPr wrap="none" rtlCol="0">
            <a:spAutoFit/>
          </a:bodyPr>
          <a:lstStyle/>
          <a:p>
            <a:r>
              <a:rPr lang="en-US" sz="2400" dirty="0"/>
              <a:t>A</a:t>
            </a:r>
          </a:p>
        </p:txBody>
      </p:sp>
      <p:sp>
        <p:nvSpPr>
          <p:cNvPr id="4" name="Oval 3">
            <a:extLst>
              <a:ext uri="{FF2B5EF4-FFF2-40B4-BE49-F238E27FC236}">
                <a16:creationId xmlns:a16="http://schemas.microsoft.com/office/drawing/2014/main" id="{99F8911C-2FC4-FCE7-BE1C-A3C08A8DD997}"/>
              </a:ext>
            </a:extLst>
          </p:cNvPr>
          <p:cNvSpPr/>
          <p:nvPr/>
        </p:nvSpPr>
        <p:spPr>
          <a:xfrm>
            <a:off x="1303863" y="5511222"/>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66D7896-4C49-946F-8D6B-30DB6EFDA3BD}"/>
              </a:ext>
            </a:extLst>
          </p:cNvPr>
          <p:cNvSpPr/>
          <p:nvPr/>
        </p:nvSpPr>
        <p:spPr>
          <a:xfrm>
            <a:off x="2340182" y="5515724"/>
            <a:ext cx="1601897"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CB4233-81F4-1B2D-A71F-2022941B72DE}"/>
              </a:ext>
            </a:extLst>
          </p:cNvPr>
          <p:cNvSpPr txBox="1"/>
          <p:nvPr/>
        </p:nvSpPr>
        <p:spPr>
          <a:xfrm>
            <a:off x="2526090" y="5699760"/>
            <a:ext cx="1230080" cy="523220"/>
          </a:xfrm>
          <a:prstGeom prst="rect">
            <a:avLst/>
          </a:prstGeom>
          <a:noFill/>
        </p:spPr>
        <p:txBody>
          <a:bodyPr wrap="none" rtlCol="0">
            <a:spAutoFit/>
          </a:bodyPr>
          <a:lstStyle/>
          <a:p>
            <a:r>
              <a:rPr lang="en-US" sz="2800" dirty="0"/>
              <a:t>B, C, D</a:t>
            </a:r>
          </a:p>
        </p:txBody>
      </p:sp>
      <p:sp>
        <p:nvSpPr>
          <p:cNvPr id="7" name="Oval 6">
            <a:extLst>
              <a:ext uri="{FF2B5EF4-FFF2-40B4-BE49-F238E27FC236}">
                <a16:creationId xmlns:a16="http://schemas.microsoft.com/office/drawing/2014/main" id="{0764F8BB-A3A2-ECA4-C904-B33B75B8A85D}"/>
              </a:ext>
            </a:extLst>
          </p:cNvPr>
          <p:cNvSpPr/>
          <p:nvPr/>
        </p:nvSpPr>
        <p:spPr>
          <a:xfrm>
            <a:off x="4199463" y="5511221"/>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50598CF-741F-3A52-E6D5-8BF30B9F34B5}"/>
              </a:ext>
            </a:extLst>
          </p:cNvPr>
          <p:cNvSpPr txBox="1"/>
          <p:nvPr/>
        </p:nvSpPr>
        <p:spPr>
          <a:xfrm>
            <a:off x="4353673" y="5638202"/>
            <a:ext cx="412292" cy="584775"/>
          </a:xfrm>
          <a:prstGeom prst="rect">
            <a:avLst/>
          </a:prstGeom>
          <a:noFill/>
        </p:spPr>
        <p:txBody>
          <a:bodyPr wrap="none" rtlCol="0">
            <a:spAutoFit/>
          </a:bodyPr>
          <a:lstStyle/>
          <a:p>
            <a:r>
              <a:rPr lang="en-US" sz="3200" dirty="0"/>
              <a:t>E</a:t>
            </a:r>
          </a:p>
        </p:txBody>
      </p:sp>
      <p:sp>
        <p:nvSpPr>
          <p:cNvPr id="10" name="TextBox 9">
            <a:extLst>
              <a:ext uri="{FF2B5EF4-FFF2-40B4-BE49-F238E27FC236}">
                <a16:creationId xmlns:a16="http://schemas.microsoft.com/office/drawing/2014/main" id="{EEAC26A2-F0A7-B0F2-4572-DA3767223198}"/>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11" name="Oval 10">
            <a:extLst>
              <a:ext uri="{FF2B5EF4-FFF2-40B4-BE49-F238E27FC236}">
                <a16:creationId xmlns:a16="http://schemas.microsoft.com/office/drawing/2014/main" id="{9651BB2B-542C-CB12-1E66-D8F57E286B24}"/>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12" name="Down Arrow 11">
            <a:extLst>
              <a:ext uri="{FF2B5EF4-FFF2-40B4-BE49-F238E27FC236}">
                <a16:creationId xmlns:a16="http://schemas.microsoft.com/office/drawing/2014/main" id="{F691F9D3-BF96-3C2A-504E-8B0174CE6761}"/>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B5AC294-562D-95F9-EB3C-2A5610D30004}"/>
              </a:ext>
            </a:extLst>
          </p:cNvPr>
          <p:cNvSpPr txBox="1"/>
          <p:nvPr/>
        </p:nvSpPr>
        <p:spPr>
          <a:xfrm>
            <a:off x="7301946" y="2605152"/>
            <a:ext cx="489005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Create a graph with nodes as events and add an edge if preceding probability greater than 0.5</a:t>
            </a:r>
            <a:br>
              <a:rPr lang="en-US" sz="2400" dirty="0"/>
            </a:br>
            <a:endParaRPr lang="en-US" sz="2400" dirty="0"/>
          </a:p>
          <a:p>
            <a:pPr marL="285750" indent="-285750">
              <a:buFont typeface="Arial" panose="020B0604020202020204" pitchFamily="34" charset="0"/>
              <a:buChar char="•"/>
            </a:pPr>
            <a:r>
              <a:rPr lang="en-US" sz="2400" dirty="0"/>
              <a:t>Find a Smith set</a:t>
            </a:r>
          </a:p>
          <a:p>
            <a:pPr marL="285750" indent="-285750">
              <a:buFont typeface="Arial" panose="020B0604020202020204" pitchFamily="34" charset="0"/>
              <a:buChar char="•"/>
            </a:pPr>
            <a:r>
              <a:rPr lang="en-US" sz="2400" dirty="0"/>
              <a:t>Extract and emit</a:t>
            </a:r>
          </a:p>
          <a:p>
            <a:pPr marL="285750" indent="-285750">
              <a:buFont typeface="Arial" panose="020B0604020202020204" pitchFamily="34" charset="0"/>
              <a:buChar char="•"/>
            </a:pPr>
            <a:r>
              <a:rPr lang="en-US" sz="2400" dirty="0"/>
              <a:t>Repeat</a:t>
            </a:r>
          </a:p>
        </p:txBody>
      </p:sp>
    </p:spTree>
    <p:extLst>
      <p:ext uri="{BB962C8B-B14F-4D97-AF65-F5344CB8AC3E}">
        <p14:creationId xmlns:p14="http://schemas.microsoft.com/office/powerpoint/2010/main" val="521555291"/>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A698C-B08E-D425-A12D-FC67B30C40A8}"/>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C7801879-393E-E285-93CA-151F89EA8A25}"/>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3" name="TextBox 2">
            <a:extLst>
              <a:ext uri="{FF2B5EF4-FFF2-40B4-BE49-F238E27FC236}">
                <a16:creationId xmlns:a16="http://schemas.microsoft.com/office/drawing/2014/main" id="{682FE5C6-FB51-0F97-25D4-7218F4B9A7BC}"/>
              </a:ext>
            </a:extLst>
          </p:cNvPr>
          <p:cNvSpPr txBox="1"/>
          <p:nvPr/>
        </p:nvSpPr>
        <p:spPr>
          <a:xfrm>
            <a:off x="3627120" y="3729486"/>
            <a:ext cx="365806" cy="461665"/>
          </a:xfrm>
          <a:prstGeom prst="rect">
            <a:avLst/>
          </a:prstGeom>
          <a:noFill/>
        </p:spPr>
        <p:txBody>
          <a:bodyPr wrap="none" rtlCol="0">
            <a:spAutoFit/>
          </a:bodyPr>
          <a:lstStyle/>
          <a:p>
            <a:r>
              <a:rPr lang="en-US" sz="2400" dirty="0"/>
              <a:t>A</a:t>
            </a:r>
          </a:p>
        </p:txBody>
      </p:sp>
      <p:sp>
        <p:nvSpPr>
          <p:cNvPr id="4" name="Oval 3">
            <a:extLst>
              <a:ext uri="{FF2B5EF4-FFF2-40B4-BE49-F238E27FC236}">
                <a16:creationId xmlns:a16="http://schemas.microsoft.com/office/drawing/2014/main" id="{30FE1F3D-9012-AC0D-5262-A9874A8EA6E2}"/>
              </a:ext>
            </a:extLst>
          </p:cNvPr>
          <p:cNvSpPr/>
          <p:nvPr/>
        </p:nvSpPr>
        <p:spPr>
          <a:xfrm>
            <a:off x="3467943" y="3540948"/>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C757572-A191-81C7-914A-F6893A33F09A}"/>
              </a:ext>
            </a:extLst>
          </p:cNvPr>
          <p:cNvSpPr/>
          <p:nvPr/>
        </p:nvSpPr>
        <p:spPr>
          <a:xfrm>
            <a:off x="4504262" y="3545450"/>
            <a:ext cx="1601897"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B288C5B-BE8F-6670-1706-9D04B06772BB}"/>
              </a:ext>
            </a:extLst>
          </p:cNvPr>
          <p:cNvSpPr txBox="1"/>
          <p:nvPr/>
        </p:nvSpPr>
        <p:spPr>
          <a:xfrm>
            <a:off x="4690170" y="3729486"/>
            <a:ext cx="1230080" cy="523220"/>
          </a:xfrm>
          <a:prstGeom prst="rect">
            <a:avLst/>
          </a:prstGeom>
          <a:noFill/>
        </p:spPr>
        <p:txBody>
          <a:bodyPr wrap="none" rtlCol="0">
            <a:spAutoFit/>
          </a:bodyPr>
          <a:lstStyle/>
          <a:p>
            <a:r>
              <a:rPr lang="en-US" sz="2800" dirty="0"/>
              <a:t>B, C, D</a:t>
            </a:r>
          </a:p>
        </p:txBody>
      </p:sp>
      <p:sp>
        <p:nvSpPr>
          <p:cNvPr id="7" name="Oval 6">
            <a:extLst>
              <a:ext uri="{FF2B5EF4-FFF2-40B4-BE49-F238E27FC236}">
                <a16:creationId xmlns:a16="http://schemas.microsoft.com/office/drawing/2014/main" id="{588325B6-BCB6-AD1F-D3B8-048F16D56FB3}"/>
              </a:ext>
            </a:extLst>
          </p:cNvPr>
          <p:cNvSpPr/>
          <p:nvPr/>
        </p:nvSpPr>
        <p:spPr>
          <a:xfrm>
            <a:off x="6363543" y="3540947"/>
            <a:ext cx="684160" cy="83873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9A48CF-D490-E2C4-C0D2-52DF2C49B768}"/>
              </a:ext>
            </a:extLst>
          </p:cNvPr>
          <p:cNvSpPr txBox="1"/>
          <p:nvPr/>
        </p:nvSpPr>
        <p:spPr>
          <a:xfrm>
            <a:off x="6837680" y="3820926"/>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EE99B8A5-4F5F-8647-9E24-0E991730765B}"/>
              </a:ext>
            </a:extLst>
          </p:cNvPr>
          <p:cNvSpPr txBox="1"/>
          <p:nvPr/>
        </p:nvSpPr>
        <p:spPr>
          <a:xfrm>
            <a:off x="6517753" y="3667928"/>
            <a:ext cx="412292" cy="584775"/>
          </a:xfrm>
          <a:prstGeom prst="rect">
            <a:avLst/>
          </a:prstGeom>
          <a:noFill/>
        </p:spPr>
        <p:txBody>
          <a:bodyPr wrap="none" rtlCol="0">
            <a:spAutoFit/>
          </a:bodyPr>
          <a:lstStyle/>
          <a:p>
            <a:r>
              <a:rPr lang="en-US" sz="3200" dirty="0"/>
              <a:t>E</a:t>
            </a:r>
          </a:p>
        </p:txBody>
      </p:sp>
      <p:sp>
        <p:nvSpPr>
          <p:cNvPr id="10" name="TextBox 9">
            <a:extLst>
              <a:ext uri="{FF2B5EF4-FFF2-40B4-BE49-F238E27FC236}">
                <a16:creationId xmlns:a16="http://schemas.microsoft.com/office/drawing/2014/main" id="{F3581AF8-5AC9-02AE-164B-F7F15CB1D573}"/>
              </a:ext>
            </a:extLst>
          </p:cNvPr>
          <p:cNvSpPr txBox="1"/>
          <p:nvPr/>
        </p:nvSpPr>
        <p:spPr>
          <a:xfrm>
            <a:off x="4152103" y="4761342"/>
            <a:ext cx="2137701" cy="523220"/>
          </a:xfrm>
          <a:prstGeom prst="rect">
            <a:avLst/>
          </a:prstGeom>
          <a:noFill/>
        </p:spPr>
        <p:txBody>
          <a:bodyPr wrap="none" rtlCol="0">
            <a:spAutoFit/>
          </a:bodyPr>
          <a:lstStyle/>
          <a:p>
            <a:r>
              <a:rPr lang="en-US" sz="2800" dirty="0"/>
              <a:t>Partial Order</a:t>
            </a:r>
          </a:p>
        </p:txBody>
      </p:sp>
      <p:sp>
        <p:nvSpPr>
          <p:cNvPr id="11" name="TextBox 10">
            <a:extLst>
              <a:ext uri="{FF2B5EF4-FFF2-40B4-BE49-F238E27FC236}">
                <a16:creationId xmlns:a16="http://schemas.microsoft.com/office/drawing/2014/main" id="{F6CB34BF-5ACD-74D0-D4D7-63270535D122}"/>
              </a:ext>
            </a:extLst>
          </p:cNvPr>
          <p:cNvSpPr txBox="1"/>
          <p:nvPr/>
        </p:nvSpPr>
        <p:spPr>
          <a:xfrm>
            <a:off x="786510" y="1558855"/>
            <a:ext cx="1024725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a:t>Smith set: Smallest set of candidates who individually do not lose to any candidate not in the set</a:t>
            </a:r>
          </a:p>
        </p:txBody>
      </p:sp>
      <p:sp>
        <p:nvSpPr>
          <p:cNvPr id="12" name="Oval 11">
            <a:extLst>
              <a:ext uri="{FF2B5EF4-FFF2-40B4-BE49-F238E27FC236}">
                <a16:creationId xmlns:a16="http://schemas.microsoft.com/office/drawing/2014/main" id="{2DCDDD90-463A-22B6-4B74-99E7990D212F}"/>
              </a:ext>
            </a:extLst>
          </p:cNvPr>
          <p:cNvSpPr/>
          <p:nvPr/>
        </p:nvSpPr>
        <p:spPr>
          <a:xfrm>
            <a:off x="609600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13" name="Down Arrow 12">
            <a:extLst>
              <a:ext uri="{FF2B5EF4-FFF2-40B4-BE49-F238E27FC236}">
                <a16:creationId xmlns:a16="http://schemas.microsoft.com/office/drawing/2014/main" id="{D7EB0A2F-A48E-FB06-77CF-FED54B2EF5E8}"/>
              </a:ext>
            </a:extLst>
          </p:cNvPr>
          <p:cNvSpPr/>
          <p:nvPr/>
        </p:nvSpPr>
        <p:spPr>
          <a:xfrm rot="16200000">
            <a:off x="5419082" y="531841"/>
            <a:ext cx="281495" cy="792480"/>
          </a:xfrm>
          <a:prstGeom prst="down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7444567"/>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C91BF-7967-08C0-7251-D54CB72826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A9B09B9-A782-C735-07F6-40DD140FD938}"/>
              </a:ext>
            </a:extLst>
          </p:cNvPr>
          <p:cNvSpPr/>
          <p:nvPr/>
        </p:nvSpPr>
        <p:spPr>
          <a:xfrm>
            <a:off x="-141402" y="-179109"/>
            <a:ext cx="12443381" cy="714551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4395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08C5-434D-CF49-4636-8C84C44F2E10}"/>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45387D4D-831E-396C-AB43-F3772F67D8DB}"/>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B5E30364-4DEE-E9CF-989A-CD09E767C112}"/>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endParaRPr lang="en-US" dirty="0">
              <a:solidFill>
                <a:schemeClr val="accent6"/>
              </a:solidFill>
            </a:endParaRPr>
          </a:p>
        </p:txBody>
      </p:sp>
      <p:sp>
        <p:nvSpPr>
          <p:cNvPr id="5" name="TextBox 4">
            <a:extLst>
              <a:ext uri="{FF2B5EF4-FFF2-40B4-BE49-F238E27FC236}">
                <a16:creationId xmlns:a16="http://schemas.microsoft.com/office/drawing/2014/main" id="{3980EFFD-2DC6-131A-CF64-E2181974EB30}"/>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4C7BB467-C299-FF1A-0F44-8D244F54122E}"/>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7" name="Down Arrow 6">
            <a:extLst>
              <a:ext uri="{FF2B5EF4-FFF2-40B4-BE49-F238E27FC236}">
                <a16:creationId xmlns:a16="http://schemas.microsoft.com/office/drawing/2014/main" id="{6850CA63-41A9-2552-E428-3ADBBB0140A2}"/>
              </a:ext>
            </a:extLst>
          </p:cNvPr>
          <p:cNvSpPr/>
          <p:nvPr/>
        </p:nvSpPr>
        <p:spPr>
          <a:xfrm>
            <a:off x="2601798" y="4232126"/>
            <a:ext cx="263950" cy="909416"/>
          </a:xfrm>
          <a:custGeom>
            <a:avLst/>
            <a:gdLst>
              <a:gd name="csX0" fmla="*/ 0 w 263950"/>
              <a:gd name="csY0" fmla="*/ 777441 h 909416"/>
              <a:gd name="csX1" fmla="*/ 65988 w 263950"/>
              <a:gd name="csY1" fmla="*/ 777441 h 909416"/>
              <a:gd name="csX2" fmla="*/ 65988 w 263950"/>
              <a:gd name="csY2" fmla="*/ 388721 h 909416"/>
              <a:gd name="csX3" fmla="*/ 65988 w 263950"/>
              <a:gd name="csY3" fmla="*/ 0 h 909416"/>
              <a:gd name="csX4" fmla="*/ 197963 w 263950"/>
              <a:gd name="csY4" fmla="*/ 0 h 909416"/>
              <a:gd name="csX5" fmla="*/ 197963 w 263950"/>
              <a:gd name="csY5" fmla="*/ 365397 h 909416"/>
              <a:gd name="csX6" fmla="*/ 197963 w 263950"/>
              <a:gd name="csY6" fmla="*/ 777441 h 909416"/>
              <a:gd name="csX7" fmla="*/ 263950 w 263950"/>
              <a:gd name="csY7" fmla="*/ 777441 h 909416"/>
              <a:gd name="csX8" fmla="*/ 131975 w 263950"/>
              <a:gd name="csY8" fmla="*/ 909416 h 909416"/>
              <a:gd name="csX9" fmla="*/ 0 w 263950"/>
              <a:gd name="csY9" fmla="*/ 777441 h 909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3950" h="909416" fill="none" extrusionOk="0">
                <a:moveTo>
                  <a:pt x="0" y="777441"/>
                </a:moveTo>
                <a:cubicBezTo>
                  <a:pt x="23963" y="773871"/>
                  <a:pt x="49775" y="779275"/>
                  <a:pt x="65988" y="777441"/>
                </a:cubicBezTo>
                <a:cubicBezTo>
                  <a:pt x="43260" y="618683"/>
                  <a:pt x="83265" y="545731"/>
                  <a:pt x="65988" y="388721"/>
                </a:cubicBezTo>
                <a:cubicBezTo>
                  <a:pt x="48711" y="231711"/>
                  <a:pt x="89724" y="125822"/>
                  <a:pt x="65988" y="0"/>
                </a:cubicBezTo>
                <a:cubicBezTo>
                  <a:pt x="111112" y="-10357"/>
                  <a:pt x="154116" y="9559"/>
                  <a:pt x="197963" y="0"/>
                </a:cubicBezTo>
                <a:cubicBezTo>
                  <a:pt x="199739" y="95002"/>
                  <a:pt x="166460" y="247980"/>
                  <a:pt x="197963" y="365397"/>
                </a:cubicBezTo>
                <a:cubicBezTo>
                  <a:pt x="229466" y="482814"/>
                  <a:pt x="184585" y="639104"/>
                  <a:pt x="197963" y="777441"/>
                </a:cubicBezTo>
                <a:cubicBezTo>
                  <a:pt x="216433" y="773894"/>
                  <a:pt x="244136" y="777863"/>
                  <a:pt x="263950" y="777441"/>
                </a:cubicBezTo>
                <a:cubicBezTo>
                  <a:pt x="207356" y="851264"/>
                  <a:pt x="172507" y="846321"/>
                  <a:pt x="131975" y="909416"/>
                </a:cubicBezTo>
                <a:cubicBezTo>
                  <a:pt x="54623" y="861620"/>
                  <a:pt x="72031" y="828134"/>
                  <a:pt x="0" y="777441"/>
                </a:cubicBezTo>
                <a:close/>
              </a:path>
              <a:path w="263950" h="909416" stroke="0" extrusionOk="0">
                <a:moveTo>
                  <a:pt x="0" y="777441"/>
                </a:moveTo>
                <a:cubicBezTo>
                  <a:pt x="30708" y="776362"/>
                  <a:pt x="40543" y="782881"/>
                  <a:pt x="65988" y="777441"/>
                </a:cubicBezTo>
                <a:cubicBezTo>
                  <a:pt x="41001" y="638118"/>
                  <a:pt x="104123" y="506884"/>
                  <a:pt x="65988" y="412044"/>
                </a:cubicBezTo>
                <a:cubicBezTo>
                  <a:pt x="27853" y="317204"/>
                  <a:pt x="105284" y="133867"/>
                  <a:pt x="65988" y="0"/>
                </a:cubicBezTo>
                <a:cubicBezTo>
                  <a:pt x="110159" y="-13958"/>
                  <a:pt x="158046" y="3239"/>
                  <a:pt x="197963" y="0"/>
                </a:cubicBezTo>
                <a:cubicBezTo>
                  <a:pt x="236806" y="111943"/>
                  <a:pt x="186640" y="302690"/>
                  <a:pt x="197963" y="380946"/>
                </a:cubicBezTo>
                <a:cubicBezTo>
                  <a:pt x="209286" y="459202"/>
                  <a:pt x="174402" y="626077"/>
                  <a:pt x="197963" y="777441"/>
                </a:cubicBezTo>
                <a:cubicBezTo>
                  <a:pt x="219613" y="775855"/>
                  <a:pt x="236343" y="784375"/>
                  <a:pt x="263950" y="777441"/>
                </a:cubicBezTo>
                <a:cubicBezTo>
                  <a:pt x="225588" y="842847"/>
                  <a:pt x="164840" y="852525"/>
                  <a:pt x="131975" y="909416"/>
                </a:cubicBezTo>
                <a:cubicBezTo>
                  <a:pt x="64998" y="848799"/>
                  <a:pt x="78900" y="829011"/>
                  <a:pt x="0" y="777441"/>
                </a:cubicBezTo>
                <a:close/>
              </a:path>
            </a:pathLst>
          </a:custGeom>
          <a:solidFill>
            <a:srgbClr val="7030A0"/>
          </a:solidFill>
          <a:ln>
            <a:solidFill>
              <a:schemeClr val="tx1"/>
            </a:solidFill>
            <a:extLst>
              <a:ext uri="{C807C97D-BFC1-408E-A445-0C87EB9F89A2}">
                <ask:lineSketchStyleProps xmlns:ask="http://schemas.microsoft.com/office/drawing/2018/sketchyshapes" sd="1219033472">
                  <a:prstGeom prst="down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ECAEC36-9B96-1889-F9DD-E39AD770821B}"/>
              </a:ext>
            </a:extLst>
          </p:cNvPr>
          <p:cNvSpPr txBox="1"/>
          <p:nvPr/>
        </p:nvSpPr>
        <p:spPr>
          <a:xfrm>
            <a:off x="1924638" y="5276479"/>
            <a:ext cx="8136971" cy="461665"/>
          </a:xfrm>
          <a:prstGeom prst="rect">
            <a:avLst/>
          </a:prstGeom>
          <a:noFill/>
          <a:ln>
            <a:solidFill>
              <a:srgbClr val="7030A0"/>
            </a:solidFill>
          </a:ln>
        </p:spPr>
        <p:txBody>
          <a:bodyPr wrap="none" rtlCol="0">
            <a:spAutoFit/>
          </a:bodyPr>
          <a:lstStyle/>
          <a:p>
            <a:r>
              <a:rPr lang="en-US" sz="2400" dirty="0"/>
              <a:t>Find the smallest timestamp </a:t>
            </a:r>
            <a:r>
              <a:rPr lang="en-US" sz="2400" dirty="0">
                <a:solidFill>
                  <a:schemeClr val="accent6"/>
                </a:solidFill>
              </a:rPr>
              <a:t>T’</a:t>
            </a:r>
            <a:r>
              <a:rPr lang="en-US" sz="2400" dirty="0"/>
              <a:t> for which P(</a:t>
            </a:r>
            <a:r>
              <a:rPr lang="en-US" sz="2400" dirty="0">
                <a:solidFill>
                  <a:srgbClr val="FF0000"/>
                </a:solidFill>
              </a:rPr>
              <a:t>T</a:t>
            </a:r>
            <a:r>
              <a:rPr lang="en-US" sz="2400" dirty="0"/>
              <a:t> &lt; </a:t>
            </a:r>
            <a:r>
              <a:rPr lang="en-US" sz="2400" dirty="0">
                <a:solidFill>
                  <a:srgbClr val="FF0000"/>
                </a:solidFill>
              </a:rPr>
              <a:t>T’</a:t>
            </a:r>
            <a:r>
              <a:rPr lang="en-US" sz="2400" dirty="0"/>
              <a:t>)</a:t>
            </a:r>
            <a:r>
              <a:rPr lang="en-US" sz="2400" dirty="0">
                <a:solidFill>
                  <a:srgbClr val="FF0000"/>
                </a:solidFill>
              </a:rPr>
              <a:t> </a:t>
            </a:r>
            <a:r>
              <a:rPr lang="en-US" sz="2400" dirty="0"/>
              <a:t>is very high</a:t>
            </a:r>
          </a:p>
        </p:txBody>
      </p:sp>
      <p:sp>
        <p:nvSpPr>
          <p:cNvPr id="11" name="TextBox 10">
            <a:extLst>
              <a:ext uri="{FF2B5EF4-FFF2-40B4-BE49-F238E27FC236}">
                <a16:creationId xmlns:a16="http://schemas.microsoft.com/office/drawing/2014/main" id="{AEDEC7F6-CF5E-3398-42C9-557382ECD3B4}"/>
              </a:ext>
            </a:extLst>
          </p:cNvPr>
          <p:cNvSpPr txBox="1"/>
          <p:nvPr/>
        </p:nvSpPr>
        <p:spPr>
          <a:xfrm>
            <a:off x="1924638" y="5771343"/>
            <a:ext cx="9144235" cy="461665"/>
          </a:xfrm>
          <a:prstGeom prst="rect">
            <a:avLst/>
          </a:prstGeom>
          <a:noFill/>
          <a:ln>
            <a:solidFill>
              <a:srgbClr val="7030A0"/>
            </a:solidFill>
          </a:ln>
        </p:spPr>
        <p:txBody>
          <a:bodyPr wrap="none" rtlCol="0">
            <a:spAutoFit/>
          </a:bodyPr>
          <a:lstStyle/>
          <a:p>
            <a:r>
              <a:rPr lang="en-US" sz="2400" dirty="0"/>
              <a:t>i.e., </a:t>
            </a:r>
            <a:r>
              <a:rPr lang="en-US" sz="2400" dirty="0">
                <a:solidFill>
                  <a:schemeClr val="accent6"/>
                </a:solidFill>
              </a:rPr>
              <a:t>T’</a:t>
            </a:r>
            <a:r>
              <a:rPr lang="en-US" sz="2400" dirty="0"/>
              <a:t> and any timestamp greater than </a:t>
            </a:r>
            <a:r>
              <a:rPr lang="en-US" sz="2400" dirty="0">
                <a:solidFill>
                  <a:schemeClr val="accent6"/>
                </a:solidFill>
              </a:rPr>
              <a:t>T’</a:t>
            </a:r>
            <a:r>
              <a:rPr lang="en-US" sz="2400" dirty="0"/>
              <a:t> will likely be ordered after </a:t>
            </a:r>
            <a:r>
              <a:rPr lang="en-US" sz="2400" dirty="0">
                <a:solidFill>
                  <a:schemeClr val="accent6"/>
                </a:solidFill>
              </a:rPr>
              <a:t>T</a:t>
            </a:r>
          </a:p>
        </p:txBody>
      </p:sp>
    </p:spTree>
    <p:extLst>
      <p:ext uri="{BB962C8B-B14F-4D97-AF65-F5344CB8AC3E}">
        <p14:creationId xmlns:p14="http://schemas.microsoft.com/office/powerpoint/2010/main" val="2768721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1"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E960C-9C03-F30D-C5F0-EB0AA01AF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AF966-92D5-D211-7652-6E7CA3081327}"/>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E44ADA44-EE44-4B9C-42F5-9572EAD11517}"/>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5245942D-11EF-6F4B-962D-BB57D962A22A}"/>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endParaRPr lang="en-US" dirty="0">
              <a:solidFill>
                <a:schemeClr val="accent6"/>
              </a:solidFill>
            </a:endParaRPr>
          </a:p>
        </p:txBody>
      </p:sp>
      <p:sp>
        <p:nvSpPr>
          <p:cNvPr id="5" name="TextBox 4">
            <a:extLst>
              <a:ext uri="{FF2B5EF4-FFF2-40B4-BE49-F238E27FC236}">
                <a16:creationId xmlns:a16="http://schemas.microsoft.com/office/drawing/2014/main" id="{2D59BCE7-8FBA-E2F7-E782-52382062C42C}"/>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F384EBA3-EC75-F59A-8A32-778B0F7C8E5A}"/>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9" name="Oval 8">
            <a:extLst>
              <a:ext uri="{FF2B5EF4-FFF2-40B4-BE49-F238E27FC236}">
                <a16:creationId xmlns:a16="http://schemas.microsoft.com/office/drawing/2014/main" id="{683BEFDC-8621-CF8A-2D31-94C21BE7071D}"/>
              </a:ext>
            </a:extLst>
          </p:cNvPr>
          <p:cNvSpPr/>
          <p:nvPr/>
        </p:nvSpPr>
        <p:spPr>
          <a:xfrm>
            <a:off x="5859518" y="3234598"/>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r>
              <a:rPr lang="en-US" sz="5400" baseline="-25000" dirty="0">
                <a:solidFill>
                  <a:schemeClr val="accent6"/>
                </a:solidFill>
              </a:rPr>
              <a:t>1</a:t>
            </a:r>
            <a:endParaRPr lang="en-US" baseline="-25000" dirty="0">
              <a:solidFill>
                <a:schemeClr val="accent6"/>
              </a:solidFill>
            </a:endParaRPr>
          </a:p>
        </p:txBody>
      </p:sp>
      <p:sp>
        <p:nvSpPr>
          <p:cNvPr id="10" name="Oval 9">
            <a:extLst>
              <a:ext uri="{FF2B5EF4-FFF2-40B4-BE49-F238E27FC236}">
                <a16:creationId xmlns:a16="http://schemas.microsoft.com/office/drawing/2014/main" id="{F50EDF23-04EA-414A-CD45-5BD3D55F9D0D}"/>
              </a:ext>
            </a:extLst>
          </p:cNvPr>
          <p:cNvSpPr/>
          <p:nvPr/>
        </p:nvSpPr>
        <p:spPr>
          <a:xfrm>
            <a:off x="7180980" y="321565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r>
              <a:rPr lang="en-US" sz="5400" baseline="-25000" dirty="0">
                <a:solidFill>
                  <a:schemeClr val="accent6"/>
                </a:solidFill>
              </a:rPr>
              <a:t>2</a:t>
            </a:r>
            <a:endParaRPr lang="en-US" baseline="-25000" dirty="0">
              <a:solidFill>
                <a:schemeClr val="accent6"/>
              </a:solidFill>
            </a:endParaRPr>
          </a:p>
        </p:txBody>
      </p:sp>
      <p:sp>
        <p:nvSpPr>
          <p:cNvPr id="11" name="Rectangle 10">
            <a:extLst>
              <a:ext uri="{FF2B5EF4-FFF2-40B4-BE49-F238E27FC236}">
                <a16:creationId xmlns:a16="http://schemas.microsoft.com/office/drawing/2014/main" id="{4C13E38D-EAF2-22F0-6560-8766BA57315A}"/>
              </a:ext>
            </a:extLst>
          </p:cNvPr>
          <p:cNvSpPr/>
          <p:nvPr/>
        </p:nvSpPr>
        <p:spPr>
          <a:xfrm>
            <a:off x="4386080" y="3081473"/>
            <a:ext cx="4138366" cy="1244599"/>
          </a:xfrm>
          <a:custGeom>
            <a:avLst/>
            <a:gdLst>
              <a:gd name="csX0" fmla="*/ 0 w 4138366"/>
              <a:gd name="csY0" fmla="*/ 0 h 1244599"/>
              <a:gd name="csX1" fmla="*/ 549811 w 4138366"/>
              <a:gd name="csY1" fmla="*/ 0 h 1244599"/>
              <a:gd name="csX2" fmla="*/ 1016856 w 4138366"/>
              <a:gd name="csY2" fmla="*/ 0 h 1244599"/>
              <a:gd name="csX3" fmla="*/ 1690818 w 4138366"/>
              <a:gd name="csY3" fmla="*/ 0 h 1244599"/>
              <a:gd name="csX4" fmla="*/ 2240630 w 4138366"/>
              <a:gd name="csY4" fmla="*/ 0 h 1244599"/>
              <a:gd name="csX5" fmla="*/ 2790441 w 4138366"/>
              <a:gd name="csY5" fmla="*/ 0 h 1244599"/>
              <a:gd name="csX6" fmla="*/ 3464404 w 4138366"/>
              <a:gd name="csY6" fmla="*/ 0 h 1244599"/>
              <a:gd name="csX7" fmla="*/ 4138366 w 4138366"/>
              <a:gd name="csY7" fmla="*/ 0 h 1244599"/>
              <a:gd name="csX8" fmla="*/ 4138366 w 4138366"/>
              <a:gd name="csY8" fmla="*/ 439758 h 1244599"/>
              <a:gd name="csX9" fmla="*/ 4138366 w 4138366"/>
              <a:gd name="csY9" fmla="*/ 829733 h 1244599"/>
              <a:gd name="csX10" fmla="*/ 4138366 w 4138366"/>
              <a:gd name="csY10" fmla="*/ 1244599 h 1244599"/>
              <a:gd name="csX11" fmla="*/ 3547171 w 4138366"/>
              <a:gd name="csY11" fmla="*/ 1244599 h 1244599"/>
              <a:gd name="csX12" fmla="*/ 2997359 w 4138366"/>
              <a:gd name="csY12" fmla="*/ 1244599 h 1244599"/>
              <a:gd name="csX13" fmla="*/ 2323397 w 4138366"/>
              <a:gd name="csY13" fmla="*/ 1244599 h 1244599"/>
              <a:gd name="csX14" fmla="*/ 1649434 w 4138366"/>
              <a:gd name="csY14" fmla="*/ 1244599 h 1244599"/>
              <a:gd name="csX15" fmla="*/ 1141007 w 4138366"/>
              <a:gd name="csY15" fmla="*/ 1244599 h 1244599"/>
              <a:gd name="csX16" fmla="*/ 549811 w 4138366"/>
              <a:gd name="csY16" fmla="*/ 1244599 h 1244599"/>
              <a:gd name="csX17" fmla="*/ 0 w 4138366"/>
              <a:gd name="csY17" fmla="*/ 1244599 h 1244599"/>
              <a:gd name="csX18" fmla="*/ 0 w 4138366"/>
              <a:gd name="csY18" fmla="*/ 829733 h 1244599"/>
              <a:gd name="csX19" fmla="*/ 0 w 4138366"/>
              <a:gd name="csY19" fmla="*/ 439758 h 1244599"/>
              <a:gd name="csX20" fmla="*/ 0 w 4138366"/>
              <a:gd name="csY20" fmla="*/ 0 h 124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38366" h="1244599" extrusionOk="0">
                <a:moveTo>
                  <a:pt x="0" y="0"/>
                </a:moveTo>
                <a:cubicBezTo>
                  <a:pt x="219922" y="-12441"/>
                  <a:pt x="352390" y="4255"/>
                  <a:pt x="549811" y="0"/>
                </a:cubicBezTo>
                <a:cubicBezTo>
                  <a:pt x="747232" y="-4255"/>
                  <a:pt x="871239" y="55014"/>
                  <a:pt x="1016856" y="0"/>
                </a:cubicBezTo>
                <a:cubicBezTo>
                  <a:pt x="1162474" y="-55014"/>
                  <a:pt x="1493965" y="52076"/>
                  <a:pt x="1690818" y="0"/>
                </a:cubicBezTo>
                <a:cubicBezTo>
                  <a:pt x="1887671" y="-52076"/>
                  <a:pt x="1970927" y="1468"/>
                  <a:pt x="2240630" y="0"/>
                </a:cubicBezTo>
                <a:cubicBezTo>
                  <a:pt x="2510333" y="-1468"/>
                  <a:pt x="2557950" y="40003"/>
                  <a:pt x="2790441" y="0"/>
                </a:cubicBezTo>
                <a:cubicBezTo>
                  <a:pt x="3022932" y="-40003"/>
                  <a:pt x="3310088" y="21670"/>
                  <a:pt x="3464404" y="0"/>
                </a:cubicBezTo>
                <a:cubicBezTo>
                  <a:pt x="3618720" y="-21670"/>
                  <a:pt x="3833490" y="6855"/>
                  <a:pt x="4138366" y="0"/>
                </a:cubicBezTo>
                <a:cubicBezTo>
                  <a:pt x="4169204" y="113775"/>
                  <a:pt x="4120083" y="288260"/>
                  <a:pt x="4138366" y="439758"/>
                </a:cubicBezTo>
                <a:cubicBezTo>
                  <a:pt x="4156649" y="591256"/>
                  <a:pt x="4104574" y="666338"/>
                  <a:pt x="4138366" y="829733"/>
                </a:cubicBezTo>
                <a:cubicBezTo>
                  <a:pt x="4172158" y="993128"/>
                  <a:pt x="4122996" y="1056083"/>
                  <a:pt x="4138366" y="1244599"/>
                </a:cubicBezTo>
                <a:cubicBezTo>
                  <a:pt x="3968187" y="1259628"/>
                  <a:pt x="3810306" y="1183542"/>
                  <a:pt x="3547171" y="1244599"/>
                </a:cubicBezTo>
                <a:cubicBezTo>
                  <a:pt x="3284037" y="1305656"/>
                  <a:pt x="3263691" y="1193063"/>
                  <a:pt x="2997359" y="1244599"/>
                </a:cubicBezTo>
                <a:cubicBezTo>
                  <a:pt x="2731027" y="1296135"/>
                  <a:pt x="2583703" y="1185339"/>
                  <a:pt x="2323397" y="1244599"/>
                </a:cubicBezTo>
                <a:cubicBezTo>
                  <a:pt x="2063091" y="1303859"/>
                  <a:pt x="1967551" y="1176492"/>
                  <a:pt x="1649434" y="1244599"/>
                </a:cubicBezTo>
                <a:cubicBezTo>
                  <a:pt x="1331317" y="1312706"/>
                  <a:pt x="1353086" y="1227684"/>
                  <a:pt x="1141007" y="1244599"/>
                </a:cubicBezTo>
                <a:cubicBezTo>
                  <a:pt x="928928" y="1261514"/>
                  <a:pt x="714111" y="1201875"/>
                  <a:pt x="549811" y="1244599"/>
                </a:cubicBezTo>
                <a:cubicBezTo>
                  <a:pt x="385511" y="1287323"/>
                  <a:pt x="210227" y="1239838"/>
                  <a:pt x="0" y="1244599"/>
                </a:cubicBezTo>
                <a:cubicBezTo>
                  <a:pt x="-45796" y="1053775"/>
                  <a:pt x="35421" y="942792"/>
                  <a:pt x="0" y="829733"/>
                </a:cubicBezTo>
                <a:cubicBezTo>
                  <a:pt x="-35421" y="716674"/>
                  <a:pt x="26161" y="626812"/>
                  <a:pt x="0" y="439758"/>
                </a:cubicBezTo>
                <a:cubicBezTo>
                  <a:pt x="-26161" y="252705"/>
                  <a:pt x="19426" y="187179"/>
                  <a:pt x="0" y="0"/>
                </a:cubicBezTo>
                <a:close/>
              </a:path>
            </a:pathLst>
          </a:custGeom>
          <a:noFill/>
          <a:ln w="82550">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D9CDD1E-8E7D-8273-9B23-AAC05389A4DB}"/>
              </a:ext>
            </a:extLst>
          </p:cNvPr>
          <p:cNvSpPr txBox="1"/>
          <p:nvPr/>
        </p:nvSpPr>
        <p:spPr>
          <a:xfrm>
            <a:off x="914399" y="4367063"/>
            <a:ext cx="4588179" cy="461665"/>
          </a:xfrm>
          <a:prstGeom prst="rect">
            <a:avLst/>
          </a:prstGeom>
          <a:solidFill>
            <a:schemeClr val="accent6">
              <a:lumMod val="60000"/>
              <a:lumOff val="40000"/>
            </a:schemeClr>
          </a:solidFill>
        </p:spPr>
        <p:txBody>
          <a:bodyPr wrap="none" rtlCol="0">
            <a:spAutoFit/>
          </a:bodyPr>
          <a:lstStyle/>
          <a:p>
            <a:r>
              <a:rPr lang="en-US" sz="2400" dirty="0"/>
              <a:t>Wait for events before the frontier</a:t>
            </a:r>
          </a:p>
        </p:txBody>
      </p:sp>
      <p:sp>
        <p:nvSpPr>
          <p:cNvPr id="13" name="TextBox 12">
            <a:extLst>
              <a:ext uri="{FF2B5EF4-FFF2-40B4-BE49-F238E27FC236}">
                <a16:creationId xmlns:a16="http://schemas.microsoft.com/office/drawing/2014/main" id="{495F146C-5810-3252-5A38-EF86F0852B9A}"/>
              </a:ext>
            </a:extLst>
          </p:cNvPr>
          <p:cNvSpPr txBox="1"/>
          <p:nvPr/>
        </p:nvSpPr>
        <p:spPr>
          <a:xfrm>
            <a:off x="914399" y="5504961"/>
            <a:ext cx="6558270" cy="461665"/>
          </a:xfrm>
          <a:prstGeom prst="rect">
            <a:avLst/>
          </a:prstGeom>
          <a:solidFill>
            <a:schemeClr val="accent6">
              <a:lumMod val="60000"/>
              <a:lumOff val="40000"/>
            </a:schemeClr>
          </a:solidFill>
        </p:spPr>
        <p:txBody>
          <a:bodyPr wrap="none" rtlCol="0">
            <a:spAutoFit/>
          </a:bodyPr>
          <a:lstStyle/>
          <a:p>
            <a:r>
              <a:rPr lang="en-US" sz="2400" dirty="0"/>
              <a:t>Run fair ordering algorithm on the current events</a:t>
            </a:r>
          </a:p>
        </p:txBody>
      </p:sp>
      <p:sp>
        <p:nvSpPr>
          <p:cNvPr id="14" name="TextBox 13">
            <a:extLst>
              <a:ext uri="{FF2B5EF4-FFF2-40B4-BE49-F238E27FC236}">
                <a16:creationId xmlns:a16="http://schemas.microsoft.com/office/drawing/2014/main" id="{AF832B14-68DA-396F-4B01-BD56A281AC6D}"/>
              </a:ext>
            </a:extLst>
          </p:cNvPr>
          <p:cNvSpPr txBox="1"/>
          <p:nvPr/>
        </p:nvSpPr>
        <p:spPr>
          <a:xfrm>
            <a:off x="914399" y="4910709"/>
            <a:ext cx="6008568" cy="461665"/>
          </a:xfrm>
          <a:prstGeom prst="rect">
            <a:avLst/>
          </a:prstGeom>
          <a:solidFill>
            <a:schemeClr val="accent6">
              <a:lumMod val="60000"/>
              <a:lumOff val="40000"/>
            </a:schemeClr>
          </a:solidFill>
        </p:spPr>
        <p:txBody>
          <a:bodyPr wrap="none" rtlCol="0">
            <a:spAutoFit/>
          </a:bodyPr>
          <a:lstStyle/>
          <a:p>
            <a:r>
              <a:rPr lang="en-US" sz="2400" dirty="0"/>
              <a:t>If new events received, repeat last two </a:t>
            </a:r>
            <a:r>
              <a:rPr lang="en-US" sz="2400" dirty="0" err="1"/>
              <a:t>setps</a:t>
            </a:r>
            <a:endParaRPr lang="en-US" sz="2400" dirty="0"/>
          </a:p>
        </p:txBody>
      </p:sp>
    </p:spTree>
    <p:extLst>
      <p:ext uri="{BB962C8B-B14F-4D97-AF65-F5344CB8AC3E}">
        <p14:creationId xmlns:p14="http://schemas.microsoft.com/office/powerpoint/2010/main" val="16186831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71ABD-BC63-BD55-4E79-65AB5FA3A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CFE3-9E45-735D-AF7E-4FDCE6A58720}"/>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41910D32-8585-736A-D044-B7368BA50DF5}"/>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469E3061-89EF-75DE-6AE3-E222F51569E3}"/>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endParaRPr lang="en-US" dirty="0">
              <a:solidFill>
                <a:schemeClr val="accent6"/>
              </a:solidFill>
            </a:endParaRPr>
          </a:p>
        </p:txBody>
      </p:sp>
      <p:sp>
        <p:nvSpPr>
          <p:cNvPr id="5" name="TextBox 4">
            <a:extLst>
              <a:ext uri="{FF2B5EF4-FFF2-40B4-BE49-F238E27FC236}">
                <a16:creationId xmlns:a16="http://schemas.microsoft.com/office/drawing/2014/main" id="{408C40C8-E2BF-E44C-4967-186CE9F3DAEF}"/>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1A6C7134-E37A-564D-9177-E6DD033BFF1A}"/>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9" name="Oval 8">
            <a:extLst>
              <a:ext uri="{FF2B5EF4-FFF2-40B4-BE49-F238E27FC236}">
                <a16:creationId xmlns:a16="http://schemas.microsoft.com/office/drawing/2014/main" id="{FE68C9BC-2901-A936-416F-628A5ABBAF20}"/>
              </a:ext>
            </a:extLst>
          </p:cNvPr>
          <p:cNvSpPr/>
          <p:nvPr/>
        </p:nvSpPr>
        <p:spPr>
          <a:xfrm>
            <a:off x="5859518" y="3234598"/>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r>
              <a:rPr lang="en-US" sz="5400" baseline="-25000" dirty="0">
                <a:solidFill>
                  <a:schemeClr val="accent6"/>
                </a:solidFill>
              </a:rPr>
              <a:t>1</a:t>
            </a:r>
            <a:endParaRPr lang="en-US" baseline="-25000" dirty="0">
              <a:solidFill>
                <a:schemeClr val="accent6"/>
              </a:solidFill>
            </a:endParaRPr>
          </a:p>
        </p:txBody>
      </p:sp>
      <p:sp>
        <p:nvSpPr>
          <p:cNvPr id="10" name="Oval 9">
            <a:extLst>
              <a:ext uri="{FF2B5EF4-FFF2-40B4-BE49-F238E27FC236}">
                <a16:creationId xmlns:a16="http://schemas.microsoft.com/office/drawing/2014/main" id="{71B929E5-F1DC-944B-11B7-26399EF490C5}"/>
              </a:ext>
            </a:extLst>
          </p:cNvPr>
          <p:cNvSpPr/>
          <p:nvPr/>
        </p:nvSpPr>
        <p:spPr>
          <a:xfrm>
            <a:off x="7180980" y="321565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accent6"/>
                </a:solidFill>
              </a:rPr>
              <a:t>T</a:t>
            </a:r>
            <a:r>
              <a:rPr lang="en-US" sz="5400" baseline="-25000" dirty="0">
                <a:solidFill>
                  <a:schemeClr val="accent6"/>
                </a:solidFill>
              </a:rPr>
              <a:t>2</a:t>
            </a:r>
            <a:endParaRPr lang="en-US" baseline="-25000" dirty="0">
              <a:solidFill>
                <a:schemeClr val="accent6"/>
              </a:solidFill>
            </a:endParaRPr>
          </a:p>
        </p:txBody>
      </p:sp>
      <p:sp>
        <p:nvSpPr>
          <p:cNvPr id="11" name="Rectangle 10">
            <a:extLst>
              <a:ext uri="{FF2B5EF4-FFF2-40B4-BE49-F238E27FC236}">
                <a16:creationId xmlns:a16="http://schemas.microsoft.com/office/drawing/2014/main" id="{D679DD06-498B-A33D-082A-270D931F5565}"/>
              </a:ext>
            </a:extLst>
          </p:cNvPr>
          <p:cNvSpPr/>
          <p:nvPr/>
        </p:nvSpPr>
        <p:spPr>
          <a:xfrm>
            <a:off x="4386080" y="3081473"/>
            <a:ext cx="4138366" cy="1244599"/>
          </a:xfrm>
          <a:custGeom>
            <a:avLst/>
            <a:gdLst>
              <a:gd name="csX0" fmla="*/ 0 w 4138366"/>
              <a:gd name="csY0" fmla="*/ 0 h 1244599"/>
              <a:gd name="csX1" fmla="*/ 549811 w 4138366"/>
              <a:gd name="csY1" fmla="*/ 0 h 1244599"/>
              <a:gd name="csX2" fmla="*/ 1016856 w 4138366"/>
              <a:gd name="csY2" fmla="*/ 0 h 1244599"/>
              <a:gd name="csX3" fmla="*/ 1690818 w 4138366"/>
              <a:gd name="csY3" fmla="*/ 0 h 1244599"/>
              <a:gd name="csX4" fmla="*/ 2240630 w 4138366"/>
              <a:gd name="csY4" fmla="*/ 0 h 1244599"/>
              <a:gd name="csX5" fmla="*/ 2790441 w 4138366"/>
              <a:gd name="csY5" fmla="*/ 0 h 1244599"/>
              <a:gd name="csX6" fmla="*/ 3464404 w 4138366"/>
              <a:gd name="csY6" fmla="*/ 0 h 1244599"/>
              <a:gd name="csX7" fmla="*/ 4138366 w 4138366"/>
              <a:gd name="csY7" fmla="*/ 0 h 1244599"/>
              <a:gd name="csX8" fmla="*/ 4138366 w 4138366"/>
              <a:gd name="csY8" fmla="*/ 439758 h 1244599"/>
              <a:gd name="csX9" fmla="*/ 4138366 w 4138366"/>
              <a:gd name="csY9" fmla="*/ 829733 h 1244599"/>
              <a:gd name="csX10" fmla="*/ 4138366 w 4138366"/>
              <a:gd name="csY10" fmla="*/ 1244599 h 1244599"/>
              <a:gd name="csX11" fmla="*/ 3547171 w 4138366"/>
              <a:gd name="csY11" fmla="*/ 1244599 h 1244599"/>
              <a:gd name="csX12" fmla="*/ 2997359 w 4138366"/>
              <a:gd name="csY12" fmla="*/ 1244599 h 1244599"/>
              <a:gd name="csX13" fmla="*/ 2323397 w 4138366"/>
              <a:gd name="csY13" fmla="*/ 1244599 h 1244599"/>
              <a:gd name="csX14" fmla="*/ 1649434 w 4138366"/>
              <a:gd name="csY14" fmla="*/ 1244599 h 1244599"/>
              <a:gd name="csX15" fmla="*/ 1141007 w 4138366"/>
              <a:gd name="csY15" fmla="*/ 1244599 h 1244599"/>
              <a:gd name="csX16" fmla="*/ 549811 w 4138366"/>
              <a:gd name="csY16" fmla="*/ 1244599 h 1244599"/>
              <a:gd name="csX17" fmla="*/ 0 w 4138366"/>
              <a:gd name="csY17" fmla="*/ 1244599 h 1244599"/>
              <a:gd name="csX18" fmla="*/ 0 w 4138366"/>
              <a:gd name="csY18" fmla="*/ 829733 h 1244599"/>
              <a:gd name="csX19" fmla="*/ 0 w 4138366"/>
              <a:gd name="csY19" fmla="*/ 439758 h 1244599"/>
              <a:gd name="csX20" fmla="*/ 0 w 4138366"/>
              <a:gd name="csY20" fmla="*/ 0 h 124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38366" h="1244599" extrusionOk="0">
                <a:moveTo>
                  <a:pt x="0" y="0"/>
                </a:moveTo>
                <a:cubicBezTo>
                  <a:pt x="219922" y="-12441"/>
                  <a:pt x="352390" y="4255"/>
                  <a:pt x="549811" y="0"/>
                </a:cubicBezTo>
                <a:cubicBezTo>
                  <a:pt x="747232" y="-4255"/>
                  <a:pt x="871239" y="55014"/>
                  <a:pt x="1016856" y="0"/>
                </a:cubicBezTo>
                <a:cubicBezTo>
                  <a:pt x="1162474" y="-55014"/>
                  <a:pt x="1493965" y="52076"/>
                  <a:pt x="1690818" y="0"/>
                </a:cubicBezTo>
                <a:cubicBezTo>
                  <a:pt x="1887671" y="-52076"/>
                  <a:pt x="1970927" y="1468"/>
                  <a:pt x="2240630" y="0"/>
                </a:cubicBezTo>
                <a:cubicBezTo>
                  <a:pt x="2510333" y="-1468"/>
                  <a:pt x="2557950" y="40003"/>
                  <a:pt x="2790441" y="0"/>
                </a:cubicBezTo>
                <a:cubicBezTo>
                  <a:pt x="3022932" y="-40003"/>
                  <a:pt x="3310088" y="21670"/>
                  <a:pt x="3464404" y="0"/>
                </a:cubicBezTo>
                <a:cubicBezTo>
                  <a:pt x="3618720" y="-21670"/>
                  <a:pt x="3833490" y="6855"/>
                  <a:pt x="4138366" y="0"/>
                </a:cubicBezTo>
                <a:cubicBezTo>
                  <a:pt x="4169204" y="113775"/>
                  <a:pt x="4120083" y="288260"/>
                  <a:pt x="4138366" y="439758"/>
                </a:cubicBezTo>
                <a:cubicBezTo>
                  <a:pt x="4156649" y="591256"/>
                  <a:pt x="4104574" y="666338"/>
                  <a:pt x="4138366" y="829733"/>
                </a:cubicBezTo>
                <a:cubicBezTo>
                  <a:pt x="4172158" y="993128"/>
                  <a:pt x="4122996" y="1056083"/>
                  <a:pt x="4138366" y="1244599"/>
                </a:cubicBezTo>
                <a:cubicBezTo>
                  <a:pt x="3968187" y="1259628"/>
                  <a:pt x="3810306" y="1183542"/>
                  <a:pt x="3547171" y="1244599"/>
                </a:cubicBezTo>
                <a:cubicBezTo>
                  <a:pt x="3284037" y="1305656"/>
                  <a:pt x="3263691" y="1193063"/>
                  <a:pt x="2997359" y="1244599"/>
                </a:cubicBezTo>
                <a:cubicBezTo>
                  <a:pt x="2731027" y="1296135"/>
                  <a:pt x="2583703" y="1185339"/>
                  <a:pt x="2323397" y="1244599"/>
                </a:cubicBezTo>
                <a:cubicBezTo>
                  <a:pt x="2063091" y="1303859"/>
                  <a:pt x="1967551" y="1176492"/>
                  <a:pt x="1649434" y="1244599"/>
                </a:cubicBezTo>
                <a:cubicBezTo>
                  <a:pt x="1331317" y="1312706"/>
                  <a:pt x="1353086" y="1227684"/>
                  <a:pt x="1141007" y="1244599"/>
                </a:cubicBezTo>
                <a:cubicBezTo>
                  <a:pt x="928928" y="1261514"/>
                  <a:pt x="714111" y="1201875"/>
                  <a:pt x="549811" y="1244599"/>
                </a:cubicBezTo>
                <a:cubicBezTo>
                  <a:pt x="385511" y="1287323"/>
                  <a:pt x="210227" y="1239838"/>
                  <a:pt x="0" y="1244599"/>
                </a:cubicBezTo>
                <a:cubicBezTo>
                  <a:pt x="-45796" y="1053775"/>
                  <a:pt x="35421" y="942792"/>
                  <a:pt x="0" y="829733"/>
                </a:cubicBezTo>
                <a:cubicBezTo>
                  <a:pt x="-35421" y="716674"/>
                  <a:pt x="26161" y="626812"/>
                  <a:pt x="0" y="439758"/>
                </a:cubicBezTo>
                <a:cubicBezTo>
                  <a:pt x="-26161" y="252705"/>
                  <a:pt x="19426" y="187179"/>
                  <a:pt x="0" y="0"/>
                </a:cubicBezTo>
                <a:close/>
              </a:path>
            </a:pathLst>
          </a:custGeom>
          <a:noFill/>
          <a:ln w="82550">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15626C-457A-FBC4-3793-CEBCF03B766D}"/>
              </a:ext>
            </a:extLst>
          </p:cNvPr>
          <p:cNvSpPr txBox="1"/>
          <p:nvPr/>
        </p:nvSpPr>
        <p:spPr>
          <a:xfrm>
            <a:off x="914399" y="6123033"/>
            <a:ext cx="792205" cy="461665"/>
          </a:xfrm>
          <a:prstGeom prst="rect">
            <a:avLst/>
          </a:prstGeom>
          <a:solidFill>
            <a:schemeClr val="accent6">
              <a:lumMod val="60000"/>
              <a:lumOff val="40000"/>
            </a:schemeClr>
          </a:solidFill>
        </p:spPr>
        <p:txBody>
          <a:bodyPr wrap="none" rtlCol="0">
            <a:spAutoFit/>
          </a:bodyPr>
          <a:lstStyle/>
          <a:p>
            <a:r>
              <a:rPr lang="en-US" sz="2400" dirty="0"/>
              <a:t>Emit</a:t>
            </a:r>
          </a:p>
        </p:txBody>
      </p:sp>
      <p:sp>
        <p:nvSpPr>
          <p:cNvPr id="8" name="TextBox 7">
            <a:extLst>
              <a:ext uri="{FF2B5EF4-FFF2-40B4-BE49-F238E27FC236}">
                <a16:creationId xmlns:a16="http://schemas.microsoft.com/office/drawing/2014/main" id="{7C272CC7-5172-704C-1DBD-C0D09EA408E8}"/>
              </a:ext>
            </a:extLst>
          </p:cNvPr>
          <p:cNvSpPr txBox="1"/>
          <p:nvPr/>
        </p:nvSpPr>
        <p:spPr>
          <a:xfrm>
            <a:off x="1852894" y="6112150"/>
            <a:ext cx="1127745" cy="461665"/>
          </a:xfrm>
          <a:prstGeom prst="rect">
            <a:avLst/>
          </a:prstGeom>
          <a:solidFill>
            <a:schemeClr val="accent6">
              <a:lumMod val="60000"/>
              <a:lumOff val="40000"/>
            </a:schemeClr>
          </a:solidFill>
        </p:spPr>
        <p:txBody>
          <a:bodyPr wrap="none" rtlCol="0">
            <a:spAutoFit/>
          </a:bodyPr>
          <a:lstStyle/>
          <a:p>
            <a:r>
              <a:rPr lang="en-US" sz="2400" dirty="0"/>
              <a:t>Repeat</a:t>
            </a:r>
          </a:p>
        </p:txBody>
      </p:sp>
      <p:sp>
        <p:nvSpPr>
          <p:cNvPr id="15" name="TextBox 14">
            <a:extLst>
              <a:ext uri="{FF2B5EF4-FFF2-40B4-BE49-F238E27FC236}">
                <a16:creationId xmlns:a16="http://schemas.microsoft.com/office/drawing/2014/main" id="{DDF7DAE6-9F46-A5FB-55DD-497427504A93}"/>
              </a:ext>
            </a:extLst>
          </p:cNvPr>
          <p:cNvSpPr txBox="1"/>
          <p:nvPr/>
        </p:nvSpPr>
        <p:spPr>
          <a:xfrm>
            <a:off x="914399" y="4367063"/>
            <a:ext cx="4588179" cy="461665"/>
          </a:xfrm>
          <a:prstGeom prst="rect">
            <a:avLst/>
          </a:prstGeom>
          <a:solidFill>
            <a:schemeClr val="accent6">
              <a:lumMod val="60000"/>
              <a:lumOff val="40000"/>
            </a:schemeClr>
          </a:solidFill>
        </p:spPr>
        <p:txBody>
          <a:bodyPr wrap="none" rtlCol="0">
            <a:spAutoFit/>
          </a:bodyPr>
          <a:lstStyle/>
          <a:p>
            <a:r>
              <a:rPr lang="en-US" sz="2400" dirty="0"/>
              <a:t>Wait for events before the frontier</a:t>
            </a:r>
          </a:p>
        </p:txBody>
      </p:sp>
      <p:sp>
        <p:nvSpPr>
          <p:cNvPr id="16" name="TextBox 15">
            <a:extLst>
              <a:ext uri="{FF2B5EF4-FFF2-40B4-BE49-F238E27FC236}">
                <a16:creationId xmlns:a16="http://schemas.microsoft.com/office/drawing/2014/main" id="{9BF73A2D-B48D-FB95-4CAE-C61E00C013E3}"/>
              </a:ext>
            </a:extLst>
          </p:cNvPr>
          <p:cNvSpPr txBox="1"/>
          <p:nvPr/>
        </p:nvSpPr>
        <p:spPr>
          <a:xfrm>
            <a:off x="914399" y="5504961"/>
            <a:ext cx="6558270" cy="461665"/>
          </a:xfrm>
          <a:prstGeom prst="rect">
            <a:avLst/>
          </a:prstGeom>
          <a:solidFill>
            <a:schemeClr val="accent6">
              <a:lumMod val="60000"/>
              <a:lumOff val="40000"/>
            </a:schemeClr>
          </a:solidFill>
        </p:spPr>
        <p:txBody>
          <a:bodyPr wrap="none" rtlCol="0">
            <a:spAutoFit/>
          </a:bodyPr>
          <a:lstStyle/>
          <a:p>
            <a:r>
              <a:rPr lang="en-US" sz="2400" dirty="0"/>
              <a:t>Run fair ordering algorithm on the current events</a:t>
            </a:r>
          </a:p>
        </p:txBody>
      </p:sp>
      <p:sp>
        <p:nvSpPr>
          <p:cNvPr id="17" name="TextBox 16">
            <a:extLst>
              <a:ext uri="{FF2B5EF4-FFF2-40B4-BE49-F238E27FC236}">
                <a16:creationId xmlns:a16="http://schemas.microsoft.com/office/drawing/2014/main" id="{94D13EDD-387C-38A3-B79C-F0D37E27E45B}"/>
              </a:ext>
            </a:extLst>
          </p:cNvPr>
          <p:cNvSpPr txBox="1"/>
          <p:nvPr/>
        </p:nvSpPr>
        <p:spPr>
          <a:xfrm>
            <a:off x="914399" y="4910709"/>
            <a:ext cx="6008568" cy="461665"/>
          </a:xfrm>
          <a:prstGeom prst="rect">
            <a:avLst/>
          </a:prstGeom>
          <a:solidFill>
            <a:schemeClr val="accent6">
              <a:lumMod val="60000"/>
              <a:lumOff val="40000"/>
            </a:schemeClr>
          </a:solidFill>
        </p:spPr>
        <p:txBody>
          <a:bodyPr wrap="none" rtlCol="0">
            <a:spAutoFit/>
          </a:bodyPr>
          <a:lstStyle/>
          <a:p>
            <a:r>
              <a:rPr lang="en-US" sz="2400" dirty="0"/>
              <a:t>If new events received, repeat last two </a:t>
            </a:r>
            <a:r>
              <a:rPr lang="en-US" sz="2400" dirty="0" err="1"/>
              <a:t>setps</a:t>
            </a:r>
            <a:endParaRPr lang="en-US" sz="2400" dirty="0"/>
          </a:p>
        </p:txBody>
      </p:sp>
    </p:spTree>
    <p:extLst>
      <p:ext uri="{BB962C8B-B14F-4D97-AF65-F5344CB8AC3E}">
        <p14:creationId xmlns:p14="http://schemas.microsoft.com/office/powerpoint/2010/main" val="6692749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grpId="0" nodeType="withEffect">
                                  <p:stCondLst>
                                    <p:cond delay="0"/>
                                  </p:stCondLst>
                                  <p:childTnLst>
                                    <p:animMotion origin="layout" path="M 0.00469 -4.44444E-6 L -0.02578 -0.05856 C -0.03203 -0.07175 -0.04154 -0.0787 -0.05156 -0.0787 C -0.06289 -0.0787 -0.07201 -0.07175 -0.07826 -0.05856 L -0.10859 -4.44444E-6 " pathEditMode="relative" rAng="0" ptsTypes="AAAAA">
                                      <p:cBhvr>
                                        <p:cTn id="6" dur="2000" fill="hold"/>
                                        <p:tgtEl>
                                          <p:spTgt spid="9"/>
                                        </p:tgtEl>
                                        <p:attrNameLst>
                                          <p:attrName>ppt_x</p:attrName>
                                          <p:attrName>ppt_y</p:attrName>
                                        </p:attrNameLst>
                                      </p:cBhvr>
                                      <p:rCtr x="-5664" y="-3935"/>
                                    </p:animMotion>
                                  </p:childTnLst>
                                </p:cTn>
                              </p:par>
                              <p:par>
                                <p:cTn id="7" presetID="37" presetClass="path" presetSubtype="0" accel="50000" decel="50000" fill="hold" grpId="0" nodeType="withEffect">
                                  <p:stCondLst>
                                    <p:cond delay="0"/>
                                  </p:stCondLst>
                                  <p:childTnLst>
                                    <p:animMotion origin="layout" path="M 0.00365 -0.00254 L 0.03529 0.03542 C 0.0418 0.04399 0.0517 0.04862 0.06211 0.04862 C 0.07383 0.04862 0.08334 0.04399 0.08985 0.03542 L 0.12162 -0.00254 " pathEditMode="relative" rAng="0" ptsTypes="AAAAA">
                                      <p:cBhvr>
                                        <p:cTn id="8" dur="2000" fill="hold"/>
                                        <p:tgtEl>
                                          <p:spTgt spid="4"/>
                                        </p:tgtEl>
                                        <p:attrNameLst>
                                          <p:attrName>ppt_x</p:attrName>
                                          <p:attrName>ppt_y</p:attrName>
                                        </p:attrNameLst>
                                      </p:cBhvr>
                                      <p:rCtr x="5898" y="2546"/>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grpId="1" nodeType="clickEffect">
                                  <p:stCondLst>
                                    <p:cond delay="0"/>
                                  </p:stCondLst>
                                  <p:childTnLst>
                                    <p:anim calcmode="lin" valueType="num">
                                      <p:cBhvr additive="base">
                                        <p:cTn id="16" dur="500"/>
                                        <p:tgtEl>
                                          <p:spTgt spid="4"/>
                                        </p:tgtEl>
                                        <p:attrNameLst>
                                          <p:attrName>ppt_x</p:attrName>
                                        </p:attrNameLst>
                                      </p:cBhvr>
                                      <p:tavLst>
                                        <p:tav tm="0">
                                          <p:val>
                                            <p:strVal val="ppt_x"/>
                                          </p:val>
                                        </p:tav>
                                        <p:tav tm="100000">
                                          <p:val>
                                            <p:strVal val="0-ppt_w/2"/>
                                          </p:val>
                                        </p:tav>
                                      </p:tavLst>
                                    </p:anim>
                                    <p:anim calcmode="lin" valueType="num">
                                      <p:cBhvr additive="base">
                                        <p:cTn id="17" dur="500"/>
                                        <p:tgtEl>
                                          <p:spTgt spid="4"/>
                                        </p:tgtEl>
                                        <p:attrNameLst>
                                          <p:attrName>ppt_y</p:attrName>
                                        </p:attrNameLst>
                                      </p:cBhvr>
                                      <p:tavLst>
                                        <p:tav tm="0">
                                          <p:val>
                                            <p:strVal val="ppt_y"/>
                                          </p:val>
                                        </p:tav>
                                        <p:tav tm="100000">
                                          <p:val>
                                            <p:strVal val="ppt_y"/>
                                          </p:val>
                                        </p:tav>
                                      </p:tavLst>
                                    </p:anim>
                                    <p:set>
                                      <p:cBhvr>
                                        <p:cTn id="18" dur="1" fill="hold">
                                          <p:stCondLst>
                                            <p:cond delay="499"/>
                                          </p:stCondLst>
                                        </p:cTn>
                                        <p:tgtEl>
                                          <p:spTgt spid="4"/>
                                        </p:tgtEl>
                                        <p:attrNameLst>
                                          <p:attrName>style.visibility</p:attrName>
                                        </p:attrNameLst>
                                      </p:cBhvr>
                                      <p:to>
                                        <p:strVal val="hidden"/>
                                      </p:to>
                                    </p:set>
                                  </p:childTnLst>
                                </p:cTn>
                              </p:par>
                              <p:par>
                                <p:cTn id="19" presetID="2" presetClass="exit" presetSubtype="8" fill="hold" grpId="1" nodeType="withEffect">
                                  <p:stCondLst>
                                    <p:cond delay="0"/>
                                  </p:stCondLst>
                                  <p:childTnLst>
                                    <p:anim calcmode="lin" valueType="num">
                                      <p:cBhvr additive="base">
                                        <p:cTn id="20" dur="500"/>
                                        <p:tgtEl>
                                          <p:spTgt spid="9"/>
                                        </p:tgtEl>
                                        <p:attrNameLst>
                                          <p:attrName>ppt_x</p:attrName>
                                        </p:attrNameLst>
                                      </p:cBhvr>
                                      <p:tavLst>
                                        <p:tav tm="0">
                                          <p:val>
                                            <p:strVal val="ppt_x"/>
                                          </p:val>
                                        </p:tav>
                                        <p:tav tm="100000">
                                          <p:val>
                                            <p:strVal val="0-ppt_w/2"/>
                                          </p:val>
                                        </p:tav>
                                      </p:tavLst>
                                    </p:anim>
                                    <p:anim calcmode="lin" valueType="num">
                                      <p:cBhvr additive="base">
                                        <p:cTn id="21" dur="500"/>
                                        <p:tgtEl>
                                          <p:spTgt spid="9"/>
                                        </p:tgtEl>
                                        <p:attrNameLst>
                                          <p:attrName>ppt_y</p:attrName>
                                        </p:attrNameLst>
                                      </p:cBhvr>
                                      <p:tavLst>
                                        <p:tav tm="0">
                                          <p:val>
                                            <p:strVal val="ppt_y"/>
                                          </p:val>
                                        </p:tav>
                                        <p:tav tm="100000">
                                          <p:val>
                                            <p:strVal val="ppt_y"/>
                                          </p:val>
                                        </p:tav>
                                      </p:tavLst>
                                    </p:anim>
                                    <p:set>
                                      <p:cBhvr>
                                        <p:cTn id="22" dur="1" fill="hold">
                                          <p:stCondLst>
                                            <p:cond delay="499"/>
                                          </p:stCondLst>
                                        </p:cTn>
                                        <p:tgtEl>
                                          <p:spTgt spid="9"/>
                                        </p:tgtEl>
                                        <p:attrNameLst>
                                          <p:attrName>style.visibility</p:attrName>
                                        </p:attrNameLst>
                                      </p:cBhvr>
                                      <p:to>
                                        <p:strVal val="hidden"/>
                                      </p:to>
                                    </p:set>
                                  </p:childTnLst>
                                </p:cTn>
                              </p:par>
                              <p:par>
                                <p:cTn id="23" presetID="2" presetClass="exit" presetSubtype="8" fill="hold" grpId="0" nodeType="withEffect">
                                  <p:stCondLst>
                                    <p:cond delay="0"/>
                                  </p:stCondLst>
                                  <p:childTnLst>
                                    <p:anim calcmode="lin" valueType="num">
                                      <p:cBhvr additive="base">
                                        <p:cTn id="24" dur="500"/>
                                        <p:tgtEl>
                                          <p:spTgt spid="10"/>
                                        </p:tgtEl>
                                        <p:attrNameLst>
                                          <p:attrName>ppt_x</p:attrName>
                                        </p:attrNameLst>
                                      </p:cBhvr>
                                      <p:tavLst>
                                        <p:tav tm="0">
                                          <p:val>
                                            <p:strVal val="ppt_x"/>
                                          </p:val>
                                        </p:tav>
                                        <p:tav tm="100000">
                                          <p:val>
                                            <p:strVal val="0-ppt_w/2"/>
                                          </p:val>
                                        </p:tav>
                                      </p:tavLst>
                                    </p:anim>
                                    <p:anim calcmode="lin" valueType="num">
                                      <p:cBhvr additive="base">
                                        <p:cTn id="25" dur="500"/>
                                        <p:tgtEl>
                                          <p:spTgt spid="10"/>
                                        </p:tgtEl>
                                        <p:attrNameLst>
                                          <p:attrName>ppt_y</p:attrName>
                                        </p:attrNameLst>
                                      </p:cBhvr>
                                      <p:tavLst>
                                        <p:tav tm="0">
                                          <p:val>
                                            <p:strVal val="ppt_y"/>
                                          </p:val>
                                        </p:tav>
                                        <p:tav tm="100000">
                                          <p:val>
                                            <p:strVal val="ppt_y"/>
                                          </p:val>
                                        </p:tav>
                                      </p:tavLst>
                                    </p:anim>
                                    <p:set>
                                      <p:cBhvr>
                                        <p:cTn id="26" dur="1" fill="hold">
                                          <p:stCondLst>
                                            <p:cond delay="499"/>
                                          </p:stCondLst>
                                        </p:cTn>
                                        <p:tgtEl>
                                          <p:spTgt spid="10"/>
                                        </p:tgtEl>
                                        <p:attrNameLst>
                                          <p:attrName>style.visibility</p:attrName>
                                        </p:attrNameLst>
                                      </p:cBhvr>
                                      <p:to>
                                        <p:strVal val="hidden"/>
                                      </p:to>
                                    </p:set>
                                  </p:childTnLst>
                                </p:cTn>
                              </p:par>
                              <p:par>
                                <p:cTn id="27" presetID="2" presetClass="exit" presetSubtype="8" fill="hold" grpId="0" nodeType="withEffect">
                                  <p:stCondLst>
                                    <p:cond delay="0"/>
                                  </p:stCondLst>
                                  <p:childTnLst>
                                    <p:anim calcmode="lin" valueType="num">
                                      <p:cBhvr additive="base">
                                        <p:cTn id="28" dur="500"/>
                                        <p:tgtEl>
                                          <p:spTgt spid="11"/>
                                        </p:tgtEl>
                                        <p:attrNameLst>
                                          <p:attrName>ppt_x</p:attrName>
                                        </p:attrNameLst>
                                      </p:cBhvr>
                                      <p:tavLst>
                                        <p:tav tm="0">
                                          <p:val>
                                            <p:strVal val="ppt_x"/>
                                          </p:val>
                                        </p:tav>
                                        <p:tav tm="100000">
                                          <p:val>
                                            <p:strVal val="0-ppt_w/2"/>
                                          </p:val>
                                        </p:tav>
                                      </p:tavLst>
                                    </p:anim>
                                    <p:anim calcmode="lin" valueType="num">
                                      <p:cBhvr additive="base">
                                        <p:cTn id="29" dur="500"/>
                                        <p:tgtEl>
                                          <p:spTgt spid="11"/>
                                        </p:tgtEl>
                                        <p:attrNameLst>
                                          <p:attrName>ppt_y</p:attrName>
                                        </p:attrNameLst>
                                      </p:cBhvr>
                                      <p:tavLst>
                                        <p:tav tm="0">
                                          <p:val>
                                            <p:strVal val="ppt_y"/>
                                          </p:val>
                                        </p:tav>
                                        <p:tav tm="100000">
                                          <p:val>
                                            <p:strVal val="ppt_y"/>
                                          </p:val>
                                        </p:tav>
                                      </p:tavLst>
                                    </p:anim>
                                    <p:set>
                                      <p:cBhvr>
                                        <p:cTn id="30" dur="1" fill="hold">
                                          <p:stCondLst>
                                            <p:cond delay="499"/>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9" grpId="0" animBg="1"/>
      <p:bldP spid="9" grpId="1" animBg="1"/>
      <p:bldP spid="10" grpId="0" animBg="1"/>
      <p:bldP spid="11" grpId="0" animBg="1"/>
      <p:bldP spid="7" grpId="0" animBg="1"/>
      <p:bldP spid="8" grpId="0" animBg="1"/>
    </p:bldLst>
  </p:timing>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4AAE10-4FC1-143A-CB40-6E940DA6C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42839-8303-D181-B5BC-718124AE7FF7}"/>
              </a:ext>
            </a:extLst>
          </p:cNvPr>
          <p:cNvSpPr>
            <a:spLocks noGrp="1"/>
          </p:cNvSpPr>
          <p:nvPr>
            <p:ph type="title"/>
          </p:nvPr>
        </p:nvSpPr>
        <p:spPr/>
        <p:txBody>
          <a:bodyPr/>
          <a:lstStyle/>
          <a:p>
            <a:r>
              <a:rPr lang="en-US" dirty="0"/>
              <a:t>Computation Optimization</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2187903-9018-F97A-30C3-8268CB32D2E2}"/>
                  </a:ext>
                </a:extLst>
              </p:cNvPr>
              <p:cNvSpPr txBox="1"/>
              <p:nvPr/>
            </p:nvSpPr>
            <p:spPr>
              <a:xfrm>
                <a:off x="3245301" y="1832217"/>
                <a:ext cx="4284763" cy="1031436"/>
              </a:xfrm>
              <a:prstGeom prst="rect">
                <a:avLst/>
              </a:prstGeom>
              <a:solidFill>
                <a:schemeClr val="bg1">
                  <a:lumMod val="95000"/>
                </a:schemeClr>
              </a:solidFill>
              <a:ln w="57150">
                <a:solidFill>
                  <a:schemeClr val="tx1"/>
                </a:solidFill>
              </a:ln>
              <a:effectLst>
                <a:outerShdw blurRad="50800" dist="38100" dir="8100000" algn="tr" rotWithShape="0">
                  <a:prstClr val="black">
                    <a:alpha val="40000"/>
                  </a:prstClr>
                </a:outerShdw>
              </a:effectLst>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p:sp>
            <p:nvSpPr>
              <p:cNvPr id="12" name="TextBox 11">
                <a:extLst>
                  <a:ext uri="{FF2B5EF4-FFF2-40B4-BE49-F238E27FC236}">
                    <a16:creationId xmlns:a16="http://schemas.microsoft.com/office/drawing/2014/main" id="{D2187903-9018-F97A-30C3-8268CB32D2E2}"/>
                  </a:ext>
                </a:extLst>
              </p:cNvPr>
              <p:cNvSpPr txBox="1">
                <a:spLocks noRot="1" noChangeAspect="1" noMove="1" noResize="1" noEditPoints="1" noAdjustHandles="1" noChangeArrowheads="1" noChangeShapeType="1" noTextEdit="1"/>
              </p:cNvSpPr>
              <p:nvPr/>
            </p:nvSpPr>
            <p:spPr>
              <a:xfrm>
                <a:off x="3245301" y="1832217"/>
                <a:ext cx="4284763" cy="1031436"/>
              </a:xfrm>
              <a:prstGeom prst="rect">
                <a:avLst/>
              </a:prstGeom>
              <a:blipFill>
                <a:blip r:embed="rId3"/>
                <a:stretch>
                  <a:fillRect/>
                </a:stretch>
              </a:blipFill>
              <a:ln w="57150">
                <a:solidFill>
                  <a:schemeClr val="tx1"/>
                </a:solidFill>
              </a:ln>
              <a:effectLst>
                <a:outerShdw blurRad="50800" dist="38100" dir="8100000" algn="tr" rotWithShape="0">
                  <a:prstClr val="black">
                    <a:alpha val="40000"/>
                  </a:prstClr>
                </a:outerShdw>
              </a:effectLst>
            </p:spPr>
            <p:txBody>
              <a:bodyPr/>
              <a:lstStyle/>
              <a:p>
                <a:r>
                  <a:rPr lang="en-US">
                    <a:noFill/>
                  </a:rPr>
                  <a:t> </a:t>
                </a:r>
              </a:p>
            </p:txBody>
          </p:sp>
        </mc:Fallback>
      </mc:AlternateContent>
      <p:sp>
        <p:nvSpPr>
          <p:cNvPr id="19" name="TextBox 18">
            <a:extLst>
              <a:ext uri="{FF2B5EF4-FFF2-40B4-BE49-F238E27FC236}">
                <a16:creationId xmlns:a16="http://schemas.microsoft.com/office/drawing/2014/main" id="{D43C520E-18E1-7472-E65A-7B29056892F5}"/>
              </a:ext>
            </a:extLst>
          </p:cNvPr>
          <p:cNvSpPr txBox="1"/>
          <p:nvPr/>
        </p:nvSpPr>
        <p:spPr>
          <a:xfrm>
            <a:off x="1981200" y="3627120"/>
            <a:ext cx="5852160" cy="954107"/>
          </a:xfrm>
          <a:prstGeom prst="rect">
            <a:avLst/>
          </a:prstGeom>
          <a:solidFill>
            <a:srgbClr val="FF0000"/>
          </a:solidFill>
        </p:spPr>
        <p:txBody>
          <a:bodyPr wrap="square" rtlCol="0">
            <a:spAutoFit/>
          </a:bodyPr>
          <a:lstStyle/>
          <a:p>
            <a:pPr marL="342900" indent="-342900">
              <a:buFont typeface="Arial" panose="020B0604020202020204" pitchFamily="34" charset="0"/>
              <a:buChar char="•"/>
            </a:pPr>
            <a:r>
              <a:rPr lang="en-US" sz="2800" dirty="0">
                <a:solidFill>
                  <a:schemeClr val="bg1"/>
                </a:solidFill>
              </a:rPr>
              <a:t>Quadratic time complexity for computing the pairwise probability</a:t>
            </a:r>
          </a:p>
        </p:txBody>
      </p:sp>
      <p:sp>
        <p:nvSpPr>
          <p:cNvPr id="4" name="TextBox 3">
            <a:extLst>
              <a:ext uri="{FF2B5EF4-FFF2-40B4-BE49-F238E27FC236}">
                <a16:creationId xmlns:a16="http://schemas.microsoft.com/office/drawing/2014/main" id="{4030B866-16BA-6FE5-2094-BA3641796418}"/>
              </a:ext>
            </a:extLst>
          </p:cNvPr>
          <p:cNvSpPr txBox="1"/>
          <p:nvPr/>
        </p:nvSpPr>
        <p:spPr>
          <a:xfrm>
            <a:off x="1159474" y="1870881"/>
            <a:ext cx="2085827" cy="954107"/>
          </a:xfrm>
          <a:prstGeom prst="rect">
            <a:avLst/>
          </a:prstGeom>
          <a:noFill/>
        </p:spPr>
        <p:txBody>
          <a:bodyPr wrap="none" rtlCol="0">
            <a:spAutoFit/>
          </a:bodyPr>
          <a:lstStyle/>
          <a:p>
            <a:r>
              <a:rPr lang="en-US" sz="2800" dirty="0"/>
              <a:t>Remember</a:t>
            </a:r>
            <a:br>
              <a:rPr lang="en-US" sz="2800" dirty="0"/>
            </a:br>
            <a:r>
              <a:rPr lang="en-US" sz="2800" dirty="0"/>
              <a:t>from before:</a:t>
            </a:r>
          </a:p>
        </p:txBody>
      </p:sp>
    </p:spTree>
    <p:extLst>
      <p:ext uri="{BB962C8B-B14F-4D97-AF65-F5344CB8AC3E}">
        <p14:creationId xmlns:p14="http://schemas.microsoft.com/office/powerpoint/2010/main" val="273986712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A5AF48-C538-FCAB-8697-CCD5DDFF8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FA459-4C61-65A0-DD22-F45E95A22419}"/>
              </a:ext>
            </a:extLst>
          </p:cNvPr>
          <p:cNvSpPr>
            <a:spLocks noGrp="1"/>
          </p:cNvSpPr>
          <p:nvPr>
            <p:ph type="title"/>
          </p:nvPr>
        </p:nvSpPr>
        <p:spPr/>
        <p:txBody>
          <a:bodyPr/>
          <a:lstStyle/>
          <a:p>
            <a:r>
              <a:rPr lang="en-US" dirty="0"/>
              <a:t>Computation Optimization</a:t>
            </a:r>
          </a:p>
        </p:txBody>
      </p:sp>
      <p:sp>
        <p:nvSpPr>
          <p:cNvPr id="14" name="Up Arrow 13">
            <a:extLst>
              <a:ext uri="{FF2B5EF4-FFF2-40B4-BE49-F238E27FC236}">
                <a16:creationId xmlns:a16="http://schemas.microsoft.com/office/drawing/2014/main" id="{2799420D-0F5C-0F2B-18F7-53397028F398}"/>
              </a:ext>
            </a:extLst>
          </p:cNvPr>
          <p:cNvSpPr/>
          <p:nvPr/>
        </p:nvSpPr>
        <p:spPr>
          <a:xfrm rot="2540085">
            <a:off x="5124195" y="2965116"/>
            <a:ext cx="302843" cy="1089384"/>
          </a:xfrm>
          <a:custGeom>
            <a:avLst/>
            <a:gdLst>
              <a:gd name="csX0" fmla="*/ 0 w 302843"/>
              <a:gd name="csY0" fmla="*/ 151422 h 1089384"/>
              <a:gd name="csX1" fmla="*/ 151422 w 302843"/>
              <a:gd name="csY1" fmla="*/ 0 h 1089384"/>
              <a:gd name="csX2" fmla="*/ 302843 w 302843"/>
              <a:gd name="csY2" fmla="*/ 151422 h 1089384"/>
              <a:gd name="csX3" fmla="*/ 227132 w 302843"/>
              <a:gd name="csY3" fmla="*/ 151422 h 1089384"/>
              <a:gd name="csX4" fmla="*/ 227132 w 302843"/>
              <a:gd name="csY4" fmla="*/ 611023 h 1089384"/>
              <a:gd name="csX5" fmla="*/ 227132 w 302843"/>
              <a:gd name="csY5" fmla="*/ 1089384 h 1089384"/>
              <a:gd name="csX6" fmla="*/ 75711 w 302843"/>
              <a:gd name="csY6" fmla="*/ 1089384 h 1089384"/>
              <a:gd name="csX7" fmla="*/ 75711 w 302843"/>
              <a:gd name="csY7" fmla="*/ 620403 h 1089384"/>
              <a:gd name="csX8" fmla="*/ 75711 w 302843"/>
              <a:gd name="csY8" fmla="*/ 151422 h 1089384"/>
              <a:gd name="csX9" fmla="*/ 0 w 302843"/>
              <a:gd name="csY9" fmla="*/ 151422 h 1089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2843" h="1089384" fill="none" extrusionOk="0">
                <a:moveTo>
                  <a:pt x="0" y="151422"/>
                </a:moveTo>
                <a:cubicBezTo>
                  <a:pt x="34202" y="101146"/>
                  <a:pt x="123668" y="36074"/>
                  <a:pt x="151422" y="0"/>
                </a:cubicBezTo>
                <a:cubicBezTo>
                  <a:pt x="216585" y="64641"/>
                  <a:pt x="226577" y="78964"/>
                  <a:pt x="302843" y="151422"/>
                </a:cubicBezTo>
                <a:cubicBezTo>
                  <a:pt x="285157" y="155009"/>
                  <a:pt x="254078" y="150815"/>
                  <a:pt x="227132" y="151422"/>
                </a:cubicBezTo>
                <a:cubicBezTo>
                  <a:pt x="280196" y="306295"/>
                  <a:pt x="218974" y="490540"/>
                  <a:pt x="227132" y="611023"/>
                </a:cubicBezTo>
                <a:cubicBezTo>
                  <a:pt x="235290" y="731506"/>
                  <a:pt x="188442" y="950753"/>
                  <a:pt x="227132" y="1089384"/>
                </a:cubicBezTo>
                <a:cubicBezTo>
                  <a:pt x="173617" y="1102385"/>
                  <a:pt x="139865" y="1084710"/>
                  <a:pt x="75711" y="1089384"/>
                </a:cubicBezTo>
                <a:cubicBezTo>
                  <a:pt x="56015" y="940648"/>
                  <a:pt x="127986" y="851455"/>
                  <a:pt x="75711" y="620403"/>
                </a:cubicBezTo>
                <a:cubicBezTo>
                  <a:pt x="23436" y="389351"/>
                  <a:pt x="110287" y="262926"/>
                  <a:pt x="75711" y="151422"/>
                </a:cubicBezTo>
                <a:cubicBezTo>
                  <a:pt x="38396" y="155628"/>
                  <a:pt x="27420" y="149804"/>
                  <a:pt x="0" y="151422"/>
                </a:cubicBezTo>
                <a:close/>
              </a:path>
              <a:path w="302843" h="1089384" stroke="0" extrusionOk="0">
                <a:moveTo>
                  <a:pt x="0" y="151422"/>
                </a:moveTo>
                <a:cubicBezTo>
                  <a:pt x="30752" y="116867"/>
                  <a:pt x="120607" y="61460"/>
                  <a:pt x="151422" y="0"/>
                </a:cubicBezTo>
                <a:cubicBezTo>
                  <a:pt x="229364" y="52763"/>
                  <a:pt x="257084" y="130264"/>
                  <a:pt x="302843" y="151422"/>
                </a:cubicBezTo>
                <a:cubicBezTo>
                  <a:pt x="270842" y="157943"/>
                  <a:pt x="250895" y="149578"/>
                  <a:pt x="227132" y="151422"/>
                </a:cubicBezTo>
                <a:cubicBezTo>
                  <a:pt x="239690" y="277844"/>
                  <a:pt x="183858" y="471140"/>
                  <a:pt x="227132" y="629783"/>
                </a:cubicBezTo>
                <a:cubicBezTo>
                  <a:pt x="270406" y="788426"/>
                  <a:pt x="225229" y="882081"/>
                  <a:pt x="227132" y="1089384"/>
                </a:cubicBezTo>
                <a:cubicBezTo>
                  <a:pt x="166808" y="1097060"/>
                  <a:pt x="113334" y="1071316"/>
                  <a:pt x="75711" y="1089384"/>
                </a:cubicBezTo>
                <a:cubicBezTo>
                  <a:pt x="69995" y="906977"/>
                  <a:pt x="123343" y="785464"/>
                  <a:pt x="75711" y="639162"/>
                </a:cubicBezTo>
                <a:cubicBezTo>
                  <a:pt x="28079" y="492860"/>
                  <a:pt x="94479" y="368882"/>
                  <a:pt x="75711" y="151422"/>
                </a:cubicBezTo>
                <a:cubicBezTo>
                  <a:pt x="57684" y="156734"/>
                  <a:pt x="37446" y="148563"/>
                  <a:pt x="0" y="151422"/>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up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1FA8D68-4BB7-DF32-8925-8BCDB84FCBD0}"/>
              </a:ext>
            </a:extLst>
          </p:cNvPr>
          <p:cNvSpPr txBox="1"/>
          <p:nvPr/>
        </p:nvSpPr>
        <p:spPr>
          <a:xfrm>
            <a:off x="2123605" y="4014434"/>
            <a:ext cx="7005403" cy="1384995"/>
          </a:xfrm>
          <a:prstGeom prst="rect">
            <a:avLst/>
          </a:prstGeom>
          <a:noFill/>
        </p:spPr>
        <p:txBody>
          <a:bodyPr wrap="square" rtlCol="0">
            <a:spAutoFit/>
          </a:bodyPr>
          <a:lstStyle/>
          <a:p>
            <a:r>
              <a:rPr lang="en-US" sz="2800" dirty="0"/>
              <a:t>Although the value of individual timestamps is not bounded, their difference will always fall in a relatively small range</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5782940-89CB-C60F-03C7-A38B021AE4C4}"/>
                  </a:ext>
                </a:extLst>
              </p:cNvPr>
              <p:cNvSpPr txBox="1"/>
              <p:nvPr/>
            </p:nvSpPr>
            <p:spPr>
              <a:xfrm>
                <a:off x="3245301" y="1832217"/>
                <a:ext cx="4284763" cy="1031436"/>
              </a:xfrm>
              <a:prstGeom prst="rect">
                <a:avLst/>
              </a:prstGeom>
              <a:solidFill>
                <a:schemeClr val="bg1">
                  <a:lumMod val="95000"/>
                </a:schemeClr>
              </a:solidFill>
              <a:ln w="57150">
                <a:solidFill>
                  <a:schemeClr val="tx1"/>
                </a:solidFill>
              </a:ln>
              <a:effectLst>
                <a:outerShdw blurRad="50800" dist="38100" dir="8100000" algn="tr" rotWithShape="0">
                  <a:prstClr val="black">
                    <a:alpha val="40000"/>
                  </a:prstClr>
                </a:outerShdw>
              </a:effectLst>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p:sp>
            <p:nvSpPr>
              <p:cNvPr id="4" name="TextBox 3">
                <a:extLst>
                  <a:ext uri="{FF2B5EF4-FFF2-40B4-BE49-F238E27FC236}">
                    <a16:creationId xmlns:a16="http://schemas.microsoft.com/office/drawing/2014/main" id="{C5782940-89CB-C60F-03C7-A38B021AE4C4}"/>
                  </a:ext>
                </a:extLst>
              </p:cNvPr>
              <p:cNvSpPr txBox="1">
                <a:spLocks noRot="1" noChangeAspect="1" noMove="1" noResize="1" noEditPoints="1" noAdjustHandles="1" noChangeArrowheads="1" noChangeShapeType="1" noTextEdit="1"/>
              </p:cNvSpPr>
              <p:nvPr/>
            </p:nvSpPr>
            <p:spPr>
              <a:xfrm>
                <a:off x="3245301" y="1832217"/>
                <a:ext cx="4284763" cy="1031436"/>
              </a:xfrm>
              <a:prstGeom prst="rect">
                <a:avLst/>
              </a:prstGeom>
              <a:blipFill>
                <a:blip r:embed="rId2"/>
                <a:stretch>
                  <a:fillRect/>
                </a:stretch>
              </a:blipFill>
              <a:ln w="57150">
                <a:solidFill>
                  <a:schemeClr val="tx1"/>
                </a:solidFill>
              </a:ln>
              <a:effectLst>
                <a:outerShdw blurRad="50800" dist="38100" dir="8100000" algn="tr" rotWithShape="0">
                  <a:prstClr val="black">
                    <a:alpha val="40000"/>
                  </a:prstClr>
                </a:outerShdw>
              </a:effectLst>
            </p:spPr>
            <p:txBody>
              <a:bodyPr/>
              <a:lstStyle/>
              <a:p>
                <a:r>
                  <a:rPr lang="en-US">
                    <a:noFill/>
                  </a:rPr>
                  <a:t> </a:t>
                </a:r>
              </a:p>
            </p:txBody>
          </p:sp>
        </mc:Fallback>
      </mc:AlternateContent>
      <p:sp>
        <p:nvSpPr>
          <p:cNvPr id="5" name="TextBox 4">
            <a:extLst>
              <a:ext uri="{FF2B5EF4-FFF2-40B4-BE49-F238E27FC236}">
                <a16:creationId xmlns:a16="http://schemas.microsoft.com/office/drawing/2014/main" id="{F831CBAF-964E-14A0-AACC-610B4079948B}"/>
              </a:ext>
            </a:extLst>
          </p:cNvPr>
          <p:cNvSpPr txBox="1"/>
          <p:nvPr/>
        </p:nvSpPr>
        <p:spPr>
          <a:xfrm>
            <a:off x="1159474" y="1870881"/>
            <a:ext cx="2085827" cy="954107"/>
          </a:xfrm>
          <a:prstGeom prst="rect">
            <a:avLst/>
          </a:prstGeom>
          <a:noFill/>
        </p:spPr>
        <p:txBody>
          <a:bodyPr wrap="none" rtlCol="0">
            <a:spAutoFit/>
          </a:bodyPr>
          <a:lstStyle/>
          <a:p>
            <a:r>
              <a:rPr lang="en-US" sz="2800" dirty="0"/>
              <a:t>Remember</a:t>
            </a:r>
            <a:br>
              <a:rPr lang="en-US" sz="2800" dirty="0"/>
            </a:br>
            <a:r>
              <a:rPr lang="en-US" sz="2800" dirty="0"/>
              <a:t>from before:</a:t>
            </a:r>
          </a:p>
        </p:txBody>
      </p:sp>
    </p:spTree>
    <p:extLst>
      <p:ext uri="{BB962C8B-B14F-4D97-AF65-F5344CB8AC3E}">
        <p14:creationId xmlns:p14="http://schemas.microsoft.com/office/powerpoint/2010/main" val="38130624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p:bldLst>
  </p:timing>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0EB20C-6615-B196-D134-6FEB43CA6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6B0CF-18E4-5C9D-02EE-D9F751B86072}"/>
              </a:ext>
            </a:extLst>
          </p:cNvPr>
          <p:cNvSpPr>
            <a:spLocks noGrp="1"/>
          </p:cNvSpPr>
          <p:nvPr>
            <p:ph type="title"/>
          </p:nvPr>
        </p:nvSpPr>
        <p:spPr/>
        <p:txBody>
          <a:bodyPr/>
          <a:lstStyle/>
          <a:p>
            <a:r>
              <a:rPr lang="en-US" dirty="0"/>
              <a:t>Computation Optimization</a:t>
            </a:r>
          </a:p>
        </p:txBody>
      </p:sp>
      <p:sp>
        <p:nvSpPr>
          <p:cNvPr id="14" name="Up Arrow 13">
            <a:extLst>
              <a:ext uri="{FF2B5EF4-FFF2-40B4-BE49-F238E27FC236}">
                <a16:creationId xmlns:a16="http://schemas.microsoft.com/office/drawing/2014/main" id="{B029D89A-6964-2462-6A7C-9520D78FEEAB}"/>
              </a:ext>
            </a:extLst>
          </p:cNvPr>
          <p:cNvSpPr/>
          <p:nvPr/>
        </p:nvSpPr>
        <p:spPr>
          <a:xfrm rot="2540085">
            <a:off x="5124195" y="2965116"/>
            <a:ext cx="302843" cy="1089384"/>
          </a:xfrm>
          <a:custGeom>
            <a:avLst/>
            <a:gdLst>
              <a:gd name="csX0" fmla="*/ 0 w 302843"/>
              <a:gd name="csY0" fmla="*/ 151422 h 1089384"/>
              <a:gd name="csX1" fmla="*/ 151422 w 302843"/>
              <a:gd name="csY1" fmla="*/ 0 h 1089384"/>
              <a:gd name="csX2" fmla="*/ 302843 w 302843"/>
              <a:gd name="csY2" fmla="*/ 151422 h 1089384"/>
              <a:gd name="csX3" fmla="*/ 227132 w 302843"/>
              <a:gd name="csY3" fmla="*/ 151422 h 1089384"/>
              <a:gd name="csX4" fmla="*/ 227132 w 302843"/>
              <a:gd name="csY4" fmla="*/ 611023 h 1089384"/>
              <a:gd name="csX5" fmla="*/ 227132 w 302843"/>
              <a:gd name="csY5" fmla="*/ 1089384 h 1089384"/>
              <a:gd name="csX6" fmla="*/ 75711 w 302843"/>
              <a:gd name="csY6" fmla="*/ 1089384 h 1089384"/>
              <a:gd name="csX7" fmla="*/ 75711 w 302843"/>
              <a:gd name="csY7" fmla="*/ 620403 h 1089384"/>
              <a:gd name="csX8" fmla="*/ 75711 w 302843"/>
              <a:gd name="csY8" fmla="*/ 151422 h 1089384"/>
              <a:gd name="csX9" fmla="*/ 0 w 302843"/>
              <a:gd name="csY9" fmla="*/ 151422 h 1089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2843" h="1089384" fill="none" extrusionOk="0">
                <a:moveTo>
                  <a:pt x="0" y="151422"/>
                </a:moveTo>
                <a:cubicBezTo>
                  <a:pt x="34202" y="101146"/>
                  <a:pt x="123668" y="36074"/>
                  <a:pt x="151422" y="0"/>
                </a:cubicBezTo>
                <a:cubicBezTo>
                  <a:pt x="216585" y="64641"/>
                  <a:pt x="226577" y="78964"/>
                  <a:pt x="302843" y="151422"/>
                </a:cubicBezTo>
                <a:cubicBezTo>
                  <a:pt x="285157" y="155009"/>
                  <a:pt x="254078" y="150815"/>
                  <a:pt x="227132" y="151422"/>
                </a:cubicBezTo>
                <a:cubicBezTo>
                  <a:pt x="280196" y="306295"/>
                  <a:pt x="218974" y="490540"/>
                  <a:pt x="227132" y="611023"/>
                </a:cubicBezTo>
                <a:cubicBezTo>
                  <a:pt x="235290" y="731506"/>
                  <a:pt x="188442" y="950753"/>
                  <a:pt x="227132" y="1089384"/>
                </a:cubicBezTo>
                <a:cubicBezTo>
                  <a:pt x="173617" y="1102385"/>
                  <a:pt x="139865" y="1084710"/>
                  <a:pt x="75711" y="1089384"/>
                </a:cubicBezTo>
                <a:cubicBezTo>
                  <a:pt x="56015" y="940648"/>
                  <a:pt x="127986" y="851455"/>
                  <a:pt x="75711" y="620403"/>
                </a:cubicBezTo>
                <a:cubicBezTo>
                  <a:pt x="23436" y="389351"/>
                  <a:pt x="110287" y="262926"/>
                  <a:pt x="75711" y="151422"/>
                </a:cubicBezTo>
                <a:cubicBezTo>
                  <a:pt x="38396" y="155628"/>
                  <a:pt x="27420" y="149804"/>
                  <a:pt x="0" y="151422"/>
                </a:cubicBezTo>
                <a:close/>
              </a:path>
              <a:path w="302843" h="1089384" stroke="0" extrusionOk="0">
                <a:moveTo>
                  <a:pt x="0" y="151422"/>
                </a:moveTo>
                <a:cubicBezTo>
                  <a:pt x="30752" y="116867"/>
                  <a:pt x="120607" y="61460"/>
                  <a:pt x="151422" y="0"/>
                </a:cubicBezTo>
                <a:cubicBezTo>
                  <a:pt x="229364" y="52763"/>
                  <a:pt x="257084" y="130264"/>
                  <a:pt x="302843" y="151422"/>
                </a:cubicBezTo>
                <a:cubicBezTo>
                  <a:pt x="270842" y="157943"/>
                  <a:pt x="250895" y="149578"/>
                  <a:pt x="227132" y="151422"/>
                </a:cubicBezTo>
                <a:cubicBezTo>
                  <a:pt x="239690" y="277844"/>
                  <a:pt x="183858" y="471140"/>
                  <a:pt x="227132" y="629783"/>
                </a:cubicBezTo>
                <a:cubicBezTo>
                  <a:pt x="270406" y="788426"/>
                  <a:pt x="225229" y="882081"/>
                  <a:pt x="227132" y="1089384"/>
                </a:cubicBezTo>
                <a:cubicBezTo>
                  <a:pt x="166808" y="1097060"/>
                  <a:pt x="113334" y="1071316"/>
                  <a:pt x="75711" y="1089384"/>
                </a:cubicBezTo>
                <a:cubicBezTo>
                  <a:pt x="69995" y="906977"/>
                  <a:pt x="123343" y="785464"/>
                  <a:pt x="75711" y="639162"/>
                </a:cubicBezTo>
                <a:cubicBezTo>
                  <a:pt x="28079" y="492860"/>
                  <a:pt x="94479" y="368882"/>
                  <a:pt x="75711" y="151422"/>
                </a:cubicBezTo>
                <a:cubicBezTo>
                  <a:pt x="57684" y="156734"/>
                  <a:pt x="37446" y="148563"/>
                  <a:pt x="0" y="151422"/>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up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DBFCB72-359D-3323-5AA9-E7C1E08AFAFD}"/>
              </a:ext>
            </a:extLst>
          </p:cNvPr>
          <p:cNvSpPr txBox="1"/>
          <p:nvPr/>
        </p:nvSpPr>
        <p:spPr>
          <a:xfrm>
            <a:off x="2123605" y="4014434"/>
            <a:ext cx="7005403" cy="1569660"/>
          </a:xfrm>
          <a:prstGeom prst="rect">
            <a:avLst/>
          </a:prstGeom>
          <a:noFill/>
        </p:spPr>
        <p:txBody>
          <a:bodyPr wrap="square" rtlCol="0">
            <a:spAutoFit/>
          </a:bodyPr>
          <a:lstStyle/>
          <a:p>
            <a:r>
              <a:rPr lang="en-US" sz="2800" dirty="0"/>
              <a:t>Although the value of individual timestamps is not bounded, their difference will always fall in a relatively </a:t>
            </a:r>
            <a:r>
              <a:rPr lang="en-US" sz="4000" dirty="0">
                <a:solidFill>
                  <a:schemeClr val="accent6"/>
                </a:solidFill>
              </a:rPr>
              <a:t>small range</a:t>
            </a:r>
            <a:endParaRPr lang="en-US" sz="2800" dirty="0">
              <a:solidFill>
                <a:schemeClr val="accent6"/>
              </a:solidFill>
            </a:endParaRPr>
          </a:p>
        </p:txBody>
      </p:sp>
      <p:sp>
        <p:nvSpPr>
          <p:cNvPr id="3" name="TextBox 2">
            <a:extLst>
              <a:ext uri="{FF2B5EF4-FFF2-40B4-BE49-F238E27FC236}">
                <a16:creationId xmlns:a16="http://schemas.microsoft.com/office/drawing/2014/main" id="{48EBA444-CF95-62A5-D5B9-23DFCB4554EA}"/>
              </a:ext>
            </a:extLst>
          </p:cNvPr>
          <p:cNvSpPr txBox="1"/>
          <p:nvPr/>
        </p:nvSpPr>
        <p:spPr>
          <a:xfrm>
            <a:off x="5387682" y="5639239"/>
            <a:ext cx="4152275" cy="954107"/>
          </a:xfrm>
          <a:prstGeom prst="rect">
            <a:avLst/>
          </a:prstGeom>
          <a:noFill/>
        </p:spPr>
        <p:txBody>
          <a:bodyPr wrap="square" rtlCol="0">
            <a:spAutoFit/>
          </a:bodyPr>
          <a:lstStyle/>
          <a:p>
            <a:r>
              <a:rPr lang="en-US" sz="2800" dirty="0"/>
              <a:t>Precompute to enable faster calculation</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9E0D226-63F4-2375-5259-AE6A7A3C31F8}"/>
                  </a:ext>
                </a:extLst>
              </p:cNvPr>
              <p:cNvSpPr txBox="1"/>
              <p:nvPr/>
            </p:nvSpPr>
            <p:spPr>
              <a:xfrm>
                <a:off x="3245301" y="1832217"/>
                <a:ext cx="4284763" cy="1031436"/>
              </a:xfrm>
              <a:prstGeom prst="rect">
                <a:avLst/>
              </a:prstGeom>
              <a:solidFill>
                <a:schemeClr val="bg1">
                  <a:lumMod val="95000"/>
                </a:schemeClr>
              </a:solidFill>
              <a:ln w="57150">
                <a:solidFill>
                  <a:schemeClr val="tx1"/>
                </a:solidFill>
              </a:ln>
              <a:effectLst>
                <a:outerShdw blurRad="50800" dist="38100" dir="8100000" algn="tr" rotWithShape="0">
                  <a:prstClr val="black">
                    <a:alpha val="40000"/>
                  </a:prstClr>
                </a:outerShdw>
              </a:effectLst>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p:sp>
            <p:nvSpPr>
              <p:cNvPr id="5" name="TextBox 4">
                <a:extLst>
                  <a:ext uri="{FF2B5EF4-FFF2-40B4-BE49-F238E27FC236}">
                    <a16:creationId xmlns:a16="http://schemas.microsoft.com/office/drawing/2014/main" id="{E9E0D226-63F4-2375-5259-AE6A7A3C31F8}"/>
                  </a:ext>
                </a:extLst>
              </p:cNvPr>
              <p:cNvSpPr txBox="1">
                <a:spLocks noRot="1" noChangeAspect="1" noMove="1" noResize="1" noEditPoints="1" noAdjustHandles="1" noChangeArrowheads="1" noChangeShapeType="1" noTextEdit="1"/>
              </p:cNvSpPr>
              <p:nvPr/>
            </p:nvSpPr>
            <p:spPr>
              <a:xfrm>
                <a:off x="3245301" y="1832217"/>
                <a:ext cx="4284763" cy="1031436"/>
              </a:xfrm>
              <a:prstGeom prst="rect">
                <a:avLst/>
              </a:prstGeom>
              <a:blipFill>
                <a:blip r:embed="rId2"/>
                <a:stretch>
                  <a:fillRect/>
                </a:stretch>
              </a:blipFill>
              <a:ln w="57150">
                <a:solidFill>
                  <a:schemeClr val="tx1"/>
                </a:solidFill>
              </a:ln>
              <a:effectLst>
                <a:outerShdw blurRad="50800" dist="38100" dir="8100000" algn="tr" rotWithShape="0">
                  <a:prstClr val="black">
                    <a:alpha val="40000"/>
                  </a:prstClr>
                </a:outerShdw>
              </a:effectLst>
            </p:spPr>
            <p:txBody>
              <a:bodyPr/>
              <a:lstStyle/>
              <a:p>
                <a:r>
                  <a:rPr lang="en-US">
                    <a:noFill/>
                  </a:rPr>
                  <a:t> </a:t>
                </a:r>
              </a:p>
            </p:txBody>
          </p:sp>
        </mc:Fallback>
      </mc:AlternateContent>
      <p:sp>
        <p:nvSpPr>
          <p:cNvPr id="7" name="TextBox 6">
            <a:extLst>
              <a:ext uri="{FF2B5EF4-FFF2-40B4-BE49-F238E27FC236}">
                <a16:creationId xmlns:a16="http://schemas.microsoft.com/office/drawing/2014/main" id="{32FA8AA9-94B6-5EB5-1737-80E6E9F03C63}"/>
              </a:ext>
            </a:extLst>
          </p:cNvPr>
          <p:cNvSpPr txBox="1"/>
          <p:nvPr/>
        </p:nvSpPr>
        <p:spPr>
          <a:xfrm>
            <a:off x="1159474" y="1870881"/>
            <a:ext cx="2085827" cy="954107"/>
          </a:xfrm>
          <a:prstGeom prst="rect">
            <a:avLst/>
          </a:prstGeom>
          <a:noFill/>
        </p:spPr>
        <p:txBody>
          <a:bodyPr wrap="none" rtlCol="0">
            <a:spAutoFit/>
          </a:bodyPr>
          <a:lstStyle/>
          <a:p>
            <a:r>
              <a:rPr lang="en-US" sz="2800" dirty="0"/>
              <a:t>Remember</a:t>
            </a:r>
            <a:br>
              <a:rPr lang="en-US" sz="2800" dirty="0"/>
            </a:br>
            <a:r>
              <a:rPr lang="en-US" sz="2800" dirty="0"/>
              <a:t>from before:</a:t>
            </a:r>
          </a:p>
        </p:txBody>
      </p:sp>
    </p:spTree>
    <p:extLst>
      <p:ext uri="{BB962C8B-B14F-4D97-AF65-F5344CB8AC3E}">
        <p14:creationId xmlns:p14="http://schemas.microsoft.com/office/powerpoint/2010/main" val="418636893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Shape 413">
          <a:extLst>
            <a:ext uri="{FF2B5EF4-FFF2-40B4-BE49-F238E27FC236}">
              <a16:creationId xmlns:a16="http://schemas.microsoft.com/office/drawing/2014/main" id="{45BDC08B-420F-55D1-2676-E70270E2A98B}"/>
            </a:ext>
          </a:extLst>
        </p:cNvPr>
        <p:cNvGrpSpPr/>
        <p:nvPr/>
      </p:nvGrpSpPr>
      <p:grpSpPr>
        <a:xfrm>
          <a:off x="0" y="0"/>
          <a:ext cx="0" cy="0"/>
          <a:chOff x="0" y="0"/>
          <a:chExt cx="0" cy="0"/>
        </a:xfrm>
      </p:grpSpPr>
      <p:sp>
        <p:nvSpPr>
          <p:cNvPr id="419" name="Freeform: Shape 418">
            <a:extLst>
              <a:ext uri="{FF2B5EF4-FFF2-40B4-BE49-F238E27FC236}">
                <a16:creationId xmlns:a16="http://schemas.microsoft.com/office/drawing/2014/main" id="{8F641E44-1744-D20C-E8C9-3D63122B9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1" name="Freeform: Shape 420">
            <a:extLst>
              <a:ext uri="{FF2B5EF4-FFF2-40B4-BE49-F238E27FC236}">
                <a16:creationId xmlns:a16="http://schemas.microsoft.com/office/drawing/2014/main" id="{DEC8A7A8-7E05-9E00-0AE6-17C8F0E69A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4" name="Google Shape;414;p36">
            <a:extLst>
              <a:ext uri="{FF2B5EF4-FFF2-40B4-BE49-F238E27FC236}">
                <a16:creationId xmlns:a16="http://schemas.microsoft.com/office/drawing/2014/main" id="{C783B411-76D9-5EAF-0D9D-DF509142C7C1}"/>
              </a:ext>
            </a:extLst>
          </p:cNvPr>
          <p:cNvSpPr txBox="1">
            <a:spLocks noGrp="1"/>
          </p:cNvSpPr>
          <p:nvPr>
            <p:ph type="title"/>
          </p:nvPr>
        </p:nvSpPr>
        <p:spPr>
          <a:xfrm>
            <a:off x="2555631" y="1441938"/>
            <a:ext cx="7080738" cy="3974124"/>
          </a:xfrm>
        </p:spPr>
        <p:txBody>
          <a:bodyPr spcFirstLastPara="1" vert="horz" lIns="91440" tIns="45720" rIns="91440" bIns="45720" rtlCol="0" anchor="ctr" anchorCtr="0">
            <a:normAutofit/>
          </a:bodyPr>
          <a:lstStyle/>
          <a:p>
            <a:pPr algn="ctr">
              <a:spcBef>
                <a:spcPct val="0"/>
              </a:spcBef>
            </a:pPr>
            <a:r>
              <a:rPr lang="en-US" sz="5400">
                <a:solidFill>
                  <a:schemeClr val="bg1">
                    <a:lumMod val="95000"/>
                    <a:lumOff val="5000"/>
                  </a:schemeClr>
                </a:solidFill>
              </a:rPr>
              <a:t>Evaluation</a:t>
            </a:r>
          </a:p>
        </p:txBody>
      </p:sp>
    </p:spTree>
    <p:extLst>
      <p:ext uri="{BB962C8B-B14F-4D97-AF65-F5344CB8AC3E}">
        <p14:creationId xmlns:p14="http://schemas.microsoft.com/office/powerpoint/2010/main" val="3252482718"/>
      </p:ext>
    </p:extLst>
  </p:cSld>
  <p:clrMapOvr>
    <a:overrideClrMapping bg1="dk1" tx1="lt1" bg2="dk2" tx2="lt2" accent1="accent1" accent2="accent2" accent3="accent3" accent4="accent4" accent5="accent5" accent6="accent6" hlink="hlink" folHlink="folHlink"/>
  </p:clrMapOvr>
  <p:transition spd="med">
    <p:push dir="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DED1-D649-8359-EEC8-B428BE564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BBB5B-9B81-9DDD-7599-A460E6E34D5A}"/>
              </a:ext>
            </a:extLst>
          </p:cNvPr>
          <p:cNvSpPr>
            <a:spLocks noGrp="1"/>
          </p:cNvSpPr>
          <p:nvPr>
            <p:ph type="title"/>
          </p:nvPr>
        </p:nvSpPr>
        <p:spPr/>
        <p:txBody>
          <a:bodyPr/>
          <a:lstStyle/>
          <a:p>
            <a:r>
              <a:rPr lang="en-US" dirty="0"/>
              <a:t>Setup</a:t>
            </a:r>
          </a:p>
        </p:txBody>
      </p:sp>
      <p:sp>
        <p:nvSpPr>
          <p:cNvPr id="13" name="Content Placeholder 12">
            <a:extLst>
              <a:ext uri="{FF2B5EF4-FFF2-40B4-BE49-F238E27FC236}">
                <a16:creationId xmlns:a16="http://schemas.microsoft.com/office/drawing/2014/main" id="{93CBB30E-A873-85E4-1264-AE4BF3235E51}"/>
              </a:ext>
            </a:extLst>
          </p:cNvPr>
          <p:cNvSpPr>
            <a:spLocks noGrp="1"/>
          </p:cNvSpPr>
          <p:nvPr>
            <p:ph idx="1"/>
          </p:nvPr>
        </p:nvSpPr>
        <p:spPr>
          <a:xfrm>
            <a:off x="838200" y="1304418"/>
            <a:ext cx="10515600" cy="4351338"/>
          </a:xfrm>
        </p:spPr>
        <p:txBody>
          <a:bodyPr/>
          <a:lstStyle/>
          <a:p>
            <a:r>
              <a:rPr lang="en-US" dirty="0"/>
              <a:t>Ground truth does not exist in the real world</a:t>
            </a:r>
          </a:p>
          <a:p>
            <a:pPr lvl="1"/>
            <a:r>
              <a:rPr lang="en-US" dirty="0"/>
              <a:t>No perfect clock synchronization</a:t>
            </a:r>
          </a:p>
          <a:p>
            <a:pPr lvl="1"/>
            <a:r>
              <a:rPr lang="en-US" dirty="0"/>
              <a:t>Cannot know in what order events were generated across clients</a:t>
            </a:r>
          </a:p>
          <a:p>
            <a:r>
              <a:rPr lang="en-US" dirty="0"/>
              <a:t>We resort to simulations as we can construct a ground truth there</a:t>
            </a:r>
          </a:p>
        </p:txBody>
      </p:sp>
    </p:spTree>
    <p:extLst>
      <p:ext uri="{BB962C8B-B14F-4D97-AF65-F5344CB8AC3E}">
        <p14:creationId xmlns:p14="http://schemas.microsoft.com/office/powerpoint/2010/main" val="1101850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C9CCD-0F55-4384-8AE3-75EB02B02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C4118-87A2-BCAF-7D9A-07A273561C32}"/>
              </a:ext>
            </a:extLst>
          </p:cNvPr>
          <p:cNvSpPr>
            <a:spLocks noGrp="1"/>
          </p:cNvSpPr>
          <p:nvPr>
            <p:ph type="title"/>
          </p:nvPr>
        </p:nvSpPr>
        <p:spPr/>
        <p:txBody>
          <a:bodyPr/>
          <a:lstStyle/>
          <a:p>
            <a:r>
              <a:rPr lang="en-US" dirty="0"/>
              <a:t>Setup</a:t>
            </a:r>
          </a:p>
        </p:txBody>
      </p:sp>
      <p:sp>
        <p:nvSpPr>
          <p:cNvPr id="13" name="Content Placeholder 12">
            <a:extLst>
              <a:ext uri="{FF2B5EF4-FFF2-40B4-BE49-F238E27FC236}">
                <a16:creationId xmlns:a16="http://schemas.microsoft.com/office/drawing/2014/main" id="{8599AD4D-A439-2368-7EDD-618EB1E803B0}"/>
              </a:ext>
            </a:extLst>
          </p:cNvPr>
          <p:cNvSpPr>
            <a:spLocks noGrp="1"/>
          </p:cNvSpPr>
          <p:nvPr>
            <p:ph idx="1"/>
          </p:nvPr>
        </p:nvSpPr>
        <p:spPr>
          <a:xfrm>
            <a:off x="838200" y="1304418"/>
            <a:ext cx="10515600" cy="4351338"/>
          </a:xfrm>
        </p:spPr>
        <p:txBody>
          <a:bodyPr/>
          <a:lstStyle/>
          <a:p>
            <a:r>
              <a:rPr lang="en-US" dirty="0"/>
              <a:t>Ground truth does not exist in the real world</a:t>
            </a:r>
          </a:p>
          <a:p>
            <a:pPr lvl="1"/>
            <a:r>
              <a:rPr lang="en-US" dirty="0"/>
              <a:t>No perfect clock synchronization</a:t>
            </a:r>
          </a:p>
          <a:p>
            <a:pPr lvl="1"/>
            <a:r>
              <a:rPr lang="en-US" dirty="0"/>
              <a:t>Cannot know in what order events were generated across clients</a:t>
            </a:r>
          </a:p>
          <a:p>
            <a:r>
              <a:rPr lang="en-US" dirty="0"/>
              <a:t>We resort to simulations as we can construct a ground truth there</a:t>
            </a:r>
          </a:p>
        </p:txBody>
      </p:sp>
      <p:sp>
        <p:nvSpPr>
          <p:cNvPr id="3" name="Can 2">
            <a:extLst>
              <a:ext uri="{FF2B5EF4-FFF2-40B4-BE49-F238E27FC236}">
                <a16:creationId xmlns:a16="http://schemas.microsoft.com/office/drawing/2014/main" id="{8538C34A-2C2F-C1E7-45D1-D48A726DE4EA}"/>
              </a:ext>
            </a:extLst>
          </p:cNvPr>
          <p:cNvSpPr/>
          <p:nvPr/>
        </p:nvSpPr>
        <p:spPr>
          <a:xfrm>
            <a:off x="2030931" y="3166988"/>
            <a:ext cx="1241659" cy="524023"/>
          </a:xfrm>
          <a:prstGeom prst="ca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sp>
        <p:nvSpPr>
          <p:cNvPr id="5" name="Oval 4">
            <a:extLst>
              <a:ext uri="{FF2B5EF4-FFF2-40B4-BE49-F238E27FC236}">
                <a16:creationId xmlns:a16="http://schemas.microsoft.com/office/drawing/2014/main" id="{A75E3BB4-85A6-CB92-ADB1-E71DC21894CB}"/>
              </a:ext>
            </a:extLst>
          </p:cNvPr>
          <p:cNvSpPr/>
          <p:nvPr/>
        </p:nvSpPr>
        <p:spPr>
          <a:xfrm>
            <a:off x="1578543" y="4273617"/>
            <a:ext cx="529390" cy="500514"/>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7565FEF-418B-DB0E-8444-ACF73C19B521}"/>
              </a:ext>
            </a:extLst>
          </p:cNvPr>
          <p:cNvSpPr/>
          <p:nvPr/>
        </p:nvSpPr>
        <p:spPr>
          <a:xfrm>
            <a:off x="2141621" y="4273617"/>
            <a:ext cx="529390" cy="500514"/>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DBC1B18-1D70-C1E1-3C90-E0C307510573}"/>
              </a:ext>
            </a:extLst>
          </p:cNvPr>
          <p:cNvSpPr/>
          <p:nvPr/>
        </p:nvSpPr>
        <p:spPr>
          <a:xfrm>
            <a:off x="2743200" y="4273617"/>
            <a:ext cx="529390" cy="500514"/>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2D31292-2539-E5D4-1D3C-821AB8F80A5E}"/>
              </a:ext>
            </a:extLst>
          </p:cNvPr>
          <p:cNvSpPr/>
          <p:nvPr/>
        </p:nvSpPr>
        <p:spPr>
          <a:xfrm>
            <a:off x="3344779" y="4273617"/>
            <a:ext cx="529390" cy="500514"/>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B87672-136A-427C-C35C-C0FC894E0344}"/>
              </a:ext>
            </a:extLst>
          </p:cNvPr>
          <p:cNvSpPr txBox="1"/>
          <p:nvPr/>
        </p:nvSpPr>
        <p:spPr>
          <a:xfrm>
            <a:off x="2296250" y="4774131"/>
            <a:ext cx="893899" cy="369332"/>
          </a:xfrm>
          <a:prstGeom prst="rect">
            <a:avLst/>
          </a:prstGeom>
          <a:noFill/>
        </p:spPr>
        <p:txBody>
          <a:bodyPr wrap="none" rtlCol="0">
            <a:spAutoFit/>
          </a:bodyPr>
          <a:lstStyle/>
          <a:p>
            <a:r>
              <a:rPr lang="en-US" dirty="0"/>
              <a:t>Clients</a:t>
            </a:r>
          </a:p>
        </p:txBody>
      </p:sp>
      <p:pic>
        <p:nvPicPr>
          <p:cNvPr id="11" name="Graphic 10" descr="Alarm clock outline">
            <a:extLst>
              <a:ext uri="{FF2B5EF4-FFF2-40B4-BE49-F238E27FC236}">
                <a16:creationId xmlns:a16="http://schemas.microsoft.com/office/drawing/2014/main" id="{313BA8E7-249E-D670-E5DA-C8AB9257EA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96250" y="2842489"/>
            <a:ext cx="628048" cy="628048"/>
          </a:xfrm>
          <a:prstGeom prst="rect">
            <a:avLst/>
          </a:prstGeom>
        </p:spPr>
      </p:pic>
      <p:pic>
        <p:nvPicPr>
          <p:cNvPr id="12" name="Graphic 11" descr="Alarm clock outline">
            <a:extLst>
              <a:ext uri="{FF2B5EF4-FFF2-40B4-BE49-F238E27FC236}">
                <a16:creationId xmlns:a16="http://schemas.microsoft.com/office/drawing/2014/main" id="{4D04F87F-3A44-574B-F241-EFAE960112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0206" y="3964491"/>
            <a:ext cx="499226" cy="499226"/>
          </a:xfrm>
          <a:prstGeom prst="rect">
            <a:avLst/>
          </a:prstGeom>
        </p:spPr>
      </p:pic>
      <p:sp>
        <p:nvSpPr>
          <p:cNvPr id="17" name="Right Arrow 16">
            <a:extLst>
              <a:ext uri="{FF2B5EF4-FFF2-40B4-BE49-F238E27FC236}">
                <a16:creationId xmlns:a16="http://schemas.microsoft.com/office/drawing/2014/main" id="{A6F09AAA-DBEB-092C-17A7-34957865742E}"/>
              </a:ext>
            </a:extLst>
          </p:cNvPr>
          <p:cNvSpPr/>
          <p:nvPr/>
        </p:nvSpPr>
        <p:spPr>
          <a:xfrm rot="17901766">
            <a:off x="1856552" y="3862876"/>
            <a:ext cx="529389" cy="24110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BCF4C024-1983-DCF4-4843-E48FBF1B7B88}"/>
              </a:ext>
            </a:extLst>
          </p:cNvPr>
          <p:cNvSpPr/>
          <p:nvPr/>
        </p:nvSpPr>
        <p:spPr>
          <a:xfrm rot="14838417">
            <a:off x="2972437" y="3850574"/>
            <a:ext cx="529389" cy="24110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2D8A947F-2A62-8509-7217-21E26DB51DCB}"/>
              </a:ext>
            </a:extLst>
          </p:cNvPr>
          <p:cNvSpPr/>
          <p:nvPr/>
        </p:nvSpPr>
        <p:spPr>
          <a:xfrm rot="16853916">
            <a:off x="2228752" y="3884395"/>
            <a:ext cx="529389" cy="24110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3716D3D9-6F4F-DE83-A26F-6CB3D13E25A7}"/>
              </a:ext>
            </a:extLst>
          </p:cNvPr>
          <p:cNvSpPr/>
          <p:nvPr/>
        </p:nvSpPr>
        <p:spPr>
          <a:xfrm rot="15218196">
            <a:off x="2652922" y="3870173"/>
            <a:ext cx="529389" cy="241105"/>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Alarm clock outline">
            <a:extLst>
              <a:ext uri="{FF2B5EF4-FFF2-40B4-BE49-F238E27FC236}">
                <a16:creationId xmlns:a16="http://schemas.microsoft.com/office/drawing/2014/main" id="{06D8CEA4-0276-D34C-3324-F39D1A3C8A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334194" y="3968188"/>
            <a:ext cx="499226" cy="499226"/>
          </a:xfrm>
          <a:prstGeom prst="rect">
            <a:avLst/>
          </a:prstGeom>
        </p:spPr>
      </p:pic>
      <p:pic>
        <p:nvPicPr>
          <p:cNvPr id="15" name="Graphic 14" descr="Alarm clock outline">
            <a:extLst>
              <a:ext uri="{FF2B5EF4-FFF2-40B4-BE49-F238E27FC236}">
                <a16:creationId xmlns:a16="http://schemas.microsoft.com/office/drawing/2014/main" id="{479D49E6-94FB-916C-70DD-8B1B4B64D2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22345" y="3959680"/>
            <a:ext cx="499226" cy="499226"/>
          </a:xfrm>
          <a:prstGeom prst="rect">
            <a:avLst/>
          </a:prstGeom>
        </p:spPr>
      </p:pic>
      <p:pic>
        <p:nvPicPr>
          <p:cNvPr id="16" name="Graphic 15" descr="Alarm clock outline">
            <a:extLst>
              <a:ext uri="{FF2B5EF4-FFF2-40B4-BE49-F238E27FC236}">
                <a16:creationId xmlns:a16="http://schemas.microsoft.com/office/drawing/2014/main" id="{688DD1FF-2192-70AC-028C-ECC4A80707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82370" y="3959680"/>
            <a:ext cx="499226" cy="499226"/>
          </a:xfrm>
          <a:prstGeom prst="rect">
            <a:avLst/>
          </a:prstGeom>
        </p:spPr>
      </p:pic>
      <p:sp>
        <p:nvSpPr>
          <p:cNvPr id="21" name="Freeform 20">
            <a:extLst>
              <a:ext uri="{FF2B5EF4-FFF2-40B4-BE49-F238E27FC236}">
                <a16:creationId xmlns:a16="http://schemas.microsoft.com/office/drawing/2014/main" id="{F831BC3D-9A6A-2D56-6AEA-DDC1CF29F336}"/>
              </a:ext>
            </a:extLst>
          </p:cNvPr>
          <p:cNvSpPr/>
          <p:nvPr/>
        </p:nvSpPr>
        <p:spPr>
          <a:xfrm>
            <a:off x="3395758" y="3413969"/>
            <a:ext cx="2172900" cy="524023"/>
          </a:xfrm>
          <a:custGeom>
            <a:avLst/>
            <a:gdLst>
              <a:gd name="csX0" fmla="*/ 1973179 w 1973179"/>
              <a:gd name="csY0" fmla="*/ 154079 h 702719"/>
              <a:gd name="csX1" fmla="*/ 1915427 w 1973179"/>
              <a:gd name="csY1" fmla="*/ 134829 h 702719"/>
              <a:gd name="csX2" fmla="*/ 1876926 w 1973179"/>
              <a:gd name="csY2" fmla="*/ 115578 h 702719"/>
              <a:gd name="csX3" fmla="*/ 1848051 w 1973179"/>
              <a:gd name="csY3" fmla="*/ 96328 h 702719"/>
              <a:gd name="csX4" fmla="*/ 1809550 w 1973179"/>
              <a:gd name="csY4" fmla="*/ 86702 h 702719"/>
              <a:gd name="csX5" fmla="*/ 1742173 w 1973179"/>
              <a:gd name="csY5" fmla="*/ 48201 h 702719"/>
              <a:gd name="csX6" fmla="*/ 1694046 w 1973179"/>
              <a:gd name="csY6" fmla="*/ 38576 h 702719"/>
              <a:gd name="csX7" fmla="*/ 1655545 w 1973179"/>
              <a:gd name="csY7" fmla="*/ 28951 h 702719"/>
              <a:gd name="csX8" fmla="*/ 1511166 w 1973179"/>
              <a:gd name="csY8" fmla="*/ 75 h 702719"/>
              <a:gd name="csX9" fmla="*/ 1289785 w 1973179"/>
              <a:gd name="csY9" fmla="*/ 38576 h 702719"/>
              <a:gd name="csX10" fmla="*/ 1232034 w 1973179"/>
              <a:gd name="csY10" fmla="*/ 105953 h 702719"/>
              <a:gd name="csX11" fmla="*/ 1164657 w 1973179"/>
              <a:gd name="csY11" fmla="*/ 231081 h 702719"/>
              <a:gd name="csX12" fmla="*/ 1155032 w 1973179"/>
              <a:gd name="csY12" fmla="*/ 269582 h 702719"/>
              <a:gd name="csX13" fmla="*/ 1174282 w 1973179"/>
              <a:gd name="csY13" fmla="*/ 577591 h 702719"/>
              <a:gd name="csX14" fmla="*/ 1232034 w 1973179"/>
              <a:gd name="csY14" fmla="*/ 654593 h 702719"/>
              <a:gd name="csX15" fmla="*/ 1260910 w 1973179"/>
              <a:gd name="csY15" fmla="*/ 683469 h 702719"/>
              <a:gd name="csX16" fmla="*/ 1318661 w 1973179"/>
              <a:gd name="csY16" fmla="*/ 702719 h 702719"/>
              <a:gd name="csX17" fmla="*/ 1395663 w 1973179"/>
              <a:gd name="csY17" fmla="*/ 683469 h 702719"/>
              <a:gd name="csX18" fmla="*/ 1453415 w 1973179"/>
              <a:gd name="csY18" fmla="*/ 587216 h 702719"/>
              <a:gd name="csX19" fmla="*/ 1453415 w 1973179"/>
              <a:gd name="csY19" fmla="*/ 336959 h 702719"/>
              <a:gd name="csX20" fmla="*/ 1395663 w 1973179"/>
              <a:gd name="csY20" fmla="*/ 269582 h 702719"/>
              <a:gd name="csX21" fmla="*/ 1366787 w 1973179"/>
              <a:gd name="csY21" fmla="*/ 240707 h 702719"/>
              <a:gd name="csX22" fmla="*/ 1280160 w 1973179"/>
              <a:gd name="csY22" fmla="*/ 173330 h 702719"/>
              <a:gd name="csX23" fmla="*/ 1193533 w 1973179"/>
              <a:gd name="csY23" fmla="*/ 134829 h 702719"/>
              <a:gd name="csX24" fmla="*/ 1145406 w 1973179"/>
              <a:gd name="csY24" fmla="*/ 125203 h 702719"/>
              <a:gd name="csX25" fmla="*/ 1106905 w 1973179"/>
              <a:gd name="csY25" fmla="*/ 115578 h 702719"/>
              <a:gd name="csX26" fmla="*/ 904775 w 1973179"/>
              <a:gd name="csY26" fmla="*/ 125203 h 702719"/>
              <a:gd name="csX27" fmla="*/ 837398 w 1973179"/>
              <a:gd name="csY27" fmla="*/ 163704 h 702719"/>
              <a:gd name="csX28" fmla="*/ 693019 w 1973179"/>
              <a:gd name="csY28" fmla="*/ 250332 h 702719"/>
              <a:gd name="csX29" fmla="*/ 664143 w 1973179"/>
              <a:gd name="csY29" fmla="*/ 269582 h 702719"/>
              <a:gd name="csX30" fmla="*/ 529390 w 1973179"/>
              <a:gd name="csY30" fmla="*/ 385086 h 702719"/>
              <a:gd name="csX31" fmla="*/ 490889 w 1973179"/>
              <a:gd name="csY31" fmla="*/ 433212 h 702719"/>
              <a:gd name="csX32" fmla="*/ 394636 w 1973179"/>
              <a:gd name="csY32" fmla="*/ 510214 h 702719"/>
              <a:gd name="csX33" fmla="*/ 336884 w 1973179"/>
              <a:gd name="csY33" fmla="*/ 529464 h 702719"/>
              <a:gd name="csX34" fmla="*/ 298383 w 1973179"/>
              <a:gd name="csY34" fmla="*/ 558340 h 702719"/>
              <a:gd name="csX35" fmla="*/ 269507 w 1973179"/>
              <a:gd name="csY35" fmla="*/ 567966 h 702719"/>
              <a:gd name="csX36" fmla="*/ 202131 w 1973179"/>
              <a:gd name="csY36" fmla="*/ 587216 h 702719"/>
              <a:gd name="csX37" fmla="*/ 38501 w 1973179"/>
              <a:gd name="csY37" fmla="*/ 577591 h 702719"/>
              <a:gd name="csX38" fmla="*/ 57752 w 1973179"/>
              <a:gd name="csY38" fmla="*/ 606467 h 702719"/>
              <a:gd name="csX39" fmla="*/ 115503 w 1973179"/>
              <a:gd name="csY39" fmla="*/ 664218 h 702719"/>
              <a:gd name="csX40" fmla="*/ 105878 w 1973179"/>
              <a:gd name="csY40" fmla="*/ 664218 h 702719"/>
              <a:gd name="csX41" fmla="*/ 77002 w 1973179"/>
              <a:gd name="csY41" fmla="*/ 644968 h 702719"/>
              <a:gd name="csX42" fmla="*/ 48126 w 1973179"/>
              <a:gd name="csY42" fmla="*/ 606467 h 702719"/>
              <a:gd name="csX43" fmla="*/ 28876 w 1973179"/>
              <a:gd name="csY43" fmla="*/ 577591 h 702719"/>
              <a:gd name="csX44" fmla="*/ 0 w 1973179"/>
              <a:gd name="csY44" fmla="*/ 548715 h 702719"/>
              <a:gd name="csX45" fmla="*/ 28876 w 1973179"/>
              <a:gd name="csY45" fmla="*/ 519839 h 702719"/>
              <a:gd name="csX46" fmla="*/ 105878 w 1973179"/>
              <a:gd name="csY46" fmla="*/ 481338 h 702719"/>
              <a:gd name="csX47" fmla="*/ 182880 w 1973179"/>
              <a:gd name="csY47" fmla="*/ 413961 h 702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973179" h="702719">
                <a:moveTo>
                  <a:pt x="1973179" y="154079"/>
                </a:moveTo>
                <a:cubicBezTo>
                  <a:pt x="1953928" y="147662"/>
                  <a:pt x="1934268" y="142365"/>
                  <a:pt x="1915427" y="134829"/>
                </a:cubicBezTo>
                <a:cubicBezTo>
                  <a:pt x="1902105" y="129500"/>
                  <a:pt x="1889384" y="122697"/>
                  <a:pt x="1876926" y="115578"/>
                </a:cubicBezTo>
                <a:cubicBezTo>
                  <a:pt x="1866882" y="109839"/>
                  <a:pt x="1858683" y="100885"/>
                  <a:pt x="1848051" y="96328"/>
                </a:cubicBezTo>
                <a:cubicBezTo>
                  <a:pt x="1835892" y="91117"/>
                  <a:pt x="1822384" y="89911"/>
                  <a:pt x="1809550" y="86702"/>
                </a:cubicBezTo>
                <a:cubicBezTo>
                  <a:pt x="1787091" y="73868"/>
                  <a:pt x="1766050" y="58150"/>
                  <a:pt x="1742173" y="48201"/>
                </a:cubicBezTo>
                <a:cubicBezTo>
                  <a:pt x="1727071" y="41909"/>
                  <a:pt x="1710016" y="42125"/>
                  <a:pt x="1694046" y="38576"/>
                </a:cubicBezTo>
                <a:cubicBezTo>
                  <a:pt x="1681132" y="35706"/>
                  <a:pt x="1668490" y="31676"/>
                  <a:pt x="1655545" y="28951"/>
                </a:cubicBezTo>
                <a:cubicBezTo>
                  <a:pt x="1607518" y="18840"/>
                  <a:pt x="1511166" y="75"/>
                  <a:pt x="1511166" y="75"/>
                </a:cubicBezTo>
                <a:cubicBezTo>
                  <a:pt x="1477571" y="3435"/>
                  <a:pt x="1341749" y="-13388"/>
                  <a:pt x="1289785" y="38576"/>
                </a:cubicBezTo>
                <a:cubicBezTo>
                  <a:pt x="1268869" y="59492"/>
                  <a:pt x="1248155" y="81152"/>
                  <a:pt x="1232034" y="105953"/>
                </a:cubicBezTo>
                <a:cubicBezTo>
                  <a:pt x="1206217" y="145671"/>
                  <a:pt x="1164657" y="231081"/>
                  <a:pt x="1164657" y="231081"/>
                </a:cubicBezTo>
                <a:cubicBezTo>
                  <a:pt x="1161449" y="243915"/>
                  <a:pt x="1156903" y="256486"/>
                  <a:pt x="1155032" y="269582"/>
                </a:cubicBezTo>
                <a:cubicBezTo>
                  <a:pt x="1139288" y="379789"/>
                  <a:pt x="1138904" y="459666"/>
                  <a:pt x="1174282" y="577591"/>
                </a:cubicBezTo>
                <a:cubicBezTo>
                  <a:pt x="1183501" y="608322"/>
                  <a:pt x="1211717" y="629761"/>
                  <a:pt x="1232034" y="654593"/>
                </a:cubicBezTo>
                <a:cubicBezTo>
                  <a:pt x="1240654" y="665128"/>
                  <a:pt x="1249011" y="676858"/>
                  <a:pt x="1260910" y="683469"/>
                </a:cubicBezTo>
                <a:cubicBezTo>
                  <a:pt x="1278648" y="693323"/>
                  <a:pt x="1318661" y="702719"/>
                  <a:pt x="1318661" y="702719"/>
                </a:cubicBezTo>
                <a:cubicBezTo>
                  <a:pt x="1344328" y="696302"/>
                  <a:pt x="1373649" y="698145"/>
                  <a:pt x="1395663" y="683469"/>
                </a:cubicBezTo>
                <a:cubicBezTo>
                  <a:pt x="1413084" y="671855"/>
                  <a:pt x="1441826" y="610393"/>
                  <a:pt x="1453415" y="587216"/>
                </a:cubicBezTo>
                <a:cubicBezTo>
                  <a:pt x="1473087" y="488854"/>
                  <a:pt x="1476936" y="489843"/>
                  <a:pt x="1453415" y="336959"/>
                </a:cubicBezTo>
                <a:cubicBezTo>
                  <a:pt x="1446180" y="289930"/>
                  <a:pt x="1423043" y="292398"/>
                  <a:pt x="1395663" y="269582"/>
                </a:cubicBezTo>
                <a:cubicBezTo>
                  <a:pt x="1385206" y="260868"/>
                  <a:pt x="1376961" y="249750"/>
                  <a:pt x="1366787" y="240707"/>
                </a:cubicBezTo>
                <a:cubicBezTo>
                  <a:pt x="1344114" y="220553"/>
                  <a:pt x="1309590" y="190147"/>
                  <a:pt x="1280160" y="173330"/>
                </a:cubicBezTo>
                <a:cubicBezTo>
                  <a:pt x="1259200" y="161353"/>
                  <a:pt x="1215251" y="141344"/>
                  <a:pt x="1193533" y="134829"/>
                </a:cubicBezTo>
                <a:cubicBezTo>
                  <a:pt x="1177863" y="130128"/>
                  <a:pt x="1161376" y="128752"/>
                  <a:pt x="1145406" y="125203"/>
                </a:cubicBezTo>
                <a:cubicBezTo>
                  <a:pt x="1132492" y="122333"/>
                  <a:pt x="1119739" y="118786"/>
                  <a:pt x="1106905" y="115578"/>
                </a:cubicBezTo>
                <a:cubicBezTo>
                  <a:pt x="1039528" y="118786"/>
                  <a:pt x="971748" y="117166"/>
                  <a:pt x="904775" y="125203"/>
                </a:cubicBezTo>
                <a:cubicBezTo>
                  <a:pt x="885634" y="127500"/>
                  <a:pt x="854263" y="154335"/>
                  <a:pt x="837398" y="163704"/>
                </a:cubicBezTo>
                <a:cubicBezTo>
                  <a:pt x="704214" y="237694"/>
                  <a:pt x="869133" y="132923"/>
                  <a:pt x="693019" y="250332"/>
                </a:cubicBezTo>
                <a:cubicBezTo>
                  <a:pt x="683394" y="256749"/>
                  <a:pt x="672926" y="262054"/>
                  <a:pt x="664143" y="269582"/>
                </a:cubicBezTo>
                <a:cubicBezTo>
                  <a:pt x="619225" y="308083"/>
                  <a:pt x="566347" y="338890"/>
                  <a:pt x="529390" y="385086"/>
                </a:cubicBezTo>
                <a:cubicBezTo>
                  <a:pt x="516556" y="401128"/>
                  <a:pt x="504538" y="417857"/>
                  <a:pt x="490889" y="433212"/>
                </a:cubicBezTo>
                <a:cubicBezTo>
                  <a:pt x="462242" y="465439"/>
                  <a:pt x="434072" y="490496"/>
                  <a:pt x="394636" y="510214"/>
                </a:cubicBezTo>
                <a:cubicBezTo>
                  <a:pt x="376486" y="519289"/>
                  <a:pt x="356135" y="523047"/>
                  <a:pt x="336884" y="529464"/>
                </a:cubicBezTo>
                <a:cubicBezTo>
                  <a:pt x="324050" y="539089"/>
                  <a:pt x="312311" y="550381"/>
                  <a:pt x="298383" y="558340"/>
                </a:cubicBezTo>
                <a:cubicBezTo>
                  <a:pt x="289574" y="563374"/>
                  <a:pt x="279263" y="565179"/>
                  <a:pt x="269507" y="567966"/>
                </a:cubicBezTo>
                <a:cubicBezTo>
                  <a:pt x="184888" y="592144"/>
                  <a:pt x="271377" y="564134"/>
                  <a:pt x="202131" y="587216"/>
                </a:cubicBezTo>
                <a:cubicBezTo>
                  <a:pt x="147588" y="584008"/>
                  <a:pt x="92659" y="570370"/>
                  <a:pt x="38501" y="577591"/>
                </a:cubicBezTo>
                <a:cubicBezTo>
                  <a:pt x="27034" y="579120"/>
                  <a:pt x="50066" y="597821"/>
                  <a:pt x="57752" y="606467"/>
                </a:cubicBezTo>
                <a:cubicBezTo>
                  <a:pt x="75839" y="626815"/>
                  <a:pt x="96253" y="644968"/>
                  <a:pt x="115503" y="664218"/>
                </a:cubicBezTo>
                <a:cubicBezTo>
                  <a:pt x="160963" y="709678"/>
                  <a:pt x="149093" y="695085"/>
                  <a:pt x="105878" y="664218"/>
                </a:cubicBezTo>
                <a:cubicBezTo>
                  <a:pt x="96465" y="657494"/>
                  <a:pt x="86627" y="651385"/>
                  <a:pt x="77002" y="644968"/>
                </a:cubicBezTo>
                <a:cubicBezTo>
                  <a:pt x="67377" y="632134"/>
                  <a:pt x="57450" y="619521"/>
                  <a:pt x="48126" y="606467"/>
                </a:cubicBezTo>
                <a:cubicBezTo>
                  <a:pt x="41402" y="597054"/>
                  <a:pt x="36282" y="586478"/>
                  <a:pt x="28876" y="577591"/>
                </a:cubicBezTo>
                <a:cubicBezTo>
                  <a:pt x="20162" y="567134"/>
                  <a:pt x="9625" y="558340"/>
                  <a:pt x="0" y="548715"/>
                </a:cubicBezTo>
                <a:cubicBezTo>
                  <a:pt x="9625" y="539090"/>
                  <a:pt x="17333" y="527053"/>
                  <a:pt x="28876" y="519839"/>
                </a:cubicBezTo>
                <a:cubicBezTo>
                  <a:pt x="83542" y="485673"/>
                  <a:pt x="65439" y="517283"/>
                  <a:pt x="105878" y="481338"/>
                </a:cubicBezTo>
                <a:cubicBezTo>
                  <a:pt x="186654" y="409538"/>
                  <a:pt x="134550" y="438129"/>
                  <a:pt x="182880" y="413961"/>
                </a:cubicBezTo>
              </a:path>
            </a:pathLst>
          </a:cu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43D18D6-225E-7489-E528-EE9296D512E6}"/>
              </a:ext>
            </a:extLst>
          </p:cNvPr>
          <p:cNvSpPr txBox="1"/>
          <p:nvPr/>
        </p:nvSpPr>
        <p:spPr>
          <a:xfrm>
            <a:off x="4300878" y="3918329"/>
            <a:ext cx="1157305" cy="369332"/>
          </a:xfrm>
          <a:prstGeom prst="rect">
            <a:avLst/>
          </a:prstGeom>
          <a:noFill/>
        </p:spPr>
        <p:txBody>
          <a:bodyPr wrap="none" rtlCol="0">
            <a:spAutoFit/>
          </a:bodyPr>
          <a:lstStyle/>
          <a:p>
            <a:r>
              <a:rPr lang="en-US" dirty="0"/>
              <a:t>Latencies</a:t>
            </a:r>
          </a:p>
        </p:txBody>
      </p:sp>
      <p:sp>
        <p:nvSpPr>
          <p:cNvPr id="23" name="Rectangle 22">
            <a:extLst>
              <a:ext uri="{FF2B5EF4-FFF2-40B4-BE49-F238E27FC236}">
                <a16:creationId xmlns:a16="http://schemas.microsoft.com/office/drawing/2014/main" id="{D0CE98FB-422F-97F5-39A0-25A76044B035}"/>
              </a:ext>
            </a:extLst>
          </p:cNvPr>
          <p:cNvSpPr/>
          <p:nvPr/>
        </p:nvSpPr>
        <p:spPr>
          <a:xfrm>
            <a:off x="6190827" y="3344385"/>
            <a:ext cx="4167095" cy="18865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Fat tree data center topology </a:t>
            </a:r>
            <a:br>
              <a:rPr lang="en-US" sz="2400" dirty="0"/>
            </a:br>
            <a:r>
              <a:rPr lang="en-US" sz="2400" dirty="0"/>
              <a:t>+</a:t>
            </a:r>
            <a:br>
              <a:rPr lang="en-US" sz="2400" dirty="0"/>
            </a:br>
            <a:r>
              <a:rPr lang="en-US" sz="2400" dirty="0"/>
              <a:t>data center wide workload</a:t>
            </a:r>
          </a:p>
        </p:txBody>
      </p:sp>
      <p:sp>
        <p:nvSpPr>
          <p:cNvPr id="24" name="TextBox 23">
            <a:extLst>
              <a:ext uri="{FF2B5EF4-FFF2-40B4-BE49-F238E27FC236}">
                <a16:creationId xmlns:a16="http://schemas.microsoft.com/office/drawing/2014/main" id="{51889CE2-34E8-A4A2-379B-790FD82F42C8}"/>
              </a:ext>
            </a:extLst>
          </p:cNvPr>
          <p:cNvSpPr txBox="1"/>
          <p:nvPr/>
        </p:nvSpPr>
        <p:spPr>
          <a:xfrm>
            <a:off x="6179377" y="3352902"/>
            <a:ext cx="2094997" cy="369332"/>
          </a:xfrm>
          <a:prstGeom prst="rect">
            <a:avLst/>
          </a:prstGeom>
          <a:noFill/>
        </p:spPr>
        <p:txBody>
          <a:bodyPr wrap="none" rtlCol="0">
            <a:spAutoFit/>
          </a:bodyPr>
          <a:lstStyle/>
          <a:p>
            <a:r>
              <a:rPr lang="en-US" dirty="0"/>
              <a:t>Another Simulation</a:t>
            </a:r>
          </a:p>
        </p:txBody>
      </p:sp>
    </p:spTree>
    <p:extLst>
      <p:ext uri="{BB962C8B-B14F-4D97-AF65-F5344CB8AC3E}">
        <p14:creationId xmlns:p14="http://schemas.microsoft.com/office/powerpoint/2010/main" val="58184852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p:bldP spid="23" grpId="0" animBg="1"/>
      <p:bldP spid="24"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EE3B4-25CD-F0ED-7E39-1B55B11F1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AE2E3-32E5-BEC1-B898-83958DB32BE4}"/>
              </a:ext>
            </a:extLst>
          </p:cNvPr>
          <p:cNvSpPr>
            <a:spLocks noGrp="1"/>
          </p:cNvSpPr>
          <p:nvPr>
            <p:ph type="title"/>
          </p:nvPr>
        </p:nvSpPr>
        <p:spPr/>
        <p:txBody>
          <a:bodyPr/>
          <a:lstStyle/>
          <a:p>
            <a:r>
              <a:rPr lang="en-US" dirty="0"/>
              <a:t>Setup</a:t>
            </a:r>
          </a:p>
        </p:txBody>
      </p:sp>
      <p:sp>
        <p:nvSpPr>
          <p:cNvPr id="13" name="Content Placeholder 12">
            <a:extLst>
              <a:ext uri="{FF2B5EF4-FFF2-40B4-BE49-F238E27FC236}">
                <a16:creationId xmlns:a16="http://schemas.microsoft.com/office/drawing/2014/main" id="{D80854DA-8294-A314-056A-853402CF059C}"/>
              </a:ext>
            </a:extLst>
          </p:cNvPr>
          <p:cNvSpPr>
            <a:spLocks noGrp="1"/>
          </p:cNvSpPr>
          <p:nvPr>
            <p:ph idx="1"/>
          </p:nvPr>
        </p:nvSpPr>
        <p:spPr>
          <a:xfrm>
            <a:off x="838200" y="1304418"/>
            <a:ext cx="10515600" cy="4351338"/>
          </a:xfrm>
        </p:spPr>
        <p:txBody>
          <a:bodyPr/>
          <a:lstStyle/>
          <a:p>
            <a:r>
              <a:rPr lang="en-US" dirty="0"/>
              <a:t>Ground truth does not exist in the real world</a:t>
            </a:r>
          </a:p>
          <a:p>
            <a:pPr lvl="1"/>
            <a:r>
              <a:rPr lang="en-US" dirty="0"/>
              <a:t>No perfect clock synchronization</a:t>
            </a:r>
          </a:p>
          <a:p>
            <a:pPr lvl="1"/>
            <a:r>
              <a:rPr lang="en-US" dirty="0"/>
              <a:t>Cannot know in what order events were generated across clients</a:t>
            </a:r>
          </a:p>
          <a:p>
            <a:r>
              <a:rPr lang="en-US" dirty="0"/>
              <a:t>We resort to simulations as we can construct a ground truth there</a:t>
            </a:r>
          </a:p>
          <a:p>
            <a:pPr lvl="1"/>
            <a:r>
              <a:rPr lang="en-US" dirty="0"/>
              <a:t>Clients are fed with a schedule to generate events at specific “simulator” timestamps</a:t>
            </a:r>
          </a:p>
          <a:p>
            <a:r>
              <a:rPr lang="en-US" dirty="0">
                <a:solidFill>
                  <a:prstClr val="black"/>
                </a:solidFill>
              </a:rPr>
              <a:t>Baseline solution for ordering events:</a:t>
            </a:r>
            <a:endParaRPr lang="en-US" dirty="0"/>
          </a:p>
          <a:p>
            <a:pPr lvl="1"/>
            <a:endParaRPr lang="en-US" dirty="0"/>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69ED099F-14E2-0BBD-5216-B39DBF6F497A}"/>
                  </a:ext>
                </a:extLst>
              </p:cNvPr>
              <p:cNvSpPr txBox="1"/>
              <p:nvPr/>
            </p:nvSpPr>
            <p:spPr>
              <a:xfrm>
                <a:off x="1253016" y="4395148"/>
                <a:ext cx="11717473"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Create an uncertainty interval (</a:t>
                </a:r>
                <a14:m>
                  <m:oMath xmlns:m="http://schemas.openxmlformats.org/officeDocument/2006/math">
                    <m:r>
                      <a:rPr lang="en-US" sz="2800" b="0" i="1" smtClean="0">
                        <a:latin typeface="Cambria Math" panose="02040503050406030204" pitchFamily="18" charset="0"/>
                      </a:rPr>
                      <m:t>±3</m:t>
                    </m:r>
                    <m:r>
                      <a:rPr lang="en-US" sz="2800" b="0" i="1" smtClean="0">
                        <a:latin typeface="Cambria Math" panose="02040503050406030204" pitchFamily="18" charset="0"/>
                      </a:rPr>
                      <m:t>𝜎</m:t>
                    </m:r>
                  </m:oMath>
                </a14:m>
                <a:r>
                  <a:rPr lang="en-US" sz="2800" dirty="0"/>
                  <a:t>) around each observed </a:t>
                </a:r>
                <a:r>
                  <a:rPr lang="en-US" sz="2800" dirty="0" err="1"/>
                  <a:t>ts</a:t>
                </a:r>
                <a:endParaRPr lang="en-US" sz="2800" dirty="0"/>
              </a:p>
              <a:p>
                <a:pPr marL="285750" indent="-285750">
                  <a:buFont typeface="Arial" panose="020B0604020202020204" pitchFamily="34" charset="0"/>
                  <a:buChar char="•"/>
                </a:pPr>
                <a:r>
                  <a:rPr lang="en-US" sz="2800" dirty="0"/>
                  <a:t>Order events based on the intervals</a:t>
                </a:r>
              </a:p>
            </p:txBody>
          </p:sp>
        </mc:Choice>
        <mc:Fallback>
          <p:sp>
            <p:nvSpPr>
              <p:cNvPr id="18" name="TextBox 17">
                <a:extLst>
                  <a:ext uri="{FF2B5EF4-FFF2-40B4-BE49-F238E27FC236}">
                    <a16:creationId xmlns:a16="http://schemas.microsoft.com/office/drawing/2014/main" id="{69ED099F-14E2-0BBD-5216-B39DBF6F497A}"/>
                  </a:ext>
                </a:extLst>
              </p:cNvPr>
              <p:cNvSpPr txBox="1">
                <a:spLocks noRot="1" noChangeAspect="1" noMove="1" noResize="1" noEditPoints="1" noAdjustHandles="1" noChangeArrowheads="1" noChangeShapeType="1" noTextEdit="1"/>
              </p:cNvSpPr>
              <p:nvPr/>
            </p:nvSpPr>
            <p:spPr>
              <a:xfrm>
                <a:off x="1253016" y="4395148"/>
                <a:ext cx="11717473" cy="954107"/>
              </a:xfrm>
              <a:prstGeom prst="rect">
                <a:avLst/>
              </a:prstGeom>
              <a:blipFill>
                <a:blip r:embed="rId2"/>
                <a:stretch>
                  <a:fillRect l="-866" t="-7895" b="-15789"/>
                </a:stretch>
              </a:blipFill>
            </p:spPr>
            <p:txBody>
              <a:bodyPr/>
              <a:lstStyle/>
              <a:p>
                <a:r>
                  <a:rPr lang="en-US">
                    <a:noFill/>
                  </a:rPr>
                  <a:t> </a:t>
                </a:r>
              </a:p>
            </p:txBody>
          </p:sp>
        </mc:Fallback>
      </mc:AlternateContent>
    </p:spTree>
    <p:extLst>
      <p:ext uri="{BB962C8B-B14F-4D97-AF65-F5344CB8AC3E}">
        <p14:creationId xmlns:p14="http://schemas.microsoft.com/office/powerpoint/2010/main" val="252159748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18"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F4D9-448E-A747-5399-777BF04E9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FB57D-EF3B-6DA3-DB33-DBD9176FF8C3}"/>
              </a:ext>
            </a:extLst>
          </p:cNvPr>
          <p:cNvSpPr>
            <a:spLocks noGrp="1"/>
          </p:cNvSpPr>
          <p:nvPr>
            <p:ph type="title"/>
          </p:nvPr>
        </p:nvSpPr>
        <p:spPr/>
        <p:txBody>
          <a:bodyPr/>
          <a:lstStyle/>
          <a:p>
            <a:r>
              <a:rPr lang="en-US" dirty="0"/>
              <a:t>Fairness</a:t>
            </a:r>
          </a:p>
        </p:txBody>
      </p:sp>
      <p:pic>
        <p:nvPicPr>
          <p:cNvPr id="4" name="Picture 3">
            <a:extLst>
              <a:ext uri="{FF2B5EF4-FFF2-40B4-BE49-F238E27FC236}">
                <a16:creationId xmlns:a16="http://schemas.microsoft.com/office/drawing/2014/main" id="{FEB57B77-C03D-C46F-4DC8-0EBDB00743DC}"/>
              </a:ext>
            </a:extLst>
          </p:cNvPr>
          <p:cNvPicPr>
            <a:picLocks noChangeAspect="1"/>
          </p:cNvPicPr>
          <p:nvPr/>
        </p:nvPicPr>
        <p:blipFill>
          <a:blip r:embed="rId2"/>
          <a:stretch>
            <a:fillRect/>
          </a:stretch>
        </p:blipFill>
        <p:spPr>
          <a:xfrm>
            <a:off x="1467439" y="1557780"/>
            <a:ext cx="7315200" cy="4572000"/>
          </a:xfrm>
          <a:prstGeom prst="rect">
            <a:avLst/>
          </a:prstGeom>
        </p:spPr>
      </p:pic>
      <p:sp>
        <p:nvSpPr>
          <p:cNvPr id="5" name="Rectangle 4">
            <a:extLst>
              <a:ext uri="{FF2B5EF4-FFF2-40B4-BE49-F238E27FC236}">
                <a16:creationId xmlns:a16="http://schemas.microsoft.com/office/drawing/2014/main" id="{3A7F3333-0303-A63F-B0FB-AEA6E16C2F70}"/>
              </a:ext>
            </a:extLst>
          </p:cNvPr>
          <p:cNvSpPr/>
          <p:nvPr/>
        </p:nvSpPr>
        <p:spPr>
          <a:xfrm>
            <a:off x="2950590" y="1913640"/>
            <a:ext cx="5928300" cy="3091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E32CC0B1-98A8-2F37-D643-67F1F0A4211E}"/>
              </a:ext>
            </a:extLst>
          </p:cNvPr>
          <p:cNvSpPr/>
          <p:nvPr/>
        </p:nvSpPr>
        <p:spPr>
          <a:xfrm>
            <a:off x="2243132" y="2883343"/>
            <a:ext cx="1414915" cy="567889"/>
          </a:xfrm>
          <a:custGeom>
            <a:avLst/>
            <a:gdLst>
              <a:gd name="csX0" fmla="*/ 0 w 1414915"/>
              <a:gd name="csY0" fmla="*/ 141972 h 567889"/>
              <a:gd name="csX1" fmla="*/ 576795 w 1414915"/>
              <a:gd name="csY1" fmla="*/ 141972 h 567889"/>
              <a:gd name="csX2" fmla="*/ 1130971 w 1414915"/>
              <a:gd name="csY2" fmla="*/ 141972 h 567889"/>
              <a:gd name="csX3" fmla="*/ 1130971 w 1414915"/>
              <a:gd name="csY3" fmla="*/ 0 h 567889"/>
              <a:gd name="csX4" fmla="*/ 1414915 w 1414915"/>
              <a:gd name="csY4" fmla="*/ 283945 h 567889"/>
              <a:gd name="csX5" fmla="*/ 1130971 w 1414915"/>
              <a:gd name="csY5" fmla="*/ 567889 h 567889"/>
              <a:gd name="csX6" fmla="*/ 1130971 w 1414915"/>
              <a:gd name="csY6" fmla="*/ 425917 h 567889"/>
              <a:gd name="csX7" fmla="*/ 565486 w 1414915"/>
              <a:gd name="csY7" fmla="*/ 425917 h 567889"/>
              <a:gd name="csX8" fmla="*/ 0 w 1414915"/>
              <a:gd name="csY8" fmla="*/ 425917 h 567889"/>
              <a:gd name="csX9" fmla="*/ 0 w 1414915"/>
              <a:gd name="csY9" fmla="*/ 141972 h 56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14915" h="567889" fill="none" extrusionOk="0">
                <a:moveTo>
                  <a:pt x="0" y="141972"/>
                </a:moveTo>
                <a:cubicBezTo>
                  <a:pt x="275817" y="80751"/>
                  <a:pt x="365042" y="184444"/>
                  <a:pt x="576795" y="141972"/>
                </a:cubicBezTo>
                <a:cubicBezTo>
                  <a:pt x="788548" y="99500"/>
                  <a:pt x="911003" y="175769"/>
                  <a:pt x="1130971" y="141972"/>
                </a:cubicBezTo>
                <a:cubicBezTo>
                  <a:pt x="1124252" y="106743"/>
                  <a:pt x="1132844" y="30730"/>
                  <a:pt x="1130971" y="0"/>
                </a:cubicBezTo>
                <a:cubicBezTo>
                  <a:pt x="1266927" y="72973"/>
                  <a:pt x="1279056" y="186504"/>
                  <a:pt x="1414915" y="283945"/>
                </a:cubicBezTo>
                <a:cubicBezTo>
                  <a:pt x="1339925" y="385079"/>
                  <a:pt x="1200231" y="446234"/>
                  <a:pt x="1130971" y="567889"/>
                </a:cubicBezTo>
                <a:cubicBezTo>
                  <a:pt x="1129559" y="501250"/>
                  <a:pt x="1147515" y="488702"/>
                  <a:pt x="1130971" y="425917"/>
                </a:cubicBezTo>
                <a:cubicBezTo>
                  <a:pt x="908344" y="461252"/>
                  <a:pt x="759670" y="415285"/>
                  <a:pt x="565486" y="425917"/>
                </a:cubicBezTo>
                <a:cubicBezTo>
                  <a:pt x="371302" y="436549"/>
                  <a:pt x="277010" y="401746"/>
                  <a:pt x="0" y="425917"/>
                </a:cubicBezTo>
                <a:cubicBezTo>
                  <a:pt x="-22450" y="324267"/>
                  <a:pt x="6115" y="271210"/>
                  <a:pt x="0" y="141972"/>
                </a:cubicBezTo>
                <a:close/>
              </a:path>
              <a:path w="1414915" h="567889" stroke="0" extrusionOk="0">
                <a:moveTo>
                  <a:pt x="0" y="141972"/>
                </a:moveTo>
                <a:cubicBezTo>
                  <a:pt x="124711" y="92751"/>
                  <a:pt x="308611" y="187565"/>
                  <a:pt x="554176" y="141972"/>
                </a:cubicBezTo>
                <a:cubicBezTo>
                  <a:pt x="799741" y="96379"/>
                  <a:pt x="994485" y="198452"/>
                  <a:pt x="1130971" y="141972"/>
                </a:cubicBezTo>
                <a:cubicBezTo>
                  <a:pt x="1114956" y="91036"/>
                  <a:pt x="1136319" y="28407"/>
                  <a:pt x="1130971" y="0"/>
                </a:cubicBezTo>
                <a:cubicBezTo>
                  <a:pt x="1246082" y="55876"/>
                  <a:pt x="1274508" y="185078"/>
                  <a:pt x="1414915" y="283945"/>
                </a:cubicBezTo>
                <a:cubicBezTo>
                  <a:pt x="1340724" y="403334"/>
                  <a:pt x="1234255" y="423124"/>
                  <a:pt x="1130971" y="567889"/>
                </a:cubicBezTo>
                <a:cubicBezTo>
                  <a:pt x="1115997" y="531085"/>
                  <a:pt x="1141248" y="469288"/>
                  <a:pt x="1130971" y="425917"/>
                </a:cubicBezTo>
                <a:cubicBezTo>
                  <a:pt x="862224" y="430515"/>
                  <a:pt x="856738" y="379084"/>
                  <a:pt x="588105" y="425917"/>
                </a:cubicBezTo>
                <a:cubicBezTo>
                  <a:pt x="319472" y="472750"/>
                  <a:pt x="223429" y="417197"/>
                  <a:pt x="0" y="425917"/>
                </a:cubicBezTo>
                <a:cubicBezTo>
                  <a:pt x="-32811" y="354011"/>
                  <a:pt x="22250" y="232663"/>
                  <a:pt x="0" y="141972"/>
                </a:cubicBezTo>
                <a:close/>
              </a:path>
            </a:pathLst>
          </a:custGeom>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F1ED17-53E8-B032-4E9C-D08B1B594968}"/>
              </a:ext>
            </a:extLst>
          </p:cNvPr>
          <p:cNvSpPr txBox="1"/>
          <p:nvPr/>
        </p:nvSpPr>
        <p:spPr>
          <a:xfrm>
            <a:off x="3754298" y="2476675"/>
            <a:ext cx="813288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For each correctly ordered pair of events </a:t>
            </a:r>
            <a:r>
              <a:rPr lang="en-US" sz="2400" dirty="0">
                <a:sym typeface="Wingdings" pitchFamily="2" charset="2"/>
              </a:rPr>
              <a:t> +1 score</a:t>
            </a:r>
          </a:p>
          <a:p>
            <a:pPr marL="285750" indent="-285750">
              <a:buFont typeface="Arial" panose="020B0604020202020204" pitchFamily="34" charset="0"/>
              <a:buChar char="•"/>
            </a:pPr>
            <a:r>
              <a:rPr lang="en-US" sz="2400" dirty="0">
                <a:sym typeface="Wingdings" pitchFamily="2" charset="2"/>
              </a:rPr>
              <a:t>For each incorrect  -1 score</a:t>
            </a:r>
          </a:p>
          <a:p>
            <a:pPr marL="285750" indent="-285750">
              <a:buFont typeface="Arial" panose="020B0604020202020204" pitchFamily="34" charset="0"/>
              <a:buChar char="•"/>
            </a:pPr>
            <a:r>
              <a:rPr lang="en-US" sz="2400" dirty="0">
                <a:sym typeface="Wingdings" pitchFamily="2" charset="2"/>
              </a:rPr>
              <a:t>For a pair left unordered  +0 score</a:t>
            </a:r>
          </a:p>
          <a:p>
            <a:pPr marL="285750" indent="-285750">
              <a:buFont typeface="Arial" panose="020B0604020202020204" pitchFamily="34" charset="0"/>
              <a:buChar char="•"/>
            </a:pPr>
            <a:r>
              <a:rPr lang="en-US" sz="2400" dirty="0">
                <a:sym typeface="Wingdings" pitchFamily="2" charset="2"/>
              </a:rPr>
              <a:t>Normalize by total number of pairs</a:t>
            </a:r>
            <a:endParaRPr lang="en-US" sz="2400" dirty="0"/>
          </a:p>
        </p:txBody>
      </p:sp>
    </p:spTree>
    <p:extLst>
      <p:ext uri="{BB962C8B-B14F-4D97-AF65-F5344CB8AC3E}">
        <p14:creationId xmlns:p14="http://schemas.microsoft.com/office/powerpoint/2010/main" val="6107868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1ECE-818C-751E-B19A-D1AE75BAB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918C1-A0C7-2FBA-DD57-29813819769A}"/>
              </a:ext>
            </a:extLst>
          </p:cNvPr>
          <p:cNvSpPr>
            <a:spLocks noGrp="1"/>
          </p:cNvSpPr>
          <p:nvPr>
            <p:ph type="title"/>
          </p:nvPr>
        </p:nvSpPr>
        <p:spPr/>
        <p:txBody>
          <a:bodyPr/>
          <a:lstStyle/>
          <a:p>
            <a:r>
              <a:rPr lang="en-US" dirty="0"/>
              <a:t>Fairness</a:t>
            </a:r>
          </a:p>
        </p:txBody>
      </p:sp>
      <p:pic>
        <p:nvPicPr>
          <p:cNvPr id="4" name="Picture 3">
            <a:extLst>
              <a:ext uri="{FF2B5EF4-FFF2-40B4-BE49-F238E27FC236}">
                <a16:creationId xmlns:a16="http://schemas.microsoft.com/office/drawing/2014/main" id="{1B72DBB2-46EA-4686-0B10-CA711031953B}"/>
              </a:ext>
            </a:extLst>
          </p:cNvPr>
          <p:cNvPicPr>
            <a:picLocks noChangeAspect="1"/>
          </p:cNvPicPr>
          <p:nvPr/>
        </p:nvPicPr>
        <p:blipFill>
          <a:blip r:embed="rId2"/>
          <a:stretch>
            <a:fillRect/>
          </a:stretch>
        </p:blipFill>
        <p:spPr>
          <a:xfrm>
            <a:off x="1467439" y="1557780"/>
            <a:ext cx="7315200" cy="4572000"/>
          </a:xfrm>
          <a:prstGeom prst="rect">
            <a:avLst/>
          </a:prstGeom>
        </p:spPr>
      </p:pic>
      <p:sp>
        <p:nvSpPr>
          <p:cNvPr id="5" name="Rectangle 4">
            <a:extLst>
              <a:ext uri="{FF2B5EF4-FFF2-40B4-BE49-F238E27FC236}">
                <a16:creationId xmlns:a16="http://schemas.microsoft.com/office/drawing/2014/main" id="{6BD29A2F-3693-6AC6-1408-ABC88EE140E6}"/>
              </a:ext>
            </a:extLst>
          </p:cNvPr>
          <p:cNvSpPr/>
          <p:nvPr/>
        </p:nvSpPr>
        <p:spPr>
          <a:xfrm>
            <a:off x="2993385" y="1949458"/>
            <a:ext cx="1107275" cy="3091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443B865-10F3-1090-5B05-A68398F8C7A0}"/>
              </a:ext>
            </a:extLst>
          </p:cNvPr>
          <p:cNvSpPr/>
          <p:nvPr/>
        </p:nvSpPr>
        <p:spPr>
          <a:xfrm>
            <a:off x="4278965" y="1949458"/>
            <a:ext cx="1107275" cy="3091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7626E22-1062-BB4A-FB27-497C5B923929}"/>
              </a:ext>
            </a:extLst>
          </p:cNvPr>
          <p:cNvSpPr/>
          <p:nvPr/>
        </p:nvSpPr>
        <p:spPr>
          <a:xfrm>
            <a:off x="3884031" y="2144206"/>
            <a:ext cx="1107275" cy="22041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BEF7892-EB21-3A3F-FAC2-A34A0D118E20}"/>
              </a:ext>
            </a:extLst>
          </p:cNvPr>
          <p:cNvSpPr/>
          <p:nvPr/>
        </p:nvSpPr>
        <p:spPr>
          <a:xfrm>
            <a:off x="3810374" y="4477732"/>
            <a:ext cx="1107275" cy="537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CAF6AF-4A40-CA3C-7683-1A7645D186A8}"/>
              </a:ext>
            </a:extLst>
          </p:cNvPr>
          <p:cNvSpPr/>
          <p:nvPr/>
        </p:nvSpPr>
        <p:spPr>
          <a:xfrm>
            <a:off x="5010907" y="1949459"/>
            <a:ext cx="3331815" cy="2038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9AC9855-C878-2751-C3EE-206996885457}"/>
              </a:ext>
            </a:extLst>
          </p:cNvPr>
          <p:cNvSpPr/>
          <p:nvPr/>
        </p:nvSpPr>
        <p:spPr>
          <a:xfrm>
            <a:off x="4034673" y="4273282"/>
            <a:ext cx="253720" cy="2639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6FF0C6-02BC-85E3-7FCA-7CBB73A8AB82}"/>
              </a:ext>
            </a:extLst>
          </p:cNvPr>
          <p:cNvSpPr/>
          <p:nvPr/>
        </p:nvSpPr>
        <p:spPr>
          <a:xfrm>
            <a:off x="4044407" y="1949458"/>
            <a:ext cx="253720" cy="19474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499E22F-28A0-E98E-918B-8E3C63438D68}"/>
              </a:ext>
            </a:extLst>
          </p:cNvPr>
          <p:cNvSpPr/>
          <p:nvPr/>
        </p:nvSpPr>
        <p:spPr>
          <a:xfrm>
            <a:off x="4729899" y="2968499"/>
            <a:ext cx="1152053" cy="2038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5959823"/>
      </p:ext>
    </p:extLst>
  </p:cSld>
  <p:clrMapOvr>
    <a:masterClrMapping/>
  </p:clrMapOvr>
  <p:transition spd="me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1378-C1EC-FD89-F218-65853AE6B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6BEA0-13E4-6CC8-AA7C-D122463A7654}"/>
              </a:ext>
            </a:extLst>
          </p:cNvPr>
          <p:cNvSpPr>
            <a:spLocks noGrp="1"/>
          </p:cNvSpPr>
          <p:nvPr>
            <p:ph type="title"/>
          </p:nvPr>
        </p:nvSpPr>
        <p:spPr/>
        <p:txBody>
          <a:bodyPr/>
          <a:lstStyle/>
          <a:p>
            <a:r>
              <a:rPr lang="en-US" dirty="0"/>
              <a:t>Fairness</a:t>
            </a:r>
          </a:p>
        </p:txBody>
      </p:sp>
      <p:pic>
        <p:nvPicPr>
          <p:cNvPr id="4" name="Picture 3">
            <a:extLst>
              <a:ext uri="{FF2B5EF4-FFF2-40B4-BE49-F238E27FC236}">
                <a16:creationId xmlns:a16="http://schemas.microsoft.com/office/drawing/2014/main" id="{5F193A02-F4FB-1570-3462-3E133899E3A8}"/>
              </a:ext>
            </a:extLst>
          </p:cNvPr>
          <p:cNvPicPr>
            <a:picLocks noChangeAspect="1"/>
          </p:cNvPicPr>
          <p:nvPr/>
        </p:nvPicPr>
        <p:blipFill>
          <a:blip r:embed="rId2"/>
          <a:stretch>
            <a:fillRect/>
          </a:stretch>
        </p:blipFill>
        <p:spPr>
          <a:xfrm>
            <a:off x="1467439" y="1557780"/>
            <a:ext cx="7315200" cy="4572000"/>
          </a:xfrm>
          <a:prstGeom prst="rect">
            <a:avLst/>
          </a:prstGeom>
        </p:spPr>
      </p:pic>
      <p:sp>
        <p:nvSpPr>
          <p:cNvPr id="6" name="TextBox 5">
            <a:extLst>
              <a:ext uri="{FF2B5EF4-FFF2-40B4-BE49-F238E27FC236}">
                <a16:creationId xmlns:a16="http://schemas.microsoft.com/office/drawing/2014/main" id="{5AEBE131-898D-D0C1-EBC4-A9AC5474776D}"/>
              </a:ext>
            </a:extLst>
          </p:cNvPr>
          <p:cNvSpPr txBox="1"/>
          <p:nvPr/>
        </p:nvSpPr>
        <p:spPr>
          <a:xfrm>
            <a:off x="5375635" y="883599"/>
            <a:ext cx="5978165" cy="2400657"/>
          </a:xfrm>
          <a:prstGeom prst="rect">
            <a:avLst/>
          </a:prstGeom>
          <a:solidFill>
            <a:schemeClr val="bg1"/>
          </a:solidFill>
          <a:ln w="19050">
            <a:solidFill>
              <a:srgbClr val="7030A0"/>
            </a:solidFill>
          </a:ln>
        </p:spPr>
        <p:txBody>
          <a:bodyPr wrap="square" rtlCol="0">
            <a:spAutoFit/>
          </a:bodyPr>
          <a:lstStyle/>
          <a:p>
            <a:pPr marL="285750" indent="-285750">
              <a:buFont typeface="Arial" panose="020B0604020202020204" pitchFamily="34" charset="0"/>
              <a:buChar char="•"/>
            </a:pPr>
            <a:r>
              <a:rPr lang="en-US" sz="3000" dirty="0"/>
              <a:t>We further evaluate fairness by sweeping several parameters</a:t>
            </a:r>
          </a:p>
          <a:p>
            <a:pPr marL="742950" lvl="1" indent="-285750">
              <a:buFont typeface="Arial" panose="020B0604020202020204" pitchFamily="34" charset="0"/>
              <a:buChar char="•"/>
            </a:pPr>
            <a:r>
              <a:rPr lang="en-US" sz="3000" dirty="0"/>
              <a:t>Number of messages, number of clients, clock errors, clock synchronization probes, etc.</a:t>
            </a:r>
          </a:p>
        </p:txBody>
      </p:sp>
    </p:spTree>
    <p:extLst>
      <p:ext uri="{BB962C8B-B14F-4D97-AF65-F5344CB8AC3E}">
        <p14:creationId xmlns:p14="http://schemas.microsoft.com/office/powerpoint/2010/main" val="39756490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C16B-7C32-CA58-FB7D-7B9FB5B8AA73}"/>
              </a:ext>
            </a:extLst>
          </p:cNvPr>
          <p:cNvSpPr>
            <a:spLocks noGrp="1"/>
          </p:cNvSpPr>
          <p:nvPr>
            <p:ph type="title"/>
          </p:nvPr>
        </p:nvSpPr>
        <p:spPr/>
        <p:txBody>
          <a:bodyPr/>
          <a:lstStyle/>
          <a:p>
            <a:r>
              <a:rPr lang="en-US" dirty="0"/>
              <a:t>Remarks</a:t>
            </a:r>
          </a:p>
        </p:txBody>
      </p:sp>
      <p:sp>
        <p:nvSpPr>
          <p:cNvPr id="3" name="Content Placeholder 2">
            <a:extLst>
              <a:ext uri="{FF2B5EF4-FFF2-40B4-BE49-F238E27FC236}">
                <a16:creationId xmlns:a16="http://schemas.microsoft.com/office/drawing/2014/main" id="{F2C09C77-ABE5-CA2D-DF83-E06EAE53465E}"/>
              </a:ext>
            </a:extLst>
          </p:cNvPr>
          <p:cNvSpPr>
            <a:spLocks noGrp="1"/>
          </p:cNvSpPr>
          <p:nvPr>
            <p:ph idx="1"/>
          </p:nvPr>
        </p:nvSpPr>
        <p:spPr>
          <a:xfrm>
            <a:off x="838199" y="1825624"/>
            <a:ext cx="10860465" cy="4518615"/>
          </a:xfrm>
        </p:spPr>
        <p:txBody>
          <a:bodyPr>
            <a:normAutofit/>
          </a:bodyPr>
          <a:lstStyle/>
          <a:p>
            <a:r>
              <a:rPr lang="en-US" dirty="0"/>
              <a:t>Probabilistic fair ordering can be achieved by modeling time as a random variable</a:t>
            </a:r>
          </a:p>
          <a:p>
            <a:r>
              <a:rPr lang="en-US" dirty="0"/>
              <a:t>Tools from social choice theory helpful in dealing with intransitivity induced by the probabilistic comparisons</a:t>
            </a:r>
          </a:p>
          <a:p>
            <a:r>
              <a:rPr lang="en-US" dirty="0"/>
              <a:t>Useful when the clock synchronization accuracy is not sufficient for an application</a:t>
            </a:r>
          </a:p>
          <a:p>
            <a:r>
              <a:rPr lang="en-US" dirty="0"/>
              <a:t>It has many more use cases other than achieving latency fairness in competitive systems</a:t>
            </a:r>
          </a:p>
          <a:p>
            <a:pPr lvl="1"/>
            <a:r>
              <a:rPr lang="en-US" dirty="0"/>
              <a:t>Scaling timestamped packet capture systems</a:t>
            </a:r>
          </a:p>
          <a:p>
            <a:pPr lvl="1"/>
            <a:r>
              <a:rPr lang="en-US" dirty="0"/>
              <a:t>Devising hypothesis from imperfect observability data for debugging</a:t>
            </a:r>
          </a:p>
        </p:txBody>
      </p:sp>
      <p:sp>
        <p:nvSpPr>
          <p:cNvPr id="4" name="Rectangle 3">
            <a:extLst>
              <a:ext uri="{FF2B5EF4-FFF2-40B4-BE49-F238E27FC236}">
                <a16:creationId xmlns:a16="http://schemas.microsoft.com/office/drawing/2014/main" id="{E449F8C2-5969-0E7F-D5AB-3EA6E6336DE2}"/>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0177BC3-11DE-CAD6-B985-E09386ABEB0B}"/>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6136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A1F2-0A12-3296-CD23-832F3117A1EE}"/>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0A8A5E5E-FFFA-F84F-8C5F-4DDA5A4A2B3C}"/>
              </a:ext>
            </a:extLst>
          </p:cNvPr>
          <p:cNvSpPr/>
          <p:nvPr/>
        </p:nvSpPr>
        <p:spPr>
          <a:xfrm rot="16200000">
            <a:off x="8170505" y="1124325"/>
            <a:ext cx="45719" cy="47481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5F457370-FF61-49C8-CE0E-5123DF80084F}"/>
              </a:ext>
            </a:extLst>
          </p:cNvPr>
          <p:cNvPicPr>
            <a:picLocks noChangeAspect="1"/>
          </p:cNvPicPr>
          <p:nvPr/>
        </p:nvPicPr>
        <p:blipFill>
          <a:blip r:embed="rId3"/>
          <a:stretch>
            <a:fillRect/>
          </a:stretch>
        </p:blipFill>
        <p:spPr>
          <a:xfrm>
            <a:off x="1041006" y="1283720"/>
            <a:ext cx="9948215" cy="2145280"/>
          </a:xfrm>
          <a:prstGeom prst="rect">
            <a:avLst/>
          </a:prstGeom>
        </p:spPr>
      </p:pic>
      <p:sp>
        <p:nvSpPr>
          <p:cNvPr id="18" name="Rectangle 17">
            <a:extLst>
              <a:ext uri="{FF2B5EF4-FFF2-40B4-BE49-F238E27FC236}">
                <a16:creationId xmlns:a16="http://schemas.microsoft.com/office/drawing/2014/main" id="{0CC5B157-F84E-274A-A9EA-50206283AABA}"/>
              </a:ext>
            </a:extLst>
          </p:cNvPr>
          <p:cNvSpPr/>
          <p:nvPr/>
        </p:nvSpPr>
        <p:spPr>
          <a:xfrm rot="16200000">
            <a:off x="3421012" y="1214037"/>
            <a:ext cx="45719" cy="456874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C0109FB-FF27-A8A3-8FF9-40681B10C528}"/>
              </a:ext>
            </a:extLst>
          </p:cNvPr>
          <p:cNvSpPr txBox="1"/>
          <p:nvPr/>
        </p:nvSpPr>
        <p:spPr>
          <a:xfrm>
            <a:off x="-210844" y="694172"/>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65167AF0-D7E5-D0D9-AA9A-63F3A5EA3D45}"/>
              </a:ext>
            </a:extLst>
          </p:cNvPr>
          <p:cNvSpPr txBox="1"/>
          <p:nvPr/>
        </p:nvSpPr>
        <p:spPr>
          <a:xfrm>
            <a:off x="7433045" y="5569553"/>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pic>
        <p:nvPicPr>
          <p:cNvPr id="25" name="Picture 24">
            <a:extLst>
              <a:ext uri="{FF2B5EF4-FFF2-40B4-BE49-F238E27FC236}">
                <a16:creationId xmlns:a16="http://schemas.microsoft.com/office/drawing/2014/main" id="{00413A26-814D-B5AC-4728-512ABCB5605E}"/>
              </a:ext>
            </a:extLst>
          </p:cNvPr>
          <p:cNvPicPr>
            <a:picLocks noChangeAspect="1"/>
          </p:cNvPicPr>
          <p:nvPr/>
        </p:nvPicPr>
        <p:blipFill>
          <a:blip r:embed="rId4"/>
          <a:stretch>
            <a:fillRect/>
          </a:stretch>
        </p:blipFill>
        <p:spPr>
          <a:xfrm>
            <a:off x="681675" y="3850326"/>
            <a:ext cx="10417835" cy="1719227"/>
          </a:xfrm>
          <a:prstGeom prst="rect">
            <a:avLst/>
          </a:prstGeom>
        </p:spPr>
      </p:pic>
    </p:spTree>
    <p:extLst>
      <p:ext uri="{BB962C8B-B14F-4D97-AF65-F5344CB8AC3E}">
        <p14:creationId xmlns:p14="http://schemas.microsoft.com/office/powerpoint/2010/main" val="3467006167"/>
      </p:ext>
    </p:extLst>
  </p:cSld>
  <p:clrMapOvr>
    <a:masterClrMapping/>
  </p:clrMapOvr>
  <mc:AlternateContent xmlns:mc="http://schemas.openxmlformats.org/markup-compatibility/2006" xmlns:p159="http://schemas.microsoft.com/office/powerpoint/2015/09/main">
    <mc:Choice Requires="p159">
      <p:transition>
        <p159:morph option="byWord"/>
      </p:transition>
    </mc:Choice>
    <mc:Fallback xmlns="">
      <p:transition>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F0CF-2BC9-73ED-4881-8F26D75E7D4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0D79BFC-9E9E-97C5-0304-DCB27B4F7963}"/>
              </a:ext>
            </a:extLst>
          </p:cNvPr>
          <p:cNvSpPr/>
          <p:nvPr/>
        </p:nvSpPr>
        <p:spPr>
          <a:xfrm rot="10800000">
            <a:off x="5839190" y="3279532"/>
            <a:ext cx="92910" cy="2417074"/>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5932BF11-CAE0-C36E-47A8-A25EE8E5C7A8}"/>
              </a:ext>
            </a:extLst>
          </p:cNvPr>
          <p:cNvSpPr/>
          <p:nvPr/>
        </p:nvSpPr>
        <p:spPr>
          <a:xfrm>
            <a:off x="5839191" y="1258618"/>
            <a:ext cx="92911" cy="1928644"/>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DDAA3DFB-7E14-ADAA-646E-10E4E62F4810}"/>
              </a:ext>
            </a:extLst>
          </p:cNvPr>
          <p:cNvSpPr txBox="1"/>
          <p:nvPr/>
        </p:nvSpPr>
        <p:spPr>
          <a:xfrm>
            <a:off x="640346" y="775281"/>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5D848454-6E7B-3AC9-09B6-9BE1BB1EEADA}"/>
              </a:ext>
            </a:extLst>
          </p:cNvPr>
          <p:cNvSpPr txBox="1"/>
          <p:nvPr/>
        </p:nvSpPr>
        <p:spPr>
          <a:xfrm>
            <a:off x="6497624" y="5034455"/>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sp>
        <p:nvSpPr>
          <p:cNvPr id="2" name="Rectangle 1">
            <a:extLst>
              <a:ext uri="{FF2B5EF4-FFF2-40B4-BE49-F238E27FC236}">
                <a16:creationId xmlns:a16="http://schemas.microsoft.com/office/drawing/2014/main" id="{D09E5F00-40DE-5DA0-BA1F-7A6300E71AA8}"/>
              </a:ext>
            </a:extLst>
          </p:cNvPr>
          <p:cNvSpPr/>
          <p:nvPr/>
        </p:nvSpPr>
        <p:spPr>
          <a:xfrm>
            <a:off x="221532" y="1698611"/>
            <a:ext cx="4985480" cy="4348516"/>
          </a:xfrm>
          <a:custGeom>
            <a:avLst/>
            <a:gdLst>
              <a:gd name="csX0" fmla="*/ 0 w 4985480"/>
              <a:gd name="csY0" fmla="*/ 0 h 4348516"/>
              <a:gd name="csX1" fmla="*/ 504087 w 4985480"/>
              <a:gd name="csY1" fmla="*/ 0 h 4348516"/>
              <a:gd name="csX2" fmla="*/ 1107884 w 4985480"/>
              <a:gd name="csY2" fmla="*/ 0 h 4348516"/>
              <a:gd name="csX3" fmla="*/ 1562117 w 4985480"/>
              <a:gd name="csY3" fmla="*/ 0 h 4348516"/>
              <a:gd name="csX4" fmla="*/ 2116059 w 4985480"/>
              <a:gd name="csY4" fmla="*/ 0 h 4348516"/>
              <a:gd name="csX5" fmla="*/ 2719856 w 4985480"/>
              <a:gd name="csY5" fmla="*/ 0 h 4348516"/>
              <a:gd name="csX6" fmla="*/ 3124234 w 4985480"/>
              <a:gd name="csY6" fmla="*/ 0 h 4348516"/>
              <a:gd name="csX7" fmla="*/ 3528612 w 4985480"/>
              <a:gd name="csY7" fmla="*/ 0 h 4348516"/>
              <a:gd name="csX8" fmla="*/ 4182264 w 4985480"/>
              <a:gd name="csY8" fmla="*/ 0 h 4348516"/>
              <a:gd name="csX9" fmla="*/ 4985480 w 4985480"/>
              <a:gd name="csY9" fmla="*/ 0 h 4348516"/>
              <a:gd name="csX10" fmla="*/ 4985480 w 4985480"/>
              <a:gd name="csY10" fmla="*/ 413109 h 4348516"/>
              <a:gd name="csX11" fmla="*/ 4985480 w 4985480"/>
              <a:gd name="csY11" fmla="*/ 913188 h 4348516"/>
              <a:gd name="csX12" fmla="*/ 4985480 w 4985480"/>
              <a:gd name="csY12" fmla="*/ 1500238 h 4348516"/>
              <a:gd name="csX13" fmla="*/ 4985480 w 4985480"/>
              <a:gd name="csY13" fmla="*/ 1956832 h 4348516"/>
              <a:gd name="csX14" fmla="*/ 4985480 w 4985480"/>
              <a:gd name="csY14" fmla="*/ 2500397 h 4348516"/>
              <a:gd name="csX15" fmla="*/ 4985480 w 4985480"/>
              <a:gd name="csY15" fmla="*/ 2913506 h 4348516"/>
              <a:gd name="csX16" fmla="*/ 4985480 w 4985480"/>
              <a:gd name="csY16" fmla="*/ 3544041 h 4348516"/>
              <a:gd name="csX17" fmla="*/ 4985480 w 4985480"/>
              <a:gd name="csY17" fmla="*/ 4348516 h 4348516"/>
              <a:gd name="csX18" fmla="*/ 4331828 w 4985480"/>
              <a:gd name="csY18" fmla="*/ 4348516 h 4348516"/>
              <a:gd name="csX19" fmla="*/ 3728031 w 4985480"/>
              <a:gd name="csY19" fmla="*/ 4348516 h 4348516"/>
              <a:gd name="csX20" fmla="*/ 3273799 w 4985480"/>
              <a:gd name="csY20" fmla="*/ 4348516 h 4348516"/>
              <a:gd name="csX21" fmla="*/ 2620147 w 4985480"/>
              <a:gd name="csY21" fmla="*/ 4348516 h 4348516"/>
              <a:gd name="csX22" fmla="*/ 2066204 w 4985480"/>
              <a:gd name="csY22" fmla="*/ 4348516 h 4348516"/>
              <a:gd name="csX23" fmla="*/ 1661827 w 4985480"/>
              <a:gd name="csY23" fmla="*/ 4348516 h 4348516"/>
              <a:gd name="csX24" fmla="*/ 1107884 w 4985480"/>
              <a:gd name="csY24" fmla="*/ 4348516 h 4348516"/>
              <a:gd name="csX25" fmla="*/ 603797 w 4985480"/>
              <a:gd name="csY25" fmla="*/ 4348516 h 4348516"/>
              <a:gd name="csX26" fmla="*/ 0 w 4985480"/>
              <a:gd name="csY26" fmla="*/ 4348516 h 4348516"/>
              <a:gd name="csX27" fmla="*/ 0 w 4985480"/>
              <a:gd name="csY27" fmla="*/ 3848437 h 4348516"/>
              <a:gd name="csX28" fmla="*/ 0 w 4985480"/>
              <a:gd name="csY28" fmla="*/ 3217902 h 4348516"/>
              <a:gd name="csX29" fmla="*/ 0 w 4985480"/>
              <a:gd name="csY29" fmla="*/ 2630852 h 4348516"/>
              <a:gd name="csX30" fmla="*/ 0 w 4985480"/>
              <a:gd name="csY30" fmla="*/ 2130773 h 4348516"/>
              <a:gd name="csX31" fmla="*/ 0 w 4985480"/>
              <a:gd name="csY31" fmla="*/ 1717664 h 4348516"/>
              <a:gd name="csX32" fmla="*/ 0 w 4985480"/>
              <a:gd name="csY32" fmla="*/ 1217584 h 4348516"/>
              <a:gd name="csX33" fmla="*/ 0 w 4985480"/>
              <a:gd name="csY33" fmla="*/ 630535 h 4348516"/>
              <a:gd name="csX34" fmla="*/ 0 w 4985480"/>
              <a:gd name="csY34" fmla="*/ 0 h 43485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985480" h="4348516" fill="none" extrusionOk="0">
                <a:moveTo>
                  <a:pt x="0" y="0"/>
                </a:moveTo>
                <a:cubicBezTo>
                  <a:pt x="187089" y="-9851"/>
                  <a:pt x="270751" y="50644"/>
                  <a:pt x="504087" y="0"/>
                </a:cubicBezTo>
                <a:cubicBezTo>
                  <a:pt x="737423" y="-50644"/>
                  <a:pt x="852797" y="55888"/>
                  <a:pt x="1107884" y="0"/>
                </a:cubicBezTo>
                <a:cubicBezTo>
                  <a:pt x="1362971" y="-55888"/>
                  <a:pt x="1431419" y="21487"/>
                  <a:pt x="1562117" y="0"/>
                </a:cubicBezTo>
                <a:cubicBezTo>
                  <a:pt x="1692815" y="-21487"/>
                  <a:pt x="1869217" y="36693"/>
                  <a:pt x="2116059" y="0"/>
                </a:cubicBezTo>
                <a:cubicBezTo>
                  <a:pt x="2362901" y="-36693"/>
                  <a:pt x="2585664" y="8514"/>
                  <a:pt x="2719856" y="0"/>
                </a:cubicBezTo>
                <a:cubicBezTo>
                  <a:pt x="2854048" y="-8514"/>
                  <a:pt x="2971355" y="8718"/>
                  <a:pt x="3124234" y="0"/>
                </a:cubicBezTo>
                <a:cubicBezTo>
                  <a:pt x="3277113" y="-8718"/>
                  <a:pt x="3434347" y="22023"/>
                  <a:pt x="3528612" y="0"/>
                </a:cubicBezTo>
                <a:cubicBezTo>
                  <a:pt x="3622877" y="-22023"/>
                  <a:pt x="4006497" y="64557"/>
                  <a:pt x="4182264" y="0"/>
                </a:cubicBezTo>
                <a:cubicBezTo>
                  <a:pt x="4358031" y="-64557"/>
                  <a:pt x="4712300" y="59519"/>
                  <a:pt x="4985480" y="0"/>
                </a:cubicBezTo>
                <a:cubicBezTo>
                  <a:pt x="5032312" y="175617"/>
                  <a:pt x="4959818" y="229192"/>
                  <a:pt x="4985480" y="413109"/>
                </a:cubicBezTo>
                <a:cubicBezTo>
                  <a:pt x="5011142" y="597026"/>
                  <a:pt x="4962181" y="798703"/>
                  <a:pt x="4985480" y="913188"/>
                </a:cubicBezTo>
                <a:cubicBezTo>
                  <a:pt x="5008779" y="1027673"/>
                  <a:pt x="4957536" y="1365867"/>
                  <a:pt x="4985480" y="1500238"/>
                </a:cubicBezTo>
                <a:cubicBezTo>
                  <a:pt x="5013424" y="1634609"/>
                  <a:pt x="4940424" y="1844089"/>
                  <a:pt x="4985480" y="1956832"/>
                </a:cubicBezTo>
                <a:cubicBezTo>
                  <a:pt x="5030536" y="2069575"/>
                  <a:pt x="4961915" y="2256712"/>
                  <a:pt x="4985480" y="2500397"/>
                </a:cubicBezTo>
                <a:cubicBezTo>
                  <a:pt x="5009045" y="2744082"/>
                  <a:pt x="4945152" y="2789744"/>
                  <a:pt x="4985480" y="2913506"/>
                </a:cubicBezTo>
                <a:cubicBezTo>
                  <a:pt x="5025808" y="3037268"/>
                  <a:pt x="4912505" y="3356741"/>
                  <a:pt x="4985480" y="3544041"/>
                </a:cubicBezTo>
                <a:cubicBezTo>
                  <a:pt x="5058455" y="3731342"/>
                  <a:pt x="4892356" y="4141284"/>
                  <a:pt x="4985480" y="4348516"/>
                </a:cubicBezTo>
                <a:cubicBezTo>
                  <a:pt x="4675059" y="4389475"/>
                  <a:pt x="4514491" y="4333524"/>
                  <a:pt x="4331828" y="4348516"/>
                </a:cubicBezTo>
                <a:cubicBezTo>
                  <a:pt x="4149165" y="4363508"/>
                  <a:pt x="3910642" y="4344045"/>
                  <a:pt x="3728031" y="4348516"/>
                </a:cubicBezTo>
                <a:cubicBezTo>
                  <a:pt x="3545420" y="4352987"/>
                  <a:pt x="3416248" y="4304081"/>
                  <a:pt x="3273799" y="4348516"/>
                </a:cubicBezTo>
                <a:cubicBezTo>
                  <a:pt x="3131350" y="4392951"/>
                  <a:pt x="2759022" y="4285872"/>
                  <a:pt x="2620147" y="4348516"/>
                </a:cubicBezTo>
                <a:cubicBezTo>
                  <a:pt x="2481272" y="4411160"/>
                  <a:pt x="2201495" y="4316212"/>
                  <a:pt x="2066204" y="4348516"/>
                </a:cubicBezTo>
                <a:cubicBezTo>
                  <a:pt x="1930913" y="4380820"/>
                  <a:pt x="1759514" y="4312601"/>
                  <a:pt x="1661827" y="4348516"/>
                </a:cubicBezTo>
                <a:cubicBezTo>
                  <a:pt x="1564140" y="4384431"/>
                  <a:pt x="1302811" y="4284923"/>
                  <a:pt x="1107884" y="4348516"/>
                </a:cubicBezTo>
                <a:cubicBezTo>
                  <a:pt x="912957" y="4412109"/>
                  <a:pt x="767750" y="4301704"/>
                  <a:pt x="603797" y="4348516"/>
                </a:cubicBezTo>
                <a:cubicBezTo>
                  <a:pt x="439844" y="4395328"/>
                  <a:pt x="167520" y="4287670"/>
                  <a:pt x="0" y="4348516"/>
                </a:cubicBezTo>
                <a:cubicBezTo>
                  <a:pt x="-41518" y="4178277"/>
                  <a:pt x="8714" y="3959031"/>
                  <a:pt x="0" y="3848437"/>
                </a:cubicBezTo>
                <a:cubicBezTo>
                  <a:pt x="-8714" y="3737843"/>
                  <a:pt x="37059" y="3527869"/>
                  <a:pt x="0" y="3217902"/>
                </a:cubicBezTo>
                <a:cubicBezTo>
                  <a:pt x="-37059" y="2907936"/>
                  <a:pt x="49182" y="2855336"/>
                  <a:pt x="0" y="2630852"/>
                </a:cubicBezTo>
                <a:cubicBezTo>
                  <a:pt x="-49182" y="2406368"/>
                  <a:pt x="42029" y="2290014"/>
                  <a:pt x="0" y="2130773"/>
                </a:cubicBezTo>
                <a:cubicBezTo>
                  <a:pt x="-42029" y="1971532"/>
                  <a:pt x="19453" y="1886319"/>
                  <a:pt x="0" y="1717664"/>
                </a:cubicBezTo>
                <a:cubicBezTo>
                  <a:pt x="-19453" y="1549009"/>
                  <a:pt x="3227" y="1407184"/>
                  <a:pt x="0" y="1217584"/>
                </a:cubicBezTo>
                <a:cubicBezTo>
                  <a:pt x="-3227" y="1027984"/>
                  <a:pt x="24507" y="854238"/>
                  <a:pt x="0" y="630535"/>
                </a:cubicBezTo>
                <a:cubicBezTo>
                  <a:pt x="-24507" y="406832"/>
                  <a:pt x="69122" y="233969"/>
                  <a:pt x="0" y="0"/>
                </a:cubicBezTo>
                <a:close/>
              </a:path>
              <a:path w="4985480" h="4348516" stroke="0" extrusionOk="0">
                <a:moveTo>
                  <a:pt x="0" y="0"/>
                </a:moveTo>
                <a:cubicBezTo>
                  <a:pt x="225887" y="-1090"/>
                  <a:pt x="316858" y="31479"/>
                  <a:pt x="504087" y="0"/>
                </a:cubicBezTo>
                <a:cubicBezTo>
                  <a:pt x="691316" y="-31479"/>
                  <a:pt x="810689" y="26815"/>
                  <a:pt x="908465" y="0"/>
                </a:cubicBezTo>
                <a:cubicBezTo>
                  <a:pt x="1006241" y="-26815"/>
                  <a:pt x="1416728" y="74956"/>
                  <a:pt x="1562117" y="0"/>
                </a:cubicBezTo>
                <a:cubicBezTo>
                  <a:pt x="1707506" y="-74956"/>
                  <a:pt x="1898301" y="43496"/>
                  <a:pt x="2066204" y="0"/>
                </a:cubicBezTo>
                <a:cubicBezTo>
                  <a:pt x="2234107" y="-43496"/>
                  <a:pt x="2457136" y="4578"/>
                  <a:pt x="2570292" y="0"/>
                </a:cubicBezTo>
                <a:cubicBezTo>
                  <a:pt x="2683448" y="-4578"/>
                  <a:pt x="3038308" y="4759"/>
                  <a:pt x="3223944" y="0"/>
                </a:cubicBezTo>
                <a:cubicBezTo>
                  <a:pt x="3409580" y="-4759"/>
                  <a:pt x="3505684" y="52743"/>
                  <a:pt x="3678176" y="0"/>
                </a:cubicBezTo>
                <a:cubicBezTo>
                  <a:pt x="3850668" y="-52743"/>
                  <a:pt x="4196411" y="20067"/>
                  <a:pt x="4331828" y="0"/>
                </a:cubicBezTo>
                <a:cubicBezTo>
                  <a:pt x="4467245" y="-20067"/>
                  <a:pt x="4788206" y="30446"/>
                  <a:pt x="4985480" y="0"/>
                </a:cubicBezTo>
                <a:cubicBezTo>
                  <a:pt x="4996635" y="220358"/>
                  <a:pt x="4962302" y="353080"/>
                  <a:pt x="4985480" y="543565"/>
                </a:cubicBezTo>
                <a:cubicBezTo>
                  <a:pt x="5008658" y="734051"/>
                  <a:pt x="4955076" y="861336"/>
                  <a:pt x="4985480" y="1087129"/>
                </a:cubicBezTo>
                <a:cubicBezTo>
                  <a:pt x="5015884" y="1312922"/>
                  <a:pt x="4933332" y="1430944"/>
                  <a:pt x="4985480" y="1674179"/>
                </a:cubicBezTo>
                <a:cubicBezTo>
                  <a:pt x="5037628" y="1917414"/>
                  <a:pt x="4939812" y="1948683"/>
                  <a:pt x="4985480" y="2087288"/>
                </a:cubicBezTo>
                <a:cubicBezTo>
                  <a:pt x="5031148" y="2225893"/>
                  <a:pt x="4955769" y="2509370"/>
                  <a:pt x="4985480" y="2630852"/>
                </a:cubicBezTo>
                <a:cubicBezTo>
                  <a:pt x="5015191" y="2752334"/>
                  <a:pt x="4954564" y="2971128"/>
                  <a:pt x="4985480" y="3174417"/>
                </a:cubicBezTo>
                <a:cubicBezTo>
                  <a:pt x="5016396" y="3377706"/>
                  <a:pt x="4949383" y="3584710"/>
                  <a:pt x="4985480" y="3717981"/>
                </a:cubicBezTo>
                <a:cubicBezTo>
                  <a:pt x="5021577" y="3851252"/>
                  <a:pt x="4945763" y="4063605"/>
                  <a:pt x="4985480" y="4348516"/>
                </a:cubicBezTo>
                <a:cubicBezTo>
                  <a:pt x="4780613" y="4408412"/>
                  <a:pt x="4614423" y="4322074"/>
                  <a:pt x="4381683" y="4348516"/>
                </a:cubicBezTo>
                <a:cubicBezTo>
                  <a:pt x="4148943" y="4374958"/>
                  <a:pt x="4107800" y="4322280"/>
                  <a:pt x="3977305" y="4348516"/>
                </a:cubicBezTo>
                <a:cubicBezTo>
                  <a:pt x="3846810" y="4374752"/>
                  <a:pt x="3676915" y="4300020"/>
                  <a:pt x="3523073" y="4348516"/>
                </a:cubicBezTo>
                <a:cubicBezTo>
                  <a:pt x="3369231" y="4397012"/>
                  <a:pt x="3111696" y="4339136"/>
                  <a:pt x="2869421" y="4348516"/>
                </a:cubicBezTo>
                <a:cubicBezTo>
                  <a:pt x="2627146" y="4357896"/>
                  <a:pt x="2496164" y="4296875"/>
                  <a:pt x="2315478" y="4348516"/>
                </a:cubicBezTo>
                <a:cubicBezTo>
                  <a:pt x="2134792" y="4400157"/>
                  <a:pt x="2056999" y="4319912"/>
                  <a:pt x="1861246" y="4348516"/>
                </a:cubicBezTo>
                <a:cubicBezTo>
                  <a:pt x="1665493" y="4377120"/>
                  <a:pt x="1515596" y="4283618"/>
                  <a:pt x="1307304" y="4348516"/>
                </a:cubicBezTo>
                <a:cubicBezTo>
                  <a:pt x="1099012" y="4413414"/>
                  <a:pt x="1049784" y="4326601"/>
                  <a:pt x="902926" y="4348516"/>
                </a:cubicBezTo>
                <a:cubicBezTo>
                  <a:pt x="756068" y="4370431"/>
                  <a:pt x="680260" y="4341204"/>
                  <a:pt x="498548" y="4348516"/>
                </a:cubicBezTo>
                <a:cubicBezTo>
                  <a:pt x="316836" y="4355828"/>
                  <a:pt x="100710" y="4310856"/>
                  <a:pt x="0" y="4348516"/>
                </a:cubicBezTo>
                <a:cubicBezTo>
                  <a:pt x="-18276" y="4143531"/>
                  <a:pt x="28251" y="4055958"/>
                  <a:pt x="0" y="3891922"/>
                </a:cubicBezTo>
                <a:cubicBezTo>
                  <a:pt x="-28251" y="3727886"/>
                  <a:pt x="3503" y="3575702"/>
                  <a:pt x="0" y="3261387"/>
                </a:cubicBezTo>
                <a:cubicBezTo>
                  <a:pt x="-3503" y="2947072"/>
                  <a:pt x="38246" y="3004841"/>
                  <a:pt x="0" y="2761308"/>
                </a:cubicBezTo>
                <a:cubicBezTo>
                  <a:pt x="-38246" y="2517775"/>
                  <a:pt x="23650" y="2554237"/>
                  <a:pt x="0" y="2348199"/>
                </a:cubicBezTo>
                <a:cubicBezTo>
                  <a:pt x="-23650" y="2142161"/>
                  <a:pt x="6970" y="1888278"/>
                  <a:pt x="0" y="1761149"/>
                </a:cubicBezTo>
                <a:cubicBezTo>
                  <a:pt x="-6970" y="1634020"/>
                  <a:pt x="39273" y="1499599"/>
                  <a:pt x="0" y="1304555"/>
                </a:cubicBezTo>
                <a:cubicBezTo>
                  <a:pt x="-39273" y="1109511"/>
                  <a:pt x="37131" y="986326"/>
                  <a:pt x="0" y="717505"/>
                </a:cubicBezTo>
                <a:cubicBezTo>
                  <a:pt x="-37131" y="448684"/>
                  <a:pt x="17527" y="163196"/>
                  <a:pt x="0" y="0"/>
                </a:cubicBezTo>
                <a:close/>
              </a:path>
            </a:pathLst>
          </a:custGeom>
          <a:solidFill>
            <a:srgbClr val="7030A0"/>
          </a:solidFill>
          <a:ln w="508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Achieving latency fairness in a cloud financial exchange</a:t>
            </a:r>
          </a:p>
          <a:p>
            <a:pPr algn="ctr"/>
            <a:r>
              <a:rPr lang="en-US" sz="2800" dirty="0"/>
              <a:t>+</a:t>
            </a:r>
          </a:p>
          <a:p>
            <a:pPr algn="ctr"/>
            <a:r>
              <a:rPr lang="en-US" sz="2800" dirty="0"/>
              <a:t>Achieving high performance while retaining latency fairness</a:t>
            </a:r>
          </a:p>
        </p:txBody>
      </p:sp>
      <p:sp>
        <p:nvSpPr>
          <p:cNvPr id="3" name="Rectangle 2">
            <a:extLst>
              <a:ext uri="{FF2B5EF4-FFF2-40B4-BE49-F238E27FC236}">
                <a16:creationId xmlns:a16="http://schemas.microsoft.com/office/drawing/2014/main" id="{0D91D2DB-0397-5348-8589-51C8E04EED84}"/>
              </a:ext>
            </a:extLst>
          </p:cNvPr>
          <p:cNvSpPr/>
          <p:nvPr/>
        </p:nvSpPr>
        <p:spPr>
          <a:xfrm>
            <a:off x="6579476" y="962887"/>
            <a:ext cx="4278350" cy="4071568"/>
          </a:xfrm>
          <a:custGeom>
            <a:avLst/>
            <a:gdLst>
              <a:gd name="csX0" fmla="*/ 0 w 4278350"/>
              <a:gd name="csY0" fmla="*/ 0 h 4071568"/>
              <a:gd name="csX1" fmla="*/ 406443 w 4278350"/>
              <a:gd name="csY1" fmla="*/ 0 h 4071568"/>
              <a:gd name="csX2" fmla="*/ 984021 w 4278350"/>
              <a:gd name="csY2" fmla="*/ 0 h 4071568"/>
              <a:gd name="csX3" fmla="*/ 1476031 w 4278350"/>
              <a:gd name="csY3" fmla="*/ 0 h 4071568"/>
              <a:gd name="csX4" fmla="*/ 2010825 w 4278350"/>
              <a:gd name="csY4" fmla="*/ 0 h 4071568"/>
              <a:gd name="csX5" fmla="*/ 2631185 w 4278350"/>
              <a:gd name="csY5" fmla="*/ 0 h 4071568"/>
              <a:gd name="csX6" fmla="*/ 3080412 w 4278350"/>
              <a:gd name="csY6" fmla="*/ 0 h 4071568"/>
              <a:gd name="csX7" fmla="*/ 3657989 w 4278350"/>
              <a:gd name="csY7" fmla="*/ 0 h 4071568"/>
              <a:gd name="csX8" fmla="*/ 4278350 w 4278350"/>
              <a:gd name="csY8" fmla="*/ 0 h 4071568"/>
              <a:gd name="csX9" fmla="*/ 4278350 w 4278350"/>
              <a:gd name="csY9" fmla="*/ 581653 h 4071568"/>
              <a:gd name="csX10" fmla="*/ 4278350 w 4278350"/>
              <a:gd name="csY10" fmla="*/ 1163305 h 4071568"/>
              <a:gd name="csX11" fmla="*/ 4278350 w 4278350"/>
              <a:gd name="csY11" fmla="*/ 1663526 h 4071568"/>
              <a:gd name="csX12" fmla="*/ 4278350 w 4278350"/>
              <a:gd name="csY12" fmla="*/ 2326610 h 4071568"/>
              <a:gd name="csX13" fmla="*/ 4278350 w 4278350"/>
              <a:gd name="csY13" fmla="*/ 2908263 h 4071568"/>
              <a:gd name="csX14" fmla="*/ 4278350 w 4278350"/>
              <a:gd name="csY14" fmla="*/ 3571347 h 4071568"/>
              <a:gd name="csX15" fmla="*/ 4278350 w 4278350"/>
              <a:gd name="csY15" fmla="*/ 4071568 h 4071568"/>
              <a:gd name="csX16" fmla="*/ 3786340 w 4278350"/>
              <a:gd name="csY16" fmla="*/ 4071568 h 4071568"/>
              <a:gd name="csX17" fmla="*/ 3294330 w 4278350"/>
              <a:gd name="csY17" fmla="*/ 4071568 h 4071568"/>
              <a:gd name="csX18" fmla="*/ 2716752 w 4278350"/>
              <a:gd name="csY18" fmla="*/ 4071568 h 4071568"/>
              <a:gd name="csX19" fmla="*/ 2181959 w 4278350"/>
              <a:gd name="csY19" fmla="*/ 4071568 h 4071568"/>
              <a:gd name="csX20" fmla="*/ 1561598 w 4278350"/>
              <a:gd name="csY20" fmla="*/ 4071568 h 4071568"/>
              <a:gd name="csX21" fmla="*/ 941237 w 4278350"/>
              <a:gd name="csY21" fmla="*/ 4071568 h 4071568"/>
              <a:gd name="csX22" fmla="*/ 0 w 4278350"/>
              <a:gd name="csY22" fmla="*/ 4071568 h 4071568"/>
              <a:gd name="csX23" fmla="*/ 0 w 4278350"/>
              <a:gd name="csY23" fmla="*/ 3449200 h 4071568"/>
              <a:gd name="csX24" fmla="*/ 0 w 4278350"/>
              <a:gd name="csY24" fmla="*/ 2826831 h 4071568"/>
              <a:gd name="csX25" fmla="*/ 0 w 4278350"/>
              <a:gd name="csY25" fmla="*/ 2245179 h 4071568"/>
              <a:gd name="csX26" fmla="*/ 0 w 4278350"/>
              <a:gd name="csY26" fmla="*/ 1663526 h 4071568"/>
              <a:gd name="csX27" fmla="*/ 0 w 4278350"/>
              <a:gd name="csY27" fmla="*/ 1081874 h 4071568"/>
              <a:gd name="csX28" fmla="*/ 0 w 4278350"/>
              <a:gd name="csY28" fmla="*/ 622368 h 4071568"/>
              <a:gd name="csX29" fmla="*/ 0 w 4278350"/>
              <a:gd name="csY29" fmla="*/ 0 h 4071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8350" h="4071568" fill="none" extrusionOk="0">
                <a:moveTo>
                  <a:pt x="0" y="0"/>
                </a:moveTo>
                <a:cubicBezTo>
                  <a:pt x="190564" y="-46449"/>
                  <a:pt x="212798" y="7765"/>
                  <a:pt x="406443" y="0"/>
                </a:cubicBezTo>
                <a:cubicBezTo>
                  <a:pt x="600088" y="-7765"/>
                  <a:pt x="807548" y="19642"/>
                  <a:pt x="984021" y="0"/>
                </a:cubicBezTo>
                <a:cubicBezTo>
                  <a:pt x="1160494" y="-19642"/>
                  <a:pt x="1264400" y="50432"/>
                  <a:pt x="1476031" y="0"/>
                </a:cubicBezTo>
                <a:cubicBezTo>
                  <a:pt x="1687662" y="-50432"/>
                  <a:pt x="1746464" y="21060"/>
                  <a:pt x="2010825" y="0"/>
                </a:cubicBezTo>
                <a:cubicBezTo>
                  <a:pt x="2275186" y="-21060"/>
                  <a:pt x="2459651" y="59304"/>
                  <a:pt x="2631185" y="0"/>
                </a:cubicBezTo>
                <a:cubicBezTo>
                  <a:pt x="2802719" y="-59304"/>
                  <a:pt x="2882276" y="1405"/>
                  <a:pt x="3080412" y="0"/>
                </a:cubicBezTo>
                <a:cubicBezTo>
                  <a:pt x="3278548" y="-1405"/>
                  <a:pt x="3461320" y="46258"/>
                  <a:pt x="3657989" y="0"/>
                </a:cubicBezTo>
                <a:cubicBezTo>
                  <a:pt x="3854658" y="-46258"/>
                  <a:pt x="3999840" y="15215"/>
                  <a:pt x="4278350" y="0"/>
                </a:cubicBezTo>
                <a:cubicBezTo>
                  <a:pt x="4347425" y="265135"/>
                  <a:pt x="4248272" y="411274"/>
                  <a:pt x="4278350" y="581653"/>
                </a:cubicBezTo>
                <a:cubicBezTo>
                  <a:pt x="4308428" y="752032"/>
                  <a:pt x="4257195" y="1008985"/>
                  <a:pt x="4278350" y="1163305"/>
                </a:cubicBezTo>
                <a:cubicBezTo>
                  <a:pt x="4299505" y="1317625"/>
                  <a:pt x="4234635" y="1516945"/>
                  <a:pt x="4278350" y="1663526"/>
                </a:cubicBezTo>
                <a:cubicBezTo>
                  <a:pt x="4322065" y="1810107"/>
                  <a:pt x="4267122" y="2087022"/>
                  <a:pt x="4278350" y="2326610"/>
                </a:cubicBezTo>
                <a:cubicBezTo>
                  <a:pt x="4289578" y="2566198"/>
                  <a:pt x="4240941" y="2631652"/>
                  <a:pt x="4278350" y="2908263"/>
                </a:cubicBezTo>
                <a:cubicBezTo>
                  <a:pt x="4315759" y="3184874"/>
                  <a:pt x="4206442" y="3351263"/>
                  <a:pt x="4278350" y="3571347"/>
                </a:cubicBezTo>
                <a:cubicBezTo>
                  <a:pt x="4350258" y="3791431"/>
                  <a:pt x="4258410" y="3944857"/>
                  <a:pt x="4278350" y="4071568"/>
                </a:cubicBezTo>
                <a:cubicBezTo>
                  <a:pt x="4135729" y="4111175"/>
                  <a:pt x="4031983" y="4018143"/>
                  <a:pt x="3786340" y="4071568"/>
                </a:cubicBezTo>
                <a:cubicBezTo>
                  <a:pt x="3540697" y="4124993"/>
                  <a:pt x="3523818" y="4051418"/>
                  <a:pt x="3294330" y="4071568"/>
                </a:cubicBezTo>
                <a:cubicBezTo>
                  <a:pt x="3064842" y="4091718"/>
                  <a:pt x="2968188" y="4007750"/>
                  <a:pt x="2716752" y="4071568"/>
                </a:cubicBezTo>
                <a:cubicBezTo>
                  <a:pt x="2465316" y="4135386"/>
                  <a:pt x="2434263" y="4037607"/>
                  <a:pt x="2181959" y="4071568"/>
                </a:cubicBezTo>
                <a:cubicBezTo>
                  <a:pt x="1929655" y="4105529"/>
                  <a:pt x="1849905" y="4070002"/>
                  <a:pt x="1561598" y="4071568"/>
                </a:cubicBezTo>
                <a:cubicBezTo>
                  <a:pt x="1273291" y="4073134"/>
                  <a:pt x="1189453" y="4016141"/>
                  <a:pt x="941237" y="4071568"/>
                </a:cubicBezTo>
                <a:cubicBezTo>
                  <a:pt x="693021" y="4126995"/>
                  <a:pt x="424406" y="4009224"/>
                  <a:pt x="0" y="4071568"/>
                </a:cubicBezTo>
                <a:cubicBezTo>
                  <a:pt x="-13571" y="3763138"/>
                  <a:pt x="40335" y="3732407"/>
                  <a:pt x="0" y="3449200"/>
                </a:cubicBezTo>
                <a:cubicBezTo>
                  <a:pt x="-40335" y="3165993"/>
                  <a:pt x="33818" y="3027061"/>
                  <a:pt x="0" y="2826831"/>
                </a:cubicBezTo>
                <a:cubicBezTo>
                  <a:pt x="-33818" y="2626601"/>
                  <a:pt x="33945" y="2477741"/>
                  <a:pt x="0" y="2245179"/>
                </a:cubicBezTo>
                <a:cubicBezTo>
                  <a:pt x="-33945" y="2012617"/>
                  <a:pt x="19742" y="1894038"/>
                  <a:pt x="0" y="1663526"/>
                </a:cubicBezTo>
                <a:cubicBezTo>
                  <a:pt x="-19742" y="1433014"/>
                  <a:pt x="21615" y="1303028"/>
                  <a:pt x="0" y="1081874"/>
                </a:cubicBezTo>
                <a:cubicBezTo>
                  <a:pt x="-21615" y="860720"/>
                  <a:pt x="26965" y="718481"/>
                  <a:pt x="0" y="622368"/>
                </a:cubicBezTo>
                <a:cubicBezTo>
                  <a:pt x="-26965" y="526255"/>
                  <a:pt x="65079" y="178779"/>
                  <a:pt x="0" y="0"/>
                </a:cubicBezTo>
                <a:close/>
              </a:path>
              <a:path w="4278350" h="4071568" stroke="0" extrusionOk="0">
                <a:moveTo>
                  <a:pt x="0" y="0"/>
                </a:moveTo>
                <a:cubicBezTo>
                  <a:pt x="150435" y="-53832"/>
                  <a:pt x="261761" y="41544"/>
                  <a:pt x="492010" y="0"/>
                </a:cubicBezTo>
                <a:cubicBezTo>
                  <a:pt x="722259" y="-41544"/>
                  <a:pt x="786025" y="6707"/>
                  <a:pt x="898454" y="0"/>
                </a:cubicBezTo>
                <a:cubicBezTo>
                  <a:pt x="1010883" y="-6707"/>
                  <a:pt x="1363618" y="52728"/>
                  <a:pt x="1518814" y="0"/>
                </a:cubicBezTo>
                <a:cubicBezTo>
                  <a:pt x="1674010" y="-52728"/>
                  <a:pt x="1848399" y="3334"/>
                  <a:pt x="2010825" y="0"/>
                </a:cubicBezTo>
                <a:cubicBezTo>
                  <a:pt x="2173251" y="-3334"/>
                  <a:pt x="2362274" y="34649"/>
                  <a:pt x="2502835" y="0"/>
                </a:cubicBezTo>
                <a:cubicBezTo>
                  <a:pt x="2643396" y="-34649"/>
                  <a:pt x="2954766" y="71632"/>
                  <a:pt x="3123196" y="0"/>
                </a:cubicBezTo>
                <a:cubicBezTo>
                  <a:pt x="3291626" y="-71632"/>
                  <a:pt x="3396480" y="8317"/>
                  <a:pt x="3572422" y="0"/>
                </a:cubicBezTo>
                <a:cubicBezTo>
                  <a:pt x="3748364" y="-8317"/>
                  <a:pt x="4057245" y="5233"/>
                  <a:pt x="4278350" y="0"/>
                </a:cubicBezTo>
                <a:cubicBezTo>
                  <a:pt x="4351325" y="179201"/>
                  <a:pt x="4226710" y="360802"/>
                  <a:pt x="4278350" y="663084"/>
                </a:cubicBezTo>
                <a:cubicBezTo>
                  <a:pt x="4329990" y="965366"/>
                  <a:pt x="4265258" y="938625"/>
                  <a:pt x="4278350" y="1163305"/>
                </a:cubicBezTo>
                <a:cubicBezTo>
                  <a:pt x="4291442" y="1387985"/>
                  <a:pt x="4224838" y="1628036"/>
                  <a:pt x="4278350" y="1744958"/>
                </a:cubicBezTo>
                <a:cubicBezTo>
                  <a:pt x="4331862" y="1861880"/>
                  <a:pt x="4260391" y="2074918"/>
                  <a:pt x="4278350" y="2367326"/>
                </a:cubicBezTo>
                <a:cubicBezTo>
                  <a:pt x="4296309" y="2659734"/>
                  <a:pt x="4254594" y="2690089"/>
                  <a:pt x="4278350" y="2826831"/>
                </a:cubicBezTo>
                <a:cubicBezTo>
                  <a:pt x="4302106" y="2963573"/>
                  <a:pt x="4275778" y="3228066"/>
                  <a:pt x="4278350" y="3408484"/>
                </a:cubicBezTo>
                <a:cubicBezTo>
                  <a:pt x="4280922" y="3588902"/>
                  <a:pt x="4206809" y="3853200"/>
                  <a:pt x="4278350" y="4071568"/>
                </a:cubicBezTo>
                <a:cubicBezTo>
                  <a:pt x="4162307" y="4112310"/>
                  <a:pt x="3872799" y="4071209"/>
                  <a:pt x="3743556" y="4071568"/>
                </a:cubicBezTo>
                <a:cubicBezTo>
                  <a:pt x="3614313" y="4071927"/>
                  <a:pt x="3364148" y="4057515"/>
                  <a:pt x="3123196" y="4071568"/>
                </a:cubicBezTo>
                <a:cubicBezTo>
                  <a:pt x="2882244" y="4085621"/>
                  <a:pt x="2763961" y="4041686"/>
                  <a:pt x="2588402" y="4071568"/>
                </a:cubicBezTo>
                <a:cubicBezTo>
                  <a:pt x="2412843" y="4101450"/>
                  <a:pt x="2296969" y="4044011"/>
                  <a:pt x="2181959" y="4071568"/>
                </a:cubicBezTo>
                <a:cubicBezTo>
                  <a:pt x="2066949" y="4099125"/>
                  <a:pt x="1921521" y="4044606"/>
                  <a:pt x="1732732" y="4071568"/>
                </a:cubicBezTo>
                <a:cubicBezTo>
                  <a:pt x="1543943" y="4098530"/>
                  <a:pt x="1311915" y="4054395"/>
                  <a:pt x="1112371" y="4071568"/>
                </a:cubicBezTo>
                <a:cubicBezTo>
                  <a:pt x="912827" y="4088741"/>
                  <a:pt x="790848" y="4065610"/>
                  <a:pt x="577577" y="4071568"/>
                </a:cubicBezTo>
                <a:cubicBezTo>
                  <a:pt x="364306" y="4077526"/>
                  <a:pt x="240523" y="4032939"/>
                  <a:pt x="0" y="4071568"/>
                </a:cubicBezTo>
                <a:cubicBezTo>
                  <a:pt x="-10435" y="3929956"/>
                  <a:pt x="43031" y="3705369"/>
                  <a:pt x="0" y="3489915"/>
                </a:cubicBezTo>
                <a:cubicBezTo>
                  <a:pt x="-43031" y="3274461"/>
                  <a:pt x="39530" y="3176774"/>
                  <a:pt x="0" y="3030410"/>
                </a:cubicBezTo>
                <a:cubicBezTo>
                  <a:pt x="-39530" y="2884047"/>
                  <a:pt x="22659" y="2778666"/>
                  <a:pt x="0" y="2570904"/>
                </a:cubicBezTo>
                <a:cubicBezTo>
                  <a:pt x="-22659" y="2363142"/>
                  <a:pt x="20630" y="2174520"/>
                  <a:pt x="0" y="1948536"/>
                </a:cubicBezTo>
                <a:cubicBezTo>
                  <a:pt x="-20630" y="1722552"/>
                  <a:pt x="39940" y="1677537"/>
                  <a:pt x="0" y="1448315"/>
                </a:cubicBezTo>
                <a:cubicBezTo>
                  <a:pt x="-39940" y="1219093"/>
                  <a:pt x="39972" y="1008305"/>
                  <a:pt x="0" y="785231"/>
                </a:cubicBezTo>
                <a:cubicBezTo>
                  <a:pt x="-39972" y="562157"/>
                  <a:pt x="22171" y="298748"/>
                  <a:pt x="0" y="0"/>
                </a:cubicBezTo>
                <a:close/>
              </a:path>
            </a:pathLst>
          </a:custGeom>
          <a:solidFill>
            <a:srgbClr val="7030A0"/>
          </a:solidFill>
          <a:ln w="508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Achieving latency fairness probabilistically </a:t>
            </a:r>
            <a:br>
              <a:rPr lang="en-US" sz="2800" dirty="0"/>
            </a:br>
            <a:r>
              <a:rPr lang="en-US" sz="2800" dirty="0"/>
              <a:t>(inbound direction)</a:t>
            </a:r>
          </a:p>
        </p:txBody>
      </p:sp>
    </p:spTree>
    <p:extLst>
      <p:ext uri="{BB962C8B-B14F-4D97-AF65-F5344CB8AC3E}">
        <p14:creationId xmlns:p14="http://schemas.microsoft.com/office/powerpoint/2010/main" val="4177998852"/>
      </p:ext>
    </p:extLst>
  </p:cSld>
  <p:clrMapOvr>
    <a:masterClrMapping/>
  </p:clrMapOvr>
  <mc:AlternateContent xmlns:mc="http://schemas.openxmlformats.org/markup-compatibility/2006" xmlns:p159="http://schemas.microsoft.com/office/powerpoint/2015/09/main">
    <mc:Choice Requires="p159">
      <p:transition spd="med">
        <p159:morph option="byWord"/>
      </p:transition>
    </mc:Choice>
    <mc:Fallback xmlns="">
      <p:transition spd="med">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0C2D0-2DA8-B072-DC7E-088E70737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E947E-FD00-9546-9D12-95B23BF1F483}"/>
              </a:ext>
            </a:extLst>
          </p:cNvPr>
          <p:cNvSpPr>
            <a:spLocks noGrp="1"/>
          </p:cNvSpPr>
          <p:nvPr>
            <p:ph type="title"/>
          </p:nvPr>
        </p:nvSpPr>
        <p:spPr/>
        <p:txBody>
          <a:bodyPr/>
          <a:lstStyle/>
          <a:p>
            <a:r>
              <a:rPr lang="en-US" dirty="0"/>
              <a:t>Future Work</a:t>
            </a:r>
          </a:p>
        </p:txBody>
      </p:sp>
      <p:sp>
        <p:nvSpPr>
          <p:cNvPr id="4" name="Rectangle 3">
            <a:extLst>
              <a:ext uri="{FF2B5EF4-FFF2-40B4-BE49-F238E27FC236}">
                <a16:creationId xmlns:a16="http://schemas.microsoft.com/office/drawing/2014/main" id="{13CCAE97-54FB-876F-917C-E88978A2BFD1}"/>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4538364-9BD8-D74F-9956-714D3B9BBC65}"/>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41CE5B6E-34CD-E211-2138-B954EFDB0DB3}"/>
              </a:ext>
            </a:extLst>
          </p:cNvPr>
          <p:cNvSpPr/>
          <p:nvPr/>
        </p:nvSpPr>
        <p:spPr>
          <a:xfrm>
            <a:off x="933724" y="1690688"/>
            <a:ext cx="9907102" cy="1307036"/>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Real world deployment of Tommy</a:t>
            </a:r>
            <a:br>
              <a:rPr lang="en-US" sz="2800" dirty="0"/>
            </a:br>
            <a:r>
              <a:rPr lang="en-US" sz="2200" dirty="0"/>
              <a:t>Studying performance and devising mechanisms for scalability</a:t>
            </a:r>
          </a:p>
        </p:txBody>
      </p:sp>
      <p:sp>
        <p:nvSpPr>
          <p:cNvPr id="9" name="Rounded Rectangle 8">
            <a:extLst>
              <a:ext uri="{FF2B5EF4-FFF2-40B4-BE49-F238E27FC236}">
                <a16:creationId xmlns:a16="http://schemas.microsoft.com/office/drawing/2014/main" id="{A8647562-6A77-088F-CDF7-779BBBC26061}"/>
              </a:ext>
            </a:extLst>
          </p:cNvPr>
          <p:cNvSpPr/>
          <p:nvPr/>
        </p:nvSpPr>
        <p:spPr>
          <a:xfrm>
            <a:off x="933724" y="3016251"/>
            <a:ext cx="8295118" cy="1307036"/>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Theoretical treatment of Tommy</a:t>
            </a:r>
          </a:p>
          <a:p>
            <a:r>
              <a:rPr lang="en-US" sz="2200" dirty="0"/>
              <a:t>Efficiency of online mechanism (regret bounds etc.)</a:t>
            </a:r>
          </a:p>
          <a:p>
            <a:r>
              <a:rPr lang="en-US" sz="2200" dirty="0"/>
              <a:t>Extending partial order to total order by balancing out unfairness</a:t>
            </a:r>
          </a:p>
        </p:txBody>
      </p:sp>
      <p:sp>
        <p:nvSpPr>
          <p:cNvPr id="10" name="Rounded Rectangle 9">
            <a:extLst>
              <a:ext uri="{FF2B5EF4-FFF2-40B4-BE49-F238E27FC236}">
                <a16:creationId xmlns:a16="http://schemas.microsoft.com/office/drawing/2014/main" id="{23E37102-A452-20EA-8F23-6D7B47A39DB4}"/>
              </a:ext>
            </a:extLst>
          </p:cNvPr>
          <p:cNvSpPr/>
          <p:nvPr/>
        </p:nvSpPr>
        <p:spPr>
          <a:xfrm>
            <a:off x="933724" y="4349182"/>
            <a:ext cx="9303786" cy="130703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Building systems atop Tommy</a:t>
            </a:r>
            <a:br>
              <a:rPr lang="en-US" sz="2800" dirty="0"/>
            </a:br>
            <a:r>
              <a:rPr lang="en-US" sz="2200" dirty="0"/>
              <a:t>Timestamped packet capture, observability</a:t>
            </a:r>
          </a:p>
        </p:txBody>
      </p:sp>
      <p:sp>
        <p:nvSpPr>
          <p:cNvPr id="12" name="Rounded Rectangle 11">
            <a:extLst>
              <a:ext uri="{FF2B5EF4-FFF2-40B4-BE49-F238E27FC236}">
                <a16:creationId xmlns:a16="http://schemas.microsoft.com/office/drawing/2014/main" id="{D1776E54-84AB-9687-D240-6CCECB58F848}"/>
              </a:ext>
            </a:extLst>
          </p:cNvPr>
          <p:cNvSpPr/>
          <p:nvPr/>
        </p:nvSpPr>
        <p:spPr>
          <a:xfrm>
            <a:off x="933723" y="5682113"/>
            <a:ext cx="7079061" cy="935503"/>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Expanding trust models for Onyx and Tommy</a:t>
            </a:r>
          </a:p>
        </p:txBody>
      </p:sp>
      <p:sp>
        <p:nvSpPr>
          <p:cNvPr id="13" name="Rounded Rectangle 12">
            <a:extLst>
              <a:ext uri="{FF2B5EF4-FFF2-40B4-BE49-F238E27FC236}">
                <a16:creationId xmlns:a16="http://schemas.microsoft.com/office/drawing/2014/main" id="{0020EF64-D07C-BEE8-E49C-191EF39EFA1C}"/>
              </a:ext>
            </a:extLst>
          </p:cNvPr>
          <p:cNvSpPr/>
          <p:nvPr/>
        </p:nvSpPr>
        <p:spPr>
          <a:xfrm>
            <a:off x="5081283" y="420355"/>
            <a:ext cx="3341567" cy="1181840"/>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800" dirty="0">
                <a:solidFill>
                  <a:schemeClr val="tx1"/>
                </a:solidFill>
              </a:rPr>
              <a:t>Thank you!</a:t>
            </a:r>
            <a:endParaRPr lang="en-US" sz="4000" dirty="0">
              <a:solidFill>
                <a:schemeClr val="tx1"/>
              </a:solidFill>
            </a:endParaRPr>
          </a:p>
        </p:txBody>
      </p:sp>
    </p:spTree>
    <p:extLst>
      <p:ext uri="{BB962C8B-B14F-4D97-AF65-F5344CB8AC3E}">
        <p14:creationId xmlns:p14="http://schemas.microsoft.com/office/powerpoint/2010/main" val="11435719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3.xml><?xml version="1.0" encoding="utf-8"?>
<p:tagLst xmlns:a="http://schemas.openxmlformats.org/drawingml/2006/main" xmlns:r="http://schemas.openxmlformats.org/officeDocument/2006/relationships" xmlns:p="http://schemas.openxmlformats.org/presentationml/2006/main">
  <p:tag name="NAME" val="CustomIcon"/>
</p:tagLst>
</file>

<file path=ppt/tags/tag4.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5.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6.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7.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8.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9.xml><?xml version="1.0" encoding="utf-8"?>
<p:tagLst xmlns:a="http://schemas.openxmlformats.org/drawingml/2006/main" xmlns:r="http://schemas.openxmlformats.org/officeDocument/2006/relationships" xmlns:p="http://schemas.openxmlformats.org/presentationml/2006/main">
  <p:tag name="NAME" val="Body1"/>
</p:tagLst>
</file>

<file path=ppt/tags/tag10.xml><?xml version="1.0" encoding="utf-8"?>
<p:tagLst xmlns:a="http://schemas.openxmlformats.org/drawingml/2006/main" xmlns:r="http://schemas.openxmlformats.org/officeDocument/2006/relationships" xmlns:p="http://schemas.openxmlformats.org/presentationml/2006/main">
  <p:tag name="NAME" val="Body1"/>
</p:tagLst>
</file>

<file path=ppt/tags/tag11.xml><?xml version="1.0" encoding="utf-8"?>
<p:tagLst xmlns:a="http://schemas.openxmlformats.org/drawingml/2006/main" xmlns:r="http://schemas.openxmlformats.org/officeDocument/2006/relationships" xmlns:p="http://schemas.openxmlformats.org/presentationml/2006/main">
  <p:tag name="NAME" val="Body1"/>
</p:tagLst>
</file>

<file path=ppt/tags/tag12.xml><?xml version="1.0" encoding="utf-8"?>
<p:tagLst xmlns:a="http://schemas.openxmlformats.org/drawingml/2006/main" xmlns:r="http://schemas.openxmlformats.org/officeDocument/2006/relationships" xmlns:p="http://schemas.openxmlformats.org/presentationml/2006/main">
  <p:tag name="NAME" val="Body1"/>
</p:tagLst>
</file>

<file path=ppt/tags/tag13.xml><?xml version="1.0" encoding="utf-8"?>
<p:tagLst xmlns:a="http://schemas.openxmlformats.org/drawingml/2006/main" xmlns:r="http://schemas.openxmlformats.org/officeDocument/2006/relationships" xmlns:p="http://schemas.openxmlformats.org/presentationml/2006/main">
  <p:tag name="NAME" val="Body1"/>
</p:tagLst>
</file>

<file path=ppt/tags/tag14.xml><?xml version="1.0" encoding="utf-8"?>
<p:tagLst xmlns:a="http://schemas.openxmlformats.org/drawingml/2006/main" xmlns:r="http://schemas.openxmlformats.org/officeDocument/2006/relationships" xmlns:p="http://schemas.openxmlformats.org/presentationml/2006/main">
  <p:tag name="NAME" val="Body1"/>
</p:tagLst>
</file>

<file path=ppt/tags/tag15.xml><?xml version="1.0" encoding="utf-8"?>
<p:tagLst xmlns:a="http://schemas.openxmlformats.org/drawingml/2006/main" xmlns:r="http://schemas.openxmlformats.org/officeDocument/2006/relationships" xmlns:p="http://schemas.openxmlformats.org/presentationml/2006/main">
  <p:tag name="NAME" val="Body1"/>
</p:tagLst>
</file>

<file path=ppt/tags/tag16.xml><?xml version="1.0" encoding="utf-8"?>
<p:tagLst xmlns:a="http://schemas.openxmlformats.org/drawingml/2006/main" xmlns:r="http://schemas.openxmlformats.org/officeDocument/2006/relationships" xmlns:p="http://schemas.openxmlformats.org/presentationml/2006/main">
  <p:tag name="NAME" val="CustomIcon"/>
</p:tagLst>
</file>

<file path=ppt/tags/tag17.xml><?xml version="1.0" encoding="utf-8"?>
<p:tagLst xmlns:a="http://schemas.openxmlformats.org/drawingml/2006/main" xmlns:r="http://schemas.openxmlformats.org/officeDocument/2006/relationships" xmlns:p="http://schemas.openxmlformats.org/presentationml/2006/main">
  <p:tag name="NAME" val="CustomIcon"/>
</p:tagLst>
</file>

<file path=ppt/tags/tag18.xml><?xml version="1.0" encoding="utf-8"?>
<p:tagLst xmlns:a="http://schemas.openxmlformats.org/drawingml/2006/main" xmlns:r="http://schemas.openxmlformats.org/officeDocument/2006/relationships" xmlns:p="http://schemas.openxmlformats.org/presentationml/2006/main">
  <p:tag name="NAME" val="CustomIcon"/>
</p:tagLst>
</file>

<file path=ppt/tags/tag19.xml><?xml version="1.0" encoding="utf-8"?>
<p:tagLst xmlns:a="http://schemas.openxmlformats.org/drawingml/2006/main" xmlns:r="http://schemas.openxmlformats.org/officeDocument/2006/relationships" xmlns:p="http://schemas.openxmlformats.org/presentationml/2006/main">
  <p:tag name="NAME" val="CustomIcon"/>
</p:tagLst>
</file>

<file path=ppt/tags/tag20.xml><?xml version="1.0" encoding="utf-8"?>
<p:tagLst xmlns:a="http://schemas.openxmlformats.org/drawingml/2006/main" xmlns:r="http://schemas.openxmlformats.org/officeDocument/2006/relationships" xmlns:p="http://schemas.openxmlformats.org/presentationml/2006/main">
  <p:tag name="NAME" val="CustomIcon"/>
</p:tagLst>
</file>

<file path=ppt/tags/tag21.xml><?xml version="1.0" encoding="utf-8"?>
<p:tagLst xmlns:a="http://schemas.openxmlformats.org/drawingml/2006/main" xmlns:r="http://schemas.openxmlformats.org/officeDocument/2006/relationships" xmlns:p="http://schemas.openxmlformats.org/presentationml/2006/main">
  <p:tag name="NAME" val="Body1"/>
</p:tagLst>
</file>

<file path=ppt/tags/tag22.xml><?xml version="1.0" encoding="utf-8"?>
<p:tagLst xmlns:a="http://schemas.openxmlformats.org/drawingml/2006/main" xmlns:r="http://schemas.openxmlformats.org/officeDocument/2006/relationships" xmlns:p="http://schemas.openxmlformats.org/presentationml/2006/main">
  <p:tag name="NAME" val="Body1"/>
</p:tagLst>
</file>

<file path=ppt/tags/tag23.xml><?xml version="1.0" encoding="utf-8"?>
<p:tagLst xmlns:a="http://schemas.openxmlformats.org/drawingml/2006/main" xmlns:r="http://schemas.openxmlformats.org/officeDocument/2006/relationships" xmlns:p="http://schemas.openxmlformats.org/presentationml/2006/main">
  <p:tag name="NAME" val="Body1"/>
</p:tagLst>
</file>

<file path=ppt/tags/tag24.xml><?xml version="1.0" encoding="utf-8"?>
<p:tagLst xmlns:a="http://schemas.openxmlformats.org/drawingml/2006/main" xmlns:r="http://schemas.openxmlformats.org/officeDocument/2006/relationships" xmlns:p="http://schemas.openxmlformats.org/presentationml/2006/main">
  <p:tag name="NAME" val="Body1"/>
</p:tagLst>
</file>

<file path=ppt/tags/tag25.xml><?xml version="1.0" encoding="utf-8"?>
<p:tagLst xmlns:a="http://schemas.openxmlformats.org/drawingml/2006/main" xmlns:r="http://schemas.openxmlformats.org/officeDocument/2006/relationships" xmlns:p="http://schemas.openxmlformats.org/presentationml/2006/main">
  <p:tag name="NAME" val="Body1"/>
</p:tagLst>
</file>

<file path=ppt/tags/tag26.xml><?xml version="1.0" encoding="utf-8"?>
<p:tagLst xmlns:a="http://schemas.openxmlformats.org/drawingml/2006/main" xmlns:r="http://schemas.openxmlformats.org/officeDocument/2006/relationships" xmlns:p="http://schemas.openxmlformats.org/presentationml/2006/main">
  <p:tag name="NAME" val="Body1"/>
</p:tagLst>
</file>

<file path=ppt/tags/tag27.xml><?xml version="1.0" encoding="utf-8"?>
<p:tagLst xmlns:a="http://schemas.openxmlformats.org/drawingml/2006/main" xmlns:r="http://schemas.openxmlformats.org/officeDocument/2006/relationships" xmlns:p="http://schemas.openxmlformats.org/presentationml/2006/main">
  <p:tag name="NAME" val="Body1"/>
</p:tagLst>
</file>

<file path=ppt/tags/tag28.xml><?xml version="1.0" encoding="utf-8"?>
<p:tagLst xmlns:a="http://schemas.openxmlformats.org/drawingml/2006/main" xmlns:r="http://schemas.openxmlformats.org/officeDocument/2006/relationships" xmlns:p="http://schemas.openxmlformats.org/presentationml/2006/main">
  <p:tag name="NAME" val="Body1"/>
</p:tagLst>
</file>

<file path=ppt/tags/tag29.xml><?xml version="1.0" encoding="utf-8"?>
<p:tagLst xmlns:a="http://schemas.openxmlformats.org/drawingml/2006/main" xmlns:r="http://schemas.openxmlformats.org/officeDocument/2006/relationships" xmlns:p="http://schemas.openxmlformats.org/presentationml/2006/main">
  <p:tag name="NAME" val="Body1"/>
</p:tagLst>
</file>

<file path=ppt/tags/tag30.xml><?xml version="1.0" encoding="utf-8"?>
<p:tagLst xmlns:a="http://schemas.openxmlformats.org/drawingml/2006/main" xmlns:r="http://schemas.openxmlformats.org/officeDocument/2006/relationships" xmlns:p="http://schemas.openxmlformats.org/presentationml/2006/main">
  <p:tag name="NAME" val="Body1"/>
</p:tagLst>
</file>

<file path=ppt/tags/tag31.xml><?xml version="1.0" encoding="utf-8"?>
<p:tagLst xmlns:a="http://schemas.openxmlformats.org/drawingml/2006/main" xmlns:r="http://schemas.openxmlformats.org/officeDocument/2006/relationships" xmlns:p="http://schemas.openxmlformats.org/presentationml/2006/main">
  <p:tag name="NAME" val="Body1"/>
</p:tagLst>
</file>

<file path=ppt/tags/tag32.xml><?xml version="1.0" encoding="utf-8"?>
<p:tagLst xmlns:a="http://schemas.openxmlformats.org/drawingml/2006/main" xmlns:r="http://schemas.openxmlformats.org/officeDocument/2006/relationships" xmlns:p="http://schemas.openxmlformats.org/presentationml/2006/main">
  <p:tag name="NAME" val="Body1"/>
</p:tagLst>
</file>

<file path=ppt/tags/tag33.xml><?xml version="1.0" encoding="utf-8"?>
<p:tagLst xmlns:a="http://schemas.openxmlformats.org/drawingml/2006/main" xmlns:r="http://schemas.openxmlformats.org/officeDocument/2006/relationships" xmlns:p="http://schemas.openxmlformats.org/presentationml/2006/main">
  <p:tag name="NAME" val="Body1"/>
</p:tagLst>
</file>

<file path=ppt/tags/tag34.xml><?xml version="1.0" encoding="utf-8"?>
<p:tagLst xmlns:a="http://schemas.openxmlformats.org/drawingml/2006/main" xmlns:r="http://schemas.openxmlformats.org/officeDocument/2006/relationships" xmlns:p="http://schemas.openxmlformats.org/presentationml/2006/main">
  <p:tag name="NAME" val="Body1"/>
</p:tagLst>
</file>

<file path=ppt/tags/tag35.xml><?xml version="1.0" encoding="utf-8"?>
<p:tagLst xmlns:a="http://schemas.openxmlformats.org/drawingml/2006/main" xmlns:r="http://schemas.openxmlformats.org/officeDocument/2006/relationships" xmlns:p="http://schemas.openxmlformats.org/presentationml/2006/main">
  <p:tag name="NAME" val="Body1"/>
</p:tagLst>
</file>

<file path=ppt/tags/tag36.xml><?xml version="1.0" encoding="utf-8"?>
<p:tagLst xmlns:a="http://schemas.openxmlformats.org/drawingml/2006/main" xmlns:r="http://schemas.openxmlformats.org/officeDocument/2006/relationships" xmlns:p="http://schemas.openxmlformats.org/presentationml/2006/main">
  <p:tag name="NAME" val="Body1"/>
</p:tagLst>
</file>

<file path=ppt/tags/tag37.xml><?xml version="1.0" encoding="utf-8"?>
<p:tagLst xmlns:a="http://schemas.openxmlformats.org/drawingml/2006/main" xmlns:r="http://schemas.openxmlformats.org/officeDocument/2006/relationships" xmlns:p="http://schemas.openxmlformats.org/presentationml/2006/main">
  <p:tag name="NAME" val="Body1"/>
</p:tagLst>
</file>

<file path=ppt/tags/tag38.xml><?xml version="1.0" encoding="utf-8"?>
<p:tagLst xmlns:a="http://schemas.openxmlformats.org/drawingml/2006/main" xmlns:r="http://schemas.openxmlformats.org/officeDocument/2006/relationships" xmlns:p="http://schemas.openxmlformats.org/presentationml/2006/main">
  <p:tag name="NAME" val="Body1"/>
</p:tagLst>
</file>

<file path=ppt/tags/tag39.xml><?xml version="1.0" encoding="utf-8"?>
<p:tagLst xmlns:a="http://schemas.openxmlformats.org/drawingml/2006/main" xmlns:r="http://schemas.openxmlformats.org/officeDocument/2006/relationships" xmlns:p="http://schemas.openxmlformats.org/presentationml/2006/main">
  <p:tag name="NAME" val="Body1"/>
</p:tagLst>
</file>

<file path=ppt/tags/tag40.xml><?xml version="1.0" encoding="utf-8"?>
<p:tagLst xmlns:a="http://schemas.openxmlformats.org/drawingml/2006/main" xmlns:r="http://schemas.openxmlformats.org/officeDocument/2006/relationships" xmlns:p="http://schemas.openxmlformats.org/presentationml/2006/main">
  <p:tag name="NAME" val="Body1"/>
</p:tagLst>
</file>

<file path=ppt/tags/tag41.xml><?xml version="1.0" encoding="utf-8"?>
<p:tagLst xmlns:a="http://schemas.openxmlformats.org/drawingml/2006/main" xmlns:r="http://schemas.openxmlformats.org/officeDocument/2006/relationships" xmlns:p="http://schemas.openxmlformats.org/presentationml/2006/main">
  <p:tag name="NAME" val="Body1"/>
</p:tagLst>
</file>

<file path=ppt/tags/tag42.xml><?xml version="1.0" encoding="utf-8"?>
<p:tagLst xmlns:a="http://schemas.openxmlformats.org/drawingml/2006/main" xmlns:r="http://schemas.openxmlformats.org/officeDocument/2006/relationships" xmlns:p="http://schemas.openxmlformats.org/presentationml/2006/main">
  <p:tag name="NAME" val="Body1"/>
</p:tagLst>
</file>

<file path=ppt/tags/tag43.xml><?xml version="1.0" encoding="utf-8"?>
<p:tagLst xmlns:a="http://schemas.openxmlformats.org/drawingml/2006/main" xmlns:r="http://schemas.openxmlformats.org/officeDocument/2006/relationships" xmlns:p="http://schemas.openxmlformats.org/presentationml/2006/main">
  <p:tag name="NAME" val="Body1"/>
</p:tagLst>
</file>

<file path=ppt/tags/tag44.xml><?xml version="1.0" encoding="utf-8"?>
<p:tagLst xmlns:a="http://schemas.openxmlformats.org/drawingml/2006/main" xmlns:r="http://schemas.openxmlformats.org/officeDocument/2006/relationships" xmlns:p="http://schemas.openxmlformats.org/presentationml/2006/main">
  <p:tag name="NAME" val="Body1"/>
</p:tagLst>
</file>

<file path=ppt/tags/tag45.xml><?xml version="1.0" encoding="utf-8"?>
<p:tagLst xmlns:a="http://schemas.openxmlformats.org/drawingml/2006/main" xmlns:r="http://schemas.openxmlformats.org/officeDocument/2006/relationships" xmlns:p="http://schemas.openxmlformats.org/presentationml/2006/main">
  <p:tag name="NAME" val="Body1"/>
</p:tagLst>
</file>

<file path=ppt/tags/tag46.xml><?xml version="1.0" encoding="utf-8"?>
<p:tagLst xmlns:a="http://schemas.openxmlformats.org/drawingml/2006/main" xmlns:r="http://schemas.openxmlformats.org/officeDocument/2006/relationships" xmlns:p="http://schemas.openxmlformats.org/presentationml/2006/main">
  <p:tag name="NAME" val="Body1"/>
</p:tagLst>
</file>

<file path=ppt/tags/tag47.xml><?xml version="1.0" encoding="utf-8"?>
<p:tagLst xmlns:a="http://schemas.openxmlformats.org/drawingml/2006/main" xmlns:r="http://schemas.openxmlformats.org/officeDocument/2006/relationships" xmlns:p="http://schemas.openxmlformats.org/presentationml/2006/main">
  <p:tag name="NAME" val="Body1"/>
</p:tagLst>
</file>

<file path=ppt/tags/tag48.xml><?xml version="1.0" encoding="utf-8"?>
<p:tagLst xmlns:a="http://schemas.openxmlformats.org/drawingml/2006/main" xmlns:r="http://schemas.openxmlformats.org/officeDocument/2006/relationships" xmlns:p="http://schemas.openxmlformats.org/presentationml/2006/main">
  <p:tag name="NAME" val="Body1"/>
</p:tagLst>
</file>

<file path=ppt/tags/tag49.xml><?xml version="1.0" encoding="utf-8"?>
<p:tagLst xmlns:a="http://schemas.openxmlformats.org/drawingml/2006/main" xmlns:r="http://schemas.openxmlformats.org/officeDocument/2006/relationships" xmlns:p="http://schemas.openxmlformats.org/presentationml/2006/main">
  <p:tag name="NAME" val="Body1"/>
</p:tagLst>
</file>

<file path=ppt/tags/tag50.xml><?xml version="1.0" encoding="utf-8"?>
<p:tagLst xmlns:a="http://schemas.openxmlformats.org/drawingml/2006/main" xmlns:r="http://schemas.openxmlformats.org/officeDocument/2006/relationships" xmlns:p="http://schemas.openxmlformats.org/presentationml/2006/main">
  <p:tag name="NAME" val="Body1"/>
</p:tagLst>
</file>

<file path=ppt/tags/tag51.xml><?xml version="1.0" encoding="utf-8"?>
<p:tagLst xmlns:a="http://schemas.openxmlformats.org/drawingml/2006/main" xmlns:r="http://schemas.openxmlformats.org/officeDocument/2006/relationships" xmlns:p="http://schemas.openxmlformats.org/presentationml/2006/main">
  <p:tag name="NAME" val="Body1"/>
</p:tagLst>
</file>

<file path=ppt/tags/tag52.xml><?xml version="1.0" encoding="utf-8"?>
<p:tagLst xmlns:a="http://schemas.openxmlformats.org/drawingml/2006/main" xmlns:r="http://schemas.openxmlformats.org/officeDocument/2006/relationships" xmlns:p="http://schemas.openxmlformats.org/presentationml/2006/main">
  <p:tag name="NAME" val="Body1"/>
</p:tagLst>
</file>

<file path=ppt/tags/tag53.xml><?xml version="1.0" encoding="utf-8"?>
<p:tagLst xmlns:a="http://schemas.openxmlformats.org/drawingml/2006/main" xmlns:r="http://schemas.openxmlformats.org/officeDocument/2006/relationships" xmlns:p="http://schemas.openxmlformats.org/presentationml/2006/main">
  <p:tag name="NAME" val="Body1"/>
</p:tagLst>
</file>

<file path=ppt/tags/tag54.xml><?xml version="1.0" encoding="utf-8"?>
<p:tagLst xmlns:a="http://schemas.openxmlformats.org/drawingml/2006/main" xmlns:r="http://schemas.openxmlformats.org/officeDocument/2006/relationships" xmlns:p="http://schemas.openxmlformats.org/presentationml/2006/main">
  <p:tag name="NAME" val="Body1"/>
</p:tagLst>
</file>

<file path=ppt/tags/tag55.xml><?xml version="1.0" encoding="utf-8"?>
<p:tagLst xmlns:a="http://schemas.openxmlformats.org/drawingml/2006/main" xmlns:r="http://schemas.openxmlformats.org/officeDocument/2006/relationships" xmlns:p="http://schemas.openxmlformats.org/presentationml/2006/main">
  <p:tag name="NAME" val="Body1"/>
</p:tagLst>
</file>

<file path=ppt/tags/tag56.xml><?xml version="1.0" encoding="utf-8"?>
<p:tagLst xmlns:a="http://schemas.openxmlformats.org/drawingml/2006/main" xmlns:r="http://schemas.openxmlformats.org/officeDocument/2006/relationships" xmlns:p="http://schemas.openxmlformats.org/presentationml/2006/main">
  <p:tag name="NAME" val="Body1"/>
</p:tagLst>
</file>

<file path=ppt/tags/tag57.xml><?xml version="1.0" encoding="utf-8"?>
<p:tagLst xmlns:a="http://schemas.openxmlformats.org/drawingml/2006/main" xmlns:r="http://schemas.openxmlformats.org/officeDocument/2006/relationships" xmlns:p="http://schemas.openxmlformats.org/presentationml/2006/main">
  <p:tag name="NAME" val="Body1"/>
</p:tagLst>
</file>

<file path=ppt/tags/tag58.xml><?xml version="1.0" encoding="utf-8"?>
<p:tagLst xmlns:a="http://schemas.openxmlformats.org/drawingml/2006/main" xmlns:r="http://schemas.openxmlformats.org/officeDocument/2006/relationships" xmlns:p="http://schemas.openxmlformats.org/presentationml/2006/main">
  <p:tag name="NAME" val="Body1"/>
</p:tagLst>
</file>

<file path=ppt/tags/tag59.xml><?xml version="1.0" encoding="utf-8"?>
<p:tagLst xmlns:a="http://schemas.openxmlformats.org/drawingml/2006/main" xmlns:r="http://schemas.openxmlformats.org/officeDocument/2006/relationships" xmlns:p="http://schemas.openxmlformats.org/presentationml/2006/main">
  <p:tag name="NAME" val="Body1"/>
</p:tagLst>
</file>

<file path=ppt/tags/tag60.xml><?xml version="1.0" encoding="utf-8"?>
<p:tagLst xmlns:a="http://schemas.openxmlformats.org/drawingml/2006/main" xmlns:r="http://schemas.openxmlformats.org/officeDocument/2006/relationships" xmlns:p="http://schemas.openxmlformats.org/presentationml/2006/main">
  <p:tag name="NAME" val="Body1"/>
</p:tagLst>
</file>

<file path=ppt/tags/tag61.xml><?xml version="1.0" encoding="utf-8"?>
<p:tagLst xmlns:a="http://schemas.openxmlformats.org/drawingml/2006/main" xmlns:r="http://schemas.openxmlformats.org/officeDocument/2006/relationships" xmlns:p="http://schemas.openxmlformats.org/presentationml/2006/main">
  <p:tag name="NAME" val="Body1"/>
</p:tagLst>
</file>

<file path=ppt/tags/tag62.xml><?xml version="1.0" encoding="utf-8"?>
<p:tagLst xmlns:a="http://schemas.openxmlformats.org/drawingml/2006/main" xmlns:r="http://schemas.openxmlformats.org/officeDocument/2006/relationships" xmlns:p="http://schemas.openxmlformats.org/presentationml/2006/main">
  <p:tag name="NAME" val="Body1"/>
</p:tagLst>
</file>

<file path=ppt/tags/tag63.xml><?xml version="1.0" encoding="utf-8"?>
<p:tagLst xmlns:a="http://schemas.openxmlformats.org/drawingml/2006/main" xmlns:r="http://schemas.openxmlformats.org/officeDocument/2006/relationships" xmlns:p="http://schemas.openxmlformats.org/presentationml/2006/main">
  <p:tag name="NAME" val="Body1"/>
</p:tagLst>
</file>

<file path=ppt/tags/tag64.xml><?xml version="1.0" encoding="utf-8"?>
<p:tagLst xmlns:a="http://schemas.openxmlformats.org/drawingml/2006/main" xmlns:r="http://schemas.openxmlformats.org/officeDocument/2006/relationships" xmlns:p="http://schemas.openxmlformats.org/presentationml/2006/main">
  <p:tag name="NAME" val="Body1"/>
</p:tagLst>
</file>

<file path=ppt/tags/tag65.xml><?xml version="1.0" encoding="utf-8"?>
<p:tagLst xmlns:a="http://schemas.openxmlformats.org/drawingml/2006/main" xmlns:r="http://schemas.openxmlformats.org/officeDocument/2006/relationships" xmlns:p="http://schemas.openxmlformats.org/presentationml/2006/main">
  <p:tag name="NAME" val="Body1"/>
</p:tagLst>
</file>

<file path=ppt/tags/tag66.xml><?xml version="1.0" encoding="utf-8"?>
<p:tagLst xmlns:a="http://schemas.openxmlformats.org/drawingml/2006/main" xmlns:r="http://schemas.openxmlformats.org/officeDocument/2006/relationships" xmlns:p="http://schemas.openxmlformats.org/presentationml/2006/main">
  <p:tag name="NAME" val="Body1"/>
</p:tagLst>
</file>

<file path=ppt/tags/tag67.xml><?xml version="1.0" encoding="utf-8"?>
<p:tagLst xmlns:a="http://schemas.openxmlformats.org/drawingml/2006/main" xmlns:r="http://schemas.openxmlformats.org/officeDocument/2006/relationships" xmlns:p="http://schemas.openxmlformats.org/presentationml/2006/main">
  <p:tag name="NAME" val="Body1"/>
</p:tagLst>
</file>

<file path=ppt/tags/tag68.xml><?xml version="1.0" encoding="utf-8"?>
<p:tagLst xmlns:a="http://schemas.openxmlformats.org/drawingml/2006/main" xmlns:r="http://schemas.openxmlformats.org/officeDocument/2006/relationships" xmlns:p="http://schemas.openxmlformats.org/presentationml/2006/main">
  <p:tag name="NAME" val="Body1"/>
</p:tagLst>
</file>

<file path=ppt/tags/tag69.xml><?xml version="1.0" encoding="utf-8"?>
<p:tagLst xmlns:a="http://schemas.openxmlformats.org/drawingml/2006/main" xmlns:r="http://schemas.openxmlformats.org/officeDocument/2006/relationships" xmlns:p="http://schemas.openxmlformats.org/presentationml/2006/main">
  <p:tag name="NAME" val="Body1"/>
</p:tagLst>
</file>

<file path=ppt/tags/tag70.xml><?xml version="1.0" encoding="utf-8"?>
<p:tagLst xmlns:a="http://schemas.openxmlformats.org/drawingml/2006/main" xmlns:r="http://schemas.openxmlformats.org/officeDocument/2006/relationships" xmlns:p="http://schemas.openxmlformats.org/presentationml/2006/main">
  <p:tag name="NAME" val="Body1"/>
</p:tagLst>
</file>

<file path=ppt/tags/tag71.xml><?xml version="1.0" encoding="utf-8"?>
<p:tagLst xmlns:a="http://schemas.openxmlformats.org/drawingml/2006/main" xmlns:r="http://schemas.openxmlformats.org/officeDocument/2006/relationships" xmlns:p="http://schemas.openxmlformats.org/presentationml/2006/main">
  <p:tag name="NAME" val="Body1"/>
</p:tagLst>
</file>

<file path=ppt/tags/tag72.xml><?xml version="1.0" encoding="utf-8"?>
<p:tagLst xmlns:a="http://schemas.openxmlformats.org/drawingml/2006/main" xmlns:r="http://schemas.openxmlformats.org/officeDocument/2006/relationships" xmlns:p="http://schemas.openxmlformats.org/presentationml/2006/main">
  <p:tag name="NAME" val="Body1"/>
</p:tagLst>
</file>

<file path=ppt/tags/tag73.xml><?xml version="1.0" encoding="utf-8"?>
<p:tagLst xmlns:a="http://schemas.openxmlformats.org/drawingml/2006/main" xmlns:r="http://schemas.openxmlformats.org/officeDocument/2006/relationships" xmlns:p="http://schemas.openxmlformats.org/presentationml/2006/main">
  <p:tag name="NAME" val="Body1"/>
</p:tagLst>
</file>

<file path=ppt/tags/tag74.xml><?xml version="1.0" encoding="utf-8"?>
<p:tagLst xmlns:a="http://schemas.openxmlformats.org/drawingml/2006/main" xmlns:r="http://schemas.openxmlformats.org/officeDocument/2006/relationships" xmlns:p="http://schemas.openxmlformats.org/presentationml/2006/main">
  <p:tag name="NAME" val="Body1"/>
</p:tagLst>
</file>

<file path=ppt/tags/tag75.xml><?xml version="1.0" encoding="utf-8"?>
<p:tagLst xmlns:a="http://schemas.openxmlformats.org/drawingml/2006/main" xmlns:r="http://schemas.openxmlformats.org/officeDocument/2006/relationships" xmlns:p="http://schemas.openxmlformats.org/presentationml/2006/main">
  <p:tag name="NAME" val="Body1"/>
</p:tagLst>
</file>

<file path=ppt/tags/tag76.xml><?xml version="1.0" encoding="utf-8"?>
<p:tagLst xmlns:a="http://schemas.openxmlformats.org/drawingml/2006/main" xmlns:r="http://schemas.openxmlformats.org/officeDocument/2006/relationships" xmlns:p="http://schemas.openxmlformats.org/presentationml/2006/main">
  <p:tag name="NAME" val="Body1"/>
</p:tagLst>
</file>

<file path=ppt/tags/tag77.xml><?xml version="1.0" encoding="utf-8"?>
<p:tagLst xmlns:a="http://schemas.openxmlformats.org/drawingml/2006/main" xmlns:r="http://schemas.openxmlformats.org/officeDocument/2006/relationships" xmlns:p="http://schemas.openxmlformats.org/presentationml/2006/main">
  <p:tag name="NAME" val="Body1"/>
</p:tagLst>
</file>

<file path=ppt/tags/tag78.xml><?xml version="1.0" encoding="utf-8"?>
<p:tagLst xmlns:a="http://schemas.openxmlformats.org/drawingml/2006/main" xmlns:r="http://schemas.openxmlformats.org/officeDocument/2006/relationships" xmlns:p="http://schemas.openxmlformats.org/presentationml/2006/main">
  <p:tag name="NAME" val="Body1"/>
</p:tagLst>
</file>

<file path=ppt/tags/tag79.xml><?xml version="1.0" encoding="utf-8"?>
<p:tagLst xmlns:a="http://schemas.openxmlformats.org/drawingml/2006/main" xmlns:r="http://schemas.openxmlformats.org/officeDocument/2006/relationships" xmlns:p="http://schemas.openxmlformats.org/presentationml/2006/main">
  <p:tag name="NAME" val="Body1"/>
</p:tagLst>
</file>

<file path=ppt/tags/tag80.xml><?xml version="1.0" encoding="utf-8"?>
<p:tagLst xmlns:a="http://schemas.openxmlformats.org/drawingml/2006/main" xmlns:r="http://schemas.openxmlformats.org/officeDocument/2006/relationships" xmlns:p="http://schemas.openxmlformats.org/presentationml/2006/main">
  <p:tag name="NAME" val="Body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6034</TotalTime>
  <Words>6568</Words>
  <Application>Microsoft Macintosh PowerPoint</Application>
  <PresentationFormat>Widescreen</PresentationFormat>
  <Paragraphs>1694</Paragraphs>
  <Slides>173</Slides>
  <Notes>135</Notes>
  <HiddenSlides>3</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173</vt:i4>
      </vt:variant>
    </vt:vector>
  </HeadingPairs>
  <TitlesOfParts>
    <vt:vector size="182" baseType="lpstr">
      <vt:lpstr>Aptos</vt:lpstr>
      <vt:lpstr>Aptos Display</vt:lpstr>
      <vt:lpstr>Arial</vt:lpstr>
      <vt:lpstr>Cambria Math</vt:lpstr>
      <vt:lpstr>Times New Roman</vt:lpstr>
      <vt:lpstr>Wingdings</vt:lpstr>
      <vt:lpstr>Office Theme</vt:lpstr>
      <vt:lpstr>1_Office Theme</vt:lpstr>
      <vt:lpstr>think-cell Slide</vt:lpstr>
      <vt:lpstr>Latency Fairness On  Commodity Networking  Infrastructure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Support For Scalable And High-Performance Cloud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PowerPoint Presentation</vt:lpstr>
      <vt:lpstr>Public Cloud Exhibits High Latency &amp; Variance</vt:lpstr>
      <vt:lpstr>PowerPoint Presentation</vt:lpstr>
      <vt:lpstr>Onyx: Scalable Cloud Financial Exchange</vt:lpstr>
      <vt:lpstr>Onyx</vt:lpstr>
      <vt:lpstr>Onyx</vt:lpstr>
      <vt:lpstr>Fairness1</vt:lpstr>
      <vt:lpstr>Fairness1</vt:lpstr>
      <vt:lpstr>Fairness1</vt:lpstr>
      <vt:lpstr>Fairness1</vt:lpstr>
      <vt:lpstr>Fairness1</vt:lpstr>
      <vt:lpstr>Fairness1</vt:lpstr>
      <vt:lpstr>Fairness1</vt:lpstr>
      <vt:lpstr>Fairness1</vt:lpstr>
      <vt:lpstr>Fairness1</vt:lpstr>
      <vt:lpstr>Fairness1</vt:lpstr>
      <vt:lpstr>Fairness1</vt:lpstr>
      <vt:lpstr>Fairness In Practice</vt:lpstr>
      <vt:lpstr>Fairness In Practice</vt:lpstr>
      <vt:lpstr>Fairness In Practice</vt:lpstr>
      <vt:lpstr>Fairness In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Evaluation</vt:lpstr>
      <vt:lpstr>Multicast Service</vt:lpstr>
      <vt:lpstr>Multicast Service</vt:lpstr>
      <vt:lpstr>Delivery Fairness</vt:lpstr>
      <vt:lpstr>Delivery Fairness</vt:lpstr>
      <vt:lpstr>Limit Order Queue Gracefully Handles Bursts</vt:lpstr>
      <vt:lpstr>Remarks</vt:lpstr>
      <vt:lpstr>PowerPoint Presentation</vt:lpstr>
      <vt:lpstr>Probabilistic Fair Order of Events</vt:lpstr>
      <vt:lpstr>A Financial Market</vt:lpstr>
      <vt:lpstr>A Financial Market</vt:lpstr>
      <vt:lpstr>A Financial Market</vt:lpstr>
      <vt:lpstr>A Financial Market</vt:lpstr>
      <vt:lpstr>A Financial 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Sequencer Overview</vt:lpstr>
      <vt:lpstr>Sequencer Overview</vt:lpstr>
      <vt:lpstr>Sequencer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Ordering in an online setting</vt:lpstr>
      <vt:lpstr>Ordering in an online setting</vt:lpstr>
      <vt:lpstr>Ordering in an online setting</vt:lpstr>
      <vt:lpstr>Computation Optimization</vt:lpstr>
      <vt:lpstr>Computation Optimization</vt:lpstr>
      <vt:lpstr>Computation Optimization</vt:lpstr>
      <vt:lpstr>Evaluation</vt:lpstr>
      <vt:lpstr>Setup</vt:lpstr>
      <vt:lpstr>Setup</vt:lpstr>
      <vt:lpstr>Setup</vt:lpstr>
      <vt:lpstr>Fairness</vt:lpstr>
      <vt:lpstr>Fairness</vt:lpstr>
      <vt:lpstr>Fairness</vt:lpstr>
      <vt:lpstr>Remarks</vt:lpstr>
      <vt:lpstr>PowerPoint Presentation</vt:lpstr>
      <vt:lpstr>PowerPoint Presentation</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Haseeb Ashfaq</dc:creator>
  <cp:lastModifiedBy>Haseeb Ashfaq</cp:lastModifiedBy>
  <cp:revision>533</cp:revision>
  <dcterms:created xsi:type="dcterms:W3CDTF">2026-04-04T21:04:51Z</dcterms:created>
  <dcterms:modified xsi:type="dcterms:W3CDTF">2026-04-09T18:58:59Z</dcterms:modified>
</cp:coreProperties>
</file>