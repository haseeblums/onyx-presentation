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2"/>
  </p:notesMasterIdLst>
  <p:sldIdLst>
    <p:sldId id="263" r:id="rId2"/>
    <p:sldId id="264" r:id="rId3"/>
    <p:sldId id="265" r:id="rId4"/>
    <p:sldId id="272" r:id="rId5"/>
    <p:sldId id="274" r:id="rId6"/>
    <p:sldId id="288" r:id="rId7"/>
    <p:sldId id="347" r:id="rId8"/>
    <p:sldId id="289" r:id="rId9"/>
    <p:sldId id="290" r:id="rId10"/>
    <p:sldId id="258" r:id="rId11"/>
    <p:sldId id="277" r:id="rId12"/>
    <p:sldId id="340" r:id="rId13"/>
    <p:sldId id="341" r:id="rId14"/>
    <p:sldId id="292" r:id="rId15"/>
    <p:sldId id="293" r:id="rId16"/>
    <p:sldId id="280" r:id="rId17"/>
    <p:sldId id="279" r:id="rId18"/>
    <p:sldId id="266" r:id="rId19"/>
    <p:sldId id="278" r:id="rId20"/>
    <p:sldId id="281" r:id="rId21"/>
    <p:sldId id="282" r:id="rId22"/>
    <p:sldId id="283" r:id="rId23"/>
    <p:sldId id="284" r:id="rId24"/>
    <p:sldId id="285" r:id="rId25"/>
    <p:sldId id="286" r:id="rId26"/>
    <p:sldId id="287" r:id="rId27"/>
    <p:sldId id="276" r:id="rId28"/>
    <p:sldId id="269" r:id="rId29"/>
    <p:sldId id="273" r:id="rId30"/>
    <p:sldId id="271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3"/>
    <p:restoredTop sz="85986"/>
  </p:normalViewPr>
  <p:slideViewPr>
    <p:cSldViewPr snapToGrid="0">
      <p:cViewPr varScale="1">
        <p:scale>
          <a:sx n="109" d="100"/>
          <a:sy n="109" d="100"/>
        </p:scale>
        <p:origin x="104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07AACE-DECF-044F-84A2-0C8ECB6ADA06}" type="datetimeFigureOut">
              <a:rPr lang="en-US" smtClean="0"/>
              <a:t>11/9/25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E8125A-D8BB-E74B-8C6E-AB7BD2C997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7956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Asynchrony also affects the latency between application and local clock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E8125A-D8BB-E74B-8C6E-AB7BD2C997C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4615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WFO was proposed in my previous project Jasper, quickly explain.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8218EBC-0A23-F247-983B-440A962108A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3437337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Efron’s dice, Condorcet paradox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8218EBC-0A23-F247-983B-440A962108A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892598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489CC8-3483-2449-6AE7-2E7811415E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D8B5F9-7488-31E2-CC9A-B50E7C9EDB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CA5A39-6690-69DC-93A4-FB04A747BE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5D2492-AC70-2141-AC0C-17DCD52B4752}" type="datetime1">
              <a:rPr lang="en-US" smtClean="0"/>
              <a:t>11/9/25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A5098F-8C47-BD38-D7A6-A7E44A3AC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1CE420-E5B7-AB50-A816-77DD97CC5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92605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B6EEC-C362-E1F9-D220-4FBA9565F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182AE1-0A6C-73E9-BB01-2E25D23D36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25C939-DF3D-4282-8199-45A037B9A9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BDF429-4C14-7B4A-B19D-A0047B9F1B4B}" type="datetime1">
              <a:rPr lang="en-US" smtClean="0"/>
              <a:t>11/9/25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16F0CD-FE1D-6079-49AE-F87F2CB3C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9F2BA7-8D27-7F49-88B2-D6950D994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1962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DC252-3EFA-163E-15EC-BF4390B35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F0CCD9-269C-A882-609D-D2C3D66248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96DDE7-F726-ADC8-AD97-F26F4B5C48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236A-87D7-9843-88C4-48A4AF171E86}" type="datetime1">
              <a:rPr lang="en-US" smtClean="0"/>
              <a:t>11/9/25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274734-470F-6D57-231F-7522A7AFBD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81C889-3A6D-AD40-645E-1E6CDE1E50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8776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58DA8-2C41-23FC-8185-753462B7B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13352A-F4FA-9CB1-1696-870EB1A89D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3A387A-EDD3-0CD5-227C-CC3DE3D34F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812931-F695-753D-78CB-97CBA5E072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AB6F2B-6FBC-214D-9C4A-C58DF8A7FCB9}" type="datetime1">
              <a:rPr lang="en-US" smtClean="0"/>
              <a:t>11/9/25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02FA56-AA49-8486-9289-E151E79047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8A1A68-5B8C-0F7E-491D-1C9F17D4C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7261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5ECEEB-1E4D-F0BC-5766-01121A183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D4B4CE-EBD7-E8F3-5451-2133AC7E06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54BD8E-34F3-A55C-114A-D17E85D616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C06F85-C6F0-5456-0A72-C594D7DC99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E94893-075E-EB6B-55AC-62F2E0CEC9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2CEDDDE-FB3F-973C-45AD-2688A51335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5FA95-A07E-9941-8A87-BDD29E767DA7}" type="datetime1">
              <a:rPr lang="en-US" smtClean="0"/>
              <a:t>11/9/25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736DE76-0D6A-F40D-B732-908F42979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4AA9CC-0F85-34AF-1D96-D58E6BA307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365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0E80C5-32F6-9D4B-9256-20823BC3B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4E3B95-F7E3-25DB-7F21-F489951614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F1CA85-9E75-364A-887C-5B613827D324}" type="datetime1">
              <a:rPr lang="en-US" smtClean="0"/>
              <a:t>11/9/25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AE9371-78D5-4C72-C059-18304961F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0035D5-EF95-3650-C946-19DD553C1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7909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9C6D8C-7270-8941-CBC4-512B0483EE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E42F5B-1E89-9840-A26C-C6BA2A23E2D0}" type="datetime1">
              <a:rPr lang="en-US" smtClean="0"/>
              <a:t>11/9/25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71D819E-56FA-94D1-F2F6-0D4191383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3670F9-538A-A65A-EBC9-F5906F119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9359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BE9AE-8119-F92C-4D8F-62F667A226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3C7707-59E6-90A9-C17A-AF6FB92853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CCFDEC-65F8-E3B3-C304-84F962412A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E817EA-279C-AB1D-F581-762A75E01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B241E-9E92-8D46-BFD6-E707A04F9829}" type="datetime1">
              <a:rPr lang="en-US" smtClean="0"/>
              <a:t>11/9/25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846691-4B7B-980C-EA6A-D22E8A9C9A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932AF5-CB87-FBF2-2C5F-6547C4099A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47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B7D5D3-0366-3F3C-23A4-06712902D9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65D708B-5A95-A7A8-89A5-CE7A84EE1A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927582-1DA1-752E-DAE3-EB5A3D0705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B6BA60-8D2E-F867-6D37-858BF1CC04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34353-62E4-F94E-ADC1-D1403AD453E1}" type="datetime1">
              <a:rPr lang="en-US" smtClean="0"/>
              <a:t>11/9/25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0DFCA9-F3EF-0AC3-9FC4-69CF2B3CC6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18370F-78E1-45D9-C289-966A23341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01325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9FCB53-B76B-22EC-C782-035747119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55C8BA-7558-55B7-54CF-2B44D1432A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509F8-2118-E6F0-99BD-EE20223CC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17235A-17C4-B841-B2B5-CA079511FDEC}" type="datetime1">
              <a:rPr lang="en-US" smtClean="0"/>
              <a:t>11/9/25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65D553-0AB5-4450-C8AE-18D96D2A60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E4BCD4-F56B-8B3B-F7D8-200AF0A00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42275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952F8F5-326C-281C-6FBC-02EAC18F2CA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5EADAC-2818-A1DC-CF2B-786CC8DA3E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E2ABDF-8689-449B-68C3-7C9DED70C4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307E39-E6DB-B341-B0FA-CECD76628CBB}" type="datetime1">
              <a:rPr lang="en-US" smtClean="0"/>
              <a:t>11/9/25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6A7137-447E-E1C2-C3BD-5C19B2FED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DF57FD-EFFE-98FC-BC47-1FEBE3DF53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8235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57189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0574231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152C756-4936-63A8-1D87-1501CB4F6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B5091F-0342-E547-03E4-EFDF7189EE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31D55D-E5FD-1C18-6FB7-0889D6E98E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F4EA125-C503-9049-954D-E48C32DE308D}" type="datetime1">
              <a:rPr lang="en-US" smtClean="0"/>
              <a:t>11/9/25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58170C-374B-882B-CDFF-F94692FE4B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12BB67-7693-C8D1-B0BA-FB7AA6B00F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307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emf"/><Relationship Id="rId4" Type="http://schemas.openxmlformats.org/officeDocument/2006/relationships/image" Target="../media/image2.emf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sv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sv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sv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emf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FFD48BC7-DC40-47DE-87EE-9F4B6ECB9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 useBgFill="1">
        <p:nvSpPr>
          <p:cNvPr id="9" name="Freeform: Shape 8">
            <a:extLst>
              <a:ext uri="{FF2B5EF4-FFF2-40B4-BE49-F238E27FC236}">
                <a16:creationId xmlns:a16="http://schemas.microsoft.com/office/drawing/2014/main" id="{E502BBC7-2C76-46F3-BC24-5985BC13D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14425" y="0"/>
            <a:ext cx="9963150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139700" sx="102000" sy="102000" algn="ctr" rotWithShape="0">
              <a:schemeClr val="bg1">
                <a:lumMod val="85000"/>
                <a:alpha val="3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C7F28D52-2A5F-4D23-81AE-7CB8B591C7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1664" y="0"/>
            <a:ext cx="9948672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29484E-3792-4B3D-89AD-7C8A1ED0E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18560" y="5524786"/>
            <a:ext cx="4754880" cy="274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D3C3834-5FF7-E139-E0B7-538FE11218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305782"/>
            <a:ext cx="9144000" cy="2387600"/>
          </a:xfrm>
        </p:spPr>
        <p:txBody>
          <a:bodyPr>
            <a:normAutofit/>
          </a:bodyPr>
          <a:lstStyle/>
          <a:p>
            <a:r>
              <a:rPr lang="en-US" sz="72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Towards Probabilistic Fair Order</a:t>
            </a:r>
            <a:endParaRPr lang="en-US" sz="7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8BC87CD-6594-D550-6B16-8E2B98C16BD8}"/>
              </a:ext>
            </a:extLst>
          </p:cNvPr>
          <p:cNvSpPr txBox="1"/>
          <p:nvPr/>
        </p:nvSpPr>
        <p:spPr>
          <a:xfrm>
            <a:off x="2104292" y="4104210"/>
            <a:ext cx="798341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u="sng" dirty="0">
                <a:solidFill>
                  <a:srgbClr val="7030A0"/>
                </a:solidFill>
              </a:rPr>
              <a:t>Haseeb Ashfaq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7030A0"/>
                </a:solidFill>
              </a:rPr>
              <a:t>Jinkun Geng</a:t>
            </a:r>
            <a:r>
              <a:rPr lang="en-US" sz="2400" dirty="0"/>
              <a:t>, </a:t>
            </a:r>
            <a:r>
              <a:rPr lang="en-US" sz="2400" dirty="0">
                <a:solidFill>
                  <a:schemeClr val="accent2"/>
                </a:solidFill>
              </a:rPr>
              <a:t>Radhika Mittal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7030A0"/>
                </a:solidFill>
              </a:rPr>
              <a:t>Aurojit Panda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FF0000"/>
                </a:solidFill>
              </a:rPr>
              <a:t>Srinivas Narayana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7030A0"/>
                </a:solidFill>
              </a:rPr>
              <a:t>Anirudh Sivaraman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501DE95-D977-3B4A-B70F-2BCD6C9E7D70}"/>
              </a:ext>
            </a:extLst>
          </p:cNvPr>
          <p:cNvSpPr txBox="1"/>
          <p:nvPr/>
        </p:nvSpPr>
        <p:spPr>
          <a:xfrm>
            <a:off x="2104291" y="4999164"/>
            <a:ext cx="79834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7030A0"/>
                </a:solidFill>
              </a:rPr>
              <a:t>NYU</a:t>
            </a:r>
            <a:r>
              <a:rPr lang="en-US" sz="2400" dirty="0"/>
              <a:t>, </a:t>
            </a:r>
            <a:r>
              <a:rPr lang="en-US" sz="2400" dirty="0">
                <a:solidFill>
                  <a:schemeClr val="accent2"/>
                </a:solidFill>
              </a:rPr>
              <a:t>UIUC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FF0000"/>
                </a:solidFill>
              </a:rPr>
              <a:t>Rutgers University</a:t>
            </a:r>
          </a:p>
        </p:txBody>
      </p:sp>
    </p:spTree>
    <p:extLst>
      <p:ext uri="{BB962C8B-B14F-4D97-AF65-F5344CB8AC3E}">
        <p14:creationId xmlns:p14="http://schemas.microsoft.com/office/powerpoint/2010/main" val="8125356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2554CA6-288E-4202-BC52-2E5A8F0C0A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10BB131-AC8E-4A8E-A5D1-36260F720C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9189" y="1119031"/>
            <a:ext cx="4619938" cy="461993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E742E8-4CD8-EB6F-C05C-4848D570B4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1074" y="1396686"/>
            <a:ext cx="3240506" cy="4064628"/>
          </a:xfrm>
        </p:spPr>
        <p:txBody>
          <a:bodyPr>
            <a:normAutofit/>
          </a:bodyPr>
          <a:lstStyle/>
          <a:p>
            <a:pPr rtl="0"/>
            <a:r>
              <a:rPr lang="en-US" b="0" i="0" u="none" strike="noStrike" dirty="0"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Sequencers are everywhere</a:t>
            </a:r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5B7778FC-632E-4DCA-A7CB-0D7731CCF9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9809111">
            <a:off x="8683720" y="941148"/>
            <a:ext cx="2987899" cy="2987899"/>
          </a:xfrm>
          <a:prstGeom prst="arc">
            <a:avLst>
              <a:gd name="adj1" fmla="val 15817365"/>
              <a:gd name="adj2" fmla="val 178138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FA23A907-97FB-4A8F-880A-DD77401C4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0048" y="4780992"/>
            <a:ext cx="546100" cy="5461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C096F3-77C1-F2BE-0F60-3E6DFB1A92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0153" y="1526033"/>
            <a:ext cx="5536397" cy="3935281"/>
          </a:xfrm>
        </p:spPr>
        <p:txBody>
          <a:bodyPr>
            <a:normAutofit/>
          </a:bodyPr>
          <a:lstStyle/>
          <a:p>
            <a:pPr rtl="0" fontAlgn="base">
              <a:buFont typeface="Arial" panose="020B0604020202020204" pitchFamily="34" charset="0"/>
              <a:buChar char="•"/>
            </a:pPr>
            <a:r>
              <a:rPr lang="en-US" sz="1800" b="0" i="0" u="none" strike="noStrike" dirty="0">
                <a:effectLst/>
                <a:latin typeface="Arial" panose="020B0604020202020204" pitchFamily="34" charset="0"/>
              </a:rPr>
              <a:t>Used for achieving total order of events</a:t>
            </a:r>
            <a:br>
              <a:rPr lang="en-US" sz="1800" b="0" i="0" u="none" strike="noStrike" dirty="0">
                <a:effectLst/>
                <a:latin typeface="Arial" panose="020B0604020202020204" pitchFamily="34" charset="0"/>
              </a:rPr>
            </a:br>
            <a:endParaRPr lang="en-US" sz="1800" b="0" i="0" u="none" strike="noStrike" dirty="0">
              <a:effectLst/>
              <a:latin typeface="Arial" panose="020B0604020202020204" pitchFamily="34" charset="0"/>
            </a:endParaRPr>
          </a:p>
          <a:p>
            <a:pPr rtl="0" fontAlgn="base">
              <a:buFont typeface="Arial" panose="020B0604020202020204" pitchFamily="34" charset="0"/>
              <a:buChar char="•"/>
            </a:pPr>
            <a:r>
              <a:rPr lang="en-US" sz="1800" b="0" i="0" u="none" strike="noStrike" dirty="0">
                <a:effectLst/>
                <a:latin typeface="Arial" panose="020B0604020202020204" pitchFamily="34" charset="0"/>
              </a:rPr>
              <a:t>Paxos leader implicitly works as a sequencer</a:t>
            </a:r>
            <a:br>
              <a:rPr lang="en-US" sz="1800" b="0" i="0" u="none" strike="noStrike" dirty="0">
                <a:effectLst/>
                <a:latin typeface="Arial" panose="020B0604020202020204" pitchFamily="34" charset="0"/>
              </a:rPr>
            </a:br>
            <a:endParaRPr lang="en-US" sz="1800" b="0" i="0" u="none" strike="noStrike" dirty="0">
              <a:effectLst/>
              <a:latin typeface="Arial" panose="020B0604020202020204" pitchFamily="34" charset="0"/>
            </a:endParaRPr>
          </a:p>
          <a:p>
            <a:pPr rtl="0" fontAlgn="base">
              <a:buFont typeface="Arial" panose="020B0604020202020204" pitchFamily="34" charset="0"/>
              <a:buChar char="•"/>
            </a:pPr>
            <a:r>
              <a:rPr lang="en-US" sz="1800" b="0" i="0" u="none" strike="noStrike" dirty="0" err="1">
                <a:effectLst/>
                <a:latin typeface="Arial" panose="020B0604020202020204" pitchFamily="34" charset="0"/>
              </a:rPr>
              <a:t>NOPaxos</a:t>
            </a:r>
            <a:r>
              <a:rPr lang="en-US" sz="1800" b="0" i="0" u="none" strike="noStrike" dirty="0">
                <a:effectLst/>
                <a:latin typeface="Arial" panose="020B0604020202020204" pitchFamily="34" charset="0"/>
              </a:rPr>
              <a:t>, Hydra, Eris decouple the sequencer from consensus and propose implementing a sequencer as a separate component</a:t>
            </a:r>
            <a:br>
              <a:rPr lang="en-US" sz="1800" b="0" i="0" u="none" strike="noStrike" dirty="0">
                <a:effectLst/>
                <a:latin typeface="Arial" panose="020B0604020202020204" pitchFamily="34" charset="0"/>
              </a:rPr>
            </a:br>
            <a:endParaRPr lang="en-US" sz="1800" b="0" i="0" u="none" strike="noStrike" dirty="0">
              <a:effectLst/>
              <a:latin typeface="Arial" panose="020B0604020202020204" pitchFamily="34" charset="0"/>
            </a:endParaRPr>
          </a:p>
          <a:p>
            <a:pPr rtl="0" fontAlgn="base">
              <a:buFont typeface="Arial" panose="020B0604020202020204" pitchFamily="34" charset="0"/>
              <a:buChar char="•"/>
            </a:pPr>
            <a:r>
              <a:rPr lang="en-US" sz="1800" b="0" i="0" u="none" strike="noStrike" dirty="0">
                <a:effectLst/>
                <a:latin typeface="Arial" panose="020B0604020202020204" pitchFamily="34" charset="0"/>
              </a:rPr>
              <a:t>All these sequencers achieve a total order that is </a:t>
            </a:r>
            <a:r>
              <a:rPr lang="en-US" sz="1800" b="1" i="1" u="none" strike="noStrike" dirty="0">
                <a:effectLst/>
                <a:latin typeface="Arial" panose="020B0604020202020204" pitchFamily="34" charset="0"/>
              </a:rPr>
              <a:t>arbitrary </a:t>
            </a:r>
            <a:r>
              <a:rPr lang="en-US" sz="1800" dirty="0">
                <a:latin typeface="Arial" panose="020B0604020202020204" pitchFamily="34" charset="0"/>
              </a:rPr>
              <a:t>i.e., any total order works.</a:t>
            </a:r>
            <a:br>
              <a:rPr lang="en-US" sz="1800" b="1" i="1" u="none" strike="noStrike" dirty="0">
                <a:effectLst/>
                <a:latin typeface="Arial" panose="020B0604020202020204" pitchFamily="34" charset="0"/>
              </a:rPr>
            </a:br>
            <a:endParaRPr lang="en-US" sz="1800" b="0" i="0" u="none" strike="noStrike" dirty="0">
              <a:effectLst/>
              <a:latin typeface="Arial" panose="020B0604020202020204" pitchFamily="34" charset="0"/>
            </a:endParaRPr>
          </a:p>
          <a:p>
            <a:pPr rtl="0" fontAlgn="base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800" b="0" i="0" u="none" strike="noStrike" dirty="0">
                <a:effectLst/>
                <a:latin typeface="Arial" panose="020B0604020202020204" pitchFamily="34" charset="0"/>
              </a:rPr>
              <a:t>An arbitrary total order is good enough for conventional applications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DCF333-39DA-D3BB-F9AD-89BD41F710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90499990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B867FF-FC45-48F7-8104-F89BE54909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BB56887-D0D5-4F0C-9E19-7247EB83C8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08695" y="1"/>
            <a:ext cx="1135066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ADE8E6-3934-65AF-F2A8-2FE608293C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pPr rtl="0"/>
            <a:r>
              <a:rPr lang="en-US" b="0" i="0" u="none" strike="noStrike">
                <a:effectLst/>
                <a:latin typeface="Arial" panose="020B0604020202020204" pitchFamily="34" charset="0"/>
              </a:rPr>
              <a:t>Need for Fair Order</a:t>
            </a:r>
            <a:endParaRPr lang="en-US"/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V="1">
            <a:off x="555710" y="2183223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960629-54F1-1B18-2FB7-B936B6D3C4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rtl="0" fontAlgn="base">
              <a:buFont typeface="Arial" panose="020B0604020202020204" pitchFamily="34" charset="0"/>
              <a:buChar char="•"/>
            </a:pPr>
            <a:r>
              <a:rPr lang="en-US" b="0" i="0" u="none" strike="noStrike" dirty="0">
                <a:effectLst/>
                <a:latin typeface="Arial" panose="020B0604020202020204" pitchFamily="34" charset="0"/>
              </a:rPr>
              <a:t>An emerging class of applications are not okay with arbitrary order</a:t>
            </a:r>
            <a:br>
              <a:rPr lang="en-US" b="0" i="0" u="none" strike="noStrike" dirty="0">
                <a:effectLst/>
                <a:latin typeface="Arial" panose="020B0604020202020204" pitchFamily="34" charset="0"/>
              </a:rPr>
            </a:br>
            <a:endParaRPr lang="en-US" b="0" i="0" u="none" strike="noStrike" dirty="0">
              <a:effectLst/>
              <a:latin typeface="Arial" panose="020B0604020202020204" pitchFamily="34" charset="0"/>
            </a:endParaRPr>
          </a:p>
          <a:p>
            <a:pPr rtl="0" fontAlgn="base">
              <a:buFont typeface="Arial" panose="020B0604020202020204" pitchFamily="34" charset="0"/>
              <a:buChar char="•"/>
            </a:pPr>
            <a:r>
              <a:rPr lang="en-US" b="0" i="0" u="none" strike="noStrike" dirty="0">
                <a:effectLst/>
                <a:latin typeface="Arial" panose="020B0604020202020204" pitchFamily="34" charset="0"/>
              </a:rPr>
              <a:t>These applications require a fair order where fairness amounts to achieving an order that respects the event generation order </a:t>
            </a:r>
            <a:br>
              <a:rPr lang="en-US" b="0" i="0" u="none" strike="noStrike" dirty="0">
                <a:effectLst/>
                <a:latin typeface="Arial" panose="020B0604020202020204" pitchFamily="34" charset="0"/>
              </a:rPr>
            </a:br>
            <a:endParaRPr lang="en-US" b="0" i="0" u="none" strike="noStrike" dirty="0">
              <a:effectLst/>
              <a:latin typeface="Arial" panose="020B0604020202020204" pitchFamily="34" charset="0"/>
            </a:endParaRPr>
          </a:p>
          <a:p>
            <a:pPr rtl="0" fontAlgn="base">
              <a:buFont typeface="Arial" panose="020B0604020202020204" pitchFamily="34" charset="0"/>
              <a:buChar char="•"/>
            </a:pPr>
            <a:r>
              <a:rPr lang="en-US" b="0" i="0" u="none" strike="noStrike" dirty="0">
                <a:effectLst/>
                <a:latin typeface="Arial" panose="020B0604020202020204" pitchFamily="34" charset="0"/>
              </a:rPr>
              <a:t>Financial exchanges, ad exchanges, competitive marketplaces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252E35-7667-7A1B-A097-7BBB11654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prstClr val="black">
                    <a:tint val="82000"/>
                  </a:prstClr>
                </a:solidFill>
                <a:latin typeface="Aptos" panose="02110004020202020204"/>
              </a:rPr>
              <a:t>2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81703939"/>
      </p:ext>
    </p:extLst>
  </p:cSld>
  <p:clrMapOvr>
    <a:masterClrMapping/>
  </p:clrMapOvr>
  <p:transition spd="slow">
    <p:push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837543A-6020-4505-A233-C9DB4BF740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A210813-5405-B9CB-F757-FF99291F1C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558489" cy="1325563"/>
          </a:xfrm>
        </p:spPr>
        <p:txBody>
          <a:bodyPr>
            <a:normAutofit/>
          </a:bodyPr>
          <a:lstStyle/>
          <a:p>
            <a:r>
              <a:rPr lang="en-US" dirty="0"/>
              <a:t>Challenge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5B16301-FB18-48BA-A6DD-C37CAF6F9A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08695" y="1"/>
            <a:ext cx="1135066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CCB756-7712-C1B1-49F8-5237AE3368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558489" cy="4351338"/>
          </a:xfrm>
        </p:spPr>
        <p:txBody>
          <a:bodyPr>
            <a:normAutofit/>
          </a:bodyPr>
          <a:lstStyle/>
          <a:p>
            <a:pPr rtl="0" fontAlgn="base">
              <a:buFont typeface="Arial" panose="020B0604020202020204" pitchFamily="34" charset="0"/>
              <a:buChar char="•"/>
            </a:pPr>
            <a:r>
              <a:rPr lang="en-US" b="0" i="0" u="none" strike="noStrike" dirty="0">
                <a:effectLst/>
                <a:latin typeface="Arial" panose="020B0604020202020204" pitchFamily="34" charset="0"/>
              </a:rPr>
              <a:t>Challenging to achieve fair order in a general distributed setting.</a:t>
            </a:r>
          </a:p>
          <a:p>
            <a:pPr marL="742950" lvl="1" indent="-285750" rtl="0" fontAlgn="base">
              <a:buFont typeface="Arial" panose="020B0604020202020204" pitchFamily="34" charset="0"/>
              <a:buChar char="•"/>
            </a:pPr>
            <a:r>
              <a:rPr lang="en-US" b="0" i="0" u="none" strike="noStrike" dirty="0">
                <a:effectLst/>
                <a:latin typeface="Arial" panose="020B0604020202020204" pitchFamily="34" charset="0"/>
              </a:rPr>
              <a:t>Two main culprits: </a:t>
            </a:r>
          </a:p>
          <a:p>
            <a:pPr marL="1143000" lvl="2" indent="-228600" rtl="0" fontAlgn="base">
              <a:buFont typeface="Arial" panose="020B0604020202020204" pitchFamily="34" charset="0"/>
              <a:buChar char="•"/>
            </a:pPr>
            <a:r>
              <a:rPr lang="en-US" b="0" i="0" u="none" strike="noStrike" dirty="0">
                <a:effectLst/>
                <a:latin typeface="Arial" panose="020B0604020202020204" pitchFamily="34" charset="0"/>
              </a:rPr>
              <a:t>Noisy timestamps</a:t>
            </a:r>
          </a:p>
          <a:p>
            <a:pPr marL="1143000" lvl="2" indent="-228600" rtl="0" fontAlgn="base">
              <a:buFont typeface="Arial" panose="020B0604020202020204" pitchFamily="34" charset="0"/>
              <a:buChar char="•"/>
            </a:pPr>
            <a:r>
              <a:rPr lang="en-US" b="0" i="0" u="none" strike="noStrike" dirty="0">
                <a:effectLst/>
                <a:latin typeface="Arial" panose="020B0604020202020204" pitchFamily="34" charset="0"/>
              </a:rPr>
              <a:t>Asynchrony in data path: host + physical network</a:t>
            </a:r>
            <a:br>
              <a:rPr lang="en-US" b="0" i="0" u="none" strike="noStrike" dirty="0">
                <a:effectLst/>
                <a:latin typeface="Arial" panose="020B0604020202020204" pitchFamily="34" charset="0"/>
              </a:rPr>
            </a:br>
            <a:endParaRPr lang="en-US" b="0" i="0" u="none" strike="noStrike" dirty="0">
              <a:effectLst/>
              <a:latin typeface="Arial" panose="020B0604020202020204" pitchFamily="34" charset="0"/>
            </a:endParaRPr>
          </a:p>
          <a:p>
            <a:pPr fontAlgn="base">
              <a:spcAft>
                <a:spcPts val="1200"/>
              </a:spcAft>
            </a:pPr>
            <a:r>
              <a:rPr lang="en-US" dirty="0">
                <a:latin typeface="Arial" panose="020B0604020202020204" pitchFamily="34" charset="0"/>
              </a:rPr>
              <a:t>What can we do?</a:t>
            </a:r>
            <a:endParaRPr lang="en-US" b="0" i="0" u="none" strike="noStrike" dirty="0">
              <a:effectLst/>
              <a:latin typeface="Arial" panose="020B0604020202020204" pitchFamily="34" charset="0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3C0D90E-074A-4F52-9B11-B52BEF4BCB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2624479"/>
            <a:ext cx="812427" cy="812427"/>
          </a:xfrm>
          <a:prstGeom prst="ellipse">
            <a:avLst/>
          </a:prstGeom>
          <a:noFill/>
          <a:ln w="1270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Block Arc 13">
            <a:extLst>
              <a:ext uri="{FF2B5EF4-FFF2-40B4-BE49-F238E27FC236}">
                <a16:creationId xmlns:a16="http://schemas.microsoft.com/office/drawing/2014/main" id="{CABBD4C1-E6F8-46F6-8152-A8A97490BF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912417" y="1218531"/>
            <a:ext cx="2387600" cy="2387600"/>
          </a:xfrm>
          <a:prstGeom prst="blockArc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83BA5EF5-1FE9-4BF9-83BB-269BCDDF61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0"/>
            <a:ext cx="2315251" cy="1550992"/>
          </a:xfrm>
          <a:custGeom>
            <a:avLst/>
            <a:gdLst>
              <a:gd name="connsiteX0" fmla="*/ 0 w 2315251"/>
              <a:gd name="connsiteY0" fmla="*/ 0 h 1550992"/>
              <a:gd name="connsiteX1" fmla="*/ 138700 w 2315251"/>
              <a:gd name="connsiteY1" fmla="*/ 0 h 1550992"/>
              <a:gd name="connsiteX2" fmla="*/ 138700 w 2315251"/>
              <a:gd name="connsiteY2" fmla="*/ 1361400 h 1550992"/>
              <a:gd name="connsiteX3" fmla="*/ 2107387 w 2315251"/>
              <a:gd name="connsiteY3" fmla="*/ 222673 h 1550992"/>
              <a:gd name="connsiteX4" fmla="*/ 1722420 w 2315251"/>
              <a:gd name="connsiteY4" fmla="*/ 0 h 1550992"/>
              <a:gd name="connsiteX5" fmla="*/ 1999436 w 2315251"/>
              <a:gd name="connsiteY5" fmla="*/ 0 h 1550992"/>
              <a:gd name="connsiteX6" fmla="*/ 2280549 w 2315251"/>
              <a:gd name="connsiteY6" fmla="*/ 162605 h 1550992"/>
              <a:gd name="connsiteX7" fmla="*/ 2305953 w 2315251"/>
              <a:gd name="connsiteY7" fmla="*/ 257336 h 1550992"/>
              <a:gd name="connsiteX8" fmla="*/ 2280549 w 2315251"/>
              <a:gd name="connsiteY8" fmla="*/ 282740 h 1550992"/>
              <a:gd name="connsiteX9" fmla="*/ 104026 w 2315251"/>
              <a:gd name="connsiteY9" fmla="*/ 1541710 h 1550992"/>
              <a:gd name="connsiteX10" fmla="*/ 69351 w 2315251"/>
              <a:gd name="connsiteY10" fmla="*/ 1550992 h 1550992"/>
              <a:gd name="connsiteX11" fmla="*/ 0 w 2315251"/>
              <a:gd name="connsiteY11" fmla="*/ 1481643 h 15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315251" h="1550992">
                <a:moveTo>
                  <a:pt x="0" y="0"/>
                </a:moveTo>
                <a:lnTo>
                  <a:pt x="138700" y="0"/>
                </a:lnTo>
                <a:lnTo>
                  <a:pt x="138700" y="1361400"/>
                </a:lnTo>
                <a:lnTo>
                  <a:pt x="2107387" y="222673"/>
                </a:lnTo>
                <a:lnTo>
                  <a:pt x="1722420" y="0"/>
                </a:lnTo>
                <a:lnTo>
                  <a:pt x="1999436" y="0"/>
                </a:lnTo>
                <a:lnTo>
                  <a:pt x="2280549" y="162605"/>
                </a:lnTo>
                <a:cubicBezTo>
                  <a:pt x="2313720" y="181745"/>
                  <a:pt x="2325104" y="224155"/>
                  <a:pt x="2305953" y="257336"/>
                </a:cubicBezTo>
                <a:cubicBezTo>
                  <a:pt x="2299872" y="267889"/>
                  <a:pt x="2291101" y="276648"/>
                  <a:pt x="2280549" y="282740"/>
                </a:cubicBezTo>
                <a:lnTo>
                  <a:pt x="104026" y="1541710"/>
                </a:lnTo>
                <a:cubicBezTo>
                  <a:pt x="93484" y="1547802"/>
                  <a:pt x="81523" y="1551003"/>
                  <a:pt x="69351" y="1550992"/>
                </a:cubicBezTo>
                <a:cubicBezTo>
                  <a:pt x="31049" y="1550992"/>
                  <a:pt x="0" y="1519944"/>
                  <a:pt x="0" y="1481643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4B3BCACB-5880-460B-9606-8C433A9AF9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724638" y="1331572"/>
            <a:ext cx="0" cy="1597708"/>
          </a:xfrm>
          <a:prstGeom prst="line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88853921-7BC9-4BDE-ACAB-133C683C82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05550" y="4112081"/>
            <a:ext cx="1186451" cy="1771650"/>
          </a:xfrm>
          <a:custGeom>
            <a:avLst/>
            <a:gdLst>
              <a:gd name="connsiteX0" fmla="*/ 61913 w 1186451"/>
              <a:gd name="connsiteY0" fmla="*/ 0 h 1771650"/>
              <a:gd name="connsiteX1" fmla="*/ 1186451 w 1186451"/>
              <a:gd name="connsiteY1" fmla="*/ 0 h 1771650"/>
              <a:gd name="connsiteX2" fmla="*/ 1186451 w 1186451"/>
              <a:gd name="connsiteY2" fmla="*/ 123825 h 1771650"/>
              <a:gd name="connsiteX3" fmla="*/ 123825 w 1186451"/>
              <a:gd name="connsiteY3" fmla="*/ 123825 h 1771650"/>
              <a:gd name="connsiteX4" fmla="*/ 123825 w 1186451"/>
              <a:gd name="connsiteY4" fmla="*/ 1647825 h 1771650"/>
              <a:gd name="connsiteX5" fmla="*/ 1186451 w 1186451"/>
              <a:gd name="connsiteY5" fmla="*/ 1647825 h 1771650"/>
              <a:gd name="connsiteX6" fmla="*/ 1186451 w 1186451"/>
              <a:gd name="connsiteY6" fmla="*/ 1771650 h 1771650"/>
              <a:gd name="connsiteX7" fmla="*/ 61913 w 1186451"/>
              <a:gd name="connsiteY7" fmla="*/ 1771650 h 1771650"/>
              <a:gd name="connsiteX8" fmla="*/ 0 w 1186451"/>
              <a:gd name="connsiteY8" fmla="*/ 1709738 h 1771650"/>
              <a:gd name="connsiteX9" fmla="*/ 0 w 1186451"/>
              <a:gd name="connsiteY9" fmla="*/ 61913 h 1771650"/>
              <a:gd name="connsiteX10" fmla="*/ 61913 w 1186451"/>
              <a:gd name="connsiteY10" fmla="*/ 0 h 177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86451" h="1771650">
                <a:moveTo>
                  <a:pt x="61913" y="0"/>
                </a:moveTo>
                <a:lnTo>
                  <a:pt x="1186451" y="0"/>
                </a:lnTo>
                <a:lnTo>
                  <a:pt x="1186451" y="123825"/>
                </a:lnTo>
                <a:lnTo>
                  <a:pt x="123825" y="123825"/>
                </a:lnTo>
                <a:lnTo>
                  <a:pt x="123825" y="1647825"/>
                </a:lnTo>
                <a:lnTo>
                  <a:pt x="1186451" y="1647825"/>
                </a:lnTo>
                <a:lnTo>
                  <a:pt x="1186451" y="1771650"/>
                </a:lnTo>
                <a:lnTo>
                  <a:pt x="61913" y="1771650"/>
                </a:lnTo>
                <a:cubicBezTo>
                  <a:pt x="27719" y="1771650"/>
                  <a:pt x="0" y="1743932"/>
                  <a:pt x="0" y="1709738"/>
                </a:cubicBez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Arc 21">
            <a:extLst>
              <a:ext uri="{FF2B5EF4-FFF2-40B4-BE49-F238E27FC236}">
                <a16:creationId xmlns:a16="http://schemas.microsoft.com/office/drawing/2014/main" id="{09192968-3AE7-4470-A61C-97294BB927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992895">
            <a:off x="6086940" y="4145122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3AB72E55-43E4-4356-BFE8-E2102CB0B5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4962670"/>
            <a:ext cx="2643352" cy="1895331"/>
          </a:xfrm>
          <a:custGeom>
            <a:avLst/>
            <a:gdLst>
              <a:gd name="connsiteX0" fmla="*/ 1321676 w 2643352"/>
              <a:gd name="connsiteY0" fmla="*/ 0 h 1895331"/>
              <a:gd name="connsiteX1" fmla="*/ 2643352 w 2643352"/>
              <a:gd name="connsiteY1" fmla="*/ 1321676 h 1895331"/>
              <a:gd name="connsiteX2" fmla="*/ 2539488 w 2643352"/>
              <a:gd name="connsiteY2" fmla="*/ 1836132 h 1895331"/>
              <a:gd name="connsiteX3" fmla="*/ 2510970 w 2643352"/>
              <a:gd name="connsiteY3" fmla="*/ 1895331 h 1895331"/>
              <a:gd name="connsiteX4" fmla="*/ 132382 w 2643352"/>
              <a:gd name="connsiteY4" fmla="*/ 1895331 h 1895331"/>
              <a:gd name="connsiteX5" fmla="*/ 103864 w 2643352"/>
              <a:gd name="connsiteY5" fmla="*/ 1836132 h 1895331"/>
              <a:gd name="connsiteX6" fmla="*/ 0 w 2643352"/>
              <a:gd name="connsiteY6" fmla="*/ 1321676 h 1895331"/>
              <a:gd name="connsiteX7" fmla="*/ 1321676 w 2643352"/>
              <a:gd name="connsiteY7" fmla="*/ 0 h 1895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43352" h="1895331">
                <a:moveTo>
                  <a:pt x="1321676" y="0"/>
                </a:moveTo>
                <a:cubicBezTo>
                  <a:pt x="2051617" y="0"/>
                  <a:pt x="2643352" y="591735"/>
                  <a:pt x="2643352" y="1321676"/>
                </a:cubicBezTo>
                <a:cubicBezTo>
                  <a:pt x="2643352" y="1504161"/>
                  <a:pt x="2606369" y="1678009"/>
                  <a:pt x="2539488" y="1836132"/>
                </a:cubicBezTo>
                <a:lnTo>
                  <a:pt x="2510970" y="1895331"/>
                </a:lnTo>
                <a:lnTo>
                  <a:pt x="132382" y="1895331"/>
                </a:lnTo>
                <a:lnTo>
                  <a:pt x="103864" y="1836132"/>
                </a:lnTo>
                <a:cubicBezTo>
                  <a:pt x="36984" y="1678009"/>
                  <a:pt x="0" y="1504161"/>
                  <a:pt x="0" y="1321676"/>
                </a:cubicBezTo>
                <a:cubicBezTo>
                  <a:pt x="0" y="591735"/>
                  <a:pt x="591735" y="0"/>
                  <a:pt x="1321676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10291C-AA17-3899-DE42-54CD2F209F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942362467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7C98A213-5994-475E-B327-DC6EC27FBA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1C4D224-5178-681C-4743-9313F7A614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670218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dirty="0"/>
              <a:t>What’s out there?</a:t>
            </a:r>
          </a:p>
        </p:txBody>
      </p:sp>
      <p:sp>
        <p:nvSpPr>
          <p:cNvPr id="16" name="sketch line">
            <a:extLst>
              <a:ext uri="{FF2B5EF4-FFF2-40B4-BE49-F238E27FC236}">
                <a16:creationId xmlns:a16="http://schemas.microsoft.com/office/drawing/2014/main" id="{4B030A0D-0DAD-4A99-89BB-419527D6A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89376" y="1800088"/>
            <a:ext cx="5410200" cy="18288"/>
          </a:xfrm>
          <a:custGeom>
            <a:avLst/>
            <a:gdLst>
              <a:gd name="connsiteX0" fmla="*/ 0 w 5410200"/>
              <a:gd name="connsiteY0" fmla="*/ 0 h 18288"/>
              <a:gd name="connsiteX1" fmla="*/ 568071 w 5410200"/>
              <a:gd name="connsiteY1" fmla="*/ 0 h 18288"/>
              <a:gd name="connsiteX2" fmla="*/ 1298448 w 5410200"/>
              <a:gd name="connsiteY2" fmla="*/ 0 h 18288"/>
              <a:gd name="connsiteX3" fmla="*/ 1920621 w 5410200"/>
              <a:gd name="connsiteY3" fmla="*/ 0 h 18288"/>
              <a:gd name="connsiteX4" fmla="*/ 2488692 w 5410200"/>
              <a:gd name="connsiteY4" fmla="*/ 0 h 18288"/>
              <a:gd name="connsiteX5" fmla="*/ 3219069 w 5410200"/>
              <a:gd name="connsiteY5" fmla="*/ 0 h 18288"/>
              <a:gd name="connsiteX6" fmla="*/ 3895344 w 5410200"/>
              <a:gd name="connsiteY6" fmla="*/ 0 h 18288"/>
              <a:gd name="connsiteX7" fmla="*/ 4571619 w 5410200"/>
              <a:gd name="connsiteY7" fmla="*/ 0 h 18288"/>
              <a:gd name="connsiteX8" fmla="*/ 5410200 w 5410200"/>
              <a:gd name="connsiteY8" fmla="*/ 0 h 18288"/>
              <a:gd name="connsiteX9" fmla="*/ 5410200 w 5410200"/>
              <a:gd name="connsiteY9" fmla="*/ 18288 h 18288"/>
              <a:gd name="connsiteX10" fmla="*/ 4842129 w 5410200"/>
              <a:gd name="connsiteY10" fmla="*/ 18288 h 18288"/>
              <a:gd name="connsiteX11" fmla="*/ 4328160 w 5410200"/>
              <a:gd name="connsiteY11" fmla="*/ 18288 h 18288"/>
              <a:gd name="connsiteX12" fmla="*/ 3597783 w 5410200"/>
              <a:gd name="connsiteY12" fmla="*/ 18288 h 18288"/>
              <a:gd name="connsiteX13" fmla="*/ 3029712 w 5410200"/>
              <a:gd name="connsiteY13" fmla="*/ 18288 h 18288"/>
              <a:gd name="connsiteX14" fmla="*/ 2299335 w 5410200"/>
              <a:gd name="connsiteY14" fmla="*/ 18288 h 18288"/>
              <a:gd name="connsiteX15" fmla="*/ 1514856 w 5410200"/>
              <a:gd name="connsiteY15" fmla="*/ 18288 h 18288"/>
              <a:gd name="connsiteX16" fmla="*/ 892683 w 5410200"/>
              <a:gd name="connsiteY16" fmla="*/ 18288 h 18288"/>
              <a:gd name="connsiteX17" fmla="*/ 0 w 5410200"/>
              <a:gd name="connsiteY17" fmla="*/ 18288 h 18288"/>
              <a:gd name="connsiteX18" fmla="*/ 0 w 5410200"/>
              <a:gd name="connsiteY18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2BCD947-9B30-D89E-2ECB-37BCE1B57F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650" y="1955550"/>
            <a:ext cx="3355593" cy="360004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F5A8F8D-7460-0733-B961-18005D22FE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9655" y="2057982"/>
            <a:ext cx="3758184" cy="339517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7065025-3B56-BEAA-EFCC-9A0987794F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3955" y="2143395"/>
            <a:ext cx="3758184" cy="322435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3B6E6BE-F141-FBB5-F158-BE9759EEE9D2}"/>
              </a:ext>
            </a:extLst>
          </p:cNvPr>
          <p:cNvSpPr txBox="1"/>
          <p:nvPr/>
        </p:nvSpPr>
        <p:spPr>
          <a:xfrm>
            <a:off x="878731" y="5369599"/>
            <a:ext cx="29535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On-premises exchanges / private data centers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05BEEBA-FC45-3F8F-150E-4B11C4139718}"/>
              </a:ext>
            </a:extLst>
          </p:cNvPr>
          <p:cNvSpPr txBox="1"/>
          <p:nvPr/>
        </p:nvSpPr>
        <p:spPr>
          <a:xfrm>
            <a:off x="4863630" y="5367746"/>
            <a:ext cx="29535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Single region public cloud +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time resolution of microseconds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0273B3B-8A6B-41E0-BD8E-D0BAD9B1B3FB}"/>
              </a:ext>
            </a:extLst>
          </p:cNvPr>
          <p:cNvSpPr txBox="1"/>
          <p:nvPr/>
        </p:nvSpPr>
        <p:spPr>
          <a:xfrm>
            <a:off x="9290978" y="5367746"/>
            <a:ext cx="29535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Everywhere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probabilistic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25E686-49DA-E605-38DE-AADE031046B5}"/>
              </a:ext>
            </a:extLst>
          </p:cNvPr>
          <p:cNvSpPr txBox="1"/>
          <p:nvPr/>
        </p:nvSpPr>
        <p:spPr>
          <a:xfrm>
            <a:off x="5620338" y="2649741"/>
            <a:ext cx="714106" cy="3693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Onyx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EFEE6B-146F-F7C5-5F98-DB9884E838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498613506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/>
      <p:bldP spid="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7C6450-46E6-F9F6-7641-C7262B7278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823445-8E5D-FA2A-CE52-EA7F65C5CC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670218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dirty="0"/>
              <a:t>A Simple Solution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7DF8024-26FA-3601-0AE8-C10E5716BEE9}"/>
              </a:ext>
            </a:extLst>
          </p:cNvPr>
          <p:cNvSpPr txBox="1"/>
          <p:nvPr/>
        </p:nvSpPr>
        <p:spPr>
          <a:xfrm>
            <a:off x="638880" y="2013404"/>
            <a:ext cx="1108754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Use </a:t>
            </a:r>
            <a:r>
              <a:rPr kumimoji="0" 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TrueTime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(Spanner) API to represent each timestamp as an interval 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Two non-overlapping intervals can be confidently ordered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Two overlapping intervals must be assigned the same sequence number/rank as ordering is uncertain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We will use this as</a:t>
            </a:r>
            <a:r>
              <a:rPr kumimoji="0" lang="en-US" sz="28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a baseline to compare against.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3FF5CF7-1691-758D-F49E-EA986DE2E4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6652822"/>
      </p:ext>
    </p:extLst>
  </p:cSld>
  <p:clrMapOvr>
    <a:masterClrMapping/>
  </p:clrMapOvr>
  <p:transition spd="slow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9D7583-65CE-FD5B-F047-8ED7AFA8C4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960312-C3C7-E0A1-261B-8CE2E1B857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Probabilistic Fair Ordering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4F9858-6696-1E3A-4BF1-DDF8B7D812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Lamport introduced </a:t>
            </a:r>
            <a:r>
              <a:rPr lang="en-US" i="1" dirty="0"/>
              <a:t>happened-before, </a:t>
            </a:r>
          </a:p>
          <a:p>
            <a:r>
              <a:rPr lang="en-US" dirty="0"/>
              <a:t>Causally related events can be related with</a:t>
            </a:r>
          </a:p>
          <a:p>
            <a:r>
              <a:rPr lang="en-US" dirty="0"/>
              <a:t>Achieves partial order on all causally relatable events</a:t>
            </a:r>
          </a:p>
          <a:p>
            <a:r>
              <a:rPr lang="en-US" dirty="0"/>
              <a:t>Concurrent events are not relatable with  </a:t>
            </a:r>
          </a:p>
          <a:p>
            <a:endParaRPr lang="en-US" dirty="0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76E1D6BF-0AE2-EAEE-CE73-BC8715B93F10}"/>
              </a:ext>
            </a:extLst>
          </p:cNvPr>
          <p:cNvCxnSpPr>
            <a:cxnSpLocks/>
          </p:cNvCxnSpPr>
          <p:nvPr/>
        </p:nvCxnSpPr>
        <p:spPr>
          <a:xfrm>
            <a:off x="7120919" y="2065468"/>
            <a:ext cx="376518" cy="0"/>
          </a:xfrm>
          <a:prstGeom prst="straightConnector1">
            <a:avLst/>
          </a:prstGeom>
          <a:ln w="28575"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0D43C9C-17F1-3FCA-117D-320F9889B21A}"/>
              </a:ext>
            </a:extLst>
          </p:cNvPr>
          <p:cNvCxnSpPr>
            <a:cxnSpLocks/>
          </p:cNvCxnSpPr>
          <p:nvPr/>
        </p:nvCxnSpPr>
        <p:spPr>
          <a:xfrm>
            <a:off x="7752678" y="2562112"/>
            <a:ext cx="376518" cy="0"/>
          </a:xfrm>
          <a:prstGeom prst="straightConnector1">
            <a:avLst/>
          </a:prstGeom>
          <a:ln w="28575"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DB8E145E-25A5-B74C-F4B2-8011621BDBDB}"/>
              </a:ext>
            </a:extLst>
          </p:cNvPr>
          <p:cNvCxnSpPr>
            <a:cxnSpLocks/>
          </p:cNvCxnSpPr>
          <p:nvPr/>
        </p:nvCxnSpPr>
        <p:spPr>
          <a:xfrm>
            <a:off x="7376160" y="3575124"/>
            <a:ext cx="376518" cy="0"/>
          </a:xfrm>
          <a:prstGeom prst="straightConnector1">
            <a:avLst/>
          </a:prstGeom>
          <a:ln w="28575"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6683A0-542F-ABD0-2A97-E4E686280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371488455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F6BB7-FB52-9C27-0ECA-53F1A0624B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Probabilistic Fair Ordering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4194B6-C6D8-D9C0-86F2-77076327D7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are precisely interested in ordering these concurrent events</a:t>
            </a:r>
          </a:p>
          <a:p>
            <a:r>
              <a:rPr lang="en-US" dirty="0"/>
              <a:t>We introduce: </a:t>
            </a:r>
            <a:r>
              <a:rPr lang="en-US" i="1" dirty="0"/>
              <a:t>likely-happened-before</a:t>
            </a:r>
            <a:r>
              <a:rPr lang="en-US" dirty="0"/>
              <a:t>,</a:t>
            </a:r>
          </a:p>
          <a:p>
            <a:r>
              <a:rPr lang="en-US" dirty="0"/>
              <a:t>x	 y means x happened before y with probability </a:t>
            </a:r>
            <a:r>
              <a:rPr lang="en-US" i="1" dirty="0"/>
              <a:t>p</a:t>
            </a:r>
          </a:p>
          <a:p>
            <a:r>
              <a:rPr lang="en-US" dirty="0"/>
              <a:t>An ordering of events using	      where </a:t>
            </a:r>
            <a:r>
              <a:rPr lang="en-US" i="1" dirty="0"/>
              <a:t>p </a:t>
            </a:r>
            <a:r>
              <a:rPr lang="en-US" dirty="0"/>
              <a:t>is sufficiently high, is fair </a:t>
            </a:r>
          </a:p>
          <a:p>
            <a:endParaRPr lang="en-US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5C3712D-3785-27FE-D61A-0B49A0A5B27D}"/>
              </a:ext>
            </a:extLst>
          </p:cNvPr>
          <p:cNvCxnSpPr>
            <a:cxnSpLocks/>
          </p:cNvCxnSpPr>
          <p:nvPr/>
        </p:nvCxnSpPr>
        <p:spPr>
          <a:xfrm>
            <a:off x="7186521" y="2642654"/>
            <a:ext cx="376518" cy="0"/>
          </a:xfrm>
          <a:prstGeom prst="straightConnector1">
            <a:avLst/>
          </a:prstGeom>
          <a:ln w="28575"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D7CF233B-AD94-F0EB-5D81-5F4D5DC9FD11}"/>
              </a:ext>
            </a:extLst>
          </p:cNvPr>
          <p:cNvSpPr txBox="1"/>
          <p:nvPr/>
        </p:nvSpPr>
        <p:spPr>
          <a:xfrm>
            <a:off x="7186521" y="2273322"/>
            <a:ext cx="314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9A3343-BCB1-86FD-B45C-E000BE5C7A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20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BE49A0C-D679-34FF-F328-D9FF331E49B3}"/>
              </a:ext>
            </a:extLst>
          </p:cNvPr>
          <p:cNvCxnSpPr>
            <a:cxnSpLocks/>
          </p:cNvCxnSpPr>
          <p:nvPr/>
        </p:nvCxnSpPr>
        <p:spPr>
          <a:xfrm>
            <a:off x="1420350" y="3118144"/>
            <a:ext cx="376518" cy="0"/>
          </a:xfrm>
          <a:prstGeom prst="straightConnector1">
            <a:avLst/>
          </a:prstGeom>
          <a:ln w="28575"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2D8BCCA2-5276-2D3C-BD98-AA6BA678FF82}"/>
              </a:ext>
            </a:extLst>
          </p:cNvPr>
          <p:cNvSpPr txBox="1"/>
          <p:nvPr/>
        </p:nvSpPr>
        <p:spPr>
          <a:xfrm>
            <a:off x="1394504" y="2748812"/>
            <a:ext cx="314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5399392-BCF9-13AA-C84E-89137358B57D}"/>
              </a:ext>
            </a:extLst>
          </p:cNvPr>
          <p:cNvCxnSpPr>
            <a:cxnSpLocks/>
          </p:cNvCxnSpPr>
          <p:nvPr/>
        </p:nvCxnSpPr>
        <p:spPr>
          <a:xfrm>
            <a:off x="5451286" y="3613666"/>
            <a:ext cx="376518" cy="0"/>
          </a:xfrm>
          <a:prstGeom prst="straightConnector1">
            <a:avLst/>
          </a:prstGeom>
          <a:ln w="28575"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8C05DBD-8B21-22AB-727A-30CBE7241EBB}"/>
              </a:ext>
            </a:extLst>
          </p:cNvPr>
          <p:cNvSpPr txBox="1"/>
          <p:nvPr/>
        </p:nvSpPr>
        <p:spPr>
          <a:xfrm>
            <a:off x="5425440" y="3244334"/>
            <a:ext cx="314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</a:t>
            </a:r>
          </a:p>
        </p:txBody>
      </p:sp>
    </p:spTree>
    <p:extLst>
      <p:ext uri="{BB962C8B-B14F-4D97-AF65-F5344CB8AC3E}">
        <p14:creationId xmlns:p14="http://schemas.microsoft.com/office/powerpoint/2010/main" val="350426495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5" grpId="0"/>
      <p:bldP spid="9" grpId="0"/>
      <p:bldP spid="1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B867FF-FC45-48F7-8104-F89BE54909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BB56887-D0D5-4F0C-9E19-7247EB83C8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08695" y="1"/>
            <a:ext cx="1135066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AA88385-1307-4C4F-4622-C64B6C2BA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i="1" dirty="0"/>
              <a:t>Two Questions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V="1">
            <a:off x="555710" y="2183223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399E4E-33DA-68F1-F2F5-6B25127A0A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US" dirty="0"/>
              <a:t>How to find </a:t>
            </a:r>
            <a:r>
              <a:rPr lang="en-US" i="1" dirty="0"/>
              <a:t>p </a:t>
            </a:r>
            <a:r>
              <a:rPr lang="en-US" dirty="0"/>
              <a:t>for two messages to construct the relation?</a:t>
            </a:r>
            <a:br>
              <a:rPr lang="en-US" dirty="0"/>
            </a:br>
            <a:endParaRPr lang="en-US" dirty="0"/>
          </a:p>
          <a:p>
            <a:r>
              <a:rPr lang="en-US" dirty="0"/>
              <a:t>How to achieve an order of several events from the pairwise relations?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0C9E0A-C329-DB4A-D536-4ADFA86FF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3252517360"/>
      </p:ext>
    </p:extLst>
  </p:cSld>
  <p:clrMapOvr>
    <a:masterClrMapping/>
  </p:clrMapOvr>
  <p:transition spd="slow">
    <p:push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9AAFC6F7-06A7-6C5C-127C-F1F802B1576C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57B36B9-932E-C121-2B14-F544332345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Overview – </a:t>
            </a:r>
            <a:r>
              <a:rPr lang="en-US" dirty="0">
                <a:solidFill>
                  <a:srgbClr val="FF0000"/>
                </a:solidFill>
              </a:rPr>
              <a:t>Before Tommy</a:t>
            </a: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DB69608E-4263-38E1-4DCE-657A33DC17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654CEF6C-2806-0B7E-6104-DC2BE2DDA5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5E2A13D-A251-B272-C546-6A3A9B23B107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52C6C9B6-641B-428E-A721-72407CA8015D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1FC9C863-03CC-D2C9-3315-48FF36B5E30D}"/>
              </a:ext>
            </a:extLst>
          </p:cNvPr>
          <p:cNvCxnSpPr>
            <a:cxnSpLocks/>
            <a:stCxn id="7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193C5E11-4C7D-6C4C-1F79-D492B6F066AD}"/>
              </a:ext>
            </a:extLst>
          </p:cNvPr>
          <p:cNvCxnSpPr>
            <a:cxnSpLocks/>
            <a:stCxn id="8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FFA2EDB1-B683-3B76-BE86-4D92FDDB6E76}"/>
              </a:ext>
            </a:extLst>
          </p:cNvPr>
          <p:cNvSpPr txBox="1"/>
          <p:nvPr/>
        </p:nvSpPr>
        <p:spPr>
          <a:xfrm>
            <a:off x="4607187" y="3801560"/>
            <a:ext cx="761747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60000"/>
                    <a:lumOff val="4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Msgs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52FC0751-2F4E-AF9F-E990-947D61103F47}"/>
              </a:ext>
            </a:extLst>
          </p:cNvPr>
          <p:cNvCxnSpPr>
            <a:cxnSpLocks/>
          </p:cNvCxnSpPr>
          <p:nvPr/>
        </p:nvCxnSpPr>
        <p:spPr>
          <a:xfrm flipV="1">
            <a:off x="6748664" y="3946923"/>
            <a:ext cx="0" cy="820541"/>
          </a:xfrm>
          <a:prstGeom prst="straightConnector1">
            <a:avLst/>
          </a:prstGeom>
          <a:ln w="412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45850E51-A5D7-8CCE-0C3B-B2B0E39E51F1}"/>
              </a:ext>
            </a:extLst>
          </p:cNvPr>
          <p:cNvSpPr txBox="1"/>
          <p:nvPr/>
        </p:nvSpPr>
        <p:spPr>
          <a:xfrm>
            <a:off x="6768203" y="4248357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Output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AA20DC6F-319B-7781-93DB-4847AF56824B}"/>
              </a:ext>
            </a:extLst>
          </p:cNvPr>
          <p:cNvSpPr txBox="1"/>
          <p:nvPr/>
        </p:nvSpPr>
        <p:spPr>
          <a:xfrm>
            <a:off x="3894522" y="5364014"/>
            <a:ext cx="13837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Sequencer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B9876B3A-2CC6-898B-B324-CAE40AB2C186}"/>
              </a:ext>
            </a:extLst>
          </p:cNvPr>
          <p:cNvSpPr txBox="1"/>
          <p:nvPr/>
        </p:nvSpPr>
        <p:spPr>
          <a:xfrm>
            <a:off x="7659598" y="3332861"/>
            <a:ext cx="3227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97FE85C1-D348-3D92-8046-5248BB6BD2CB}"/>
              </a:ext>
            </a:extLst>
          </p:cNvPr>
          <p:cNvSpPr txBox="1"/>
          <p:nvPr/>
        </p:nvSpPr>
        <p:spPr>
          <a:xfrm>
            <a:off x="7017955" y="3344283"/>
            <a:ext cx="3227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92F36EB1-D2F3-590B-4437-85A047BC9FDC}"/>
              </a:ext>
            </a:extLst>
          </p:cNvPr>
          <p:cNvSpPr txBox="1"/>
          <p:nvPr/>
        </p:nvSpPr>
        <p:spPr>
          <a:xfrm>
            <a:off x="6402079" y="3350875"/>
            <a:ext cx="3227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B17361AD-DDA0-F9B5-CCE4-E0BE3211C671}"/>
              </a:ext>
            </a:extLst>
          </p:cNvPr>
          <p:cNvSpPr txBox="1"/>
          <p:nvPr/>
        </p:nvSpPr>
        <p:spPr>
          <a:xfrm>
            <a:off x="8274279" y="3332861"/>
            <a:ext cx="3227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EA1D57D7-7FE1-506F-67DA-AF777800FDAE}"/>
              </a:ext>
            </a:extLst>
          </p:cNvPr>
          <p:cNvSpPr txBox="1"/>
          <p:nvPr/>
        </p:nvSpPr>
        <p:spPr>
          <a:xfrm>
            <a:off x="8938053" y="3332861"/>
            <a:ext cx="3227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2809CD7-D994-DDAB-EF35-A18EA43D45B0}"/>
              </a:ext>
            </a:extLst>
          </p:cNvPr>
          <p:cNvSpPr txBox="1"/>
          <p:nvPr/>
        </p:nvSpPr>
        <p:spPr>
          <a:xfrm>
            <a:off x="6768203" y="2873756"/>
            <a:ext cx="28586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Arbitrary order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2B8501-00F7-3A82-8D78-94906E6836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6413751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7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0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7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89" grpId="0" animBg="1"/>
      <p:bldP spid="95" grpId="0"/>
      <p:bldP spid="128" grpId="0"/>
      <p:bldP spid="129" grpId="0"/>
      <p:bldP spid="130" grpId="0"/>
      <p:bldP spid="131" grpId="0"/>
      <p:bldP spid="132" grpId="0"/>
      <p:bldP spid="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95BBF-1B8F-8943-1513-DC0422A6C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E3E3CAA6-354B-81FE-3FC2-4E02E3FD38FB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E18314-365A-EE1E-0D12-808D6119DC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Overview – </a:t>
            </a:r>
            <a:r>
              <a:rPr lang="en-US" dirty="0">
                <a:solidFill>
                  <a:schemeClr val="accent6"/>
                </a:solidFill>
              </a:rPr>
              <a:t>After Tommy</a:t>
            </a: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5F1D8B1F-DDC6-AD5B-EC35-DEC701DE2A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FC41FBAB-0C9C-449E-36AC-E7B73221A2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pic>
        <p:nvPicPr>
          <p:cNvPr id="10" name="Graphic 9" descr="Alarm clock with solid fill">
            <a:extLst>
              <a:ext uri="{FF2B5EF4-FFF2-40B4-BE49-F238E27FC236}">
                <a16:creationId xmlns:a16="http://schemas.microsoft.com/office/drawing/2014/main" id="{69194A3B-0F9A-CEC6-0BD9-B1756F32ADD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4006" y="2433087"/>
            <a:ext cx="513127" cy="513127"/>
          </a:xfrm>
          <a:prstGeom prst="rect">
            <a:avLst/>
          </a:prstGeom>
        </p:spPr>
      </p:pic>
      <p:pic>
        <p:nvPicPr>
          <p:cNvPr id="11" name="Graphic 10" descr="Alarm clock with solid fill">
            <a:extLst>
              <a:ext uri="{FF2B5EF4-FFF2-40B4-BE49-F238E27FC236}">
                <a16:creationId xmlns:a16="http://schemas.microsoft.com/office/drawing/2014/main" id="{C392B9DA-30E3-C441-CB29-01477705CA1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95808" y="2433086"/>
            <a:ext cx="513127" cy="513127"/>
          </a:xfrm>
          <a:prstGeom prst="rect">
            <a:avLst/>
          </a:prstGeom>
        </p:spPr>
      </p:pic>
      <p:pic>
        <p:nvPicPr>
          <p:cNvPr id="12" name="Graphic 11" descr="Alarm clock with solid fill">
            <a:extLst>
              <a:ext uri="{FF2B5EF4-FFF2-40B4-BE49-F238E27FC236}">
                <a16:creationId xmlns:a16="http://schemas.microsoft.com/office/drawing/2014/main" id="{2D9796AB-F84B-1DE2-A5D9-72612324196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11550" y="4790703"/>
            <a:ext cx="513127" cy="513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7D79C0F-623D-3066-4636-E50D04262891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47499C2-0E31-1DCE-A060-5FA0B0321518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0D6B3E0-3809-F388-0142-3A7443156B5D}"/>
              </a:ext>
            </a:extLst>
          </p:cNvPr>
          <p:cNvSpPr txBox="1"/>
          <p:nvPr/>
        </p:nvSpPr>
        <p:spPr>
          <a:xfrm>
            <a:off x="2038272" y="3496861"/>
            <a:ext cx="1486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Best Effort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Clock Sync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D21D8E98-C1FF-C273-7567-2DDF59C82E78}"/>
              </a:ext>
            </a:extLst>
          </p:cNvPr>
          <p:cNvCxnSpPr>
            <a:cxnSpLocks/>
          </p:cNvCxnSpPr>
          <p:nvPr/>
        </p:nvCxnSpPr>
        <p:spPr>
          <a:xfrm>
            <a:off x="3894522" y="2746143"/>
            <a:ext cx="901286" cy="1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>
            <a:extLst>
              <a:ext uri="{FF2B5EF4-FFF2-40B4-BE49-F238E27FC236}">
                <a16:creationId xmlns:a16="http://schemas.microsoft.com/office/drawing/2014/main" id="{95CB0D97-C2BE-E5C8-3407-38A68AE24E8B}"/>
              </a:ext>
            </a:extLst>
          </p:cNvPr>
          <p:cNvSpPr/>
          <p:nvPr/>
        </p:nvSpPr>
        <p:spPr>
          <a:xfrm>
            <a:off x="3374006" y="1887264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9BD07AAF-CA90-194A-EEA1-C386D6CE24A9}"/>
              </a:ext>
            </a:extLst>
          </p:cNvPr>
          <p:cNvSpPr/>
          <p:nvPr/>
        </p:nvSpPr>
        <p:spPr>
          <a:xfrm>
            <a:off x="4834587" y="2089607"/>
            <a:ext cx="387086" cy="269789"/>
          </a:xfrm>
          <a:custGeom>
            <a:avLst/>
            <a:gdLst>
              <a:gd name="connsiteX0" fmla="*/ 0 w 387086"/>
              <a:gd name="connsiteY0" fmla="*/ 254892 h 269789"/>
              <a:gd name="connsiteX1" fmla="*/ 247585 w 387086"/>
              <a:gd name="connsiteY1" fmla="*/ 7494 h 269789"/>
              <a:gd name="connsiteX2" fmla="*/ 387087 w 387086"/>
              <a:gd name="connsiteY2" fmla="*/ 269790 h 26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269789">
                <a:moveTo>
                  <a:pt x="0" y="254892"/>
                </a:moveTo>
                <a:cubicBezTo>
                  <a:pt x="118409" y="124934"/>
                  <a:pt x="200937" y="42468"/>
                  <a:pt x="247585" y="7494"/>
                </a:cubicBezTo>
                <a:cubicBezTo>
                  <a:pt x="294232" y="-27479"/>
                  <a:pt x="340733" y="59954"/>
                  <a:pt x="387087" y="269790"/>
                </a:cubicBezTo>
              </a:path>
            </a:pathLst>
          </a:custGeom>
          <a:noFill/>
          <a:ln w="41869" cap="flat">
            <a:solidFill>
              <a:schemeClr val="accent5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C218843C-9F13-AA7F-BD3F-3D979A067C33}"/>
              </a:ext>
            </a:extLst>
          </p:cNvPr>
          <p:cNvCxnSpPr>
            <a:cxnSpLocks/>
          </p:cNvCxnSpPr>
          <p:nvPr/>
        </p:nvCxnSpPr>
        <p:spPr>
          <a:xfrm>
            <a:off x="3348478" y="2359396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A51B049-F4AF-98BA-B005-42D26054AFC3}"/>
              </a:ext>
            </a:extLst>
          </p:cNvPr>
          <p:cNvCxnSpPr>
            <a:cxnSpLocks/>
          </p:cNvCxnSpPr>
          <p:nvPr/>
        </p:nvCxnSpPr>
        <p:spPr>
          <a:xfrm flipV="1">
            <a:off x="3348478" y="1887264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78FDB8A-127F-E222-174D-576A0B0E3F8F}"/>
              </a:ext>
            </a:extLst>
          </p:cNvPr>
          <p:cNvCxnSpPr>
            <a:cxnSpLocks/>
          </p:cNvCxnSpPr>
          <p:nvPr/>
        </p:nvCxnSpPr>
        <p:spPr>
          <a:xfrm>
            <a:off x="4795808" y="2359396"/>
            <a:ext cx="6170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018C3C0-A4F1-7109-28D5-14EED0557E5C}"/>
              </a:ext>
            </a:extLst>
          </p:cNvPr>
          <p:cNvCxnSpPr>
            <a:cxnSpLocks/>
          </p:cNvCxnSpPr>
          <p:nvPr/>
        </p:nvCxnSpPr>
        <p:spPr>
          <a:xfrm flipV="1">
            <a:off x="4795808" y="1979098"/>
            <a:ext cx="0" cy="380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63D3AF6B-32DE-9136-71A7-D1F7802872E9}"/>
              </a:ext>
            </a:extLst>
          </p:cNvPr>
          <p:cNvSpPr/>
          <p:nvPr/>
        </p:nvSpPr>
        <p:spPr>
          <a:xfrm>
            <a:off x="5488743" y="4767464"/>
            <a:ext cx="2519841" cy="513127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A6909A8B-D78B-B3EC-A634-9A165004A09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672" y="4877997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80" name="Freeform 79">
            <a:extLst>
              <a:ext uri="{FF2B5EF4-FFF2-40B4-BE49-F238E27FC236}">
                <a16:creationId xmlns:a16="http://schemas.microsoft.com/office/drawing/2014/main" id="{81E1A0AD-BFF8-2794-7B5D-DBF894282356}"/>
              </a:ext>
            </a:extLst>
          </p:cNvPr>
          <p:cNvSpPr/>
          <p:nvPr/>
        </p:nvSpPr>
        <p:spPr>
          <a:xfrm>
            <a:off x="2569285" y="2736925"/>
            <a:ext cx="861149" cy="2351856"/>
          </a:xfrm>
          <a:custGeom>
            <a:avLst/>
            <a:gdLst>
              <a:gd name="connsiteX0" fmla="*/ 449925 w 638860"/>
              <a:gd name="connsiteY0" fmla="*/ 1663374 h 1663373"/>
              <a:gd name="connsiteX1" fmla="*/ 0 w 638860"/>
              <a:gd name="connsiteY1" fmla="*/ 804303 h 1663373"/>
              <a:gd name="connsiteX2" fmla="*/ 638861 w 638860"/>
              <a:gd name="connsiteY2" fmla="*/ 0 h 16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860" h="1663373">
                <a:moveTo>
                  <a:pt x="449925" y="1663374"/>
                </a:moveTo>
                <a:cubicBezTo>
                  <a:pt x="149975" y="1440381"/>
                  <a:pt x="0" y="1154038"/>
                  <a:pt x="0" y="804303"/>
                </a:cubicBezTo>
                <a:cubicBezTo>
                  <a:pt x="0" y="454575"/>
                  <a:pt x="212954" y="186475"/>
                  <a:pt x="638861" y="0"/>
                </a:cubicBezTo>
              </a:path>
            </a:pathLst>
          </a:custGeom>
          <a:noFill/>
          <a:ln w="31750" cap="sq">
            <a:solidFill>
              <a:schemeClr val="bg1">
                <a:lumMod val="65000"/>
              </a:schemeClr>
            </a:solidFill>
            <a:prstDash val="sysDot"/>
            <a:miter/>
            <a:headEnd type="stealth" w="lg" len="lg"/>
            <a:tailEnd type="stealth" w="lg" len="lg"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D563CE6F-D20E-794E-665A-5F38950C478E}"/>
              </a:ext>
            </a:extLst>
          </p:cNvPr>
          <p:cNvCxnSpPr>
            <a:cxnSpLocks/>
            <a:stCxn id="7" idx="2"/>
            <a:endCxn id="79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CBA7C77C-37FB-CCEB-619A-5253DF9965D6}"/>
              </a:ext>
            </a:extLst>
          </p:cNvPr>
          <p:cNvCxnSpPr>
            <a:cxnSpLocks/>
            <a:stCxn id="8" idx="2"/>
            <a:endCxn id="79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E9B78F4A-A1DD-F599-9B37-412F81140499}"/>
              </a:ext>
            </a:extLst>
          </p:cNvPr>
          <p:cNvSpPr txBox="1"/>
          <p:nvPr/>
        </p:nvSpPr>
        <p:spPr>
          <a:xfrm>
            <a:off x="4607187" y="3801560"/>
            <a:ext cx="761747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60000"/>
                    <a:lumOff val="4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Msgs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B968A482-A89B-C8BA-44D1-33611F06991E}"/>
              </a:ext>
            </a:extLst>
          </p:cNvPr>
          <p:cNvCxnSpPr>
            <a:cxnSpLocks/>
            <a:stCxn id="79" idx="0"/>
          </p:cNvCxnSpPr>
          <p:nvPr/>
        </p:nvCxnSpPr>
        <p:spPr>
          <a:xfrm flipV="1">
            <a:off x="6748664" y="3946923"/>
            <a:ext cx="0" cy="820541"/>
          </a:xfrm>
          <a:prstGeom prst="straightConnector1">
            <a:avLst/>
          </a:prstGeom>
          <a:ln w="412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C5346D92-224C-6C15-DE57-C91ED5E05561}"/>
              </a:ext>
            </a:extLst>
          </p:cNvPr>
          <p:cNvSpPr txBox="1"/>
          <p:nvPr/>
        </p:nvSpPr>
        <p:spPr>
          <a:xfrm>
            <a:off x="6768203" y="4248357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Output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E4B192A6-C626-4A51-2905-B3983D15C2E7}"/>
              </a:ext>
            </a:extLst>
          </p:cNvPr>
          <p:cNvSpPr txBox="1"/>
          <p:nvPr/>
        </p:nvSpPr>
        <p:spPr>
          <a:xfrm>
            <a:off x="2688505" y="1400413"/>
            <a:ext cx="38113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Learned Clock Drift Distributions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C59308A0-45BF-A4C8-5C67-F42D294B6360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10650" y="3330623"/>
            <a:ext cx="2784487" cy="302454"/>
          </a:xfrm>
          <a:prstGeom prst="bentConnector3">
            <a:avLst>
              <a:gd name="adj1" fmla="val 548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0B2E1C5B-F42F-538E-A7A6-5CBA663EFCEC}"/>
              </a:ext>
            </a:extLst>
          </p:cNvPr>
          <p:cNvSpPr txBox="1"/>
          <p:nvPr/>
        </p:nvSpPr>
        <p:spPr>
          <a:xfrm>
            <a:off x="3894522" y="5364014"/>
            <a:ext cx="13837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Sequencer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960715F3-17B7-AAAA-BE4C-D7CD1D35C1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12035356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switch dir="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1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6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3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0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5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8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55" grpId="0" animBg="1"/>
      <p:bldP spid="56" grpId="0" animBg="1"/>
      <p:bldP spid="79" grpId="0" animBg="1"/>
      <p:bldP spid="80" grpId="0" animBg="1"/>
      <p:bldP spid="11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52F39C-D2A9-3467-28D1-262E097DC4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D971A022-5DD7-BA1B-7315-0A1F6BE88874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A1F442B-2FC7-A1C7-8A46-AAA98096EC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Overview – </a:t>
            </a:r>
            <a:r>
              <a:rPr lang="en-US" dirty="0">
                <a:solidFill>
                  <a:schemeClr val="accent6"/>
                </a:solidFill>
              </a:rPr>
              <a:t>After Tommy</a:t>
            </a: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B708E40E-4CD1-88C8-7456-9590730193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CA95B654-D166-484C-A7F7-51CF38FB56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pic>
        <p:nvPicPr>
          <p:cNvPr id="10" name="Graphic 9" descr="Alarm clock with solid fill">
            <a:extLst>
              <a:ext uri="{FF2B5EF4-FFF2-40B4-BE49-F238E27FC236}">
                <a16:creationId xmlns:a16="http://schemas.microsoft.com/office/drawing/2014/main" id="{3965E680-6A2C-A585-CF08-65D920B30C0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4006" y="2433087"/>
            <a:ext cx="513127" cy="513127"/>
          </a:xfrm>
          <a:prstGeom prst="rect">
            <a:avLst/>
          </a:prstGeom>
        </p:spPr>
      </p:pic>
      <p:pic>
        <p:nvPicPr>
          <p:cNvPr id="11" name="Graphic 10" descr="Alarm clock with solid fill">
            <a:extLst>
              <a:ext uri="{FF2B5EF4-FFF2-40B4-BE49-F238E27FC236}">
                <a16:creationId xmlns:a16="http://schemas.microsoft.com/office/drawing/2014/main" id="{57B3B4EE-4653-6733-D05A-98BFF18FFE6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95808" y="2433086"/>
            <a:ext cx="513127" cy="513127"/>
          </a:xfrm>
          <a:prstGeom prst="rect">
            <a:avLst/>
          </a:prstGeom>
        </p:spPr>
      </p:pic>
      <p:pic>
        <p:nvPicPr>
          <p:cNvPr id="12" name="Graphic 11" descr="Alarm clock with solid fill">
            <a:extLst>
              <a:ext uri="{FF2B5EF4-FFF2-40B4-BE49-F238E27FC236}">
                <a16:creationId xmlns:a16="http://schemas.microsoft.com/office/drawing/2014/main" id="{43D3A8B8-7BE6-E871-2FCA-678A411D2C5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11550" y="4790703"/>
            <a:ext cx="513127" cy="513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4F42AA9-91B5-7E2D-B6D9-89A017CF9697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E41AA39D-08BE-1E60-93BF-FC489E9885F5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FECA533-F30A-1830-945C-300416336DE2}"/>
              </a:ext>
            </a:extLst>
          </p:cNvPr>
          <p:cNvSpPr txBox="1"/>
          <p:nvPr/>
        </p:nvSpPr>
        <p:spPr>
          <a:xfrm>
            <a:off x="2038272" y="3496861"/>
            <a:ext cx="1486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Best Effort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Clock Sync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232B17D9-83AA-8E5B-B248-5C90EDF1CD59}"/>
              </a:ext>
            </a:extLst>
          </p:cNvPr>
          <p:cNvCxnSpPr>
            <a:cxnSpLocks/>
          </p:cNvCxnSpPr>
          <p:nvPr/>
        </p:nvCxnSpPr>
        <p:spPr>
          <a:xfrm>
            <a:off x="3894522" y="2746143"/>
            <a:ext cx="901286" cy="1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>
            <a:extLst>
              <a:ext uri="{FF2B5EF4-FFF2-40B4-BE49-F238E27FC236}">
                <a16:creationId xmlns:a16="http://schemas.microsoft.com/office/drawing/2014/main" id="{C939B760-9BF7-FE38-AF03-A6FC22FC757B}"/>
              </a:ext>
            </a:extLst>
          </p:cNvPr>
          <p:cNvSpPr/>
          <p:nvPr/>
        </p:nvSpPr>
        <p:spPr>
          <a:xfrm>
            <a:off x="3374006" y="1887264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A66A5B91-78F1-2AD0-B7CD-CA909A73E393}"/>
              </a:ext>
            </a:extLst>
          </p:cNvPr>
          <p:cNvSpPr/>
          <p:nvPr/>
        </p:nvSpPr>
        <p:spPr>
          <a:xfrm>
            <a:off x="4834587" y="2089607"/>
            <a:ext cx="387086" cy="269789"/>
          </a:xfrm>
          <a:custGeom>
            <a:avLst/>
            <a:gdLst>
              <a:gd name="connsiteX0" fmla="*/ 0 w 387086"/>
              <a:gd name="connsiteY0" fmla="*/ 254892 h 269789"/>
              <a:gd name="connsiteX1" fmla="*/ 247585 w 387086"/>
              <a:gd name="connsiteY1" fmla="*/ 7494 h 269789"/>
              <a:gd name="connsiteX2" fmla="*/ 387087 w 387086"/>
              <a:gd name="connsiteY2" fmla="*/ 269790 h 26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269789">
                <a:moveTo>
                  <a:pt x="0" y="254892"/>
                </a:moveTo>
                <a:cubicBezTo>
                  <a:pt x="118409" y="124934"/>
                  <a:pt x="200937" y="42468"/>
                  <a:pt x="247585" y="7494"/>
                </a:cubicBezTo>
                <a:cubicBezTo>
                  <a:pt x="294232" y="-27479"/>
                  <a:pt x="340733" y="59954"/>
                  <a:pt x="387087" y="269790"/>
                </a:cubicBezTo>
              </a:path>
            </a:pathLst>
          </a:custGeom>
          <a:noFill/>
          <a:ln w="41869" cap="flat">
            <a:solidFill>
              <a:schemeClr val="accent5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F71BB9B0-656B-BAD5-1391-67E97F04021B}"/>
              </a:ext>
            </a:extLst>
          </p:cNvPr>
          <p:cNvCxnSpPr>
            <a:cxnSpLocks/>
          </p:cNvCxnSpPr>
          <p:nvPr/>
        </p:nvCxnSpPr>
        <p:spPr>
          <a:xfrm>
            <a:off x="3348478" y="2359396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9BBF7E3-0BF9-FFA5-33A0-B0D22602B7FA}"/>
              </a:ext>
            </a:extLst>
          </p:cNvPr>
          <p:cNvCxnSpPr>
            <a:cxnSpLocks/>
          </p:cNvCxnSpPr>
          <p:nvPr/>
        </p:nvCxnSpPr>
        <p:spPr>
          <a:xfrm flipV="1">
            <a:off x="3348478" y="1887264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4370D8FA-4415-B033-4AF4-77CFAB343865}"/>
              </a:ext>
            </a:extLst>
          </p:cNvPr>
          <p:cNvCxnSpPr>
            <a:cxnSpLocks/>
          </p:cNvCxnSpPr>
          <p:nvPr/>
        </p:nvCxnSpPr>
        <p:spPr>
          <a:xfrm>
            <a:off x="4795808" y="2359396"/>
            <a:ext cx="6170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14377A22-92DA-205D-FC83-F8C3E9E484E7}"/>
              </a:ext>
            </a:extLst>
          </p:cNvPr>
          <p:cNvCxnSpPr>
            <a:cxnSpLocks/>
          </p:cNvCxnSpPr>
          <p:nvPr/>
        </p:nvCxnSpPr>
        <p:spPr>
          <a:xfrm flipV="1">
            <a:off x="4795808" y="1979098"/>
            <a:ext cx="0" cy="380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3C6C839D-C062-3A33-6AF4-F4C6C5913280}"/>
              </a:ext>
            </a:extLst>
          </p:cNvPr>
          <p:cNvSpPr/>
          <p:nvPr/>
        </p:nvSpPr>
        <p:spPr>
          <a:xfrm>
            <a:off x="5488743" y="4767464"/>
            <a:ext cx="2519841" cy="513127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82C315B2-854E-9555-64A1-E3ECC579529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672" y="4877997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80" name="Freeform 79">
            <a:extLst>
              <a:ext uri="{FF2B5EF4-FFF2-40B4-BE49-F238E27FC236}">
                <a16:creationId xmlns:a16="http://schemas.microsoft.com/office/drawing/2014/main" id="{573403E5-C756-4DEB-524E-A964FC0C8C88}"/>
              </a:ext>
            </a:extLst>
          </p:cNvPr>
          <p:cNvSpPr/>
          <p:nvPr/>
        </p:nvSpPr>
        <p:spPr>
          <a:xfrm>
            <a:off x="2569285" y="2736925"/>
            <a:ext cx="861149" cy="2351856"/>
          </a:xfrm>
          <a:custGeom>
            <a:avLst/>
            <a:gdLst>
              <a:gd name="connsiteX0" fmla="*/ 449925 w 638860"/>
              <a:gd name="connsiteY0" fmla="*/ 1663374 h 1663373"/>
              <a:gd name="connsiteX1" fmla="*/ 0 w 638860"/>
              <a:gd name="connsiteY1" fmla="*/ 804303 h 1663373"/>
              <a:gd name="connsiteX2" fmla="*/ 638861 w 638860"/>
              <a:gd name="connsiteY2" fmla="*/ 0 h 16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860" h="1663373">
                <a:moveTo>
                  <a:pt x="449925" y="1663374"/>
                </a:moveTo>
                <a:cubicBezTo>
                  <a:pt x="149975" y="1440381"/>
                  <a:pt x="0" y="1154038"/>
                  <a:pt x="0" y="804303"/>
                </a:cubicBezTo>
                <a:cubicBezTo>
                  <a:pt x="0" y="454575"/>
                  <a:pt x="212954" y="186475"/>
                  <a:pt x="638861" y="0"/>
                </a:cubicBezTo>
              </a:path>
            </a:pathLst>
          </a:custGeom>
          <a:noFill/>
          <a:ln w="31750" cap="sq">
            <a:solidFill>
              <a:schemeClr val="bg1">
                <a:lumMod val="65000"/>
              </a:schemeClr>
            </a:solidFill>
            <a:prstDash val="sysDot"/>
            <a:miter/>
            <a:headEnd type="stealth" w="lg" len="lg"/>
            <a:tailEnd type="stealth" w="lg" len="lg"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45F16B69-2400-4E7A-F179-B243910EBF7E}"/>
              </a:ext>
            </a:extLst>
          </p:cNvPr>
          <p:cNvCxnSpPr>
            <a:cxnSpLocks/>
            <a:stCxn id="7" idx="2"/>
            <a:endCxn id="79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754DFFD8-FEBD-94A7-2C49-588E9012671D}"/>
              </a:ext>
            </a:extLst>
          </p:cNvPr>
          <p:cNvCxnSpPr>
            <a:cxnSpLocks/>
            <a:stCxn id="8" idx="2"/>
            <a:endCxn id="79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64DB4875-B39E-E8D0-6EA0-29294F94FA3F}"/>
              </a:ext>
            </a:extLst>
          </p:cNvPr>
          <p:cNvSpPr txBox="1"/>
          <p:nvPr/>
        </p:nvSpPr>
        <p:spPr>
          <a:xfrm>
            <a:off x="4607187" y="3801560"/>
            <a:ext cx="761747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60000"/>
                    <a:lumOff val="4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Msgs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7DCE8E3F-A075-EE7C-4694-DF4B72D7D618}"/>
              </a:ext>
            </a:extLst>
          </p:cNvPr>
          <p:cNvCxnSpPr>
            <a:cxnSpLocks/>
            <a:stCxn id="79" idx="0"/>
          </p:cNvCxnSpPr>
          <p:nvPr/>
        </p:nvCxnSpPr>
        <p:spPr>
          <a:xfrm flipV="1">
            <a:off x="6748664" y="3946923"/>
            <a:ext cx="0" cy="820541"/>
          </a:xfrm>
          <a:prstGeom prst="straightConnector1">
            <a:avLst/>
          </a:prstGeom>
          <a:ln w="412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478CDA35-EFE4-01D0-2428-BA24732BC42F}"/>
              </a:ext>
            </a:extLst>
          </p:cNvPr>
          <p:cNvSpPr txBox="1"/>
          <p:nvPr/>
        </p:nvSpPr>
        <p:spPr>
          <a:xfrm>
            <a:off x="6768203" y="4248357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Output</a:t>
            </a:r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D16B6C10-34FD-7D89-0C80-9FBBC4C2BFF9}"/>
              </a:ext>
            </a:extLst>
          </p:cNvPr>
          <p:cNvCxnSpPr>
            <a:cxnSpLocks/>
          </p:cNvCxnSpPr>
          <p:nvPr/>
        </p:nvCxnSpPr>
        <p:spPr>
          <a:xfrm>
            <a:off x="6576891" y="3174418"/>
            <a:ext cx="441064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93D95063-52AE-70C1-FF31-3309927DE861}"/>
              </a:ext>
            </a:extLst>
          </p:cNvPr>
          <p:cNvSpPr txBox="1"/>
          <p:nvPr/>
        </p:nvSpPr>
        <p:spPr>
          <a:xfrm>
            <a:off x="6672068" y="2820614"/>
            <a:ext cx="3145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70154426-2BD0-DD21-C23B-17493D56ECBE}"/>
              </a:ext>
            </a:extLst>
          </p:cNvPr>
          <p:cNvCxnSpPr>
            <a:cxnSpLocks/>
          </p:cNvCxnSpPr>
          <p:nvPr/>
        </p:nvCxnSpPr>
        <p:spPr>
          <a:xfrm>
            <a:off x="7898992" y="3183493"/>
            <a:ext cx="441064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9BC89FD0-7765-9F53-CA62-B28590239A79}"/>
              </a:ext>
            </a:extLst>
          </p:cNvPr>
          <p:cNvSpPr txBox="1"/>
          <p:nvPr/>
        </p:nvSpPr>
        <p:spPr>
          <a:xfrm>
            <a:off x="7915621" y="2823557"/>
            <a:ext cx="3145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</a:t>
            </a:r>
          </a:p>
        </p:txBody>
      </p: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16E8D4BA-EADC-7215-FE5F-512360AD1275}"/>
              </a:ext>
            </a:extLst>
          </p:cNvPr>
          <p:cNvCxnSpPr>
            <a:cxnSpLocks/>
          </p:cNvCxnSpPr>
          <p:nvPr/>
        </p:nvCxnSpPr>
        <p:spPr>
          <a:xfrm>
            <a:off x="8611703" y="3174418"/>
            <a:ext cx="441064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56C409A2-DE5E-F295-D104-984D8EF92D07}"/>
              </a:ext>
            </a:extLst>
          </p:cNvPr>
          <p:cNvSpPr txBox="1"/>
          <p:nvPr/>
        </p:nvSpPr>
        <p:spPr>
          <a:xfrm>
            <a:off x="8628332" y="2814482"/>
            <a:ext cx="3145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FE495E8-4CED-6386-6280-CF57927AD4E8}"/>
              </a:ext>
            </a:extLst>
          </p:cNvPr>
          <p:cNvSpPr txBox="1"/>
          <p:nvPr/>
        </p:nvSpPr>
        <p:spPr>
          <a:xfrm>
            <a:off x="6169394" y="2506213"/>
            <a:ext cx="34808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Fair Partial Order of Messages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5F918AE7-9F6A-4235-ADFE-6B33A398EA66}"/>
              </a:ext>
            </a:extLst>
          </p:cNvPr>
          <p:cNvSpPr txBox="1"/>
          <p:nvPr/>
        </p:nvSpPr>
        <p:spPr>
          <a:xfrm>
            <a:off x="2688505" y="1400413"/>
            <a:ext cx="38113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Learned Clock Drift Distributions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16E0D18D-75EB-FB44-3973-0DFA735197F3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10650" y="3330623"/>
            <a:ext cx="2784487" cy="302454"/>
          </a:xfrm>
          <a:prstGeom prst="bentConnector3">
            <a:avLst>
              <a:gd name="adj1" fmla="val 548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3D2D24EA-CF77-3797-20CD-936D1BBDA6A4}"/>
              </a:ext>
            </a:extLst>
          </p:cNvPr>
          <p:cNvSpPr txBox="1"/>
          <p:nvPr/>
        </p:nvSpPr>
        <p:spPr>
          <a:xfrm>
            <a:off x="3894522" y="5364014"/>
            <a:ext cx="13837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Sequencer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AA840BD-41CF-7108-76C5-C411ECFADC47}"/>
              </a:ext>
            </a:extLst>
          </p:cNvPr>
          <p:cNvGrpSpPr/>
          <p:nvPr/>
        </p:nvGrpSpPr>
        <p:grpSpPr>
          <a:xfrm>
            <a:off x="6949322" y="3320531"/>
            <a:ext cx="1075394" cy="427232"/>
            <a:chOff x="6917966" y="3321746"/>
            <a:chExt cx="1075394" cy="427232"/>
          </a:xfrm>
        </p:grpSpPr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042B47DB-3D94-7695-B796-24DC1BD99659}"/>
                </a:ext>
              </a:extLst>
            </p:cNvPr>
            <p:cNvSpPr/>
            <p:nvPr/>
          </p:nvSpPr>
          <p:spPr>
            <a:xfrm>
              <a:off x="6917966" y="3327864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noFill/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38" name="Freeform 137">
              <a:extLst>
                <a:ext uri="{FF2B5EF4-FFF2-40B4-BE49-F238E27FC236}">
                  <a16:creationId xmlns:a16="http://schemas.microsoft.com/office/drawing/2014/main" id="{66FE4802-7977-F3C6-E03A-EE72BFE5F4C6}"/>
                </a:ext>
              </a:extLst>
            </p:cNvPr>
            <p:cNvSpPr/>
            <p:nvPr/>
          </p:nvSpPr>
          <p:spPr>
            <a:xfrm>
              <a:off x="7556045" y="3329306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noFill/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CF148F0-61E1-AC3A-2692-AEFC78F1AC8E}"/>
                </a:ext>
              </a:extLst>
            </p:cNvPr>
            <p:cNvGrpSpPr/>
            <p:nvPr/>
          </p:nvGrpSpPr>
          <p:grpSpPr>
            <a:xfrm>
              <a:off x="6931018" y="3321746"/>
              <a:ext cx="1062342" cy="427232"/>
              <a:chOff x="6931018" y="3321746"/>
              <a:chExt cx="1062342" cy="427232"/>
            </a:xfrm>
          </p:grpSpPr>
          <p:sp>
            <p:nvSpPr>
              <p:cNvPr id="135" name="Freeform 134">
                <a:extLst>
                  <a:ext uri="{FF2B5EF4-FFF2-40B4-BE49-F238E27FC236}">
                    <a16:creationId xmlns:a16="http://schemas.microsoft.com/office/drawing/2014/main" id="{60B0843A-0675-F03E-C5CF-6C8894D75630}"/>
                  </a:ext>
                </a:extLst>
              </p:cNvPr>
              <p:cNvSpPr/>
              <p:nvPr/>
            </p:nvSpPr>
            <p:spPr>
              <a:xfrm>
                <a:off x="6931018" y="3321746"/>
                <a:ext cx="1062342" cy="427232"/>
              </a:xfrm>
              <a:custGeom>
                <a:avLst/>
                <a:gdLst>
                  <a:gd name="connsiteX0" fmla="*/ 0 w 1047312"/>
                  <a:gd name="connsiteY0" fmla="*/ 0 h 419672"/>
                  <a:gd name="connsiteX1" fmla="*/ 1047312 w 1047312"/>
                  <a:gd name="connsiteY1" fmla="*/ 0 h 419672"/>
                  <a:gd name="connsiteX2" fmla="*/ 1047312 w 1047312"/>
                  <a:gd name="connsiteY2" fmla="*/ 419673 h 419672"/>
                  <a:gd name="connsiteX3" fmla="*/ 0 w 1047312"/>
                  <a:gd name="connsiteY3" fmla="*/ 419673 h 4196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47312" h="419672">
                    <a:moveTo>
                      <a:pt x="0" y="0"/>
                    </a:moveTo>
                    <a:lnTo>
                      <a:pt x="1047312" y="0"/>
                    </a:lnTo>
                    <a:lnTo>
                      <a:pt x="1047312" y="419673"/>
                    </a:lnTo>
                    <a:lnTo>
                      <a:pt x="0" y="419673"/>
                    </a:lnTo>
                    <a:close/>
                  </a:path>
                </a:pathLst>
              </a:custGeom>
              <a:noFill/>
              <a:ln w="20935" cap="flat">
                <a:solidFill>
                  <a:srgbClr val="000000"/>
                </a:solidFill>
                <a:custDash>
                  <a:ds d="225000" sp="225000"/>
                </a:custDash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id="{31D15BC0-EC26-A3AB-6026-879A26A606A7}"/>
                  </a:ext>
                </a:extLst>
              </p:cNvPr>
              <p:cNvSpPr txBox="1"/>
              <p:nvPr/>
            </p:nvSpPr>
            <p:spPr>
              <a:xfrm>
                <a:off x="7612950" y="3339274"/>
                <a:ext cx="3227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2</a:t>
                </a:r>
              </a:p>
            </p:txBody>
          </p:sp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71D8388B-42B3-F7E7-CBE9-931B1CC41141}"/>
                  </a:ext>
                </a:extLst>
              </p:cNvPr>
              <p:cNvSpPr txBox="1"/>
              <p:nvPr/>
            </p:nvSpPr>
            <p:spPr>
              <a:xfrm>
                <a:off x="6971307" y="3350696"/>
                <a:ext cx="3227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2</a:t>
                </a:r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EFEC891-759E-0E7A-9303-933DA9B74944}"/>
              </a:ext>
            </a:extLst>
          </p:cNvPr>
          <p:cNvGrpSpPr/>
          <p:nvPr/>
        </p:nvGrpSpPr>
        <p:grpSpPr>
          <a:xfrm>
            <a:off x="6333987" y="3336637"/>
            <a:ext cx="418924" cy="419672"/>
            <a:chOff x="6302631" y="3337852"/>
            <a:chExt cx="418924" cy="419672"/>
          </a:xfrm>
        </p:grpSpPr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EDEF8969-CE49-C3E5-ACBD-E94F785D2A2E}"/>
                </a:ext>
              </a:extLst>
            </p:cNvPr>
            <p:cNvSpPr/>
            <p:nvPr/>
          </p:nvSpPr>
          <p:spPr>
            <a:xfrm>
              <a:off x="6302631" y="3337852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5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6F5B3391-96A2-675B-CCE3-53FD79B06741}"/>
                </a:ext>
              </a:extLst>
            </p:cNvPr>
            <p:cNvSpPr txBox="1"/>
            <p:nvPr/>
          </p:nvSpPr>
          <p:spPr>
            <a:xfrm>
              <a:off x="6355431" y="3357288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1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4D7F806C-D899-40FB-4E0C-0E13CB245480}"/>
              </a:ext>
            </a:extLst>
          </p:cNvPr>
          <p:cNvGrpSpPr/>
          <p:nvPr/>
        </p:nvGrpSpPr>
        <p:grpSpPr>
          <a:xfrm>
            <a:off x="8219149" y="3330903"/>
            <a:ext cx="418924" cy="419672"/>
            <a:chOff x="8187793" y="3332118"/>
            <a:chExt cx="418924" cy="419672"/>
          </a:xfrm>
        </p:grpSpPr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8B76529D-0540-DC69-A1F2-B086DC7353AD}"/>
                </a:ext>
              </a:extLst>
            </p:cNvPr>
            <p:cNvSpPr/>
            <p:nvPr/>
          </p:nvSpPr>
          <p:spPr>
            <a:xfrm>
              <a:off x="8187793" y="3332118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FA15738A-E9CE-2949-5EE5-0F7F0214EBBD}"/>
                </a:ext>
              </a:extLst>
            </p:cNvPr>
            <p:cNvSpPr txBox="1"/>
            <p:nvPr/>
          </p:nvSpPr>
          <p:spPr>
            <a:xfrm>
              <a:off x="8227631" y="3339274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3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C1130719-77CA-A476-4741-461200C1825B}"/>
              </a:ext>
            </a:extLst>
          </p:cNvPr>
          <p:cNvGrpSpPr/>
          <p:nvPr/>
        </p:nvGrpSpPr>
        <p:grpSpPr>
          <a:xfrm>
            <a:off x="8847536" y="3330903"/>
            <a:ext cx="473175" cy="419672"/>
            <a:chOff x="8816180" y="3332118"/>
            <a:chExt cx="473175" cy="419672"/>
          </a:xfrm>
        </p:grpSpPr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0D9A0423-7C17-734B-A8EC-BA976D5C93FA}"/>
                </a:ext>
              </a:extLst>
            </p:cNvPr>
            <p:cNvSpPr/>
            <p:nvPr/>
          </p:nvSpPr>
          <p:spPr>
            <a:xfrm>
              <a:off x="8816180" y="3332118"/>
              <a:ext cx="473175" cy="419672"/>
            </a:xfrm>
            <a:custGeom>
              <a:avLst/>
              <a:gdLst>
                <a:gd name="connsiteX0" fmla="*/ 0 w 473175"/>
                <a:gd name="connsiteY0" fmla="*/ 0 h 419672"/>
                <a:gd name="connsiteX1" fmla="*/ 473176 w 473175"/>
                <a:gd name="connsiteY1" fmla="*/ 0 h 419672"/>
                <a:gd name="connsiteX2" fmla="*/ 473176 w 473175"/>
                <a:gd name="connsiteY2" fmla="*/ 419673 h 419672"/>
                <a:gd name="connsiteX3" fmla="*/ 0 w 473175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175" h="419672">
                  <a:moveTo>
                    <a:pt x="0" y="0"/>
                  </a:moveTo>
                  <a:lnTo>
                    <a:pt x="473176" y="0"/>
                  </a:lnTo>
                  <a:lnTo>
                    <a:pt x="473176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31ABC5C5-EC13-41EC-38E3-BFCF47CDAFC5}"/>
                </a:ext>
              </a:extLst>
            </p:cNvPr>
            <p:cNvSpPr txBox="1"/>
            <p:nvPr/>
          </p:nvSpPr>
          <p:spPr>
            <a:xfrm>
              <a:off x="8891405" y="3339274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4</a:t>
              </a:r>
            </a:p>
          </p:txBody>
        </p:sp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CC8F128-0F48-AF3E-59C5-A411E7588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13619839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ED034B-C67F-E08C-BE80-4AFE7255D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Picture 77">
            <a:extLst>
              <a:ext uri="{FF2B5EF4-FFF2-40B4-BE49-F238E27FC236}">
                <a16:creationId xmlns:a16="http://schemas.microsoft.com/office/drawing/2014/main" id="{89F8CEA2-78F4-C918-F00E-270F13E820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782" y="602691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Title 1">
            <a:extLst>
              <a:ext uri="{FF2B5EF4-FFF2-40B4-BE49-F238E27FC236}">
                <a16:creationId xmlns:a16="http://schemas.microsoft.com/office/drawing/2014/main" id="{BA16CE55-A1DE-20FF-9506-98A7363146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83" y="602691"/>
            <a:ext cx="10515600" cy="1325563"/>
          </a:xfrm>
        </p:spPr>
        <p:txBody>
          <a:bodyPr/>
          <a:lstStyle/>
          <a:p>
            <a:r>
              <a:rPr lang="en-US" dirty="0"/>
              <a:t>Ordering Probability </a:t>
            </a:r>
            <a:r>
              <a:rPr lang="en-US" i="1" dirty="0"/>
              <a:t>p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35034B6-654D-55BF-A16C-4E253ECCB941}"/>
              </a:ext>
            </a:extLst>
          </p:cNvPr>
          <p:cNvSpPr txBox="1"/>
          <p:nvPr/>
        </p:nvSpPr>
        <p:spPr>
          <a:xfrm>
            <a:off x="3144435" y="1940201"/>
            <a:ext cx="3934609" cy="3658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True Time = Observed Time + offset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20" name="Picture 8">
            <a:extLst>
              <a:ext uri="{FF2B5EF4-FFF2-40B4-BE49-F238E27FC236}">
                <a16:creationId xmlns:a16="http://schemas.microsoft.com/office/drawing/2014/main" id="{C2B63EC3-8972-EFBA-9CA1-DAF278B646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67675" y="2306010"/>
            <a:ext cx="2321261" cy="7056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10">
            <a:extLst>
              <a:ext uri="{FF2B5EF4-FFF2-40B4-BE49-F238E27FC236}">
                <a16:creationId xmlns:a16="http://schemas.microsoft.com/office/drawing/2014/main" id="{26C1E073-D29A-9A29-C04C-34128857A4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83420" y="2973778"/>
            <a:ext cx="5960632" cy="680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12">
            <a:extLst>
              <a:ext uri="{FF2B5EF4-FFF2-40B4-BE49-F238E27FC236}">
                <a16:creationId xmlns:a16="http://schemas.microsoft.com/office/drawing/2014/main" id="{A59DDA47-5DAD-6E5D-3C3F-0EFFFCAE3B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58070" y="3726732"/>
            <a:ext cx="6092616" cy="6806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14">
            <a:extLst>
              <a:ext uri="{FF2B5EF4-FFF2-40B4-BE49-F238E27FC236}">
                <a16:creationId xmlns:a16="http://schemas.microsoft.com/office/drawing/2014/main" id="{32C090C8-A2C2-98B7-5AD7-73FA7B2BA0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44435" y="4484979"/>
            <a:ext cx="4267946" cy="6680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16">
            <a:extLst>
              <a:ext uri="{FF2B5EF4-FFF2-40B4-BE49-F238E27FC236}">
                <a16:creationId xmlns:a16="http://schemas.microsoft.com/office/drawing/2014/main" id="{A765CA47-1045-CCEA-3665-B4D3180BDC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9296" y="5274549"/>
            <a:ext cx="4670164" cy="10585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5" name="Slide Number Placeholder 24">
            <a:extLst>
              <a:ext uri="{FF2B5EF4-FFF2-40B4-BE49-F238E27FC236}">
                <a16:creationId xmlns:a16="http://schemas.microsoft.com/office/drawing/2014/main" id="{6A0F7938-0ACE-F99A-A945-C6FEB5C8DB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38074108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A13832-5FB1-2129-9513-8088D7FB6F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5B37A0-3AE1-8776-94C0-BFD08A8076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Ordering Probability </a:t>
            </a:r>
            <a:r>
              <a:rPr lang="en-US" i="1" dirty="0"/>
              <a:t>p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A5E73E85-4915-82B9-5CEA-E3312C517F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27382" y="1391322"/>
            <a:ext cx="4384637" cy="9938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8B2844BC-926C-7109-E5CF-1B43DCB1EFC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r="16712" b="87571"/>
          <a:stretch/>
        </p:blipFill>
        <p:spPr bwMode="auto">
          <a:xfrm>
            <a:off x="2087532" y="2677269"/>
            <a:ext cx="5627164" cy="4290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6">
            <a:extLst>
              <a:ext uri="{FF2B5EF4-FFF2-40B4-BE49-F238E27FC236}">
                <a16:creationId xmlns:a16="http://schemas.microsoft.com/office/drawing/2014/main" id="{95647F1A-A661-71D3-795E-C781FEB6FD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3560"/>
          <a:stretch/>
        </p:blipFill>
        <p:spPr bwMode="auto">
          <a:xfrm>
            <a:off x="1599259" y="3536525"/>
            <a:ext cx="6756301" cy="1325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04CD8B-5E22-E0F0-D536-34AF3D5F6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73294416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F19395-F06A-201C-74D8-D55C3B246E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D1C70A-1C03-E468-05A6-F24ED1D8F7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Ordering Probability </a:t>
            </a:r>
            <a:r>
              <a:rPr lang="en-US" i="1" dirty="0"/>
              <a:t>p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0FD8EEAC-6123-01F3-95F1-97A571C8F5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6382" y="1480466"/>
            <a:ext cx="4381091" cy="9930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4BAD3A7-715B-1E2A-207A-E3C14E9CAB8E}"/>
              </a:ext>
            </a:extLst>
          </p:cNvPr>
          <p:cNvSpPr txBox="1"/>
          <p:nvPr/>
        </p:nvSpPr>
        <p:spPr>
          <a:xfrm>
            <a:off x="838199" y="3030386"/>
            <a:ext cx="10383983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For arbitrary distributions, we may not have a known solution form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Sequencer could gather all clock sync. probes from all clients and compute pairwise differences for each pair of probes of two clients.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Then the distribution of these pairwise differences would be our distribution of interest. 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Communication and compute intensive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EA5F388-26E9-0737-AF15-C30AEC62FB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3821729737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C412EE-5FCB-91D9-0FE1-9D32042486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E67BA9-9A58-35A0-22DE-306BB153E5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Ordering Probability </a:t>
            </a:r>
            <a:r>
              <a:rPr lang="en-US" i="1" dirty="0"/>
              <a:t>p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55A412C0-A6A6-CB42-BCFB-E8201D679E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6382" y="1480466"/>
            <a:ext cx="4381091" cy="9930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FC1B1BF-19E0-612D-E448-2084A3BC6D13}"/>
              </a:ext>
            </a:extLst>
          </p:cNvPr>
          <p:cNvSpPr txBox="1"/>
          <p:nvPr/>
        </p:nvSpPr>
        <p:spPr>
          <a:xfrm>
            <a:off x="838199" y="2806029"/>
            <a:ext cx="9802091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Each client learns their own clock drift distribution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These learned distributions are shared with the sequencer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Sequencer uses convolutions to learn the respective distributions of clock offset differences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Convolutions computations can be further optimized by using FFT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EF27BFA-188A-5DAC-3DEA-0806DDFF3C5A}"/>
              </a:ext>
            </a:extLst>
          </p:cNvPr>
          <p:cNvSpPr txBox="1"/>
          <p:nvPr/>
        </p:nvSpPr>
        <p:spPr>
          <a:xfrm>
            <a:off x="838200" y="2400071"/>
            <a:ext cx="60942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There exists an efficient method: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CB65ED-9A74-A8DA-6339-EAEA959960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1652373020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54BB98E-D791-426A-31BD-35BE41367B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5E2240-59CE-EC80-7ABC-E6FDB5E3AA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Ordering Probability </a:t>
            </a:r>
            <a:r>
              <a:rPr lang="en-US" i="1" dirty="0"/>
              <a:t>p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22333D4E-9D26-871C-D529-E3EB382A9D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6382" y="1480466"/>
            <a:ext cx="4381091" cy="9930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A3E66D2E-C58D-8FA3-3E71-EB22CC663A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20514" y="2783039"/>
            <a:ext cx="6626711" cy="16307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>
            <a:extLst>
              <a:ext uri="{FF2B5EF4-FFF2-40B4-BE49-F238E27FC236}">
                <a16:creationId xmlns:a16="http://schemas.microsoft.com/office/drawing/2014/main" id="{1B5FF02C-EE34-1071-28BE-ADFD34ED12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98135" y="4464583"/>
            <a:ext cx="3530600" cy="1104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>
            <a:extLst>
              <a:ext uri="{FF2B5EF4-FFF2-40B4-BE49-F238E27FC236}">
                <a16:creationId xmlns:a16="http://schemas.microsoft.com/office/drawing/2014/main" id="{8EC18251-4FB0-0665-FEB1-5BAA0A1B4E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8201" y="5716404"/>
            <a:ext cx="4379272" cy="6340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A4D3E52-5059-6A41-CF91-2947396527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42389931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9CD616C-1427-9D0D-30F3-479DBE352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/>
              <a:t>Partial Order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CA8F9F-451D-3FE0-B40A-1C2A8BDBBA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en-US" sz="2200" i="1" dirty="0"/>
              <a:t>happened-before </a:t>
            </a:r>
            <a:r>
              <a:rPr lang="en-US" sz="2200" dirty="0"/>
              <a:t>relation is transitive so getting a partial order out of pairwise relations is easy</a:t>
            </a:r>
          </a:p>
          <a:p>
            <a:pPr lvl="1"/>
            <a:r>
              <a:rPr lang="en-US" sz="2200" dirty="0"/>
              <a:t>A  </a:t>
            </a:r>
            <a:r>
              <a:rPr lang="en-US" sz="2200" dirty="0">
                <a:sym typeface="Wingdings" pitchFamily="2" charset="2"/>
              </a:rPr>
              <a:t></a:t>
            </a:r>
            <a:r>
              <a:rPr lang="en-US" sz="2200" dirty="0"/>
              <a:t>B and B </a:t>
            </a:r>
            <a:r>
              <a:rPr lang="en-US" sz="2200" dirty="0">
                <a:sym typeface="Wingdings" pitchFamily="2" charset="2"/>
              </a:rPr>
              <a:t></a:t>
            </a:r>
            <a:r>
              <a:rPr lang="en-US" sz="2200" dirty="0"/>
              <a:t> C gives us A </a:t>
            </a:r>
            <a:r>
              <a:rPr lang="en-US" sz="2200" dirty="0">
                <a:sym typeface="Wingdings" pitchFamily="2" charset="2"/>
              </a:rPr>
              <a:t></a:t>
            </a:r>
            <a:r>
              <a:rPr lang="en-US" sz="2200" dirty="0"/>
              <a:t> B </a:t>
            </a:r>
            <a:r>
              <a:rPr lang="en-US" sz="2200" dirty="0">
                <a:sym typeface="Wingdings" pitchFamily="2" charset="2"/>
              </a:rPr>
              <a:t></a:t>
            </a:r>
            <a:r>
              <a:rPr lang="en-US" sz="2200" dirty="0"/>
              <a:t> C</a:t>
            </a:r>
            <a:br>
              <a:rPr lang="en-US" sz="2200" dirty="0"/>
            </a:br>
            <a:endParaRPr lang="en-US" sz="2200" dirty="0"/>
          </a:p>
          <a:p>
            <a:r>
              <a:rPr lang="en-US" sz="2200" i="1" dirty="0"/>
              <a:t>likely-happened-before </a:t>
            </a:r>
            <a:r>
              <a:rPr lang="en-US" sz="2200" dirty="0"/>
              <a:t>relation is not necessarily transitive.</a:t>
            </a:r>
          </a:p>
          <a:p>
            <a:pPr lvl="1"/>
            <a:r>
              <a:rPr lang="en-US" sz="2200" dirty="0"/>
              <a:t>Depends on the clock drift distributions</a:t>
            </a:r>
          </a:p>
          <a:p>
            <a:pPr lvl="1"/>
            <a:r>
              <a:rPr lang="en-US" sz="2200" dirty="0"/>
              <a:t>For Gaussian, yes it is transitive (proof in the paper)</a:t>
            </a:r>
          </a:p>
          <a:p>
            <a:pPr lvl="1"/>
            <a:r>
              <a:rPr lang="en-US" sz="2200" dirty="0"/>
              <a:t>For others, it may not be</a:t>
            </a:r>
          </a:p>
          <a:p>
            <a:pPr lvl="1"/>
            <a:r>
              <a:rPr lang="en-US" sz="2200" dirty="0"/>
              <a:t>A body of literature on finding a ranking of players out of pairwise games that can be looked at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A2410A-BEF4-B7F9-495D-662178D649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25</a:t>
            </a:r>
          </a:p>
        </p:txBody>
      </p:sp>
      <p:pic>
        <p:nvPicPr>
          <p:cNvPr id="6" name="Picture 5" descr="A math equations and formulas&#10;&#10;AI-generated content may be incorrect.">
            <a:extLst>
              <a:ext uri="{FF2B5EF4-FFF2-40B4-BE49-F238E27FC236}">
                <a16:creationId xmlns:a16="http://schemas.microsoft.com/office/drawing/2014/main" id="{7CD87B8A-E7F4-9C1A-B56E-73561599BF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5163" y="3086256"/>
            <a:ext cx="5244437" cy="22612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62696501"/>
      </p:ext>
    </p:extLst>
  </p:cSld>
  <p:clrMapOvr>
    <a:masterClrMapping/>
  </p:clrMapOvr>
  <p:transition spd="slow">
    <p:push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3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2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24B817-9B3C-4541-4346-3BC3699D6A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62E9C4-7882-E633-2BB7-85C2C43B75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6BF3F43E-8D0E-5CF7-E21C-2481224BF1F2}"/>
              </a:ext>
            </a:extLst>
          </p:cNvPr>
          <p:cNvSpPr/>
          <p:nvPr/>
        </p:nvSpPr>
        <p:spPr>
          <a:xfrm>
            <a:off x="2932294" y="3469423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231591FD-C47E-1C11-FAC4-B7A6DCD51B31}"/>
              </a:ext>
            </a:extLst>
          </p:cNvPr>
          <p:cNvSpPr/>
          <p:nvPr/>
        </p:nvSpPr>
        <p:spPr>
          <a:xfrm>
            <a:off x="5405863" y="5350218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6F378CE-5167-B4CF-67B3-3E4179599BE5}"/>
              </a:ext>
            </a:extLst>
          </p:cNvPr>
          <p:cNvSpPr/>
          <p:nvPr/>
        </p:nvSpPr>
        <p:spPr>
          <a:xfrm>
            <a:off x="8117613" y="3531268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8E6DCE8-4907-2DB2-2E66-6936202B90F4}"/>
              </a:ext>
            </a:extLst>
          </p:cNvPr>
          <p:cNvSpPr/>
          <p:nvPr/>
        </p:nvSpPr>
        <p:spPr>
          <a:xfrm>
            <a:off x="5517700" y="1542581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57F5728-D46C-13CE-3843-52CC0A2484A3}"/>
              </a:ext>
            </a:extLst>
          </p:cNvPr>
          <p:cNvCxnSpPr>
            <a:cxnSpLocks/>
            <a:stCxn id="4" idx="5"/>
            <a:endCxn id="7" idx="5"/>
          </p:cNvCxnSpPr>
          <p:nvPr/>
        </p:nvCxnSpPr>
        <p:spPr>
          <a:xfrm flipV="1">
            <a:off x="3584131" y="2193541"/>
            <a:ext cx="2585406" cy="1926842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5C1FF5F-B6CF-53B8-7305-F7107DEBFF70}"/>
              </a:ext>
            </a:extLst>
          </p:cNvPr>
          <p:cNvCxnSpPr>
            <a:cxnSpLocks/>
            <a:stCxn id="5" idx="5"/>
            <a:endCxn id="6" idx="5"/>
          </p:cNvCxnSpPr>
          <p:nvPr/>
        </p:nvCxnSpPr>
        <p:spPr>
          <a:xfrm flipV="1">
            <a:off x="6057700" y="4182228"/>
            <a:ext cx="2711750" cy="181895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B5F5319-1BC6-CA67-7878-953712084102}"/>
              </a:ext>
            </a:extLst>
          </p:cNvPr>
          <p:cNvCxnSpPr>
            <a:cxnSpLocks/>
            <a:stCxn id="6" idx="1"/>
            <a:endCxn id="5" idx="1"/>
          </p:cNvCxnSpPr>
          <p:nvPr/>
        </p:nvCxnSpPr>
        <p:spPr>
          <a:xfrm flipH="1">
            <a:off x="5517700" y="3642955"/>
            <a:ext cx="2711750" cy="181895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F234EE0-2734-02CD-1E48-3ADF76FF5AC2}"/>
              </a:ext>
            </a:extLst>
          </p:cNvPr>
          <p:cNvCxnSpPr>
            <a:cxnSpLocks/>
            <a:stCxn id="7" idx="1"/>
            <a:endCxn id="4" idx="1"/>
          </p:cNvCxnSpPr>
          <p:nvPr/>
        </p:nvCxnSpPr>
        <p:spPr>
          <a:xfrm flipH="1">
            <a:off x="3044131" y="1654268"/>
            <a:ext cx="2585406" cy="1926842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41A4B498-2D6E-455E-6C17-CE9AD19657F5}"/>
              </a:ext>
            </a:extLst>
          </p:cNvPr>
          <p:cNvCxnSpPr>
            <a:cxnSpLocks/>
            <a:stCxn id="7" idx="7"/>
            <a:endCxn id="6" idx="7"/>
          </p:cNvCxnSpPr>
          <p:nvPr/>
        </p:nvCxnSpPr>
        <p:spPr>
          <a:xfrm>
            <a:off x="6169537" y="1654268"/>
            <a:ext cx="2599913" cy="1988687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FC992742-1938-C592-A724-DA21C3D88648}"/>
              </a:ext>
            </a:extLst>
          </p:cNvPr>
          <p:cNvCxnSpPr>
            <a:cxnSpLocks/>
            <a:stCxn id="4" idx="3"/>
            <a:endCxn id="5" idx="3"/>
          </p:cNvCxnSpPr>
          <p:nvPr/>
        </p:nvCxnSpPr>
        <p:spPr>
          <a:xfrm>
            <a:off x="3044131" y="4120383"/>
            <a:ext cx="2473569" cy="1880795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5017A1CD-F3CE-424E-60A5-6B3C74B55DE0}"/>
              </a:ext>
            </a:extLst>
          </p:cNvPr>
          <p:cNvCxnSpPr>
            <a:cxnSpLocks/>
            <a:stCxn id="6" idx="3"/>
            <a:endCxn id="7" idx="3"/>
          </p:cNvCxnSpPr>
          <p:nvPr/>
        </p:nvCxnSpPr>
        <p:spPr>
          <a:xfrm flipH="1" flipV="1">
            <a:off x="5629537" y="2193541"/>
            <a:ext cx="2599913" cy="1988687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3BF531D1-A17B-1772-6747-44722ACA0068}"/>
              </a:ext>
            </a:extLst>
          </p:cNvPr>
          <p:cNvCxnSpPr>
            <a:cxnSpLocks/>
            <a:stCxn id="5" idx="7"/>
            <a:endCxn id="4" idx="7"/>
          </p:cNvCxnSpPr>
          <p:nvPr/>
        </p:nvCxnSpPr>
        <p:spPr>
          <a:xfrm flipH="1" flipV="1">
            <a:off x="3584131" y="3581110"/>
            <a:ext cx="2473569" cy="1880795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952B135A-5990-4668-753C-86879100E391}"/>
              </a:ext>
            </a:extLst>
          </p:cNvPr>
          <p:cNvCxnSpPr>
            <a:cxnSpLocks/>
            <a:stCxn id="6" idx="4"/>
            <a:endCxn id="4" idx="4"/>
          </p:cNvCxnSpPr>
          <p:nvPr/>
        </p:nvCxnSpPr>
        <p:spPr>
          <a:xfrm flipH="1" flipV="1">
            <a:off x="3314131" y="4232070"/>
            <a:ext cx="5185319" cy="61845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9B76C025-D9DB-1E25-FE64-1C3FE659B236}"/>
              </a:ext>
            </a:extLst>
          </p:cNvPr>
          <p:cNvCxnSpPr>
            <a:cxnSpLocks/>
            <a:stCxn id="4" idx="0"/>
            <a:endCxn id="6" idx="0"/>
          </p:cNvCxnSpPr>
          <p:nvPr/>
        </p:nvCxnSpPr>
        <p:spPr>
          <a:xfrm>
            <a:off x="3314131" y="3469423"/>
            <a:ext cx="5185319" cy="61845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A159B1F9-59A6-DBC1-F8EB-CFDB770DB2F4}"/>
              </a:ext>
            </a:extLst>
          </p:cNvPr>
          <p:cNvCxnSpPr>
            <a:cxnSpLocks/>
            <a:stCxn id="7" idx="6"/>
            <a:endCxn id="5" idx="6"/>
          </p:cNvCxnSpPr>
          <p:nvPr/>
        </p:nvCxnSpPr>
        <p:spPr>
          <a:xfrm flipH="1">
            <a:off x="6169537" y="1923905"/>
            <a:ext cx="111837" cy="3807637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FC9A0989-2E77-B23E-7C08-A67E75E44712}"/>
              </a:ext>
            </a:extLst>
          </p:cNvPr>
          <p:cNvCxnSpPr>
            <a:cxnSpLocks/>
            <a:stCxn id="5" idx="2"/>
            <a:endCxn id="7" idx="2"/>
          </p:cNvCxnSpPr>
          <p:nvPr/>
        </p:nvCxnSpPr>
        <p:spPr>
          <a:xfrm flipV="1">
            <a:off x="5405863" y="1923905"/>
            <a:ext cx="111837" cy="3807637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0FB58CE-FC0F-BCDF-8D50-460C674A5B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125819536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FAB9D9-D7AD-AC6B-1727-AA705CC2D3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C122FD-0F9A-25E9-2B3B-46BC6C8D9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5F398247-AD79-7922-E406-DCEC1A7AC362}"/>
              </a:ext>
            </a:extLst>
          </p:cNvPr>
          <p:cNvSpPr/>
          <p:nvPr/>
        </p:nvSpPr>
        <p:spPr>
          <a:xfrm>
            <a:off x="2932294" y="3469423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1BC069AA-EE77-AB1D-AB6D-AF9D15152C29}"/>
              </a:ext>
            </a:extLst>
          </p:cNvPr>
          <p:cNvSpPr/>
          <p:nvPr/>
        </p:nvSpPr>
        <p:spPr>
          <a:xfrm>
            <a:off x="5405863" y="5350218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6861866-3986-101B-3E58-7963B26182CD}"/>
              </a:ext>
            </a:extLst>
          </p:cNvPr>
          <p:cNvSpPr/>
          <p:nvPr/>
        </p:nvSpPr>
        <p:spPr>
          <a:xfrm>
            <a:off x="8117613" y="3531268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45410CA-C483-75FC-8F8A-86536D84AEBC}"/>
              </a:ext>
            </a:extLst>
          </p:cNvPr>
          <p:cNvSpPr/>
          <p:nvPr/>
        </p:nvSpPr>
        <p:spPr>
          <a:xfrm>
            <a:off x="5517700" y="1542581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1C20035-6225-7153-1EC5-7530B2E4FFED}"/>
              </a:ext>
            </a:extLst>
          </p:cNvPr>
          <p:cNvCxnSpPr>
            <a:cxnSpLocks/>
            <a:stCxn id="4" idx="5"/>
            <a:endCxn id="7" idx="5"/>
          </p:cNvCxnSpPr>
          <p:nvPr/>
        </p:nvCxnSpPr>
        <p:spPr>
          <a:xfrm flipV="1">
            <a:off x="3584131" y="2193541"/>
            <a:ext cx="2585406" cy="1926842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3A731BC-65A8-A7A8-4001-98B2609E0E84}"/>
              </a:ext>
            </a:extLst>
          </p:cNvPr>
          <p:cNvCxnSpPr>
            <a:cxnSpLocks/>
            <a:stCxn id="5" idx="5"/>
            <a:endCxn id="6" idx="5"/>
          </p:cNvCxnSpPr>
          <p:nvPr/>
        </p:nvCxnSpPr>
        <p:spPr>
          <a:xfrm flipV="1">
            <a:off x="6057700" y="4182228"/>
            <a:ext cx="2711750" cy="1818950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248CAAB-3880-A301-5684-28267127C876}"/>
              </a:ext>
            </a:extLst>
          </p:cNvPr>
          <p:cNvCxnSpPr>
            <a:cxnSpLocks/>
            <a:stCxn id="6" idx="1"/>
            <a:endCxn id="5" idx="1"/>
          </p:cNvCxnSpPr>
          <p:nvPr/>
        </p:nvCxnSpPr>
        <p:spPr>
          <a:xfrm flipH="1">
            <a:off x="5517700" y="3642955"/>
            <a:ext cx="2711750" cy="1818950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4977E046-C008-F4C8-5BDB-CB1CB31D3ED3}"/>
              </a:ext>
            </a:extLst>
          </p:cNvPr>
          <p:cNvCxnSpPr>
            <a:cxnSpLocks/>
            <a:stCxn id="7" idx="1"/>
            <a:endCxn id="4" idx="1"/>
          </p:cNvCxnSpPr>
          <p:nvPr/>
        </p:nvCxnSpPr>
        <p:spPr>
          <a:xfrm flipH="1">
            <a:off x="3044131" y="1654268"/>
            <a:ext cx="2585406" cy="1926842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6F0F3C7-A292-981B-8B5D-DAFDD1B41CE5}"/>
              </a:ext>
            </a:extLst>
          </p:cNvPr>
          <p:cNvCxnSpPr>
            <a:cxnSpLocks/>
            <a:stCxn id="7" idx="7"/>
            <a:endCxn id="6" idx="7"/>
          </p:cNvCxnSpPr>
          <p:nvPr/>
        </p:nvCxnSpPr>
        <p:spPr>
          <a:xfrm>
            <a:off x="6169537" y="1654268"/>
            <a:ext cx="2599913" cy="1988687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E76641CB-DAB4-77D4-A05A-E51ADD0CD9BF}"/>
              </a:ext>
            </a:extLst>
          </p:cNvPr>
          <p:cNvCxnSpPr>
            <a:cxnSpLocks/>
            <a:stCxn id="4" idx="3"/>
            <a:endCxn id="5" idx="3"/>
          </p:cNvCxnSpPr>
          <p:nvPr/>
        </p:nvCxnSpPr>
        <p:spPr>
          <a:xfrm>
            <a:off x="3044131" y="4120383"/>
            <a:ext cx="2473569" cy="1880795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B94B817D-8740-E357-8B1C-D0341BA9A2EA}"/>
              </a:ext>
            </a:extLst>
          </p:cNvPr>
          <p:cNvCxnSpPr>
            <a:cxnSpLocks/>
            <a:stCxn id="6" idx="3"/>
            <a:endCxn id="7" idx="3"/>
          </p:cNvCxnSpPr>
          <p:nvPr/>
        </p:nvCxnSpPr>
        <p:spPr>
          <a:xfrm flipH="1" flipV="1">
            <a:off x="5629537" y="2193541"/>
            <a:ext cx="2599913" cy="1988687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02C3B232-0906-CFAC-7FC3-6B65EED4867A}"/>
              </a:ext>
            </a:extLst>
          </p:cNvPr>
          <p:cNvCxnSpPr>
            <a:cxnSpLocks/>
            <a:stCxn id="5" idx="7"/>
            <a:endCxn id="4" idx="7"/>
          </p:cNvCxnSpPr>
          <p:nvPr/>
        </p:nvCxnSpPr>
        <p:spPr>
          <a:xfrm flipH="1" flipV="1">
            <a:off x="3584131" y="3581110"/>
            <a:ext cx="2473569" cy="1880795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AEDFD808-AA66-A350-F9A6-41C12B5611AA}"/>
              </a:ext>
            </a:extLst>
          </p:cNvPr>
          <p:cNvCxnSpPr>
            <a:cxnSpLocks/>
            <a:stCxn id="6" idx="4"/>
            <a:endCxn id="4" idx="4"/>
          </p:cNvCxnSpPr>
          <p:nvPr/>
        </p:nvCxnSpPr>
        <p:spPr>
          <a:xfrm flipH="1" flipV="1">
            <a:off x="3314131" y="4232070"/>
            <a:ext cx="5185319" cy="61845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4BFF4F54-F236-E3FD-23F9-935E637A8871}"/>
              </a:ext>
            </a:extLst>
          </p:cNvPr>
          <p:cNvCxnSpPr>
            <a:cxnSpLocks/>
            <a:stCxn id="4" idx="0"/>
            <a:endCxn id="6" idx="0"/>
          </p:cNvCxnSpPr>
          <p:nvPr/>
        </p:nvCxnSpPr>
        <p:spPr>
          <a:xfrm>
            <a:off x="3314131" y="3469423"/>
            <a:ext cx="5185319" cy="61845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A2F8A8A5-D16B-8ECD-4591-C9B42ADCA088}"/>
              </a:ext>
            </a:extLst>
          </p:cNvPr>
          <p:cNvCxnSpPr>
            <a:cxnSpLocks/>
            <a:stCxn id="7" idx="6"/>
            <a:endCxn id="5" idx="6"/>
          </p:cNvCxnSpPr>
          <p:nvPr/>
        </p:nvCxnSpPr>
        <p:spPr>
          <a:xfrm flipH="1">
            <a:off x="6169537" y="1923905"/>
            <a:ext cx="111837" cy="3807637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A04FBAD9-E2A2-566F-5D3E-010C11C94B45}"/>
              </a:ext>
            </a:extLst>
          </p:cNvPr>
          <p:cNvCxnSpPr>
            <a:cxnSpLocks/>
            <a:stCxn id="5" idx="2"/>
            <a:endCxn id="7" idx="2"/>
          </p:cNvCxnSpPr>
          <p:nvPr/>
        </p:nvCxnSpPr>
        <p:spPr>
          <a:xfrm flipV="1">
            <a:off x="5405863" y="1923905"/>
            <a:ext cx="111837" cy="3807637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89BE55A9-946E-A8AD-41DD-E82E80424CE9}"/>
              </a:ext>
            </a:extLst>
          </p:cNvPr>
          <p:cNvSpPr txBox="1"/>
          <p:nvPr/>
        </p:nvSpPr>
        <p:spPr>
          <a:xfrm>
            <a:off x="6215863" y="3493032"/>
            <a:ext cx="10663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p=0.8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2EA702-53AA-1FAB-2794-9632C73F947E}"/>
              </a:ext>
            </a:extLst>
          </p:cNvPr>
          <p:cNvSpPr txBox="1"/>
          <p:nvPr/>
        </p:nvSpPr>
        <p:spPr>
          <a:xfrm>
            <a:off x="4293219" y="2865196"/>
            <a:ext cx="10663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p=0.2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6AF12BDB-B107-FFF0-99B4-A4EED5FB01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9257281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5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checkerboard(across)">
                                      <p:cBhvr>
                                        <p:cTn id="12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5" presetClass="exit" presetSubtype="1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checkerboard(across)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8" grpId="0"/>
      <p:bldP spid="8" grpId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A84C5-4773-CA90-5E91-5C1DC608E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00BF0E-2816-34C5-2E71-B01AFC653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662F4B8D-A098-D4A4-D00D-141FF0CFF538}"/>
              </a:ext>
            </a:extLst>
          </p:cNvPr>
          <p:cNvSpPr/>
          <p:nvPr/>
        </p:nvSpPr>
        <p:spPr>
          <a:xfrm>
            <a:off x="2932294" y="3469423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7E1650D4-C828-11C3-5124-E1B1F71E6286}"/>
              </a:ext>
            </a:extLst>
          </p:cNvPr>
          <p:cNvSpPr/>
          <p:nvPr/>
        </p:nvSpPr>
        <p:spPr>
          <a:xfrm>
            <a:off x="5405863" y="5350218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9FB8A57-78FC-6B82-D967-E7AEAC2EBE4E}"/>
              </a:ext>
            </a:extLst>
          </p:cNvPr>
          <p:cNvSpPr/>
          <p:nvPr/>
        </p:nvSpPr>
        <p:spPr>
          <a:xfrm>
            <a:off x="8117613" y="3531268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634F248-C97A-C553-89CF-1A7885000D8E}"/>
              </a:ext>
            </a:extLst>
          </p:cNvPr>
          <p:cNvSpPr/>
          <p:nvPr/>
        </p:nvSpPr>
        <p:spPr>
          <a:xfrm>
            <a:off x="5517700" y="1542581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6C5C93A-786B-532B-8C64-C22A8692C23D}"/>
              </a:ext>
            </a:extLst>
          </p:cNvPr>
          <p:cNvCxnSpPr>
            <a:cxnSpLocks/>
            <a:stCxn id="4" idx="5"/>
            <a:endCxn id="7" idx="5"/>
          </p:cNvCxnSpPr>
          <p:nvPr/>
        </p:nvCxnSpPr>
        <p:spPr>
          <a:xfrm flipV="1">
            <a:off x="3584131" y="2193541"/>
            <a:ext cx="2585406" cy="1926842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5AA5F27-EE0A-D38F-2F7B-1E3CA5B52984}"/>
              </a:ext>
            </a:extLst>
          </p:cNvPr>
          <p:cNvCxnSpPr>
            <a:cxnSpLocks/>
            <a:stCxn id="5" idx="5"/>
            <a:endCxn id="6" idx="5"/>
          </p:cNvCxnSpPr>
          <p:nvPr/>
        </p:nvCxnSpPr>
        <p:spPr>
          <a:xfrm flipV="1">
            <a:off x="6057700" y="4182228"/>
            <a:ext cx="2711750" cy="1818950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33A4665-6C42-76E0-3852-C52534A8355A}"/>
              </a:ext>
            </a:extLst>
          </p:cNvPr>
          <p:cNvCxnSpPr>
            <a:cxnSpLocks/>
            <a:stCxn id="7" idx="7"/>
            <a:endCxn id="6" idx="7"/>
          </p:cNvCxnSpPr>
          <p:nvPr/>
        </p:nvCxnSpPr>
        <p:spPr>
          <a:xfrm>
            <a:off x="6169537" y="1654268"/>
            <a:ext cx="2599913" cy="1988687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B03D666F-F5F3-E355-A640-02D695708963}"/>
              </a:ext>
            </a:extLst>
          </p:cNvPr>
          <p:cNvCxnSpPr>
            <a:cxnSpLocks/>
            <a:stCxn id="4" idx="3"/>
            <a:endCxn id="5" idx="3"/>
          </p:cNvCxnSpPr>
          <p:nvPr/>
        </p:nvCxnSpPr>
        <p:spPr>
          <a:xfrm>
            <a:off x="3044131" y="4120383"/>
            <a:ext cx="2473569" cy="1880795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F32EA109-0426-72E5-44F0-0AB5738CB7F0}"/>
              </a:ext>
            </a:extLst>
          </p:cNvPr>
          <p:cNvCxnSpPr>
            <a:cxnSpLocks/>
            <a:stCxn id="4" idx="0"/>
            <a:endCxn id="6" idx="0"/>
          </p:cNvCxnSpPr>
          <p:nvPr/>
        </p:nvCxnSpPr>
        <p:spPr>
          <a:xfrm>
            <a:off x="3314131" y="3469423"/>
            <a:ext cx="5185319" cy="61845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F4B671ED-B6B5-0D41-D552-BDE613EB001B}"/>
              </a:ext>
            </a:extLst>
          </p:cNvPr>
          <p:cNvCxnSpPr>
            <a:cxnSpLocks/>
            <a:stCxn id="7" idx="6"/>
            <a:endCxn id="5" idx="6"/>
          </p:cNvCxnSpPr>
          <p:nvPr/>
        </p:nvCxnSpPr>
        <p:spPr>
          <a:xfrm flipH="1">
            <a:off x="6169537" y="1923905"/>
            <a:ext cx="111837" cy="3807637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7BF9ECC9-D651-F5CC-B184-0CAEAF918078}"/>
              </a:ext>
            </a:extLst>
          </p:cNvPr>
          <p:cNvSpPr txBox="1"/>
          <p:nvPr/>
        </p:nvSpPr>
        <p:spPr>
          <a:xfrm>
            <a:off x="6706536" y="145499"/>
            <a:ext cx="542950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With </a:t>
            </a: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Guassian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distributions, there will be no cycles in the resultant graph.</a:t>
            </a:r>
            <a:b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b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4EA72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Topo. Ordering of this graph is our ordering of interest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E58B240-6CC7-1EAC-6403-9CBD3902B39E}"/>
              </a:ext>
            </a:extLst>
          </p:cNvPr>
          <p:cNvSpPr txBox="1"/>
          <p:nvPr/>
        </p:nvSpPr>
        <p:spPr>
          <a:xfrm>
            <a:off x="91199" y="5060780"/>
            <a:ext cx="54295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which topological ordering?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4EA72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FE9172A-4F32-D06F-E51E-DF840B26CAFE}"/>
              </a:ext>
            </a:extLst>
          </p:cNvPr>
          <p:cNvSpPr txBox="1"/>
          <p:nvPr/>
        </p:nvSpPr>
        <p:spPr>
          <a:xfrm>
            <a:off x="88199" y="5492589"/>
            <a:ext cx="54295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Usually, multiple orderings are </a:t>
            </a:r>
            <a:b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possible.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4EA72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408C0E1-FFD1-D3FE-ED1E-88322A563474}"/>
              </a:ext>
            </a:extLst>
          </p:cNvPr>
          <p:cNvSpPr txBox="1"/>
          <p:nvPr/>
        </p:nvSpPr>
        <p:spPr>
          <a:xfrm>
            <a:off x="7469493" y="5060780"/>
            <a:ext cx="54295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not in our case.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4EA72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90E5565-E75F-98D0-0419-EB0C65FF11B6}"/>
              </a:ext>
            </a:extLst>
          </p:cNvPr>
          <p:cNvSpPr txBox="1"/>
          <p:nvPr/>
        </p:nvSpPr>
        <p:spPr>
          <a:xfrm>
            <a:off x="7469492" y="5458313"/>
            <a:ext cx="54295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Our resultant graph is a transitive tournament.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4EA72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9C03AE3-3DF0-9FAD-9C66-05915B8D43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42688154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/>
      <p:bldP spid="14" grpId="0"/>
      <p:bldP spid="1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ACC065-27BD-1AD0-487F-E7583C0BBC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9EACE8-FD69-DD5C-74EE-422013E8B1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FA388162-A9E7-878F-76D7-A34477025185}"/>
              </a:ext>
            </a:extLst>
          </p:cNvPr>
          <p:cNvSpPr/>
          <p:nvPr/>
        </p:nvSpPr>
        <p:spPr>
          <a:xfrm>
            <a:off x="2112897" y="2648611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2EE854E1-072C-2508-C531-A8558F528C90}"/>
              </a:ext>
            </a:extLst>
          </p:cNvPr>
          <p:cNvSpPr/>
          <p:nvPr/>
        </p:nvSpPr>
        <p:spPr>
          <a:xfrm>
            <a:off x="6165433" y="2645917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F15EADCA-E26F-8D47-E1B5-E5DCAD607758}"/>
              </a:ext>
            </a:extLst>
          </p:cNvPr>
          <p:cNvSpPr/>
          <p:nvPr/>
        </p:nvSpPr>
        <p:spPr>
          <a:xfrm>
            <a:off x="8113958" y="2645917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E788875-916E-D928-50E5-E1C6D4DC53B6}"/>
              </a:ext>
            </a:extLst>
          </p:cNvPr>
          <p:cNvSpPr/>
          <p:nvPr/>
        </p:nvSpPr>
        <p:spPr>
          <a:xfrm>
            <a:off x="3835071" y="2633256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8F48F66-B90B-2690-B1B4-84E9D882F53C}"/>
              </a:ext>
            </a:extLst>
          </p:cNvPr>
          <p:cNvCxnSpPr>
            <a:cxnSpLocks/>
            <a:stCxn id="4" idx="5"/>
            <a:endCxn id="7" idx="5"/>
          </p:cNvCxnSpPr>
          <p:nvPr/>
        </p:nvCxnSpPr>
        <p:spPr>
          <a:xfrm flipV="1">
            <a:off x="2764734" y="3284216"/>
            <a:ext cx="1722174" cy="15355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5EA24C9-8EBA-32D2-FA65-499F49D94EB1}"/>
              </a:ext>
            </a:extLst>
          </p:cNvPr>
          <p:cNvCxnSpPr>
            <a:cxnSpLocks/>
            <a:stCxn id="5" idx="5"/>
            <a:endCxn id="6" idx="5"/>
          </p:cNvCxnSpPr>
          <p:nvPr/>
        </p:nvCxnSpPr>
        <p:spPr>
          <a:xfrm>
            <a:off x="6817270" y="3296877"/>
            <a:ext cx="1948525" cy="0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4B2047E7-8D21-D929-946B-CAD3EA756E32}"/>
              </a:ext>
            </a:extLst>
          </p:cNvPr>
          <p:cNvCxnSpPr>
            <a:cxnSpLocks/>
            <a:stCxn id="7" idx="7"/>
            <a:endCxn id="6" idx="7"/>
          </p:cNvCxnSpPr>
          <p:nvPr/>
        </p:nvCxnSpPr>
        <p:spPr>
          <a:xfrm>
            <a:off x="4486908" y="2744943"/>
            <a:ext cx="4278887" cy="12661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53CDD9E3-96BA-AE03-E42E-59B8A749AC2B}"/>
              </a:ext>
            </a:extLst>
          </p:cNvPr>
          <p:cNvCxnSpPr>
            <a:cxnSpLocks/>
            <a:stCxn id="4" idx="3"/>
            <a:endCxn id="5" idx="3"/>
          </p:cNvCxnSpPr>
          <p:nvPr/>
        </p:nvCxnSpPr>
        <p:spPr>
          <a:xfrm flipV="1">
            <a:off x="2224734" y="3296877"/>
            <a:ext cx="4052536" cy="2694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4B85FBFD-0776-D864-F74B-8450481DEECD}"/>
              </a:ext>
            </a:extLst>
          </p:cNvPr>
          <p:cNvCxnSpPr>
            <a:cxnSpLocks/>
            <a:stCxn id="4" idx="0"/>
            <a:endCxn id="6" idx="0"/>
          </p:cNvCxnSpPr>
          <p:nvPr/>
        </p:nvCxnSpPr>
        <p:spPr>
          <a:xfrm flipV="1">
            <a:off x="2494734" y="2645917"/>
            <a:ext cx="6001061" cy="2694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3DEC324F-7F6F-BE75-D2E8-37EE14E4DD9D}"/>
              </a:ext>
            </a:extLst>
          </p:cNvPr>
          <p:cNvCxnSpPr>
            <a:cxnSpLocks/>
            <a:stCxn id="7" idx="6"/>
            <a:endCxn id="5" idx="6"/>
          </p:cNvCxnSpPr>
          <p:nvPr/>
        </p:nvCxnSpPr>
        <p:spPr>
          <a:xfrm>
            <a:off x="4598745" y="3014580"/>
            <a:ext cx="2330362" cy="12661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1D28BF55-AA70-16FF-CE12-C0E3CB97855F}"/>
              </a:ext>
            </a:extLst>
          </p:cNvPr>
          <p:cNvSpPr txBox="1"/>
          <p:nvPr/>
        </p:nvSpPr>
        <p:spPr>
          <a:xfrm>
            <a:off x="2962692" y="3945144"/>
            <a:ext cx="542950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4EA72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A transitive tournament has a unique Hamiltonian Path.</a:t>
            </a:r>
            <a:r>
              <a:rPr kumimoji="0" lang="en-US" sz="2800" b="0" i="0" u="none" strike="noStrike" kern="1200" cap="none" spc="0" normalizeH="0" baseline="30000" noProof="0" dirty="0">
                <a:ln>
                  <a:noFill/>
                </a:ln>
                <a:solidFill>
                  <a:srgbClr val="4EA72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[2]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8988913-619E-33EA-8133-65E2E7424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699BA1-A75E-97BB-F976-1271956C1420}"/>
              </a:ext>
            </a:extLst>
          </p:cNvPr>
          <p:cNvSpPr txBox="1"/>
          <p:nvPr/>
        </p:nvSpPr>
        <p:spPr>
          <a:xfrm>
            <a:off x="9122070" y="6598364"/>
            <a:ext cx="316144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hlinkClick r:id="" action="ppaction://noaction"/>
              </a:rPr>
              <a:t>[2] About the number of directed paths in tournaments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894893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7FE824-AA6E-A945-BFDA-D9AFD8412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24B173-3DFE-A734-2657-07FB89DFFF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BA7DD9C2-0CF3-6B3F-4614-D4C05F8E7323}"/>
              </a:ext>
            </a:extLst>
          </p:cNvPr>
          <p:cNvSpPr/>
          <p:nvPr/>
        </p:nvSpPr>
        <p:spPr>
          <a:xfrm>
            <a:off x="6404711" y="1309363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4FBF75F5-CCF8-3DEA-E1BE-4C882E1F406D}"/>
              </a:ext>
            </a:extLst>
          </p:cNvPr>
          <p:cNvSpPr/>
          <p:nvPr/>
        </p:nvSpPr>
        <p:spPr>
          <a:xfrm>
            <a:off x="9498747" y="1309365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81FB54E7-710B-205D-67B3-B4F97652D284}"/>
              </a:ext>
            </a:extLst>
          </p:cNvPr>
          <p:cNvSpPr/>
          <p:nvPr/>
        </p:nvSpPr>
        <p:spPr>
          <a:xfrm>
            <a:off x="11065435" y="1309364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EEF68D9-E97D-BE93-D319-71EFD7F16EF9}"/>
              </a:ext>
            </a:extLst>
          </p:cNvPr>
          <p:cNvSpPr/>
          <p:nvPr/>
        </p:nvSpPr>
        <p:spPr>
          <a:xfrm>
            <a:off x="7932059" y="1309365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5AB170B-A307-199B-E0FB-40606E97CB10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10262421" y="1690688"/>
            <a:ext cx="803014" cy="1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48ADF10-A760-0E40-0188-C8591223C521}"/>
              </a:ext>
            </a:extLst>
          </p:cNvPr>
          <p:cNvCxnSpPr>
            <a:cxnSpLocks/>
            <a:stCxn id="4" idx="6"/>
            <a:endCxn id="7" idx="2"/>
          </p:cNvCxnSpPr>
          <p:nvPr/>
        </p:nvCxnSpPr>
        <p:spPr>
          <a:xfrm>
            <a:off x="7168385" y="1690687"/>
            <a:ext cx="763674" cy="2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05F29483-6694-B9C7-E7D9-C0E327DF6AE8}"/>
              </a:ext>
            </a:extLst>
          </p:cNvPr>
          <p:cNvCxnSpPr>
            <a:cxnSpLocks/>
            <a:stCxn id="7" idx="6"/>
            <a:endCxn id="5" idx="2"/>
          </p:cNvCxnSpPr>
          <p:nvPr/>
        </p:nvCxnSpPr>
        <p:spPr>
          <a:xfrm>
            <a:off x="8695733" y="1690689"/>
            <a:ext cx="803014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27D81E33-2B87-6BAA-A3F2-84D22D125B61}"/>
              </a:ext>
            </a:extLst>
          </p:cNvPr>
          <p:cNvSpPr txBox="1"/>
          <p:nvPr/>
        </p:nvSpPr>
        <p:spPr>
          <a:xfrm>
            <a:off x="838200" y="2342538"/>
            <a:ext cx="761208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what about intransitivity?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103D682-7C9E-BD14-3BFE-5000C3643724}"/>
              </a:ext>
            </a:extLst>
          </p:cNvPr>
          <p:cNvSpPr txBox="1"/>
          <p:nvPr/>
        </p:nvSpPr>
        <p:spPr>
          <a:xfrm>
            <a:off x="838199" y="3294248"/>
            <a:ext cx="895894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Ordering probabilities may not be transitive, depending on the clock drift distributions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B6E4BD8-3592-122B-B45A-29F4D47B8C31}"/>
              </a:ext>
            </a:extLst>
          </p:cNvPr>
          <p:cNvSpPr txBox="1"/>
          <p:nvPr/>
        </p:nvSpPr>
        <p:spPr>
          <a:xfrm>
            <a:off x="838200" y="4674843"/>
            <a:ext cx="895894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Such intransitivity could lead to cycles in our resultant graph.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E5D762B-A189-2531-CDF7-CCE2C0070F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1461998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19" grpId="0"/>
      <p:bldP spid="20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88879-52D7-697E-01A4-305B5968D1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58F7D1-A672-40A8-EB73-68B3993B79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0BABE0E8-C9E0-7ECA-F8E4-2EFF058DA81A}"/>
              </a:ext>
            </a:extLst>
          </p:cNvPr>
          <p:cNvSpPr/>
          <p:nvPr/>
        </p:nvSpPr>
        <p:spPr>
          <a:xfrm>
            <a:off x="2925241" y="3185664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DC1E60FA-01D9-A983-0B67-CDC337765100}"/>
              </a:ext>
            </a:extLst>
          </p:cNvPr>
          <p:cNvSpPr/>
          <p:nvPr/>
        </p:nvSpPr>
        <p:spPr>
          <a:xfrm>
            <a:off x="6019277" y="3185666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D25A1771-1051-08E3-52F8-805FD45A3A45}"/>
              </a:ext>
            </a:extLst>
          </p:cNvPr>
          <p:cNvSpPr/>
          <p:nvPr/>
        </p:nvSpPr>
        <p:spPr>
          <a:xfrm>
            <a:off x="7585965" y="3185665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9C45327-641D-4332-B677-AAD66B778177}"/>
              </a:ext>
            </a:extLst>
          </p:cNvPr>
          <p:cNvSpPr/>
          <p:nvPr/>
        </p:nvSpPr>
        <p:spPr>
          <a:xfrm>
            <a:off x="4452589" y="3185666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BDEACA2-D36C-8CFA-12EE-8B126F08B7CB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6782951" y="3566989"/>
            <a:ext cx="803014" cy="1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1C16424D-11E6-E78D-2AFA-2CA42B643A6F}"/>
              </a:ext>
            </a:extLst>
          </p:cNvPr>
          <p:cNvCxnSpPr>
            <a:cxnSpLocks/>
            <a:stCxn id="4" idx="6"/>
            <a:endCxn id="7" idx="2"/>
          </p:cNvCxnSpPr>
          <p:nvPr/>
        </p:nvCxnSpPr>
        <p:spPr>
          <a:xfrm>
            <a:off x="3688915" y="3566988"/>
            <a:ext cx="763674" cy="2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75061540-7EA1-03B9-9E3B-E5EC82B8C40D}"/>
              </a:ext>
            </a:extLst>
          </p:cNvPr>
          <p:cNvCxnSpPr>
            <a:cxnSpLocks/>
            <a:stCxn id="7" idx="6"/>
            <a:endCxn id="5" idx="2"/>
          </p:cNvCxnSpPr>
          <p:nvPr/>
        </p:nvCxnSpPr>
        <p:spPr>
          <a:xfrm>
            <a:off x="5216263" y="3566990"/>
            <a:ext cx="803014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urved Connector 8">
            <a:extLst>
              <a:ext uri="{FF2B5EF4-FFF2-40B4-BE49-F238E27FC236}">
                <a16:creationId xmlns:a16="http://schemas.microsoft.com/office/drawing/2014/main" id="{DD891C12-267E-7E93-26D0-83D2FB536C0E}"/>
              </a:ext>
            </a:extLst>
          </p:cNvPr>
          <p:cNvCxnSpPr>
            <a:cxnSpLocks/>
            <a:stCxn id="5" idx="4"/>
            <a:endCxn id="4" idx="4"/>
          </p:cNvCxnSpPr>
          <p:nvPr/>
        </p:nvCxnSpPr>
        <p:spPr>
          <a:xfrm rot="5400000" flipH="1">
            <a:off x="4854095" y="2401294"/>
            <a:ext cx="2" cy="3094036"/>
          </a:xfrm>
          <a:prstGeom prst="curvedConnector3">
            <a:avLst>
              <a:gd name="adj1" fmla="val -11430000000"/>
            </a:avLst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6A17B49E-A2C6-C8C9-8451-4472CD986B86}"/>
              </a:ext>
            </a:extLst>
          </p:cNvPr>
          <p:cNvSpPr txBox="1"/>
          <p:nvPr/>
        </p:nvSpPr>
        <p:spPr>
          <a:xfrm>
            <a:off x="2704986" y="4520464"/>
            <a:ext cx="895894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No Topological Ordering Possible.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27168FB-DE03-F2A0-01AA-4F59869484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1583246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B8AAD0-B869-3ADD-3F34-59C18309F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1B41EC-BE26-DE70-A688-EC2543596B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5C0044E0-CEBA-167A-EF04-985D759298BB}"/>
              </a:ext>
            </a:extLst>
          </p:cNvPr>
          <p:cNvSpPr/>
          <p:nvPr/>
        </p:nvSpPr>
        <p:spPr>
          <a:xfrm>
            <a:off x="6226582" y="1309363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B4AF84D-C80A-C8EA-2213-9A1923178FA4}"/>
              </a:ext>
            </a:extLst>
          </p:cNvPr>
          <p:cNvSpPr/>
          <p:nvPr/>
        </p:nvSpPr>
        <p:spPr>
          <a:xfrm>
            <a:off x="9320618" y="1309365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48299E1-7840-58D5-4CFB-AA48F488FAF2}"/>
              </a:ext>
            </a:extLst>
          </p:cNvPr>
          <p:cNvSpPr/>
          <p:nvPr/>
        </p:nvSpPr>
        <p:spPr>
          <a:xfrm>
            <a:off x="10887306" y="1309364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D5D04CC-75A6-7FF8-2D37-FBE958FAD34C}"/>
              </a:ext>
            </a:extLst>
          </p:cNvPr>
          <p:cNvSpPr/>
          <p:nvPr/>
        </p:nvSpPr>
        <p:spPr>
          <a:xfrm>
            <a:off x="7753930" y="1309365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212527F-6C40-94A2-32A9-79515410616F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10084292" y="1690688"/>
            <a:ext cx="803014" cy="1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748DED78-11E0-7AAC-7F79-A2726DD1AD16}"/>
              </a:ext>
            </a:extLst>
          </p:cNvPr>
          <p:cNvCxnSpPr>
            <a:cxnSpLocks/>
            <a:stCxn id="4" idx="6"/>
            <a:endCxn id="7" idx="2"/>
          </p:cNvCxnSpPr>
          <p:nvPr/>
        </p:nvCxnSpPr>
        <p:spPr>
          <a:xfrm>
            <a:off x="6990256" y="1690687"/>
            <a:ext cx="763674" cy="2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13B37309-B728-EA42-D73C-1F47AE6740C3}"/>
              </a:ext>
            </a:extLst>
          </p:cNvPr>
          <p:cNvCxnSpPr>
            <a:cxnSpLocks/>
            <a:stCxn id="7" idx="6"/>
            <a:endCxn id="5" idx="2"/>
          </p:cNvCxnSpPr>
          <p:nvPr/>
        </p:nvCxnSpPr>
        <p:spPr>
          <a:xfrm>
            <a:off x="8517604" y="1690689"/>
            <a:ext cx="803014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urved Connector 8">
            <a:extLst>
              <a:ext uri="{FF2B5EF4-FFF2-40B4-BE49-F238E27FC236}">
                <a16:creationId xmlns:a16="http://schemas.microsoft.com/office/drawing/2014/main" id="{C2789429-D8FF-1B5D-3544-82E7A24D6BE0}"/>
              </a:ext>
            </a:extLst>
          </p:cNvPr>
          <p:cNvCxnSpPr>
            <a:cxnSpLocks/>
            <a:stCxn id="5" idx="4"/>
            <a:endCxn id="4" idx="4"/>
          </p:cNvCxnSpPr>
          <p:nvPr/>
        </p:nvCxnSpPr>
        <p:spPr>
          <a:xfrm rot="5400000" flipH="1">
            <a:off x="8155436" y="524993"/>
            <a:ext cx="2" cy="3094036"/>
          </a:xfrm>
          <a:prstGeom prst="curvedConnector3">
            <a:avLst>
              <a:gd name="adj1" fmla="val -11430000000"/>
            </a:avLst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31C651B-4001-8238-AAC6-54D127CC76D4}"/>
              </a:ext>
            </a:extLst>
          </p:cNvPr>
          <p:cNvSpPr txBox="1"/>
          <p:nvPr/>
        </p:nvSpPr>
        <p:spPr>
          <a:xfrm>
            <a:off x="743512" y="2844225"/>
            <a:ext cx="895894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One direction could be to remove enough edges to make the graph acyclic.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A880C4F-1055-320B-F443-D9ADA50B1E02}"/>
              </a:ext>
            </a:extLst>
          </p:cNvPr>
          <p:cNvSpPr txBox="1"/>
          <p:nvPr/>
        </p:nvSpPr>
        <p:spPr>
          <a:xfrm>
            <a:off x="743511" y="3997762"/>
            <a:ext cx="895894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Clearly unfair towards some clients/messages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3B5DB43-8777-BF94-D683-C86523702270}"/>
              </a:ext>
            </a:extLst>
          </p:cNvPr>
          <p:cNvSpPr txBox="1"/>
          <p:nvPr/>
        </p:nvSpPr>
        <p:spPr>
          <a:xfrm>
            <a:off x="743510" y="4658856"/>
            <a:ext cx="895894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Every time we process a set of messages, remove edges in a way that fairness is achieved over sufficiently long time 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itchFamily="2" charset="2"/>
              </a:rPr>
              <a:t> Stochastic Fairness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EC35D78-908A-75AF-110F-C8701B8642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7196780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1" grpId="0"/>
      <p:bldP spid="12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F30CA7-EDD0-2BD7-6A9B-7B1916E198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9D30F9-A654-7EEF-6B83-4978AB3861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4C3EB426-F6F5-AB19-EC28-11D793499DAE}"/>
              </a:ext>
            </a:extLst>
          </p:cNvPr>
          <p:cNvSpPr/>
          <p:nvPr/>
        </p:nvSpPr>
        <p:spPr>
          <a:xfrm>
            <a:off x="6226582" y="1309363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919FD2E6-097B-A751-1866-682A3C1A4342}"/>
              </a:ext>
            </a:extLst>
          </p:cNvPr>
          <p:cNvSpPr/>
          <p:nvPr/>
        </p:nvSpPr>
        <p:spPr>
          <a:xfrm>
            <a:off x="9320618" y="1309365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A1513F78-D4D6-B4D2-B890-91728426EF64}"/>
              </a:ext>
            </a:extLst>
          </p:cNvPr>
          <p:cNvSpPr/>
          <p:nvPr/>
        </p:nvSpPr>
        <p:spPr>
          <a:xfrm>
            <a:off x="10887306" y="1309364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FFE08BC-BBDC-7743-E762-BB31359E9600}"/>
              </a:ext>
            </a:extLst>
          </p:cNvPr>
          <p:cNvSpPr/>
          <p:nvPr/>
        </p:nvSpPr>
        <p:spPr>
          <a:xfrm>
            <a:off x="7753930" y="1309365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3B06C19-CA4F-5442-EC1F-73FCC3CC7B99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10084292" y="1690688"/>
            <a:ext cx="803014" cy="1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37755E0A-B445-0963-DF11-C9E3EF70A78A}"/>
              </a:ext>
            </a:extLst>
          </p:cNvPr>
          <p:cNvCxnSpPr>
            <a:cxnSpLocks/>
            <a:stCxn id="4" idx="6"/>
            <a:endCxn id="7" idx="2"/>
          </p:cNvCxnSpPr>
          <p:nvPr/>
        </p:nvCxnSpPr>
        <p:spPr>
          <a:xfrm>
            <a:off x="6990256" y="1690687"/>
            <a:ext cx="763674" cy="2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93C2C692-7F67-A97C-81E1-FFBBA5ADDFC0}"/>
              </a:ext>
            </a:extLst>
          </p:cNvPr>
          <p:cNvCxnSpPr>
            <a:cxnSpLocks/>
            <a:stCxn id="7" idx="6"/>
            <a:endCxn id="5" idx="2"/>
          </p:cNvCxnSpPr>
          <p:nvPr/>
        </p:nvCxnSpPr>
        <p:spPr>
          <a:xfrm>
            <a:off x="8517604" y="1690689"/>
            <a:ext cx="803014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urved Connector 8">
            <a:extLst>
              <a:ext uri="{FF2B5EF4-FFF2-40B4-BE49-F238E27FC236}">
                <a16:creationId xmlns:a16="http://schemas.microsoft.com/office/drawing/2014/main" id="{7A5F059D-D05A-EBBF-8781-2054B3A85892}"/>
              </a:ext>
            </a:extLst>
          </p:cNvPr>
          <p:cNvCxnSpPr>
            <a:cxnSpLocks/>
            <a:stCxn id="5" idx="4"/>
            <a:endCxn id="4" idx="4"/>
          </p:cNvCxnSpPr>
          <p:nvPr/>
        </p:nvCxnSpPr>
        <p:spPr>
          <a:xfrm rot="5400000" flipH="1">
            <a:off x="8155436" y="524993"/>
            <a:ext cx="2" cy="3094036"/>
          </a:xfrm>
          <a:prstGeom prst="curvedConnector3">
            <a:avLst>
              <a:gd name="adj1" fmla="val -11430000000"/>
            </a:avLst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42E2307F-C766-54D9-F982-A2549388B6C5}"/>
              </a:ext>
            </a:extLst>
          </p:cNvPr>
          <p:cNvSpPr txBox="1"/>
          <p:nvPr/>
        </p:nvSpPr>
        <p:spPr>
          <a:xfrm>
            <a:off x="743512" y="2844225"/>
            <a:ext cx="895894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8E8E8">
                    <a:lumMod val="9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One direction could be to remove enough edges to make the graph acyclic.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B4E022B-6112-5F7F-400A-098C3E54F978}"/>
              </a:ext>
            </a:extLst>
          </p:cNvPr>
          <p:cNvSpPr txBox="1"/>
          <p:nvPr/>
        </p:nvSpPr>
        <p:spPr>
          <a:xfrm>
            <a:off x="743511" y="3997762"/>
            <a:ext cx="895894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8E8E8">
                    <a:lumMod val="9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Clearly unfair towards some clients/messages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7C6085-3972-8247-87D0-CE09E52F7606}"/>
              </a:ext>
            </a:extLst>
          </p:cNvPr>
          <p:cNvSpPr txBox="1"/>
          <p:nvPr/>
        </p:nvSpPr>
        <p:spPr>
          <a:xfrm>
            <a:off x="743510" y="4658856"/>
            <a:ext cx="895894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8E8E8">
                    <a:lumMod val="9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Every time we process a set of messages, remove edges in a way that fairness is achieved over sufficiently long time 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8E8E8">
                    <a:lumMod val="9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itchFamily="2" charset="2"/>
              </a:rPr>
              <a:t> Stochastic Fairness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srgbClr val="E8E8E8">
                  <a:lumMod val="90000"/>
                </a:srgbClr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DE900E1A-AC03-E507-C737-831BF573B681}"/>
              </a:ext>
            </a:extLst>
          </p:cNvPr>
          <p:cNvSpPr/>
          <p:nvPr/>
        </p:nvSpPr>
        <p:spPr>
          <a:xfrm>
            <a:off x="1116281" y="3382834"/>
            <a:ext cx="7978706" cy="205873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Finding smallest set of edges to remove which makes a graph acyclic is an NP-hard problem in itself.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(Minimum Feedback Arc Set)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E0AE50-E6C6-BDB0-51D6-1B314929DD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1032042514"/>
      </p:ext>
    </p:extLst>
  </p:cSld>
  <p:clrMapOvr>
    <a:masterClrMapping/>
  </p:clrMapOvr>
  <p:transition spd="slow">
    <p:wip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4FEAA4-0ABB-6CDE-E02B-EBBEB23615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1F7723-F78D-31CF-CBBC-37248799D1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4EA76-9806-7F4D-545F-51C55DC600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en-US" dirty="0"/>
              <a:t>Intransitivity hurts, more research work needed.</a:t>
            </a:r>
          </a:p>
          <a:p>
            <a:r>
              <a:rPr lang="en-US" dirty="0"/>
              <a:t>With transitivity (via Gaussian distributions), we get a unique linear order.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0590CF-563B-22B7-6FD6-8B8BF646F4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699763652"/>
      </p:ext>
    </p:extLst>
  </p:cSld>
  <p:clrMapOvr>
    <a:masterClrMapping/>
  </p:clrMapOvr>
  <p:transition spd="slow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7B2FF64-CC92-3895-5D76-8845AEA1A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19B3AFE-C3B9-F702-09DC-03FB4C988B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/>
              <a:t>Partial Order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3F0162-F834-560C-8B72-A512EB3857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en-US" sz="2200" dirty="0"/>
              <a:t>Once we have a linear ordering, this is not our final ordering yet</a:t>
            </a:r>
          </a:p>
          <a:p>
            <a:r>
              <a:rPr lang="en-US" sz="2200" dirty="0"/>
              <a:t>Some adjacent elements have ordering probability just more than 0.5, some may have closer to 1. So not a good confidence.</a:t>
            </a:r>
          </a:p>
          <a:p>
            <a:r>
              <a:rPr lang="en-US" sz="2200" dirty="0"/>
              <a:t>Make batches of adjacent elements so that all the elements of one batch don’t have good enough probability that they can be ordered confidently</a:t>
            </a:r>
          </a:p>
          <a:p>
            <a:r>
              <a:rPr lang="en-US" sz="2200" dirty="0"/>
              <a:t>Successive batches can be ordered confidently</a:t>
            </a:r>
          </a:p>
          <a:p>
            <a:r>
              <a:rPr lang="en-US" sz="2200" dirty="0"/>
              <a:t>what we now get is a fair partial order.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6BF313-A709-7587-2C64-A8CA97D37A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1200211238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F0DCC097-1DB8-4B6D-85D0-6FBA0E1CA4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0B58608-23C8-4441-994D-C6823EEE1D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2C99FF-0575-C686-0441-8A7C7943A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544D88D-E86D-C58C-ECF5-0910F13DCE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5294" y="2354239"/>
            <a:ext cx="7121411" cy="3948085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962F860-A74B-642E-566E-FB80BB1720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3137829382"/>
      </p:ext>
    </p:extLst>
  </p:cSld>
  <p:clrMapOvr>
    <a:masterClrMapping/>
  </p:clrMapOvr>
  <p:transition spd="slow">
    <p:strips dir="ru"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3136A5-62FA-0555-2A39-94CE565F4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Many next steps.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3550EA-4A59-8F02-7B96-66FCEBB561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Extending the model for online sequencing</a:t>
            </a:r>
          </a:p>
          <a:p>
            <a:r>
              <a:rPr lang="en-US" dirty="0"/>
              <a:t>Characterizing </a:t>
            </a:r>
          </a:p>
          <a:p>
            <a:pPr lvl="1"/>
            <a:r>
              <a:rPr lang="en-US" dirty="0"/>
              <a:t>Especially transitivity property i.e., when it is safe to assume, what is the downside of assuming it for arbitrary distributions</a:t>
            </a:r>
          </a:p>
          <a:p>
            <a:r>
              <a:rPr lang="en-US" dirty="0"/>
              <a:t>Extension to </a:t>
            </a:r>
            <a:r>
              <a:rPr lang="en-US" i="1" dirty="0"/>
              <a:t>stochastically-fair</a:t>
            </a:r>
            <a:r>
              <a:rPr lang="en-US" dirty="0"/>
              <a:t> total order</a:t>
            </a:r>
          </a:p>
          <a:p>
            <a:r>
              <a:rPr lang="en-US" dirty="0"/>
              <a:t>And more.</a:t>
            </a:r>
          </a:p>
          <a:p>
            <a:endParaRPr lang="en-US" dirty="0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4EE15409-7C15-2463-67B3-A1721F3BCC2C}"/>
              </a:ext>
            </a:extLst>
          </p:cNvPr>
          <p:cNvCxnSpPr>
            <a:cxnSpLocks/>
          </p:cNvCxnSpPr>
          <p:nvPr/>
        </p:nvCxnSpPr>
        <p:spPr>
          <a:xfrm>
            <a:off x="3465556" y="2617298"/>
            <a:ext cx="376518" cy="0"/>
          </a:xfrm>
          <a:prstGeom prst="straightConnector1">
            <a:avLst/>
          </a:prstGeom>
          <a:ln w="28575"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7C21DB5F-4B06-2074-E75D-56B222CA34BC}"/>
              </a:ext>
            </a:extLst>
          </p:cNvPr>
          <p:cNvSpPr txBox="1"/>
          <p:nvPr/>
        </p:nvSpPr>
        <p:spPr>
          <a:xfrm>
            <a:off x="3465556" y="2247966"/>
            <a:ext cx="314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46C67F-01EF-8C4B-AECC-268A19062B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AE16A4C-553E-77FA-5B98-560D8D629664}"/>
              </a:ext>
            </a:extLst>
          </p:cNvPr>
          <p:cNvSpPr/>
          <p:nvPr/>
        </p:nvSpPr>
        <p:spPr>
          <a:xfrm>
            <a:off x="1890351" y="5253634"/>
            <a:ext cx="8216865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pattFill prst="dkUpDiag">
                  <a:fgClr>
                    <a:schemeClr val="tx2"/>
                  </a:fgClr>
                  <a:bgClr>
                    <a:schemeClr val="tx2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Thanks for your attention!</a:t>
            </a:r>
          </a:p>
        </p:txBody>
      </p:sp>
    </p:spTree>
    <p:extLst>
      <p:ext uri="{BB962C8B-B14F-4D97-AF65-F5344CB8AC3E}">
        <p14:creationId xmlns:p14="http://schemas.microsoft.com/office/powerpoint/2010/main" val="3759630460"/>
      </p:ext>
    </p:extLst>
  </p:cSld>
  <p:clrMapOvr>
    <a:masterClrMapping/>
  </p:clrMapOvr>
  <p:transition spd="slow">
    <p:strips dir="r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7" grpId="0"/>
    </p:bldLst>
  </p:timing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</TotalTime>
  <Words>1117</Words>
  <Application>Microsoft Macintosh PowerPoint</Application>
  <PresentationFormat>Widescreen</PresentationFormat>
  <Paragraphs>215</Paragraphs>
  <Slides>30</Slides>
  <Notes>3</Notes>
  <HiddenSlides>1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6" baseType="lpstr">
      <vt:lpstr>Aptos</vt:lpstr>
      <vt:lpstr>Aptos Display</vt:lpstr>
      <vt:lpstr>Arial</vt:lpstr>
      <vt:lpstr>Calibri</vt:lpstr>
      <vt:lpstr>Wingdings</vt:lpstr>
      <vt:lpstr>1_Office Theme</vt:lpstr>
      <vt:lpstr>Towards Probabilistic Fair Order</vt:lpstr>
      <vt:lpstr>Sequencers are everywhere</vt:lpstr>
      <vt:lpstr>Need for Fair Order</vt:lpstr>
      <vt:lpstr>Challenge</vt:lpstr>
      <vt:lpstr>What’s out there?</vt:lpstr>
      <vt:lpstr>A Simple Solution</vt:lpstr>
      <vt:lpstr>Probabilistic Fair Ordering</vt:lpstr>
      <vt:lpstr>Probabilistic Fair Ordering</vt:lpstr>
      <vt:lpstr>Two Questions</vt:lpstr>
      <vt:lpstr>Overview – Before Tommy</vt:lpstr>
      <vt:lpstr>Overview – After Tommy</vt:lpstr>
      <vt:lpstr>Overview – After Tommy</vt:lpstr>
      <vt:lpstr>Ordering Probability p</vt:lpstr>
      <vt:lpstr>Ordering Probability p</vt:lpstr>
      <vt:lpstr>Ordering Probability p</vt:lpstr>
      <vt:lpstr>Ordering Probability p</vt:lpstr>
      <vt:lpstr>Ordering Probability p</vt:lpstr>
      <vt:lpstr>Partial Order</vt:lpstr>
      <vt:lpstr>Partial Order</vt:lpstr>
      <vt:lpstr>Partial Order</vt:lpstr>
      <vt:lpstr>Partial Order</vt:lpstr>
      <vt:lpstr>Partial Order</vt:lpstr>
      <vt:lpstr>Partial Order</vt:lpstr>
      <vt:lpstr>Partial Order</vt:lpstr>
      <vt:lpstr>Partial Order</vt:lpstr>
      <vt:lpstr>Partial Order</vt:lpstr>
      <vt:lpstr>Partial Order</vt:lpstr>
      <vt:lpstr>Partial Order</vt:lpstr>
      <vt:lpstr>Simulation Result</vt:lpstr>
      <vt:lpstr>Many next steps.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Muhammad Haseeb</dc:creator>
  <cp:lastModifiedBy>Muhammad Haseeb</cp:lastModifiedBy>
  <cp:revision>33</cp:revision>
  <dcterms:created xsi:type="dcterms:W3CDTF">2025-10-29T17:15:14Z</dcterms:created>
  <dcterms:modified xsi:type="dcterms:W3CDTF">2025-11-09T22:41:55Z</dcterms:modified>
</cp:coreProperties>
</file>